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Lst>
  <p:notesMasterIdLst>
    <p:notesMasterId r:id="rId7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notesMaster" Target="notesMasters/notesMaster1.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image" Target="../media/image-14-5.png"/><Relationship Id="rId6" Type="http://schemas.openxmlformats.org/officeDocument/2006/relationships/image" Target="../media/image-14-6.sv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sv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sv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image" Target="../media/image-24-3.png"/><Relationship Id="rId4" Type="http://schemas.openxmlformats.org/officeDocument/2006/relationships/image" Target="../media/image-24-4.sv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sv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svg"/><Relationship Id="rId3" Type="http://schemas.openxmlformats.org/officeDocument/2006/relationships/image" Target="../media/image-29-3.png"/><Relationship Id="rId4" Type="http://schemas.openxmlformats.org/officeDocument/2006/relationships/image" Target="../media/image-29-4.sv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sv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svg"/><Relationship Id="rId3" Type="http://schemas.openxmlformats.org/officeDocument/2006/relationships/image" Target="../media/image-32-3.png"/><Relationship Id="rId4" Type="http://schemas.openxmlformats.org/officeDocument/2006/relationships/image" Target="../media/image-32-4.sv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svg"/><Relationship Id="rId3" Type="http://schemas.openxmlformats.org/officeDocument/2006/relationships/image" Target="../media/image-33-3.png"/><Relationship Id="rId4" Type="http://schemas.openxmlformats.org/officeDocument/2006/relationships/image" Target="../media/image-33-4.sv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svg"/><Relationship Id="rId3" Type="http://schemas.openxmlformats.org/officeDocument/2006/relationships/image" Target="../media/image-34-3.png"/><Relationship Id="rId4" Type="http://schemas.openxmlformats.org/officeDocument/2006/relationships/image" Target="../media/image-34-4.sv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svg"/><Relationship Id="rId3" Type="http://schemas.openxmlformats.org/officeDocument/2006/relationships/image" Target="../media/image-35-3.png"/><Relationship Id="rId4" Type="http://schemas.openxmlformats.org/officeDocument/2006/relationships/image" Target="../media/image-35-4.svg"/><Relationship Id="rId5" Type="http://schemas.openxmlformats.org/officeDocument/2006/relationships/slideLayout" Target="../slideLayouts/slideLayout1.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svg"/><Relationship Id="rId3" Type="http://schemas.openxmlformats.org/officeDocument/2006/relationships/image" Target="../media/image-36-3.png"/><Relationship Id="rId4" Type="http://schemas.openxmlformats.org/officeDocument/2006/relationships/image" Target="../media/image-36-4.sv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svg"/><Relationship Id="rId3" Type="http://schemas.openxmlformats.org/officeDocument/2006/relationships/image" Target="../media/image-37-3.png"/><Relationship Id="rId4" Type="http://schemas.openxmlformats.org/officeDocument/2006/relationships/image" Target="../media/image-37-4.svg"/><Relationship Id="rId5" Type="http://schemas.openxmlformats.org/officeDocument/2006/relationships/slideLayout" Target="../slideLayouts/slideLayout1.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svg"/><Relationship Id="rId3" Type="http://schemas.openxmlformats.org/officeDocument/2006/relationships/image" Target="../media/image-38-3.png"/><Relationship Id="rId4" Type="http://schemas.openxmlformats.org/officeDocument/2006/relationships/image" Target="../media/image-38-4.svg"/><Relationship Id="rId5" Type="http://schemas.openxmlformats.org/officeDocument/2006/relationships/slideLayout" Target="../slideLayouts/slideLayout1.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svg"/><Relationship Id="rId3" Type="http://schemas.openxmlformats.org/officeDocument/2006/relationships/image" Target="../media/image-39-3.png"/><Relationship Id="rId4" Type="http://schemas.openxmlformats.org/officeDocument/2006/relationships/image" Target="../media/image-39-4.svg"/><Relationship Id="rId5" Type="http://schemas.openxmlformats.org/officeDocument/2006/relationships/slideLayout" Target="../slideLayouts/slideLayout1.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sv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svg"/><Relationship Id="rId3" Type="http://schemas.openxmlformats.org/officeDocument/2006/relationships/image" Target="../media/image-41-3.png"/><Relationship Id="rId4" Type="http://schemas.openxmlformats.org/officeDocument/2006/relationships/image" Target="../media/image-41-4.svg"/><Relationship Id="rId5" Type="http://schemas.openxmlformats.org/officeDocument/2006/relationships/slideLayout" Target="../slideLayouts/slideLayout1.xm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sv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sv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sv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sv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sv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svg"/><Relationship Id="rId3" Type="http://schemas.openxmlformats.org/officeDocument/2006/relationships/image" Target="../media/image-48-3.png"/><Relationship Id="rId4" Type="http://schemas.openxmlformats.org/officeDocument/2006/relationships/image" Target="../media/image-48-4.svg"/><Relationship Id="rId5" Type="http://schemas.openxmlformats.org/officeDocument/2006/relationships/slideLayout" Target="../slideLayouts/slideLayout1.xml"/><Relationship Id="rId6"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svg"/><Relationship Id="rId3" Type="http://schemas.openxmlformats.org/officeDocument/2006/relationships/image" Target="../media/image-49-3.png"/><Relationship Id="rId4" Type="http://schemas.openxmlformats.org/officeDocument/2006/relationships/image" Target="../media/image-49-4.svg"/><Relationship Id="rId5" Type="http://schemas.openxmlformats.org/officeDocument/2006/relationships/image" Target="../media/image-49-5.png"/><Relationship Id="rId6" Type="http://schemas.openxmlformats.org/officeDocument/2006/relationships/image" Target="../media/image-49-6.svg"/><Relationship Id="rId7" Type="http://schemas.openxmlformats.org/officeDocument/2006/relationships/slideLayout" Target="../slideLayouts/slideLayout1.xml"/><Relationship Id="rId8"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sv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sv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svg"/><Relationship Id="rId3" Type="http://schemas.openxmlformats.org/officeDocument/2006/relationships/image" Target="../media/image-52-3.png"/><Relationship Id="rId4" Type="http://schemas.openxmlformats.org/officeDocument/2006/relationships/image" Target="../media/image-52-4.svg"/><Relationship Id="rId5" Type="http://schemas.openxmlformats.org/officeDocument/2006/relationships/slideLayout" Target="../slideLayouts/slideLayout1.xml"/><Relationship Id="rId6"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svg"/><Relationship Id="rId3" Type="http://schemas.openxmlformats.org/officeDocument/2006/relationships/image" Target="../media/image-53-3.png"/><Relationship Id="rId4" Type="http://schemas.openxmlformats.org/officeDocument/2006/relationships/image" Target="../media/image-53-4.svg"/><Relationship Id="rId5" Type="http://schemas.openxmlformats.org/officeDocument/2006/relationships/slideLayout" Target="../slideLayouts/slideLayout1.xml"/><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svg"/><Relationship Id="rId3" Type="http://schemas.openxmlformats.org/officeDocument/2006/relationships/image" Target="../media/image-54-3.png"/><Relationship Id="rId4" Type="http://schemas.openxmlformats.org/officeDocument/2006/relationships/image" Target="../media/image-54-4.svg"/><Relationship Id="rId5" Type="http://schemas.openxmlformats.org/officeDocument/2006/relationships/slideLayout" Target="../slideLayouts/slideLayout1.xml"/><Relationship Id="rId6"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svg"/><Relationship Id="rId3" Type="http://schemas.openxmlformats.org/officeDocument/2006/relationships/image" Target="../media/image-55-3.png"/><Relationship Id="rId4" Type="http://schemas.openxmlformats.org/officeDocument/2006/relationships/image" Target="../media/image-55-4.svg"/><Relationship Id="rId5" Type="http://schemas.openxmlformats.org/officeDocument/2006/relationships/slideLayout" Target="../slideLayouts/slideLayout1.xml"/><Relationship Id="rId6"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sv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sv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sv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sv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sv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sv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sv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sv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svg"/><Relationship Id="rId3" Type="http://schemas.openxmlformats.org/officeDocument/2006/relationships/image" Target="../media/image-65-3.png"/><Relationship Id="rId4" Type="http://schemas.openxmlformats.org/officeDocument/2006/relationships/image" Target="../media/image-65-4.svg"/><Relationship Id="rId5" Type="http://schemas.openxmlformats.org/officeDocument/2006/relationships/slideLayout" Target="../slideLayouts/slideLayout1.xml"/><Relationship Id="rId6"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svg"/><Relationship Id="rId3" Type="http://schemas.openxmlformats.org/officeDocument/2006/relationships/image" Target="../media/image-66-3.png"/><Relationship Id="rId4" Type="http://schemas.openxmlformats.org/officeDocument/2006/relationships/image" Target="../media/image-66-4.svg"/><Relationship Id="rId5" Type="http://schemas.openxmlformats.org/officeDocument/2006/relationships/image" Target="../media/image-66-5.png"/><Relationship Id="rId6" Type="http://schemas.openxmlformats.org/officeDocument/2006/relationships/image" Target="../media/image-66-6.svg"/><Relationship Id="rId7" Type="http://schemas.openxmlformats.org/officeDocument/2006/relationships/slideLayout" Target="../slideLayouts/slideLayout1.xml"/><Relationship Id="rId8"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svg"/><Relationship Id="rId3" Type="http://schemas.openxmlformats.org/officeDocument/2006/relationships/slideLayout" Target="../slideLayouts/slideLayout1.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svg"/><Relationship Id="rId3" Type="http://schemas.openxmlformats.org/officeDocument/2006/relationships/image" Target="../media/image-68-3.png"/><Relationship Id="rId4" Type="http://schemas.openxmlformats.org/officeDocument/2006/relationships/image" Target="../media/image-68-4.svg"/><Relationship Id="rId5" Type="http://schemas.openxmlformats.org/officeDocument/2006/relationships/slideLayout" Target="../slideLayouts/slideLayout1.xml"/><Relationship Id="rId6"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svg"/><Relationship Id="rId3" Type="http://schemas.openxmlformats.org/officeDocument/2006/relationships/slideLayout" Target="../slideLayouts/slideLayout1.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svg"/><Relationship Id="rId3" Type="http://schemas.openxmlformats.org/officeDocument/2006/relationships/image" Target="../media/image-70-3.png"/><Relationship Id="rId4" Type="http://schemas.openxmlformats.org/officeDocument/2006/relationships/image" Target="../media/image-70-4.svg"/><Relationship Id="rId5" Type="http://schemas.openxmlformats.org/officeDocument/2006/relationships/slideLayout" Target="../slideLayouts/slideLayout1.xml"/><Relationship Id="rId6"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svg"/><Relationship Id="rId3" Type="http://schemas.openxmlformats.org/officeDocument/2006/relationships/slideLayout" Target="../slideLayouts/slideLayout1.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svg"/><Relationship Id="rId3" Type="http://schemas.openxmlformats.org/officeDocument/2006/relationships/slideLayout" Target="../slideLayouts/slideLayout1.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svg"/><Relationship Id="rId3" Type="http://schemas.openxmlformats.org/officeDocument/2006/relationships/slideLayout" Target="../slideLayouts/slideLayout1.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svg"/><Relationship Id="rId3" Type="http://schemas.openxmlformats.org/officeDocument/2006/relationships/image" Target="../media/image-74-3.png"/><Relationship Id="rId4" Type="http://schemas.openxmlformats.org/officeDocument/2006/relationships/image" Target="../media/image-74-4.svg"/><Relationship Id="rId5" Type="http://schemas.openxmlformats.org/officeDocument/2006/relationships/image" Target="../media/image-74-5.png"/><Relationship Id="rId6" Type="http://schemas.openxmlformats.org/officeDocument/2006/relationships/image" Target="../media/image-74-6.svg"/><Relationship Id="rId7" Type="http://schemas.openxmlformats.org/officeDocument/2006/relationships/slideLayout" Target="../slideLayouts/slideLayout1.xml"/><Relationship Id="rId8"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3\03\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01</a:t>
            </a:r>
            <a:endParaRPr lang="en-US" sz="1400" dirty="0"/>
          </a:p>
        </p:txBody>
      </p:sp>
      <p:sp>
        <p:nvSpPr>
          <p:cNvPr id="8" name="Text 5"/>
          <p:cNvSpPr txBox="1"/>
          <p:nvPr/>
        </p:nvSpPr>
        <p:spPr>
          <a:xfrm>
            <a:off x="658368" y="1481328"/>
            <a:ext cx="676656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CLASE 09 · UNIDAD 02 · MIÉRCOLES 9 DE SEPTIEMBRE</a:t>
            </a:r>
            <a:endParaRPr lang="en-US" sz="960" dirty="0"/>
          </a:p>
        </p:txBody>
      </p:sp>
      <p:sp>
        <p:nvSpPr>
          <p:cNvPr id="9" name="Text 6"/>
          <p:cNvSpPr txBox="1"/>
          <p:nvPr/>
        </p:nvSpPr>
        <p:spPr>
          <a:xfrm>
            <a:off x="658368" y="1828800"/>
            <a:ext cx="8778240" cy="841248"/>
          </a:xfrm>
          <a:prstGeom prst="rect">
            <a:avLst/>
          </a:prstGeom>
          <a:noFill/>
          <a:ln/>
        </p:spPr>
        <p:txBody>
          <a:bodyPr wrap="square" lIns="0" tIns="0" rIns="0" bIns="0" rtlCol="0" anchor="t"/>
          <a:lstStyle/>
          <a:p>
            <a:pPr algn="l" indent="0" marL="0">
              <a:buNone/>
            </a:pPr>
            <a:r>
              <a:rPr lang="en-US" sz="5400" b="1" dirty="0">
                <a:solidFill>
                  <a:srgbClr val="FFFFFF"/>
                </a:solidFill>
                <a:latin typeface="Aptos Display" pitchFamily="34" charset="0"/>
                <a:ea typeface="Aptos Display" pitchFamily="34" charset="-122"/>
                <a:cs typeface="Aptos Display" pitchFamily="34" charset="-120"/>
              </a:rPr>
              <a:t>Elegir los casos.</a:t>
            </a:r>
            <a:endParaRPr lang="en-US" sz="5400" dirty="0"/>
          </a:p>
        </p:txBody>
      </p:sp>
      <p:sp>
        <p:nvSpPr>
          <p:cNvPr id="10" name="Text 7"/>
          <p:cNvSpPr txBox="1"/>
          <p:nvPr/>
        </p:nvSpPr>
        <p:spPr>
          <a:xfrm>
            <a:off x="658368" y="2724912"/>
            <a:ext cx="8778240" cy="841248"/>
          </a:xfrm>
          <a:prstGeom prst="rect">
            <a:avLst/>
          </a:prstGeom>
          <a:noFill/>
          <a:ln/>
        </p:spPr>
        <p:txBody>
          <a:bodyPr wrap="square" lIns="0" tIns="0" rIns="0" bIns="0" rtlCol="0" anchor="t"/>
          <a:lstStyle/>
          <a:p>
            <a:pPr algn="l" indent="0" marL="0">
              <a:buNone/>
            </a:pPr>
            <a:r>
              <a:rPr lang="en-US" sz="5400" b="1" dirty="0">
                <a:solidFill>
                  <a:srgbClr val="E0BC5A"/>
                </a:solidFill>
                <a:latin typeface="Aptos Display" pitchFamily="34" charset="0"/>
                <a:ea typeface="Aptos Display" pitchFamily="34" charset="-122"/>
                <a:cs typeface="Aptos Display" pitchFamily="34" charset="-120"/>
              </a:rPr>
              <a:t>Escribir la prueba.</a:t>
            </a:r>
            <a:endParaRPr lang="en-US" sz="5400" dirty="0"/>
          </a:p>
        </p:txBody>
      </p:sp>
      <p:sp>
        <p:nvSpPr>
          <p:cNvPr id="11" name="Shape 8"/>
          <p:cNvSpPr/>
          <p:nvPr/>
        </p:nvSpPr>
        <p:spPr>
          <a:xfrm>
            <a:off x="658368" y="3803904"/>
            <a:ext cx="3840480" cy="0"/>
          </a:xfrm>
          <a:prstGeom prst="line">
            <a:avLst/>
          </a:prstGeom>
          <a:noFill/>
          <a:ln w="12700">
            <a:solidFill>
              <a:srgbClr val="2C4A66"/>
            </a:solidFill>
            <a:prstDash val="solid"/>
            <a:headEnd type="none"/>
            <a:tailEnd type="none"/>
          </a:ln>
        </p:spPr>
      </p:sp>
      <p:sp>
        <p:nvSpPr>
          <p:cNvPr id="12" name="Text 9"/>
          <p:cNvSpPr txBox="1"/>
          <p:nvPr/>
        </p:nvSpPr>
        <p:spPr>
          <a:xfrm>
            <a:off x="658368" y="4059936"/>
            <a:ext cx="8961120" cy="786384"/>
          </a:xfrm>
          <a:prstGeom prst="rect">
            <a:avLst/>
          </a:prstGeom>
          <a:noFill/>
          <a:ln/>
        </p:spPr>
        <p:txBody>
          <a:bodyPr wrap="square" lIns="0" tIns="0" rIns="0" bIns="0" rtlCol="0" anchor="t"/>
          <a:lstStyle/>
          <a:p>
            <a:pPr algn="l" indent="0" marL="0">
              <a:lnSpc>
                <a:spcPct val="120000"/>
              </a:lnSpc>
              <a:buNone/>
            </a:pPr>
            <a:r>
              <a:rPr lang="en-US" sz="1700" dirty="0">
                <a:solidFill>
                  <a:srgbClr val="E6EEF7"/>
                </a:solidFill>
                <a:latin typeface="Aptos" pitchFamily="34" charset="0"/>
                <a:ea typeface="Aptos" pitchFamily="34" charset="-122"/>
                <a:cs typeface="Aptos" pitchFamily="34" charset="-120"/>
              </a:rPr>
              <a:t>Probar todo es imposible. Todo conjunto de pruebas es una muestra,</a:t>
            </a:r>
            <a:endParaRPr lang="en-US" sz="1700" dirty="0"/>
          </a:p>
          <a:p>
            <a:pPr algn="l" indent="0" marL="0">
              <a:lnSpc>
                <a:spcPct val="120000"/>
              </a:lnSpc>
              <a:buNone/>
            </a:pPr>
            <a:r>
              <a:rPr lang="en-US" sz="1700" dirty="0">
                <a:solidFill>
                  <a:srgbClr val="E6EEF7"/>
                </a:solidFill>
                <a:latin typeface="Aptos" pitchFamily="34" charset="0"/>
                <a:ea typeface="Aptos" pitchFamily="34" charset="-122"/>
                <a:cs typeface="Aptos" pitchFamily="34" charset="-120"/>
              </a:rPr>
              <a:t>y hay que poder decir qué representa y qué dejó fuera.</a:t>
            </a:r>
            <a:endParaRPr lang="en-US" sz="1700" dirty="0"/>
          </a:p>
        </p:txBody>
      </p:sp>
      <p:sp>
        <p:nvSpPr>
          <p:cNvPr id="13" name="Text 10"/>
          <p:cNvSpPr txBox="1"/>
          <p:nvPr/>
        </p:nvSpPr>
        <p:spPr>
          <a:xfrm>
            <a:off x="658368" y="5138928"/>
            <a:ext cx="4572000" cy="201168"/>
          </a:xfrm>
          <a:prstGeom prst="rect">
            <a:avLst/>
          </a:prstGeom>
          <a:noFill/>
          <a:ln/>
        </p:spPr>
        <p:txBody>
          <a:bodyPr wrap="square" lIns="0" tIns="0" rIns="0" bIns="0" rtlCol="0" anchor="t"/>
          <a:lstStyle/>
          <a:p>
            <a:pPr algn="l" indent="0" marL="0">
              <a:buNone/>
            </a:pPr>
            <a:r>
              <a:rPr lang="en-US" sz="960" b="1" spc="130" kern="0" dirty="0">
                <a:solidFill>
                  <a:srgbClr val="EADFD0"/>
                </a:solidFill>
                <a:latin typeface="Aptos" pitchFamily="34" charset="0"/>
                <a:ea typeface="Aptos" pitchFamily="34" charset="-122"/>
                <a:cs typeface="Aptos" pitchFamily="34" charset="-120"/>
              </a:rPr>
              <a:t>LO QUE SE RECORRE HOY</a:t>
            </a:r>
            <a:endParaRPr lang="en-US" sz="960" dirty="0"/>
          </a:p>
        </p:txBody>
      </p:sp>
      <p:sp>
        <p:nvSpPr>
          <p:cNvPr id="14" name="Shape 11"/>
          <p:cNvSpPr/>
          <p:nvPr/>
        </p:nvSpPr>
        <p:spPr>
          <a:xfrm>
            <a:off x="658368" y="5413248"/>
            <a:ext cx="4206240" cy="420624"/>
          </a:xfrm>
          <a:prstGeom prst="rect">
            <a:avLst/>
          </a:prstGeom>
          <a:solidFill>
            <a:srgbClr val="1D3A57"/>
          </a:solidFill>
          <a:ln w="12700">
            <a:solidFill>
              <a:srgbClr val="1D3A57"/>
            </a:solidFill>
            <a:prstDash val="solid"/>
          </a:ln>
        </p:spPr>
      </p:sp>
      <p:sp>
        <p:nvSpPr>
          <p:cNvPr id="15" name="Text 12"/>
          <p:cNvSpPr txBox="1"/>
          <p:nvPr/>
        </p:nvSpPr>
        <p:spPr>
          <a:xfrm>
            <a:off x="822960" y="5431536"/>
            <a:ext cx="3877056" cy="384048"/>
          </a:xfrm>
          <a:prstGeom prst="rect">
            <a:avLst/>
          </a:prstGeom>
          <a:noFill/>
          <a:ln/>
        </p:spPr>
        <p:txBody>
          <a:bodyPr wrap="square" lIns="0" tIns="0" rIns="0" bIns="0" rtlCol="0" anchor="ctr"/>
          <a:lstStyle/>
          <a:p>
            <a:pPr algn="l" indent="0" marL="0">
              <a:buNone/>
            </a:pPr>
            <a:r>
              <a:rPr lang="en-US" sz="1060" dirty="0">
                <a:solidFill>
                  <a:srgbClr val="EADFD0"/>
                </a:solidFill>
                <a:latin typeface="Aptos" pitchFamily="34" charset="0"/>
                <a:ea typeface="Aptos" pitchFamily="34" charset="-122"/>
                <a:cs typeface="Aptos" pitchFamily="34" charset="-120"/>
              </a:rPr>
              <a:t>Todas las entradas</a:t>
            </a:r>
            <a:endParaRPr lang="en-US" sz="1060" dirty="0"/>
          </a:p>
        </p:txBody>
      </p:sp>
      <p:sp>
        <p:nvSpPr>
          <p:cNvPr id="16" name="Shape 13"/>
          <p:cNvSpPr/>
          <p:nvPr/>
        </p:nvSpPr>
        <p:spPr>
          <a:xfrm>
            <a:off x="4901184" y="5623560"/>
            <a:ext cx="182880" cy="0"/>
          </a:xfrm>
          <a:prstGeom prst="line">
            <a:avLst/>
          </a:prstGeom>
          <a:noFill/>
          <a:ln w="12700">
            <a:solidFill>
              <a:srgbClr val="EADFD0"/>
            </a:solidFill>
            <a:prstDash val="solid"/>
            <a:headEnd type="none"/>
            <a:tailEnd type="triangle"/>
          </a:ln>
        </p:spPr>
      </p:sp>
      <p:sp>
        <p:nvSpPr>
          <p:cNvPr id="17" name="Shape 14"/>
          <p:cNvSpPr/>
          <p:nvPr/>
        </p:nvSpPr>
        <p:spPr>
          <a:xfrm>
            <a:off x="5120640" y="5413248"/>
            <a:ext cx="2926080" cy="420624"/>
          </a:xfrm>
          <a:prstGeom prst="rect">
            <a:avLst/>
          </a:prstGeom>
          <a:solidFill>
            <a:srgbClr val="1D3A57"/>
          </a:solidFill>
          <a:ln w="12700">
            <a:solidFill>
              <a:srgbClr val="1D3A57"/>
            </a:solidFill>
            <a:prstDash val="solid"/>
          </a:ln>
        </p:spPr>
      </p:sp>
      <p:sp>
        <p:nvSpPr>
          <p:cNvPr id="18" name="Text 15"/>
          <p:cNvSpPr txBox="1"/>
          <p:nvPr/>
        </p:nvSpPr>
        <p:spPr>
          <a:xfrm>
            <a:off x="5285232" y="5431536"/>
            <a:ext cx="2596896" cy="384048"/>
          </a:xfrm>
          <a:prstGeom prst="rect">
            <a:avLst/>
          </a:prstGeom>
          <a:noFill/>
          <a:ln/>
        </p:spPr>
        <p:txBody>
          <a:bodyPr wrap="square" lIns="0" tIns="0" rIns="0" bIns="0" rtlCol="0" anchor="ctr"/>
          <a:lstStyle/>
          <a:p>
            <a:pPr algn="l" indent="0" marL="0">
              <a:buNone/>
            </a:pPr>
            <a:r>
              <a:rPr lang="en-US" sz="1060" dirty="0">
                <a:solidFill>
                  <a:srgbClr val="EADFD0"/>
                </a:solidFill>
                <a:latin typeface="Aptos" pitchFamily="34" charset="0"/>
                <a:ea typeface="Aptos" pitchFamily="34" charset="-122"/>
                <a:cs typeface="Aptos" pitchFamily="34" charset="-120"/>
              </a:rPr>
              <a:t>Clases</a:t>
            </a:r>
            <a:endParaRPr lang="en-US" sz="1060" dirty="0"/>
          </a:p>
        </p:txBody>
      </p:sp>
      <p:sp>
        <p:nvSpPr>
          <p:cNvPr id="19" name="Shape 16"/>
          <p:cNvSpPr/>
          <p:nvPr/>
        </p:nvSpPr>
        <p:spPr>
          <a:xfrm>
            <a:off x="8083296" y="5623560"/>
            <a:ext cx="182880" cy="0"/>
          </a:xfrm>
          <a:prstGeom prst="line">
            <a:avLst/>
          </a:prstGeom>
          <a:noFill/>
          <a:ln w="12700">
            <a:solidFill>
              <a:srgbClr val="EADFD0"/>
            </a:solidFill>
            <a:prstDash val="solid"/>
            <a:headEnd type="none"/>
            <a:tailEnd type="triangle"/>
          </a:ln>
        </p:spPr>
      </p:sp>
      <p:sp>
        <p:nvSpPr>
          <p:cNvPr id="20" name="Shape 17"/>
          <p:cNvSpPr/>
          <p:nvPr/>
        </p:nvSpPr>
        <p:spPr>
          <a:xfrm>
            <a:off x="8302752" y="5413248"/>
            <a:ext cx="2011680" cy="420624"/>
          </a:xfrm>
          <a:prstGeom prst="rect">
            <a:avLst/>
          </a:prstGeom>
          <a:solidFill>
            <a:srgbClr val="1D3A57"/>
          </a:solidFill>
          <a:ln w="12700">
            <a:solidFill>
              <a:srgbClr val="1D3A57"/>
            </a:solidFill>
            <a:prstDash val="solid"/>
          </a:ln>
        </p:spPr>
      </p:sp>
      <p:sp>
        <p:nvSpPr>
          <p:cNvPr id="21" name="Text 18"/>
          <p:cNvSpPr txBox="1"/>
          <p:nvPr/>
        </p:nvSpPr>
        <p:spPr>
          <a:xfrm>
            <a:off x="8467344" y="5431536"/>
            <a:ext cx="1682496" cy="384048"/>
          </a:xfrm>
          <a:prstGeom prst="rect">
            <a:avLst/>
          </a:prstGeom>
          <a:noFill/>
          <a:ln/>
        </p:spPr>
        <p:txBody>
          <a:bodyPr wrap="square" lIns="0" tIns="0" rIns="0" bIns="0" rtlCol="0" anchor="ctr"/>
          <a:lstStyle/>
          <a:p>
            <a:pPr algn="l" indent="0" marL="0">
              <a:buNone/>
            </a:pPr>
            <a:r>
              <a:rPr lang="en-US" sz="1060" dirty="0">
                <a:solidFill>
                  <a:srgbClr val="EADFD0"/>
                </a:solidFill>
                <a:latin typeface="Aptos" pitchFamily="34" charset="0"/>
                <a:ea typeface="Aptos" pitchFamily="34" charset="-122"/>
                <a:cs typeface="Aptos" pitchFamily="34" charset="-120"/>
              </a:rPr>
              <a:t>Límites</a:t>
            </a:r>
            <a:endParaRPr lang="en-US" sz="1060" dirty="0"/>
          </a:p>
        </p:txBody>
      </p:sp>
      <p:sp>
        <p:nvSpPr>
          <p:cNvPr id="22" name="Shape 19"/>
          <p:cNvSpPr/>
          <p:nvPr/>
        </p:nvSpPr>
        <p:spPr>
          <a:xfrm>
            <a:off x="10351008" y="5623560"/>
            <a:ext cx="182880" cy="0"/>
          </a:xfrm>
          <a:prstGeom prst="line">
            <a:avLst/>
          </a:prstGeom>
          <a:noFill/>
          <a:ln w="12700">
            <a:solidFill>
              <a:srgbClr val="EADFD0"/>
            </a:solidFill>
            <a:prstDash val="solid"/>
            <a:headEnd type="none"/>
            <a:tailEnd type="triangle"/>
          </a:ln>
        </p:spPr>
      </p:sp>
      <p:sp>
        <p:nvSpPr>
          <p:cNvPr id="23" name="Shape 20"/>
          <p:cNvSpPr/>
          <p:nvPr/>
        </p:nvSpPr>
        <p:spPr>
          <a:xfrm>
            <a:off x="10570464" y="5413248"/>
            <a:ext cx="1371600" cy="420624"/>
          </a:xfrm>
          <a:prstGeom prst="rect">
            <a:avLst/>
          </a:prstGeom>
          <a:solidFill>
            <a:srgbClr val="1D3A57"/>
          </a:solidFill>
          <a:ln w="12700">
            <a:solidFill>
              <a:srgbClr val="1D3A57"/>
            </a:solidFill>
            <a:prstDash val="solid"/>
          </a:ln>
        </p:spPr>
      </p:sp>
      <p:sp>
        <p:nvSpPr>
          <p:cNvPr id="24" name="Text 21"/>
          <p:cNvSpPr txBox="1"/>
          <p:nvPr/>
        </p:nvSpPr>
        <p:spPr>
          <a:xfrm>
            <a:off x="10735056" y="5431536"/>
            <a:ext cx="1042416" cy="384048"/>
          </a:xfrm>
          <a:prstGeom prst="rect">
            <a:avLst/>
          </a:prstGeom>
          <a:noFill/>
          <a:ln/>
        </p:spPr>
        <p:txBody>
          <a:bodyPr wrap="square" lIns="0" tIns="0" rIns="0" bIns="0" rtlCol="0" anchor="ctr"/>
          <a:lstStyle/>
          <a:p>
            <a:pPr algn="l" indent="0" marL="0">
              <a:buNone/>
            </a:pPr>
            <a:r>
              <a:rPr lang="en-US" sz="1060" dirty="0">
                <a:solidFill>
                  <a:srgbClr val="EADFD0"/>
                </a:solidFill>
                <a:latin typeface="Aptos" pitchFamily="34" charset="0"/>
                <a:ea typeface="Aptos" pitchFamily="34" charset="-122"/>
                <a:cs typeface="Aptos" pitchFamily="34" charset="-120"/>
              </a:rPr>
              <a:t>Reglas combinadas</a:t>
            </a:r>
            <a:endParaRPr lang="en-US" sz="10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02</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PARA EMPEZAR</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Dos funciones. Una prueba. Una pregunta.</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No hay que resolverla todavía. Hay que comprobar si se puede responder sin ayuda de nadie.</a:t>
            </a:r>
            <a:endParaRPr lang="en-US" sz="1450" dirty="0"/>
          </a:p>
        </p:txBody>
      </p:sp>
      <p:sp>
        <p:nvSpPr>
          <p:cNvPr id="11" name="Shape 8"/>
          <p:cNvSpPr/>
          <p:nvPr/>
        </p:nvSpPr>
        <p:spPr>
          <a:xfrm>
            <a:off x="658368" y="2286000"/>
            <a:ext cx="5532120" cy="1572768"/>
          </a:xfrm>
          <a:prstGeom prst="roundRect">
            <a:avLst>
              <a:gd name="adj" fmla="val 2326"/>
            </a:avLst>
          </a:prstGeom>
          <a:solidFill>
            <a:srgbClr val="102A43"/>
          </a:solidFill>
          <a:ln w="12700">
            <a:solidFill>
              <a:srgbClr val="102A43"/>
            </a:solidFill>
            <a:prstDash val="solid"/>
          </a:ln>
        </p:spPr>
      </p:sp>
      <p:sp>
        <p:nvSpPr>
          <p:cNvPr id="12" name="Shape 9"/>
          <p:cNvSpPr/>
          <p:nvPr/>
        </p:nvSpPr>
        <p:spPr>
          <a:xfrm>
            <a:off x="786384" y="2395728"/>
            <a:ext cx="527608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68880"/>
            <a:ext cx="505663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El código que decide</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5111496" cy="822960"/>
          </a:xfrm>
          <a:prstGeom prst="rect">
            <a:avLst/>
          </a:prstGeom>
        </p:spPr>
      </p:pic>
      <p:sp>
        <p:nvSpPr>
          <p:cNvPr id="15" name="Shape 11"/>
          <p:cNvSpPr/>
          <p:nvPr/>
        </p:nvSpPr>
        <p:spPr>
          <a:xfrm>
            <a:off x="6382512" y="2286000"/>
            <a:ext cx="5148072" cy="1572768"/>
          </a:xfrm>
          <a:prstGeom prst="roundRect">
            <a:avLst>
              <a:gd name="adj" fmla="val 2326"/>
            </a:avLst>
          </a:prstGeom>
          <a:solidFill>
            <a:srgbClr val="102A43"/>
          </a:solidFill>
          <a:ln w="12700">
            <a:solidFill>
              <a:srgbClr val="102A43"/>
            </a:solidFill>
            <a:prstDash val="solid"/>
          </a:ln>
        </p:spPr>
      </p:sp>
      <p:sp>
        <p:nvSpPr>
          <p:cNvPr id="16" name="Shape 12"/>
          <p:cNvSpPr/>
          <p:nvPr/>
        </p:nvSpPr>
        <p:spPr>
          <a:xfrm>
            <a:off x="6510528" y="2395728"/>
            <a:ext cx="4892040" cy="310896"/>
          </a:xfrm>
          <a:prstGeom prst="roundRect">
            <a:avLst>
              <a:gd name="adj" fmla="val 8824"/>
            </a:avLst>
          </a:prstGeom>
          <a:solidFill>
            <a:srgbClr val="284B75"/>
          </a:solidFill>
          <a:ln w="12700">
            <a:solidFill>
              <a:srgbClr val="284B75"/>
            </a:solidFill>
            <a:prstDash val="solid"/>
          </a:ln>
        </p:spPr>
      </p:sp>
      <p:sp>
        <p:nvSpPr>
          <p:cNvPr id="17" name="Text 13"/>
          <p:cNvSpPr/>
          <p:nvPr/>
        </p:nvSpPr>
        <p:spPr>
          <a:xfrm>
            <a:off x="6620256" y="2468880"/>
            <a:ext cx="4672584"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 prueba que lo comprueba</a:t>
            </a:r>
            <a:endParaRPr lang="en-US" sz="1000" dirty="0"/>
          </a:p>
        </p:txBody>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01968" y="2852928"/>
            <a:ext cx="4727448" cy="822960"/>
          </a:xfrm>
          <a:prstGeom prst="rect">
            <a:avLst/>
          </a:prstGeom>
        </p:spPr>
      </p:pic>
      <p:sp>
        <p:nvSpPr>
          <p:cNvPr id="19" name="Shape 14"/>
          <p:cNvSpPr/>
          <p:nvPr/>
        </p:nvSpPr>
        <p:spPr>
          <a:xfrm>
            <a:off x="658368" y="4078224"/>
            <a:ext cx="10874959" cy="1115568"/>
          </a:xfrm>
          <a:prstGeom prst="rect">
            <a:avLst/>
          </a:prstGeom>
          <a:solidFill>
            <a:srgbClr val="E6EEF7"/>
          </a:solidFill>
          <a:ln w="12700">
            <a:solidFill>
              <a:srgbClr val="E6EEF7"/>
            </a:solidFill>
            <a:prstDash val="solid"/>
          </a:ln>
        </p:spPr>
      </p:sp>
      <p:sp>
        <p:nvSpPr>
          <p:cNvPr id="20" name="Shape 15"/>
          <p:cNvSpPr/>
          <p:nvPr/>
        </p:nvSpPr>
        <p:spPr>
          <a:xfrm>
            <a:off x="658368" y="4078224"/>
            <a:ext cx="64008" cy="1115568"/>
          </a:xfrm>
          <a:prstGeom prst="rect">
            <a:avLst/>
          </a:prstGeom>
          <a:solidFill>
            <a:srgbClr val="102A43"/>
          </a:solidFill>
          <a:ln w="12700">
            <a:solidFill>
              <a:srgbClr val="102A43"/>
            </a:solidFill>
            <a:prstDash val="solid"/>
          </a:ln>
        </p:spPr>
      </p:sp>
      <p:sp>
        <p:nvSpPr>
          <p:cNvPr id="21" name="Text 16"/>
          <p:cNvSpPr txBox="1"/>
          <p:nvPr/>
        </p:nvSpPr>
        <p:spPr>
          <a:xfrm>
            <a:off x="987552" y="4261104"/>
            <a:ext cx="365760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LA PREGUNTA</a:t>
            </a:r>
            <a:endParaRPr lang="en-US" sz="960" dirty="0"/>
          </a:p>
        </p:txBody>
      </p:sp>
      <p:sp>
        <p:nvSpPr>
          <p:cNvPr id="22" name="Text 17"/>
          <p:cNvSpPr txBox="1"/>
          <p:nvPr/>
        </p:nvSpPr>
        <p:spPr>
          <a:xfrm>
            <a:off x="987552" y="4517136"/>
            <a:ext cx="10216591" cy="548640"/>
          </a:xfrm>
          <a:prstGeom prst="rect">
            <a:avLst/>
          </a:prstGeom>
          <a:noFill/>
          <a:ln/>
        </p:spPr>
        <p:txBody>
          <a:bodyPr wrap="square" lIns="0" tIns="0" rIns="0" bIns="0" rtlCol="0" anchor="t"/>
          <a:lstStyle/>
          <a:p>
            <a:pPr algn="l" indent="0" marL="0">
              <a:lnSpc>
                <a:spcPct val="110000"/>
              </a:lnSpc>
              <a:buNone/>
            </a:pPr>
            <a:r>
              <a:rPr lang="en-US" sz="2000" b="1" dirty="0">
                <a:solidFill>
                  <a:srgbClr val="243B53"/>
                </a:solidFill>
                <a:latin typeface="Aptos" pitchFamily="34" charset="0"/>
                <a:ea typeface="Aptos" pitchFamily="34" charset="-122"/>
                <a:cs typeface="Aptos" pitchFamily="34" charset="-120"/>
              </a:rPr>
              <a:t>¿Puedes explicar qué hace cada línea, y qué tendría que cambiar para que esa prueba falle?</a:t>
            </a:r>
            <a:endParaRPr lang="en-US" sz="2000" dirty="0"/>
          </a:p>
        </p:txBody>
      </p:sp>
      <p:sp>
        <p:nvSpPr>
          <p:cNvPr id="23" name="Shape 18"/>
          <p:cNvSpPr/>
          <p:nvPr/>
        </p:nvSpPr>
        <p:spPr>
          <a:xfrm>
            <a:off x="658368" y="5431536"/>
            <a:ext cx="10874959" cy="566928"/>
          </a:xfrm>
          <a:prstGeom prst="rect">
            <a:avLst/>
          </a:prstGeom>
          <a:solidFill>
            <a:srgbClr val="102A43"/>
          </a:solidFill>
          <a:ln w="12700">
            <a:solidFill>
              <a:srgbClr val="102A43"/>
            </a:solidFill>
            <a:prstDash val="solid"/>
          </a:ln>
        </p:spPr>
      </p:sp>
      <p:sp>
        <p:nvSpPr>
          <p:cNvPr id="24" name="Text 19"/>
          <p:cNvSpPr txBox="1"/>
          <p:nvPr/>
        </p:nvSpPr>
        <p:spPr>
          <a:xfrm>
            <a:off x="969264" y="5468112"/>
            <a:ext cx="10253167" cy="493776"/>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Si la respuesta no sale sola, no es un problema: las dos láminas siguientes la construyen entera.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03</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ANTES DE RESPONDER</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De qué habla este código</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Un sistema de reserva del laboratorio. Estas cuatro reglas son todo lo que el proyecto tiene escrito.</a:t>
            </a:r>
            <a:endParaRPr lang="en-US" sz="1450" dirty="0"/>
          </a:p>
        </p:txBody>
      </p:sp>
      <p:sp>
        <p:nvSpPr>
          <p:cNvPr id="11" name="Shape 8"/>
          <p:cNvSpPr/>
          <p:nvPr/>
        </p:nvSpPr>
        <p:spPr>
          <a:xfrm>
            <a:off x="658368" y="2286000"/>
            <a:ext cx="6492240" cy="2048256"/>
          </a:xfrm>
          <a:prstGeom prst="roundRect">
            <a:avLst>
              <a:gd name="adj" fmla="val 1786"/>
            </a:avLst>
          </a:prstGeom>
          <a:solidFill>
            <a:srgbClr val="102A43"/>
          </a:solidFill>
          <a:ln w="12700">
            <a:solidFill>
              <a:srgbClr val="102A43"/>
            </a:solidFill>
            <a:prstDash val="solid"/>
          </a:ln>
        </p:spPr>
      </p:sp>
      <p:sp>
        <p:nvSpPr>
          <p:cNvPr id="12" name="Shape 9"/>
          <p:cNvSpPr/>
          <p:nvPr/>
        </p:nvSpPr>
        <p:spPr>
          <a:xfrm>
            <a:off x="786384" y="2395728"/>
            <a:ext cx="623620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68880"/>
            <a:ext cx="601675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REQUISITOS.md · el documento completo del proyecto</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6071616" cy="1298448"/>
          </a:xfrm>
          <a:prstGeom prst="rect">
            <a:avLst/>
          </a:prstGeom>
        </p:spPr>
      </p:pic>
      <p:sp>
        <p:nvSpPr>
          <p:cNvPr id="15" name="Text 11"/>
          <p:cNvSpPr txBox="1"/>
          <p:nvPr/>
        </p:nvSpPr>
        <p:spPr>
          <a:xfrm>
            <a:off x="7333488" y="2286000"/>
            <a:ext cx="4206240" cy="201168"/>
          </a:xfrm>
          <a:prstGeom prst="rect">
            <a:avLst/>
          </a:prstGeom>
          <a:noFill/>
          <a:ln/>
        </p:spPr>
        <p:txBody>
          <a:bodyPr wrap="square" lIns="0" tIns="0" rIns="0" bIns="0" rtlCol="0" anchor="t"/>
          <a:lstStyle/>
          <a:p>
            <a:pPr algn="l" indent="0" marL="0">
              <a:buNone/>
            </a:pPr>
            <a:r>
              <a:rPr lang="en-US" sz="960" b="1" spc="130" kern="0" dirty="0">
                <a:solidFill>
                  <a:srgbClr val="243B53"/>
                </a:solidFill>
                <a:latin typeface="Aptos" pitchFamily="34" charset="0"/>
                <a:ea typeface="Aptos" pitchFamily="34" charset="-122"/>
                <a:cs typeface="Aptos" pitchFamily="34" charset="-120"/>
              </a:rPr>
              <a:t>LA JORNADA DEL LABORATORIO</a:t>
            </a:r>
            <a:endParaRPr lang="en-US" sz="960" dirty="0"/>
          </a:p>
        </p:txBody>
      </p:sp>
      <p:sp>
        <p:nvSpPr>
          <p:cNvPr id="16" name="Shape 12"/>
          <p:cNvSpPr/>
          <p:nvPr/>
        </p:nvSpPr>
        <p:spPr>
          <a:xfrm>
            <a:off x="7333488" y="2578608"/>
            <a:ext cx="457200" cy="457200"/>
          </a:xfrm>
          <a:prstGeom prst="rect">
            <a:avLst/>
          </a:prstGeom>
          <a:solidFill>
            <a:srgbClr val="E6EEF7"/>
          </a:solidFill>
          <a:ln w="12700">
            <a:solidFill>
              <a:srgbClr val="E6EEF7"/>
            </a:solidFill>
            <a:prstDash val="solid"/>
          </a:ln>
        </p:spPr>
      </p:sp>
      <p:sp>
        <p:nvSpPr>
          <p:cNvPr id="17" name="Shape 13"/>
          <p:cNvSpPr/>
          <p:nvPr/>
        </p:nvSpPr>
        <p:spPr>
          <a:xfrm>
            <a:off x="7333488" y="2578608"/>
            <a:ext cx="457200" cy="45720"/>
          </a:xfrm>
          <a:prstGeom prst="rect">
            <a:avLst/>
          </a:prstGeom>
          <a:solidFill>
            <a:srgbClr val="102A43"/>
          </a:solidFill>
          <a:ln w="12700">
            <a:solidFill>
              <a:srgbClr val="102A43"/>
            </a:solidFill>
            <a:prstDash val="solid"/>
          </a:ln>
        </p:spPr>
      </p:sp>
      <p:sp>
        <p:nvSpPr>
          <p:cNvPr id="18" name="Text 14"/>
          <p:cNvSpPr txBox="1"/>
          <p:nvPr/>
        </p:nvSpPr>
        <p:spPr>
          <a:xfrm>
            <a:off x="7333488" y="2615184"/>
            <a:ext cx="457200" cy="384048"/>
          </a:xfrm>
          <a:prstGeom prst="rect">
            <a:avLst/>
          </a:prstGeom>
          <a:noFill/>
          <a:ln/>
        </p:spPr>
        <p:txBody>
          <a:bodyPr wrap="square" lIns="0" tIns="0" rIns="0" bIns="0" rtlCol="0" anchor="ctr"/>
          <a:lstStyle/>
          <a:p>
            <a:pPr algn="ctr" indent="0" marL="0">
              <a:buNone/>
            </a:pPr>
            <a:r>
              <a:rPr lang="en-US" sz="1700" b="1" dirty="0">
                <a:solidFill>
                  <a:srgbClr val="102A43"/>
                </a:solidFill>
                <a:latin typeface="Aptos Display" pitchFamily="34" charset="0"/>
                <a:ea typeface="Aptos Display" pitchFamily="34" charset="-122"/>
                <a:cs typeface="Aptos Display" pitchFamily="34" charset="-120"/>
              </a:rPr>
              <a:t>1</a:t>
            </a:r>
            <a:endParaRPr lang="en-US" sz="1700" dirty="0"/>
          </a:p>
        </p:txBody>
      </p:sp>
      <p:sp>
        <p:nvSpPr>
          <p:cNvPr id="19" name="Shape 15"/>
          <p:cNvSpPr/>
          <p:nvPr/>
        </p:nvSpPr>
        <p:spPr>
          <a:xfrm>
            <a:off x="7863840" y="2578608"/>
            <a:ext cx="457200" cy="457200"/>
          </a:xfrm>
          <a:prstGeom prst="rect">
            <a:avLst/>
          </a:prstGeom>
          <a:solidFill>
            <a:srgbClr val="E6EEF7"/>
          </a:solidFill>
          <a:ln w="12700">
            <a:solidFill>
              <a:srgbClr val="E6EEF7"/>
            </a:solidFill>
            <a:prstDash val="solid"/>
          </a:ln>
        </p:spPr>
      </p:sp>
      <p:sp>
        <p:nvSpPr>
          <p:cNvPr id="20" name="Shape 16"/>
          <p:cNvSpPr/>
          <p:nvPr/>
        </p:nvSpPr>
        <p:spPr>
          <a:xfrm>
            <a:off x="7863840" y="2578608"/>
            <a:ext cx="457200" cy="45720"/>
          </a:xfrm>
          <a:prstGeom prst="rect">
            <a:avLst/>
          </a:prstGeom>
          <a:solidFill>
            <a:srgbClr val="102A43"/>
          </a:solidFill>
          <a:ln w="12700">
            <a:solidFill>
              <a:srgbClr val="102A43"/>
            </a:solidFill>
            <a:prstDash val="solid"/>
          </a:ln>
        </p:spPr>
      </p:sp>
      <p:sp>
        <p:nvSpPr>
          <p:cNvPr id="21" name="Text 17"/>
          <p:cNvSpPr txBox="1"/>
          <p:nvPr/>
        </p:nvSpPr>
        <p:spPr>
          <a:xfrm>
            <a:off x="7863840" y="2615184"/>
            <a:ext cx="457200" cy="384048"/>
          </a:xfrm>
          <a:prstGeom prst="rect">
            <a:avLst/>
          </a:prstGeom>
          <a:noFill/>
          <a:ln/>
        </p:spPr>
        <p:txBody>
          <a:bodyPr wrap="square" lIns="0" tIns="0" rIns="0" bIns="0" rtlCol="0" anchor="ctr"/>
          <a:lstStyle/>
          <a:p>
            <a:pPr algn="ctr" indent="0" marL="0">
              <a:buNone/>
            </a:pPr>
            <a:r>
              <a:rPr lang="en-US" sz="1700" b="1" dirty="0">
                <a:solidFill>
                  <a:srgbClr val="102A43"/>
                </a:solidFill>
                <a:latin typeface="Aptos Display" pitchFamily="34" charset="0"/>
                <a:ea typeface="Aptos Display" pitchFamily="34" charset="-122"/>
                <a:cs typeface="Aptos Display" pitchFamily="34" charset="-120"/>
              </a:rPr>
              <a:t>2</a:t>
            </a:r>
            <a:endParaRPr lang="en-US" sz="1700" dirty="0"/>
          </a:p>
        </p:txBody>
      </p:sp>
      <p:sp>
        <p:nvSpPr>
          <p:cNvPr id="22" name="Shape 18"/>
          <p:cNvSpPr/>
          <p:nvPr/>
        </p:nvSpPr>
        <p:spPr>
          <a:xfrm>
            <a:off x="8394192" y="2578608"/>
            <a:ext cx="457200" cy="457200"/>
          </a:xfrm>
          <a:prstGeom prst="rect">
            <a:avLst/>
          </a:prstGeom>
          <a:solidFill>
            <a:srgbClr val="E6EEF7"/>
          </a:solidFill>
          <a:ln w="12700">
            <a:solidFill>
              <a:srgbClr val="E6EEF7"/>
            </a:solidFill>
            <a:prstDash val="solid"/>
          </a:ln>
        </p:spPr>
      </p:sp>
      <p:sp>
        <p:nvSpPr>
          <p:cNvPr id="23" name="Shape 19"/>
          <p:cNvSpPr/>
          <p:nvPr/>
        </p:nvSpPr>
        <p:spPr>
          <a:xfrm>
            <a:off x="8394192" y="2578608"/>
            <a:ext cx="457200" cy="45720"/>
          </a:xfrm>
          <a:prstGeom prst="rect">
            <a:avLst/>
          </a:prstGeom>
          <a:solidFill>
            <a:srgbClr val="102A43"/>
          </a:solidFill>
          <a:ln w="12700">
            <a:solidFill>
              <a:srgbClr val="102A43"/>
            </a:solidFill>
            <a:prstDash val="solid"/>
          </a:ln>
        </p:spPr>
      </p:sp>
      <p:sp>
        <p:nvSpPr>
          <p:cNvPr id="24" name="Text 20"/>
          <p:cNvSpPr txBox="1"/>
          <p:nvPr/>
        </p:nvSpPr>
        <p:spPr>
          <a:xfrm>
            <a:off x="8394192" y="2615184"/>
            <a:ext cx="457200" cy="384048"/>
          </a:xfrm>
          <a:prstGeom prst="rect">
            <a:avLst/>
          </a:prstGeom>
          <a:noFill/>
          <a:ln/>
        </p:spPr>
        <p:txBody>
          <a:bodyPr wrap="square" lIns="0" tIns="0" rIns="0" bIns="0" rtlCol="0" anchor="ctr"/>
          <a:lstStyle/>
          <a:p>
            <a:pPr algn="ctr" indent="0" marL="0">
              <a:buNone/>
            </a:pPr>
            <a:r>
              <a:rPr lang="en-US" sz="1700" b="1" dirty="0">
                <a:solidFill>
                  <a:srgbClr val="102A43"/>
                </a:solidFill>
                <a:latin typeface="Aptos Display" pitchFamily="34" charset="0"/>
                <a:ea typeface="Aptos Display" pitchFamily="34" charset="-122"/>
                <a:cs typeface="Aptos Display" pitchFamily="34" charset="-120"/>
              </a:rPr>
              <a:t>3</a:t>
            </a:r>
            <a:endParaRPr lang="en-US" sz="1700" dirty="0"/>
          </a:p>
        </p:txBody>
      </p:sp>
      <p:sp>
        <p:nvSpPr>
          <p:cNvPr id="25" name="Shape 21"/>
          <p:cNvSpPr/>
          <p:nvPr/>
        </p:nvSpPr>
        <p:spPr>
          <a:xfrm>
            <a:off x="8924544" y="2578608"/>
            <a:ext cx="457200" cy="457200"/>
          </a:xfrm>
          <a:prstGeom prst="rect">
            <a:avLst/>
          </a:prstGeom>
          <a:solidFill>
            <a:srgbClr val="E6EEF7"/>
          </a:solidFill>
          <a:ln w="12700">
            <a:solidFill>
              <a:srgbClr val="E6EEF7"/>
            </a:solidFill>
            <a:prstDash val="solid"/>
          </a:ln>
        </p:spPr>
      </p:sp>
      <p:sp>
        <p:nvSpPr>
          <p:cNvPr id="26" name="Shape 22"/>
          <p:cNvSpPr/>
          <p:nvPr/>
        </p:nvSpPr>
        <p:spPr>
          <a:xfrm>
            <a:off x="8924544" y="2578608"/>
            <a:ext cx="457200" cy="45720"/>
          </a:xfrm>
          <a:prstGeom prst="rect">
            <a:avLst/>
          </a:prstGeom>
          <a:solidFill>
            <a:srgbClr val="102A43"/>
          </a:solidFill>
          <a:ln w="12700">
            <a:solidFill>
              <a:srgbClr val="102A43"/>
            </a:solidFill>
            <a:prstDash val="solid"/>
          </a:ln>
        </p:spPr>
      </p:sp>
      <p:sp>
        <p:nvSpPr>
          <p:cNvPr id="27" name="Text 23"/>
          <p:cNvSpPr txBox="1"/>
          <p:nvPr/>
        </p:nvSpPr>
        <p:spPr>
          <a:xfrm>
            <a:off x="8924544" y="2615184"/>
            <a:ext cx="457200" cy="384048"/>
          </a:xfrm>
          <a:prstGeom prst="rect">
            <a:avLst/>
          </a:prstGeom>
          <a:noFill/>
          <a:ln/>
        </p:spPr>
        <p:txBody>
          <a:bodyPr wrap="square" lIns="0" tIns="0" rIns="0" bIns="0" rtlCol="0" anchor="ctr"/>
          <a:lstStyle/>
          <a:p>
            <a:pPr algn="ctr" indent="0" marL="0">
              <a:buNone/>
            </a:pPr>
            <a:r>
              <a:rPr lang="en-US" sz="1700" b="1" dirty="0">
                <a:solidFill>
                  <a:srgbClr val="102A43"/>
                </a:solidFill>
                <a:latin typeface="Aptos Display" pitchFamily="34" charset="0"/>
                <a:ea typeface="Aptos Display" pitchFamily="34" charset="-122"/>
                <a:cs typeface="Aptos Display" pitchFamily="34" charset="-120"/>
              </a:rPr>
              <a:t>4</a:t>
            </a:r>
            <a:endParaRPr lang="en-US" sz="1700" dirty="0"/>
          </a:p>
        </p:txBody>
      </p:sp>
      <p:sp>
        <p:nvSpPr>
          <p:cNvPr id="28" name="Shape 24"/>
          <p:cNvSpPr/>
          <p:nvPr/>
        </p:nvSpPr>
        <p:spPr>
          <a:xfrm>
            <a:off x="9454896" y="2578608"/>
            <a:ext cx="457200" cy="457200"/>
          </a:xfrm>
          <a:prstGeom prst="rect">
            <a:avLst/>
          </a:prstGeom>
          <a:solidFill>
            <a:srgbClr val="E6EEF7"/>
          </a:solidFill>
          <a:ln w="12700">
            <a:solidFill>
              <a:srgbClr val="E6EEF7"/>
            </a:solidFill>
            <a:prstDash val="solid"/>
          </a:ln>
        </p:spPr>
      </p:sp>
      <p:sp>
        <p:nvSpPr>
          <p:cNvPr id="29" name="Shape 25"/>
          <p:cNvSpPr/>
          <p:nvPr/>
        </p:nvSpPr>
        <p:spPr>
          <a:xfrm>
            <a:off x="9454896" y="2578608"/>
            <a:ext cx="457200" cy="45720"/>
          </a:xfrm>
          <a:prstGeom prst="rect">
            <a:avLst/>
          </a:prstGeom>
          <a:solidFill>
            <a:srgbClr val="102A43"/>
          </a:solidFill>
          <a:ln w="12700">
            <a:solidFill>
              <a:srgbClr val="102A43"/>
            </a:solidFill>
            <a:prstDash val="solid"/>
          </a:ln>
        </p:spPr>
      </p:sp>
      <p:sp>
        <p:nvSpPr>
          <p:cNvPr id="30" name="Text 26"/>
          <p:cNvSpPr txBox="1"/>
          <p:nvPr/>
        </p:nvSpPr>
        <p:spPr>
          <a:xfrm>
            <a:off x="9454896" y="2615184"/>
            <a:ext cx="457200" cy="384048"/>
          </a:xfrm>
          <a:prstGeom prst="rect">
            <a:avLst/>
          </a:prstGeom>
          <a:noFill/>
          <a:ln/>
        </p:spPr>
        <p:txBody>
          <a:bodyPr wrap="square" lIns="0" tIns="0" rIns="0" bIns="0" rtlCol="0" anchor="ctr"/>
          <a:lstStyle/>
          <a:p>
            <a:pPr algn="ctr" indent="0" marL="0">
              <a:buNone/>
            </a:pPr>
            <a:r>
              <a:rPr lang="en-US" sz="1700" b="1" dirty="0">
                <a:solidFill>
                  <a:srgbClr val="102A43"/>
                </a:solidFill>
                <a:latin typeface="Aptos Display" pitchFamily="34" charset="0"/>
                <a:ea typeface="Aptos Display" pitchFamily="34" charset="-122"/>
                <a:cs typeface="Aptos Display" pitchFamily="34" charset="-120"/>
              </a:rPr>
              <a:t>5</a:t>
            </a:r>
            <a:endParaRPr lang="en-US" sz="1700" dirty="0"/>
          </a:p>
        </p:txBody>
      </p:sp>
      <p:sp>
        <p:nvSpPr>
          <p:cNvPr id="31" name="Shape 27"/>
          <p:cNvSpPr/>
          <p:nvPr/>
        </p:nvSpPr>
        <p:spPr>
          <a:xfrm>
            <a:off x="9985248" y="2578608"/>
            <a:ext cx="457200" cy="457200"/>
          </a:xfrm>
          <a:prstGeom prst="rect">
            <a:avLst/>
          </a:prstGeom>
          <a:solidFill>
            <a:srgbClr val="E6EEF7"/>
          </a:solidFill>
          <a:ln w="12700">
            <a:solidFill>
              <a:srgbClr val="E6EEF7"/>
            </a:solidFill>
            <a:prstDash val="solid"/>
          </a:ln>
        </p:spPr>
      </p:sp>
      <p:sp>
        <p:nvSpPr>
          <p:cNvPr id="32" name="Shape 28"/>
          <p:cNvSpPr/>
          <p:nvPr/>
        </p:nvSpPr>
        <p:spPr>
          <a:xfrm>
            <a:off x="9985248" y="2578608"/>
            <a:ext cx="457200" cy="45720"/>
          </a:xfrm>
          <a:prstGeom prst="rect">
            <a:avLst/>
          </a:prstGeom>
          <a:solidFill>
            <a:srgbClr val="102A43"/>
          </a:solidFill>
          <a:ln w="12700">
            <a:solidFill>
              <a:srgbClr val="102A43"/>
            </a:solidFill>
            <a:prstDash val="solid"/>
          </a:ln>
        </p:spPr>
      </p:sp>
      <p:sp>
        <p:nvSpPr>
          <p:cNvPr id="33" name="Text 29"/>
          <p:cNvSpPr txBox="1"/>
          <p:nvPr/>
        </p:nvSpPr>
        <p:spPr>
          <a:xfrm>
            <a:off x="9985248" y="2615184"/>
            <a:ext cx="457200" cy="384048"/>
          </a:xfrm>
          <a:prstGeom prst="rect">
            <a:avLst/>
          </a:prstGeom>
          <a:noFill/>
          <a:ln/>
        </p:spPr>
        <p:txBody>
          <a:bodyPr wrap="square" lIns="0" tIns="0" rIns="0" bIns="0" rtlCol="0" anchor="ctr"/>
          <a:lstStyle/>
          <a:p>
            <a:pPr algn="ctr" indent="0" marL="0">
              <a:buNone/>
            </a:pPr>
            <a:r>
              <a:rPr lang="en-US" sz="1700" b="1" dirty="0">
                <a:solidFill>
                  <a:srgbClr val="102A43"/>
                </a:solidFill>
                <a:latin typeface="Aptos Display" pitchFamily="34" charset="0"/>
                <a:ea typeface="Aptos Display" pitchFamily="34" charset="-122"/>
                <a:cs typeface="Aptos Display" pitchFamily="34" charset="-120"/>
              </a:rPr>
              <a:t>6</a:t>
            </a:r>
            <a:endParaRPr lang="en-US" sz="1700" dirty="0"/>
          </a:p>
        </p:txBody>
      </p:sp>
      <p:sp>
        <p:nvSpPr>
          <p:cNvPr id="34" name="Shape 30"/>
          <p:cNvSpPr/>
          <p:nvPr/>
        </p:nvSpPr>
        <p:spPr>
          <a:xfrm>
            <a:off x="10515600" y="2578608"/>
            <a:ext cx="457200" cy="457200"/>
          </a:xfrm>
          <a:prstGeom prst="rect">
            <a:avLst/>
          </a:prstGeom>
          <a:solidFill>
            <a:srgbClr val="E6EEF7"/>
          </a:solidFill>
          <a:ln w="12700">
            <a:solidFill>
              <a:srgbClr val="E6EEF7"/>
            </a:solidFill>
            <a:prstDash val="solid"/>
          </a:ln>
        </p:spPr>
      </p:sp>
      <p:sp>
        <p:nvSpPr>
          <p:cNvPr id="35" name="Shape 31"/>
          <p:cNvSpPr/>
          <p:nvPr/>
        </p:nvSpPr>
        <p:spPr>
          <a:xfrm>
            <a:off x="10515600" y="2578608"/>
            <a:ext cx="457200" cy="45720"/>
          </a:xfrm>
          <a:prstGeom prst="rect">
            <a:avLst/>
          </a:prstGeom>
          <a:solidFill>
            <a:srgbClr val="102A43"/>
          </a:solidFill>
          <a:ln w="12700">
            <a:solidFill>
              <a:srgbClr val="102A43"/>
            </a:solidFill>
            <a:prstDash val="solid"/>
          </a:ln>
        </p:spPr>
      </p:sp>
      <p:sp>
        <p:nvSpPr>
          <p:cNvPr id="36" name="Text 32"/>
          <p:cNvSpPr txBox="1"/>
          <p:nvPr/>
        </p:nvSpPr>
        <p:spPr>
          <a:xfrm>
            <a:off x="10515600" y="2615184"/>
            <a:ext cx="457200" cy="384048"/>
          </a:xfrm>
          <a:prstGeom prst="rect">
            <a:avLst/>
          </a:prstGeom>
          <a:noFill/>
          <a:ln/>
        </p:spPr>
        <p:txBody>
          <a:bodyPr wrap="square" lIns="0" tIns="0" rIns="0" bIns="0" rtlCol="0" anchor="ctr"/>
          <a:lstStyle/>
          <a:p>
            <a:pPr algn="ctr" indent="0" marL="0">
              <a:buNone/>
            </a:pPr>
            <a:r>
              <a:rPr lang="en-US" sz="1700" b="1" dirty="0">
                <a:solidFill>
                  <a:srgbClr val="102A43"/>
                </a:solidFill>
                <a:latin typeface="Aptos Display" pitchFamily="34" charset="0"/>
                <a:ea typeface="Aptos Display" pitchFamily="34" charset="-122"/>
                <a:cs typeface="Aptos Display" pitchFamily="34" charset="-120"/>
              </a:rPr>
              <a:t>7</a:t>
            </a:r>
            <a:endParaRPr lang="en-US" sz="1700" dirty="0"/>
          </a:p>
        </p:txBody>
      </p:sp>
      <p:sp>
        <p:nvSpPr>
          <p:cNvPr id="37" name="Shape 33"/>
          <p:cNvSpPr/>
          <p:nvPr/>
        </p:nvSpPr>
        <p:spPr>
          <a:xfrm>
            <a:off x="11045952" y="2578608"/>
            <a:ext cx="457200" cy="457200"/>
          </a:xfrm>
          <a:prstGeom prst="rect">
            <a:avLst/>
          </a:prstGeom>
          <a:solidFill>
            <a:srgbClr val="E6EEF7"/>
          </a:solidFill>
          <a:ln w="12700">
            <a:solidFill>
              <a:srgbClr val="E6EEF7"/>
            </a:solidFill>
            <a:prstDash val="solid"/>
          </a:ln>
        </p:spPr>
      </p:sp>
      <p:sp>
        <p:nvSpPr>
          <p:cNvPr id="38" name="Shape 34"/>
          <p:cNvSpPr/>
          <p:nvPr/>
        </p:nvSpPr>
        <p:spPr>
          <a:xfrm>
            <a:off x="11045952" y="2578608"/>
            <a:ext cx="457200" cy="45720"/>
          </a:xfrm>
          <a:prstGeom prst="rect">
            <a:avLst/>
          </a:prstGeom>
          <a:solidFill>
            <a:srgbClr val="102A43"/>
          </a:solidFill>
          <a:ln w="12700">
            <a:solidFill>
              <a:srgbClr val="102A43"/>
            </a:solidFill>
            <a:prstDash val="solid"/>
          </a:ln>
        </p:spPr>
      </p:sp>
      <p:sp>
        <p:nvSpPr>
          <p:cNvPr id="39" name="Text 35"/>
          <p:cNvSpPr txBox="1"/>
          <p:nvPr/>
        </p:nvSpPr>
        <p:spPr>
          <a:xfrm>
            <a:off x="11045952" y="2615184"/>
            <a:ext cx="457200" cy="384048"/>
          </a:xfrm>
          <a:prstGeom prst="rect">
            <a:avLst/>
          </a:prstGeom>
          <a:noFill/>
          <a:ln/>
        </p:spPr>
        <p:txBody>
          <a:bodyPr wrap="square" lIns="0" tIns="0" rIns="0" bIns="0" rtlCol="0" anchor="ctr"/>
          <a:lstStyle/>
          <a:p>
            <a:pPr algn="ctr" indent="0" marL="0">
              <a:buNone/>
            </a:pPr>
            <a:r>
              <a:rPr lang="en-US" sz="1700" b="1" dirty="0">
                <a:solidFill>
                  <a:srgbClr val="102A43"/>
                </a:solidFill>
                <a:latin typeface="Aptos Display" pitchFamily="34" charset="0"/>
                <a:ea typeface="Aptos Display" pitchFamily="34" charset="-122"/>
                <a:cs typeface="Aptos Display" pitchFamily="34" charset="-120"/>
              </a:rPr>
              <a:t>8</a:t>
            </a:r>
            <a:endParaRPr lang="en-US" sz="1700" dirty="0"/>
          </a:p>
        </p:txBody>
      </p:sp>
      <p:sp>
        <p:nvSpPr>
          <p:cNvPr id="40" name="Text 36"/>
          <p:cNvSpPr txBox="1"/>
          <p:nvPr/>
        </p:nvSpPr>
        <p:spPr>
          <a:xfrm>
            <a:off x="7333488" y="3182112"/>
            <a:ext cx="4197096" cy="457200"/>
          </a:xfrm>
          <a:prstGeom prst="rect">
            <a:avLst/>
          </a:prstGeom>
          <a:noFill/>
          <a:ln/>
        </p:spPr>
        <p:txBody>
          <a:bodyPr wrap="square" lIns="0" tIns="0" rIns="0" bIns="0" rtlCol="0" anchor="t"/>
          <a:lstStyle/>
          <a:p>
            <a:pPr algn="l" indent="0" marL="0">
              <a:lnSpc>
                <a:spcPct val="116000"/>
              </a:lnSpc>
              <a:buNone/>
            </a:pPr>
            <a:r>
              <a:rPr lang="en-US" sz="1240" dirty="0">
                <a:solidFill>
                  <a:srgbClr val="243B53"/>
                </a:solidFill>
                <a:latin typeface="Aptos" pitchFamily="34" charset="0"/>
                <a:ea typeface="Aptos" pitchFamily="34" charset="-122"/>
                <a:cs typeface="Aptos" pitchFamily="34" charset="-120"/>
              </a:rPr>
              <a:t>Un «bloque» es una franja horaria de la jornada. Reservar es pedir una de esas ocho franjas.</a:t>
            </a:r>
            <a:endParaRPr lang="en-US" sz="1240" dirty="0"/>
          </a:p>
        </p:txBody>
      </p:sp>
      <p:sp>
        <p:nvSpPr>
          <p:cNvPr id="41" name="Shape 37"/>
          <p:cNvSpPr/>
          <p:nvPr/>
        </p:nvSpPr>
        <p:spPr>
          <a:xfrm>
            <a:off x="7333488" y="3712464"/>
            <a:ext cx="4197096" cy="621792"/>
          </a:xfrm>
          <a:prstGeom prst="rect">
            <a:avLst/>
          </a:prstGeom>
          <a:solidFill>
            <a:srgbClr val="F2E7D9"/>
          </a:solidFill>
          <a:ln w="12700">
            <a:solidFill>
              <a:srgbClr val="F2E7D9"/>
            </a:solidFill>
            <a:prstDash val="solid"/>
          </a:ln>
        </p:spPr>
      </p:sp>
      <p:sp>
        <p:nvSpPr>
          <p:cNvPr id="42" name="Shape 38"/>
          <p:cNvSpPr/>
          <p:nvPr/>
        </p:nvSpPr>
        <p:spPr>
          <a:xfrm>
            <a:off x="7333488" y="3712464"/>
            <a:ext cx="54864" cy="621792"/>
          </a:xfrm>
          <a:prstGeom prst="rect">
            <a:avLst/>
          </a:prstGeom>
          <a:solidFill>
            <a:srgbClr val="8A6A12"/>
          </a:solidFill>
          <a:ln w="12700">
            <a:solidFill>
              <a:srgbClr val="8A6A12"/>
            </a:solidFill>
            <a:prstDash val="solid"/>
          </a:ln>
        </p:spPr>
      </p:sp>
      <p:sp>
        <p:nvSpPr>
          <p:cNvPr id="43" name="Text 39"/>
          <p:cNvSpPr txBox="1"/>
          <p:nvPr/>
        </p:nvSpPr>
        <p:spPr>
          <a:xfrm>
            <a:off x="7626096" y="3822192"/>
            <a:ext cx="3749040" cy="420624"/>
          </a:xfrm>
          <a:prstGeom prst="rect">
            <a:avLst/>
          </a:prstGeom>
          <a:noFill/>
          <a:ln/>
        </p:spPr>
        <p:txBody>
          <a:bodyPr wrap="square" lIns="0" tIns="0" rIns="0" bIns="0" rtlCol="0" anchor="t"/>
          <a:lstStyle/>
          <a:p>
            <a:pPr algn="l" indent="0" marL="0">
              <a:lnSpc>
                <a:spcPct val="114000"/>
              </a:lnSpc>
              <a:buNone/>
            </a:pPr>
            <a:r>
              <a:rPr lang="en-US" sz="1240" b="1" dirty="0">
                <a:solidFill>
                  <a:srgbClr val="243B53"/>
                </a:solidFill>
                <a:latin typeface="Aptos" pitchFamily="34" charset="0"/>
                <a:ea typeface="Aptos" pitchFamily="34" charset="-122"/>
                <a:cs typeface="Aptos" pitchFamily="34" charset="-120"/>
              </a:rPr>
              <a:t>Todo lo que se exija hoy tiene que salir de esas cuatro líneas.</a:t>
            </a:r>
            <a:endParaRPr lang="en-US" sz="1240" dirty="0"/>
          </a:p>
        </p:txBody>
      </p:sp>
      <p:sp>
        <p:nvSpPr>
          <p:cNvPr id="44" name="Shape 40"/>
          <p:cNvSpPr/>
          <p:nvPr/>
        </p:nvSpPr>
        <p:spPr>
          <a:xfrm>
            <a:off x="658368" y="4572000"/>
            <a:ext cx="10874959" cy="548640"/>
          </a:xfrm>
          <a:prstGeom prst="rect">
            <a:avLst/>
          </a:prstGeom>
          <a:solidFill>
            <a:srgbClr val="102A43"/>
          </a:solidFill>
          <a:ln w="12700">
            <a:solidFill>
              <a:srgbClr val="102A43"/>
            </a:solidFill>
            <a:prstDash val="solid"/>
          </a:ln>
        </p:spPr>
      </p:sp>
      <p:sp>
        <p:nvSpPr>
          <p:cNvPr id="45" name="Text 41"/>
          <p:cNvSpPr txBox="1"/>
          <p:nvPr/>
        </p:nvSpPr>
        <p:spPr>
          <a:xfrm>
            <a:off x="969264" y="4608576"/>
            <a:ext cx="10253167" cy="475488"/>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Ese documento es la única referencia externa que existe. No hay otra fuente contra la cual comparar.</a:t>
            </a:r>
            <a:endParaRPr lang="en-US" sz="1400" dirty="0"/>
          </a:p>
        </p:txBody>
      </p:sp>
      <p:sp>
        <p:nvSpPr>
          <p:cNvPr id="46" name="Shape 42"/>
          <p:cNvSpPr/>
          <p:nvPr/>
        </p:nvSpPr>
        <p:spPr>
          <a:xfrm>
            <a:off x="658368" y="5340096"/>
            <a:ext cx="45720" cy="182880"/>
          </a:xfrm>
          <a:prstGeom prst="rect">
            <a:avLst/>
          </a:prstGeom>
          <a:solidFill>
            <a:srgbClr val="8A6A12"/>
          </a:solidFill>
          <a:ln w="12700">
            <a:solidFill>
              <a:srgbClr val="8A6A12"/>
            </a:solidFill>
            <a:prstDash val="solid"/>
          </a:ln>
        </p:spPr>
      </p:sp>
      <p:sp>
        <p:nvSpPr>
          <p:cNvPr id="47" name="Text 43"/>
          <p:cNvSpPr txBox="1"/>
          <p:nvPr/>
        </p:nvSpPr>
        <p:spPr>
          <a:xfrm>
            <a:off x="804672" y="5330952"/>
            <a:ext cx="1060704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El proyecto se entrega ya ejecutado, con sus salidas registradas. Nadie queda detenido por el estado de su propio repositorio.</a:t>
            </a:r>
            <a:endParaRPr lang="en-US" sz="9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04</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ANTES DE RESPONDER</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Qué significa cada valor de la llamada</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Un número suelto no dice nada. Los valores que se pasan son los argumentos; los nombres que los reciben en la firma son los parámetros.</a:t>
            </a:r>
            <a:endParaRPr lang="en-US" sz="1450" dirty="0"/>
          </a:p>
        </p:txBody>
      </p:sp>
      <p:sp>
        <p:nvSpPr>
          <p:cNvPr id="11" name="Shape 8"/>
          <p:cNvSpPr/>
          <p:nvPr/>
        </p:nvSpPr>
        <p:spPr>
          <a:xfrm>
            <a:off x="658368" y="2249424"/>
            <a:ext cx="10874959" cy="1097280"/>
          </a:xfrm>
          <a:prstGeom prst="roundRect">
            <a:avLst>
              <a:gd name="adj" fmla="val 3333"/>
            </a:avLst>
          </a:prstGeom>
          <a:solidFill>
            <a:srgbClr val="102A43"/>
          </a:solidFill>
          <a:ln w="12700">
            <a:solidFill>
              <a:srgbClr val="102A43"/>
            </a:solidFill>
            <a:prstDash val="solid"/>
          </a:ln>
        </p:spPr>
      </p:sp>
      <p:sp>
        <p:nvSpPr>
          <p:cNvPr id="12" name="Shape 9"/>
          <p:cNvSpPr/>
          <p:nvPr/>
        </p:nvSpPr>
        <p:spPr>
          <a:xfrm>
            <a:off x="786384" y="2359152"/>
            <a:ext cx="10618927"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32304"/>
            <a:ext cx="10399471"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 firma: la primera línea, que declara el nombre y qué recibe</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16352"/>
            <a:ext cx="10454335" cy="347472"/>
          </a:xfrm>
          <a:prstGeom prst="rect">
            <a:avLst/>
          </a:prstGeom>
        </p:spPr>
      </p:pic>
      <p:sp>
        <p:nvSpPr>
          <p:cNvPr id="15" name="Shape 11"/>
          <p:cNvSpPr/>
          <p:nvPr/>
        </p:nvSpPr>
        <p:spPr>
          <a:xfrm>
            <a:off x="658368" y="3584448"/>
            <a:ext cx="3465576" cy="1517904"/>
          </a:xfrm>
          <a:prstGeom prst="rect">
            <a:avLst/>
          </a:prstGeom>
          <a:solidFill>
            <a:srgbClr val="E6EEF7"/>
          </a:solidFill>
          <a:ln w="12700">
            <a:solidFill>
              <a:srgbClr val="E6EEF7"/>
            </a:solidFill>
            <a:prstDash val="solid"/>
          </a:ln>
        </p:spPr>
      </p:sp>
      <p:sp>
        <p:nvSpPr>
          <p:cNvPr id="16" name="Shape 12"/>
          <p:cNvSpPr/>
          <p:nvPr/>
        </p:nvSpPr>
        <p:spPr>
          <a:xfrm>
            <a:off x="658368" y="3584448"/>
            <a:ext cx="3465576" cy="64008"/>
          </a:xfrm>
          <a:prstGeom prst="rect">
            <a:avLst/>
          </a:prstGeom>
          <a:solidFill>
            <a:srgbClr val="102A43"/>
          </a:solidFill>
          <a:ln w="12700">
            <a:solidFill>
              <a:srgbClr val="102A43"/>
            </a:solidFill>
            <a:prstDash val="solid"/>
          </a:ln>
        </p:spPr>
      </p:sp>
      <p:sp>
        <p:nvSpPr>
          <p:cNvPr id="17" name="Text 13"/>
          <p:cNvSpPr txBox="1"/>
          <p:nvPr/>
        </p:nvSpPr>
        <p:spPr>
          <a:xfrm>
            <a:off x="932688" y="3749040"/>
            <a:ext cx="2926080" cy="310896"/>
          </a:xfrm>
          <a:prstGeom prst="rect">
            <a:avLst/>
          </a:prstGeom>
          <a:noFill/>
          <a:ln/>
        </p:spPr>
        <p:txBody>
          <a:bodyPr wrap="square" lIns="0" tIns="0" rIns="0" bIns="0" rtlCol="0" anchor="t"/>
          <a:lstStyle/>
          <a:p>
            <a:pPr algn="l" indent="0" marL="0">
              <a:buNone/>
            </a:pPr>
            <a:r>
              <a:rPr lang="en-US" sz="1700" b="1" dirty="0">
                <a:solidFill>
                  <a:srgbClr val="102A43"/>
                </a:solidFill>
                <a:latin typeface="Consolas" pitchFamily="34" charset="0"/>
                <a:ea typeface="Consolas" pitchFamily="34" charset="-122"/>
                <a:cs typeface="Consolas" pitchFamily="34" charset="-120"/>
              </a:rPr>
              <a:t>0</a:t>
            </a:r>
            <a:endParaRPr lang="en-US" sz="1700" dirty="0"/>
          </a:p>
        </p:txBody>
      </p:sp>
      <p:sp>
        <p:nvSpPr>
          <p:cNvPr id="18" name="Text 14"/>
          <p:cNvSpPr txBox="1"/>
          <p:nvPr/>
        </p:nvSpPr>
        <p:spPr>
          <a:xfrm>
            <a:off x="932688" y="4096512"/>
            <a:ext cx="2926080" cy="219456"/>
          </a:xfrm>
          <a:prstGeom prst="rect">
            <a:avLst/>
          </a:prstGeom>
          <a:noFill/>
          <a:ln/>
        </p:spPr>
        <p:txBody>
          <a:bodyPr wrap="square" lIns="0" tIns="0" rIns="0" bIns="0" rtlCol="0" anchor="t"/>
          <a:lstStyle/>
          <a:p>
            <a:pPr algn="l" indent="0" marL="0">
              <a:buNone/>
            </a:pPr>
            <a:r>
              <a:rPr lang="en-US" sz="1100" i="1" dirty="0">
                <a:solidFill>
                  <a:srgbClr val="52606D"/>
                </a:solidFill>
                <a:latin typeface="Aptos" pitchFamily="34" charset="0"/>
                <a:ea typeface="Aptos" pitchFamily="34" charset="-122"/>
                <a:cs typeface="Aptos" pitchFamily="34" charset="-120"/>
              </a:rPr>
              <a:t>ocupa el parámetro «reservas_de_la_semana»</a:t>
            </a:r>
            <a:endParaRPr lang="en-US" sz="1100" dirty="0"/>
          </a:p>
        </p:txBody>
      </p:sp>
      <p:sp>
        <p:nvSpPr>
          <p:cNvPr id="19" name="Text 15"/>
          <p:cNvSpPr txBox="1"/>
          <p:nvPr/>
        </p:nvSpPr>
        <p:spPr>
          <a:xfrm>
            <a:off x="932688" y="4370832"/>
            <a:ext cx="2926080" cy="676656"/>
          </a:xfrm>
          <a:prstGeom prst="rect">
            <a:avLst/>
          </a:prstGeom>
          <a:noFill/>
          <a:ln/>
        </p:spPr>
        <p:txBody>
          <a:bodyPr wrap="square" lIns="0" tIns="0" rIns="0" bIns="0" rtlCol="0" anchor="t"/>
          <a:lstStyle/>
          <a:p>
            <a:pPr algn="l" indent="0" marL="0">
              <a:lnSpc>
                <a:spcPct val="116000"/>
              </a:lnSpc>
              <a:buNone/>
            </a:pPr>
            <a:r>
              <a:rPr lang="en-US" sz="1220" dirty="0">
                <a:solidFill>
                  <a:srgbClr val="243B53"/>
                </a:solidFill>
                <a:latin typeface="Aptos" pitchFamily="34" charset="0"/>
                <a:ea typeface="Aptos" pitchFamily="34" charset="-122"/>
                <a:cs typeface="Aptos" pitchFamily="34" charset="-120"/>
              </a:rPr>
              <a:t>Cuántas reservas activas tiene ya esa persona esta semana. El requisito permite hasta 3.</a:t>
            </a:r>
            <a:endParaRPr lang="en-US" sz="1220" dirty="0"/>
          </a:p>
        </p:txBody>
      </p:sp>
      <p:sp>
        <p:nvSpPr>
          <p:cNvPr id="20" name="Shape 16"/>
          <p:cNvSpPr/>
          <p:nvPr/>
        </p:nvSpPr>
        <p:spPr>
          <a:xfrm>
            <a:off x="4379976" y="3584448"/>
            <a:ext cx="3465576" cy="1517904"/>
          </a:xfrm>
          <a:prstGeom prst="rect">
            <a:avLst/>
          </a:prstGeom>
          <a:solidFill>
            <a:srgbClr val="F2E7D9"/>
          </a:solidFill>
          <a:ln w="12700">
            <a:solidFill>
              <a:srgbClr val="F2E7D9"/>
            </a:solidFill>
            <a:prstDash val="solid"/>
          </a:ln>
        </p:spPr>
      </p:sp>
      <p:sp>
        <p:nvSpPr>
          <p:cNvPr id="21" name="Shape 17"/>
          <p:cNvSpPr/>
          <p:nvPr/>
        </p:nvSpPr>
        <p:spPr>
          <a:xfrm>
            <a:off x="4379976" y="3584448"/>
            <a:ext cx="3465576" cy="64008"/>
          </a:xfrm>
          <a:prstGeom prst="rect">
            <a:avLst/>
          </a:prstGeom>
          <a:solidFill>
            <a:srgbClr val="8A6A12"/>
          </a:solidFill>
          <a:ln w="12700">
            <a:solidFill>
              <a:srgbClr val="8A6A12"/>
            </a:solidFill>
            <a:prstDash val="solid"/>
          </a:ln>
        </p:spPr>
      </p:sp>
      <p:sp>
        <p:nvSpPr>
          <p:cNvPr id="22" name="Text 18"/>
          <p:cNvSpPr txBox="1"/>
          <p:nvPr/>
        </p:nvSpPr>
        <p:spPr>
          <a:xfrm>
            <a:off x="4654296" y="3749040"/>
            <a:ext cx="2926080" cy="310896"/>
          </a:xfrm>
          <a:prstGeom prst="rect">
            <a:avLst/>
          </a:prstGeom>
          <a:noFill/>
          <a:ln/>
        </p:spPr>
        <p:txBody>
          <a:bodyPr wrap="square" lIns="0" tIns="0" rIns="0" bIns="0" rtlCol="0" anchor="t"/>
          <a:lstStyle/>
          <a:p>
            <a:pPr algn="l" indent="0" marL="0">
              <a:buNone/>
            </a:pPr>
            <a:r>
              <a:rPr lang="en-US" sz="1700" b="1" dirty="0">
                <a:solidFill>
                  <a:srgbClr val="8A6A12"/>
                </a:solidFill>
                <a:latin typeface="Consolas" pitchFamily="34" charset="0"/>
                <a:ea typeface="Consolas" pitchFamily="34" charset="-122"/>
                <a:cs typeface="Consolas" pitchFamily="34" charset="-120"/>
              </a:rPr>
              <a:t>3</a:t>
            </a:r>
            <a:endParaRPr lang="en-US" sz="1700" dirty="0"/>
          </a:p>
        </p:txBody>
      </p:sp>
      <p:sp>
        <p:nvSpPr>
          <p:cNvPr id="23" name="Text 19"/>
          <p:cNvSpPr txBox="1"/>
          <p:nvPr/>
        </p:nvSpPr>
        <p:spPr>
          <a:xfrm>
            <a:off x="4654296" y="4096512"/>
            <a:ext cx="2926080" cy="219456"/>
          </a:xfrm>
          <a:prstGeom prst="rect">
            <a:avLst/>
          </a:prstGeom>
          <a:noFill/>
          <a:ln/>
        </p:spPr>
        <p:txBody>
          <a:bodyPr wrap="square" lIns="0" tIns="0" rIns="0" bIns="0" rtlCol="0" anchor="t"/>
          <a:lstStyle/>
          <a:p>
            <a:pPr algn="l" indent="0" marL="0">
              <a:buNone/>
            </a:pPr>
            <a:r>
              <a:rPr lang="en-US" sz="1100" i="1" dirty="0">
                <a:solidFill>
                  <a:srgbClr val="52606D"/>
                </a:solidFill>
                <a:latin typeface="Aptos" pitchFamily="34" charset="0"/>
                <a:ea typeface="Aptos" pitchFamily="34" charset="-122"/>
                <a:cs typeface="Aptos" pitchFamily="34" charset="-120"/>
              </a:rPr>
              <a:t>ocupa el parámetro «bloque»</a:t>
            </a:r>
            <a:endParaRPr lang="en-US" sz="1100" dirty="0"/>
          </a:p>
        </p:txBody>
      </p:sp>
      <p:sp>
        <p:nvSpPr>
          <p:cNvPr id="24" name="Text 20"/>
          <p:cNvSpPr txBox="1"/>
          <p:nvPr/>
        </p:nvSpPr>
        <p:spPr>
          <a:xfrm>
            <a:off x="4654296" y="4370832"/>
            <a:ext cx="2926080" cy="676656"/>
          </a:xfrm>
          <a:prstGeom prst="rect">
            <a:avLst/>
          </a:prstGeom>
          <a:noFill/>
          <a:ln/>
        </p:spPr>
        <p:txBody>
          <a:bodyPr wrap="square" lIns="0" tIns="0" rIns="0" bIns="0" rtlCol="0" anchor="t"/>
          <a:lstStyle/>
          <a:p>
            <a:pPr algn="l" indent="0" marL="0">
              <a:lnSpc>
                <a:spcPct val="116000"/>
              </a:lnSpc>
              <a:buNone/>
            </a:pPr>
            <a:r>
              <a:rPr lang="en-US" sz="1220" dirty="0">
                <a:solidFill>
                  <a:srgbClr val="243B53"/>
                </a:solidFill>
                <a:latin typeface="Aptos" pitchFamily="34" charset="0"/>
                <a:ea typeface="Aptos" pitchFamily="34" charset="-122"/>
                <a:cs typeface="Aptos" pitchFamily="34" charset="-120"/>
              </a:rPr>
              <a:t>Qué franja horaria está pidiendo. El requisito numera la jornada del 1 al 8.</a:t>
            </a:r>
            <a:endParaRPr lang="en-US" sz="1220" dirty="0"/>
          </a:p>
        </p:txBody>
      </p:sp>
      <p:sp>
        <p:nvSpPr>
          <p:cNvPr id="25" name="Shape 21"/>
          <p:cNvSpPr/>
          <p:nvPr/>
        </p:nvSpPr>
        <p:spPr>
          <a:xfrm>
            <a:off x="8101584" y="3584448"/>
            <a:ext cx="3465576" cy="1517904"/>
          </a:xfrm>
          <a:prstGeom prst="rect">
            <a:avLst/>
          </a:prstGeom>
          <a:solidFill>
            <a:srgbClr val="E9F6EE"/>
          </a:solidFill>
          <a:ln w="12700">
            <a:solidFill>
              <a:srgbClr val="E9F6EE"/>
            </a:solidFill>
            <a:prstDash val="solid"/>
          </a:ln>
        </p:spPr>
      </p:sp>
      <p:sp>
        <p:nvSpPr>
          <p:cNvPr id="26" name="Shape 22"/>
          <p:cNvSpPr/>
          <p:nvPr/>
        </p:nvSpPr>
        <p:spPr>
          <a:xfrm>
            <a:off x="8101584" y="3584448"/>
            <a:ext cx="3465576" cy="64008"/>
          </a:xfrm>
          <a:prstGeom prst="rect">
            <a:avLst/>
          </a:prstGeom>
          <a:solidFill>
            <a:srgbClr val="2E7D4F"/>
          </a:solidFill>
          <a:ln w="12700">
            <a:solidFill>
              <a:srgbClr val="2E7D4F"/>
            </a:solidFill>
            <a:prstDash val="solid"/>
          </a:ln>
        </p:spPr>
      </p:sp>
      <p:sp>
        <p:nvSpPr>
          <p:cNvPr id="27" name="Text 23"/>
          <p:cNvSpPr txBox="1"/>
          <p:nvPr/>
        </p:nvSpPr>
        <p:spPr>
          <a:xfrm>
            <a:off x="8375904" y="3749040"/>
            <a:ext cx="2926080" cy="310896"/>
          </a:xfrm>
          <a:prstGeom prst="rect">
            <a:avLst/>
          </a:prstGeom>
          <a:noFill/>
          <a:ln/>
        </p:spPr>
        <p:txBody>
          <a:bodyPr wrap="square" lIns="0" tIns="0" rIns="0" bIns="0" rtlCol="0" anchor="t"/>
          <a:lstStyle/>
          <a:p>
            <a:pPr algn="l" indent="0" marL="0">
              <a:buNone/>
            </a:pPr>
            <a:r>
              <a:rPr lang="en-US" sz="1700" b="1" dirty="0">
                <a:solidFill>
                  <a:srgbClr val="2E7D4F"/>
                </a:solidFill>
                <a:latin typeface="Consolas" pitchFamily="34" charset="0"/>
                <a:ea typeface="Consolas" pitchFamily="34" charset="-122"/>
                <a:cs typeface="Consolas" pitchFamily="34" charset="-120"/>
              </a:rPr>
              <a:t>tomado=False</a:t>
            </a:r>
            <a:endParaRPr lang="en-US" sz="1700" dirty="0"/>
          </a:p>
        </p:txBody>
      </p:sp>
      <p:sp>
        <p:nvSpPr>
          <p:cNvPr id="28" name="Text 24"/>
          <p:cNvSpPr txBox="1"/>
          <p:nvPr/>
        </p:nvSpPr>
        <p:spPr>
          <a:xfrm>
            <a:off x="8375904" y="4096512"/>
            <a:ext cx="2926080" cy="219456"/>
          </a:xfrm>
          <a:prstGeom prst="rect">
            <a:avLst/>
          </a:prstGeom>
          <a:noFill/>
          <a:ln/>
        </p:spPr>
        <p:txBody>
          <a:bodyPr wrap="square" lIns="0" tIns="0" rIns="0" bIns="0" rtlCol="0" anchor="t"/>
          <a:lstStyle/>
          <a:p>
            <a:pPr algn="l" indent="0" marL="0">
              <a:buNone/>
            </a:pPr>
            <a:r>
              <a:rPr lang="en-US" sz="1100" i="1" dirty="0">
                <a:solidFill>
                  <a:srgbClr val="52606D"/>
                </a:solidFill>
                <a:latin typeface="Aptos" pitchFamily="34" charset="0"/>
                <a:ea typeface="Aptos" pitchFamily="34" charset="-122"/>
                <a:cs typeface="Aptos" pitchFamily="34" charset="-120"/>
              </a:rPr>
              <a:t>ocupa el parámetro «tomado»</a:t>
            </a:r>
            <a:endParaRPr lang="en-US" sz="1100" dirty="0"/>
          </a:p>
        </p:txBody>
      </p:sp>
      <p:sp>
        <p:nvSpPr>
          <p:cNvPr id="29" name="Text 25"/>
          <p:cNvSpPr txBox="1"/>
          <p:nvPr/>
        </p:nvSpPr>
        <p:spPr>
          <a:xfrm>
            <a:off x="8375904" y="4370832"/>
            <a:ext cx="2926080" cy="676656"/>
          </a:xfrm>
          <a:prstGeom prst="rect">
            <a:avLst/>
          </a:prstGeom>
          <a:noFill/>
          <a:ln/>
        </p:spPr>
        <p:txBody>
          <a:bodyPr wrap="square" lIns="0" tIns="0" rIns="0" bIns="0" rtlCol="0" anchor="t"/>
          <a:lstStyle/>
          <a:p>
            <a:pPr algn="l" indent="0" marL="0">
              <a:lnSpc>
                <a:spcPct val="116000"/>
              </a:lnSpc>
              <a:buNone/>
            </a:pPr>
            <a:r>
              <a:rPr lang="en-US" sz="1220" dirty="0">
                <a:solidFill>
                  <a:srgbClr val="243B53"/>
                </a:solidFill>
                <a:latin typeface="Aptos" pitchFamily="34" charset="0"/>
                <a:ea typeface="Aptos" pitchFamily="34" charset="-122"/>
                <a:cs typeface="Aptos" pitchFamily="34" charset="-120"/>
              </a:rPr>
              <a:t>Si esa franja ya está ocupada por alguien. False significa que está libre.</a:t>
            </a:r>
            <a:endParaRPr lang="en-US" sz="1220" dirty="0"/>
          </a:p>
        </p:txBody>
      </p:sp>
      <p:sp>
        <p:nvSpPr>
          <p:cNvPr id="30" name="Shape 26"/>
          <p:cNvSpPr/>
          <p:nvPr/>
        </p:nvSpPr>
        <p:spPr>
          <a:xfrm>
            <a:off x="658368" y="5285232"/>
            <a:ext cx="10874959" cy="786384"/>
          </a:xfrm>
          <a:prstGeom prst="rect">
            <a:avLst/>
          </a:prstGeom>
          <a:solidFill>
            <a:srgbClr val="102A43"/>
          </a:solidFill>
          <a:ln w="12700">
            <a:solidFill>
              <a:srgbClr val="102A43"/>
            </a:solidFill>
            <a:prstDash val="solid"/>
          </a:ln>
        </p:spPr>
      </p:sp>
      <p:sp>
        <p:nvSpPr>
          <p:cNvPr id="31" name="Text 27"/>
          <p:cNvSpPr txBox="1"/>
          <p:nvPr/>
        </p:nvSpPr>
        <p:spPr>
          <a:xfrm>
            <a:off x="969264" y="5340096"/>
            <a:ext cx="10253167" cy="676656"/>
          </a:xfrm>
          <a:prstGeom prst="rect">
            <a:avLst/>
          </a:prstGeom>
          <a:noFill/>
          <a:ln/>
        </p:spPr>
        <p:txBody>
          <a:bodyPr wrap="square" lIns="0" tIns="0" rIns="0" bIns="0" rtlCol="0" anchor="ctr"/>
          <a:lstStyle/>
          <a:p>
            <a:pPr algn="ctr" indent="0" marL="0">
              <a:buNone/>
            </a:pPr>
            <a:r>
              <a:rPr lang="en-US" sz="1600" b="1" dirty="0">
                <a:solidFill>
                  <a:srgbClr val="FFFFFF"/>
                </a:solidFill>
                <a:latin typeface="Aptos" pitchFamily="34" charset="0"/>
                <a:ea typeface="Aptos" pitchFamily="34" charset="-122"/>
                <a:cs typeface="Aptos" pitchFamily="34" charset="-120"/>
              </a:rPr>
              <a:t>«Una persona que hoy no tiene ninguna reserva pide el bloque 3, que está libre. ¿Se le permite?»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05</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POR QUÉ IMPORTA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Leer código no es lo mismo que saber escribirlo</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Un agente escribe la prueba en segundos. Lo que no delega nadie es decidir si esa prueba sirve.</a:t>
            </a:r>
            <a:endParaRPr lang="en-US" sz="1450" dirty="0"/>
          </a:p>
        </p:txBody>
      </p:sp>
      <p:sp>
        <p:nvSpPr>
          <p:cNvPr id="11" name="Shape 8"/>
          <p:cNvSpPr/>
          <p:nvPr/>
        </p:nvSpPr>
        <p:spPr>
          <a:xfrm>
            <a:off x="658368" y="2359152"/>
            <a:ext cx="3465576" cy="1700784"/>
          </a:xfrm>
          <a:prstGeom prst="rect">
            <a:avLst/>
          </a:prstGeom>
          <a:solidFill>
            <a:srgbClr val="EDE6DA"/>
          </a:solidFill>
          <a:ln w="12700">
            <a:solidFill>
              <a:srgbClr val="EDE6DA"/>
            </a:solidFill>
            <a:prstDash val="solid"/>
          </a:ln>
        </p:spPr>
      </p:sp>
      <p:sp>
        <p:nvSpPr>
          <p:cNvPr id="12" name="Shape 9"/>
          <p:cNvSpPr/>
          <p:nvPr/>
        </p:nvSpPr>
        <p:spPr>
          <a:xfrm>
            <a:off x="658368" y="2359152"/>
            <a:ext cx="3465576" cy="64008"/>
          </a:xfrm>
          <a:prstGeom prst="rect">
            <a:avLst/>
          </a:prstGeom>
          <a:solidFill>
            <a:srgbClr val="52606D"/>
          </a:solidFill>
          <a:ln w="12700">
            <a:solidFill>
              <a:srgbClr val="52606D"/>
            </a:solidFill>
            <a:prstDash val="solid"/>
          </a:ln>
        </p:spPr>
      </p:sp>
      <p:sp>
        <p:nvSpPr>
          <p:cNvPr id="13" name="Text 10"/>
          <p:cNvSpPr txBox="1"/>
          <p:nvPr/>
        </p:nvSpPr>
        <p:spPr>
          <a:xfrm>
            <a:off x="932688" y="2523744"/>
            <a:ext cx="548640" cy="475488"/>
          </a:xfrm>
          <a:prstGeom prst="rect">
            <a:avLst/>
          </a:prstGeom>
          <a:noFill/>
          <a:ln/>
        </p:spPr>
        <p:txBody>
          <a:bodyPr wrap="square" lIns="0" tIns="0" rIns="0" bIns="0" rtlCol="0" anchor="t"/>
          <a:lstStyle/>
          <a:p>
            <a:pPr algn="l" indent="0" marL="0">
              <a:buNone/>
            </a:pPr>
            <a:r>
              <a:rPr lang="en-US" sz="2800" b="1" dirty="0">
                <a:solidFill>
                  <a:srgbClr val="52606D"/>
                </a:solidFill>
                <a:latin typeface="Aptos Display" pitchFamily="34" charset="0"/>
                <a:ea typeface="Aptos Display" pitchFamily="34" charset="-122"/>
                <a:cs typeface="Aptos Display" pitchFamily="34" charset="-120"/>
              </a:rPr>
              <a:t>1</a:t>
            </a:r>
            <a:endParaRPr lang="en-US" sz="2800" dirty="0"/>
          </a:p>
        </p:txBody>
      </p:sp>
      <p:sp>
        <p:nvSpPr>
          <p:cNvPr id="14" name="Text 11"/>
          <p:cNvSpPr txBox="1"/>
          <p:nvPr/>
        </p:nvSpPr>
        <p:spPr>
          <a:xfrm>
            <a:off x="932688" y="3035808"/>
            <a:ext cx="2926080" cy="274320"/>
          </a:xfrm>
          <a:prstGeom prst="rect">
            <a:avLst/>
          </a:prstGeom>
          <a:noFill/>
          <a:ln/>
        </p:spPr>
        <p:txBody>
          <a:bodyPr wrap="square" lIns="0" tIns="0" rIns="0" bIns="0" rtlCol="0" anchor="t"/>
          <a:lstStyle/>
          <a:p>
            <a:pPr algn="l" indent="0" marL="0">
              <a:buNone/>
            </a:pPr>
            <a:r>
              <a:rPr lang="en-US" sz="1550" b="1" dirty="0">
                <a:solidFill>
                  <a:srgbClr val="243B53"/>
                </a:solidFill>
                <a:latin typeface="Aptos" pitchFamily="34" charset="0"/>
                <a:ea typeface="Aptos" pitchFamily="34" charset="-122"/>
                <a:cs typeface="Aptos" pitchFamily="34" charset="-120"/>
              </a:rPr>
              <a:t>Reconocer</a:t>
            </a:r>
            <a:endParaRPr lang="en-US" sz="1550" dirty="0"/>
          </a:p>
        </p:txBody>
      </p:sp>
      <p:sp>
        <p:nvSpPr>
          <p:cNvPr id="15" name="Text 12"/>
          <p:cNvSpPr txBox="1"/>
          <p:nvPr/>
        </p:nvSpPr>
        <p:spPr>
          <a:xfrm>
            <a:off x="932688" y="3364992"/>
            <a:ext cx="2926080" cy="603504"/>
          </a:xfrm>
          <a:prstGeom prst="rect">
            <a:avLst/>
          </a:prstGeom>
          <a:noFill/>
          <a:ln/>
        </p:spPr>
        <p:txBody>
          <a:bodyPr wrap="square" lIns="0" tIns="0" rIns="0" bIns="0" rtlCol="0" anchor="t"/>
          <a:lstStyle/>
          <a:p>
            <a:pPr algn="l" indent="0" marL="0">
              <a:lnSpc>
                <a:spcPct val="114000"/>
              </a:lnSpc>
              <a:buNone/>
            </a:pPr>
            <a:r>
              <a:rPr lang="en-US" sz="1240" dirty="0">
                <a:solidFill>
                  <a:srgbClr val="243B53"/>
                </a:solidFill>
                <a:latin typeface="Aptos" pitchFamily="34" charset="0"/>
                <a:ea typeface="Aptos" pitchFamily="34" charset="-122"/>
                <a:cs typeface="Aptos" pitchFamily="34" charset="-120"/>
              </a:rPr>
              <a:t>Ver una prueba y saber que es una prueba.</a:t>
            </a:r>
            <a:endParaRPr lang="en-US" sz="1240" dirty="0"/>
          </a:p>
        </p:txBody>
      </p:sp>
      <p:sp>
        <p:nvSpPr>
          <p:cNvPr id="16" name="Shape 13"/>
          <p:cNvSpPr/>
          <p:nvPr/>
        </p:nvSpPr>
        <p:spPr>
          <a:xfrm>
            <a:off x="4379976" y="2359152"/>
            <a:ext cx="3465576" cy="1700784"/>
          </a:xfrm>
          <a:prstGeom prst="rect">
            <a:avLst/>
          </a:prstGeom>
          <a:solidFill>
            <a:srgbClr val="E6EEF7"/>
          </a:solidFill>
          <a:ln w="12700">
            <a:solidFill>
              <a:srgbClr val="E6EEF7"/>
            </a:solidFill>
            <a:prstDash val="solid"/>
          </a:ln>
        </p:spPr>
      </p:sp>
      <p:sp>
        <p:nvSpPr>
          <p:cNvPr id="17" name="Shape 14"/>
          <p:cNvSpPr/>
          <p:nvPr/>
        </p:nvSpPr>
        <p:spPr>
          <a:xfrm>
            <a:off x="4379976" y="2359152"/>
            <a:ext cx="3465576" cy="64008"/>
          </a:xfrm>
          <a:prstGeom prst="rect">
            <a:avLst/>
          </a:prstGeom>
          <a:solidFill>
            <a:srgbClr val="102A43"/>
          </a:solidFill>
          <a:ln w="12700">
            <a:solidFill>
              <a:srgbClr val="102A43"/>
            </a:solidFill>
            <a:prstDash val="solid"/>
          </a:ln>
        </p:spPr>
      </p:sp>
      <p:sp>
        <p:nvSpPr>
          <p:cNvPr id="18" name="Text 15"/>
          <p:cNvSpPr txBox="1"/>
          <p:nvPr/>
        </p:nvSpPr>
        <p:spPr>
          <a:xfrm>
            <a:off x="4654296" y="2523744"/>
            <a:ext cx="548640" cy="475488"/>
          </a:xfrm>
          <a:prstGeom prst="rect">
            <a:avLst/>
          </a:prstGeom>
          <a:noFill/>
          <a:ln/>
        </p:spPr>
        <p:txBody>
          <a:bodyPr wrap="square" lIns="0" tIns="0" rIns="0" bIns="0" rtlCol="0" anchor="t"/>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2</a:t>
            </a:r>
            <a:endParaRPr lang="en-US" sz="2800" dirty="0"/>
          </a:p>
        </p:txBody>
      </p:sp>
      <p:sp>
        <p:nvSpPr>
          <p:cNvPr id="19" name="Text 16"/>
          <p:cNvSpPr txBox="1"/>
          <p:nvPr/>
        </p:nvSpPr>
        <p:spPr>
          <a:xfrm>
            <a:off x="4654296" y="3035808"/>
            <a:ext cx="2926080" cy="274320"/>
          </a:xfrm>
          <a:prstGeom prst="rect">
            <a:avLst/>
          </a:prstGeom>
          <a:noFill/>
          <a:ln/>
        </p:spPr>
        <p:txBody>
          <a:bodyPr wrap="square" lIns="0" tIns="0" rIns="0" bIns="0" rtlCol="0" anchor="t"/>
          <a:lstStyle/>
          <a:p>
            <a:pPr algn="l" indent="0" marL="0">
              <a:buNone/>
            </a:pPr>
            <a:r>
              <a:rPr lang="en-US" sz="1550" b="1" dirty="0">
                <a:solidFill>
                  <a:srgbClr val="243B53"/>
                </a:solidFill>
                <a:latin typeface="Aptos" pitchFamily="34" charset="0"/>
                <a:ea typeface="Aptos" pitchFamily="34" charset="-122"/>
                <a:cs typeface="Aptos" pitchFamily="34" charset="-120"/>
              </a:rPr>
              <a:t>Explicar</a:t>
            </a:r>
            <a:endParaRPr lang="en-US" sz="1550" dirty="0"/>
          </a:p>
        </p:txBody>
      </p:sp>
      <p:sp>
        <p:nvSpPr>
          <p:cNvPr id="20" name="Text 17"/>
          <p:cNvSpPr txBox="1"/>
          <p:nvPr/>
        </p:nvSpPr>
        <p:spPr>
          <a:xfrm>
            <a:off x="4654296" y="3364992"/>
            <a:ext cx="2926080" cy="603504"/>
          </a:xfrm>
          <a:prstGeom prst="rect">
            <a:avLst/>
          </a:prstGeom>
          <a:noFill/>
          <a:ln/>
        </p:spPr>
        <p:txBody>
          <a:bodyPr wrap="square" lIns="0" tIns="0" rIns="0" bIns="0" rtlCol="0" anchor="t"/>
          <a:lstStyle/>
          <a:p>
            <a:pPr algn="l" indent="0" marL="0">
              <a:lnSpc>
                <a:spcPct val="114000"/>
              </a:lnSpc>
              <a:buNone/>
            </a:pPr>
            <a:r>
              <a:rPr lang="en-US" sz="1240" dirty="0">
                <a:solidFill>
                  <a:srgbClr val="243B53"/>
                </a:solidFill>
                <a:latin typeface="Aptos" pitchFamily="34" charset="0"/>
                <a:ea typeface="Aptos" pitchFamily="34" charset="-122"/>
                <a:cs typeface="Aptos" pitchFamily="34" charset="-120"/>
              </a:rPr>
              <a:t>Decir qué recibe, qué ejecuta, qué afirma y de dónde salió el resultado esperado.</a:t>
            </a:r>
            <a:endParaRPr lang="en-US" sz="1240" dirty="0"/>
          </a:p>
        </p:txBody>
      </p:sp>
      <p:sp>
        <p:nvSpPr>
          <p:cNvPr id="21" name="Shape 18"/>
          <p:cNvSpPr/>
          <p:nvPr/>
        </p:nvSpPr>
        <p:spPr>
          <a:xfrm>
            <a:off x="8101584" y="2359152"/>
            <a:ext cx="3465576" cy="1700784"/>
          </a:xfrm>
          <a:prstGeom prst="rect">
            <a:avLst/>
          </a:prstGeom>
          <a:solidFill>
            <a:srgbClr val="F2E7D9"/>
          </a:solidFill>
          <a:ln w="12700">
            <a:solidFill>
              <a:srgbClr val="F2E7D9"/>
            </a:solidFill>
            <a:prstDash val="solid"/>
          </a:ln>
        </p:spPr>
      </p:sp>
      <p:sp>
        <p:nvSpPr>
          <p:cNvPr id="22" name="Shape 19"/>
          <p:cNvSpPr/>
          <p:nvPr/>
        </p:nvSpPr>
        <p:spPr>
          <a:xfrm>
            <a:off x="8101584" y="2359152"/>
            <a:ext cx="3465576" cy="64008"/>
          </a:xfrm>
          <a:prstGeom prst="rect">
            <a:avLst/>
          </a:prstGeom>
          <a:solidFill>
            <a:srgbClr val="8A6A12"/>
          </a:solidFill>
          <a:ln w="12700">
            <a:solidFill>
              <a:srgbClr val="8A6A12"/>
            </a:solidFill>
            <a:prstDash val="solid"/>
          </a:ln>
        </p:spPr>
      </p:sp>
      <p:sp>
        <p:nvSpPr>
          <p:cNvPr id="23" name="Text 20"/>
          <p:cNvSpPr txBox="1"/>
          <p:nvPr/>
        </p:nvSpPr>
        <p:spPr>
          <a:xfrm>
            <a:off x="8375904" y="2523744"/>
            <a:ext cx="548640" cy="475488"/>
          </a:xfrm>
          <a:prstGeom prst="rect">
            <a:avLst/>
          </a:prstGeom>
          <a:noFill/>
          <a:ln/>
        </p:spPr>
        <p:txBody>
          <a:bodyPr wrap="square" lIns="0" tIns="0" rIns="0" bIns="0" rtlCol="0" anchor="t"/>
          <a:lstStyle/>
          <a:p>
            <a:pPr algn="l" indent="0" marL="0">
              <a:buNone/>
            </a:pPr>
            <a:r>
              <a:rPr lang="en-US" sz="2800" b="1" dirty="0">
                <a:solidFill>
                  <a:srgbClr val="8A6A12"/>
                </a:solidFill>
                <a:latin typeface="Aptos Display" pitchFamily="34" charset="0"/>
                <a:ea typeface="Aptos Display" pitchFamily="34" charset="-122"/>
                <a:cs typeface="Aptos Display" pitchFamily="34" charset="-120"/>
              </a:rPr>
              <a:t>3</a:t>
            </a:r>
            <a:endParaRPr lang="en-US" sz="2800" dirty="0"/>
          </a:p>
        </p:txBody>
      </p:sp>
      <p:sp>
        <p:nvSpPr>
          <p:cNvPr id="24" name="Text 21"/>
          <p:cNvSpPr txBox="1"/>
          <p:nvPr/>
        </p:nvSpPr>
        <p:spPr>
          <a:xfrm>
            <a:off x="8375904" y="3035808"/>
            <a:ext cx="2926080" cy="274320"/>
          </a:xfrm>
          <a:prstGeom prst="rect">
            <a:avLst/>
          </a:prstGeom>
          <a:noFill/>
          <a:ln/>
        </p:spPr>
        <p:txBody>
          <a:bodyPr wrap="square" lIns="0" tIns="0" rIns="0" bIns="0" rtlCol="0" anchor="t"/>
          <a:lstStyle/>
          <a:p>
            <a:pPr algn="l" indent="0" marL="0">
              <a:buNone/>
            </a:pPr>
            <a:r>
              <a:rPr lang="en-US" sz="1550" b="1" dirty="0">
                <a:solidFill>
                  <a:srgbClr val="243B53"/>
                </a:solidFill>
                <a:latin typeface="Aptos" pitchFamily="34" charset="0"/>
                <a:ea typeface="Aptos" pitchFamily="34" charset="-122"/>
                <a:cs typeface="Aptos" pitchFamily="34" charset="-120"/>
              </a:rPr>
              <a:t>Producir y corregir</a:t>
            </a:r>
            <a:endParaRPr lang="en-US" sz="1550" dirty="0"/>
          </a:p>
        </p:txBody>
      </p:sp>
      <p:sp>
        <p:nvSpPr>
          <p:cNvPr id="25" name="Text 22"/>
          <p:cNvSpPr txBox="1"/>
          <p:nvPr/>
        </p:nvSpPr>
        <p:spPr>
          <a:xfrm>
            <a:off x="8375904" y="3364992"/>
            <a:ext cx="2926080" cy="603504"/>
          </a:xfrm>
          <a:prstGeom prst="rect">
            <a:avLst/>
          </a:prstGeom>
          <a:noFill/>
          <a:ln/>
        </p:spPr>
        <p:txBody>
          <a:bodyPr wrap="square" lIns="0" tIns="0" rIns="0" bIns="0" rtlCol="0" anchor="t"/>
          <a:lstStyle/>
          <a:p>
            <a:pPr algn="l" indent="0" marL="0">
              <a:lnSpc>
                <a:spcPct val="114000"/>
              </a:lnSpc>
              <a:buNone/>
            </a:pPr>
            <a:r>
              <a:rPr lang="en-US" sz="1240" dirty="0">
                <a:solidFill>
                  <a:srgbClr val="243B53"/>
                </a:solidFill>
                <a:latin typeface="Aptos" pitchFamily="34" charset="0"/>
                <a:ea typeface="Aptos" pitchFamily="34" charset="-122"/>
                <a:cs typeface="Aptos" pitchFamily="34" charset="-120"/>
              </a:rPr>
              <a:t>Escribirla desde cero, anticipar su resultado y arreglarla cuando el requisito cambia.</a:t>
            </a:r>
            <a:endParaRPr lang="en-US" sz="1240" dirty="0"/>
          </a:p>
        </p:txBody>
      </p:sp>
      <p:sp>
        <p:nvSpPr>
          <p:cNvPr id="26" name="Shape 23"/>
          <p:cNvSpPr/>
          <p:nvPr/>
        </p:nvSpPr>
        <p:spPr>
          <a:xfrm>
            <a:off x="4041648" y="3209544"/>
            <a:ext cx="219456" cy="0"/>
          </a:xfrm>
          <a:prstGeom prst="line">
            <a:avLst/>
          </a:prstGeom>
          <a:noFill/>
          <a:ln w="12700">
            <a:solidFill>
              <a:srgbClr val="52606D"/>
            </a:solidFill>
            <a:prstDash val="solid"/>
            <a:headEnd type="none"/>
            <a:tailEnd type="triangle"/>
          </a:ln>
        </p:spPr>
      </p:sp>
      <p:sp>
        <p:nvSpPr>
          <p:cNvPr id="27" name="Shape 24"/>
          <p:cNvSpPr/>
          <p:nvPr/>
        </p:nvSpPr>
        <p:spPr>
          <a:xfrm>
            <a:off x="7763256" y="3209544"/>
            <a:ext cx="219456" cy="0"/>
          </a:xfrm>
          <a:prstGeom prst="line">
            <a:avLst/>
          </a:prstGeom>
          <a:noFill/>
          <a:ln w="12700">
            <a:solidFill>
              <a:srgbClr val="52606D"/>
            </a:solidFill>
            <a:prstDash val="solid"/>
            <a:headEnd type="none"/>
            <a:tailEnd type="triangle"/>
          </a:ln>
        </p:spPr>
      </p:sp>
      <p:sp>
        <p:nvSpPr>
          <p:cNvPr id="28" name="Shape 25"/>
          <p:cNvSpPr/>
          <p:nvPr/>
        </p:nvSpPr>
        <p:spPr>
          <a:xfrm>
            <a:off x="658368" y="4315968"/>
            <a:ext cx="10874959" cy="969264"/>
          </a:xfrm>
          <a:prstGeom prst="rect">
            <a:avLst/>
          </a:prstGeom>
          <a:solidFill>
            <a:srgbClr val="FFFFFF"/>
          </a:solidFill>
          <a:ln w="12700">
            <a:solidFill>
              <a:srgbClr val="FFFFFF"/>
            </a:solidFill>
            <a:prstDash val="solid"/>
          </a:ln>
        </p:spPr>
      </p:sp>
      <p:sp>
        <p:nvSpPr>
          <p:cNvPr id="29" name="Shape 26"/>
          <p:cNvSpPr/>
          <p:nvPr/>
        </p:nvSpPr>
        <p:spPr>
          <a:xfrm>
            <a:off x="658368" y="4315968"/>
            <a:ext cx="64008" cy="969264"/>
          </a:xfrm>
          <a:prstGeom prst="rect">
            <a:avLst/>
          </a:prstGeom>
          <a:solidFill>
            <a:srgbClr val="B3181E"/>
          </a:solidFill>
          <a:ln w="12700">
            <a:solidFill>
              <a:srgbClr val="B3181E"/>
            </a:solidFill>
            <a:prstDash val="solid"/>
          </a:ln>
        </p:spPr>
      </p:sp>
      <p:sp>
        <p:nvSpPr>
          <p:cNvPr id="30" name="Text 27"/>
          <p:cNvSpPr txBox="1"/>
          <p:nvPr/>
        </p:nvSpPr>
        <p:spPr>
          <a:xfrm>
            <a:off x="987552" y="4498848"/>
            <a:ext cx="45720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EL RIESGO CONCRETO</a:t>
            </a:r>
            <a:endParaRPr lang="en-US" sz="960" dirty="0"/>
          </a:p>
        </p:txBody>
      </p:sp>
      <p:sp>
        <p:nvSpPr>
          <p:cNvPr id="31" name="Text 28"/>
          <p:cNvSpPr txBox="1"/>
          <p:nvPr/>
        </p:nvSpPr>
        <p:spPr>
          <a:xfrm>
            <a:off x="987552" y="4736592"/>
            <a:ext cx="10216591" cy="475488"/>
          </a:xfrm>
          <a:prstGeom prst="rect">
            <a:avLst/>
          </a:prstGeom>
          <a:noFill/>
          <a:ln/>
        </p:spPr>
        <p:txBody>
          <a:bodyPr wrap="square" lIns="0" tIns="0" rIns="0" bIns="0" rtlCol="0" anchor="t"/>
          <a:lstStyle/>
          <a:p>
            <a:pPr algn="l" indent="0" marL="0">
              <a:lnSpc>
                <a:spcPct val="114000"/>
              </a:lnSpc>
              <a:buNone/>
            </a:pPr>
            <a:r>
              <a:rPr lang="en-US" sz="1320" dirty="0">
                <a:solidFill>
                  <a:srgbClr val="243B53"/>
                </a:solidFill>
                <a:latin typeface="Aptos" pitchFamily="34" charset="0"/>
                <a:ea typeface="Aptos" pitchFamily="34" charset="-122"/>
                <a:cs typeface="Aptos" pitchFamily="34" charset="-120"/>
              </a:rPr>
              <a:t>Una suite generada puede terminar en verde y no comprobar nada de lo que el requisito exige.</a:t>
            </a:r>
            <a:endParaRPr lang="en-US" sz="1320" dirty="0"/>
          </a:p>
          <a:p>
            <a:pPr algn="l" indent="0" marL="0">
              <a:lnSpc>
                <a:spcPct val="114000"/>
              </a:lnSpc>
              <a:buNone/>
            </a:pPr>
            <a:r>
              <a:rPr lang="en-US" sz="1320" dirty="0">
                <a:solidFill>
                  <a:srgbClr val="243B53"/>
                </a:solidFill>
                <a:latin typeface="Aptos" pitchFamily="34" charset="0"/>
                <a:ea typeface="Aptos" pitchFamily="34" charset="-122"/>
                <a:cs typeface="Aptos" pitchFamily="34" charset="-120"/>
              </a:rPr>
              <a:t>Quien solo reconoce código no tiene cómo notarlo; quien puede explicarlo, sí.</a:t>
            </a:r>
            <a:endParaRPr lang="en-US" sz="1320" dirty="0"/>
          </a:p>
        </p:txBody>
      </p:sp>
      <p:sp>
        <p:nvSpPr>
          <p:cNvPr id="32" name="Shape 29"/>
          <p:cNvSpPr/>
          <p:nvPr/>
        </p:nvSpPr>
        <p:spPr>
          <a:xfrm>
            <a:off x="658368" y="5522976"/>
            <a:ext cx="10874959" cy="512064"/>
          </a:xfrm>
          <a:prstGeom prst="rect">
            <a:avLst/>
          </a:prstGeom>
          <a:solidFill>
            <a:srgbClr val="102A43"/>
          </a:solidFill>
          <a:ln w="12700">
            <a:solidFill>
              <a:srgbClr val="102A43"/>
            </a:solidFill>
            <a:prstDash val="solid"/>
          </a:ln>
        </p:spPr>
      </p:sp>
      <p:sp>
        <p:nvSpPr>
          <p:cNvPr id="33" name="Text 30"/>
          <p:cNvSpPr txBox="1"/>
          <p:nvPr/>
        </p:nvSpPr>
        <p:spPr>
          <a:xfrm>
            <a:off x="969264" y="5559552"/>
            <a:ext cx="10253167" cy="438912"/>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El objetivo de la sesión es llegar al nivel 3 en las tres técnicas que se enseñan.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06</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EL PUNTO DE PARTIDA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Una corazonada que acertó</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En la auditoría del proyecto de reservas se probaron los bloques 1, 7, 8 y 9. Nadie supo decir por qué esos cuatro.</a:t>
            </a:r>
            <a:endParaRPr lang="en-US" sz="1450" dirty="0"/>
          </a:p>
        </p:txBody>
      </p:sp>
      <p:sp>
        <p:nvSpPr>
          <p:cNvPr id="11" name="Shape 8"/>
          <p:cNvSpPr/>
          <p:nvPr/>
        </p:nvSpPr>
        <p:spPr>
          <a:xfrm>
            <a:off x="658368" y="2340864"/>
            <a:ext cx="5029200" cy="1335024"/>
          </a:xfrm>
          <a:prstGeom prst="roundRect">
            <a:avLst>
              <a:gd name="adj" fmla="val 2740"/>
            </a:avLst>
          </a:prstGeom>
          <a:solidFill>
            <a:srgbClr val="102A43"/>
          </a:solidFill>
          <a:ln w="12700">
            <a:solidFill>
              <a:srgbClr val="102A43"/>
            </a:solidFill>
            <a:prstDash val="solid"/>
          </a:ln>
        </p:spPr>
      </p:sp>
      <p:sp>
        <p:nvSpPr>
          <p:cNvPr id="12" name="Shape 9"/>
          <p:cNvSpPr/>
          <p:nvPr/>
        </p:nvSpPr>
        <p:spPr>
          <a:xfrm>
            <a:off x="786384" y="2450592"/>
            <a:ext cx="477316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523744"/>
            <a:ext cx="455371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Los valores que se probaron</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907792"/>
            <a:ext cx="4608576" cy="585216"/>
          </a:xfrm>
          <a:prstGeom prst="rect">
            <a:avLst/>
          </a:prstGeom>
        </p:spPr>
      </p:pic>
      <p:sp>
        <p:nvSpPr>
          <p:cNvPr id="15" name="Shape 11"/>
          <p:cNvSpPr/>
          <p:nvPr/>
        </p:nvSpPr>
        <p:spPr>
          <a:xfrm>
            <a:off x="5870448" y="2340864"/>
            <a:ext cx="5660136" cy="1335024"/>
          </a:xfrm>
          <a:prstGeom prst="rect">
            <a:avLst/>
          </a:prstGeom>
          <a:solidFill>
            <a:srgbClr val="F8E4E5"/>
          </a:solidFill>
          <a:ln w="12700">
            <a:solidFill>
              <a:srgbClr val="F8E4E5"/>
            </a:solidFill>
            <a:prstDash val="solid"/>
          </a:ln>
        </p:spPr>
      </p:sp>
      <p:sp>
        <p:nvSpPr>
          <p:cNvPr id="16" name="Shape 12"/>
          <p:cNvSpPr/>
          <p:nvPr/>
        </p:nvSpPr>
        <p:spPr>
          <a:xfrm>
            <a:off x="5870448" y="2340864"/>
            <a:ext cx="64008" cy="1335024"/>
          </a:xfrm>
          <a:prstGeom prst="rect">
            <a:avLst/>
          </a:prstGeom>
          <a:solidFill>
            <a:srgbClr val="B3181E"/>
          </a:solidFill>
          <a:ln w="12700">
            <a:solidFill>
              <a:srgbClr val="B3181E"/>
            </a:solidFill>
            <a:prstDash val="solid"/>
          </a:ln>
        </p:spPr>
      </p:sp>
      <p:sp>
        <p:nvSpPr>
          <p:cNvPr id="17" name="Text 13"/>
          <p:cNvSpPr txBox="1"/>
          <p:nvPr/>
        </p:nvSpPr>
        <p:spPr>
          <a:xfrm>
            <a:off x="6181344" y="2523744"/>
            <a:ext cx="420624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LA RAZÓN QUE SE DIO</a:t>
            </a:r>
            <a:endParaRPr lang="en-US" sz="960" dirty="0"/>
          </a:p>
        </p:txBody>
      </p:sp>
      <p:sp>
        <p:nvSpPr>
          <p:cNvPr id="18" name="Text 14"/>
          <p:cNvSpPr txBox="1"/>
          <p:nvPr/>
        </p:nvSpPr>
        <p:spPr>
          <a:xfrm>
            <a:off x="6181344" y="2798064"/>
            <a:ext cx="5029200" cy="694944"/>
          </a:xfrm>
          <a:prstGeom prst="rect">
            <a:avLst/>
          </a:prstGeom>
          <a:noFill/>
          <a:ln/>
        </p:spPr>
        <p:txBody>
          <a:bodyPr wrap="square" lIns="0" tIns="0" rIns="0" bIns="0" rtlCol="0" anchor="t"/>
          <a:lstStyle/>
          <a:p>
            <a:pPr algn="l" indent="0" marL="0">
              <a:lnSpc>
                <a:spcPct val="112000"/>
              </a:lnSpc>
              <a:buNone/>
            </a:pPr>
            <a:r>
              <a:rPr lang="en-US" sz="1500" i="1" dirty="0">
                <a:solidFill>
                  <a:srgbClr val="243B53"/>
                </a:solidFill>
                <a:latin typeface="Aptos" pitchFamily="34" charset="0"/>
                <a:ea typeface="Aptos" pitchFamily="34" charset="-122"/>
                <a:cs typeface="Aptos" pitchFamily="34" charset="-120"/>
              </a:rPr>
              <a:t>«Parecía sensato mirar los extremos del rango.»</a:t>
            </a:r>
            <a:endParaRPr lang="en-US" sz="1500" dirty="0"/>
          </a:p>
        </p:txBody>
      </p:sp>
      <p:sp>
        <p:nvSpPr>
          <p:cNvPr id="19" name="Text 15"/>
          <p:cNvSpPr txBox="1"/>
          <p:nvPr/>
        </p:nvSpPr>
        <p:spPr>
          <a:xfrm>
            <a:off x="658368" y="3913632"/>
            <a:ext cx="7315200" cy="201168"/>
          </a:xfrm>
          <a:prstGeom prst="rect">
            <a:avLst/>
          </a:prstGeom>
          <a:noFill/>
          <a:ln/>
        </p:spPr>
        <p:txBody>
          <a:bodyPr wrap="square" lIns="0" tIns="0" rIns="0" bIns="0" rtlCol="0" anchor="t"/>
          <a:lstStyle/>
          <a:p>
            <a:pPr algn="l" indent="0" marL="0">
              <a:buNone/>
            </a:pPr>
            <a:r>
              <a:rPr lang="en-US" sz="960" b="1" spc="130" kern="0" dirty="0">
                <a:solidFill>
                  <a:srgbClr val="243B53"/>
                </a:solidFill>
                <a:latin typeface="Aptos" pitchFamily="34" charset="0"/>
                <a:ea typeface="Aptos" pitchFamily="34" charset="-122"/>
                <a:cs typeface="Aptos" pitchFamily="34" charset="-120"/>
              </a:rPr>
              <a:t>FUNCIONÓ. Y AUN ASÍ LE FALTAN TRES COSAS</a:t>
            </a:r>
            <a:endParaRPr lang="en-US" sz="960" dirty="0"/>
          </a:p>
        </p:txBody>
      </p:sp>
      <p:sp>
        <p:nvSpPr>
          <p:cNvPr id="20" name="Shape 16"/>
          <p:cNvSpPr/>
          <p:nvPr/>
        </p:nvSpPr>
        <p:spPr>
          <a:xfrm>
            <a:off x="658368" y="4206240"/>
            <a:ext cx="3465576" cy="1207008"/>
          </a:xfrm>
          <a:prstGeom prst="rect">
            <a:avLst/>
          </a:prstGeom>
          <a:solidFill>
            <a:srgbClr val="FFFFFF"/>
          </a:solidFill>
          <a:ln w="12700">
            <a:solidFill>
              <a:srgbClr val="FFFFFF"/>
            </a:solidFill>
            <a:prstDash val="solid"/>
          </a:ln>
        </p:spPr>
      </p:sp>
      <p:sp>
        <p:nvSpPr>
          <p:cNvPr id="21" name="Shape 17"/>
          <p:cNvSpPr/>
          <p:nvPr/>
        </p:nvSpPr>
        <p:spPr>
          <a:xfrm>
            <a:off x="658368" y="4206240"/>
            <a:ext cx="3465576" cy="54864"/>
          </a:xfrm>
          <a:prstGeom prst="rect">
            <a:avLst/>
          </a:prstGeom>
          <a:solidFill>
            <a:srgbClr val="B3181E"/>
          </a:solidFill>
          <a:ln w="12700">
            <a:solidFill>
              <a:srgbClr val="B3181E"/>
            </a:solidFill>
            <a:prstDash val="solid"/>
          </a:ln>
        </p:spPr>
      </p:sp>
      <p:sp>
        <p:nvSpPr>
          <p:cNvPr id="22" name="Text 18"/>
          <p:cNvSpPr txBox="1"/>
          <p:nvPr/>
        </p:nvSpPr>
        <p:spPr>
          <a:xfrm>
            <a:off x="914400" y="4370832"/>
            <a:ext cx="2962656" cy="256032"/>
          </a:xfrm>
          <a:prstGeom prst="rect">
            <a:avLst/>
          </a:prstGeom>
          <a:noFill/>
          <a:ln/>
        </p:spPr>
        <p:txBody>
          <a:bodyPr wrap="square" lIns="0" tIns="0" rIns="0" bIns="0" rtlCol="0" anchor="t"/>
          <a:lstStyle/>
          <a:p>
            <a:pPr algn="l" indent="0" marL="0">
              <a:buNone/>
            </a:pPr>
            <a:r>
              <a:rPr lang="en-US" sz="1400" b="1" dirty="0">
                <a:solidFill>
                  <a:srgbClr val="B3181E"/>
                </a:solidFill>
                <a:latin typeface="Aptos" pitchFamily="34" charset="0"/>
                <a:ea typeface="Aptos" pitchFamily="34" charset="-122"/>
                <a:cs typeface="Aptos" pitchFamily="34" charset="-120"/>
              </a:rPr>
              <a:t>No se puede enseñar</a:t>
            </a:r>
            <a:endParaRPr lang="en-US" sz="1400" dirty="0"/>
          </a:p>
        </p:txBody>
      </p:sp>
      <p:sp>
        <p:nvSpPr>
          <p:cNvPr id="23" name="Text 19"/>
          <p:cNvSpPr txBox="1"/>
          <p:nvPr/>
        </p:nvSpPr>
        <p:spPr>
          <a:xfrm>
            <a:off x="914400" y="4681728"/>
            <a:ext cx="2962656" cy="658368"/>
          </a:xfrm>
          <a:prstGeom prst="rect">
            <a:avLst/>
          </a:prstGeom>
          <a:noFill/>
          <a:ln/>
        </p:spPr>
        <p:txBody>
          <a:bodyPr wrap="square" lIns="0" tIns="0" rIns="0" bIns="0" rtlCol="0" anchor="t"/>
          <a:lstStyle/>
          <a:p>
            <a:pPr algn="l" indent="0" marL="0">
              <a:lnSpc>
                <a:spcPct val="114000"/>
              </a:lnSpc>
              <a:buNone/>
            </a:pPr>
            <a:r>
              <a:rPr lang="en-US" sz="1200" dirty="0">
                <a:solidFill>
                  <a:srgbClr val="243B53"/>
                </a:solidFill>
                <a:latin typeface="Aptos" pitchFamily="34" charset="0"/>
                <a:ea typeface="Aptos" pitchFamily="34" charset="-122"/>
                <a:cs typeface="Aptos" pitchFamily="34" charset="-120"/>
              </a:rPr>
              <a:t>«Mira los extremos» no dice cuáles son los extremos de un correo, de una lista o de una fecha.</a:t>
            </a:r>
            <a:endParaRPr lang="en-US" sz="1200" dirty="0"/>
          </a:p>
        </p:txBody>
      </p:sp>
      <p:sp>
        <p:nvSpPr>
          <p:cNvPr id="24" name="Shape 20"/>
          <p:cNvSpPr/>
          <p:nvPr/>
        </p:nvSpPr>
        <p:spPr>
          <a:xfrm>
            <a:off x="4379976" y="4206240"/>
            <a:ext cx="3465576" cy="1207008"/>
          </a:xfrm>
          <a:prstGeom prst="rect">
            <a:avLst/>
          </a:prstGeom>
          <a:solidFill>
            <a:srgbClr val="FFFFFF"/>
          </a:solidFill>
          <a:ln w="12700">
            <a:solidFill>
              <a:srgbClr val="FFFFFF"/>
            </a:solidFill>
            <a:prstDash val="solid"/>
          </a:ln>
        </p:spPr>
      </p:sp>
      <p:sp>
        <p:nvSpPr>
          <p:cNvPr id="25" name="Shape 21"/>
          <p:cNvSpPr/>
          <p:nvPr/>
        </p:nvSpPr>
        <p:spPr>
          <a:xfrm>
            <a:off x="4379976" y="4206240"/>
            <a:ext cx="3465576" cy="54864"/>
          </a:xfrm>
          <a:prstGeom prst="rect">
            <a:avLst/>
          </a:prstGeom>
          <a:solidFill>
            <a:srgbClr val="B3181E"/>
          </a:solidFill>
          <a:ln w="12700">
            <a:solidFill>
              <a:srgbClr val="B3181E"/>
            </a:solidFill>
            <a:prstDash val="solid"/>
          </a:ln>
        </p:spPr>
      </p:sp>
      <p:sp>
        <p:nvSpPr>
          <p:cNvPr id="26" name="Text 22"/>
          <p:cNvSpPr txBox="1"/>
          <p:nvPr/>
        </p:nvSpPr>
        <p:spPr>
          <a:xfrm>
            <a:off x="4636008" y="4370832"/>
            <a:ext cx="2962656" cy="256032"/>
          </a:xfrm>
          <a:prstGeom prst="rect">
            <a:avLst/>
          </a:prstGeom>
          <a:noFill/>
          <a:ln/>
        </p:spPr>
        <p:txBody>
          <a:bodyPr wrap="square" lIns="0" tIns="0" rIns="0" bIns="0" rtlCol="0" anchor="t"/>
          <a:lstStyle/>
          <a:p>
            <a:pPr algn="l" indent="0" marL="0">
              <a:buNone/>
            </a:pPr>
            <a:r>
              <a:rPr lang="en-US" sz="1400" b="1" dirty="0">
                <a:solidFill>
                  <a:srgbClr val="B3181E"/>
                </a:solidFill>
                <a:latin typeface="Aptos" pitchFamily="34" charset="0"/>
                <a:ea typeface="Aptos" pitchFamily="34" charset="-122"/>
                <a:cs typeface="Aptos" pitchFamily="34" charset="-120"/>
              </a:rPr>
              <a:t>No se puede auditar</a:t>
            </a:r>
            <a:endParaRPr lang="en-US" sz="1400" dirty="0"/>
          </a:p>
        </p:txBody>
      </p:sp>
      <p:sp>
        <p:nvSpPr>
          <p:cNvPr id="27" name="Text 23"/>
          <p:cNvSpPr txBox="1"/>
          <p:nvPr/>
        </p:nvSpPr>
        <p:spPr>
          <a:xfrm>
            <a:off x="4636008" y="4681728"/>
            <a:ext cx="2962656" cy="658368"/>
          </a:xfrm>
          <a:prstGeom prst="rect">
            <a:avLst/>
          </a:prstGeom>
          <a:noFill/>
          <a:ln/>
        </p:spPr>
        <p:txBody>
          <a:bodyPr wrap="square" lIns="0" tIns="0" rIns="0" bIns="0" rtlCol="0" anchor="t"/>
          <a:lstStyle/>
          <a:p>
            <a:pPr algn="l" indent="0" marL="0">
              <a:lnSpc>
                <a:spcPct val="114000"/>
              </a:lnSpc>
              <a:buNone/>
            </a:pPr>
            <a:r>
              <a:rPr lang="en-US" sz="1200" dirty="0">
                <a:solidFill>
                  <a:srgbClr val="243B53"/>
                </a:solidFill>
                <a:latin typeface="Aptos" pitchFamily="34" charset="0"/>
                <a:ea typeface="Aptos" pitchFamily="34" charset="-122"/>
                <a:cs typeface="Aptos" pitchFamily="34" charset="-120"/>
              </a:rPr>
              <a:t>Nadie puede comprobar que se aplicó completa, porque nunca se declaró hasta dónde llegaba.</a:t>
            </a:r>
            <a:endParaRPr lang="en-US" sz="1200" dirty="0"/>
          </a:p>
        </p:txBody>
      </p:sp>
      <p:sp>
        <p:nvSpPr>
          <p:cNvPr id="28" name="Shape 24"/>
          <p:cNvSpPr/>
          <p:nvPr/>
        </p:nvSpPr>
        <p:spPr>
          <a:xfrm>
            <a:off x="8101584" y="4206240"/>
            <a:ext cx="3465576" cy="1207008"/>
          </a:xfrm>
          <a:prstGeom prst="rect">
            <a:avLst/>
          </a:prstGeom>
          <a:solidFill>
            <a:srgbClr val="FFFFFF"/>
          </a:solidFill>
          <a:ln w="12700">
            <a:solidFill>
              <a:srgbClr val="FFFFFF"/>
            </a:solidFill>
            <a:prstDash val="solid"/>
          </a:ln>
        </p:spPr>
      </p:sp>
      <p:sp>
        <p:nvSpPr>
          <p:cNvPr id="29" name="Shape 25"/>
          <p:cNvSpPr/>
          <p:nvPr/>
        </p:nvSpPr>
        <p:spPr>
          <a:xfrm>
            <a:off x="8101584" y="4206240"/>
            <a:ext cx="3465576" cy="54864"/>
          </a:xfrm>
          <a:prstGeom prst="rect">
            <a:avLst/>
          </a:prstGeom>
          <a:solidFill>
            <a:srgbClr val="B3181E"/>
          </a:solidFill>
          <a:ln w="12700">
            <a:solidFill>
              <a:srgbClr val="B3181E"/>
            </a:solidFill>
            <a:prstDash val="solid"/>
          </a:ln>
        </p:spPr>
      </p:sp>
      <p:sp>
        <p:nvSpPr>
          <p:cNvPr id="30" name="Text 26"/>
          <p:cNvSpPr txBox="1"/>
          <p:nvPr/>
        </p:nvSpPr>
        <p:spPr>
          <a:xfrm>
            <a:off x="8357616" y="4370832"/>
            <a:ext cx="2962656" cy="256032"/>
          </a:xfrm>
          <a:prstGeom prst="rect">
            <a:avLst/>
          </a:prstGeom>
          <a:noFill/>
          <a:ln/>
        </p:spPr>
        <p:txBody>
          <a:bodyPr wrap="square" lIns="0" tIns="0" rIns="0" bIns="0" rtlCol="0" anchor="t"/>
          <a:lstStyle/>
          <a:p>
            <a:pPr algn="l" indent="0" marL="0">
              <a:buNone/>
            </a:pPr>
            <a:r>
              <a:rPr lang="en-US" sz="1400" b="1" dirty="0">
                <a:solidFill>
                  <a:srgbClr val="B3181E"/>
                </a:solidFill>
                <a:latin typeface="Aptos" pitchFamily="34" charset="0"/>
                <a:ea typeface="Aptos" pitchFamily="34" charset="-122"/>
                <a:cs typeface="Aptos" pitchFamily="34" charset="-120"/>
              </a:rPr>
              <a:t>No garantiza nada</a:t>
            </a:r>
            <a:endParaRPr lang="en-US" sz="1400" dirty="0"/>
          </a:p>
        </p:txBody>
      </p:sp>
      <p:sp>
        <p:nvSpPr>
          <p:cNvPr id="31" name="Text 27"/>
          <p:cNvSpPr txBox="1"/>
          <p:nvPr/>
        </p:nvSpPr>
        <p:spPr>
          <a:xfrm>
            <a:off x="8357616" y="4681728"/>
            <a:ext cx="2962656" cy="658368"/>
          </a:xfrm>
          <a:prstGeom prst="rect">
            <a:avLst/>
          </a:prstGeom>
          <a:noFill/>
          <a:ln/>
        </p:spPr>
        <p:txBody>
          <a:bodyPr wrap="square" lIns="0" tIns="0" rIns="0" bIns="0" rtlCol="0" anchor="t"/>
          <a:lstStyle/>
          <a:p>
            <a:pPr algn="l" indent="0" marL="0">
              <a:lnSpc>
                <a:spcPct val="114000"/>
              </a:lnSpc>
              <a:buNone/>
            </a:pPr>
            <a:r>
              <a:rPr lang="en-US" sz="1200" dirty="0">
                <a:solidFill>
                  <a:srgbClr val="243B53"/>
                </a:solidFill>
                <a:latin typeface="Aptos" pitchFamily="34" charset="0"/>
                <a:ea typeface="Aptos" pitchFamily="34" charset="-122"/>
                <a:cs typeface="Aptos" pitchFamily="34" charset="-120"/>
              </a:rPr>
              <a:t>Acertó esta vez. Nada en el procedimiento explica por qué, ni permite esperar que se repita.</a:t>
            </a:r>
            <a:endParaRPr lang="en-US" sz="1200" dirty="0"/>
          </a:p>
        </p:txBody>
      </p:sp>
      <p:sp>
        <p:nvSpPr>
          <p:cNvPr id="32" name="Shape 28"/>
          <p:cNvSpPr/>
          <p:nvPr/>
        </p:nvSpPr>
        <p:spPr>
          <a:xfrm>
            <a:off x="658368" y="5632704"/>
            <a:ext cx="10874959" cy="530352"/>
          </a:xfrm>
          <a:prstGeom prst="rect">
            <a:avLst/>
          </a:prstGeom>
          <a:solidFill>
            <a:srgbClr val="102A43"/>
          </a:solidFill>
          <a:ln w="12700">
            <a:solidFill>
              <a:srgbClr val="102A43"/>
            </a:solidFill>
            <a:prstDash val="solid"/>
          </a:ln>
        </p:spPr>
      </p:sp>
      <p:sp>
        <p:nvSpPr>
          <p:cNvPr id="33" name="Text 29"/>
          <p:cNvSpPr txBox="1"/>
          <p:nvPr/>
        </p:nvSpPr>
        <p:spPr>
          <a:xfrm>
            <a:off x="969264" y="5669280"/>
            <a:ext cx="10253167" cy="457200"/>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Una intuición que acierta sigue sin ser un método. Hoy esa corazonada recibe nombre, procedimiento y norma.</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07</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EL RECORRIDO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800" b="1" dirty="0">
                <a:solidFill>
                  <a:srgbClr val="243B53"/>
                </a:solidFill>
                <a:latin typeface="Aptos Display" pitchFamily="34" charset="0"/>
                <a:ea typeface="Aptos Display" pitchFamily="34" charset="-122"/>
                <a:cs typeface="Aptos Display" pitchFamily="34" charset="-120"/>
              </a:rPr>
              <a:t>Cuatro bloques, una sola idea aplicada sobre cuatro ejes</a:t>
            </a:r>
            <a:endParaRPr lang="en-US" sz="28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Las tres técnicas no sirven para encontrar más casos. Sirven para justificar los que se dejan fuera.</a:t>
            </a:r>
            <a:endParaRPr lang="en-US" sz="1450" dirty="0"/>
          </a:p>
        </p:txBody>
      </p:sp>
      <p:sp>
        <p:nvSpPr>
          <p:cNvPr id="11" name="Shape 8"/>
          <p:cNvSpPr/>
          <p:nvPr/>
        </p:nvSpPr>
        <p:spPr>
          <a:xfrm>
            <a:off x="658368" y="2395728"/>
            <a:ext cx="10874959" cy="768096"/>
          </a:xfrm>
          <a:prstGeom prst="rect">
            <a:avLst/>
          </a:prstGeom>
          <a:solidFill>
            <a:srgbClr val="E6EEF7"/>
          </a:solidFill>
          <a:ln w="12700">
            <a:solidFill>
              <a:srgbClr val="E6EEF7"/>
            </a:solidFill>
            <a:prstDash val="solid"/>
          </a:ln>
        </p:spPr>
      </p:sp>
      <p:sp>
        <p:nvSpPr>
          <p:cNvPr id="12" name="Shape 9"/>
          <p:cNvSpPr/>
          <p:nvPr/>
        </p:nvSpPr>
        <p:spPr>
          <a:xfrm>
            <a:off x="658368" y="2395728"/>
            <a:ext cx="54864" cy="768096"/>
          </a:xfrm>
          <a:prstGeom prst="rect">
            <a:avLst/>
          </a:prstGeom>
          <a:solidFill>
            <a:srgbClr val="102A43"/>
          </a:solidFill>
          <a:ln w="12700">
            <a:solidFill>
              <a:srgbClr val="102A43"/>
            </a:solidFill>
            <a:prstDash val="solid"/>
          </a:ln>
        </p:spPr>
      </p:sp>
      <p:sp>
        <p:nvSpPr>
          <p:cNvPr id="13" name="Text 10"/>
          <p:cNvSpPr txBox="1"/>
          <p:nvPr/>
        </p:nvSpPr>
        <p:spPr>
          <a:xfrm>
            <a:off x="969264" y="2542032"/>
            <a:ext cx="457200" cy="475488"/>
          </a:xfrm>
          <a:prstGeom prst="rect">
            <a:avLst/>
          </a:prstGeom>
          <a:noFill/>
          <a:ln/>
        </p:spPr>
        <p:txBody>
          <a:bodyPr wrap="square" lIns="0" tIns="0" rIns="0" bIns="0" rtlCol="0" anchor="t"/>
          <a:lstStyle/>
          <a:p>
            <a:pPr algn="l" indent="0" marL="0">
              <a:buNone/>
            </a:pPr>
            <a:r>
              <a:rPr lang="en-US" sz="2700" b="1" dirty="0">
                <a:solidFill>
                  <a:srgbClr val="102A43"/>
                </a:solidFill>
                <a:latin typeface="Aptos Display" pitchFamily="34" charset="0"/>
                <a:ea typeface="Aptos Display" pitchFamily="34" charset="-122"/>
                <a:cs typeface="Aptos Display" pitchFamily="34" charset="-120"/>
              </a:rPr>
              <a:t>1</a:t>
            </a:r>
            <a:endParaRPr lang="en-US" sz="2700" dirty="0"/>
          </a:p>
        </p:txBody>
      </p:sp>
      <p:sp>
        <p:nvSpPr>
          <p:cNvPr id="14" name="Text 11"/>
          <p:cNvSpPr txBox="1"/>
          <p:nvPr/>
        </p:nvSpPr>
        <p:spPr>
          <a:xfrm>
            <a:off x="1591056" y="2523744"/>
            <a:ext cx="3200400" cy="274320"/>
          </a:xfrm>
          <a:prstGeom prst="rect">
            <a:avLst/>
          </a:prstGeom>
          <a:noFill/>
          <a:ln/>
        </p:spPr>
        <p:txBody>
          <a:bodyPr wrap="square" lIns="0" tIns="0" rIns="0" bIns="0" rtlCol="0" anchor="t"/>
          <a:lstStyle/>
          <a:p>
            <a:pPr algn="l" indent="0" marL="0">
              <a:buNone/>
            </a:pPr>
            <a:r>
              <a:rPr lang="en-US" sz="1500" b="1" dirty="0">
                <a:solidFill>
                  <a:srgbClr val="243B53"/>
                </a:solidFill>
                <a:latin typeface="Aptos" pitchFamily="34" charset="0"/>
                <a:ea typeface="Aptos" pitchFamily="34" charset="-122"/>
                <a:cs typeface="Aptos" pitchFamily="34" charset="-120"/>
              </a:rPr>
              <a:t>Por qué hay que elegir</a:t>
            </a:r>
            <a:endParaRPr lang="en-US" sz="1500" dirty="0"/>
          </a:p>
        </p:txBody>
      </p:sp>
      <p:sp>
        <p:nvSpPr>
          <p:cNvPr id="15" name="Text 12"/>
          <p:cNvSpPr txBox="1"/>
          <p:nvPr/>
        </p:nvSpPr>
        <p:spPr>
          <a:xfrm>
            <a:off x="1591056" y="2816352"/>
            <a:ext cx="7680960" cy="256032"/>
          </a:xfrm>
          <a:prstGeom prst="rect">
            <a:avLst/>
          </a:prstGeom>
          <a:noFill/>
          <a:ln/>
        </p:spPr>
        <p:txBody>
          <a:bodyPr wrap="square" lIns="0" tIns="0" rIns="0" bIns="0" rtlCol="0" anchor="t"/>
          <a:lstStyle/>
          <a:p>
            <a:pPr algn="l" indent="0" marL="0">
              <a:buNone/>
            </a:pPr>
            <a:r>
              <a:rPr lang="en-US" sz="1240" dirty="0">
                <a:solidFill>
                  <a:srgbClr val="243B53"/>
                </a:solidFill>
                <a:latin typeface="Aptos" pitchFamily="34" charset="0"/>
                <a:ea typeface="Aptos" pitchFamily="34" charset="-122"/>
                <a:cs typeface="Aptos" pitchFamily="34" charset="-120"/>
              </a:rPr>
              <a:t>Cuántas entradas hay de verdad, y qué queda claro cuando se intenta recorrerlas todas.</a:t>
            </a:r>
            <a:endParaRPr lang="en-US" sz="1240" dirty="0"/>
          </a:p>
        </p:txBody>
      </p:sp>
      <p:sp>
        <p:nvSpPr>
          <p:cNvPr id="16" name="Shape 13"/>
          <p:cNvSpPr/>
          <p:nvPr/>
        </p:nvSpPr>
        <p:spPr>
          <a:xfrm>
            <a:off x="658368" y="3273552"/>
            <a:ext cx="10874959" cy="768096"/>
          </a:xfrm>
          <a:prstGeom prst="rect">
            <a:avLst/>
          </a:prstGeom>
          <a:solidFill>
            <a:srgbClr val="F2E7D9"/>
          </a:solidFill>
          <a:ln w="12700">
            <a:solidFill>
              <a:srgbClr val="F2E7D9"/>
            </a:solidFill>
            <a:prstDash val="solid"/>
          </a:ln>
        </p:spPr>
      </p:sp>
      <p:sp>
        <p:nvSpPr>
          <p:cNvPr id="17" name="Shape 14"/>
          <p:cNvSpPr/>
          <p:nvPr/>
        </p:nvSpPr>
        <p:spPr>
          <a:xfrm>
            <a:off x="658368" y="3273552"/>
            <a:ext cx="54864" cy="768096"/>
          </a:xfrm>
          <a:prstGeom prst="rect">
            <a:avLst/>
          </a:prstGeom>
          <a:solidFill>
            <a:srgbClr val="8A6A12"/>
          </a:solidFill>
          <a:ln w="12700">
            <a:solidFill>
              <a:srgbClr val="8A6A12"/>
            </a:solidFill>
            <a:prstDash val="solid"/>
          </a:ln>
        </p:spPr>
      </p:sp>
      <p:sp>
        <p:nvSpPr>
          <p:cNvPr id="18" name="Text 15"/>
          <p:cNvSpPr txBox="1"/>
          <p:nvPr/>
        </p:nvSpPr>
        <p:spPr>
          <a:xfrm>
            <a:off x="969264" y="3419856"/>
            <a:ext cx="457200" cy="475488"/>
          </a:xfrm>
          <a:prstGeom prst="rect">
            <a:avLst/>
          </a:prstGeom>
          <a:noFill/>
          <a:ln/>
        </p:spPr>
        <p:txBody>
          <a:bodyPr wrap="square" lIns="0" tIns="0" rIns="0" bIns="0" rtlCol="0" anchor="t"/>
          <a:lstStyle/>
          <a:p>
            <a:pPr algn="l" indent="0" marL="0">
              <a:buNone/>
            </a:pPr>
            <a:r>
              <a:rPr lang="en-US" sz="2700" b="1" dirty="0">
                <a:solidFill>
                  <a:srgbClr val="8A6A12"/>
                </a:solidFill>
                <a:latin typeface="Aptos Display" pitchFamily="34" charset="0"/>
                <a:ea typeface="Aptos Display" pitchFamily="34" charset="-122"/>
                <a:cs typeface="Aptos Display" pitchFamily="34" charset="-120"/>
              </a:rPr>
              <a:t>2</a:t>
            </a:r>
            <a:endParaRPr lang="en-US" sz="2700" dirty="0"/>
          </a:p>
        </p:txBody>
      </p:sp>
      <p:sp>
        <p:nvSpPr>
          <p:cNvPr id="19" name="Text 16"/>
          <p:cNvSpPr txBox="1"/>
          <p:nvPr/>
        </p:nvSpPr>
        <p:spPr>
          <a:xfrm>
            <a:off x="1591056" y="3401568"/>
            <a:ext cx="3200400" cy="274320"/>
          </a:xfrm>
          <a:prstGeom prst="rect">
            <a:avLst/>
          </a:prstGeom>
          <a:noFill/>
          <a:ln/>
        </p:spPr>
        <p:txBody>
          <a:bodyPr wrap="square" lIns="0" tIns="0" rIns="0" bIns="0" rtlCol="0" anchor="t"/>
          <a:lstStyle/>
          <a:p>
            <a:pPr algn="l" indent="0" marL="0">
              <a:buNone/>
            </a:pPr>
            <a:r>
              <a:rPr lang="en-US" sz="1500" b="1" dirty="0">
                <a:solidFill>
                  <a:srgbClr val="243B53"/>
                </a:solidFill>
                <a:latin typeface="Aptos" pitchFamily="34" charset="0"/>
                <a:ea typeface="Aptos" pitchFamily="34" charset="-122"/>
                <a:cs typeface="Aptos" pitchFamily="34" charset="-120"/>
              </a:rPr>
              <a:t>Partición de equivalencia</a:t>
            </a:r>
            <a:endParaRPr lang="en-US" sz="1500" dirty="0"/>
          </a:p>
        </p:txBody>
      </p:sp>
      <p:sp>
        <p:nvSpPr>
          <p:cNvPr id="20" name="Text 17"/>
          <p:cNvSpPr txBox="1"/>
          <p:nvPr/>
        </p:nvSpPr>
        <p:spPr>
          <a:xfrm>
            <a:off x="1591056" y="3694176"/>
            <a:ext cx="7680960" cy="256032"/>
          </a:xfrm>
          <a:prstGeom prst="rect">
            <a:avLst/>
          </a:prstGeom>
          <a:noFill/>
          <a:ln/>
        </p:spPr>
        <p:txBody>
          <a:bodyPr wrap="square" lIns="0" tIns="0" rIns="0" bIns="0" rtlCol="0" anchor="t"/>
          <a:lstStyle/>
          <a:p>
            <a:pPr algn="l" indent="0" marL="0">
              <a:buNone/>
            </a:pPr>
            <a:r>
              <a:rPr lang="en-US" sz="1240" dirty="0">
                <a:solidFill>
                  <a:srgbClr val="243B53"/>
                </a:solidFill>
                <a:latin typeface="Aptos" pitchFamily="34" charset="0"/>
                <a:ea typeface="Aptos" pitchFamily="34" charset="-122"/>
                <a:cs typeface="Aptos" pitchFamily="34" charset="-120"/>
              </a:rPr>
              <a:t>Agrupar por el trato que se espera, y escribir esa tabla como prueba parametrizada.</a:t>
            </a:r>
            <a:endParaRPr lang="en-US" sz="1240" dirty="0"/>
          </a:p>
        </p:txBody>
      </p:sp>
      <p:sp>
        <p:nvSpPr>
          <p:cNvPr id="21" name="Shape 18"/>
          <p:cNvSpPr/>
          <p:nvPr/>
        </p:nvSpPr>
        <p:spPr>
          <a:xfrm>
            <a:off x="658368" y="4151376"/>
            <a:ext cx="10874959" cy="768096"/>
          </a:xfrm>
          <a:prstGeom prst="rect">
            <a:avLst/>
          </a:prstGeom>
          <a:solidFill>
            <a:srgbClr val="F8E4E5"/>
          </a:solidFill>
          <a:ln w="12700">
            <a:solidFill>
              <a:srgbClr val="F8E4E5"/>
            </a:solidFill>
            <a:prstDash val="solid"/>
          </a:ln>
        </p:spPr>
      </p:sp>
      <p:sp>
        <p:nvSpPr>
          <p:cNvPr id="22" name="Shape 19"/>
          <p:cNvSpPr/>
          <p:nvPr/>
        </p:nvSpPr>
        <p:spPr>
          <a:xfrm>
            <a:off x="658368" y="4151376"/>
            <a:ext cx="54864" cy="768096"/>
          </a:xfrm>
          <a:prstGeom prst="rect">
            <a:avLst/>
          </a:prstGeom>
          <a:solidFill>
            <a:srgbClr val="B3181E"/>
          </a:solidFill>
          <a:ln w="12700">
            <a:solidFill>
              <a:srgbClr val="B3181E"/>
            </a:solidFill>
            <a:prstDash val="solid"/>
          </a:ln>
        </p:spPr>
      </p:sp>
      <p:sp>
        <p:nvSpPr>
          <p:cNvPr id="23" name="Text 20"/>
          <p:cNvSpPr txBox="1"/>
          <p:nvPr/>
        </p:nvSpPr>
        <p:spPr>
          <a:xfrm>
            <a:off x="969264" y="4297680"/>
            <a:ext cx="457200" cy="475488"/>
          </a:xfrm>
          <a:prstGeom prst="rect">
            <a:avLst/>
          </a:prstGeom>
          <a:noFill/>
          <a:ln/>
        </p:spPr>
        <p:txBody>
          <a:bodyPr wrap="square" lIns="0" tIns="0" rIns="0" bIns="0" rtlCol="0" anchor="t"/>
          <a:lstStyle/>
          <a:p>
            <a:pPr algn="l" indent="0" marL="0">
              <a:buNone/>
            </a:pPr>
            <a:r>
              <a:rPr lang="en-US" sz="2700" b="1" dirty="0">
                <a:solidFill>
                  <a:srgbClr val="B3181E"/>
                </a:solidFill>
                <a:latin typeface="Aptos Display" pitchFamily="34" charset="0"/>
                <a:ea typeface="Aptos Display" pitchFamily="34" charset="-122"/>
                <a:cs typeface="Aptos Display" pitchFamily="34" charset="-120"/>
              </a:rPr>
              <a:t>3</a:t>
            </a:r>
            <a:endParaRPr lang="en-US" sz="2700" dirty="0"/>
          </a:p>
        </p:txBody>
      </p:sp>
      <p:sp>
        <p:nvSpPr>
          <p:cNvPr id="24" name="Text 21"/>
          <p:cNvSpPr txBox="1"/>
          <p:nvPr/>
        </p:nvSpPr>
        <p:spPr>
          <a:xfrm>
            <a:off x="1591056" y="4279392"/>
            <a:ext cx="3200400" cy="274320"/>
          </a:xfrm>
          <a:prstGeom prst="rect">
            <a:avLst/>
          </a:prstGeom>
          <a:noFill/>
          <a:ln/>
        </p:spPr>
        <p:txBody>
          <a:bodyPr wrap="square" lIns="0" tIns="0" rIns="0" bIns="0" rtlCol="0" anchor="t"/>
          <a:lstStyle/>
          <a:p>
            <a:pPr algn="l" indent="0" marL="0">
              <a:buNone/>
            </a:pPr>
            <a:r>
              <a:rPr lang="en-US" sz="1500" b="1" dirty="0">
                <a:solidFill>
                  <a:srgbClr val="243B53"/>
                </a:solidFill>
                <a:latin typeface="Aptos" pitchFamily="34" charset="0"/>
                <a:ea typeface="Aptos" pitchFamily="34" charset="-122"/>
                <a:cs typeface="Aptos" pitchFamily="34" charset="-120"/>
              </a:rPr>
              <a:t>Valores límite</a:t>
            </a:r>
            <a:endParaRPr lang="en-US" sz="1500" dirty="0"/>
          </a:p>
        </p:txBody>
      </p:sp>
      <p:sp>
        <p:nvSpPr>
          <p:cNvPr id="25" name="Text 22"/>
          <p:cNvSpPr txBox="1"/>
          <p:nvPr/>
        </p:nvSpPr>
        <p:spPr>
          <a:xfrm>
            <a:off x="1591056" y="4572000"/>
            <a:ext cx="7680960" cy="256032"/>
          </a:xfrm>
          <a:prstGeom prst="rect">
            <a:avLst/>
          </a:prstGeom>
          <a:noFill/>
          <a:ln/>
        </p:spPr>
        <p:txBody>
          <a:bodyPr wrap="square" lIns="0" tIns="0" rIns="0" bIns="0" rtlCol="0" anchor="t"/>
          <a:lstStyle/>
          <a:p>
            <a:pPr algn="l" indent="0" marL="0">
              <a:buNone/>
            </a:pPr>
            <a:r>
              <a:rPr lang="en-US" sz="1240" dirty="0">
                <a:solidFill>
                  <a:srgbClr val="243B53"/>
                </a:solidFill>
                <a:latin typeface="Aptos" pitchFamily="34" charset="0"/>
                <a:ea typeface="Aptos" pitchFamily="34" charset="-122"/>
                <a:cs typeface="Aptos" pitchFamily="34" charset="-120"/>
              </a:rPr>
              <a:t>Los bordes de cada clase, y qué pasa cuando se los toma del código en vez del requisito.</a:t>
            </a:r>
            <a:endParaRPr lang="en-US" sz="1240" dirty="0"/>
          </a:p>
        </p:txBody>
      </p:sp>
      <p:sp>
        <p:nvSpPr>
          <p:cNvPr id="26" name="Shape 23"/>
          <p:cNvSpPr/>
          <p:nvPr/>
        </p:nvSpPr>
        <p:spPr>
          <a:xfrm>
            <a:off x="658368" y="5029200"/>
            <a:ext cx="10874959" cy="768096"/>
          </a:xfrm>
          <a:prstGeom prst="rect">
            <a:avLst/>
          </a:prstGeom>
          <a:solidFill>
            <a:srgbClr val="E9F6EE"/>
          </a:solidFill>
          <a:ln w="12700">
            <a:solidFill>
              <a:srgbClr val="E9F6EE"/>
            </a:solidFill>
            <a:prstDash val="solid"/>
          </a:ln>
        </p:spPr>
      </p:sp>
      <p:sp>
        <p:nvSpPr>
          <p:cNvPr id="27" name="Shape 24"/>
          <p:cNvSpPr/>
          <p:nvPr/>
        </p:nvSpPr>
        <p:spPr>
          <a:xfrm>
            <a:off x="658368" y="5029200"/>
            <a:ext cx="54864" cy="768096"/>
          </a:xfrm>
          <a:prstGeom prst="rect">
            <a:avLst/>
          </a:prstGeom>
          <a:solidFill>
            <a:srgbClr val="2E7D4F"/>
          </a:solidFill>
          <a:ln w="12700">
            <a:solidFill>
              <a:srgbClr val="2E7D4F"/>
            </a:solidFill>
            <a:prstDash val="solid"/>
          </a:ln>
        </p:spPr>
      </p:sp>
      <p:sp>
        <p:nvSpPr>
          <p:cNvPr id="28" name="Text 25"/>
          <p:cNvSpPr txBox="1"/>
          <p:nvPr/>
        </p:nvSpPr>
        <p:spPr>
          <a:xfrm>
            <a:off x="969264" y="5175504"/>
            <a:ext cx="457200" cy="475488"/>
          </a:xfrm>
          <a:prstGeom prst="rect">
            <a:avLst/>
          </a:prstGeom>
          <a:noFill/>
          <a:ln/>
        </p:spPr>
        <p:txBody>
          <a:bodyPr wrap="square" lIns="0" tIns="0" rIns="0" bIns="0" rtlCol="0" anchor="t"/>
          <a:lstStyle/>
          <a:p>
            <a:pPr algn="l" indent="0" marL="0">
              <a:buNone/>
            </a:pPr>
            <a:r>
              <a:rPr lang="en-US" sz="2700" b="1" dirty="0">
                <a:solidFill>
                  <a:srgbClr val="2E7D4F"/>
                </a:solidFill>
                <a:latin typeface="Aptos Display" pitchFamily="34" charset="0"/>
                <a:ea typeface="Aptos Display" pitchFamily="34" charset="-122"/>
                <a:cs typeface="Aptos Display" pitchFamily="34" charset="-120"/>
              </a:rPr>
              <a:t>4</a:t>
            </a:r>
            <a:endParaRPr lang="en-US" sz="2700" dirty="0"/>
          </a:p>
        </p:txBody>
      </p:sp>
      <p:sp>
        <p:nvSpPr>
          <p:cNvPr id="29" name="Text 26"/>
          <p:cNvSpPr txBox="1"/>
          <p:nvPr/>
        </p:nvSpPr>
        <p:spPr>
          <a:xfrm>
            <a:off x="1591056" y="5157216"/>
            <a:ext cx="3200400" cy="274320"/>
          </a:xfrm>
          <a:prstGeom prst="rect">
            <a:avLst/>
          </a:prstGeom>
          <a:noFill/>
          <a:ln/>
        </p:spPr>
        <p:txBody>
          <a:bodyPr wrap="square" lIns="0" tIns="0" rIns="0" bIns="0" rtlCol="0" anchor="t"/>
          <a:lstStyle/>
          <a:p>
            <a:pPr algn="l" indent="0" marL="0">
              <a:buNone/>
            </a:pPr>
            <a:r>
              <a:rPr lang="en-US" sz="1500" b="1" dirty="0">
                <a:solidFill>
                  <a:srgbClr val="243B53"/>
                </a:solidFill>
                <a:latin typeface="Aptos" pitchFamily="34" charset="0"/>
                <a:ea typeface="Aptos" pitchFamily="34" charset="-122"/>
                <a:cs typeface="Aptos" pitchFamily="34" charset="-120"/>
              </a:rPr>
              <a:t>Tablas de decisión</a:t>
            </a:r>
            <a:endParaRPr lang="en-US" sz="1500" dirty="0"/>
          </a:p>
        </p:txBody>
      </p:sp>
      <p:sp>
        <p:nvSpPr>
          <p:cNvPr id="30" name="Text 27"/>
          <p:cNvSpPr txBox="1"/>
          <p:nvPr/>
        </p:nvSpPr>
        <p:spPr>
          <a:xfrm>
            <a:off x="1591056" y="5449824"/>
            <a:ext cx="7680960" cy="256032"/>
          </a:xfrm>
          <a:prstGeom prst="rect">
            <a:avLst/>
          </a:prstGeom>
          <a:noFill/>
          <a:ln/>
        </p:spPr>
        <p:txBody>
          <a:bodyPr wrap="square" lIns="0" tIns="0" rIns="0" bIns="0" rtlCol="0" anchor="t"/>
          <a:lstStyle/>
          <a:p>
            <a:pPr algn="l" indent="0" marL="0">
              <a:buNone/>
            </a:pPr>
            <a:r>
              <a:rPr lang="en-US" sz="1240" dirty="0">
                <a:solidFill>
                  <a:srgbClr val="243B53"/>
                </a:solidFill>
                <a:latin typeface="Aptos" pitchFamily="34" charset="0"/>
                <a:ea typeface="Aptos" pitchFamily="34" charset="-122"/>
                <a:cs typeface="Aptos" pitchFamily="34" charset="-120"/>
              </a:rPr>
              <a:t>Reglas que se combinan, y cómo se lee lo que una prueba ajena realmente exige.</a:t>
            </a:r>
            <a:endParaRPr lang="en-US" sz="1240" dirty="0"/>
          </a:p>
        </p:txBody>
      </p:sp>
      <p:sp>
        <p:nvSpPr>
          <p:cNvPr id="31" name="Shape 28"/>
          <p:cNvSpPr/>
          <p:nvPr/>
        </p:nvSpPr>
        <p:spPr>
          <a:xfrm>
            <a:off x="658368" y="6035040"/>
            <a:ext cx="45720" cy="182880"/>
          </a:xfrm>
          <a:prstGeom prst="rect">
            <a:avLst/>
          </a:prstGeom>
          <a:solidFill>
            <a:srgbClr val="8A6A12"/>
          </a:solidFill>
          <a:ln w="12700">
            <a:solidFill>
              <a:srgbClr val="8A6A12"/>
            </a:solidFill>
            <a:prstDash val="solid"/>
          </a:ln>
        </p:spPr>
      </p:sp>
      <p:sp>
        <p:nvSpPr>
          <p:cNvPr id="32" name="Text 29"/>
          <p:cNvSpPr txBox="1"/>
          <p:nvPr/>
        </p:nvSpPr>
        <p:spPr>
          <a:xfrm>
            <a:off x="804672" y="6025896"/>
            <a:ext cx="1060704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Las tres técnicas están definidas en ISO/IEC/IEEE 29119-4:2021, cláusula 5.2, como técnicas basadas en especificación.</a:t>
            </a:r>
            <a:endParaRPr lang="en-US" sz="9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08</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MÉTODO DE TRABAJO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800" b="1" dirty="0">
                <a:solidFill>
                  <a:srgbClr val="243B53"/>
                </a:solidFill>
                <a:latin typeface="Aptos Display" pitchFamily="34" charset="0"/>
                <a:ea typeface="Aptos Display" pitchFamily="34" charset="-122"/>
                <a:cs typeface="Aptos Display" pitchFamily="34" charset="-120"/>
              </a:rPr>
              <a:t>Cada vez que aparezca código: leer, predecir, comprobar</a:t>
            </a:r>
            <a:endParaRPr lang="en-US" sz="28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La ejecución sirve para contrastar una predicción. No sirve para reemplazarla.</a:t>
            </a:r>
            <a:endParaRPr lang="en-US" sz="1450" dirty="0"/>
          </a:p>
        </p:txBody>
      </p:sp>
      <p:sp>
        <p:nvSpPr>
          <p:cNvPr id="11" name="Shape 8"/>
          <p:cNvSpPr/>
          <p:nvPr/>
        </p:nvSpPr>
        <p:spPr>
          <a:xfrm>
            <a:off x="658368" y="2395728"/>
            <a:ext cx="3465576" cy="1463040"/>
          </a:xfrm>
          <a:prstGeom prst="rect">
            <a:avLst/>
          </a:prstGeom>
          <a:solidFill>
            <a:srgbClr val="E6EEF7"/>
          </a:solidFill>
          <a:ln w="12700">
            <a:solidFill>
              <a:srgbClr val="E6EEF7"/>
            </a:solidFill>
            <a:prstDash val="solid"/>
          </a:ln>
        </p:spPr>
      </p:sp>
      <p:sp>
        <p:nvSpPr>
          <p:cNvPr id="12" name="Shape 9"/>
          <p:cNvSpPr/>
          <p:nvPr/>
        </p:nvSpPr>
        <p:spPr>
          <a:xfrm>
            <a:off x="658368" y="2395728"/>
            <a:ext cx="3465576" cy="64008"/>
          </a:xfrm>
          <a:prstGeom prst="rect">
            <a:avLst/>
          </a:prstGeom>
          <a:solidFill>
            <a:srgbClr val="102A43"/>
          </a:solidFill>
          <a:ln w="12700">
            <a:solidFill>
              <a:srgbClr val="102A43"/>
            </a:solidFill>
            <a:prstDash val="solid"/>
          </a:ln>
        </p:spPr>
      </p:sp>
      <p:sp>
        <p:nvSpPr>
          <p:cNvPr id="13" name="Text 10"/>
          <p:cNvSpPr txBox="1"/>
          <p:nvPr/>
        </p:nvSpPr>
        <p:spPr>
          <a:xfrm>
            <a:off x="932688" y="2596896"/>
            <a:ext cx="2926080" cy="310896"/>
          </a:xfrm>
          <a:prstGeom prst="rect">
            <a:avLst/>
          </a:prstGeom>
          <a:noFill/>
          <a:ln/>
        </p:spPr>
        <p:txBody>
          <a:bodyPr wrap="square" lIns="0" tIns="0" rIns="0" bIns="0" rtlCol="0" anchor="t"/>
          <a:lstStyle/>
          <a:p>
            <a:pPr algn="l" indent="0" marL="0">
              <a:buNone/>
            </a:pPr>
            <a:r>
              <a:rPr lang="en-US" sz="2100" b="1" dirty="0">
                <a:solidFill>
                  <a:srgbClr val="102A43"/>
                </a:solidFill>
                <a:latin typeface="Aptos Display" pitchFamily="34" charset="0"/>
                <a:ea typeface="Aptos Display" pitchFamily="34" charset="-122"/>
                <a:cs typeface="Aptos Display" pitchFamily="34" charset="-120"/>
              </a:rPr>
              <a:t>Leer</a:t>
            </a:r>
            <a:endParaRPr lang="en-US" sz="2100" dirty="0"/>
          </a:p>
        </p:txBody>
      </p:sp>
      <p:sp>
        <p:nvSpPr>
          <p:cNvPr id="14" name="Text 11"/>
          <p:cNvSpPr txBox="1"/>
          <p:nvPr/>
        </p:nvSpPr>
        <p:spPr>
          <a:xfrm>
            <a:off x="932688" y="2999232"/>
            <a:ext cx="2926080" cy="731520"/>
          </a:xfrm>
          <a:prstGeom prst="rect">
            <a:avLst/>
          </a:prstGeom>
          <a:noFill/>
          <a:ln/>
        </p:spPr>
        <p:txBody>
          <a:bodyPr wrap="square" lIns="0" tIns="0" rIns="0" bIns="0" rtlCol="0" anchor="t"/>
          <a:lstStyle/>
          <a:p>
            <a:pPr algn="l" indent="0" marL="0">
              <a:lnSpc>
                <a:spcPct val="116000"/>
              </a:lnSpc>
              <a:buNone/>
            </a:pPr>
            <a:r>
              <a:rPr lang="en-US" sz="1280" dirty="0">
                <a:solidFill>
                  <a:srgbClr val="243B53"/>
                </a:solidFill>
                <a:latin typeface="Aptos" pitchFamily="34" charset="0"/>
                <a:ea typeface="Aptos" pitchFamily="34" charset="-122"/>
                <a:cs typeface="Aptos" pitchFamily="34" charset="-120"/>
              </a:rPr>
              <a:t>Qué recibe la función, qué condiciones evalúa y qué devuelve.</a:t>
            </a:r>
            <a:endParaRPr lang="en-US" sz="1280" dirty="0"/>
          </a:p>
        </p:txBody>
      </p:sp>
      <p:sp>
        <p:nvSpPr>
          <p:cNvPr id="15" name="Shape 12"/>
          <p:cNvSpPr/>
          <p:nvPr/>
        </p:nvSpPr>
        <p:spPr>
          <a:xfrm>
            <a:off x="4178808" y="3127248"/>
            <a:ext cx="146304" cy="0"/>
          </a:xfrm>
          <a:prstGeom prst="line">
            <a:avLst/>
          </a:prstGeom>
          <a:noFill/>
          <a:ln w="12700">
            <a:solidFill>
              <a:srgbClr val="52606D"/>
            </a:solidFill>
            <a:prstDash val="solid"/>
            <a:headEnd type="none"/>
            <a:tailEnd type="triangle"/>
          </a:ln>
        </p:spPr>
      </p:sp>
      <p:sp>
        <p:nvSpPr>
          <p:cNvPr id="16" name="Shape 13"/>
          <p:cNvSpPr/>
          <p:nvPr/>
        </p:nvSpPr>
        <p:spPr>
          <a:xfrm>
            <a:off x="4379976" y="2395728"/>
            <a:ext cx="3465576" cy="1463040"/>
          </a:xfrm>
          <a:prstGeom prst="rect">
            <a:avLst/>
          </a:prstGeom>
          <a:solidFill>
            <a:srgbClr val="F2E7D9"/>
          </a:solidFill>
          <a:ln w="12700">
            <a:solidFill>
              <a:srgbClr val="F2E7D9"/>
            </a:solidFill>
            <a:prstDash val="solid"/>
          </a:ln>
        </p:spPr>
      </p:sp>
      <p:sp>
        <p:nvSpPr>
          <p:cNvPr id="17" name="Shape 14"/>
          <p:cNvSpPr/>
          <p:nvPr/>
        </p:nvSpPr>
        <p:spPr>
          <a:xfrm>
            <a:off x="4379976" y="2395728"/>
            <a:ext cx="3465576" cy="64008"/>
          </a:xfrm>
          <a:prstGeom prst="rect">
            <a:avLst/>
          </a:prstGeom>
          <a:solidFill>
            <a:srgbClr val="8A6A12"/>
          </a:solidFill>
          <a:ln w="12700">
            <a:solidFill>
              <a:srgbClr val="8A6A12"/>
            </a:solidFill>
            <a:prstDash val="solid"/>
          </a:ln>
        </p:spPr>
      </p:sp>
      <p:sp>
        <p:nvSpPr>
          <p:cNvPr id="18" name="Text 15"/>
          <p:cNvSpPr txBox="1"/>
          <p:nvPr/>
        </p:nvSpPr>
        <p:spPr>
          <a:xfrm>
            <a:off x="4654296" y="2596896"/>
            <a:ext cx="2926080" cy="310896"/>
          </a:xfrm>
          <a:prstGeom prst="rect">
            <a:avLst/>
          </a:prstGeom>
          <a:noFill/>
          <a:ln/>
        </p:spPr>
        <p:txBody>
          <a:bodyPr wrap="square" lIns="0" tIns="0" rIns="0" bIns="0" rtlCol="0" anchor="t"/>
          <a:lstStyle/>
          <a:p>
            <a:pPr algn="l" indent="0" marL="0">
              <a:buNone/>
            </a:pPr>
            <a:r>
              <a:rPr lang="en-US" sz="2100" b="1" dirty="0">
                <a:solidFill>
                  <a:srgbClr val="8A6A12"/>
                </a:solidFill>
                <a:latin typeface="Aptos Display" pitchFamily="34" charset="0"/>
                <a:ea typeface="Aptos Display" pitchFamily="34" charset="-122"/>
                <a:cs typeface="Aptos Display" pitchFamily="34" charset="-120"/>
              </a:rPr>
              <a:t>Predecir</a:t>
            </a:r>
            <a:endParaRPr lang="en-US" sz="2100" dirty="0"/>
          </a:p>
        </p:txBody>
      </p:sp>
      <p:sp>
        <p:nvSpPr>
          <p:cNvPr id="19" name="Text 16"/>
          <p:cNvSpPr txBox="1"/>
          <p:nvPr/>
        </p:nvSpPr>
        <p:spPr>
          <a:xfrm>
            <a:off x="4654296" y="2999232"/>
            <a:ext cx="2926080" cy="731520"/>
          </a:xfrm>
          <a:prstGeom prst="rect">
            <a:avLst/>
          </a:prstGeom>
          <a:noFill/>
          <a:ln/>
        </p:spPr>
        <p:txBody>
          <a:bodyPr wrap="square" lIns="0" tIns="0" rIns="0" bIns="0" rtlCol="0" anchor="t"/>
          <a:lstStyle/>
          <a:p>
            <a:pPr algn="l" indent="0" marL="0">
              <a:lnSpc>
                <a:spcPct val="116000"/>
              </a:lnSpc>
              <a:buNone/>
            </a:pPr>
            <a:r>
              <a:rPr lang="en-US" sz="1280" dirty="0">
                <a:solidFill>
                  <a:srgbClr val="243B53"/>
                </a:solidFill>
                <a:latin typeface="Aptos" pitchFamily="34" charset="0"/>
                <a:ea typeface="Aptos" pitchFamily="34" charset="-122"/>
                <a:cs typeface="Aptos" pitchFamily="34" charset="-120"/>
              </a:rPr>
              <a:t>Decir en voz alta el resultado antes de ejecutar. Escribirlo si hace falta.</a:t>
            </a:r>
            <a:endParaRPr lang="en-US" sz="1280" dirty="0"/>
          </a:p>
        </p:txBody>
      </p:sp>
      <p:sp>
        <p:nvSpPr>
          <p:cNvPr id="20" name="Shape 17"/>
          <p:cNvSpPr/>
          <p:nvPr/>
        </p:nvSpPr>
        <p:spPr>
          <a:xfrm>
            <a:off x="7900416" y="3127248"/>
            <a:ext cx="146304" cy="0"/>
          </a:xfrm>
          <a:prstGeom prst="line">
            <a:avLst/>
          </a:prstGeom>
          <a:noFill/>
          <a:ln w="12700">
            <a:solidFill>
              <a:srgbClr val="52606D"/>
            </a:solidFill>
            <a:prstDash val="solid"/>
            <a:headEnd type="none"/>
            <a:tailEnd type="triangle"/>
          </a:ln>
        </p:spPr>
      </p:sp>
      <p:sp>
        <p:nvSpPr>
          <p:cNvPr id="21" name="Shape 18"/>
          <p:cNvSpPr/>
          <p:nvPr/>
        </p:nvSpPr>
        <p:spPr>
          <a:xfrm>
            <a:off x="8101584" y="2395728"/>
            <a:ext cx="3465576" cy="1463040"/>
          </a:xfrm>
          <a:prstGeom prst="rect">
            <a:avLst/>
          </a:prstGeom>
          <a:solidFill>
            <a:srgbClr val="E9F6EE"/>
          </a:solidFill>
          <a:ln w="12700">
            <a:solidFill>
              <a:srgbClr val="E9F6EE"/>
            </a:solidFill>
            <a:prstDash val="solid"/>
          </a:ln>
        </p:spPr>
      </p:sp>
      <p:sp>
        <p:nvSpPr>
          <p:cNvPr id="22" name="Shape 19"/>
          <p:cNvSpPr/>
          <p:nvPr/>
        </p:nvSpPr>
        <p:spPr>
          <a:xfrm>
            <a:off x="8101584" y="2395728"/>
            <a:ext cx="3465576" cy="64008"/>
          </a:xfrm>
          <a:prstGeom prst="rect">
            <a:avLst/>
          </a:prstGeom>
          <a:solidFill>
            <a:srgbClr val="2E7D4F"/>
          </a:solidFill>
          <a:ln w="12700">
            <a:solidFill>
              <a:srgbClr val="2E7D4F"/>
            </a:solidFill>
            <a:prstDash val="solid"/>
          </a:ln>
        </p:spPr>
      </p:sp>
      <p:sp>
        <p:nvSpPr>
          <p:cNvPr id="23" name="Text 20"/>
          <p:cNvSpPr txBox="1"/>
          <p:nvPr/>
        </p:nvSpPr>
        <p:spPr>
          <a:xfrm>
            <a:off x="8375904" y="2596896"/>
            <a:ext cx="2926080" cy="310896"/>
          </a:xfrm>
          <a:prstGeom prst="rect">
            <a:avLst/>
          </a:prstGeom>
          <a:noFill/>
          <a:ln/>
        </p:spPr>
        <p:txBody>
          <a:bodyPr wrap="square" lIns="0" tIns="0" rIns="0" bIns="0" rtlCol="0" anchor="t"/>
          <a:lstStyle/>
          <a:p>
            <a:pPr algn="l" indent="0" marL="0">
              <a:buNone/>
            </a:pPr>
            <a:r>
              <a:rPr lang="en-US" sz="2100" b="1" dirty="0">
                <a:solidFill>
                  <a:srgbClr val="2E7D4F"/>
                </a:solidFill>
                <a:latin typeface="Aptos Display" pitchFamily="34" charset="0"/>
                <a:ea typeface="Aptos Display" pitchFamily="34" charset="-122"/>
                <a:cs typeface="Aptos Display" pitchFamily="34" charset="-120"/>
              </a:rPr>
              <a:t>Comprobar</a:t>
            </a:r>
            <a:endParaRPr lang="en-US" sz="2100" dirty="0"/>
          </a:p>
        </p:txBody>
      </p:sp>
      <p:sp>
        <p:nvSpPr>
          <p:cNvPr id="24" name="Text 21"/>
          <p:cNvSpPr txBox="1"/>
          <p:nvPr/>
        </p:nvSpPr>
        <p:spPr>
          <a:xfrm>
            <a:off x="8375904" y="2999232"/>
            <a:ext cx="2926080" cy="731520"/>
          </a:xfrm>
          <a:prstGeom prst="rect">
            <a:avLst/>
          </a:prstGeom>
          <a:noFill/>
          <a:ln/>
        </p:spPr>
        <p:txBody>
          <a:bodyPr wrap="square" lIns="0" tIns="0" rIns="0" bIns="0" rtlCol="0" anchor="t"/>
          <a:lstStyle/>
          <a:p>
            <a:pPr algn="l" indent="0" marL="0">
              <a:lnSpc>
                <a:spcPct val="116000"/>
              </a:lnSpc>
              <a:buNone/>
            </a:pPr>
            <a:r>
              <a:rPr lang="en-US" sz="1280" dirty="0">
                <a:solidFill>
                  <a:srgbClr val="243B53"/>
                </a:solidFill>
                <a:latin typeface="Aptos" pitchFamily="34" charset="0"/>
                <a:ea typeface="Aptos" pitchFamily="34" charset="-122"/>
                <a:cs typeface="Aptos" pitchFamily="34" charset="-120"/>
              </a:rPr>
              <a:t>Ejecutar y comparar con lo predicho. La sorpresa es el hallazgo.</a:t>
            </a:r>
            <a:endParaRPr lang="en-US" sz="1280" dirty="0"/>
          </a:p>
        </p:txBody>
      </p:sp>
      <p:sp>
        <p:nvSpPr>
          <p:cNvPr id="25" name="Shape 22"/>
          <p:cNvSpPr/>
          <p:nvPr/>
        </p:nvSpPr>
        <p:spPr>
          <a:xfrm>
            <a:off x="658368" y="4133088"/>
            <a:ext cx="10874959" cy="1097280"/>
          </a:xfrm>
          <a:prstGeom prst="rect">
            <a:avLst/>
          </a:prstGeom>
          <a:solidFill>
            <a:srgbClr val="FFFFFF"/>
          </a:solidFill>
          <a:ln w="12700">
            <a:solidFill>
              <a:srgbClr val="FFFFFF"/>
            </a:solidFill>
            <a:prstDash val="solid"/>
          </a:ln>
        </p:spPr>
      </p:sp>
      <p:sp>
        <p:nvSpPr>
          <p:cNvPr id="26" name="Shape 23"/>
          <p:cNvSpPr/>
          <p:nvPr/>
        </p:nvSpPr>
        <p:spPr>
          <a:xfrm>
            <a:off x="658368" y="4133088"/>
            <a:ext cx="64008" cy="1097280"/>
          </a:xfrm>
          <a:prstGeom prst="rect">
            <a:avLst/>
          </a:prstGeom>
          <a:solidFill>
            <a:srgbClr val="B3181E"/>
          </a:solidFill>
          <a:ln w="12700">
            <a:solidFill>
              <a:srgbClr val="B3181E"/>
            </a:solidFill>
            <a:prstDash val="solid"/>
          </a:ln>
        </p:spPr>
      </p:sp>
      <p:sp>
        <p:nvSpPr>
          <p:cNvPr id="27" name="Text 24"/>
          <p:cNvSpPr txBox="1"/>
          <p:nvPr/>
        </p:nvSpPr>
        <p:spPr>
          <a:xfrm>
            <a:off x="987552" y="4315968"/>
            <a:ext cx="54864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POR QUÉ NO BASTA CON EJECUTAR</a:t>
            </a:r>
            <a:endParaRPr lang="en-US" sz="960" dirty="0"/>
          </a:p>
        </p:txBody>
      </p:sp>
      <p:sp>
        <p:nvSpPr>
          <p:cNvPr id="28" name="Text 25"/>
          <p:cNvSpPr txBox="1"/>
          <p:nvPr/>
        </p:nvSpPr>
        <p:spPr>
          <a:xfrm>
            <a:off x="987552" y="4553712"/>
            <a:ext cx="10216591" cy="566928"/>
          </a:xfrm>
          <a:prstGeom prst="rect">
            <a:avLst/>
          </a:prstGeom>
          <a:noFill/>
          <a:ln/>
        </p:spPr>
        <p:txBody>
          <a:bodyPr wrap="square" lIns="0" tIns="0" rIns="0" bIns="0" rtlCol="0" anchor="t"/>
          <a:lstStyle/>
          <a:p>
            <a:pPr algn="l" indent="0" marL="0">
              <a:lnSpc>
                <a:spcPct val="116000"/>
              </a:lnSpc>
              <a:buNone/>
            </a:pPr>
            <a:r>
              <a:rPr lang="en-US" sz="1340" dirty="0">
                <a:solidFill>
                  <a:srgbClr val="243B53"/>
                </a:solidFill>
                <a:latin typeface="Aptos" pitchFamily="34" charset="0"/>
                <a:ea typeface="Aptos" pitchFamily="34" charset="-122"/>
                <a:cs typeface="Aptos" pitchFamily="34" charset="-120"/>
              </a:rPr>
              <a:t>Ejecutar sin haber predicho convierte cualquier salida en la respuesta correcta: se lee el resultado y se acepta.</a:t>
            </a:r>
            <a:endParaRPr lang="en-US" sz="1340" dirty="0"/>
          </a:p>
          <a:p>
            <a:pPr algn="l" indent="0" marL="0">
              <a:lnSpc>
                <a:spcPct val="116000"/>
              </a:lnSpc>
              <a:buNone/>
            </a:pPr>
            <a:r>
              <a:rPr lang="en-US" sz="1340" dirty="0">
                <a:solidFill>
                  <a:srgbClr val="243B53"/>
                </a:solidFill>
                <a:latin typeface="Aptos" pitchFamily="34" charset="0"/>
                <a:ea typeface="Aptos" pitchFamily="34" charset="-122"/>
                <a:cs typeface="Aptos" pitchFamily="34" charset="-120"/>
              </a:rPr>
              <a:t>La predicción es lo que permite que la ejecución pueda contradecir a alguien.</a:t>
            </a:r>
            <a:endParaRPr lang="en-US" sz="1340" dirty="0"/>
          </a:p>
        </p:txBody>
      </p:sp>
      <p:sp>
        <p:nvSpPr>
          <p:cNvPr id="29" name="Shape 26"/>
          <p:cNvSpPr/>
          <p:nvPr/>
        </p:nvSpPr>
        <p:spPr>
          <a:xfrm>
            <a:off x="658368" y="5468112"/>
            <a:ext cx="10874959" cy="512064"/>
          </a:xfrm>
          <a:prstGeom prst="rect">
            <a:avLst/>
          </a:prstGeom>
          <a:solidFill>
            <a:srgbClr val="102A43"/>
          </a:solidFill>
          <a:ln w="12700">
            <a:solidFill>
              <a:srgbClr val="102A43"/>
            </a:solidFill>
            <a:prstDash val="solid"/>
          </a:ln>
        </p:spPr>
      </p:sp>
      <p:sp>
        <p:nvSpPr>
          <p:cNvPr id="30" name="Text 27"/>
          <p:cNvSpPr txBox="1"/>
          <p:nvPr/>
        </p:nvSpPr>
        <p:spPr>
          <a:xfrm>
            <a:off x="969264" y="5504688"/>
            <a:ext cx="10253167" cy="438912"/>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En este deck, el paso activo aparece marcado en la esquina de cada lámina de código.</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3\03\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09</a:t>
            </a:r>
            <a:endParaRPr lang="en-US" sz="1400" dirty="0"/>
          </a:p>
        </p:txBody>
      </p:sp>
      <p:sp>
        <p:nvSpPr>
          <p:cNvPr id="8" name="Text 5"/>
          <p:cNvSpPr txBox="1"/>
          <p:nvPr/>
        </p:nvSpPr>
        <p:spPr>
          <a:xfrm>
            <a:off x="658368" y="1572768"/>
            <a:ext cx="27432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BLOQUE 1 DE 4</a:t>
            </a:r>
            <a:endParaRPr lang="en-US" sz="960" dirty="0"/>
          </a:p>
        </p:txBody>
      </p:sp>
      <p:sp>
        <p:nvSpPr>
          <p:cNvPr id="9" name="Text 6"/>
          <p:cNvSpPr txBox="1"/>
          <p:nvPr/>
        </p:nvSpPr>
        <p:spPr>
          <a:xfrm>
            <a:off x="658368" y="1920240"/>
            <a:ext cx="9692640" cy="914400"/>
          </a:xfrm>
          <a:prstGeom prst="rect">
            <a:avLst/>
          </a:prstGeom>
          <a:noFill/>
          <a:ln/>
        </p:spPr>
        <p:txBody>
          <a:bodyPr wrap="square" lIns="0" tIns="0" rIns="0" bIns="0" rtlCol="0" anchor="t"/>
          <a:lstStyle/>
          <a:p>
            <a:pPr algn="l" indent="0" marL="0">
              <a:lnSpc>
                <a:spcPct val="104000"/>
              </a:lnSpc>
              <a:buNone/>
            </a:pPr>
            <a:r>
              <a:rPr lang="en-US" sz="4000" b="1" dirty="0">
                <a:solidFill>
                  <a:srgbClr val="FFFFFF"/>
                </a:solidFill>
                <a:latin typeface="Aptos Display" pitchFamily="34" charset="0"/>
                <a:ea typeface="Aptos Display" pitchFamily="34" charset="-122"/>
                <a:cs typeface="Aptos Display" pitchFamily="34" charset="-120"/>
              </a:rPr>
              <a:t>Por qué hay que elegir</a:t>
            </a:r>
            <a:endParaRPr lang="en-US" sz="4000" dirty="0"/>
          </a:p>
        </p:txBody>
      </p:sp>
      <p:sp>
        <p:nvSpPr>
          <p:cNvPr id="10" name="Shape 7"/>
          <p:cNvSpPr/>
          <p:nvPr/>
        </p:nvSpPr>
        <p:spPr>
          <a:xfrm>
            <a:off x="658368" y="3035808"/>
            <a:ext cx="3108960" cy="0"/>
          </a:xfrm>
          <a:prstGeom prst="line">
            <a:avLst/>
          </a:prstGeom>
          <a:noFill/>
          <a:ln w="12700">
            <a:solidFill>
              <a:srgbClr val="E0BC5A"/>
            </a:solidFill>
            <a:prstDash val="solid"/>
            <a:headEnd type="none"/>
            <a:tailEnd type="none"/>
          </a:ln>
        </p:spPr>
      </p:sp>
      <p:sp>
        <p:nvSpPr>
          <p:cNvPr id="11" name="Text 8"/>
          <p:cNvSpPr txBox="1"/>
          <p:nvPr/>
        </p:nvSpPr>
        <p:spPr>
          <a:xfrm>
            <a:off x="658368" y="3291840"/>
            <a:ext cx="9326880" cy="822960"/>
          </a:xfrm>
          <a:prstGeom prst="rect">
            <a:avLst/>
          </a:prstGeom>
          <a:noFill/>
          <a:ln/>
        </p:spPr>
        <p:txBody>
          <a:bodyPr wrap="square" lIns="0" tIns="0" rIns="0" bIns="0" rtlCol="0" anchor="t"/>
          <a:lstStyle/>
          <a:p>
            <a:pPr algn="l" indent="0" marL="0">
              <a:lnSpc>
                <a:spcPct val="116000"/>
              </a:lnSpc>
              <a:buNone/>
            </a:pPr>
            <a:r>
              <a:rPr lang="en-US" sz="1700" i="1" dirty="0">
                <a:solidFill>
                  <a:srgbClr val="E6EEF7"/>
                </a:solidFill>
                <a:latin typeface="Aptos" pitchFamily="34" charset="0"/>
                <a:ea typeface="Aptos" pitchFamily="34" charset="-122"/>
                <a:cs typeface="Aptos" pitchFamily="34" charset="-120"/>
              </a:rPr>
              <a:t>¿Cuántas entradas distintas acepta de verdad una función de cuatro líneas, y qué pasa si se intentan todas?</a:t>
            </a:r>
            <a:endParaRPr lang="en-US" sz="1700" dirty="0"/>
          </a:p>
        </p:txBody>
      </p:sp>
      <p:sp>
        <p:nvSpPr>
          <p:cNvPr id="12" name="Text 9"/>
          <p:cNvSpPr txBox="1"/>
          <p:nvPr/>
        </p:nvSpPr>
        <p:spPr>
          <a:xfrm>
            <a:off x="658368" y="4864608"/>
            <a:ext cx="4572000" cy="201168"/>
          </a:xfrm>
          <a:prstGeom prst="rect">
            <a:avLst/>
          </a:prstGeom>
          <a:noFill/>
          <a:ln/>
        </p:spPr>
        <p:txBody>
          <a:bodyPr wrap="square" lIns="0" tIns="0" rIns="0" bIns="0" rtlCol="0" anchor="t"/>
          <a:lstStyle/>
          <a:p>
            <a:pPr algn="l" indent="0" marL="0">
              <a:buNone/>
            </a:pPr>
            <a:r>
              <a:rPr lang="en-US" sz="960" b="1" spc="130" kern="0" dirty="0">
                <a:solidFill>
                  <a:srgbClr val="EADFD0"/>
                </a:solidFill>
                <a:latin typeface="Aptos" pitchFamily="34" charset="0"/>
                <a:ea typeface="Aptos" pitchFamily="34" charset="-122"/>
                <a:cs typeface="Aptos" pitchFamily="34" charset="-120"/>
              </a:rPr>
              <a:t>DÓNDE ESTAMOS EN LA REDUCCIÓN</a:t>
            </a:r>
            <a:endParaRPr lang="en-US" sz="960" dirty="0"/>
          </a:p>
        </p:txBody>
      </p:sp>
      <p:sp>
        <p:nvSpPr>
          <p:cNvPr id="13" name="Shape 10"/>
          <p:cNvSpPr/>
          <p:nvPr/>
        </p:nvSpPr>
        <p:spPr>
          <a:xfrm>
            <a:off x="658368" y="5138928"/>
            <a:ext cx="4206240" cy="420624"/>
          </a:xfrm>
          <a:prstGeom prst="rect">
            <a:avLst/>
          </a:prstGeom>
          <a:solidFill>
            <a:srgbClr val="E0BC5A"/>
          </a:solidFill>
          <a:ln w="12700">
            <a:solidFill>
              <a:srgbClr val="E0BC5A"/>
            </a:solidFill>
            <a:prstDash val="solid"/>
          </a:ln>
        </p:spPr>
      </p:sp>
      <p:sp>
        <p:nvSpPr>
          <p:cNvPr id="14" name="Text 11"/>
          <p:cNvSpPr txBox="1"/>
          <p:nvPr/>
        </p:nvSpPr>
        <p:spPr>
          <a:xfrm>
            <a:off x="822960" y="5157216"/>
            <a:ext cx="3877056" cy="384048"/>
          </a:xfrm>
          <a:prstGeom prst="rect">
            <a:avLst/>
          </a:prstGeom>
          <a:noFill/>
          <a:ln/>
        </p:spPr>
        <p:txBody>
          <a:bodyPr wrap="square" lIns="0" tIns="0" rIns="0" bIns="0" rtlCol="0" anchor="ctr"/>
          <a:lstStyle/>
          <a:p>
            <a:pPr algn="l" indent="0" marL="0">
              <a:buNone/>
            </a:pPr>
            <a:r>
              <a:rPr lang="en-US" sz="1200" b="1" dirty="0">
                <a:solidFill>
                  <a:srgbClr val="102A43"/>
                </a:solidFill>
                <a:latin typeface="Aptos" pitchFamily="34" charset="0"/>
                <a:ea typeface="Aptos" pitchFamily="34" charset="-122"/>
                <a:cs typeface="Aptos" pitchFamily="34" charset="-120"/>
              </a:rPr>
              <a:t>Todas las entradas</a:t>
            </a:r>
            <a:endParaRPr lang="en-US" sz="1200" dirty="0"/>
          </a:p>
        </p:txBody>
      </p:sp>
      <p:sp>
        <p:nvSpPr>
          <p:cNvPr id="15" name="Shape 12"/>
          <p:cNvSpPr/>
          <p:nvPr/>
        </p:nvSpPr>
        <p:spPr>
          <a:xfrm>
            <a:off x="4901184" y="5349240"/>
            <a:ext cx="182880" cy="0"/>
          </a:xfrm>
          <a:prstGeom prst="line">
            <a:avLst/>
          </a:prstGeom>
          <a:noFill/>
          <a:ln w="12700">
            <a:solidFill>
              <a:srgbClr val="EADFD0"/>
            </a:solidFill>
            <a:prstDash val="solid"/>
            <a:headEnd type="none"/>
            <a:tailEnd type="triangle"/>
          </a:ln>
        </p:spPr>
      </p:sp>
      <p:sp>
        <p:nvSpPr>
          <p:cNvPr id="16" name="Shape 13"/>
          <p:cNvSpPr/>
          <p:nvPr/>
        </p:nvSpPr>
        <p:spPr>
          <a:xfrm>
            <a:off x="5120640" y="5138928"/>
            <a:ext cx="2926080" cy="420624"/>
          </a:xfrm>
          <a:prstGeom prst="rect">
            <a:avLst/>
          </a:prstGeom>
          <a:solidFill>
            <a:srgbClr val="1D3A57"/>
          </a:solidFill>
          <a:ln w="12700">
            <a:solidFill>
              <a:srgbClr val="1D3A57"/>
            </a:solidFill>
            <a:prstDash val="solid"/>
          </a:ln>
        </p:spPr>
      </p:sp>
      <p:sp>
        <p:nvSpPr>
          <p:cNvPr id="17" name="Text 14"/>
          <p:cNvSpPr txBox="1"/>
          <p:nvPr/>
        </p:nvSpPr>
        <p:spPr>
          <a:xfrm>
            <a:off x="5285232" y="5157216"/>
            <a:ext cx="2596896" cy="384048"/>
          </a:xfrm>
          <a:prstGeom prst="rect">
            <a:avLst/>
          </a:prstGeom>
          <a:noFill/>
          <a:ln/>
        </p:spPr>
        <p:txBody>
          <a:bodyPr wrap="square" lIns="0" tIns="0" rIns="0" bIns="0" rtlCol="0" anchor="ctr"/>
          <a:lstStyle/>
          <a:p>
            <a:pPr algn="l" indent="0" marL="0">
              <a:buNone/>
            </a:pPr>
            <a:r>
              <a:rPr lang="en-US" sz="1060" dirty="0">
                <a:solidFill>
                  <a:srgbClr val="EADFD0"/>
                </a:solidFill>
                <a:latin typeface="Aptos" pitchFamily="34" charset="0"/>
                <a:ea typeface="Aptos" pitchFamily="34" charset="-122"/>
                <a:cs typeface="Aptos" pitchFamily="34" charset="-120"/>
              </a:rPr>
              <a:t>Clases</a:t>
            </a:r>
            <a:endParaRPr lang="en-US" sz="1060" dirty="0"/>
          </a:p>
        </p:txBody>
      </p:sp>
      <p:sp>
        <p:nvSpPr>
          <p:cNvPr id="18" name="Shape 15"/>
          <p:cNvSpPr/>
          <p:nvPr/>
        </p:nvSpPr>
        <p:spPr>
          <a:xfrm>
            <a:off x="8083296" y="5349240"/>
            <a:ext cx="182880" cy="0"/>
          </a:xfrm>
          <a:prstGeom prst="line">
            <a:avLst/>
          </a:prstGeom>
          <a:noFill/>
          <a:ln w="12700">
            <a:solidFill>
              <a:srgbClr val="EADFD0"/>
            </a:solidFill>
            <a:prstDash val="solid"/>
            <a:headEnd type="none"/>
            <a:tailEnd type="triangle"/>
          </a:ln>
        </p:spPr>
      </p:sp>
      <p:sp>
        <p:nvSpPr>
          <p:cNvPr id="19" name="Shape 16"/>
          <p:cNvSpPr/>
          <p:nvPr/>
        </p:nvSpPr>
        <p:spPr>
          <a:xfrm>
            <a:off x="8302752" y="5138928"/>
            <a:ext cx="2011680" cy="420624"/>
          </a:xfrm>
          <a:prstGeom prst="rect">
            <a:avLst/>
          </a:prstGeom>
          <a:solidFill>
            <a:srgbClr val="1D3A57"/>
          </a:solidFill>
          <a:ln w="12700">
            <a:solidFill>
              <a:srgbClr val="1D3A57"/>
            </a:solidFill>
            <a:prstDash val="solid"/>
          </a:ln>
        </p:spPr>
      </p:sp>
      <p:sp>
        <p:nvSpPr>
          <p:cNvPr id="20" name="Text 17"/>
          <p:cNvSpPr txBox="1"/>
          <p:nvPr/>
        </p:nvSpPr>
        <p:spPr>
          <a:xfrm>
            <a:off x="8467344" y="5157216"/>
            <a:ext cx="1682496" cy="384048"/>
          </a:xfrm>
          <a:prstGeom prst="rect">
            <a:avLst/>
          </a:prstGeom>
          <a:noFill/>
          <a:ln/>
        </p:spPr>
        <p:txBody>
          <a:bodyPr wrap="square" lIns="0" tIns="0" rIns="0" bIns="0" rtlCol="0" anchor="ctr"/>
          <a:lstStyle/>
          <a:p>
            <a:pPr algn="l" indent="0" marL="0">
              <a:buNone/>
            </a:pPr>
            <a:r>
              <a:rPr lang="en-US" sz="1060" dirty="0">
                <a:solidFill>
                  <a:srgbClr val="EADFD0"/>
                </a:solidFill>
                <a:latin typeface="Aptos" pitchFamily="34" charset="0"/>
                <a:ea typeface="Aptos" pitchFamily="34" charset="-122"/>
                <a:cs typeface="Aptos" pitchFamily="34" charset="-120"/>
              </a:rPr>
              <a:t>Límites</a:t>
            </a:r>
            <a:endParaRPr lang="en-US" sz="1060" dirty="0"/>
          </a:p>
        </p:txBody>
      </p:sp>
      <p:sp>
        <p:nvSpPr>
          <p:cNvPr id="21" name="Shape 18"/>
          <p:cNvSpPr/>
          <p:nvPr/>
        </p:nvSpPr>
        <p:spPr>
          <a:xfrm>
            <a:off x="10351008" y="5349240"/>
            <a:ext cx="182880" cy="0"/>
          </a:xfrm>
          <a:prstGeom prst="line">
            <a:avLst/>
          </a:prstGeom>
          <a:noFill/>
          <a:ln w="12700">
            <a:solidFill>
              <a:srgbClr val="EADFD0"/>
            </a:solidFill>
            <a:prstDash val="solid"/>
            <a:headEnd type="none"/>
            <a:tailEnd type="triangle"/>
          </a:ln>
        </p:spPr>
      </p:sp>
      <p:sp>
        <p:nvSpPr>
          <p:cNvPr id="22" name="Shape 19"/>
          <p:cNvSpPr/>
          <p:nvPr/>
        </p:nvSpPr>
        <p:spPr>
          <a:xfrm>
            <a:off x="10570464" y="5138928"/>
            <a:ext cx="1371600" cy="420624"/>
          </a:xfrm>
          <a:prstGeom prst="rect">
            <a:avLst/>
          </a:prstGeom>
          <a:solidFill>
            <a:srgbClr val="1D3A57"/>
          </a:solidFill>
          <a:ln w="12700">
            <a:solidFill>
              <a:srgbClr val="1D3A57"/>
            </a:solidFill>
            <a:prstDash val="solid"/>
          </a:ln>
        </p:spPr>
      </p:sp>
      <p:sp>
        <p:nvSpPr>
          <p:cNvPr id="23" name="Text 20"/>
          <p:cNvSpPr txBox="1"/>
          <p:nvPr/>
        </p:nvSpPr>
        <p:spPr>
          <a:xfrm>
            <a:off x="10735056" y="5157216"/>
            <a:ext cx="1042416" cy="384048"/>
          </a:xfrm>
          <a:prstGeom prst="rect">
            <a:avLst/>
          </a:prstGeom>
          <a:noFill/>
          <a:ln/>
        </p:spPr>
        <p:txBody>
          <a:bodyPr wrap="square" lIns="0" tIns="0" rIns="0" bIns="0" rtlCol="0" anchor="ctr"/>
          <a:lstStyle/>
          <a:p>
            <a:pPr algn="l" indent="0" marL="0">
              <a:buNone/>
            </a:pPr>
            <a:r>
              <a:rPr lang="en-US" sz="1060" dirty="0">
                <a:solidFill>
                  <a:srgbClr val="EADFD0"/>
                </a:solidFill>
                <a:latin typeface="Aptos" pitchFamily="34" charset="0"/>
                <a:ea typeface="Aptos" pitchFamily="34" charset="-122"/>
                <a:cs typeface="Aptos" pitchFamily="34" charset="-120"/>
              </a:rPr>
              <a:t>Reglas combinadas</a:t>
            </a:r>
            <a:endParaRPr lang="en-US" sz="10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10</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EL PUNTO DE PARTIDA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Cuatro pruebas, todas en verde</a:t>
            </a:r>
            <a:endParaRPr lang="en-US" sz="3000" dirty="0"/>
          </a:p>
        </p:txBody>
      </p:sp>
      <p:sp>
        <p:nvSpPr>
          <p:cNvPr id="10" name="Text 7"/>
          <p:cNvSpPr txBox="1"/>
          <p:nvPr/>
        </p:nvSpPr>
        <p:spPr>
          <a:xfrm>
            <a:off x="658368" y="1773936"/>
            <a:ext cx="72237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Una suite es el conjunto de pruebas de un proyecto. El de reservas llegó con esta, escrita por quien conocía el código.</a:t>
            </a:r>
            <a:endParaRPr lang="en-US" sz="1450" dirty="0"/>
          </a:p>
        </p:txBody>
      </p:sp>
      <p:sp>
        <p:nvSpPr>
          <p:cNvPr id="11" name="Shape 8"/>
          <p:cNvSpPr/>
          <p:nvPr/>
        </p:nvSpPr>
        <p:spPr>
          <a:xfrm>
            <a:off x="8165592" y="1883664"/>
            <a:ext cx="1060704" cy="274320"/>
          </a:xfrm>
          <a:prstGeom prst="rect">
            <a:avLst/>
          </a:prstGeom>
          <a:solidFill>
            <a:srgbClr val="102A43"/>
          </a:solidFill>
          <a:ln w="12700">
            <a:solidFill>
              <a:srgbClr val="102A43"/>
            </a:solidFill>
            <a:prstDash val="solid"/>
          </a:ln>
        </p:spPr>
      </p:sp>
      <p:sp>
        <p:nvSpPr>
          <p:cNvPr id="12" name="Text 9"/>
          <p:cNvSpPr txBox="1"/>
          <p:nvPr/>
        </p:nvSpPr>
        <p:spPr>
          <a:xfrm>
            <a:off x="8165592"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FFFFFF"/>
                </a:solidFill>
                <a:latin typeface="Aptos" pitchFamily="34" charset="0"/>
                <a:ea typeface="Aptos" pitchFamily="34" charset="-122"/>
                <a:cs typeface="Aptos" pitchFamily="34" charset="-120"/>
              </a:rPr>
              <a:t>Leer</a:t>
            </a:r>
            <a:endParaRPr lang="en-US" sz="940" dirty="0"/>
          </a:p>
        </p:txBody>
      </p:sp>
      <p:sp>
        <p:nvSpPr>
          <p:cNvPr id="13" name="Shape 10"/>
          <p:cNvSpPr/>
          <p:nvPr/>
        </p:nvSpPr>
        <p:spPr>
          <a:xfrm>
            <a:off x="9317736" y="1883664"/>
            <a:ext cx="1060704" cy="274320"/>
          </a:xfrm>
          <a:prstGeom prst="rect">
            <a:avLst/>
          </a:prstGeom>
          <a:solidFill>
            <a:srgbClr val="EDE6DA"/>
          </a:solidFill>
          <a:ln w="12700">
            <a:solidFill>
              <a:srgbClr val="EDE6DA"/>
            </a:solidFill>
            <a:prstDash val="solid"/>
          </a:ln>
        </p:spPr>
      </p:sp>
      <p:sp>
        <p:nvSpPr>
          <p:cNvPr id="14" name="Text 11"/>
          <p:cNvSpPr txBox="1"/>
          <p:nvPr/>
        </p:nvSpPr>
        <p:spPr>
          <a:xfrm>
            <a:off x="9317736"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Predecir</a:t>
            </a:r>
            <a:endParaRPr lang="en-US" sz="940" dirty="0"/>
          </a:p>
        </p:txBody>
      </p:sp>
      <p:sp>
        <p:nvSpPr>
          <p:cNvPr id="15" name="Shape 12"/>
          <p:cNvSpPr/>
          <p:nvPr/>
        </p:nvSpPr>
        <p:spPr>
          <a:xfrm>
            <a:off x="10469880" y="1883664"/>
            <a:ext cx="1060704" cy="274320"/>
          </a:xfrm>
          <a:prstGeom prst="rect">
            <a:avLst/>
          </a:prstGeom>
          <a:solidFill>
            <a:srgbClr val="EDE6DA"/>
          </a:solidFill>
          <a:ln w="12700">
            <a:solidFill>
              <a:srgbClr val="EDE6DA"/>
            </a:solidFill>
            <a:prstDash val="solid"/>
          </a:ln>
        </p:spPr>
      </p:sp>
      <p:sp>
        <p:nvSpPr>
          <p:cNvPr id="16" name="Text 13"/>
          <p:cNvSpPr txBox="1"/>
          <p:nvPr/>
        </p:nvSpPr>
        <p:spPr>
          <a:xfrm>
            <a:off x="10469880"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Comprobar</a:t>
            </a:r>
            <a:endParaRPr lang="en-US" sz="940" dirty="0"/>
          </a:p>
        </p:txBody>
      </p:sp>
      <p:sp>
        <p:nvSpPr>
          <p:cNvPr id="17" name="Shape 14"/>
          <p:cNvSpPr/>
          <p:nvPr/>
        </p:nvSpPr>
        <p:spPr>
          <a:xfrm>
            <a:off x="658368" y="2286000"/>
            <a:ext cx="6858000" cy="2542032"/>
          </a:xfrm>
          <a:prstGeom prst="roundRect">
            <a:avLst>
              <a:gd name="adj" fmla="val 1439"/>
            </a:avLst>
          </a:prstGeom>
          <a:solidFill>
            <a:srgbClr val="102A43"/>
          </a:solidFill>
          <a:ln w="12700">
            <a:solidFill>
              <a:srgbClr val="102A43"/>
            </a:solidFill>
            <a:prstDash val="solid"/>
          </a:ln>
        </p:spPr>
      </p:sp>
      <p:sp>
        <p:nvSpPr>
          <p:cNvPr id="18" name="Shape 15"/>
          <p:cNvSpPr/>
          <p:nvPr/>
        </p:nvSpPr>
        <p:spPr>
          <a:xfrm>
            <a:off x="786384" y="2395728"/>
            <a:ext cx="6601968" cy="310896"/>
          </a:xfrm>
          <a:prstGeom prst="roundRect">
            <a:avLst>
              <a:gd name="adj" fmla="val 8824"/>
            </a:avLst>
          </a:prstGeom>
          <a:solidFill>
            <a:srgbClr val="284B75"/>
          </a:solidFill>
          <a:ln w="12700">
            <a:solidFill>
              <a:srgbClr val="284B75"/>
            </a:solidFill>
            <a:prstDash val="solid"/>
          </a:ln>
        </p:spPr>
      </p:sp>
      <p:sp>
        <p:nvSpPr>
          <p:cNvPr id="19" name="Text 16"/>
          <p:cNvSpPr/>
          <p:nvPr/>
        </p:nvSpPr>
        <p:spPr>
          <a:xfrm>
            <a:off x="896112" y="2468880"/>
            <a:ext cx="638251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tests/test_reservas.py</a:t>
            </a:r>
            <a:endParaRPr lang="en-US" sz="100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6437376" cy="1792224"/>
          </a:xfrm>
          <a:prstGeom prst="rect">
            <a:avLst/>
          </a:prstGeom>
        </p:spPr>
      </p:pic>
      <p:sp>
        <p:nvSpPr>
          <p:cNvPr id="21" name="Shape 17"/>
          <p:cNvSpPr/>
          <p:nvPr/>
        </p:nvSpPr>
        <p:spPr>
          <a:xfrm>
            <a:off x="7699248" y="2286000"/>
            <a:ext cx="3831336" cy="1481328"/>
          </a:xfrm>
          <a:prstGeom prst="roundRect">
            <a:avLst>
              <a:gd name="adj" fmla="val 2469"/>
            </a:avLst>
          </a:prstGeom>
          <a:solidFill>
            <a:srgbClr val="0F1720"/>
          </a:solidFill>
          <a:ln w="12700">
            <a:solidFill>
              <a:srgbClr val="0F1720"/>
            </a:solidFill>
            <a:prstDash val="solid"/>
          </a:ln>
        </p:spPr>
      </p:sp>
      <p:sp>
        <p:nvSpPr>
          <p:cNvPr id="22" name="Shape 18"/>
          <p:cNvSpPr/>
          <p:nvPr/>
        </p:nvSpPr>
        <p:spPr>
          <a:xfrm>
            <a:off x="7827264" y="2395728"/>
            <a:ext cx="3575304" cy="310896"/>
          </a:xfrm>
          <a:prstGeom prst="roundRect">
            <a:avLst>
              <a:gd name="adj" fmla="val 8824"/>
            </a:avLst>
          </a:prstGeom>
          <a:solidFill>
            <a:srgbClr val="1E2937"/>
          </a:solidFill>
          <a:ln w="12700">
            <a:solidFill>
              <a:srgbClr val="1E2937"/>
            </a:solidFill>
            <a:prstDash val="solid"/>
          </a:ln>
        </p:spPr>
      </p:sp>
      <p:sp>
        <p:nvSpPr>
          <p:cNvPr id="23" name="Text 19"/>
          <p:cNvSpPr/>
          <p:nvPr/>
        </p:nvSpPr>
        <p:spPr>
          <a:xfrm>
            <a:off x="7955280" y="2468880"/>
            <a:ext cx="3319272"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 ejecución</a:t>
            </a:r>
            <a:endParaRPr lang="en-US" sz="1000" dirty="0"/>
          </a:p>
        </p:txBody>
      </p:sp>
      <p:sp>
        <p:nvSpPr>
          <p:cNvPr id="24" name="Text 20"/>
          <p:cNvSpPr/>
          <p:nvPr/>
        </p:nvSpPr>
        <p:spPr>
          <a:xfrm>
            <a:off x="7918704" y="2852928"/>
            <a:ext cx="329184" cy="164592"/>
          </a:xfrm>
          <a:prstGeom prst="rect">
            <a:avLst/>
          </a:prstGeom>
          <a:noFill/>
          <a:ln/>
        </p:spPr>
        <p:txBody>
          <a:bodyPr wrap="square" lIns="0" tIns="0" rIns="0" bIns="0" rtlCol="0" anchor="ctr"/>
          <a:lstStyle/>
          <a:p>
            <a:pPr indent="0" marL="0">
              <a:buNone/>
            </a:pPr>
            <a:r>
              <a:rPr lang="en-US" sz="1000" b="1" dirty="0">
                <a:solidFill>
                  <a:srgbClr val="E0BC5A"/>
                </a:solidFill>
                <a:latin typeface="Consolas" pitchFamily="34" charset="0"/>
                <a:ea typeface="Consolas" pitchFamily="34" charset="-122"/>
                <a:cs typeface="Consolas" pitchFamily="34" charset="-120"/>
              </a:rPr>
              <a:t>&gt;</a:t>
            </a:r>
            <a:endParaRPr lang="en-US" sz="1000" dirty="0"/>
          </a:p>
        </p:txBody>
      </p:sp>
      <p:sp>
        <p:nvSpPr>
          <p:cNvPr id="25" name="Text 21"/>
          <p:cNvSpPr/>
          <p:nvPr/>
        </p:nvSpPr>
        <p:spPr>
          <a:xfrm>
            <a:off x="8229600" y="2852928"/>
            <a:ext cx="3081528" cy="164592"/>
          </a:xfrm>
          <a:prstGeom prst="rect">
            <a:avLst/>
          </a:prstGeom>
          <a:noFill/>
          <a:ln/>
        </p:spPr>
        <p:txBody>
          <a:bodyPr wrap="square" lIns="0" tIns="0" rIns="0" bIns="0" rtlCol="0" anchor="ctr"/>
          <a:lstStyle/>
          <a:p>
            <a:pPr indent="0" marL="0">
              <a:buNone/>
            </a:pPr>
            <a:r>
              <a:rPr lang="en-US" sz="1000" dirty="0">
                <a:solidFill>
                  <a:srgbClr val="E6EEF7"/>
                </a:solidFill>
                <a:latin typeface="Consolas" pitchFamily="34" charset="0"/>
                <a:ea typeface="Consolas" pitchFamily="34" charset="-122"/>
                <a:cs typeface="Consolas" pitchFamily="34" charset="-120"/>
              </a:rPr>
              <a:t>uv run pytest -q</a:t>
            </a:r>
            <a:endParaRPr lang="en-US" sz="1000" dirty="0"/>
          </a:p>
        </p:txBody>
      </p:sp>
      <p:sp>
        <p:nvSpPr>
          <p:cNvPr id="26" name="Text 22"/>
          <p:cNvSpPr/>
          <p:nvPr/>
        </p:nvSpPr>
        <p:spPr>
          <a:xfrm>
            <a:off x="7918704" y="3108960"/>
            <a:ext cx="3081528" cy="164592"/>
          </a:xfrm>
          <a:prstGeom prst="rect">
            <a:avLst/>
          </a:prstGeom>
          <a:noFill/>
          <a:ln/>
        </p:spPr>
        <p:txBody>
          <a:bodyPr wrap="square" lIns="0" tIns="0" rIns="0" bIns="0" rtlCol="0" anchor="ctr"/>
          <a:lstStyle/>
          <a:p>
            <a:pPr indent="0" marL="0">
              <a:buNone/>
            </a:pPr>
            <a:r>
              <a:rPr lang="en-US" sz="1000" dirty="0">
                <a:solidFill>
                  <a:srgbClr val="8AA0B6"/>
                </a:solidFill>
                <a:latin typeface="Consolas" pitchFamily="34" charset="0"/>
                <a:ea typeface="Consolas" pitchFamily="34" charset="-122"/>
                <a:cs typeface="Consolas" pitchFamily="34" charset="-120"/>
              </a:rPr>
              <a:t>....                    [100%]</a:t>
            </a:r>
            <a:endParaRPr lang="en-US" sz="1000" dirty="0"/>
          </a:p>
        </p:txBody>
      </p:sp>
      <p:sp>
        <p:nvSpPr>
          <p:cNvPr id="27" name="Text 23"/>
          <p:cNvSpPr/>
          <p:nvPr/>
        </p:nvSpPr>
        <p:spPr>
          <a:xfrm>
            <a:off x="7918704" y="3364992"/>
            <a:ext cx="3081528" cy="164592"/>
          </a:xfrm>
          <a:prstGeom prst="rect">
            <a:avLst/>
          </a:prstGeom>
          <a:noFill/>
          <a:ln/>
        </p:spPr>
        <p:txBody>
          <a:bodyPr wrap="square" lIns="0" tIns="0" rIns="0" bIns="0" rtlCol="0" anchor="ctr"/>
          <a:lstStyle/>
          <a:p>
            <a:pPr indent="0" marL="0">
              <a:buNone/>
            </a:pPr>
            <a:r>
              <a:rPr lang="en-US" sz="1000" dirty="0">
                <a:solidFill>
                  <a:srgbClr val="E6EEF7"/>
                </a:solidFill>
                <a:latin typeface="Consolas" pitchFamily="34" charset="0"/>
                <a:ea typeface="Consolas" pitchFamily="34" charset="-122"/>
                <a:cs typeface="Consolas" pitchFamily="34" charset="-120"/>
              </a:rPr>
              <a:t>4 passed in 0.04s</a:t>
            </a:r>
            <a:endParaRPr lang="en-US" sz="1000" dirty="0"/>
          </a:p>
        </p:txBody>
      </p:sp>
      <p:sp>
        <p:nvSpPr>
          <p:cNvPr id="28" name="Shape 24"/>
          <p:cNvSpPr/>
          <p:nvPr/>
        </p:nvSpPr>
        <p:spPr>
          <a:xfrm>
            <a:off x="7699248" y="3950208"/>
            <a:ext cx="3831336" cy="877824"/>
          </a:xfrm>
          <a:prstGeom prst="rect">
            <a:avLst/>
          </a:prstGeom>
          <a:solidFill>
            <a:srgbClr val="E6EEF7"/>
          </a:solidFill>
          <a:ln w="12700">
            <a:solidFill>
              <a:srgbClr val="E6EEF7"/>
            </a:solidFill>
            <a:prstDash val="solid"/>
          </a:ln>
        </p:spPr>
      </p:sp>
      <p:sp>
        <p:nvSpPr>
          <p:cNvPr id="29" name="Shape 25"/>
          <p:cNvSpPr/>
          <p:nvPr/>
        </p:nvSpPr>
        <p:spPr>
          <a:xfrm>
            <a:off x="7699248" y="3950208"/>
            <a:ext cx="64008" cy="877824"/>
          </a:xfrm>
          <a:prstGeom prst="rect">
            <a:avLst/>
          </a:prstGeom>
          <a:solidFill>
            <a:srgbClr val="102A43"/>
          </a:solidFill>
          <a:ln w="12700">
            <a:solidFill>
              <a:srgbClr val="102A43"/>
            </a:solidFill>
            <a:prstDash val="solid"/>
          </a:ln>
        </p:spPr>
      </p:sp>
      <p:sp>
        <p:nvSpPr>
          <p:cNvPr id="30" name="Text 26"/>
          <p:cNvSpPr txBox="1"/>
          <p:nvPr/>
        </p:nvSpPr>
        <p:spPr>
          <a:xfrm>
            <a:off x="8010144" y="4059936"/>
            <a:ext cx="3291840" cy="658368"/>
          </a:xfrm>
          <a:prstGeom prst="rect">
            <a:avLst/>
          </a:prstGeom>
          <a:noFill/>
          <a:ln/>
        </p:spPr>
        <p:txBody>
          <a:bodyPr wrap="square" lIns="0" tIns="0" rIns="0" bIns="0" rtlCol="0" anchor="t"/>
          <a:lstStyle/>
          <a:p>
            <a:pPr algn="l" indent="0" marL="0">
              <a:lnSpc>
                <a:spcPct val="116000"/>
              </a:lnSpc>
              <a:buNone/>
            </a:pPr>
            <a:r>
              <a:rPr lang="en-US" sz="1200" dirty="0">
                <a:solidFill>
                  <a:srgbClr val="243B53"/>
                </a:solidFill>
                <a:latin typeface="Aptos" pitchFamily="34" charset="0"/>
                <a:ea typeface="Aptos" pitchFamily="34" charset="-122"/>
                <a:cs typeface="Aptos" pitchFamily="34" charset="-120"/>
              </a:rPr>
              <a:t>Se lee: reservas que ya tiene, bloque que pide, si está tomado.</a:t>
            </a:r>
            <a:endParaRPr lang="en-US" sz="1200" dirty="0"/>
          </a:p>
          <a:p>
            <a:pPr algn="l" indent="0" marL="0">
              <a:lnSpc>
                <a:spcPct val="116000"/>
              </a:lnSpc>
              <a:buNone/>
            </a:pPr>
            <a:r>
              <a:rPr lang="en-US" sz="1200" dirty="0">
                <a:solidFill>
                  <a:srgbClr val="243B53"/>
                </a:solidFill>
                <a:latin typeface="Aptos" pitchFamily="34" charset="0"/>
                <a:ea typeface="Aptos" pitchFamily="34" charset="-122"/>
                <a:cs typeface="Aptos" pitchFamily="34" charset="-120"/>
              </a:rPr>
              <a:t>Nada aquí está escrito de mala fe: es una suite razonable, y pasa.</a:t>
            </a:r>
            <a:endParaRPr lang="en-US" sz="1200" dirty="0"/>
          </a:p>
        </p:txBody>
      </p:sp>
      <p:sp>
        <p:nvSpPr>
          <p:cNvPr id="31" name="Shape 27"/>
          <p:cNvSpPr/>
          <p:nvPr/>
        </p:nvSpPr>
        <p:spPr>
          <a:xfrm>
            <a:off x="658368" y="5175504"/>
            <a:ext cx="10874959" cy="548640"/>
          </a:xfrm>
          <a:prstGeom prst="rect">
            <a:avLst/>
          </a:prstGeom>
          <a:solidFill>
            <a:srgbClr val="102A43"/>
          </a:solidFill>
          <a:ln w="12700">
            <a:solidFill>
              <a:srgbClr val="102A43"/>
            </a:solidFill>
            <a:prstDash val="solid"/>
          </a:ln>
        </p:spPr>
      </p:sp>
      <p:sp>
        <p:nvSpPr>
          <p:cNvPr id="32" name="Text 28"/>
          <p:cNvSpPr txBox="1"/>
          <p:nvPr/>
        </p:nvSpPr>
        <p:spPr>
          <a:xfrm>
            <a:off x="969264" y="5212080"/>
            <a:ext cx="10253167" cy="475488"/>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Esta suite convive con un defecto que deja un octavo de la jornada del laboratorio inutilizable.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11</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EL DATO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Las tres pruebas usan el mismo bloque</a:t>
            </a:r>
            <a:endParaRPr lang="en-US" sz="3000" dirty="0"/>
          </a:p>
        </p:txBody>
      </p:sp>
      <p:sp>
        <p:nvSpPr>
          <p:cNvPr id="10" name="Text 7"/>
          <p:cNvSpPr txBox="1"/>
          <p:nvPr/>
        </p:nvSpPr>
        <p:spPr>
          <a:xfrm>
            <a:off x="658368" y="1773936"/>
            <a:ext cx="72237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El segundo argumento de las tres llamadas muestra lo que el verde no dejaba ver.</a:t>
            </a:r>
            <a:endParaRPr lang="en-US" sz="1450" dirty="0"/>
          </a:p>
        </p:txBody>
      </p:sp>
      <p:sp>
        <p:nvSpPr>
          <p:cNvPr id="11" name="Shape 8"/>
          <p:cNvSpPr/>
          <p:nvPr/>
        </p:nvSpPr>
        <p:spPr>
          <a:xfrm>
            <a:off x="8165592" y="1883664"/>
            <a:ext cx="1060704" cy="274320"/>
          </a:xfrm>
          <a:prstGeom prst="rect">
            <a:avLst/>
          </a:prstGeom>
          <a:solidFill>
            <a:srgbClr val="EDE6DA"/>
          </a:solidFill>
          <a:ln w="12700">
            <a:solidFill>
              <a:srgbClr val="EDE6DA"/>
            </a:solidFill>
            <a:prstDash val="solid"/>
          </a:ln>
        </p:spPr>
      </p:sp>
      <p:sp>
        <p:nvSpPr>
          <p:cNvPr id="12" name="Text 9"/>
          <p:cNvSpPr txBox="1"/>
          <p:nvPr/>
        </p:nvSpPr>
        <p:spPr>
          <a:xfrm>
            <a:off x="8165592"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Leer</a:t>
            </a:r>
            <a:endParaRPr lang="en-US" sz="940" dirty="0"/>
          </a:p>
        </p:txBody>
      </p:sp>
      <p:sp>
        <p:nvSpPr>
          <p:cNvPr id="13" name="Shape 10"/>
          <p:cNvSpPr/>
          <p:nvPr/>
        </p:nvSpPr>
        <p:spPr>
          <a:xfrm>
            <a:off x="9317736" y="1883664"/>
            <a:ext cx="1060704" cy="274320"/>
          </a:xfrm>
          <a:prstGeom prst="rect">
            <a:avLst/>
          </a:prstGeom>
          <a:solidFill>
            <a:srgbClr val="102A43"/>
          </a:solidFill>
          <a:ln w="12700">
            <a:solidFill>
              <a:srgbClr val="102A43"/>
            </a:solidFill>
            <a:prstDash val="solid"/>
          </a:ln>
        </p:spPr>
      </p:sp>
      <p:sp>
        <p:nvSpPr>
          <p:cNvPr id="14" name="Text 11"/>
          <p:cNvSpPr txBox="1"/>
          <p:nvPr/>
        </p:nvSpPr>
        <p:spPr>
          <a:xfrm>
            <a:off x="9317736"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FFFFFF"/>
                </a:solidFill>
                <a:latin typeface="Aptos" pitchFamily="34" charset="0"/>
                <a:ea typeface="Aptos" pitchFamily="34" charset="-122"/>
                <a:cs typeface="Aptos" pitchFamily="34" charset="-120"/>
              </a:rPr>
              <a:t>Predecir</a:t>
            </a:r>
            <a:endParaRPr lang="en-US" sz="940" dirty="0"/>
          </a:p>
        </p:txBody>
      </p:sp>
      <p:sp>
        <p:nvSpPr>
          <p:cNvPr id="15" name="Shape 12"/>
          <p:cNvSpPr/>
          <p:nvPr/>
        </p:nvSpPr>
        <p:spPr>
          <a:xfrm>
            <a:off x="10469880" y="1883664"/>
            <a:ext cx="1060704" cy="274320"/>
          </a:xfrm>
          <a:prstGeom prst="rect">
            <a:avLst/>
          </a:prstGeom>
          <a:solidFill>
            <a:srgbClr val="EDE6DA"/>
          </a:solidFill>
          <a:ln w="12700">
            <a:solidFill>
              <a:srgbClr val="EDE6DA"/>
            </a:solidFill>
            <a:prstDash val="solid"/>
          </a:ln>
        </p:spPr>
      </p:sp>
      <p:sp>
        <p:nvSpPr>
          <p:cNvPr id="16" name="Text 13"/>
          <p:cNvSpPr txBox="1"/>
          <p:nvPr/>
        </p:nvSpPr>
        <p:spPr>
          <a:xfrm>
            <a:off x="10469880"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Comprobar</a:t>
            </a:r>
            <a:endParaRPr lang="en-US" sz="940" dirty="0"/>
          </a:p>
        </p:txBody>
      </p:sp>
      <p:sp>
        <p:nvSpPr>
          <p:cNvPr id="17" name="Shape 14"/>
          <p:cNvSpPr/>
          <p:nvPr/>
        </p:nvSpPr>
        <p:spPr>
          <a:xfrm>
            <a:off x="658368" y="2286000"/>
            <a:ext cx="5394960" cy="1773936"/>
          </a:xfrm>
          <a:prstGeom prst="roundRect">
            <a:avLst>
              <a:gd name="adj" fmla="val 2062"/>
            </a:avLst>
          </a:prstGeom>
          <a:solidFill>
            <a:srgbClr val="102A43"/>
          </a:solidFill>
          <a:ln w="12700">
            <a:solidFill>
              <a:srgbClr val="102A43"/>
            </a:solidFill>
            <a:prstDash val="solid"/>
          </a:ln>
        </p:spPr>
      </p:sp>
      <p:sp>
        <p:nvSpPr>
          <p:cNvPr id="18" name="Shape 15"/>
          <p:cNvSpPr/>
          <p:nvPr/>
        </p:nvSpPr>
        <p:spPr>
          <a:xfrm>
            <a:off x="786384" y="2395728"/>
            <a:ext cx="5138928" cy="310896"/>
          </a:xfrm>
          <a:prstGeom prst="roundRect">
            <a:avLst>
              <a:gd name="adj" fmla="val 8824"/>
            </a:avLst>
          </a:prstGeom>
          <a:solidFill>
            <a:srgbClr val="284B75"/>
          </a:solidFill>
          <a:ln w="12700">
            <a:solidFill>
              <a:srgbClr val="284B75"/>
            </a:solidFill>
            <a:prstDash val="solid"/>
          </a:ln>
        </p:spPr>
      </p:sp>
      <p:sp>
        <p:nvSpPr>
          <p:cNvPr id="19" name="Text 16"/>
          <p:cNvSpPr/>
          <p:nvPr/>
        </p:nvSpPr>
        <p:spPr>
          <a:xfrm>
            <a:off x="896112" y="2468880"/>
            <a:ext cx="491947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puede_reservar(reservas, bloque, tomado) · el segundo argumento</a:t>
            </a:r>
            <a:endParaRPr lang="en-US" sz="100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4974336" cy="1024128"/>
          </a:xfrm>
          <a:prstGeom prst="rect">
            <a:avLst/>
          </a:prstGeom>
        </p:spPr>
      </p:pic>
      <p:sp>
        <p:nvSpPr>
          <p:cNvPr id="21" name="Text 17"/>
          <p:cNvSpPr txBox="1"/>
          <p:nvPr/>
        </p:nvSpPr>
        <p:spPr>
          <a:xfrm>
            <a:off x="6236208" y="2286000"/>
            <a:ext cx="5303520" cy="201168"/>
          </a:xfrm>
          <a:prstGeom prst="rect">
            <a:avLst/>
          </a:prstGeom>
          <a:noFill/>
          <a:ln/>
        </p:spPr>
        <p:txBody>
          <a:bodyPr wrap="square" lIns="0" tIns="0" rIns="0" bIns="0" rtlCol="0" anchor="t"/>
          <a:lstStyle/>
          <a:p>
            <a:pPr algn="l" indent="0" marL="0">
              <a:buNone/>
            </a:pPr>
            <a:r>
              <a:rPr lang="en-US" sz="960" b="1" spc="130" kern="0" dirty="0">
                <a:solidFill>
                  <a:srgbClr val="243B53"/>
                </a:solidFill>
                <a:latin typeface="Aptos" pitchFamily="34" charset="0"/>
                <a:ea typeface="Aptos" pitchFamily="34" charset="-122"/>
                <a:cs typeface="Aptos" pitchFamily="34" charset="-120"/>
              </a:rPr>
              <a:t>LOS OCHO BLOQUES QUE DECLARA EL REQUISITO</a:t>
            </a:r>
            <a:endParaRPr lang="en-US" sz="960" dirty="0"/>
          </a:p>
        </p:txBody>
      </p:sp>
      <p:sp>
        <p:nvSpPr>
          <p:cNvPr id="22" name="Shape 18"/>
          <p:cNvSpPr/>
          <p:nvPr/>
        </p:nvSpPr>
        <p:spPr>
          <a:xfrm>
            <a:off x="6236208" y="2596896"/>
            <a:ext cx="566928" cy="566928"/>
          </a:xfrm>
          <a:prstGeom prst="rect">
            <a:avLst/>
          </a:prstGeom>
          <a:solidFill>
            <a:srgbClr val="F8E4E5"/>
          </a:solidFill>
          <a:ln w="12700">
            <a:solidFill>
              <a:srgbClr val="F8E4E5"/>
            </a:solidFill>
            <a:prstDash val="solid"/>
          </a:ln>
        </p:spPr>
      </p:sp>
      <p:sp>
        <p:nvSpPr>
          <p:cNvPr id="23" name="Shape 19"/>
          <p:cNvSpPr/>
          <p:nvPr/>
        </p:nvSpPr>
        <p:spPr>
          <a:xfrm>
            <a:off x="6236208" y="2596896"/>
            <a:ext cx="566928" cy="45720"/>
          </a:xfrm>
          <a:prstGeom prst="rect">
            <a:avLst/>
          </a:prstGeom>
          <a:solidFill>
            <a:srgbClr val="B3181E"/>
          </a:solidFill>
          <a:ln w="12700">
            <a:solidFill>
              <a:srgbClr val="B3181E"/>
            </a:solidFill>
            <a:prstDash val="solid"/>
          </a:ln>
        </p:spPr>
      </p:sp>
      <p:sp>
        <p:nvSpPr>
          <p:cNvPr id="24" name="Text 20"/>
          <p:cNvSpPr txBox="1"/>
          <p:nvPr/>
        </p:nvSpPr>
        <p:spPr>
          <a:xfrm>
            <a:off x="6236208" y="2651760"/>
            <a:ext cx="566928" cy="475488"/>
          </a:xfrm>
          <a:prstGeom prst="rect">
            <a:avLst/>
          </a:prstGeom>
          <a:noFill/>
          <a:ln/>
        </p:spPr>
        <p:txBody>
          <a:bodyPr wrap="square" lIns="0" tIns="0" rIns="0" bIns="0" rtlCol="0" anchor="ctr"/>
          <a:lstStyle/>
          <a:p>
            <a:pPr algn="ctr" indent="0" marL="0">
              <a:buNone/>
            </a:pPr>
            <a:r>
              <a:rPr lang="en-US" sz="2000" b="1" dirty="0">
                <a:solidFill>
                  <a:srgbClr val="B3181E"/>
                </a:solidFill>
                <a:latin typeface="Aptos Display" pitchFamily="34" charset="0"/>
                <a:ea typeface="Aptos Display" pitchFamily="34" charset="-122"/>
                <a:cs typeface="Aptos Display" pitchFamily="34" charset="-120"/>
              </a:rPr>
              <a:t>1</a:t>
            </a:r>
            <a:endParaRPr lang="en-US" sz="2000" dirty="0"/>
          </a:p>
        </p:txBody>
      </p:sp>
      <p:sp>
        <p:nvSpPr>
          <p:cNvPr id="25" name="Shape 21"/>
          <p:cNvSpPr/>
          <p:nvPr/>
        </p:nvSpPr>
        <p:spPr>
          <a:xfrm>
            <a:off x="6903720" y="2596896"/>
            <a:ext cx="566928" cy="566928"/>
          </a:xfrm>
          <a:prstGeom prst="rect">
            <a:avLst/>
          </a:prstGeom>
          <a:solidFill>
            <a:srgbClr val="F8E4E5"/>
          </a:solidFill>
          <a:ln w="12700">
            <a:solidFill>
              <a:srgbClr val="F8E4E5"/>
            </a:solidFill>
            <a:prstDash val="solid"/>
          </a:ln>
        </p:spPr>
      </p:sp>
      <p:sp>
        <p:nvSpPr>
          <p:cNvPr id="26" name="Shape 22"/>
          <p:cNvSpPr/>
          <p:nvPr/>
        </p:nvSpPr>
        <p:spPr>
          <a:xfrm>
            <a:off x="6903720" y="2596896"/>
            <a:ext cx="566928" cy="45720"/>
          </a:xfrm>
          <a:prstGeom prst="rect">
            <a:avLst/>
          </a:prstGeom>
          <a:solidFill>
            <a:srgbClr val="B3181E"/>
          </a:solidFill>
          <a:ln w="12700">
            <a:solidFill>
              <a:srgbClr val="B3181E"/>
            </a:solidFill>
            <a:prstDash val="solid"/>
          </a:ln>
        </p:spPr>
      </p:sp>
      <p:sp>
        <p:nvSpPr>
          <p:cNvPr id="27" name="Text 23"/>
          <p:cNvSpPr txBox="1"/>
          <p:nvPr/>
        </p:nvSpPr>
        <p:spPr>
          <a:xfrm>
            <a:off x="6903720" y="2651760"/>
            <a:ext cx="566928" cy="475488"/>
          </a:xfrm>
          <a:prstGeom prst="rect">
            <a:avLst/>
          </a:prstGeom>
          <a:noFill/>
          <a:ln/>
        </p:spPr>
        <p:txBody>
          <a:bodyPr wrap="square" lIns="0" tIns="0" rIns="0" bIns="0" rtlCol="0" anchor="ctr"/>
          <a:lstStyle/>
          <a:p>
            <a:pPr algn="ctr" indent="0" marL="0">
              <a:buNone/>
            </a:pPr>
            <a:r>
              <a:rPr lang="en-US" sz="2000" b="1" dirty="0">
                <a:solidFill>
                  <a:srgbClr val="B3181E"/>
                </a:solidFill>
                <a:latin typeface="Aptos Display" pitchFamily="34" charset="0"/>
                <a:ea typeface="Aptos Display" pitchFamily="34" charset="-122"/>
                <a:cs typeface="Aptos Display" pitchFamily="34" charset="-120"/>
              </a:rPr>
              <a:t>2</a:t>
            </a:r>
            <a:endParaRPr lang="en-US" sz="2000" dirty="0"/>
          </a:p>
        </p:txBody>
      </p:sp>
      <p:sp>
        <p:nvSpPr>
          <p:cNvPr id="28" name="Shape 24"/>
          <p:cNvSpPr/>
          <p:nvPr/>
        </p:nvSpPr>
        <p:spPr>
          <a:xfrm>
            <a:off x="7571232" y="2596896"/>
            <a:ext cx="566928" cy="566928"/>
          </a:xfrm>
          <a:prstGeom prst="rect">
            <a:avLst/>
          </a:prstGeom>
          <a:solidFill>
            <a:srgbClr val="E9F6EE"/>
          </a:solidFill>
          <a:ln w="12700">
            <a:solidFill>
              <a:srgbClr val="E9F6EE"/>
            </a:solidFill>
            <a:prstDash val="solid"/>
          </a:ln>
        </p:spPr>
      </p:sp>
      <p:sp>
        <p:nvSpPr>
          <p:cNvPr id="29" name="Shape 25"/>
          <p:cNvSpPr/>
          <p:nvPr/>
        </p:nvSpPr>
        <p:spPr>
          <a:xfrm>
            <a:off x="7571232" y="2596896"/>
            <a:ext cx="566928" cy="45720"/>
          </a:xfrm>
          <a:prstGeom prst="rect">
            <a:avLst/>
          </a:prstGeom>
          <a:solidFill>
            <a:srgbClr val="2E7D4F"/>
          </a:solidFill>
          <a:ln w="12700">
            <a:solidFill>
              <a:srgbClr val="2E7D4F"/>
            </a:solidFill>
            <a:prstDash val="solid"/>
          </a:ln>
        </p:spPr>
      </p:sp>
      <p:sp>
        <p:nvSpPr>
          <p:cNvPr id="30" name="Text 26"/>
          <p:cNvSpPr txBox="1"/>
          <p:nvPr/>
        </p:nvSpPr>
        <p:spPr>
          <a:xfrm>
            <a:off x="7571232" y="2651760"/>
            <a:ext cx="566928" cy="475488"/>
          </a:xfrm>
          <a:prstGeom prst="rect">
            <a:avLst/>
          </a:prstGeom>
          <a:noFill/>
          <a:ln/>
        </p:spPr>
        <p:txBody>
          <a:bodyPr wrap="square" lIns="0" tIns="0" rIns="0" bIns="0" rtlCol="0" anchor="ctr"/>
          <a:lstStyle/>
          <a:p>
            <a:pPr algn="ctr" indent="0" marL="0">
              <a:buNone/>
            </a:pPr>
            <a:r>
              <a:rPr lang="en-US" sz="2000" b="1" dirty="0">
                <a:solidFill>
                  <a:srgbClr val="2E7D4F"/>
                </a:solidFill>
                <a:latin typeface="Aptos Display" pitchFamily="34" charset="0"/>
                <a:ea typeface="Aptos Display" pitchFamily="34" charset="-122"/>
                <a:cs typeface="Aptos Display" pitchFamily="34" charset="-120"/>
              </a:rPr>
              <a:t>3</a:t>
            </a:r>
            <a:endParaRPr lang="en-US" sz="2000" dirty="0"/>
          </a:p>
        </p:txBody>
      </p:sp>
      <p:sp>
        <p:nvSpPr>
          <p:cNvPr id="31" name="Shape 27"/>
          <p:cNvSpPr/>
          <p:nvPr/>
        </p:nvSpPr>
        <p:spPr>
          <a:xfrm>
            <a:off x="8238744" y="2596896"/>
            <a:ext cx="566928" cy="566928"/>
          </a:xfrm>
          <a:prstGeom prst="rect">
            <a:avLst/>
          </a:prstGeom>
          <a:solidFill>
            <a:srgbClr val="F8E4E5"/>
          </a:solidFill>
          <a:ln w="12700">
            <a:solidFill>
              <a:srgbClr val="F8E4E5"/>
            </a:solidFill>
            <a:prstDash val="solid"/>
          </a:ln>
        </p:spPr>
      </p:sp>
      <p:sp>
        <p:nvSpPr>
          <p:cNvPr id="32" name="Shape 28"/>
          <p:cNvSpPr/>
          <p:nvPr/>
        </p:nvSpPr>
        <p:spPr>
          <a:xfrm>
            <a:off x="8238744" y="2596896"/>
            <a:ext cx="566928" cy="45720"/>
          </a:xfrm>
          <a:prstGeom prst="rect">
            <a:avLst/>
          </a:prstGeom>
          <a:solidFill>
            <a:srgbClr val="B3181E"/>
          </a:solidFill>
          <a:ln w="12700">
            <a:solidFill>
              <a:srgbClr val="B3181E"/>
            </a:solidFill>
            <a:prstDash val="solid"/>
          </a:ln>
        </p:spPr>
      </p:sp>
      <p:sp>
        <p:nvSpPr>
          <p:cNvPr id="33" name="Text 29"/>
          <p:cNvSpPr txBox="1"/>
          <p:nvPr/>
        </p:nvSpPr>
        <p:spPr>
          <a:xfrm>
            <a:off x="8238744" y="2651760"/>
            <a:ext cx="566928" cy="475488"/>
          </a:xfrm>
          <a:prstGeom prst="rect">
            <a:avLst/>
          </a:prstGeom>
          <a:noFill/>
          <a:ln/>
        </p:spPr>
        <p:txBody>
          <a:bodyPr wrap="square" lIns="0" tIns="0" rIns="0" bIns="0" rtlCol="0" anchor="ctr"/>
          <a:lstStyle/>
          <a:p>
            <a:pPr algn="ctr" indent="0" marL="0">
              <a:buNone/>
            </a:pPr>
            <a:r>
              <a:rPr lang="en-US" sz="2000" b="1" dirty="0">
                <a:solidFill>
                  <a:srgbClr val="B3181E"/>
                </a:solidFill>
                <a:latin typeface="Aptos Display" pitchFamily="34" charset="0"/>
                <a:ea typeface="Aptos Display" pitchFamily="34" charset="-122"/>
                <a:cs typeface="Aptos Display" pitchFamily="34" charset="-120"/>
              </a:rPr>
              <a:t>4</a:t>
            </a:r>
            <a:endParaRPr lang="en-US" sz="2000" dirty="0"/>
          </a:p>
        </p:txBody>
      </p:sp>
      <p:sp>
        <p:nvSpPr>
          <p:cNvPr id="34" name="Shape 30"/>
          <p:cNvSpPr/>
          <p:nvPr/>
        </p:nvSpPr>
        <p:spPr>
          <a:xfrm>
            <a:off x="8906256" y="2596896"/>
            <a:ext cx="566928" cy="566928"/>
          </a:xfrm>
          <a:prstGeom prst="rect">
            <a:avLst/>
          </a:prstGeom>
          <a:solidFill>
            <a:srgbClr val="F8E4E5"/>
          </a:solidFill>
          <a:ln w="12700">
            <a:solidFill>
              <a:srgbClr val="F8E4E5"/>
            </a:solidFill>
            <a:prstDash val="solid"/>
          </a:ln>
        </p:spPr>
      </p:sp>
      <p:sp>
        <p:nvSpPr>
          <p:cNvPr id="35" name="Shape 31"/>
          <p:cNvSpPr/>
          <p:nvPr/>
        </p:nvSpPr>
        <p:spPr>
          <a:xfrm>
            <a:off x="8906256" y="2596896"/>
            <a:ext cx="566928" cy="45720"/>
          </a:xfrm>
          <a:prstGeom prst="rect">
            <a:avLst/>
          </a:prstGeom>
          <a:solidFill>
            <a:srgbClr val="B3181E"/>
          </a:solidFill>
          <a:ln w="12700">
            <a:solidFill>
              <a:srgbClr val="B3181E"/>
            </a:solidFill>
            <a:prstDash val="solid"/>
          </a:ln>
        </p:spPr>
      </p:sp>
      <p:sp>
        <p:nvSpPr>
          <p:cNvPr id="36" name="Text 32"/>
          <p:cNvSpPr txBox="1"/>
          <p:nvPr/>
        </p:nvSpPr>
        <p:spPr>
          <a:xfrm>
            <a:off x="8906256" y="2651760"/>
            <a:ext cx="566928" cy="475488"/>
          </a:xfrm>
          <a:prstGeom prst="rect">
            <a:avLst/>
          </a:prstGeom>
          <a:noFill/>
          <a:ln/>
        </p:spPr>
        <p:txBody>
          <a:bodyPr wrap="square" lIns="0" tIns="0" rIns="0" bIns="0" rtlCol="0" anchor="ctr"/>
          <a:lstStyle/>
          <a:p>
            <a:pPr algn="ctr" indent="0" marL="0">
              <a:buNone/>
            </a:pPr>
            <a:r>
              <a:rPr lang="en-US" sz="2000" b="1" dirty="0">
                <a:solidFill>
                  <a:srgbClr val="B3181E"/>
                </a:solidFill>
                <a:latin typeface="Aptos Display" pitchFamily="34" charset="0"/>
                <a:ea typeface="Aptos Display" pitchFamily="34" charset="-122"/>
                <a:cs typeface="Aptos Display" pitchFamily="34" charset="-120"/>
              </a:rPr>
              <a:t>5</a:t>
            </a:r>
            <a:endParaRPr lang="en-US" sz="2000" dirty="0"/>
          </a:p>
        </p:txBody>
      </p:sp>
      <p:sp>
        <p:nvSpPr>
          <p:cNvPr id="37" name="Shape 33"/>
          <p:cNvSpPr/>
          <p:nvPr/>
        </p:nvSpPr>
        <p:spPr>
          <a:xfrm>
            <a:off x="9573768" y="2596896"/>
            <a:ext cx="566928" cy="566928"/>
          </a:xfrm>
          <a:prstGeom prst="rect">
            <a:avLst/>
          </a:prstGeom>
          <a:solidFill>
            <a:srgbClr val="F8E4E5"/>
          </a:solidFill>
          <a:ln w="12700">
            <a:solidFill>
              <a:srgbClr val="F8E4E5"/>
            </a:solidFill>
            <a:prstDash val="solid"/>
          </a:ln>
        </p:spPr>
      </p:sp>
      <p:sp>
        <p:nvSpPr>
          <p:cNvPr id="38" name="Shape 34"/>
          <p:cNvSpPr/>
          <p:nvPr/>
        </p:nvSpPr>
        <p:spPr>
          <a:xfrm>
            <a:off x="9573768" y="2596896"/>
            <a:ext cx="566928" cy="45720"/>
          </a:xfrm>
          <a:prstGeom prst="rect">
            <a:avLst/>
          </a:prstGeom>
          <a:solidFill>
            <a:srgbClr val="B3181E"/>
          </a:solidFill>
          <a:ln w="12700">
            <a:solidFill>
              <a:srgbClr val="B3181E"/>
            </a:solidFill>
            <a:prstDash val="solid"/>
          </a:ln>
        </p:spPr>
      </p:sp>
      <p:sp>
        <p:nvSpPr>
          <p:cNvPr id="39" name="Text 35"/>
          <p:cNvSpPr txBox="1"/>
          <p:nvPr/>
        </p:nvSpPr>
        <p:spPr>
          <a:xfrm>
            <a:off x="9573768" y="2651760"/>
            <a:ext cx="566928" cy="475488"/>
          </a:xfrm>
          <a:prstGeom prst="rect">
            <a:avLst/>
          </a:prstGeom>
          <a:noFill/>
          <a:ln/>
        </p:spPr>
        <p:txBody>
          <a:bodyPr wrap="square" lIns="0" tIns="0" rIns="0" bIns="0" rtlCol="0" anchor="ctr"/>
          <a:lstStyle/>
          <a:p>
            <a:pPr algn="ctr" indent="0" marL="0">
              <a:buNone/>
            </a:pPr>
            <a:r>
              <a:rPr lang="en-US" sz="2000" b="1" dirty="0">
                <a:solidFill>
                  <a:srgbClr val="B3181E"/>
                </a:solidFill>
                <a:latin typeface="Aptos Display" pitchFamily="34" charset="0"/>
                <a:ea typeface="Aptos Display" pitchFamily="34" charset="-122"/>
                <a:cs typeface="Aptos Display" pitchFamily="34" charset="-120"/>
              </a:rPr>
              <a:t>6</a:t>
            </a:r>
            <a:endParaRPr lang="en-US" sz="2000" dirty="0"/>
          </a:p>
        </p:txBody>
      </p:sp>
      <p:sp>
        <p:nvSpPr>
          <p:cNvPr id="40" name="Shape 36"/>
          <p:cNvSpPr/>
          <p:nvPr/>
        </p:nvSpPr>
        <p:spPr>
          <a:xfrm>
            <a:off x="10241280" y="2596896"/>
            <a:ext cx="566928" cy="566928"/>
          </a:xfrm>
          <a:prstGeom prst="rect">
            <a:avLst/>
          </a:prstGeom>
          <a:solidFill>
            <a:srgbClr val="F8E4E5"/>
          </a:solidFill>
          <a:ln w="12700">
            <a:solidFill>
              <a:srgbClr val="F8E4E5"/>
            </a:solidFill>
            <a:prstDash val="solid"/>
          </a:ln>
        </p:spPr>
      </p:sp>
      <p:sp>
        <p:nvSpPr>
          <p:cNvPr id="41" name="Shape 37"/>
          <p:cNvSpPr/>
          <p:nvPr/>
        </p:nvSpPr>
        <p:spPr>
          <a:xfrm>
            <a:off x="10241280" y="2596896"/>
            <a:ext cx="566928" cy="45720"/>
          </a:xfrm>
          <a:prstGeom prst="rect">
            <a:avLst/>
          </a:prstGeom>
          <a:solidFill>
            <a:srgbClr val="B3181E"/>
          </a:solidFill>
          <a:ln w="12700">
            <a:solidFill>
              <a:srgbClr val="B3181E"/>
            </a:solidFill>
            <a:prstDash val="solid"/>
          </a:ln>
        </p:spPr>
      </p:sp>
      <p:sp>
        <p:nvSpPr>
          <p:cNvPr id="42" name="Text 38"/>
          <p:cNvSpPr txBox="1"/>
          <p:nvPr/>
        </p:nvSpPr>
        <p:spPr>
          <a:xfrm>
            <a:off x="10241280" y="2651760"/>
            <a:ext cx="566928" cy="475488"/>
          </a:xfrm>
          <a:prstGeom prst="rect">
            <a:avLst/>
          </a:prstGeom>
          <a:noFill/>
          <a:ln/>
        </p:spPr>
        <p:txBody>
          <a:bodyPr wrap="square" lIns="0" tIns="0" rIns="0" bIns="0" rtlCol="0" anchor="ctr"/>
          <a:lstStyle/>
          <a:p>
            <a:pPr algn="ctr" indent="0" marL="0">
              <a:buNone/>
            </a:pPr>
            <a:r>
              <a:rPr lang="en-US" sz="2000" b="1" dirty="0">
                <a:solidFill>
                  <a:srgbClr val="B3181E"/>
                </a:solidFill>
                <a:latin typeface="Aptos Display" pitchFamily="34" charset="0"/>
                <a:ea typeface="Aptos Display" pitchFamily="34" charset="-122"/>
                <a:cs typeface="Aptos Display" pitchFamily="34" charset="-120"/>
              </a:rPr>
              <a:t>7</a:t>
            </a:r>
            <a:endParaRPr lang="en-US" sz="2000" dirty="0"/>
          </a:p>
        </p:txBody>
      </p:sp>
      <p:sp>
        <p:nvSpPr>
          <p:cNvPr id="43" name="Shape 39"/>
          <p:cNvSpPr/>
          <p:nvPr/>
        </p:nvSpPr>
        <p:spPr>
          <a:xfrm>
            <a:off x="10908792" y="2596896"/>
            <a:ext cx="566928" cy="566928"/>
          </a:xfrm>
          <a:prstGeom prst="rect">
            <a:avLst/>
          </a:prstGeom>
          <a:solidFill>
            <a:srgbClr val="F8E4E5"/>
          </a:solidFill>
          <a:ln w="12700">
            <a:solidFill>
              <a:srgbClr val="F8E4E5"/>
            </a:solidFill>
            <a:prstDash val="solid"/>
          </a:ln>
        </p:spPr>
      </p:sp>
      <p:sp>
        <p:nvSpPr>
          <p:cNvPr id="44" name="Shape 40"/>
          <p:cNvSpPr/>
          <p:nvPr/>
        </p:nvSpPr>
        <p:spPr>
          <a:xfrm>
            <a:off x="10908792" y="2596896"/>
            <a:ext cx="566928" cy="45720"/>
          </a:xfrm>
          <a:prstGeom prst="rect">
            <a:avLst/>
          </a:prstGeom>
          <a:solidFill>
            <a:srgbClr val="B3181E"/>
          </a:solidFill>
          <a:ln w="12700">
            <a:solidFill>
              <a:srgbClr val="B3181E"/>
            </a:solidFill>
            <a:prstDash val="solid"/>
          </a:ln>
        </p:spPr>
      </p:sp>
      <p:sp>
        <p:nvSpPr>
          <p:cNvPr id="45" name="Text 41"/>
          <p:cNvSpPr txBox="1"/>
          <p:nvPr/>
        </p:nvSpPr>
        <p:spPr>
          <a:xfrm>
            <a:off x="10908792" y="2651760"/>
            <a:ext cx="566928" cy="475488"/>
          </a:xfrm>
          <a:prstGeom prst="rect">
            <a:avLst/>
          </a:prstGeom>
          <a:noFill/>
          <a:ln/>
        </p:spPr>
        <p:txBody>
          <a:bodyPr wrap="square" lIns="0" tIns="0" rIns="0" bIns="0" rtlCol="0" anchor="ctr"/>
          <a:lstStyle/>
          <a:p>
            <a:pPr algn="ctr" indent="0" marL="0">
              <a:buNone/>
            </a:pPr>
            <a:r>
              <a:rPr lang="en-US" sz="2000" b="1" dirty="0">
                <a:solidFill>
                  <a:srgbClr val="B3181E"/>
                </a:solidFill>
                <a:latin typeface="Aptos Display" pitchFamily="34" charset="0"/>
                <a:ea typeface="Aptos Display" pitchFamily="34" charset="-122"/>
                <a:cs typeface="Aptos Display" pitchFamily="34" charset="-120"/>
              </a:rPr>
              <a:t>8</a:t>
            </a:r>
            <a:endParaRPr lang="en-US" sz="2000" dirty="0"/>
          </a:p>
        </p:txBody>
      </p:sp>
      <p:sp>
        <p:nvSpPr>
          <p:cNvPr id="46" name="Text 42"/>
          <p:cNvSpPr txBox="1"/>
          <p:nvPr/>
        </p:nvSpPr>
        <p:spPr>
          <a:xfrm>
            <a:off x="6236208" y="3310128"/>
            <a:ext cx="5303520" cy="256032"/>
          </a:xfrm>
          <a:prstGeom prst="rect">
            <a:avLst/>
          </a:prstGeom>
          <a:noFill/>
          <a:ln/>
        </p:spPr>
        <p:txBody>
          <a:bodyPr wrap="square" lIns="0" tIns="0" rIns="0" bIns="0" rtlCol="0" anchor="t"/>
          <a:lstStyle/>
          <a:p>
            <a:pPr algn="l" indent="0" marL="0">
              <a:buNone/>
            </a:pPr>
            <a:r>
              <a:rPr lang="en-US" sz="1340" b="1" dirty="0">
                <a:solidFill>
                  <a:srgbClr val="B3181E"/>
                </a:solidFill>
                <a:latin typeface="Aptos" pitchFamily="34" charset="0"/>
                <a:ea typeface="Aptos" pitchFamily="34" charset="-122"/>
                <a:cs typeface="Aptos" pitchFamily="34" charset="-120"/>
              </a:rPr>
              <a:t>Probado: 1 de 8.  Sin ejecutar nunca: 7 de 8.</a:t>
            </a:r>
            <a:endParaRPr lang="en-US" sz="1340" dirty="0"/>
          </a:p>
        </p:txBody>
      </p:sp>
      <p:sp>
        <p:nvSpPr>
          <p:cNvPr id="47" name="Text 43"/>
          <p:cNvSpPr txBox="1"/>
          <p:nvPr/>
        </p:nvSpPr>
        <p:spPr>
          <a:xfrm>
            <a:off x="6236208" y="3639312"/>
            <a:ext cx="5303520" cy="420624"/>
          </a:xfrm>
          <a:prstGeom prst="rect">
            <a:avLst/>
          </a:prstGeom>
          <a:noFill/>
          <a:ln/>
        </p:spPr>
        <p:txBody>
          <a:bodyPr wrap="square" lIns="0" tIns="0" rIns="0" bIns="0" rtlCol="0" anchor="t"/>
          <a:lstStyle/>
          <a:p>
            <a:pPr algn="l" indent="0" marL="0">
              <a:lnSpc>
                <a:spcPct val="116000"/>
              </a:lnSpc>
              <a:buNone/>
            </a:pPr>
            <a:r>
              <a:rPr lang="en-US" sz="1280" dirty="0">
                <a:solidFill>
                  <a:srgbClr val="243B53"/>
                </a:solidFill>
                <a:latin typeface="Aptos" pitchFamily="34" charset="0"/>
                <a:ea typeface="Aptos" pitchFamily="34" charset="-122"/>
                <a:cs typeface="Aptos" pitchFamily="34" charset="-120"/>
              </a:rPr>
              <a:t>El defecto vive en el bloque 8, que es una de las siete casillas que ninguna prueba tocó.</a:t>
            </a:r>
            <a:endParaRPr lang="en-US" sz="1280" dirty="0"/>
          </a:p>
        </p:txBody>
      </p:sp>
      <p:sp>
        <p:nvSpPr>
          <p:cNvPr id="48" name="Shape 44"/>
          <p:cNvSpPr/>
          <p:nvPr/>
        </p:nvSpPr>
        <p:spPr>
          <a:xfrm>
            <a:off x="658368" y="4315968"/>
            <a:ext cx="10874959" cy="969264"/>
          </a:xfrm>
          <a:prstGeom prst="rect">
            <a:avLst/>
          </a:prstGeom>
          <a:solidFill>
            <a:srgbClr val="FFFFFF"/>
          </a:solidFill>
          <a:ln w="12700">
            <a:solidFill>
              <a:srgbClr val="FFFFFF"/>
            </a:solidFill>
            <a:prstDash val="solid"/>
          </a:ln>
        </p:spPr>
      </p:sp>
      <p:sp>
        <p:nvSpPr>
          <p:cNvPr id="49" name="Shape 45"/>
          <p:cNvSpPr/>
          <p:nvPr/>
        </p:nvSpPr>
        <p:spPr>
          <a:xfrm>
            <a:off x="658368" y="4315968"/>
            <a:ext cx="64008" cy="969264"/>
          </a:xfrm>
          <a:prstGeom prst="rect">
            <a:avLst/>
          </a:prstGeom>
          <a:solidFill>
            <a:srgbClr val="102A43"/>
          </a:solidFill>
          <a:ln w="12700">
            <a:solidFill>
              <a:srgbClr val="102A43"/>
            </a:solidFill>
            <a:prstDash val="solid"/>
          </a:ln>
        </p:spPr>
      </p:sp>
      <p:sp>
        <p:nvSpPr>
          <p:cNvPr id="50" name="Text 46"/>
          <p:cNvSpPr txBox="1"/>
          <p:nvPr/>
        </p:nvSpPr>
        <p:spPr>
          <a:xfrm>
            <a:off x="987552" y="4498848"/>
            <a:ext cx="457200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LO QUE ESTO NO SIGNIFICA</a:t>
            </a:r>
            <a:endParaRPr lang="en-US" sz="960" dirty="0"/>
          </a:p>
        </p:txBody>
      </p:sp>
      <p:sp>
        <p:nvSpPr>
          <p:cNvPr id="51" name="Text 47"/>
          <p:cNvSpPr txBox="1"/>
          <p:nvPr/>
        </p:nvSpPr>
        <p:spPr>
          <a:xfrm>
            <a:off x="987552" y="4736592"/>
            <a:ext cx="10216591" cy="493776"/>
          </a:xfrm>
          <a:prstGeom prst="rect">
            <a:avLst/>
          </a:prstGeom>
          <a:noFill/>
          <a:ln/>
        </p:spPr>
        <p:txBody>
          <a:bodyPr wrap="square" lIns="0" tIns="0" rIns="0" bIns="0" rtlCol="0" anchor="t"/>
          <a:lstStyle/>
          <a:p>
            <a:pPr algn="l" indent="0" marL="0">
              <a:lnSpc>
                <a:spcPct val="114000"/>
              </a:lnSpc>
              <a:buNone/>
            </a:pPr>
            <a:r>
              <a:rPr lang="en-US" sz="1260" dirty="0">
                <a:solidFill>
                  <a:srgbClr val="243B53"/>
                </a:solidFill>
                <a:latin typeface="Aptos" pitchFamily="34" charset="0"/>
                <a:ea typeface="Aptos" pitchFamily="34" charset="-122"/>
                <a:cs typeface="Aptos" pitchFamily="34" charset="-120"/>
              </a:rPr>
              <a:t>No son tres pruebas idénticas: una comprueba un bloque ocupado y otra el máximo semanal.</a:t>
            </a:r>
            <a:endParaRPr lang="en-US" sz="1260" dirty="0"/>
          </a:p>
          <a:p>
            <a:pPr algn="l" indent="0" marL="0">
              <a:lnSpc>
                <a:spcPct val="114000"/>
              </a:lnSpc>
              <a:buNone/>
            </a:pPr>
            <a:r>
              <a:rPr lang="en-US" sz="1260" dirty="0">
                <a:solidFill>
                  <a:srgbClr val="243B53"/>
                </a:solidFill>
                <a:latin typeface="Aptos" pitchFamily="34" charset="0"/>
                <a:ea typeface="Aptos" pitchFamily="34" charset="-122"/>
                <a:cs typeface="Aptos" pitchFamily="34" charset="-120"/>
              </a:rPr>
              <a:t>Lo que falta es variedad en una dimensión concreta, y por eso hay que decir siempre qué parámetro se está clasificando.</a:t>
            </a:r>
            <a:endParaRPr lang="en-US" sz="1260" dirty="0"/>
          </a:p>
        </p:txBody>
      </p:sp>
      <p:sp>
        <p:nvSpPr>
          <p:cNvPr id="52" name="Shape 48"/>
          <p:cNvSpPr/>
          <p:nvPr/>
        </p:nvSpPr>
        <p:spPr>
          <a:xfrm>
            <a:off x="658368" y="5522976"/>
            <a:ext cx="10874959" cy="530352"/>
          </a:xfrm>
          <a:prstGeom prst="rect">
            <a:avLst/>
          </a:prstGeom>
          <a:solidFill>
            <a:srgbClr val="102A43"/>
          </a:solidFill>
          <a:ln w="12700">
            <a:solidFill>
              <a:srgbClr val="102A43"/>
            </a:solidFill>
            <a:prstDash val="solid"/>
          </a:ln>
        </p:spPr>
      </p:sp>
      <p:sp>
        <p:nvSpPr>
          <p:cNvPr id="53" name="Text 49"/>
          <p:cNvSpPr txBox="1"/>
          <p:nvPr/>
        </p:nvSpPr>
        <p:spPr>
          <a:xfrm>
            <a:off x="969264" y="5559552"/>
            <a:ext cx="10253167" cy="457200"/>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Cuatrocientas pruebas sobre ese mismo valor habrían sido igual de ciegas. La cantidad no es la medida.</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12</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LEER Y PREDECIR</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Antes de medir nada: ¿cuántas entradas acepta?</a:t>
            </a:r>
            <a:endParaRPr lang="en-US" sz="3000" dirty="0"/>
          </a:p>
        </p:txBody>
      </p:sp>
      <p:sp>
        <p:nvSpPr>
          <p:cNvPr id="10" name="Text 7"/>
          <p:cNvSpPr txBox="1"/>
          <p:nvPr/>
        </p:nvSpPr>
        <p:spPr>
          <a:xfrm>
            <a:off x="658368" y="1773936"/>
            <a:ext cx="72237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Ya se sabe qué significa cada argumento. Falta cuántos valores distintos admite cada uno.</a:t>
            </a:r>
            <a:endParaRPr lang="en-US" sz="1450" dirty="0"/>
          </a:p>
        </p:txBody>
      </p:sp>
      <p:sp>
        <p:nvSpPr>
          <p:cNvPr id="11" name="Shape 8"/>
          <p:cNvSpPr/>
          <p:nvPr/>
        </p:nvSpPr>
        <p:spPr>
          <a:xfrm>
            <a:off x="8165592" y="1883664"/>
            <a:ext cx="1060704" cy="274320"/>
          </a:xfrm>
          <a:prstGeom prst="rect">
            <a:avLst/>
          </a:prstGeom>
          <a:solidFill>
            <a:srgbClr val="EDE6DA"/>
          </a:solidFill>
          <a:ln w="12700">
            <a:solidFill>
              <a:srgbClr val="EDE6DA"/>
            </a:solidFill>
            <a:prstDash val="solid"/>
          </a:ln>
        </p:spPr>
      </p:sp>
      <p:sp>
        <p:nvSpPr>
          <p:cNvPr id="12" name="Text 9"/>
          <p:cNvSpPr txBox="1"/>
          <p:nvPr/>
        </p:nvSpPr>
        <p:spPr>
          <a:xfrm>
            <a:off x="8165592"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Leer</a:t>
            </a:r>
            <a:endParaRPr lang="en-US" sz="940" dirty="0"/>
          </a:p>
        </p:txBody>
      </p:sp>
      <p:sp>
        <p:nvSpPr>
          <p:cNvPr id="13" name="Shape 10"/>
          <p:cNvSpPr/>
          <p:nvPr/>
        </p:nvSpPr>
        <p:spPr>
          <a:xfrm>
            <a:off x="9317736" y="1883664"/>
            <a:ext cx="1060704" cy="274320"/>
          </a:xfrm>
          <a:prstGeom prst="rect">
            <a:avLst/>
          </a:prstGeom>
          <a:solidFill>
            <a:srgbClr val="102A43"/>
          </a:solidFill>
          <a:ln w="12700">
            <a:solidFill>
              <a:srgbClr val="102A43"/>
            </a:solidFill>
            <a:prstDash val="solid"/>
          </a:ln>
        </p:spPr>
      </p:sp>
      <p:sp>
        <p:nvSpPr>
          <p:cNvPr id="14" name="Text 11"/>
          <p:cNvSpPr txBox="1"/>
          <p:nvPr/>
        </p:nvSpPr>
        <p:spPr>
          <a:xfrm>
            <a:off x="9317736"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FFFFFF"/>
                </a:solidFill>
                <a:latin typeface="Aptos" pitchFamily="34" charset="0"/>
                <a:ea typeface="Aptos" pitchFamily="34" charset="-122"/>
                <a:cs typeface="Aptos" pitchFamily="34" charset="-120"/>
              </a:rPr>
              <a:t>Predecir</a:t>
            </a:r>
            <a:endParaRPr lang="en-US" sz="940" dirty="0"/>
          </a:p>
        </p:txBody>
      </p:sp>
      <p:sp>
        <p:nvSpPr>
          <p:cNvPr id="15" name="Shape 12"/>
          <p:cNvSpPr/>
          <p:nvPr/>
        </p:nvSpPr>
        <p:spPr>
          <a:xfrm>
            <a:off x="10469880" y="1883664"/>
            <a:ext cx="1060704" cy="274320"/>
          </a:xfrm>
          <a:prstGeom prst="rect">
            <a:avLst/>
          </a:prstGeom>
          <a:solidFill>
            <a:srgbClr val="EDE6DA"/>
          </a:solidFill>
          <a:ln w="12700">
            <a:solidFill>
              <a:srgbClr val="EDE6DA"/>
            </a:solidFill>
            <a:prstDash val="solid"/>
          </a:ln>
        </p:spPr>
      </p:sp>
      <p:sp>
        <p:nvSpPr>
          <p:cNvPr id="16" name="Text 13"/>
          <p:cNvSpPr txBox="1"/>
          <p:nvPr/>
        </p:nvSpPr>
        <p:spPr>
          <a:xfrm>
            <a:off x="10469880"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Comprobar</a:t>
            </a:r>
            <a:endParaRPr lang="en-US" sz="940" dirty="0"/>
          </a:p>
        </p:txBody>
      </p:sp>
      <p:sp>
        <p:nvSpPr>
          <p:cNvPr id="17" name="Shape 14"/>
          <p:cNvSpPr/>
          <p:nvPr/>
        </p:nvSpPr>
        <p:spPr>
          <a:xfrm>
            <a:off x="658368" y="2286000"/>
            <a:ext cx="6035040" cy="2011680"/>
          </a:xfrm>
          <a:prstGeom prst="roundRect">
            <a:avLst>
              <a:gd name="adj" fmla="val 1818"/>
            </a:avLst>
          </a:prstGeom>
          <a:solidFill>
            <a:srgbClr val="102A43"/>
          </a:solidFill>
          <a:ln w="12700">
            <a:solidFill>
              <a:srgbClr val="102A43"/>
            </a:solidFill>
            <a:prstDash val="solid"/>
          </a:ln>
        </p:spPr>
      </p:sp>
      <p:sp>
        <p:nvSpPr>
          <p:cNvPr id="18" name="Shape 15"/>
          <p:cNvSpPr/>
          <p:nvPr/>
        </p:nvSpPr>
        <p:spPr>
          <a:xfrm>
            <a:off x="786384" y="2395728"/>
            <a:ext cx="5779008" cy="310896"/>
          </a:xfrm>
          <a:prstGeom prst="roundRect">
            <a:avLst>
              <a:gd name="adj" fmla="val 8824"/>
            </a:avLst>
          </a:prstGeom>
          <a:solidFill>
            <a:srgbClr val="284B75"/>
          </a:solidFill>
          <a:ln w="12700">
            <a:solidFill>
              <a:srgbClr val="284B75"/>
            </a:solidFill>
            <a:prstDash val="solid"/>
          </a:ln>
        </p:spPr>
      </p:sp>
      <p:sp>
        <p:nvSpPr>
          <p:cNvPr id="19" name="Text 16"/>
          <p:cNvSpPr/>
          <p:nvPr/>
        </p:nvSpPr>
        <p:spPr>
          <a:xfrm>
            <a:off x="896112" y="2468880"/>
            <a:ext cx="555955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src/reservas.py</a:t>
            </a:r>
            <a:endParaRPr lang="en-US" sz="100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5614416" cy="1261872"/>
          </a:xfrm>
          <a:prstGeom prst="rect">
            <a:avLst/>
          </a:prstGeom>
        </p:spPr>
      </p:pic>
      <p:sp>
        <p:nvSpPr>
          <p:cNvPr id="21" name="Shape 17"/>
          <p:cNvSpPr/>
          <p:nvPr/>
        </p:nvSpPr>
        <p:spPr>
          <a:xfrm>
            <a:off x="6876288" y="2286000"/>
            <a:ext cx="4654296" cy="603504"/>
          </a:xfrm>
          <a:prstGeom prst="rect">
            <a:avLst/>
          </a:prstGeom>
          <a:solidFill>
            <a:srgbClr val="FFFFFF"/>
          </a:solidFill>
          <a:ln w="12700">
            <a:solidFill>
              <a:srgbClr val="FFFFFF"/>
            </a:solidFill>
            <a:prstDash val="solid"/>
          </a:ln>
        </p:spPr>
      </p:sp>
      <p:sp>
        <p:nvSpPr>
          <p:cNvPr id="22" name="Shape 18"/>
          <p:cNvSpPr/>
          <p:nvPr/>
        </p:nvSpPr>
        <p:spPr>
          <a:xfrm>
            <a:off x="6876288" y="2286000"/>
            <a:ext cx="54864" cy="603504"/>
          </a:xfrm>
          <a:prstGeom prst="rect">
            <a:avLst/>
          </a:prstGeom>
          <a:solidFill>
            <a:srgbClr val="102A43"/>
          </a:solidFill>
          <a:ln w="12700">
            <a:solidFill>
              <a:srgbClr val="102A43"/>
            </a:solidFill>
            <a:prstDash val="solid"/>
          </a:ln>
        </p:spPr>
      </p:sp>
      <p:sp>
        <p:nvSpPr>
          <p:cNvPr id="23" name="Text 19"/>
          <p:cNvSpPr txBox="1"/>
          <p:nvPr/>
        </p:nvSpPr>
        <p:spPr>
          <a:xfrm>
            <a:off x="7150608" y="2359152"/>
            <a:ext cx="4206240" cy="219456"/>
          </a:xfrm>
          <a:prstGeom prst="rect">
            <a:avLst/>
          </a:prstGeom>
          <a:noFill/>
          <a:ln/>
        </p:spPr>
        <p:txBody>
          <a:bodyPr wrap="square" lIns="0" tIns="0" rIns="0" bIns="0" rtlCol="0" anchor="t"/>
          <a:lstStyle/>
          <a:p>
            <a:pPr algn="l" indent="0" marL="0">
              <a:buNone/>
            </a:pPr>
            <a:r>
              <a:rPr lang="en-US" sz="1200" b="1" dirty="0">
                <a:solidFill>
                  <a:srgbClr val="102A43"/>
                </a:solidFill>
                <a:latin typeface="Consolas" pitchFamily="34" charset="0"/>
                <a:ea typeface="Consolas" pitchFamily="34" charset="-122"/>
                <a:cs typeface="Consolas" pitchFamily="34" charset="-120"/>
              </a:rPr>
              <a:t>reservas_de_la_semana: int</a:t>
            </a:r>
            <a:endParaRPr lang="en-US" sz="1200" dirty="0"/>
          </a:p>
        </p:txBody>
      </p:sp>
      <p:sp>
        <p:nvSpPr>
          <p:cNvPr id="24" name="Text 20"/>
          <p:cNvSpPr txBox="1"/>
          <p:nvPr/>
        </p:nvSpPr>
        <p:spPr>
          <a:xfrm>
            <a:off x="7150608" y="2596896"/>
            <a:ext cx="4206240" cy="237744"/>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El requisito habla de 0, 1, 2 o 3. La firma no dice eso.</a:t>
            </a:r>
            <a:endParaRPr lang="en-US" sz="1160" dirty="0"/>
          </a:p>
        </p:txBody>
      </p:sp>
      <p:sp>
        <p:nvSpPr>
          <p:cNvPr id="25" name="Shape 21"/>
          <p:cNvSpPr/>
          <p:nvPr/>
        </p:nvSpPr>
        <p:spPr>
          <a:xfrm>
            <a:off x="6876288" y="2980944"/>
            <a:ext cx="4654296" cy="603504"/>
          </a:xfrm>
          <a:prstGeom prst="rect">
            <a:avLst/>
          </a:prstGeom>
          <a:solidFill>
            <a:srgbClr val="FFFFFF"/>
          </a:solidFill>
          <a:ln w="12700">
            <a:solidFill>
              <a:srgbClr val="FFFFFF"/>
            </a:solidFill>
            <a:prstDash val="solid"/>
          </a:ln>
        </p:spPr>
      </p:sp>
      <p:sp>
        <p:nvSpPr>
          <p:cNvPr id="26" name="Shape 22"/>
          <p:cNvSpPr/>
          <p:nvPr/>
        </p:nvSpPr>
        <p:spPr>
          <a:xfrm>
            <a:off x="6876288" y="2980944"/>
            <a:ext cx="54864" cy="603504"/>
          </a:xfrm>
          <a:prstGeom prst="rect">
            <a:avLst/>
          </a:prstGeom>
          <a:solidFill>
            <a:srgbClr val="B3181E"/>
          </a:solidFill>
          <a:ln w="12700">
            <a:solidFill>
              <a:srgbClr val="B3181E"/>
            </a:solidFill>
            <a:prstDash val="solid"/>
          </a:ln>
        </p:spPr>
      </p:sp>
      <p:sp>
        <p:nvSpPr>
          <p:cNvPr id="27" name="Text 23"/>
          <p:cNvSpPr txBox="1"/>
          <p:nvPr/>
        </p:nvSpPr>
        <p:spPr>
          <a:xfrm>
            <a:off x="7150608" y="3054096"/>
            <a:ext cx="4206240" cy="219456"/>
          </a:xfrm>
          <a:prstGeom prst="rect">
            <a:avLst/>
          </a:prstGeom>
          <a:noFill/>
          <a:ln/>
        </p:spPr>
        <p:txBody>
          <a:bodyPr wrap="square" lIns="0" tIns="0" rIns="0" bIns="0" rtlCol="0" anchor="t"/>
          <a:lstStyle/>
          <a:p>
            <a:pPr algn="l" indent="0" marL="0">
              <a:buNone/>
            </a:pPr>
            <a:r>
              <a:rPr lang="en-US" sz="1200" b="1" dirty="0">
                <a:solidFill>
                  <a:srgbClr val="B3181E"/>
                </a:solidFill>
                <a:latin typeface="Consolas" pitchFamily="34" charset="0"/>
                <a:ea typeface="Consolas" pitchFamily="34" charset="-122"/>
                <a:cs typeface="Consolas" pitchFamily="34" charset="-120"/>
              </a:rPr>
              <a:t>bloque: int</a:t>
            </a:r>
            <a:endParaRPr lang="en-US" sz="1200" dirty="0"/>
          </a:p>
        </p:txBody>
      </p:sp>
      <p:sp>
        <p:nvSpPr>
          <p:cNvPr id="28" name="Text 24"/>
          <p:cNvSpPr txBox="1"/>
          <p:nvPr/>
        </p:nvSpPr>
        <p:spPr>
          <a:xfrm>
            <a:off x="7150608" y="3291840"/>
            <a:ext cx="4206240" cy="237744"/>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No dice «del 1 al 8». Dice «cualquier entero».</a:t>
            </a:r>
            <a:endParaRPr lang="en-US" sz="1160" dirty="0"/>
          </a:p>
        </p:txBody>
      </p:sp>
      <p:sp>
        <p:nvSpPr>
          <p:cNvPr id="29" name="Shape 25"/>
          <p:cNvSpPr/>
          <p:nvPr/>
        </p:nvSpPr>
        <p:spPr>
          <a:xfrm>
            <a:off x="6876288" y="3675888"/>
            <a:ext cx="4654296" cy="603504"/>
          </a:xfrm>
          <a:prstGeom prst="rect">
            <a:avLst/>
          </a:prstGeom>
          <a:solidFill>
            <a:srgbClr val="FFFFFF"/>
          </a:solidFill>
          <a:ln w="12700">
            <a:solidFill>
              <a:srgbClr val="FFFFFF"/>
            </a:solidFill>
            <a:prstDash val="solid"/>
          </a:ln>
        </p:spPr>
      </p:sp>
      <p:sp>
        <p:nvSpPr>
          <p:cNvPr id="30" name="Shape 26"/>
          <p:cNvSpPr/>
          <p:nvPr/>
        </p:nvSpPr>
        <p:spPr>
          <a:xfrm>
            <a:off x="6876288" y="3675888"/>
            <a:ext cx="54864" cy="603504"/>
          </a:xfrm>
          <a:prstGeom prst="rect">
            <a:avLst/>
          </a:prstGeom>
          <a:solidFill>
            <a:srgbClr val="2E7D4F"/>
          </a:solidFill>
          <a:ln w="12700">
            <a:solidFill>
              <a:srgbClr val="2E7D4F"/>
            </a:solidFill>
            <a:prstDash val="solid"/>
          </a:ln>
        </p:spPr>
      </p:sp>
      <p:sp>
        <p:nvSpPr>
          <p:cNvPr id="31" name="Text 27"/>
          <p:cNvSpPr txBox="1"/>
          <p:nvPr/>
        </p:nvSpPr>
        <p:spPr>
          <a:xfrm>
            <a:off x="7150608" y="3749040"/>
            <a:ext cx="4206240" cy="219456"/>
          </a:xfrm>
          <a:prstGeom prst="rect">
            <a:avLst/>
          </a:prstGeom>
          <a:noFill/>
          <a:ln/>
        </p:spPr>
        <p:txBody>
          <a:bodyPr wrap="square" lIns="0" tIns="0" rIns="0" bIns="0" rtlCol="0" anchor="t"/>
          <a:lstStyle/>
          <a:p>
            <a:pPr algn="l" indent="0" marL="0">
              <a:buNone/>
            </a:pPr>
            <a:r>
              <a:rPr lang="en-US" sz="1200" b="1" dirty="0">
                <a:solidFill>
                  <a:srgbClr val="2E7D4F"/>
                </a:solidFill>
                <a:latin typeface="Consolas" pitchFamily="34" charset="0"/>
                <a:ea typeface="Consolas" pitchFamily="34" charset="-122"/>
                <a:cs typeface="Consolas" pitchFamily="34" charset="-120"/>
              </a:rPr>
              <a:t>tomado: bool</a:t>
            </a:r>
            <a:endParaRPr lang="en-US" sz="1200" dirty="0"/>
          </a:p>
        </p:txBody>
      </p:sp>
      <p:sp>
        <p:nvSpPr>
          <p:cNvPr id="32" name="Text 28"/>
          <p:cNvSpPr txBox="1"/>
          <p:nvPr/>
        </p:nvSpPr>
        <p:spPr>
          <a:xfrm>
            <a:off x="7150608" y="3986784"/>
            <a:ext cx="4206240" cy="237744"/>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Dos valores. Este sí está acotado por su tipo.</a:t>
            </a:r>
            <a:endParaRPr lang="en-US" sz="1160" dirty="0"/>
          </a:p>
        </p:txBody>
      </p:sp>
      <p:sp>
        <p:nvSpPr>
          <p:cNvPr id="33" name="Shape 29"/>
          <p:cNvSpPr/>
          <p:nvPr/>
        </p:nvSpPr>
        <p:spPr>
          <a:xfrm>
            <a:off x="658368" y="4535424"/>
            <a:ext cx="10874959" cy="786384"/>
          </a:xfrm>
          <a:prstGeom prst="rect">
            <a:avLst/>
          </a:prstGeom>
          <a:solidFill>
            <a:srgbClr val="E6EEF7"/>
          </a:solidFill>
          <a:ln w="12700">
            <a:solidFill>
              <a:srgbClr val="E6EEF7"/>
            </a:solidFill>
            <a:prstDash val="solid"/>
          </a:ln>
        </p:spPr>
      </p:sp>
      <p:sp>
        <p:nvSpPr>
          <p:cNvPr id="34" name="Shape 30"/>
          <p:cNvSpPr/>
          <p:nvPr/>
        </p:nvSpPr>
        <p:spPr>
          <a:xfrm>
            <a:off x="658368" y="4535424"/>
            <a:ext cx="64008" cy="786384"/>
          </a:xfrm>
          <a:prstGeom prst="rect">
            <a:avLst/>
          </a:prstGeom>
          <a:solidFill>
            <a:srgbClr val="102A43"/>
          </a:solidFill>
          <a:ln w="12700">
            <a:solidFill>
              <a:srgbClr val="102A43"/>
            </a:solidFill>
            <a:prstDash val="solid"/>
          </a:ln>
        </p:spPr>
      </p:sp>
      <p:sp>
        <p:nvSpPr>
          <p:cNvPr id="35" name="Text 31"/>
          <p:cNvSpPr txBox="1"/>
          <p:nvPr/>
        </p:nvSpPr>
        <p:spPr>
          <a:xfrm>
            <a:off x="987552" y="4663440"/>
            <a:ext cx="10216591" cy="530352"/>
          </a:xfrm>
          <a:prstGeom prst="rect">
            <a:avLst/>
          </a:prstGeom>
          <a:noFill/>
          <a:ln/>
        </p:spPr>
        <p:txBody>
          <a:bodyPr wrap="square" lIns="0" tIns="0" rIns="0" bIns="0" rtlCol="0" anchor="ctr"/>
          <a:lstStyle/>
          <a:p>
            <a:pPr algn="l" indent="0" marL="0">
              <a:buNone/>
            </a:pPr>
            <a:r>
              <a:rPr lang="en-US" sz="1550" b="1" dirty="0">
                <a:solidFill>
                  <a:srgbClr val="243B53"/>
                </a:solidFill>
                <a:latin typeface="Aptos" pitchFamily="34" charset="0"/>
                <a:ea typeface="Aptos" pitchFamily="34" charset="-122"/>
                <a:cs typeface="Aptos" pitchFamily="34" charset="-120"/>
              </a:rPr>
              <a:t>Predicción antes de ejecutar: ¿el conjunto de entradas posibles es de decenas, de millones, o no tiene tope?</a:t>
            </a:r>
            <a:endParaRPr lang="en-US" sz="1550" dirty="0"/>
          </a:p>
        </p:txBody>
      </p:sp>
      <p:sp>
        <p:nvSpPr>
          <p:cNvPr id="36" name="Shape 32"/>
          <p:cNvSpPr/>
          <p:nvPr/>
        </p:nvSpPr>
        <p:spPr>
          <a:xfrm>
            <a:off x="658368" y="5559552"/>
            <a:ext cx="10874959" cy="512064"/>
          </a:xfrm>
          <a:prstGeom prst="rect">
            <a:avLst/>
          </a:prstGeom>
          <a:solidFill>
            <a:srgbClr val="102A43"/>
          </a:solidFill>
          <a:ln w="12700">
            <a:solidFill>
              <a:srgbClr val="102A43"/>
            </a:solidFill>
            <a:prstDash val="solid"/>
          </a:ln>
        </p:spPr>
      </p:sp>
      <p:sp>
        <p:nvSpPr>
          <p:cNvPr id="37" name="Text 33"/>
          <p:cNvSpPr txBox="1"/>
          <p:nvPr/>
        </p:nvSpPr>
        <p:spPr>
          <a:xfrm>
            <a:off x="969264" y="5596128"/>
            <a:ext cx="10253167" cy="438912"/>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La anotación de tipo describe un contrato; no valida entradas durante la ejecución.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13</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COMPROBAR</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Tres dominios distintos, tres respuestas distintas</a:t>
            </a:r>
            <a:endParaRPr lang="en-US" sz="3000" dirty="0"/>
          </a:p>
        </p:txBody>
      </p:sp>
      <p:sp>
        <p:nvSpPr>
          <p:cNvPr id="10" name="Text 7"/>
          <p:cNvSpPr txBox="1"/>
          <p:nvPr/>
        </p:nvSpPr>
        <p:spPr>
          <a:xfrm>
            <a:off x="658368" y="1773936"/>
            <a:ext cx="72237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El dominio de un parámetro es el conjunto de valores que puede recibir. Aquí hay tres candidatos, y no coinciden.</a:t>
            </a:r>
            <a:endParaRPr lang="en-US" sz="1450" dirty="0"/>
          </a:p>
        </p:txBody>
      </p:sp>
      <p:sp>
        <p:nvSpPr>
          <p:cNvPr id="11" name="Shape 8"/>
          <p:cNvSpPr/>
          <p:nvPr/>
        </p:nvSpPr>
        <p:spPr>
          <a:xfrm>
            <a:off x="8165592" y="1883664"/>
            <a:ext cx="1060704" cy="274320"/>
          </a:xfrm>
          <a:prstGeom prst="rect">
            <a:avLst/>
          </a:prstGeom>
          <a:solidFill>
            <a:srgbClr val="EDE6DA"/>
          </a:solidFill>
          <a:ln w="12700">
            <a:solidFill>
              <a:srgbClr val="EDE6DA"/>
            </a:solidFill>
            <a:prstDash val="solid"/>
          </a:ln>
        </p:spPr>
      </p:sp>
      <p:sp>
        <p:nvSpPr>
          <p:cNvPr id="12" name="Text 9"/>
          <p:cNvSpPr txBox="1"/>
          <p:nvPr/>
        </p:nvSpPr>
        <p:spPr>
          <a:xfrm>
            <a:off x="8165592"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Leer</a:t>
            </a:r>
            <a:endParaRPr lang="en-US" sz="940" dirty="0"/>
          </a:p>
        </p:txBody>
      </p:sp>
      <p:sp>
        <p:nvSpPr>
          <p:cNvPr id="13" name="Shape 10"/>
          <p:cNvSpPr/>
          <p:nvPr/>
        </p:nvSpPr>
        <p:spPr>
          <a:xfrm>
            <a:off x="9317736" y="1883664"/>
            <a:ext cx="1060704" cy="274320"/>
          </a:xfrm>
          <a:prstGeom prst="rect">
            <a:avLst/>
          </a:prstGeom>
          <a:solidFill>
            <a:srgbClr val="EDE6DA"/>
          </a:solidFill>
          <a:ln w="12700">
            <a:solidFill>
              <a:srgbClr val="EDE6DA"/>
            </a:solidFill>
            <a:prstDash val="solid"/>
          </a:ln>
        </p:spPr>
      </p:sp>
      <p:sp>
        <p:nvSpPr>
          <p:cNvPr id="14" name="Text 11"/>
          <p:cNvSpPr txBox="1"/>
          <p:nvPr/>
        </p:nvSpPr>
        <p:spPr>
          <a:xfrm>
            <a:off x="9317736"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Predecir</a:t>
            </a:r>
            <a:endParaRPr lang="en-US" sz="940" dirty="0"/>
          </a:p>
        </p:txBody>
      </p:sp>
      <p:sp>
        <p:nvSpPr>
          <p:cNvPr id="15" name="Shape 12"/>
          <p:cNvSpPr/>
          <p:nvPr/>
        </p:nvSpPr>
        <p:spPr>
          <a:xfrm>
            <a:off x="10469880" y="1883664"/>
            <a:ext cx="1060704" cy="274320"/>
          </a:xfrm>
          <a:prstGeom prst="rect">
            <a:avLst/>
          </a:prstGeom>
          <a:solidFill>
            <a:srgbClr val="102A43"/>
          </a:solidFill>
          <a:ln w="12700">
            <a:solidFill>
              <a:srgbClr val="102A43"/>
            </a:solidFill>
            <a:prstDash val="solid"/>
          </a:ln>
        </p:spPr>
      </p:sp>
      <p:sp>
        <p:nvSpPr>
          <p:cNvPr id="16" name="Text 13"/>
          <p:cNvSpPr txBox="1"/>
          <p:nvPr/>
        </p:nvSpPr>
        <p:spPr>
          <a:xfrm>
            <a:off x="10469880"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FFFFFF"/>
                </a:solidFill>
                <a:latin typeface="Aptos" pitchFamily="34" charset="0"/>
                <a:ea typeface="Aptos" pitchFamily="34" charset="-122"/>
                <a:cs typeface="Aptos" pitchFamily="34" charset="-120"/>
              </a:rPr>
              <a:t>Comprobar</a:t>
            </a:r>
            <a:endParaRPr lang="en-US" sz="940" dirty="0"/>
          </a:p>
        </p:txBody>
      </p:sp>
      <p:sp>
        <p:nvSpPr>
          <p:cNvPr id="17" name="Shape 14"/>
          <p:cNvSpPr/>
          <p:nvPr/>
        </p:nvSpPr>
        <p:spPr>
          <a:xfrm>
            <a:off x="658368" y="2286000"/>
            <a:ext cx="10874959" cy="1975104"/>
          </a:xfrm>
          <a:prstGeom prst="roundRect">
            <a:avLst>
              <a:gd name="adj" fmla="val 1852"/>
            </a:avLst>
          </a:prstGeom>
          <a:solidFill>
            <a:srgbClr val="0F1720"/>
          </a:solidFill>
          <a:ln w="12700">
            <a:solidFill>
              <a:srgbClr val="0F1720"/>
            </a:solidFill>
            <a:prstDash val="solid"/>
          </a:ln>
        </p:spPr>
      </p:sp>
      <p:sp>
        <p:nvSpPr>
          <p:cNvPr id="18" name="Shape 15"/>
          <p:cNvSpPr/>
          <p:nvPr/>
        </p:nvSpPr>
        <p:spPr>
          <a:xfrm>
            <a:off x="786384" y="2395728"/>
            <a:ext cx="10618927" cy="310896"/>
          </a:xfrm>
          <a:prstGeom prst="roundRect">
            <a:avLst>
              <a:gd name="adj" fmla="val 8824"/>
            </a:avLst>
          </a:prstGeom>
          <a:solidFill>
            <a:srgbClr val="1E2937"/>
          </a:solidFill>
          <a:ln w="12700">
            <a:solidFill>
              <a:srgbClr val="1E2937"/>
            </a:solidFill>
            <a:prstDash val="solid"/>
          </a:ln>
        </p:spPr>
      </p:sp>
      <p:sp>
        <p:nvSpPr>
          <p:cNvPr id="19" name="Text 16"/>
          <p:cNvSpPr/>
          <p:nvPr/>
        </p:nvSpPr>
        <p:spPr>
          <a:xfrm>
            <a:off x="914400" y="2468880"/>
            <a:ext cx="10362895"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Medición ejecutada sobre la función real · Python 3.12.12</a:t>
            </a:r>
            <a:endParaRPr lang="en-US" sz="1000" dirty="0"/>
          </a:p>
        </p:txBody>
      </p:sp>
      <p:sp>
        <p:nvSpPr>
          <p:cNvPr id="20" name="Text 17"/>
          <p:cNvSpPr/>
          <p:nvPr/>
        </p:nvSpPr>
        <p:spPr>
          <a:xfrm>
            <a:off x="877824" y="2852928"/>
            <a:ext cx="329184" cy="164592"/>
          </a:xfrm>
          <a:prstGeom prst="rect">
            <a:avLst/>
          </a:prstGeom>
          <a:noFill/>
          <a:ln/>
        </p:spPr>
        <p:txBody>
          <a:bodyPr wrap="square" lIns="0" tIns="0" rIns="0" bIns="0" rtlCol="0" anchor="ctr"/>
          <a:lstStyle/>
          <a:p>
            <a:pPr indent="0" marL="0">
              <a:buNone/>
            </a:pPr>
            <a:r>
              <a:rPr lang="en-US" sz="1040" b="1" dirty="0">
                <a:solidFill>
                  <a:srgbClr val="E0BC5A"/>
                </a:solidFill>
                <a:latin typeface="Consolas" pitchFamily="34" charset="0"/>
                <a:ea typeface="Consolas" pitchFamily="34" charset="-122"/>
                <a:cs typeface="Consolas" pitchFamily="34" charset="-120"/>
              </a:rPr>
              <a:t>&gt;</a:t>
            </a:r>
            <a:endParaRPr lang="en-US" sz="1040" dirty="0"/>
          </a:p>
        </p:txBody>
      </p:sp>
      <p:sp>
        <p:nvSpPr>
          <p:cNvPr id="21" name="Text 18"/>
          <p:cNvSpPr/>
          <p:nvPr/>
        </p:nvSpPr>
        <p:spPr>
          <a:xfrm>
            <a:off x="1188720" y="2852928"/>
            <a:ext cx="10125151"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uv run python medir_espacio.py</a:t>
            </a:r>
            <a:endParaRPr lang="en-US" sz="1040" dirty="0"/>
          </a:p>
        </p:txBody>
      </p:sp>
      <p:sp>
        <p:nvSpPr>
          <p:cNvPr id="22" name="Text 19"/>
          <p:cNvSpPr/>
          <p:nvPr/>
        </p:nvSpPr>
        <p:spPr>
          <a:xfrm>
            <a:off x="877824" y="3108960"/>
            <a:ext cx="10125151"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costo medido de un caso: 435 nanosegundos</a:t>
            </a:r>
            <a:endParaRPr lang="en-US" sz="1040" dirty="0"/>
          </a:p>
        </p:txBody>
      </p:sp>
      <p:sp>
        <p:nvSpPr>
          <p:cNvPr id="23" name="Text 20"/>
          <p:cNvSpPr/>
          <p:nvPr/>
        </p:nvSpPr>
        <p:spPr>
          <a:xfrm>
            <a:off x="877824" y="3364992"/>
            <a:ext cx="10125151"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solo lo que el requisito declara        64   27.8 microsegundos</a:t>
            </a:r>
            <a:endParaRPr lang="en-US" sz="1040" dirty="0"/>
          </a:p>
        </p:txBody>
      </p:sp>
      <p:sp>
        <p:nvSpPr>
          <p:cNvPr id="24" name="Text 21"/>
          <p:cNvSpPr/>
          <p:nvPr/>
        </p:nvSpPr>
        <p:spPr>
          <a:xfrm>
            <a:off x="877824" y="3621024"/>
            <a:ext cx="10125151"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si los enteros fueran de 32 bits   3.7e19   508,743 anios</a:t>
            </a:r>
            <a:endParaRPr lang="en-US" sz="1040" dirty="0"/>
          </a:p>
        </p:txBody>
      </p:sp>
      <p:sp>
        <p:nvSpPr>
          <p:cNvPr id="25" name="Text 22"/>
          <p:cNvSpPr/>
          <p:nvPr/>
        </p:nvSpPr>
        <p:spPr>
          <a:xfrm>
            <a:off x="877824" y="3877056"/>
            <a:ext cx="10125151"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los enteros de Python no tienen tope  infinito</a:t>
            </a:r>
            <a:endParaRPr lang="en-US" sz="1040" dirty="0"/>
          </a:p>
        </p:txBody>
      </p:sp>
      <p:sp>
        <p:nvSpPr>
          <p:cNvPr id="26" name="Shape 23"/>
          <p:cNvSpPr/>
          <p:nvPr/>
        </p:nvSpPr>
        <p:spPr>
          <a:xfrm>
            <a:off x="658368" y="4407408"/>
            <a:ext cx="3465576" cy="1078992"/>
          </a:xfrm>
          <a:prstGeom prst="rect">
            <a:avLst/>
          </a:prstGeom>
          <a:solidFill>
            <a:srgbClr val="E9F6EE"/>
          </a:solidFill>
          <a:ln w="12700">
            <a:solidFill>
              <a:srgbClr val="E9F6EE"/>
            </a:solidFill>
            <a:prstDash val="solid"/>
          </a:ln>
        </p:spPr>
      </p:sp>
      <p:sp>
        <p:nvSpPr>
          <p:cNvPr id="27" name="Shape 24"/>
          <p:cNvSpPr/>
          <p:nvPr/>
        </p:nvSpPr>
        <p:spPr>
          <a:xfrm>
            <a:off x="658368" y="4407408"/>
            <a:ext cx="3465576" cy="54864"/>
          </a:xfrm>
          <a:prstGeom prst="rect">
            <a:avLst/>
          </a:prstGeom>
          <a:solidFill>
            <a:srgbClr val="2E7D4F"/>
          </a:solidFill>
          <a:ln w="12700">
            <a:solidFill>
              <a:srgbClr val="2E7D4F"/>
            </a:solidFill>
            <a:prstDash val="solid"/>
          </a:ln>
        </p:spPr>
      </p:sp>
      <p:sp>
        <p:nvSpPr>
          <p:cNvPr id="28" name="Text 25"/>
          <p:cNvSpPr txBox="1"/>
          <p:nvPr/>
        </p:nvSpPr>
        <p:spPr>
          <a:xfrm>
            <a:off x="914400" y="4553712"/>
            <a:ext cx="2962656" cy="237744"/>
          </a:xfrm>
          <a:prstGeom prst="rect">
            <a:avLst/>
          </a:prstGeom>
          <a:noFill/>
          <a:ln/>
        </p:spPr>
        <p:txBody>
          <a:bodyPr wrap="square" lIns="0" tIns="0" rIns="0" bIns="0" rtlCol="0" anchor="t"/>
          <a:lstStyle/>
          <a:p>
            <a:pPr algn="l" indent="0" marL="0">
              <a:buNone/>
            </a:pPr>
            <a:r>
              <a:rPr lang="en-US" sz="1260" b="1" dirty="0">
                <a:solidFill>
                  <a:srgbClr val="2E7D4F"/>
                </a:solidFill>
                <a:latin typeface="Aptos" pitchFamily="34" charset="0"/>
                <a:ea typeface="Aptos" pitchFamily="34" charset="-122"/>
                <a:cs typeface="Aptos" pitchFamily="34" charset="-120"/>
              </a:rPr>
              <a:t>Lo que el requisito declara</a:t>
            </a:r>
            <a:endParaRPr lang="en-US" sz="1260" dirty="0"/>
          </a:p>
        </p:txBody>
      </p:sp>
      <p:sp>
        <p:nvSpPr>
          <p:cNvPr id="29" name="Text 26"/>
          <p:cNvSpPr txBox="1"/>
          <p:nvPr/>
        </p:nvSpPr>
        <p:spPr>
          <a:xfrm>
            <a:off x="914400" y="4828032"/>
            <a:ext cx="2962656" cy="566928"/>
          </a:xfrm>
          <a:prstGeom prst="rect">
            <a:avLst/>
          </a:prstGeom>
          <a:noFill/>
          <a:ln/>
        </p:spPr>
        <p:txBody>
          <a:bodyPr wrap="square" lIns="0" tIns="0" rIns="0" bIns="0" rtlCol="0" anchor="t"/>
          <a:lstStyle/>
          <a:p>
            <a:pPr algn="l" indent="0" marL="0">
              <a:lnSpc>
                <a:spcPct val="114000"/>
              </a:lnSpc>
              <a:buNone/>
            </a:pPr>
            <a:r>
              <a:rPr lang="en-US" sz="1180" dirty="0">
                <a:solidFill>
                  <a:srgbClr val="243B53"/>
                </a:solidFill>
                <a:latin typeface="Aptos" pitchFamily="34" charset="0"/>
                <a:ea typeface="Aptos" pitchFamily="34" charset="-122"/>
                <a:cs typeface="Aptos" pitchFamily="34" charset="-120"/>
              </a:rPr>
              <a:t>8 bloques × 4 cantidades × 2 estados = 64 combinaciones. Abarcable por completo.</a:t>
            </a:r>
            <a:endParaRPr lang="en-US" sz="1180" dirty="0"/>
          </a:p>
        </p:txBody>
      </p:sp>
      <p:sp>
        <p:nvSpPr>
          <p:cNvPr id="30" name="Shape 27"/>
          <p:cNvSpPr/>
          <p:nvPr/>
        </p:nvSpPr>
        <p:spPr>
          <a:xfrm>
            <a:off x="4379976" y="4407408"/>
            <a:ext cx="3465576" cy="1078992"/>
          </a:xfrm>
          <a:prstGeom prst="rect">
            <a:avLst/>
          </a:prstGeom>
          <a:solidFill>
            <a:srgbClr val="F2E7D9"/>
          </a:solidFill>
          <a:ln w="12700">
            <a:solidFill>
              <a:srgbClr val="F2E7D9"/>
            </a:solidFill>
            <a:prstDash val="solid"/>
          </a:ln>
        </p:spPr>
      </p:sp>
      <p:sp>
        <p:nvSpPr>
          <p:cNvPr id="31" name="Shape 28"/>
          <p:cNvSpPr/>
          <p:nvPr/>
        </p:nvSpPr>
        <p:spPr>
          <a:xfrm>
            <a:off x="4379976" y="4407408"/>
            <a:ext cx="3465576" cy="54864"/>
          </a:xfrm>
          <a:prstGeom prst="rect">
            <a:avLst/>
          </a:prstGeom>
          <a:solidFill>
            <a:srgbClr val="8A6A12"/>
          </a:solidFill>
          <a:ln w="12700">
            <a:solidFill>
              <a:srgbClr val="8A6A12"/>
            </a:solidFill>
            <a:prstDash val="solid"/>
          </a:ln>
        </p:spPr>
      </p:sp>
      <p:sp>
        <p:nvSpPr>
          <p:cNvPr id="32" name="Text 29"/>
          <p:cNvSpPr txBox="1"/>
          <p:nvPr/>
        </p:nvSpPr>
        <p:spPr>
          <a:xfrm>
            <a:off x="4636008" y="4553712"/>
            <a:ext cx="2962656" cy="237744"/>
          </a:xfrm>
          <a:prstGeom prst="rect">
            <a:avLst/>
          </a:prstGeom>
          <a:noFill/>
          <a:ln/>
        </p:spPr>
        <p:txBody>
          <a:bodyPr wrap="square" lIns="0" tIns="0" rIns="0" bIns="0" rtlCol="0" anchor="t"/>
          <a:lstStyle/>
          <a:p>
            <a:pPr algn="l" indent="0" marL="0">
              <a:buNone/>
            </a:pPr>
            <a:r>
              <a:rPr lang="en-US" sz="1260" b="1" dirty="0">
                <a:solidFill>
                  <a:srgbClr val="8A6A12"/>
                </a:solidFill>
                <a:latin typeface="Aptos" pitchFamily="34" charset="0"/>
                <a:ea typeface="Aptos" pitchFamily="34" charset="-122"/>
                <a:cs typeface="Aptos" pitchFamily="34" charset="-120"/>
              </a:rPr>
              <a:t>Lo que la firma acepta, acotada</a:t>
            </a:r>
            <a:endParaRPr lang="en-US" sz="1260" dirty="0"/>
          </a:p>
        </p:txBody>
      </p:sp>
      <p:sp>
        <p:nvSpPr>
          <p:cNvPr id="33" name="Text 30"/>
          <p:cNvSpPr txBox="1"/>
          <p:nvPr/>
        </p:nvSpPr>
        <p:spPr>
          <a:xfrm>
            <a:off x="4636008" y="4828032"/>
            <a:ext cx="2962656" cy="566928"/>
          </a:xfrm>
          <a:prstGeom prst="rect">
            <a:avLst/>
          </a:prstGeom>
          <a:noFill/>
          <a:ln/>
        </p:spPr>
        <p:txBody>
          <a:bodyPr wrap="square" lIns="0" tIns="0" rIns="0" bIns="0" rtlCol="0" anchor="t"/>
          <a:lstStyle/>
          <a:p>
            <a:pPr algn="l" indent="0" marL="0">
              <a:lnSpc>
                <a:spcPct val="114000"/>
              </a:lnSpc>
              <a:buNone/>
            </a:pPr>
            <a:r>
              <a:rPr lang="en-US" sz="1180" dirty="0">
                <a:solidFill>
                  <a:srgbClr val="243B53"/>
                </a:solidFill>
                <a:latin typeface="Aptos" pitchFamily="34" charset="0"/>
                <a:ea typeface="Aptos" pitchFamily="34" charset="-122"/>
                <a:cs typeface="Aptos" pitchFamily="34" charset="-120"/>
              </a:rPr>
              <a:t>Con enteros de 32 bits ya son más de medio millón de años.</a:t>
            </a:r>
            <a:endParaRPr lang="en-US" sz="1180" dirty="0"/>
          </a:p>
        </p:txBody>
      </p:sp>
      <p:sp>
        <p:nvSpPr>
          <p:cNvPr id="34" name="Shape 31"/>
          <p:cNvSpPr/>
          <p:nvPr/>
        </p:nvSpPr>
        <p:spPr>
          <a:xfrm>
            <a:off x="8101584" y="4407408"/>
            <a:ext cx="3465576" cy="1078992"/>
          </a:xfrm>
          <a:prstGeom prst="rect">
            <a:avLst/>
          </a:prstGeom>
          <a:solidFill>
            <a:srgbClr val="F8E4E5"/>
          </a:solidFill>
          <a:ln w="12700">
            <a:solidFill>
              <a:srgbClr val="F8E4E5"/>
            </a:solidFill>
            <a:prstDash val="solid"/>
          </a:ln>
        </p:spPr>
      </p:sp>
      <p:sp>
        <p:nvSpPr>
          <p:cNvPr id="35" name="Shape 32"/>
          <p:cNvSpPr/>
          <p:nvPr/>
        </p:nvSpPr>
        <p:spPr>
          <a:xfrm>
            <a:off x="8101584" y="4407408"/>
            <a:ext cx="3465576" cy="54864"/>
          </a:xfrm>
          <a:prstGeom prst="rect">
            <a:avLst/>
          </a:prstGeom>
          <a:solidFill>
            <a:srgbClr val="B3181E"/>
          </a:solidFill>
          <a:ln w="12700">
            <a:solidFill>
              <a:srgbClr val="B3181E"/>
            </a:solidFill>
            <a:prstDash val="solid"/>
          </a:ln>
        </p:spPr>
      </p:sp>
      <p:sp>
        <p:nvSpPr>
          <p:cNvPr id="36" name="Text 33"/>
          <p:cNvSpPr txBox="1"/>
          <p:nvPr/>
        </p:nvSpPr>
        <p:spPr>
          <a:xfrm>
            <a:off x="8357616" y="4553712"/>
            <a:ext cx="2962656" cy="237744"/>
          </a:xfrm>
          <a:prstGeom prst="rect">
            <a:avLst/>
          </a:prstGeom>
          <a:noFill/>
          <a:ln/>
        </p:spPr>
        <p:txBody>
          <a:bodyPr wrap="square" lIns="0" tIns="0" rIns="0" bIns="0" rtlCol="0" anchor="t"/>
          <a:lstStyle/>
          <a:p>
            <a:pPr algn="l" indent="0" marL="0">
              <a:buNone/>
            </a:pPr>
            <a:r>
              <a:rPr lang="en-US" sz="1260" b="1" dirty="0">
                <a:solidFill>
                  <a:srgbClr val="B3181E"/>
                </a:solidFill>
                <a:latin typeface="Aptos" pitchFamily="34" charset="0"/>
                <a:ea typeface="Aptos" pitchFamily="34" charset="-122"/>
                <a:cs typeface="Aptos" pitchFamily="34" charset="-120"/>
              </a:rPr>
              <a:t>Lo que la firma acepta de verdad</a:t>
            </a:r>
            <a:endParaRPr lang="en-US" sz="1260" dirty="0"/>
          </a:p>
        </p:txBody>
      </p:sp>
      <p:sp>
        <p:nvSpPr>
          <p:cNvPr id="37" name="Text 34"/>
          <p:cNvSpPr txBox="1"/>
          <p:nvPr/>
        </p:nvSpPr>
        <p:spPr>
          <a:xfrm>
            <a:off x="8357616" y="4828032"/>
            <a:ext cx="2962656" cy="566928"/>
          </a:xfrm>
          <a:prstGeom prst="rect">
            <a:avLst/>
          </a:prstGeom>
          <a:noFill/>
          <a:ln/>
        </p:spPr>
        <p:txBody>
          <a:bodyPr wrap="square" lIns="0" tIns="0" rIns="0" bIns="0" rtlCol="0" anchor="t"/>
          <a:lstStyle/>
          <a:p>
            <a:pPr algn="l" indent="0" marL="0">
              <a:lnSpc>
                <a:spcPct val="114000"/>
              </a:lnSpc>
              <a:buNone/>
            </a:pPr>
            <a:r>
              <a:rPr lang="en-US" sz="1180" dirty="0">
                <a:solidFill>
                  <a:srgbClr val="243B53"/>
                </a:solidFill>
                <a:latin typeface="Aptos" pitchFamily="34" charset="0"/>
                <a:ea typeface="Aptos" pitchFamily="34" charset="-122"/>
                <a:cs typeface="Aptos" pitchFamily="34" charset="-120"/>
              </a:rPr>
              <a:t>Los enteros de Python no tienen tope. No es un conjunto grande: es infinito.</a:t>
            </a:r>
            <a:endParaRPr lang="en-US" sz="1180" dirty="0"/>
          </a:p>
        </p:txBody>
      </p:sp>
      <p:sp>
        <p:nvSpPr>
          <p:cNvPr id="38" name="Shape 35"/>
          <p:cNvSpPr/>
          <p:nvPr/>
        </p:nvSpPr>
        <p:spPr>
          <a:xfrm>
            <a:off x="658368" y="5632704"/>
            <a:ext cx="45720" cy="182880"/>
          </a:xfrm>
          <a:prstGeom prst="rect">
            <a:avLst/>
          </a:prstGeom>
          <a:solidFill>
            <a:srgbClr val="8A6A12"/>
          </a:solidFill>
          <a:ln w="12700">
            <a:solidFill>
              <a:srgbClr val="8A6A12"/>
            </a:solidFill>
            <a:prstDash val="solid"/>
          </a:ln>
        </p:spPr>
      </p:sp>
      <p:sp>
        <p:nvSpPr>
          <p:cNvPr id="39" name="Text 36"/>
          <p:cNvSpPr txBox="1"/>
          <p:nvPr/>
        </p:nvSpPr>
        <p:spPr>
          <a:xfrm>
            <a:off x="804672" y="5623560"/>
            <a:ext cx="1060704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El número exacto depende de la máquina donde se mida; el orden de magnitud, no. En el mismo proyecto, comprobante() acepta un conjunto de 194 cifras.</a:t>
            </a:r>
            <a:endParaRPr lang="en-US" sz="9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14</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EL EXPERIMENTO INCÓMODO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Si son solo 64, ¿por qué no probarlas todas?</a:t>
            </a:r>
            <a:endParaRPr lang="en-US" sz="3000" dirty="0"/>
          </a:p>
        </p:txBody>
      </p:sp>
      <p:sp>
        <p:nvSpPr>
          <p:cNvPr id="10" name="Text 7"/>
          <p:cNvSpPr txBox="1"/>
          <p:nvPr/>
        </p:nvSpPr>
        <p:spPr>
          <a:xfrm>
            <a:off x="658368" y="1773936"/>
            <a:ext cx="72237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Conviene intentarlo antes de descartarlo. Hace falta escribir aparte qué debe salir.</a:t>
            </a:r>
            <a:endParaRPr lang="en-US" sz="1450" dirty="0"/>
          </a:p>
        </p:txBody>
      </p:sp>
      <p:sp>
        <p:nvSpPr>
          <p:cNvPr id="11" name="Shape 8"/>
          <p:cNvSpPr/>
          <p:nvPr/>
        </p:nvSpPr>
        <p:spPr>
          <a:xfrm>
            <a:off x="8165592" y="1883664"/>
            <a:ext cx="1060704" cy="274320"/>
          </a:xfrm>
          <a:prstGeom prst="rect">
            <a:avLst/>
          </a:prstGeom>
          <a:solidFill>
            <a:srgbClr val="102A43"/>
          </a:solidFill>
          <a:ln w="12700">
            <a:solidFill>
              <a:srgbClr val="102A43"/>
            </a:solidFill>
            <a:prstDash val="solid"/>
          </a:ln>
        </p:spPr>
      </p:sp>
      <p:sp>
        <p:nvSpPr>
          <p:cNvPr id="12" name="Text 9"/>
          <p:cNvSpPr txBox="1"/>
          <p:nvPr/>
        </p:nvSpPr>
        <p:spPr>
          <a:xfrm>
            <a:off x="8165592"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FFFFFF"/>
                </a:solidFill>
                <a:latin typeface="Aptos" pitchFamily="34" charset="0"/>
                <a:ea typeface="Aptos" pitchFamily="34" charset="-122"/>
                <a:cs typeface="Aptos" pitchFamily="34" charset="-120"/>
              </a:rPr>
              <a:t>Leer</a:t>
            </a:r>
            <a:endParaRPr lang="en-US" sz="940" dirty="0"/>
          </a:p>
        </p:txBody>
      </p:sp>
      <p:sp>
        <p:nvSpPr>
          <p:cNvPr id="13" name="Shape 10"/>
          <p:cNvSpPr/>
          <p:nvPr/>
        </p:nvSpPr>
        <p:spPr>
          <a:xfrm>
            <a:off x="9317736" y="1883664"/>
            <a:ext cx="1060704" cy="274320"/>
          </a:xfrm>
          <a:prstGeom prst="rect">
            <a:avLst/>
          </a:prstGeom>
          <a:solidFill>
            <a:srgbClr val="EDE6DA"/>
          </a:solidFill>
          <a:ln w="12700">
            <a:solidFill>
              <a:srgbClr val="EDE6DA"/>
            </a:solidFill>
            <a:prstDash val="solid"/>
          </a:ln>
        </p:spPr>
      </p:sp>
      <p:sp>
        <p:nvSpPr>
          <p:cNvPr id="14" name="Text 11"/>
          <p:cNvSpPr txBox="1"/>
          <p:nvPr/>
        </p:nvSpPr>
        <p:spPr>
          <a:xfrm>
            <a:off x="9317736"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Predecir</a:t>
            </a:r>
            <a:endParaRPr lang="en-US" sz="940" dirty="0"/>
          </a:p>
        </p:txBody>
      </p:sp>
      <p:sp>
        <p:nvSpPr>
          <p:cNvPr id="15" name="Shape 12"/>
          <p:cNvSpPr/>
          <p:nvPr/>
        </p:nvSpPr>
        <p:spPr>
          <a:xfrm>
            <a:off x="10469880" y="1883664"/>
            <a:ext cx="1060704" cy="274320"/>
          </a:xfrm>
          <a:prstGeom prst="rect">
            <a:avLst/>
          </a:prstGeom>
          <a:solidFill>
            <a:srgbClr val="EDE6DA"/>
          </a:solidFill>
          <a:ln w="12700">
            <a:solidFill>
              <a:srgbClr val="EDE6DA"/>
            </a:solidFill>
            <a:prstDash val="solid"/>
          </a:ln>
        </p:spPr>
      </p:sp>
      <p:sp>
        <p:nvSpPr>
          <p:cNvPr id="16" name="Text 13"/>
          <p:cNvSpPr txBox="1"/>
          <p:nvPr/>
        </p:nvSpPr>
        <p:spPr>
          <a:xfrm>
            <a:off x="10469880"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Comprobar</a:t>
            </a:r>
            <a:endParaRPr lang="en-US" sz="940" dirty="0"/>
          </a:p>
        </p:txBody>
      </p:sp>
      <p:sp>
        <p:nvSpPr>
          <p:cNvPr id="17" name="Shape 14"/>
          <p:cNvSpPr/>
          <p:nvPr/>
        </p:nvSpPr>
        <p:spPr>
          <a:xfrm>
            <a:off x="658368" y="2322576"/>
            <a:ext cx="5532120" cy="1572768"/>
          </a:xfrm>
          <a:prstGeom prst="roundRect">
            <a:avLst>
              <a:gd name="adj" fmla="val 2326"/>
            </a:avLst>
          </a:prstGeom>
          <a:solidFill>
            <a:srgbClr val="102A43"/>
          </a:solidFill>
          <a:ln w="12700">
            <a:solidFill>
              <a:srgbClr val="102A43"/>
            </a:solidFill>
            <a:prstDash val="solid"/>
          </a:ln>
        </p:spPr>
      </p:sp>
      <p:sp>
        <p:nvSpPr>
          <p:cNvPr id="18" name="Shape 15"/>
          <p:cNvSpPr/>
          <p:nvPr/>
        </p:nvSpPr>
        <p:spPr>
          <a:xfrm>
            <a:off x="786384" y="2432304"/>
            <a:ext cx="5276088" cy="310896"/>
          </a:xfrm>
          <a:prstGeom prst="roundRect">
            <a:avLst>
              <a:gd name="adj" fmla="val 8824"/>
            </a:avLst>
          </a:prstGeom>
          <a:solidFill>
            <a:srgbClr val="284B75"/>
          </a:solidFill>
          <a:ln w="12700">
            <a:solidFill>
              <a:srgbClr val="284B75"/>
            </a:solidFill>
            <a:prstDash val="solid"/>
          </a:ln>
        </p:spPr>
      </p:sp>
      <p:sp>
        <p:nvSpPr>
          <p:cNvPr id="19" name="Text 16"/>
          <p:cNvSpPr/>
          <p:nvPr/>
        </p:nvSpPr>
        <p:spPr>
          <a:xfrm>
            <a:off x="896112" y="2505456"/>
            <a:ext cx="505663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 regla, leída del requisito y escrita aparte</a:t>
            </a:r>
            <a:endParaRPr lang="en-US" sz="100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89504"/>
            <a:ext cx="5111496" cy="822960"/>
          </a:xfrm>
          <a:prstGeom prst="rect">
            <a:avLst/>
          </a:prstGeom>
        </p:spPr>
      </p:pic>
      <p:sp>
        <p:nvSpPr>
          <p:cNvPr id="21" name="Shape 17"/>
          <p:cNvSpPr/>
          <p:nvPr/>
        </p:nvSpPr>
        <p:spPr>
          <a:xfrm>
            <a:off x="6382512" y="2322576"/>
            <a:ext cx="5148072" cy="1572768"/>
          </a:xfrm>
          <a:prstGeom prst="roundRect">
            <a:avLst>
              <a:gd name="adj" fmla="val 2326"/>
            </a:avLst>
          </a:prstGeom>
          <a:solidFill>
            <a:srgbClr val="102A43"/>
          </a:solidFill>
          <a:ln w="12700">
            <a:solidFill>
              <a:srgbClr val="102A43"/>
            </a:solidFill>
            <a:prstDash val="solid"/>
          </a:ln>
        </p:spPr>
      </p:sp>
      <p:sp>
        <p:nvSpPr>
          <p:cNvPr id="22" name="Shape 18"/>
          <p:cNvSpPr/>
          <p:nvPr/>
        </p:nvSpPr>
        <p:spPr>
          <a:xfrm>
            <a:off x="6510528" y="2432304"/>
            <a:ext cx="4892040" cy="310896"/>
          </a:xfrm>
          <a:prstGeom prst="roundRect">
            <a:avLst>
              <a:gd name="adj" fmla="val 8824"/>
            </a:avLst>
          </a:prstGeom>
          <a:solidFill>
            <a:srgbClr val="284B75"/>
          </a:solidFill>
          <a:ln w="12700">
            <a:solidFill>
              <a:srgbClr val="284B75"/>
            </a:solidFill>
            <a:prstDash val="solid"/>
          </a:ln>
        </p:spPr>
      </p:sp>
      <p:sp>
        <p:nvSpPr>
          <p:cNvPr id="23" name="Text 19"/>
          <p:cNvSpPr/>
          <p:nvPr/>
        </p:nvSpPr>
        <p:spPr>
          <a:xfrm>
            <a:off x="6620256" y="2505456"/>
            <a:ext cx="4672584"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El barrido completo del dominio declarado</a:t>
            </a:r>
            <a:endParaRPr lang="en-US" sz="1000" dirty="0"/>
          </a:p>
        </p:txBody>
      </p:sp>
      <p:pic>
        <p:nvPicPr>
          <p:cNvPr id="2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01968" y="2889504"/>
            <a:ext cx="4727448" cy="822960"/>
          </a:xfrm>
          <a:prstGeom prst="rect">
            <a:avLst/>
          </a:prstGeom>
        </p:spPr>
      </p:pic>
      <p:sp>
        <p:nvSpPr>
          <p:cNvPr id="25" name="Shape 20"/>
          <p:cNvSpPr/>
          <p:nvPr/>
        </p:nvSpPr>
        <p:spPr>
          <a:xfrm>
            <a:off x="658368" y="4114800"/>
            <a:ext cx="10874959" cy="1133856"/>
          </a:xfrm>
          <a:prstGeom prst="rect">
            <a:avLst/>
          </a:prstGeom>
          <a:solidFill>
            <a:srgbClr val="E6EEF7"/>
          </a:solidFill>
          <a:ln w="12700">
            <a:solidFill>
              <a:srgbClr val="E6EEF7"/>
            </a:solidFill>
            <a:prstDash val="solid"/>
          </a:ln>
        </p:spPr>
      </p:sp>
      <p:sp>
        <p:nvSpPr>
          <p:cNvPr id="26" name="Shape 21"/>
          <p:cNvSpPr/>
          <p:nvPr/>
        </p:nvSpPr>
        <p:spPr>
          <a:xfrm>
            <a:off x="658368" y="4114800"/>
            <a:ext cx="64008" cy="1133856"/>
          </a:xfrm>
          <a:prstGeom prst="rect">
            <a:avLst/>
          </a:prstGeom>
          <a:solidFill>
            <a:srgbClr val="102A43"/>
          </a:solidFill>
          <a:ln w="12700">
            <a:solidFill>
              <a:srgbClr val="102A43"/>
            </a:solidFill>
            <a:prstDash val="solid"/>
          </a:ln>
        </p:spPr>
      </p:sp>
      <p:sp>
        <p:nvSpPr>
          <p:cNvPr id="27" name="Text 22"/>
          <p:cNvSpPr txBox="1"/>
          <p:nvPr/>
        </p:nvSpPr>
        <p:spPr>
          <a:xfrm>
            <a:off x="987552" y="4297680"/>
            <a:ext cx="548640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LO QUE HACE POSIBLE EL BARRIDO</a:t>
            </a:r>
            <a:endParaRPr lang="en-US" sz="960" dirty="0"/>
          </a:p>
        </p:txBody>
      </p:sp>
      <p:sp>
        <p:nvSpPr>
          <p:cNvPr id="28" name="Text 23"/>
          <p:cNvSpPr txBox="1"/>
          <p:nvPr/>
        </p:nvSpPr>
        <p:spPr>
          <a:xfrm>
            <a:off x="987552" y="4553712"/>
            <a:ext cx="10216591" cy="585216"/>
          </a:xfrm>
          <a:prstGeom prst="rect">
            <a:avLst/>
          </a:prstGeom>
          <a:noFill/>
          <a:ln/>
        </p:spPr>
        <p:txBody>
          <a:bodyPr wrap="square" lIns="0" tIns="0" rIns="0" bIns="0" rtlCol="0" anchor="t"/>
          <a:lstStyle/>
          <a:p>
            <a:pPr algn="l" indent="0" marL="0">
              <a:lnSpc>
                <a:spcPct val="116000"/>
              </a:lnSpc>
              <a:buNone/>
            </a:pPr>
            <a:r>
              <a:rPr lang="en-US" sz="1320" dirty="0">
                <a:solidFill>
                  <a:srgbClr val="243B53"/>
                </a:solidFill>
                <a:latin typeface="Aptos" pitchFamily="34" charset="0"/>
                <a:ea typeface="Aptos" pitchFamily="34" charset="-122"/>
                <a:cs typeface="Aptos" pitchFamily="34" charset="-120"/>
              </a:rPr>
              <a:t>El barrido no compara la función consigo misma: la compara contra la regla escrita aparte, leída del documento.</a:t>
            </a:r>
            <a:endParaRPr lang="en-US" sz="1320" dirty="0"/>
          </a:p>
          <a:p>
            <a:pPr algn="l" indent="0" marL="0">
              <a:lnSpc>
                <a:spcPct val="116000"/>
              </a:lnSpc>
              <a:buNone/>
            </a:pPr>
            <a:r>
              <a:rPr lang="en-US" sz="1320" dirty="0">
                <a:solidFill>
                  <a:srgbClr val="243B53"/>
                </a:solidFill>
                <a:latin typeface="Aptos" pitchFamily="34" charset="0"/>
                <a:ea typeface="Aptos" pitchFamily="34" charset="-122"/>
                <a:cs typeface="Aptos" pitchFamily="34" charset="-120"/>
              </a:rPr>
              <a:t>Sin esa segunda expresión de la regla, las 64 salidas no significan nada. Eso ya tiene nombre: es la base de prueba.</a:t>
            </a:r>
            <a:endParaRPr lang="en-US" sz="1320" dirty="0"/>
          </a:p>
        </p:txBody>
      </p:sp>
      <p:sp>
        <p:nvSpPr>
          <p:cNvPr id="29" name="Shape 24"/>
          <p:cNvSpPr/>
          <p:nvPr/>
        </p:nvSpPr>
        <p:spPr>
          <a:xfrm>
            <a:off x="658368" y="5486400"/>
            <a:ext cx="10874959" cy="530352"/>
          </a:xfrm>
          <a:prstGeom prst="rect">
            <a:avLst/>
          </a:prstGeom>
          <a:solidFill>
            <a:srgbClr val="102A43"/>
          </a:solidFill>
          <a:ln w="12700">
            <a:solidFill>
              <a:srgbClr val="102A43"/>
            </a:solidFill>
            <a:prstDash val="solid"/>
          </a:ln>
        </p:spPr>
      </p:sp>
      <p:sp>
        <p:nvSpPr>
          <p:cNvPr id="30" name="Text 25"/>
          <p:cNvSpPr txBox="1"/>
          <p:nvPr/>
        </p:nvSpPr>
        <p:spPr>
          <a:xfrm>
            <a:off x="969264" y="5522976"/>
            <a:ext cx="10253167" cy="457200"/>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Generar las entradas es la parte fácil. El trabajo difícil siempre fue saber qué debía salir.</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15</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COMPROBAR</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Funcionó: tres desacuerdos, sin ninguna intuición</a:t>
            </a:r>
            <a:endParaRPr lang="en-US" sz="3000" dirty="0"/>
          </a:p>
        </p:txBody>
      </p:sp>
      <p:sp>
        <p:nvSpPr>
          <p:cNvPr id="10" name="Text 7"/>
          <p:cNvSpPr txBox="1"/>
          <p:nvPr/>
        </p:nvSpPr>
        <p:spPr>
          <a:xfrm>
            <a:off x="658368" y="1773936"/>
            <a:ext cx="72237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Veintiocho microsegundos encuentran lo que la suite en verde no encontró nunca.</a:t>
            </a:r>
            <a:endParaRPr lang="en-US" sz="1450" dirty="0"/>
          </a:p>
        </p:txBody>
      </p:sp>
      <p:sp>
        <p:nvSpPr>
          <p:cNvPr id="11" name="Shape 8"/>
          <p:cNvSpPr/>
          <p:nvPr/>
        </p:nvSpPr>
        <p:spPr>
          <a:xfrm>
            <a:off x="8165592" y="1883664"/>
            <a:ext cx="1060704" cy="274320"/>
          </a:xfrm>
          <a:prstGeom prst="rect">
            <a:avLst/>
          </a:prstGeom>
          <a:solidFill>
            <a:srgbClr val="EDE6DA"/>
          </a:solidFill>
          <a:ln w="12700">
            <a:solidFill>
              <a:srgbClr val="EDE6DA"/>
            </a:solidFill>
            <a:prstDash val="solid"/>
          </a:ln>
        </p:spPr>
      </p:sp>
      <p:sp>
        <p:nvSpPr>
          <p:cNvPr id="12" name="Text 9"/>
          <p:cNvSpPr txBox="1"/>
          <p:nvPr/>
        </p:nvSpPr>
        <p:spPr>
          <a:xfrm>
            <a:off x="8165592"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Leer</a:t>
            </a:r>
            <a:endParaRPr lang="en-US" sz="940" dirty="0"/>
          </a:p>
        </p:txBody>
      </p:sp>
      <p:sp>
        <p:nvSpPr>
          <p:cNvPr id="13" name="Shape 10"/>
          <p:cNvSpPr/>
          <p:nvPr/>
        </p:nvSpPr>
        <p:spPr>
          <a:xfrm>
            <a:off x="9317736" y="1883664"/>
            <a:ext cx="1060704" cy="274320"/>
          </a:xfrm>
          <a:prstGeom prst="rect">
            <a:avLst/>
          </a:prstGeom>
          <a:solidFill>
            <a:srgbClr val="EDE6DA"/>
          </a:solidFill>
          <a:ln w="12700">
            <a:solidFill>
              <a:srgbClr val="EDE6DA"/>
            </a:solidFill>
            <a:prstDash val="solid"/>
          </a:ln>
        </p:spPr>
      </p:sp>
      <p:sp>
        <p:nvSpPr>
          <p:cNvPr id="14" name="Text 11"/>
          <p:cNvSpPr txBox="1"/>
          <p:nvPr/>
        </p:nvSpPr>
        <p:spPr>
          <a:xfrm>
            <a:off x="9317736"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Predecir</a:t>
            </a:r>
            <a:endParaRPr lang="en-US" sz="940" dirty="0"/>
          </a:p>
        </p:txBody>
      </p:sp>
      <p:sp>
        <p:nvSpPr>
          <p:cNvPr id="15" name="Shape 12"/>
          <p:cNvSpPr/>
          <p:nvPr/>
        </p:nvSpPr>
        <p:spPr>
          <a:xfrm>
            <a:off x="10469880" y="1883664"/>
            <a:ext cx="1060704" cy="274320"/>
          </a:xfrm>
          <a:prstGeom prst="rect">
            <a:avLst/>
          </a:prstGeom>
          <a:solidFill>
            <a:srgbClr val="102A43"/>
          </a:solidFill>
          <a:ln w="12700">
            <a:solidFill>
              <a:srgbClr val="102A43"/>
            </a:solidFill>
            <a:prstDash val="solid"/>
          </a:ln>
        </p:spPr>
      </p:sp>
      <p:sp>
        <p:nvSpPr>
          <p:cNvPr id="16" name="Text 13"/>
          <p:cNvSpPr txBox="1"/>
          <p:nvPr/>
        </p:nvSpPr>
        <p:spPr>
          <a:xfrm>
            <a:off x="10469880"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FFFFFF"/>
                </a:solidFill>
                <a:latin typeface="Aptos" pitchFamily="34" charset="0"/>
                <a:ea typeface="Aptos" pitchFamily="34" charset="-122"/>
                <a:cs typeface="Aptos" pitchFamily="34" charset="-120"/>
              </a:rPr>
              <a:t>Comprobar</a:t>
            </a:r>
            <a:endParaRPr lang="en-US" sz="940" dirty="0"/>
          </a:p>
        </p:txBody>
      </p:sp>
      <p:sp>
        <p:nvSpPr>
          <p:cNvPr id="17" name="Shape 14"/>
          <p:cNvSpPr/>
          <p:nvPr/>
        </p:nvSpPr>
        <p:spPr>
          <a:xfrm>
            <a:off x="658368" y="2304288"/>
            <a:ext cx="6675120" cy="2487168"/>
          </a:xfrm>
          <a:prstGeom prst="roundRect">
            <a:avLst>
              <a:gd name="adj" fmla="val 1471"/>
            </a:avLst>
          </a:prstGeom>
          <a:solidFill>
            <a:srgbClr val="0F1720"/>
          </a:solidFill>
          <a:ln w="12700">
            <a:solidFill>
              <a:srgbClr val="0F1720"/>
            </a:solidFill>
            <a:prstDash val="solid"/>
          </a:ln>
        </p:spPr>
      </p:sp>
      <p:sp>
        <p:nvSpPr>
          <p:cNvPr id="18" name="Shape 15"/>
          <p:cNvSpPr/>
          <p:nvPr/>
        </p:nvSpPr>
        <p:spPr>
          <a:xfrm>
            <a:off x="786384" y="2414016"/>
            <a:ext cx="6419088" cy="310896"/>
          </a:xfrm>
          <a:prstGeom prst="roundRect">
            <a:avLst>
              <a:gd name="adj" fmla="val 8824"/>
            </a:avLst>
          </a:prstGeom>
          <a:solidFill>
            <a:srgbClr val="1E2937"/>
          </a:solidFill>
          <a:ln w="12700">
            <a:solidFill>
              <a:srgbClr val="1E2937"/>
            </a:solidFill>
            <a:prstDash val="solid"/>
          </a:ln>
        </p:spPr>
      </p:sp>
      <p:sp>
        <p:nvSpPr>
          <p:cNvPr id="19" name="Text 16"/>
          <p:cNvSpPr/>
          <p:nvPr/>
        </p:nvSpPr>
        <p:spPr>
          <a:xfrm>
            <a:off x="914400" y="2487168"/>
            <a:ext cx="6163056"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Barrido del dominio declarado</a:t>
            </a:r>
            <a:endParaRPr lang="en-US" sz="1000" dirty="0"/>
          </a:p>
        </p:txBody>
      </p:sp>
      <p:sp>
        <p:nvSpPr>
          <p:cNvPr id="20" name="Text 17"/>
          <p:cNvSpPr/>
          <p:nvPr/>
        </p:nvSpPr>
        <p:spPr>
          <a:xfrm>
            <a:off x="877824" y="2871216"/>
            <a:ext cx="329184" cy="164592"/>
          </a:xfrm>
          <a:prstGeom prst="rect">
            <a:avLst/>
          </a:prstGeom>
          <a:noFill/>
          <a:ln/>
        </p:spPr>
        <p:txBody>
          <a:bodyPr wrap="square" lIns="0" tIns="0" rIns="0" bIns="0" rtlCol="0" anchor="ctr"/>
          <a:lstStyle/>
          <a:p>
            <a:pPr indent="0" marL="0">
              <a:buNone/>
            </a:pPr>
            <a:r>
              <a:rPr lang="en-US" sz="1000" b="1" dirty="0">
                <a:solidFill>
                  <a:srgbClr val="E0BC5A"/>
                </a:solidFill>
                <a:latin typeface="Consolas" pitchFamily="34" charset="0"/>
                <a:ea typeface="Consolas" pitchFamily="34" charset="-122"/>
                <a:cs typeface="Consolas" pitchFamily="34" charset="-120"/>
              </a:rPr>
              <a:t>&gt;</a:t>
            </a:r>
            <a:endParaRPr lang="en-US" sz="1000" dirty="0"/>
          </a:p>
        </p:txBody>
      </p:sp>
      <p:sp>
        <p:nvSpPr>
          <p:cNvPr id="21" name="Text 18"/>
          <p:cNvSpPr/>
          <p:nvPr/>
        </p:nvSpPr>
        <p:spPr>
          <a:xfrm>
            <a:off x="1188720" y="2871216"/>
            <a:ext cx="5925312" cy="164592"/>
          </a:xfrm>
          <a:prstGeom prst="rect">
            <a:avLst/>
          </a:prstGeom>
          <a:noFill/>
          <a:ln/>
        </p:spPr>
        <p:txBody>
          <a:bodyPr wrap="square" lIns="0" tIns="0" rIns="0" bIns="0" rtlCol="0" anchor="ctr"/>
          <a:lstStyle/>
          <a:p>
            <a:pPr indent="0" marL="0">
              <a:buNone/>
            </a:pPr>
            <a:r>
              <a:rPr lang="en-US" sz="1000" dirty="0">
                <a:solidFill>
                  <a:srgbClr val="E6EEF7"/>
                </a:solidFill>
                <a:latin typeface="Consolas" pitchFamily="34" charset="0"/>
                <a:ea typeface="Consolas" pitchFamily="34" charset="-122"/>
                <a:cs typeface="Consolas" pitchFamily="34" charset="-120"/>
              </a:rPr>
              <a:t>uv run python barrido_declarado.py</a:t>
            </a:r>
            <a:endParaRPr lang="en-US" sz="1000" dirty="0"/>
          </a:p>
        </p:txBody>
      </p:sp>
      <p:sp>
        <p:nvSpPr>
          <p:cNvPr id="22" name="Text 19"/>
          <p:cNvSpPr/>
          <p:nvPr/>
        </p:nvSpPr>
        <p:spPr>
          <a:xfrm>
            <a:off x="877824" y="3127248"/>
            <a:ext cx="5925312" cy="164592"/>
          </a:xfrm>
          <a:prstGeom prst="rect">
            <a:avLst/>
          </a:prstGeom>
          <a:noFill/>
          <a:ln/>
        </p:spPr>
        <p:txBody>
          <a:bodyPr wrap="square" lIns="0" tIns="0" rIns="0" bIns="0" rtlCol="0" anchor="ctr"/>
          <a:lstStyle/>
          <a:p>
            <a:pPr indent="0" marL="0">
              <a:buNone/>
            </a:pPr>
            <a:r>
              <a:rPr lang="en-US" sz="1000" dirty="0">
                <a:solidFill>
                  <a:srgbClr val="E6EEF7"/>
                </a:solidFill>
                <a:latin typeface="Consolas" pitchFamily="34" charset="0"/>
                <a:ea typeface="Consolas" pitchFamily="34" charset="-122"/>
                <a:cs typeface="Consolas" pitchFamily="34" charset="-120"/>
              </a:rPr>
              <a:t>combinaciones recorridas: 64</a:t>
            </a:r>
            <a:endParaRPr lang="en-US" sz="1000" dirty="0"/>
          </a:p>
        </p:txBody>
      </p:sp>
      <p:sp>
        <p:nvSpPr>
          <p:cNvPr id="23" name="Text 20"/>
          <p:cNvSpPr/>
          <p:nvPr/>
        </p:nvSpPr>
        <p:spPr>
          <a:xfrm>
            <a:off x="877824" y="3383280"/>
            <a:ext cx="5925312" cy="164592"/>
          </a:xfrm>
          <a:prstGeom prst="rect">
            <a:avLst/>
          </a:prstGeom>
          <a:noFill/>
          <a:ln/>
        </p:spPr>
        <p:txBody>
          <a:bodyPr wrap="square" lIns="0" tIns="0" rIns="0" bIns="0" rtlCol="0" anchor="ctr"/>
          <a:lstStyle/>
          <a:p>
            <a:pPr indent="0" marL="0">
              <a:buNone/>
            </a:pPr>
            <a:r>
              <a:rPr lang="en-US" sz="1000" dirty="0">
                <a:solidFill>
                  <a:srgbClr val="E6EEF7"/>
                </a:solidFill>
                <a:latin typeface="Consolas" pitchFamily="34" charset="0"/>
                <a:ea typeface="Consolas" pitchFamily="34" charset="-122"/>
                <a:cs typeface="Consolas" pitchFamily="34" charset="-120"/>
              </a:rPr>
              <a:t>desacuerdos encontrados : 3</a:t>
            </a:r>
            <a:endParaRPr lang="en-US" sz="1000" dirty="0"/>
          </a:p>
        </p:txBody>
      </p:sp>
      <p:sp>
        <p:nvSpPr>
          <p:cNvPr id="24" name="Text 21"/>
          <p:cNvSpPr/>
          <p:nvPr/>
        </p:nvSpPr>
        <p:spPr>
          <a:xfrm>
            <a:off x="877824" y="3639312"/>
            <a:ext cx="5925312" cy="164592"/>
          </a:xfrm>
          <a:prstGeom prst="rect">
            <a:avLst/>
          </a:prstGeom>
          <a:noFill/>
          <a:ln/>
        </p:spPr>
        <p:txBody>
          <a:bodyPr wrap="square" lIns="0" tIns="0" rIns="0" bIns="0" rtlCol="0" anchor="ctr"/>
          <a:lstStyle/>
          <a:p>
            <a:pPr indent="0" marL="0">
              <a:buNone/>
            </a:pPr>
            <a:endParaRPr lang="en-US" sz="1000" dirty="0"/>
          </a:p>
        </p:txBody>
      </p:sp>
      <p:sp>
        <p:nvSpPr>
          <p:cNvPr id="25" name="Text 22"/>
          <p:cNvSpPr/>
          <p:nvPr/>
        </p:nvSpPr>
        <p:spPr>
          <a:xfrm>
            <a:off x="877824" y="3895344"/>
            <a:ext cx="5925312" cy="164592"/>
          </a:xfrm>
          <a:prstGeom prst="rect">
            <a:avLst/>
          </a:prstGeom>
          <a:noFill/>
          <a:ln/>
        </p:spPr>
        <p:txBody>
          <a:bodyPr wrap="square" lIns="0" tIns="0" rIns="0" bIns="0" rtlCol="0" anchor="ctr"/>
          <a:lstStyle/>
          <a:p>
            <a:pPr indent="0" marL="0">
              <a:buNone/>
            </a:pPr>
            <a:r>
              <a:rPr lang="en-US" sz="1000" dirty="0">
                <a:solidFill>
                  <a:srgbClr val="E6EEF7"/>
                </a:solidFill>
                <a:latin typeface="Consolas" pitchFamily="34" charset="0"/>
                <a:ea typeface="Consolas" pitchFamily="34" charset="-122"/>
                <a:cs typeface="Consolas" pitchFamily="34" charset="-120"/>
              </a:rPr>
              <a:t>reservas=0 bloque=8 tomado=False -&gt; False, se esperaba True</a:t>
            </a:r>
            <a:endParaRPr lang="en-US" sz="1000" dirty="0"/>
          </a:p>
        </p:txBody>
      </p:sp>
      <p:sp>
        <p:nvSpPr>
          <p:cNvPr id="26" name="Text 23"/>
          <p:cNvSpPr/>
          <p:nvPr/>
        </p:nvSpPr>
        <p:spPr>
          <a:xfrm>
            <a:off x="877824" y="4151376"/>
            <a:ext cx="5925312" cy="164592"/>
          </a:xfrm>
          <a:prstGeom prst="rect">
            <a:avLst/>
          </a:prstGeom>
          <a:noFill/>
          <a:ln/>
        </p:spPr>
        <p:txBody>
          <a:bodyPr wrap="square" lIns="0" tIns="0" rIns="0" bIns="0" rtlCol="0" anchor="ctr"/>
          <a:lstStyle/>
          <a:p>
            <a:pPr indent="0" marL="0">
              <a:buNone/>
            </a:pPr>
            <a:r>
              <a:rPr lang="en-US" sz="1000" dirty="0">
                <a:solidFill>
                  <a:srgbClr val="E6EEF7"/>
                </a:solidFill>
                <a:latin typeface="Consolas" pitchFamily="34" charset="0"/>
                <a:ea typeface="Consolas" pitchFamily="34" charset="-122"/>
                <a:cs typeface="Consolas" pitchFamily="34" charset="-120"/>
              </a:rPr>
              <a:t>reservas=1 bloque=8 tomado=False -&gt; False, se esperaba True</a:t>
            </a:r>
            <a:endParaRPr lang="en-US" sz="1000" dirty="0"/>
          </a:p>
        </p:txBody>
      </p:sp>
      <p:sp>
        <p:nvSpPr>
          <p:cNvPr id="27" name="Text 24"/>
          <p:cNvSpPr/>
          <p:nvPr/>
        </p:nvSpPr>
        <p:spPr>
          <a:xfrm>
            <a:off x="877824" y="4407408"/>
            <a:ext cx="5925312" cy="164592"/>
          </a:xfrm>
          <a:prstGeom prst="rect">
            <a:avLst/>
          </a:prstGeom>
          <a:noFill/>
          <a:ln/>
        </p:spPr>
        <p:txBody>
          <a:bodyPr wrap="square" lIns="0" tIns="0" rIns="0" bIns="0" rtlCol="0" anchor="ctr"/>
          <a:lstStyle/>
          <a:p>
            <a:pPr indent="0" marL="0">
              <a:buNone/>
            </a:pPr>
            <a:r>
              <a:rPr lang="en-US" sz="1000" dirty="0">
                <a:solidFill>
                  <a:srgbClr val="E6EEF7"/>
                </a:solidFill>
                <a:latin typeface="Consolas" pitchFamily="34" charset="0"/>
                <a:ea typeface="Consolas" pitchFamily="34" charset="-122"/>
                <a:cs typeface="Consolas" pitchFamily="34" charset="-120"/>
              </a:rPr>
              <a:t>reservas=2 bloque=8 tomado=False -&gt; False, se esperaba True</a:t>
            </a:r>
            <a:endParaRPr lang="en-US" sz="1000" dirty="0"/>
          </a:p>
        </p:txBody>
      </p:sp>
      <p:sp>
        <p:nvSpPr>
          <p:cNvPr id="28" name="Shape 25"/>
          <p:cNvSpPr/>
          <p:nvPr/>
        </p:nvSpPr>
        <p:spPr>
          <a:xfrm>
            <a:off x="7516368" y="2304288"/>
            <a:ext cx="4014216" cy="1170432"/>
          </a:xfrm>
          <a:prstGeom prst="rect">
            <a:avLst/>
          </a:prstGeom>
          <a:solidFill>
            <a:srgbClr val="F8E4E5"/>
          </a:solidFill>
          <a:ln w="12700">
            <a:solidFill>
              <a:srgbClr val="F8E4E5"/>
            </a:solidFill>
            <a:prstDash val="solid"/>
          </a:ln>
        </p:spPr>
      </p:sp>
      <p:sp>
        <p:nvSpPr>
          <p:cNvPr id="29" name="Shape 26"/>
          <p:cNvSpPr/>
          <p:nvPr/>
        </p:nvSpPr>
        <p:spPr>
          <a:xfrm>
            <a:off x="7516368" y="2304288"/>
            <a:ext cx="64008" cy="1170432"/>
          </a:xfrm>
          <a:prstGeom prst="rect">
            <a:avLst/>
          </a:prstGeom>
          <a:solidFill>
            <a:srgbClr val="B3181E"/>
          </a:solidFill>
          <a:ln w="12700">
            <a:solidFill>
              <a:srgbClr val="B3181E"/>
            </a:solidFill>
            <a:prstDash val="solid"/>
          </a:ln>
        </p:spPr>
      </p:sp>
      <p:sp>
        <p:nvSpPr>
          <p:cNvPr id="30" name="Text 27"/>
          <p:cNvSpPr txBox="1"/>
          <p:nvPr/>
        </p:nvSpPr>
        <p:spPr>
          <a:xfrm>
            <a:off x="7827264" y="2487168"/>
            <a:ext cx="347472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EL MISMO VALOR, TRES VECES</a:t>
            </a:r>
            <a:endParaRPr lang="en-US" sz="960" dirty="0"/>
          </a:p>
        </p:txBody>
      </p:sp>
      <p:sp>
        <p:nvSpPr>
          <p:cNvPr id="31" name="Text 28"/>
          <p:cNvSpPr txBox="1"/>
          <p:nvPr/>
        </p:nvSpPr>
        <p:spPr>
          <a:xfrm>
            <a:off x="7827264" y="2743200"/>
            <a:ext cx="3383280" cy="365760"/>
          </a:xfrm>
          <a:prstGeom prst="rect">
            <a:avLst/>
          </a:prstGeom>
          <a:noFill/>
          <a:ln/>
        </p:spPr>
        <p:txBody>
          <a:bodyPr wrap="square" lIns="0" tIns="0" rIns="0" bIns="0" rtlCol="0" anchor="t"/>
          <a:lstStyle/>
          <a:p>
            <a:pPr algn="l" indent="0" marL="0">
              <a:buNone/>
            </a:pPr>
            <a:r>
              <a:rPr lang="en-US" sz="2600" b="1" dirty="0">
                <a:solidFill>
                  <a:srgbClr val="B3181E"/>
                </a:solidFill>
                <a:latin typeface="Aptos Display" pitchFamily="34" charset="0"/>
                <a:ea typeface="Aptos Display" pitchFamily="34" charset="-122"/>
                <a:cs typeface="Aptos Display" pitchFamily="34" charset="-120"/>
              </a:rPr>
              <a:t>bloque = 8</a:t>
            </a:r>
            <a:endParaRPr lang="en-US" sz="2600" dirty="0"/>
          </a:p>
        </p:txBody>
      </p:sp>
      <p:sp>
        <p:nvSpPr>
          <p:cNvPr id="32" name="Text 29"/>
          <p:cNvSpPr txBox="1"/>
          <p:nvPr/>
        </p:nvSpPr>
        <p:spPr>
          <a:xfrm>
            <a:off x="7827264" y="3145536"/>
            <a:ext cx="3383280" cy="237744"/>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El requisito lo incluye. El código lo excluye.</a:t>
            </a:r>
            <a:endParaRPr lang="en-US" sz="1160" dirty="0"/>
          </a:p>
        </p:txBody>
      </p:sp>
      <p:sp>
        <p:nvSpPr>
          <p:cNvPr id="33" name="Shape 30"/>
          <p:cNvSpPr/>
          <p:nvPr/>
        </p:nvSpPr>
        <p:spPr>
          <a:xfrm>
            <a:off x="7516368" y="3602736"/>
            <a:ext cx="4014216" cy="1188720"/>
          </a:xfrm>
          <a:prstGeom prst="rect">
            <a:avLst/>
          </a:prstGeom>
          <a:solidFill>
            <a:srgbClr val="E9F6EE"/>
          </a:solidFill>
          <a:ln w="12700">
            <a:solidFill>
              <a:srgbClr val="E9F6EE"/>
            </a:solidFill>
            <a:prstDash val="solid"/>
          </a:ln>
        </p:spPr>
      </p:sp>
      <p:sp>
        <p:nvSpPr>
          <p:cNvPr id="34" name="Shape 31"/>
          <p:cNvSpPr/>
          <p:nvPr/>
        </p:nvSpPr>
        <p:spPr>
          <a:xfrm>
            <a:off x="7516368" y="3602736"/>
            <a:ext cx="64008" cy="1188720"/>
          </a:xfrm>
          <a:prstGeom prst="rect">
            <a:avLst/>
          </a:prstGeom>
          <a:solidFill>
            <a:srgbClr val="2E7D4F"/>
          </a:solidFill>
          <a:ln w="12700">
            <a:solidFill>
              <a:srgbClr val="2E7D4F"/>
            </a:solidFill>
            <a:prstDash val="solid"/>
          </a:ln>
        </p:spPr>
      </p:sp>
      <p:sp>
        <p:nvSpPr>
          <p:cNvPr id="35" name="Text 32"/>
          <p:cNvSpPr txBox="1"/>
          <p:nvPr/>
        </p:nvSpPr>
        <p:spPr>
          <a:xfrm>
            <a:off x="7827264" y="3803904"/>
            <a:ext cx="3383280" cy="822960"/>
          </a:xfrm>
          <a:prstGeom prst="rect">
            <a:avLst/>
          </a:prstGeom>
          <a:noFill/>
          <a:ln/>
        </p:spPr>
        <p:txBody>
          <a:bodyPr wrap="square" lIns="0" tIns="0" rIns="0" bIns="0" rtlCol="0" anchor="t"/>
          <a:lstStyle/>
          <a:p>
            <a:pPr algn="l" indent="0" marL="0">
              <a:lnSpc>
                <a:spcPct val="118000"/>
              </a:lnSpc>
              <a:buNone/>
            </a:pPr>
            <a:r>
              <a:rPr lang="en-US" sz="1240" dirty="0">
                <a:solidFill>
                  <a:srgbClr val="243B53"/>
                </a:solidFill>
                <a:latin typeface="Aptos" pitchFamily="34" charset="0"/>
                <a:ea typeface="Aptos" pitchFamily="34" charset="-122"/>
                <a:cs typeface="Aptos" pitchFamily="34" charset="-120"/>
              </a:rPr>
              <a:t>Ninguna corazonada intervino. Se recorrió el conjunto entero y se comparó cada salida contra la regla escrita.</a:t>
            </a:r>
            <a:endParaRPr lang="en-US" sz="1240" dirty="0"/>
          </a:p>
        </p:txBody>
      </p:sp>
      <p:sp>
        <p:nvSpPr>
          <p:cNvPr id="36" name="Shape 33"/>
          <p:cNvSpPr/>
          <p:nvPr/>
        </p:nvSpPr>
        <p:spPr>
          <a:xfrm>
            <a:off x="658368" y="5138928"/>
            <a:ext cx="10874959" cy="548640"/>
          </a:xfrm>
          <a:prstGeom prst="rect">
            <a:avLst/>
          </a:prstGeom>
          <a:solidFill>
            <a:srgbClr val="102A43"/>
          </a:solidFill>
          <a:ln w="12700">
            <a:solidFill>
              <a:srgbClr val="102A43"/>
            </a:solidFill>
            <a:prstDash val="solid"/>
          </a:ln>
        </p:spPr>
      </p:sp>
      <p:sp>
        <p:nvSpPr>
          <p:cNvPr id="37" name="Text 34"/>
          <p:cNvSpPr txBox="1"/>
          <p:nvPr/>
        </p:nvSpPr>
        <p:spPr>
          <a:xfrm>
            <a:off x="969264" y="5175504"/>
            <a:ext cx="10253167" cy="475488"/>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Entonces, ¿por qué no es esta la respuesta del curso? Por dos razones, y las dos importan.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16</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EL NOMBRE DE LO QUE FALTABA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La cuarta parte de toda prueba</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Tres partes son fáciles de montar. La cuarta es la que decide, y es la que da trabajo.</a:t>
            </a:r>
            <a:endParaRPr lang="en-US" sz="1450" dirty="0"/>
          </a:p>
        </p:txBody>
      </p:sp>
      <p:sp>
        <p:nvSpPr>
          <p:cNvPr id="11" name="Shape 8"/>
          <p:cNvSpPr/>
          <p:nvPr/>
        </p:nvSpPr>
        <p:spPr>
          <a:xfrm>
            <a:off x="658368" y="2286000"/>
            <a:ext cx="2624328" cy="1371600"/>
          </a:xfrm>
          <a:prstGeom prst="rect">
            <a:avLst/>
          </a:prstGeom>
          <a:solidFill>
            <a:srgbClr val="FFFFFF"/>
          </a:solidFill>
          <a:ln w="12700">
            <a:solidFill>
              <a:srgbClr val="FFFFFF"/>
            </a:solidFill>
            <a:prstDash val="solid"/>
          </a:ln>
        </p:spPr>
      </p:sp>
      <p:sp>
        <p:nvSpPr>
          <p:cNvPr id="12" name="Shape 9"/>
          <p:cNvSpPr/>
          <p:nvPr/>
        </p:nvSpPr>
        <p:spPr>
          <a:xfrm>
            <a:off x="658368" y="2286000"/>
            <a:ext cx="2624328" cy="45720"/>
          </a:xfrm>
          <a:prstGeom prst="rect">
            <a:avLst/>
          </a:prstGeom>
          <a:solidFill>
            <a:srgbClr val="52606D"/>
          </a:solidFill>
          <a:ln w="12700">
            <a:solidFill>
              <a:srgbClr val="52606D"/>
            </a:solidFill>
            <a:prstDash val="solid"/>
          </a:ln>
        </p:spPr>
      </p:sp>
      <p:sp>
        <p:nvSpPr>
          <p:cNvPr id="13" name="Text 10"/>
          <p:cNvSpPr txBox="1"/>
          <p:nvPr/>
        </p:nvSpPr>
        <p:spPr>
          <a:xfrm>
            <a:off x="877824" y="2414016"/>
            <a:ext cx="365760" cy="310896"/>
          </a:xfrm>
          <a:prstGeom prst="rect">
            <a:avLst/>
          </a:prstGeom>
          <a:noFill/>
          <a:ln/>
        </p:spPr>
        <p:txBody>
          <a:bodyPr wrap="square" lIns="0" tIns="0" rIns="0" bIns="0" rtlCol="0" anchor="t"/>
          <a:lstStyle/>
          <a:p>
            <a:pPr algn="l" indent="0" marL="0">
              <a:buNone/>
            </a:pPr>
            <a:r>
              <a:rPr lang="en-US" sz="1900" b="1" dirty="0">
                <a:solidFill>
                  <a:srgbClr val="52606D"/>
                </a:solidFill>
                <a:latin typeface="Aptos Display" pitchFamily="34" charset="0"/>
                <a:ea typeface="Aptos Display" pitchFamily="34" charset="-122"/>
                <a:cs typeface="Aptos Display" pitchFamily="34" charset="-120"/>
              </a:rPr>
              <a:t>1</a:t>
            </a:r>
            <a:endParaRPr lang="en-US" sz="1900" dirty="0"/>
          </a:p>
        </p:txBody>
      </p:sp>
      <p:sp>
        <p:nvSpPr>
          <p:cNvPr id="14" name="Text 11"/>
          <p:cNvSpPr txBox="1"/>
          <p:nvPr/>
        </p:nvSpPr>
        <p:spPr>
          <a:xfrm>
            <a:off x="1280160" y="2432304"/>
            <a:ext cx="1783080" cy="402336"/>
          </a:xfrm>
          <a:prstGeom prst="rect">
            <a:avLst/>
          </a:prstGeom>
          <a:noFill/>
          <a:ln/>
        </p:spPr>
        <p:txBody>
          <a:bodyPr wrap="square" lIns="0" tIns="0" rIns="0" bIns="0" rtlCol="0" anchor="t"/>
          <a:lstStyle/>
          <a:p>
            <a:pPr algn="l" indent="0" marL="0">
              <a:lnSpc>
                <a:spcPct val="110000"/>
              </a:lnSpc>
              <a:buNone/>
            </a:pPr>
            <a:r>
              <a:rPr lang="en-US" sz="1340" b="1" dirty="0">
                <a:solidFill>
                  <a:srgbClr val="243B53"/>
                </a:solidFill>
                <a:latin typeface="Aptos" pitchFamily="34" charset="0"/>
                <a:ea typeface="Aptos" pitchFamily="34" charset="-122"/>
                <a:cs typeface="Aptos" pitchFamily="34" charset="-120"/>
              </a:rPr>
              <a:t>La entrada</a:t>
            </a:r>
            <a:endParaRPr lang="en-US" sz="1340" dirty="0"/>
          </a:p>
        </p:txBody>
      </p:sp>
      <p:sp>
        <p:nvSpPr>
          <p:cNvPr id="15" name="Text 12"/>
          <p:cNvSpPr txBox="1"/>
          <p:nvPr/>
        </p:nvSpPr>
        <p:spPr>
          <a:xfrm>
            <a:off x="877824" y="2889504"/>
            <a:ext cx="2185416" cy="274320"/>
          </a:xfrm>
          <a:prstGeom prst="rect">
            <a:avLst/>
          </a:prstGeom>
          <a:noFill/>
          <a:ln/>
        </p:spPr>
        <p:txBody>
          <a:bodyPr wrap="square" lIns="0" tIns="0" rIns="0" bIns="0" rtlCol="0" anchor="t"/>
          <a:lstStyle/>
          <a:p>
            <a:pPr algn="l" indent="0" marL="0">
              <a:buNone/>
            </a:pPr>
            <a:r>
              <a:rPr lang="en-US" sz="1350" b="1" dirty="0">
                <a:solidFill>
                  <a:srgbClr val="52606D"/>
                </a:solidFill>
                <a:latin typeface="Consolas" pitchFamily="34" charset="0"/>
                <a:ea typeface="Consolas" pitchFamily="34" charset="-122"/>
                <a:cs typeface="Consolas" pitchFamily="34" charset="-120"/>
              </a:rPr>
              <a:t>bloque = 8</a:t>
            </a:r>
            <a:endParaRPr lang="en-US" sz="1350" dirty="0"/>
          </a:p>
        </p:txBody>
      </p:sp>
      <p:sp>
        <p:nvSpPr>
          <p:cNvPr id="16" name="Text 13"/>
          <p:cNvSpPr txBox="1"/>
          <p:nvPr/>
        </p:nvSpPr>
        <p:spPr>
          <a:xfrm>
            <a:off x="877824" y="3200400"/>
            <a:ext cx="2185416" cy="384048"/>
          </a:xfrm>
          <a:prstGeom prst="rect">
            <a:avLst/>
          </a:prstGeom>
          <a:noFill/>
          <a:ln/>
        </p:spPr>
        <p:txBody>
          <a:bodyPr wrap="square" lIns="0" tIns="0" rIns="0" bIns="0" rtlCol="0" anchor="t"/>
          <a:lstStyle/>
          <a:p>
            <a:pPr algn="l" indent="0" marL="0">
              <a:lnSpc>
                <a:spcPct val="114000"/>
              </a:lnSpc>
              <a:buNone/>
            </a:pPr>
            <a:r>
              <a:rPr lang="en-US" sz="1140" dirty="0">
                <a:solidFill>
                  <a:srgbClr val="243B53"/>
                </a:solidFill>
                <a:latin typeface="Aptos" pitchFamily="34" charset="0"/>
                <a:ea typeface="Aptos" pitchFamily="34" charset="-122"/>
                <a:cs typeface="Aptos" pitchFamily="34" charset="-120"/>
              </a:rPr>
              <a:t>Los valores con los que se ejecuta.</a:t>
            </a:r>
            <a:endParaRPr lang="en-US" sz="1140" dirty="0"/>
          </a:p>
        </p:txBody>
      </p:sp>
      <p:sp>
        <p:nvSpPr>
          <p:cNvPr id="17" name="Shape 14"/>
          <p:cNvSpPr/>
          <p:nvPr/>
        </p:nvSpPr>
        <p:spPr>
          <a:xfrm>
            <a:off x="3291840" y="2971800"/>
            <a:ext cx="109728" cy="0"/>
          </a:xfrm>
          <a:prstGeom prst="line">
            <a:avLst/>
          </a:prstGeom>
          <a:noFill/>
          <a:ln w="12700">
            <a:solidFill>
              <a:srgbClr val="52606D"/>
            </a:solidFill>
            <a:prstDash val="solid"/>
            <a:headEnd type="none"/>
            <a:tailEnd type="triangle"/>
          </a:ln>
        </p:spPr>
      </p:sp>
      <p:sp>
        <p:nvSpPr>
          <p:cNvPr id="18" name="Shape 15"/>
          <p:cNvSpPr/>
          <p:nvPr/>
        </p:nvSpPr>
        <p:spPr>
          <a:xfrm>
            <a:off x="3410712" y="2286000"/>
            <a:ext cx="2624328" cy="1371600"/>
          </a:xfrm>
          <a:prstGeom prst="rect">
            <a:avLst/>
          </a:prstGeom>
          <a:solidFill>
            <a:srgbClr val="FFFFFF"/>
          </a:solidFill>
          <a:ln w="12700">
            <a:solidFill>
              <a:srgbClr val="FFFFFF"/>
            </a:solidFill>
            <a:prstDash val="solid"/>
          </a:ln>
        </p:spPr>
      </p:sp>
      <p:sp>
        <p:nvSpPr>
          <p:cNvPr id="19" name="Shape 16"/>
          <p:cNvSpPr/>
          <p:nvPr/>
        </p:nvSpPr>
        <p:spPr>
          <a:xfrm>
            <a:off x="3410712" y="2286000"/>
            <a:ext cx="2624328" cy="45720"/>
          </a:xfrm>
          <a:prstGeom prst="rect">
            <a:avLst/>
          </a:prstGeom>
          <a:solidFill>
            <a:srgbClr val="52606D"/>
          </a:solidFill>
          <a:ln w="12700">
            <a:solidFill>
              <a:srgbClr val="52606D"/>
            </a:solidFill>
            <a:prstDash val="solid"/>
          </a:ln>
        </p:spPr>
      </p:sp>
      <p:sp>
        <p:nvSpPr>
          <p:cNvPr id="20" name="Text 17"/>
          <p:cNvSpPr txBox="1"/>
          <p:nvPr/>
        </p:nvSpPr>
        <p:spPr>
          <a:xfrm>
            <a:off x="3630168" y="2414016"/>
            <a:ext cx="365760" cy="310896"/>
          </a:xfrm>
          <a:prstGeom prst="rect">
            <a:avLst/>
          </a:prstGeom>
          <a:noFill/>
          <a:ln/>
        </p:spPr>
        <p:txBody>
          <a:bodyPr wrap="square" lIns="0" tIns="0" rIns="0" bIns="0" rtlCol="0" anchor="t"/>
          <a:lstStyle/>
          <a:p>
            <a:pPr algn="l" indent="0" marL="0">
              <a:buNone/>
            </a:pPr>
            <a:r>
              <a:rPr lang="en-US" sz="1900" b="1" dirty="0">
                <a:solidFill>
                  <a:srgbClr val="52606D"/>
                </a:solidFill>
                <a:latin typeface="Aptos Display" pitchFamily="34" charset="0"/>
                <a:ea typeface="Aptos Display" pitchFamily="34" charset="-122"/>
                <a:cs typeface="Aptos Display" pitchFamily="34" charset="-120"/>
              </a:rPr>
              <a:t>2</a:t>
            </a:r>
            <a:endParaRPr lang="en-US" sz="1900" dirty="0"/>
          </a:p>
        </p:txBody>
      </p:sp>
      <p:sp>
        <p:nvSpPr>
          <p:cNvPr id="21" name="Text 18"/>
          <p:cNvSpPr txBox="1"/>
          <p:nvPr/>
        </p:nvSpPr>
        <p:spPr>
          <a:xfrm>
            <a:off x="4032504" y="2432304"/>
            <a:ext cx="1783080" cy="402336"/>
          </a:xfrm>
          <a:prstGeom prst="rect">
            <a:avLst/>
          </a:prstGeom>
          <a:noFill/>
          <a:ln/>
        </p:spPr>
        <p:txBody>
          <a:bodyPr wrap="square" lIns="0" tIns="0" rIns="0" bIns="0" rtlCol="0" anchor="t"/>
          <a:lstStyle/>
          <a:p>
            <a:pPr algn="l" indent="0" marL="0">
              <a:lnSpc>
                <a:spcPct val="110000"/>
              </a:lnSpc>
              <a:buNone/>
            </a:pPr>
            <a:r>
              <a:rPr lang="en-US" sz="1340" b="1" dirty="0">
                <a:solidFill>
                  <a:srgbClr val="243B53"/>
                </a:solidFill>
                <a:latin typeface="Aptos" pitchFamily="34" charset="0"/>
                <a:ea typeface="Aptos" pitchFamily="34" charset="-122"/>
                <a:cs typeface="Aptos" pitchFamily="34" charset="-120"/>
              </a:rPr>
              <a:t>El programa</a:t>
            </a:r>
            <a:endParaRPr lang="en-US" sz="1340" dirty="0"/>
          </a:p>
        </p:txBody>
      </p:sp>
      <p:sp>
        <p:nvSpPr>
          <p:cNvPr id="22" name="Text 19"/>
          <p:cNvSpPr txBox="1"/>
          <p:nvPr/>
        </p:nvSpPr>
        <p:spPr>
          <a:xfrm>
            <a:off x="3630168" y="2889504"/>
            <a:ext cx="2185416" cy="274320"/>
          </a:xfrm>
          <a:prstGeom prst="rect">
            <a:avLst/>
          </a:prstGeom>
          <a:noFill/>
          <a:ln/>
        </p:spPr>
        <p:txBody>
          <a:bodyPr wrap="square" lIns="0" tIns="0" rIns="0" bIns="0" rtlCol="0" anchor="t"/>
          <a:lstStyle/>
          <a:p>
            <a:pPr algn="l" indent="0" marL="0">
              <a:buNone/>
            </a:pPr>
            <a:r>
              <a:rPr lang="en-US" sz="1350" b="1" dirty="0">
                <a:solidFill>
                  <a:srgbClr val="52606D"/>
                </a:solidFill>
                <a:latin typeface="Consolas" pitchFamily="34" charset="0"/>
                <a:ea typeface="Consolas" pitchFamily="34" charset="-122"/>
                <a:cs typeface="Consolas" pitchFamily="34" charset="-120"/>
              </a:rPr>
              <a:t>puede_reservar()</a:t>
            </a:r>
            <a:endParaRPr lang="en-US" sz="1350" dirty="0"/>
          </a:p>
        </p:txBody>
      </p:sp>
      <p:sp>
        <p:nvSpPr>
          <p:cNvPr id="23" name="Text 20"/>
          <p:cNvSpPr txBox="1"/>
          <p:nvPr/>
        </p:nvSpPr>
        <p:spPr>
          <a:xfrm>
            <a:off x="3630168" y="3200400"/>
            <a:ext cx="2185416" cy="384048"/>
          </a:xfrm>
          <a:prstGeom prst="rect">
            <a:avLst/>
          </a:prstGeom>
          <a:noFill/>
          <a:ln/>
        </p:spPr>
        <p:txBody>
          <a:bodyPr wrap="square" lIns="0" tIns="0" rIns="0" bIns="0" rtlCol="0" anchor="t"/>
          <a:lstStyle/>
          <a:p>
            <a:pPr algn="l" indent="0" marL="0">
              <a:lnSpc>
                <a:spcPct val="114000"/>
              </a:lnSpc>
              <a:buNone/>
            </a:pPr>
            <a:r>
              <a:rPr lang="en-US" sz="1140" dirty="0">
                <a:solidFill>
                  <a:srgbClr val="243B53"/>
                </a:solidFill>
                <a:latin typeface="Aptos" pitchFamily="34" charset="0"/>
                <a:ea typeface="Aptos" pitchFamily="34" charset="-122"/>
                <a:cs typeface="Aptos" pitchFamily="34" charset="-120"/>
              </a:rPr>
              <a:t>El código que se está probando.</a:t>
            </a:r>
            <a:endParaRPr lang="en-US" sz="1140" dirty="0"/>
          </a:p>
        </p:txBody>
      </p:sp>
      <p:sp>
        <p:nvSpPr>
          <p:cNvPr id="24" name="Shape 21"/>
          <p:cNvSpPr/>
          <p:nvPr/>
        </p:nvSpPr>
        <p:spPr>
          <a:xfrm>
            <a:off x="6044184" y="2971800"/>
            <a:ext cx="109728" cy="0"/>
          </a:xfrm>
          <a:prstGeom prst="line">
            <a:avLst/>
          </a:prstGeom>
          <a:noFill/>
          <a:ln w="12700">
            <a:solidFill>
              <a:srgbClr val="52606D"/>
            </a:solidFill>
            <a:prstDash val="solid"/>
            <a:headEnd type="none"/>
            <a:tailEnd type="triangle"/>
          </a:ln>
        </p:spPr>
      </p:sp>
      <p:sp>
        <p:nvSpPr>
          <p:cNvPr id="25" name="Shape 22"/>
          <p:cNvSpPr/>
          <p:nvPr/>
        </p:nvSpPr>
        <p:spPr>
          <a:xfrm>
            <a:off x="6163056" y="2286000"/>
            <a:ext cx="2624328" cy="1371600"/>
          </a:xfrm>
          <a:prstGeom prst="rect">
            <a:avLst/>
          </a:prstGeom>
          <a:solidFill>
            <a:srgbClr val="FFFFFF"/>
          </a:solidFill>
          <a:ln w="12700">
            <a:solidFill>
              <a:srgbClr val="FFFFFF"/>
            </a:solidFill>
            <a:prstDash val="solid"/>
          </a:ln>
        </p:spPr>
      </p:sp>
      <p:sp>
        <p:nvSpPr>
          <p:cNvPr id="26" name="Shape 23"/>
          <p:cNvSpPr/>
          <p:nvPr/>
        </p:nvSpPr>
        <p:spPr>
          <a:xfrm>
            <a:off x="6163056" y="2286000"/>
            <a:ext cx="2624328" cy="45720"/>
          </a:xfrm>
          <a:prstGeom prst="rect">
            <a:avLst/>
          </a:prstGeom>
          <a:solidFill>
            <a:srgbClr val="52606D"/>
          </a:solidFill>
          <a:ln w="12700">
            <a:solidFill>
              <a:srgbClr val="52606D"/>
            </a:solidFill>
            <a:prstDash val="solid"/>
          </a:ln>
        </p:spPr>
      </p:sp>
      <p:sp>
        <p:nvSpPr>
          <p:cNvPr id="27" name="Text 24"/>
          <p:cNvSpPr txBox="1"/>
          <p:nvPr/>
        </p:nvSpPr>
        <p:spPr>
          <a:xfrm>
            <a:off x="6382512" y="2414016"/>
            <a:ext cx="365760" cy="310896"/>
          </a:xfrm>
          <a:prstGeom prst="rect">
            <a:avLst/>
          </a:prstGeom>
          <a:noFill/>
          <a:ln/>
        </p:spPr>
        <p:txBody>
          <a:bodyPr wrap="square" lIns="0" tIns="0" rIns="0" bIns="0" rtlCol="0" anchor="t"/>
          <a:lstStyle/>
          <a:p>
            <a:pPr algn="l" indent="0" marL="0">
              <a:buNone/>
            </a:pPr>
            <a:r>
              <a:rPr lang="en-US" sz="1900" b="1" dirty="0">
                <a:solidFill>
                  <a:srgbClr val="52606D"/>
                </a:solidFill>
                <a:latin typeface="Aptos Display" pitchFamily="34" charset="0"/>
                <a:ea typeface="Aptos Display" pitchFamily="34" charset="-122"/>
                <a:cs typeface="Aptos Display" pitchFamily="34" charset="-120"/>
              </a:rPr>
              <a:t>3</a:t>
            </a:r>
            <a:endParaRPr lang="en-US" sz="1900" dirty="0"/>
          </a:p>
        </p:txBody>
      </p:sp>
      <p:sp>
        <p:nvSpPr>
          <p:cNvPr id="28" name="Text 25"/>
          <p:cNvSpPr txBox="1"/>
          <p:nvPr/>
        </p:nvSpPr>
        <p:spPr>
          <a:xfrm>
            <a:off x="6784848" y="2432304"/>
            <a:ext cx="1783080" cy="402336"/>
          </a:xfrm>
          <a:prstGeom prst="rect">
            <a:avLst/>
          </a:prstGeom>
          <a:noFill/>
          <a:ln/>
        </p:spPr>
        <p:txBody>
          <a:bodyPr wrap="square" lIns="0" tIns="0" rIns="0" bIns="0" rtlCol="0" anchor="t"/>
          <a:lstStyle/>
          <a:p>
            <a:pPr algn="l" indent="0" marL="0">
              <a:lnSpc>
                <a:spcPct val="110000"/>
              </a:lnSpc>
              <a:buNone/>
            </a:pPr>
            <a:r>
              <a:rPr lang="en-US" sz="1340" b="1" dirty="0">
                <a:solidFill>
                  <a:srgbClr val="243B53"/>
                </a:solidFill>
                <a:latin typeface="Aptos" pitchFamily="34" charset="0"/>
                <a:ea typeface="Aptos" pitchFamily="34" charset="-122"/>
                <a:cs typeface="Aptos" pitchFamily="34" charset="-120"/>
              </a:rPr>
              <a:t>La salida</a:t>
            </a:r>
            <a:endParaRPr lang="en-US" sz="1340" dirty="0"/>
          </a:p>
        </p:txBody>
      </p:sp>
      <p:sp>
        <p:nvSpPr>
          <p:cNvPr id="29" name="Text 26"/>
          <p:cNvSpPr txBox="1"/>
          <p:nvPr/>
        </p:nvSpPr>
        <p:spPr>
          <a:xfrm>
            <a:off x="6382512" y="2889504"/>
            <a:ext cx="2185416" cy="274320"/>
          </a:xfrm>
          <a:prstGeom prst="rect">
            <a:avLst/>
          </a:prstGeom>
          <a:noFill/>
          <a:ln/>
        </p:spPr>
        <p:txBody>
          <a:bodyPr wrap="square" lIns="0" tIns="0" rIns="0" bIns="0" rtlCol="0" anchor="t"/>
          <a:lstStyle/>
          <a:p>
            <a:pPr algn="l" indent="0" marL="0">
              <a:buNone/>
            </a:pPr>
            <a:r>
              <a:rPr lang="en-US" sz="1350" b="1" dirty="0">
                <a:solidFill>
                  <a:srgbClr val="52606D"/>
                </a:solidFill>
                <a:latin typeface="Consolas" pitchFamily="34" charset="0"/>
                <a:ea typeface="Consolas" pitchFamily="34" charset="-122"/>
                <a:cs typeface="Consolas" pitchFamily="34" charset="-120"/>
              </a:rPr>
              <a:t>False</a:t>
            </a:r>
            <a:endParaRPr lang="en-US" sz="1350" dirty="0"/>
          </a:p>
        </p:txBody>
      </p:sp>
      <p:sp>
        <p:nvSpPr>
          <p:cNvPr id="30" name="Text 27"/>
          <p:cNvSpPr txBox="1"/>
          <p:nvPr/>
        </p:nvSpPr>
        <p:spPr>
          <a:xfrm>
            <a:off x="6382512" y="3200400"/>
            <a:ext cx="2185416" cy="384048"/>
          </a:xfrm>
          <a:prstGeom prst="rect">
            <a:avLst/>
          </a:prstGeom>
          <a:noFill/>
          <a:ln/>
        </p:spPr>
        <p:txBody>
          <a:bodyPr wrap="square" lIns="0" tIns="0" rIns="0" bIns="0" rtlCol="0" anchor="t"/>
          <a:lstStyle/>
          <a:p>
            <a:pPr algn="l" indent="0" marL="0">
              <a:lnSpc>
                <a:spcPct val="114000"/>
              </a:lnSpc>
              <a:buNone/>
            </a:pPr>
            <a:r>
              <a:rPr lang="en-US" sz="1140" dirty="0">
                <a:solidFill>
                  <a:srgbClr val="243B53"/>
                </a:solidFill>
                <a:latin typeface="Aptos" pitchFamily="34" charset="0"/>
                <a:ea typeface="Aptos" pitchFamily="34" charset="-122"/>
                <a:cs typeface="Aptos" pitchFamily="34" charset="-120"/>
              </a:rPr>
              <a:t>Lo que el programa devolvió.</a:t>
            </a:r>
            <a:endParaRPr lang="en-US" sz="1140" dirty="0"/>
          </a:p>
        </p:txBody>
      </p:sp>
      <p:sp>
        <p:nvSpPr>
          <p:cNvPr id="31" name="Shape 28"/>
          <p:cNvSpPr/>
          <p:nvPr/>
        </p:nvSpPr>
        <p:spPr>
          <a:xfrm>
            <a:off x="8796528" y="2971800"/>
            <a:ext cx="109728" cy="0"/>
          </a:xfrm>
          <a:prstGeom prst="line">
            <a:avLst/>
          </a:prstGeom>
          <a:noFill/>
          <a:ln w="12700">
            <a:solidFill>
              <a:srgbClr val="52606D"/>
            </a:solidFill>
            <a:prstDash val="solid"/>
            <a:headEnd type="none"/>
            <a:tailEnd type="triangle"/>
          </a:ln>
        </p:spPr>
      </p:sp>
      <p:sp>
        <p:nvSpPr>
          <p:cNvPr id="32" name="Shape 29"/>
          <p:cNvSpPr/>
          <p:nvPr/>
        </p:nvSpPr>
        <p:spPr>
          <a:xfrm>
            <a:off x="8915400" y="2286000"/>
            <a:ext cx="2624328" cy="1371600"/>
          </a:xfrm>
          <a:prstGeom prst="rect">
            <a:avLst/>
          </a:prstGeom>
          <a:solidFill>
            <a:srgbClr val="F2E7D9"/>
          </a:solidFill>
          <a:ln w="12700">
            <a:solidFill>
              <a:srgbClr val="F2E7D9"/>
            </a:solidFill>
            <a:prstDash val="solid"/>
          </a:ln>
        </p:spPr>
      </p:sp>
      <p:sp>
        <p:nvSpPr>
          <p:cNvPr id="33" name="Shape 30"/>
          <p:cNvSpPr/>
          <p:nvPr/>
        </p:nvSpPr>
        <p:spPr>
          <a:xfrm>
            <a:off x="8915400" y="2286000"/>
            <a:ext cx="2624328" cy="64008"/>
          </a:xfrm>
          <a:prstGeom prst="rect">
            <a:avLst/>
          </a:prstGeom>
          <a:solidFill>
            <a:srgbClr val="8A6A12"/>
          </a:solidFill>
          <a:ln w="12700">
            <a:solidFill>
              <a:srgbClr val="8A6A12"/>
            </a:solidFill>
            <a:prstDash val="solid"/>
          </a:ln>
        </p:spPr>
      </p:sp>
      <p:sp>
        <p:nvSpPr>
          <p:cNvPr id="34" name="Text 31"/>
          <p:cNvSpPr txBox="1"/>
          <p:nvPr/>
        </p:nvSpPr>
        <p:spPr>
          <a:xfrm>
            <a:off x="9134856" y="2414016"/>
            <a:ext cx="365760" cy="310896"/>
          </a:xfrm>
          <a:prstGeom prst="rect">
            <a:avLst/>
          </a:prstGeom>
          <a:noFill/>
          <a:ln/>
        </p:spPr>
        <p:txBody>
          <a:bodyPr wrap="square" lIns="0" tIns="0" rIns="0" bIns="0" rtlCol="0" anchor="t"/>
          <a:lstStyle/>
          <a:p>
            <a:pPr algn="l" indent="0" marL="0">
              <a:buNone/>
            </a:pPr>
            <a:r>
              <a:rPr lang="en-US" sz="1900" b="1" dirty="0">
                <a:solidFill>
                  <a:srgbClr val="8A6A12"/>
                </a:solidFill>
                <a:latin typeface="Aptos Display" pitchFamily="34" charset="0"/>
                <a:ea typeface="Aptos Display" pitchFamily="34" charset="-122"/>
                <a:cs typeface="Aptos Display" pitchFamily="34" charset="-120"/>
              </a:rPr>
              <a:t>4</a:t>
            </a:r>
            <a:endParaRPr lang="en-US" sz="1900" dirty="0"/>
          </a:p>
        </p:txBody>
      </p:sp>
      <p:sp>
        <p:nvSpPr>
          <p:cNvPr id="35" name="Text 32"/>
          <p:cNvSpPr txBox="1"/>
          <p:nvPr/>
        </p:nvSpPr>
        <p:spPr>
          <a:xfrm>
            <a:off x="9537192" y="2432304"/>
            <a:ext cx="1783080" cy="402336"/>
          </a:xfrm>
          <a:prstGeom prst="rect">
            <a:avLst/>
          </a:prstGeom>
          <a:noFill/>
          <a:ln/>
        </p:spPr>
        <p:txBody>
          <a:bodyPr wrap="square" lIns="0" tIns="0" rIns="0" bIns="0" rtlCol="0" anchor="t"/>
          <a:lstStyle/>
          <a:p>
            <a:pPr algn="l" indent="0" marL="0">
              <a:lnSpc>
                <a:spcPct val="110000"/>
              </a:lnSpc>
              <a:buNone/>
            </a:pPr>
            <a:r>
              <a:rPr lang="en-US" sz="1240" b="1" dirty="0">
                <a:solidFill>
                  <a:srgbClr val="243B53"/>
                </a:solidFill>
                <a:latin typeface="Aptos" pitchFamily="34" charset="0"/>
                <a:ea typeface="Aptos" pitchFamily="34" charset="-122"/>
                <a:cs typeface="Aptos" pitchFamily="34" charset="-120"/>
              </a:rPr>
              <a:t>Lo que decide si esa salida es correcta</a:t>
            </a:r>
            <a:endParaRPr lang="en-US" sz="1240" dirty="0"/>
          </a:p>
        </p:txBody>
      </p:sp>
      <p:sp>
        <p:nvSpPr>
          <p:cNvPr id="36" name="Text 33"/>
          <p:cNvSpPr txBox="1"/>
          <p:nvPr/>
        </p:nvSpPr>
        <p:spPr>
          <a:xfrm>
            <a:off x="9134856" y="2889504"/>
            <a:ext cx="2185416" cy="274320"/>
          </a:xfrm>
          <a:prstGeom prst="rect">
            <a:avLst/>
          </a:prstGeom>
          <a:noFill/>
          <a:ln/>
        </p:spPr>
        <p:txBody>
          <a:bodyPr wrap="square" lIns="0" tIns="0" rIns="0" bIns="0" rtlCol="0" anchor="t"/>
          <a:lstStyle/>
          <a:p>
            <a:pPr algn="l" indent="0" marL="0">
              <a:buNone/>
            </a:pPr>
            <a:r>
              <a:rPr lang="en-US" sz="1350" b="1" dirty="0">
                <a:solidFill>
                  <a:srgbClr val="8A6A12"/>
                </a:solidFill>
                <a:latin typeface="Consolas" pitchFamily="34" charset="0"/>
                <a:ea typeface="Consolas" pitchFamily="34" charset="-122"/>
                <a:cs typeface="Consolas" pitchFamily="34" charset="-120"/>
              </a:rPr>
              <a:t>se esperaba True</a:t>
            </a:r>
            <a:endParaRPr lang="en-US" sz="1350" dirty="0"/>
          </a:p>
        </p:txBody>
      </p:sp>
      <p:sp>
        <p:nvSpPr>
          <p:cNvPr id="37" name="Text 34"/>
          <p:cNvSpPr txBox="1"/>
          <p:nvPr/>
        </p:nvSpPr>
        <p:spPr>
          <a:xfrm>
            <a:off x="9134856" y="3200400"/>
            <a:ext cx="2185416" cy="384048"/>
          </a:xfrm>
          <a:prstGeom prst="rect">
            <a:avLst/>
          </a:prstGeom>
          <a:noFill/>
          <a:ln/>
        </p:spPr>
        <p:txBody>
          <a:bodyPr wrap="square" lIns="0" tIns="0" rIns="0" bIns="0" rtlCol="0" anchor="t"/>
          <a:lstStyle/>
          <a:p>
            <a:pPr algn="l" indent="0" marL="0">
              <a:lnSpc>
                <a:spcPct val="114000"/>
              </a:lnSpc>
              <a:buNone/>
            </a:pPr>
            <a:r>
              <a:rPr lang="en-US" sz="1140" dirty="0">
                <a:solidFill>
                  <a:srgbClr val="243B53"/>
                </a:solidFill>
                <a:latin typeface="Aptos" pitchFamily="34" charset="0"/>
                <a:ea typeface="Aptos" pitchFamily="34" charset="-122"/>
                <a:cs typeface="Aptos" pitchFamily="34" charset="-120"/>
              </a:rPr>
              <a:t>No sale del programa. Tiene que venir de otra parte.</a:t>
            </a:r>
            <a:endParaRPr lang="en-US" sz="1140" dirty="0"/>
          </a:p>
        </p:txBody>
      </p:sp>
      <p:sp>
        <p:nvSpPr>
          <p:cNvPr id="38" name="Text 35"/>
          <p:cNvSpPr txBox="1"/>
          <p:nvPr/>
        </p:nvSpPr>
        <p:spPr>
          <a:xfrm>
            <a:off x="658368" y="3803904"/>
            <a:ext cx="7315200" cy="201168"/>
          </a:xfrm>
          <a:prstGeom prst="rect">
            <a:avLst/>
          </a:prstGeom>
          <a:noFill/>
          <a:ln/>
        </p:spPr>
        <p:txBody>
          <a:bodyPr wrap="square" lIns="0" tIns="0" rIns="0" bIns="0" rtlCol="0" anchor="t"/>
          <a:lstStyle/>
          <a:p>
            <a:pPr algn="l" indent="0" marL="0">
              <a:buNone/>
            </a:pPr>
            <a:r>
              <a:rPr lang="en-US" sz="960" b="1" spc="130" kern="0" dirty="0">
                <a:solidFill>
                  <a:srgbClr val="243B53"/>
                </a:solidFill>
                <a:latin typeface="Aptos" pitchFamily="34" charset="0"/>
                <a:ea typeface="Aptos" pitchFamily="34" charset="-122"/>
                <a:cs typeface="Aptos" pitchFamily="34" charset="-120"/>
              </a:rPr>
              <a:t>ESA CUARTA PARTE TIENE DOS NOMBRES, SEGÚN QUIÉN LA MIRE</a:t>
            </a:r>
            <a:endParaRPr lang="en-US" sz="960" dirty="0"/>
          </a:p>
        </p:txBody>
      </p:sp>
      <p:sp>
        <p:nvSpPr>
          <p:cNvPr id="39" name="Shape 36"/>
          <p:cNvSpPr/>
          <p:nvPr/>
        </p:nvSpPr>
        <p:spPr>
          <a:xfrm>
            <a:off x="658368" y="4096512"/>
            <a:ext cx="5358384" cy="1060704"/>
          </a:xfrm>
          <a:prstGeom prst="rect">
            <a:avLst/>
          </a:prstGeom>
          <a:solidFill>
            <a:srgbClr val="E6EEF7"/>
          </a:solidFill>
          <a:ln w="12700">
            <a:solidFill>
              <a:srgbClr val="E6EEF7"/>
            </a:solidFill>
            <a:prstDash val="solid"/>
          </a:ln>
        </p:spPr>
      </p:sp>
      <p:sp>
        <p:nvSpPr>
          <p:cNvPr id="40" name="Shape 37"/>
          <p:cNvSpPr/>
          <p:nvPr/>
        </p:nvSpPr>
        <p:spPr>
          <a:xfrm>
            <a:off x="658368" y="4096512"/>
            <a:ext cx="64008" cy="1060704"/>
          </a:xfrm>
          <a:prstGeom prst="rect">
            <a:avLst/>
          </a:prstGeom>
          <a:solidFill>
            <a:srgbClr val="102A43"/>
          </a:solidFill>
          <a:ln w="12700">
            <a:solidFill>
              <a:srgbClr val="102A43"/>
            </a:solidFill>
            <a:prstDash val="solid"/>
          </a:ln>
        </p:spPr>
      </p:sp>
      <p:sp>
        <p:nvSpPr>
          <p:cNvPr id="41" name="Text 38"/>
          <p:cNvSpPr txBox="1"/>
          <p:nvPr/>
        </p:nvSpPr>
        <p:spPr>
          <a:xfrm>
            <a:off x="950976" y="4242816"/>
            <a:ext cx="4754880" cy="274320"/>
          </a:xfrm>
          <a:prstGeom prst="rect">
            <a:avLst/>
          </a:prstGeom>
          <a:noFill/>
          <a:ln/>
        </p:spPr>
        <p:txBody>
          <a:bodyPr wrap="square" lIns="0" tIns="0" rIns="0" bIns="0" rtlCol="0" anchor="t"/>
          <a:lstStyle/>
          <a:p>
            <a:pPr algn="l" indent="0" marL="0">
              <a:buNone/>
            </a:pPr>
            <a:r>
              <a:rPr lang="en-US" sz="1550" b="1" dirty="0">
                <a:solidFill>
                  <a:srgbClr val="102A43"/>
                </a:solidFill>
                <a:latin typeface="Aptos" pitchFamily="34" charset="0"/>
                <a:ea typeface="Aptos" pitchFamily="34" charset="-122"/>
                <a:cs typeface="Aptos" pitchFamily="34" charset="-120"/>
              </a:rPr>
              <a:t>Oráculo de prueba</a:t>
            </a:r>
            <a:endParaRPr lang="en-US" sz="1550" dirty="0"/>
          </a:p>
        </p:txBody>
      </p:sp>
      <p:sp>
        <p:nvSpPr>
          <p:cNvPr id="42" name="Text 39"/>
          <p:cNvSpPr txBox="1"/>
          <p:nvPr/>
        </p:nvSpPr>
        <p:spPr>
          <a:xfrm>
            <a:off x="950976" y="4553712"/>
            <a:ext cx="4754880" cy="512064"/>
          </a:xfrm>
          <a:prstGeom prst="rect">
            <a:avLst/>
          </a:prstGeom>
          <a:noFill/>
          <a:ln/>
        </p:spPr>
        <p:txBody>
          <a:bodyPr wrap="square" lIns="0" tIns="0" rIns="0" bIns="0" rtlCol="0" anchor="t"/>
          <a:lstStyle/>
          <a:p>
            <a:pPr algn="l" indent="0" marL="0">
              <a:lnSpc>
                <a:spcPct val="114000"/>
              </a:lnSpc>
              <a:buNone/>
            </a:pPr>
            <a:r>
              <a:rPr lang="en-US" sz="1200" dirty="0">
                <a:solidFill>
                  <a:srgbClr val="243B53"/>
                </a:solidFill>
                <a:latin typeface="Aptos" pitchFamily="34" charset="0"/>
                <a:ea typeface="Aptos" pitchFamily="34" charset="-122"/>
                <a:cs typeface="Aptos" pitchFamily="34" charset="-120"/>
              </a:rPr>
              <a:t>Como se le llama en la literatura de investigación. Conseguir uno confiable es «el problema del oráculo».</a:t>
            </a:r>
            <a:endParaRPr lang="en-US" sz="1200" dirty="0"/>
          </a:p>
        </p:txBody>
      </p:sp>
      <p:sp>
        <p:nvSpPr>
          <p:cNvPr id="43" name="Shape 40"/>
          <p:cNvSpPr/>
          <p:nvPr/>
        </p:nvSpPr>
        <p:spPr>
          <a:xfrm>
            <a:off x="6172200" y="4096512"/>
            <a:ext cx="5358384" cy="1060704"/>
          </a:xfrm>
          <a:prstGeom prst="rect">
            <a:avLst/>
          </a:prstGeom>
          <a:solidFill>
            <a:srgbClr val="F2E7D9"/>
          </a:solidFill>
          <a:ln w="12700">
            <a:solidFill>
              <a:srgbClr val="F2E7D9"/>
            </a:solidFill>
            <a:prstDash val="solid"/>
          </a:ln>
        </p:spPr>
      </p:sp>
      <p:sp>
        <p:nvSpPr>
          <p:cNvPr id="44" name="Shape 41"/>
          <p:cNvSpPr/>
          <p:nvPr/>
        </p:nvSpPr>
        <p:spPr>
          <a:xfrm>
            <a:off x="6172200" y="4096512"/>
            <a:ext cx="64008" cy="1060704"/>
          </a:xfrm>
          <a:prstGeom prst="rect">
            <a:avLst/>
          </a:prstGeom>
          <a:solidFill>
            <a:srgbClr val="8A6A12"/>
          </a:solidFill>
          <a:ln w="12700">
            <a:solidFill>
              <a:srgbClr val="8A6A12"/>
            </a:solidFill>
            <a:prstDash val="solid"/>
          </a:ln>
        </p:spPr>
      </p:sp>
      <p:sp>
        <p:nvSpPr>
          <p:cNvPr id="45" name="Text 42"/>
          <p:cNvSpPr txBox="1"/>
          <p:nvPr/>
        </p:nvSpPr>
        <p:spPr>
          <a:xfrm>
            <a:off x="6464808" y="4242816"/>
            <a:ext cx="4754880" cy="274320"/>
          </a:xfrm>
          <a:prstGeom prst="rect">
            <a:avLst/>
          </a:prstGeom>
          <a:noFill/>
          <a:ln/>
        </p:spPr>
        <p:txBody>
          <a:bodyPr wrap="square" lIns="0" tIns="0" rIns="0" bIns="0" rtlCol="0" anchor="t"/>
          <a:lstStyle/>
          <a:p>
            <a:pPr algn="l" indent="0" marL="0">
              <a:buNone/>
            </a:pPr>
            <a:r>
              <a:rPr lang="en-US" sz="1550" b="1" dirty="0">
                <a:solidFill>
                  <a:srgbClr val="8A6A12"/>
                </a:solidFill>
                <a:latin typeface="Aptos" pitchFamily="34" charset="0"/>
                <a:ea typeface="Aptos" pitchFamily="34" charset="-122"/>
                <a:cs typeface="Aptos" pitchFamily="34" charset="-120"/>
              </a:rPr>
              <a:t>Base de prueba</a:t>
            </a:r>
            <a:endParaRPr lang="en-US" sz="1550" dirty="0"/>
          </a:p>
        </p:txBody>
      </p:sp>
      <p:sp>
        <p:nvSpPr>
          <p:cNvPr id="46" name="Text 43"/>
          <p:cNvSpPr txBox="1"/>
          <p:nvPr/>
        </p:nvSpPr>
        <p:spPr>
          <a:xfrm>
            <a:off x="6464808" y="4553712"/>
            <a:ext cx="4754880" cy="512064"/>
          </a:xfrm>
          <a:prstGeom prst="rect">
            <a:avLst/>
          </a:prstGeom>
          <a:noFill/>
          <a:ln/>
        </p:spPr>
        <p:txBody>
          <a:bodyPr wrap="square" lIns="0" tIns="0" rIns="0" bIns="0" rtlCol="0" anchor="t"/>
          <a:lstStyle/>
          <a:p>
            <a:pPr algn="l" indent="0" marL="0">
              <a:lnSpc>
                <a:spcPct val="114000"/>
              </a:lnSpc>
              <a:buNone/>
            </a:pPr>
            <a:r>
              <a:rPr lang="en-US" sz="1200" dirty="0">
                <a:solidFill>
                  <a:srgbClr val="243B53"/>
                </a:solidFill>
                <a:latin typeface="Aptos" pitchFamily="34" charset="0"/>
                <a:ea typeface="Aptos" pitchFamily="34" charset="-122"/>
                <a:cs typeface="Aptos" pitchFamily="34" charset="-120"/>
              </a:rPr>
              <a:t>Como la nombra la norma: «información usada como base para diseñar e implementar los casos de prueba».</a:t>
            </a:r>
            <a:endParaRPr lang="en-US" sz="1200" dirty="0"/>
          </a:p>
        </p:txBody>
      </p:sp>
      <p:sp>
        <p:nvSpPr>
          <p:cNvPr id="47" name="Shape 44"/>
          <p:cNvSpPr/>
          <p:nvPr/>
        </p:nvSpPr>
        <p:spPr>
          <a:xfrm>
            <a:off x="6172200" y="5230368"/>
            <a:ext cx="45720" cy="182880"/>
          </a:xfrm>
          <a:prstGeom prst="rect">
            <a:avLst/>
          </a:prstGeom>
          <a:solidFill>
            <a:srgbClr val="8A6A12"/>
          </a:solidFill>
          <a:ln w="12700">
            <a:solidFill>
              <a:srgbClr val="8A6A12"/>
            </a:solidFill>
            <a:prstDash val="solid"/>
          </a:ln>
        </p:spPr>
      </p:sp>
      <p:sp>
        <p:nvSpPr>
          <p:cNvPr id="48" name="Text 45"/>
          <p:cNvSpPr txBox="1"/>
          <p:nvPr/>
        </p:nvSpPr>
        <p:spPr>
          <a:xfrm>
            <a:off x="6318504" y="5221224"/>
            <a:ext cx="512064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ISO/IEC/IEEE 29119-3:2021, cláusula 3.7 · traducción del original en inglés</a:t>
            </a:r>
            <a:endParaRPr lang="en-US" sz="920" dirty="0"/>
          </a:p>
        </p:txBody>
      </p:sp>
      <p:sp>
        <p:nvSpPr>
          <p:cNvPr id="49" name="Shape 46"/>
          <p:cNvSpPr/>
          <p:nvPr/>
        </p:nvSpPr>
        <p:spPr>
          <a:xfrm>
            <a:off x="658368" y="5614416"/>
            <a:ext cx="10874959" cy="548640"/>
          </a:xfrm>
          <a:prstGeom prst="rect">
            <a:avLst/>
          </a:prstGeom>
          <a:solidFill>
            <a:srgbClr val="102A43"/>
          </a:solidFill>
          <a:ln w="12700">
            <a:solidFill>
              <a:srgbClr val="102A43"/>
            </a:solidFill>
            <a:prstDash val="solid"/>
          </a:ln>
        </p:spPr>
      </p:sp>
      <p:sp>
        <p:nvSpPr>
          <p:cNvPr id="50" name="Text 47"/>
          <p:cNvSpPr txBox="1"/>
          <p:nvPr/>
        </p:nvSpPr>
        <p:spPr>
          <a:xfrm>
            <a:off x="969264" y="5650992"/>
            <a:ext cx="10253167" cy="475488"/>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En el barrido recién hecho, el oráculo fue segun_el_requisito(). Sin él, las 64 salidas son 64 números sin veredicto.</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17</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EL LÍMITE DEL BARRIDO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Por qué recorrerlo todo no generaliza</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El barrido exhaustivo no es inútil: sirve donde el dominio es pequeño, discreto y está declarado.</a:t>
            </a:r>
            <a:endParaRPr lang="en-US" sz="1450" dirty="0"/>
          </a:p>
        </p:txBody>
      </p:sp>
      <p:sp>
        <p:nvSpPr>
          <p:cNvPr id="11" name="Shape 8"/>
          <p:cNvSpPr/>
          <p:nvPr/>
        </p:nvSpPr>
        <p:spPr>
          <a:xfrm>
            <a:off x="658368" y="2340864"/>
            <a:ext cx="5358384" cy="2048256"/>
          </a:xfrm>
          <a:prstGeom prst="rect">
            <a:avLst/>
          </a:prstGeom>
          <a:solidFill>
            <a:srgbClr val="F8E4E5"/>
          </a:solidFill>
          <a:ln w="12700">
            <a:solidFill>
              <a:srgbClr val="F8E4E5"/>
            </a:solidFill>
            <a:prstDash val="solid"/>
          </a:ln>
        </p:spPr>
      </p:sp>
      <p:sp>
        <p:nvSpPr>
          <p:cNvPr id="12" name="Shape 9"/>
          <p:cNvSpPr/>
          <p:nvPr/>
        </p:nvSpPr>
        <p:spPr>
          <a:xfrm>
            <a:off x="658368" y="2340864"/>
            <a:ext cx="5358384" cy="64008"/>
          </a:xfrm>
          <a:prstGeom prst="rect">
            <a:avLst/>
          </a:prstGeom>
          <a:solidFill>
            <a:srgbClr val="B3181E"/>
          </a:solidFill>
          <a:ln w="12700">
            <a:solidFill>
              <a:srgbClr val="B3181E"/>
            </a:solidFill>
            <a:prstDash val="solid"/>
          </a:ln>
        </p:spPr>
      </p:sp>
      <p:sp>
        <p:nvSpPr>
          <p:cNvPr id="13" name="Text 10"/>
          <p:cNvSpPr txBox="1"/>
          <p:nvPr/>
        </p:nvSpPr>
        <p:spPr>
          <a:xfrm>
            <a:off x="950976" y="2523744"/>
            <a:ext cx="548640" cy="457200"/>
          </a:xfrm>
          <a:prstGeom prst="rect">
            <a:avLst/>
          </a:prstGeom>
          <a:noFill/>
          <a:ln/>
        </p:spPr>
        <p:txBody>
          <a:bodyPr wrap="square" lIns="0" tIns="0" rIns="0" bIns="0" rtlCol="0" anchor="t"/>
          <a:lstStyle/>
          <a:p>
            <a:pPr algn="l" indent="0" marL="0">
              <a:buNone/>
            </a:pPr>
            <a:r>
              <a:rPr lang="en-US" sz="2800" b="1" dirty="0">
                <a:solidFill>
                  <a:srgbClr val="B3181E"/>
                </a:solidFill>
                <a:latin typeface="Aptos Display" pitchFamily="34" charset="0"/>
                <a:ea typeface="Aptos Display" pitchFamily="34" charset="-122"/>
                <a:cs typeface="Aptos Display" pitchFamily="34" charset="-120"/>
              </a:rPr>
              <a:t>1</a:t>
            </a:r>
            <a:endParaRPr lang="en-US" sz="2800" dirty="0"/>
          </a:p>
        </p:txBody>
      </p:sp>
      <p:sp>
        <p:nvSpPr>
          <p:cNvPr id="14" name="Text 11"/>
          <p:cNvSpPr txBox="1"/>
          <p:nvPr/>
        </p:nvSpPr>
        <p:spPr>
          <a:xfrm>
            <a:off x="950976" y="3017520"/>
            <a:ext cx="4754880" cy="274320"/>
          </a:xfrm>
          <a:prstGeom prst="rect">
            <a:avLst/>
          </a:prstGeom>
          <a:noFill/>
          <a:ln/>
        </p:spPr>
        <p:txBody>
          <a:bodyPr wrap="square" lIns="0" tIns="0" rIns="0" bIns="0" rtlCol="0" anchor="t"/>
          <a:lstStyle/>
          <a:p>
            <a:pPr algn="l" indent="0" marL="0">
              <a:buNone/>
            </a:pPr>
            <a:r>
              <a:rPr lang="en-US" sz="1550" b="1" dirty="0">
                <a:solidFill>
                  <a:srgbClr val="243B53"/>
                </a:solidFill>
                <a:latin typeface="Aptos" pitchFamily="34" charset="0"/>
                <a:ea typeface="Aptos" pitchFamily="34" charset="-122"/>
                <a:cs typeface="Aptos" pitchFamily="34" charset="-120"/>
              </a:rPr>
              <a:t>Necesita un oráculo por cada caso</a:t>
            </a:r>
            <a:endParaRPr lang="en-US" sz="1550" dirty="0"/>
          </a:p>
        </p:txBody>
      </p:sp>
      <p:sp>
        <p:nvSpPr>
          <p:cNvPr id="15" name="Text 12"/>
          <p:cNvSpPr txBox="1"/>
          <p:nvPr/>
        </p:nvSpPr>
        <p:spPr>
          <a:xfrm>
            <a:off x="950976" y="3364992"/>
            <a:ext cx="4754880" cy="914400"/>
          </a:xfrm>
          <a:prstGeom prst="rect">
            <a:avLst/>
          </a:prstGeom>
          <a:noFill/>
          <a:ln/>
        </p:spPr>
        <p:txBody>
          <a:bodyPr wrap="square" lIns="0" tIns="0" rIns="0" bIns="0" rtlCol="0" anchor="t"/>
          <a:lstStyle/>
          <a:p>
            <a:pPr algn="l" indent="0" marL="0">
              <a:lnSpc>
                <a:spcPct val="118000"/>
              </a:lnSpc>
              <a:buNone/>
            </a:pPr>
            <a:r>
              <a:rPr lang="en-US" sz="1260" dirty="0">
                <a:solidFill>
                  <a:srgbClr val="243B53"/>
                </a:solidFill>
                <a:latin typeface="Aptos" pitchFamily="34" charset="0"/>
                <a:ea typeface="Aptos" pitchFamily="34" charset="-122"/>
                <a:cs typeface="Aptos" pitchFamily="34" charset="-120"/>
              </a:rPr>
              <a:t>Las 64 salidas solo significan algo porque existe la regla escrita aparte. Alguien tuvo que leer el requisito y traducirlo. Ese trabajo no lo ahorra ninguna máquina, y es el mismo que haría falta para 64 millones de casos.</a:t>
            </a:r>
            <a:endParaRPr lang="en-US" sz="1260" dirty="0"/>
          </a:p>
        </p:txBody>
      </p:sp>
      <p:sp>
        <p:nvSpPr>
          <p:cNvPr id="16" name="Shape 13"/>
          <p:cNvSpPr/>
          <p:nvPr/>
        </p:nvSpPr>
        <p:spPr>
          <a:xfrm>
            <a:off x="6272784" y="2340864"/>
            <a:ext cx="5358384" cy="2048256"/>
          </a:xfrm>
          <a:prstGeom prst="rect">
            <a:avLst/>
          </a:prstGeom>
          <a:solidFill>
            <a:srgbClr val="F2E7D9"/>
          </a:solidFill>
          <a:ln w="12700">
            <a:solidFill>
              <a:srgbClr val="F2E7D9"/>
            </a:solidFill>
            <a:prstDash val="solid"/>
          </a:ln>
        </p:spPr>
      </p:sp>
      <p:sp>
        <p:nvSpPr>
          <p:cNvPr id="17" name="Shape 14"/>
          <p:cNvSpPr/>
          <p:nvPr/>
        </p:nvSpPr>
        <p:spPr>
          <a:xfrm>
            <a:off x="6272784" y="2340864"/>
            <a:ext cx="5358384" cy="64008"/>
          </a:xfrm>
          <a:prstGeom prst="rect">
            <a:avLst/>
          </a:prstGeom>
          <a:solidFill>
            <a:srgbClr val="8A6A12"/>
          </a:solidFill>
          <a:ln w="12700">
            <a:solidFill>
              <a:srgbClr val="8A6A12"/>
            </a:solidFill>
            <a:prstDash val="solid"/>
          </a:ln>
        </p:spPr>
      </p:sp>
      <p:sp>
        <p:nvSpPr>
          <p:cNvPr id="18" name="Text 15"/>
          <p:cNvSpPr txBox="1"/>
          <p:nvPr/>
        </p:nvSpPr>
        <p:spPr>
          <a:xfrm>
            <a:off x="6565392" y="2523744"/>
            <a:ext cx="548640" cy="457200"/>
          </a:xfrm>
          <a:prstGeom prst="rect">
            <a:avLst/>
          </a:prstGeom>
          <a:noFill/>
          <a:ln/>
        </p:spPr>
        <p:txBody>
          <a:bodyPr wrap="square" lIns="0" tIns="0" rIns="0" bIns="0" rtlCol="0" anchor="t"/>
          <a:lstStyle/>
          <a:p>
            <a:pPr algn="l" indent="0" marL="0">
              <a:buNone/>
            </a:pPr>
            <a:r>
              <a:rPr lang="en-US" sz="2800" b="1" dirty="0">
                <a:solidFill>
                  <a:srgbClr val="8A6A12"/>
                </a:solidFill>
                <a:latin typeface="Aptos Display" pitchFamily="34" charset="0"/>
                <a:ea typeface="Aptos Display" pitchFamily="34" charset="-122"/>
                <a:cs typeface="Aptos Display" pitchFamily="34" charset="-120"/>
              </a:rPr>
              <a:t>2</a:t>
            </a:r>
            <a:endParaRPr lang="en-US" sz="2800" dirty="0"/>
          </a:p>
        </p:txBody>
      </p:sp>
      <p:sp>
        <p:nvSpPr>
          <p:cNvPr id="19" name="Text 16"/>
          <p:cNvSpPr txBox="1"/>
          <p:nvPr/>
        </p:nvSpPr>
        <p:spPr>
          <a:xfrm>
            <a:off x="6565392" y="3017520"/>
            <a:ext cx="4754880" cy="274320"/>
          </a:xfrm>
          <a:prstGeom prst="rect">
            <a:avLst/>
          </a:prstGeom>
          <a:noFill/>
          <a:ln/>
        </p:spPr>
        <p:txBody>
          <a:bodyPr wrap="square" lIns="0" tIns="0" rIns="0" bIns="0" rtlCol="0" anchor="t"/>
          <a:lstStyle/>
          <a:p>
            <a:pPr algn="l" indent="0" marL="0">
              <a:buNone/>
            </a:pPr>
            <a:r>
              <a:rPr lang="en-US" sz="1550" b="1" dirty="0">
                <a:solidFill>
                  <a:srgbClr val="243B53"/>
                </a:solidFill>
                <a:latin typeface="Aptos" pitchFamily="34" charset="0"/>
                <a:ea typeface="Aptos" pitchFamily="34" charset="-122"/>
                <a:cs typeface="Aptos" pitchFamily="34" charset="-120"/>
              </a:rPr>
              <a:t>No sobrevive a un parámetro más</a:t>
            </a:r>
            <a:endParaRPr lang="en-US" sz="1550" dirty="0"/>
          </a:p>
        </p:txBody>
      </p:sp>
      <p:sp>
        <p:nvSpPr>
          <p:cNvPr id="20" name="Text 17"/>
          <p:cNvSpPr txBox="1"/>
          <p:nvPr/>
        </p:nvSpPr>
        <p:spPr>
          <a:xfrm>
            <a:off x="6565392" y="3364992"/>
            <a:ext cx="4754880" cy="914400"/>
          </a:xfrm>
          <a:prstGeom prst="rect">
            <a:avLst/>
          </a:prstGeom>
          <a:noFill/>
          <a:ln/>
        </p:spPr>
        <p:txBody>
          <a:bodyPr wrap="square" lIns="0" tIns="0" rIns="0" bIns="0" rtlCol="0" anchor="t"/>
          <a:lstStyle/>
          <a:p>
            <a:pPr algn="l" indent="0" marL="0">
              <a:lnSpc>
                <a:spcPct val="118000"/>
              </a:lnSpc>
              <a:buNone/>
            </a:pPr>
            <a:r>
              <a:rPr lang="en-US" sz="1260" dirty="0">
                <a:solidFill>
                  <a:srgbClr val="243B53"/>
                </a:solidFill>
                <a:latin typeface="Aptos" pitchFamily="34" charset="0"/>
                <a:ea typeface="Aptos" pitchFamily="34" charset="-122"/>
                <a:cs typeface="Aptos" pitchFamily="34" charset="-120"/>
              </a:rPr>
              <a:t>El dominio es abarcable porque los tres parámetros son acotados y discretos. Basta agregar la fecha o el nombre del estudiante para que las 64 combinaciones se conviertan en un número de 194 cifras.</a:t>
            </a:r>
            <a:endParaRPr lang="en-US" sz="1260" dirty="0"/>
          </a:p>
        </p:txBody>
      </p:sp>
      <p:sp>
        <p:nvSpPr>
          <p:cNvPr id="21" name="Shape 18"/>
          <p:cNvSpPr/>
          <p:nvPr/>
        </p:nvSpPr>
        <p:spPr>
          <a:xfrm>
            <a:off x="658368" y="4626864"/>
            <a:ext cx="10874959" cy="841248"/>
          </a:xfrm>
          <a:prstGeom prst="rect">
            <a:avLst/>
          </a:prstGeom>
          <a:solidFill>
            <a:srgbClr val="FFFFFF"/>
          </a:solidFill>
          <a:ln w="12700">
            <a:solidFill>
              <a:srgbClr val="FFFFFF"/>
            </a:solidFill>
            <a:prstDash val="solid"/>
          </a:ln>
        </p:spPr>
      </p:sp>
      <p:sp>
        <p:nvSpPr>
          <p:cNvPr id="22" name="Shape 19"/>
          <p:cNvSpPr/>
          <p:nvPr/>
        </p:nvSpPr>
        <p:spPr>
          <a:xfrm>
            <a:off x="658368" y="4626864"/>
            <a:ext cx="64008" cy="841248"/>
          </a:xfrm>
          <a:prstGeom prst="rect">
            <a:avLst/>
          </a:prstGeom>
          <a:solidFill>
            <a:srgbClr val="102A43"/>
          </a:solidFill>
          <a:ln w="12700">
            <a:solidFill>
              <a:srgbClr val="102A43"/>
            </a:solidFill>
            <a:prstDash val="solid"/>
          </a:ln>
        </p:spPr>
      </p:sp>
      <p:sp>
        <p:nvSpPr>
          <p:cNvPr id="23" name="Text 20"/>
          <p:cNvSpPr txBox="1"/>
          <p:nvPr/>
        </p:nvSpPr>
        <p:spPr>
          <a:xfrm>
            <a:off x="987552" y="4773168"/>
            <a:ext cx="10216591" cy="548640"/>
          </a:xfrm>
          <a:prstGeom prst="rect">
            <a:avLst/>
          </a:prstGeom>
          <a:noFill/>
          <a:ln/>
        </p:spPr>
        <p:txBody>
          <a:bodyPr wrap="square" lIns="0" tIns="0" rIns="0" bIns="0" rtlCol="0" anchor="t"/>
          <a:lstStyle/>
          <a:p>
            <a:pPr algn="l" indent="0" marL="0">
              <a:lnSpc>
                <a:spcPct val="116000"/>
              </a:lnSpc>
              <a:buNone/>
            </a:pPr>
            <a:r>
              <a:rPr lang="en-US" sz="1300" dirty="0">
                <a:solidFill>
                  <a:srgbClr val="243B53"/>
                </a:solidFill>
                <a:latin typeface="Aptos" pitchFamily="34" charset="0"/>
                <a:ea typeface="Aptos" pitchFamily="34" charset="-122"/>
                <a:cs typeface="Aptos" pitchFamily="34" charset="-120"/>
              </a:rPr>
              <a:t>Además, este proyecto tiene un segundo defecto que solo aparece con un bloque fuera de la jornada, es decir, fuera de las 64:</a:t>
            </a:r>
            <a:endParaRPr lang="en-US" sz="1300" dirty="0"/>
          </a:p>
          <a:p>
            <a:pPr algn="l" indent="0" marL="0">
              <a:lnSpc>
                <a:spcPct val="116000"/>
              </a:lnSpc>
              <a:buNone/>
            </a:pPr>
            <a:r>
              <a:rPr lang="en-US" sz="1300" dirty="0">
                <a:solidFill>
                  <a:srgbClr val="243B53"/>
                </a:solidFill>
                <a:latin typeface="Aptos" pitchFamily="34" charset="0"/>
                <a:ea typeface="Aptos" pitchFamily="34" charset="-122"/>
                <a:cs typeface="Aptos" pitchFamily="34" charset="-120"/>
              </a:rPr>
              <a:t>ese barrido tampoco lo habría encontrado.</a:t>
            </a:r>
            <a:endParaRPr lang="en-US" sz="1300" dirty="0"/>
          </a:p>
        </p:txBody>
      </p:sp>
      <p:sp>
        <p:nvSpPr>
          <p:cNvPr id="24" name="Shape 21"/>
          <p:cNvSpPr/>
          <p:nvPr/>
        </p:nvSpPr>
        <p:spPr>
          <a:xfrm>
            <a:off x="658368" y="5669280"/>
            <a:ext cx="10874959" cy="512064"/>
          </a:xfrm>
          <a:prstGeom prst="rect">
            <a:avLst/>
          </a:prstGeom>
          <a:solidFill>
            <a:srgbClr val="102A43"/>
          </a:solidFill>
          <a:ln w="12700">
            <a:solidFill>
              <a:srgbClr val="102A43"/>
            </a:solidFill>
            <a:prstDash val="solid"/>
          </a:ln>
        </p:spPr>
      </p:sp>
      <p:sp>
        <p:nvSpPr>
          <p:cNvPr id="25" name="Text 22"/>
          <p:cNvSpPr txBox="1"/>
          <p:nvPr/>
        </p:nvSpPr>
        <p:spPr>
          <a:xfrm>
            <a:off x="969264" y="5705856"/>
            <a:ext cx="10253167" cy="438912"/>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En todos los demás casos hay que elegir. La pregunta pasa a ser con qué argumento.</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18</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LA CITA HEREDADA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La frase más citada de la historia del testing</a:t>
            </a:r>
            <a:endParaRPr lang="en-US" sz="3000" dirty="0"/>
          </a:p>
        </p:txBody>
      </p:sp>
      <p:sp>
        <p:nvSpPr>
          <p:cNvPr id="10" name="Shape 7"/>
          <p:cNvSpPr/>
          <p:nvPr/>
        </p:nvSpPr>
        <p:spPr>
          <a:xfrm>
            <a:off x="658368" y="1975104"/>
            <a:ext cx="10874959" cy="859536"/>
          </a:xfrm>
          <a:prstGeom prst="rect">
            <a:avLst/>
          </a:prstGeom>
          <a:solidFill>
            <a:srgbClr val="F2E7D9"/>
          </a:solidFill>
          <a:ln w="12700">
            <a:solidFill>
              <a:srgbClr val="F2E7D9"/>
            </a:solidFill>
            <a:prstDash val="solid"/>
          </a:ln>
        </p:spPr>
      </p:sp>
      <p:sp>
        <p:nvSpPr>
          <p:cNvPr id="11" name="Shape 8"/>
          <p:cNvSpPr/>
          <p:nvPr/>
        </p:nvSpPr>
        <p:spPr>
          <a:xfrm>
            <a:off x="658368" y="1975104"/>
            <a:ext cx="64008" cy="859536"/>
          </a:xfrm>
          <a:prstGeom prst="rect">
            <a:avLst/>
          </a:prstGeom>
          <a:solidFill>
            <a:srgbClr val="102A43"/>
          </a:solidFill>
          <a:ln w="12700">
            <a:solidFill>
              <a:srgbClr val="102A43"/>
            </a:solidFill>
            <a:prstDash val="solid"/>
          </a:ln>
        </p:spPr>
      </p:sp>
      <p:sp>
        <p:nvSpPr>
          <p:cNvPr id="12" name="Text 9"/>
          <p:cNvSpPr txBox="1"/>
          <p:nvPr/>
        </p:nvSpPr>
        <p:spPr>
          <a:xfrm>
            <a:off x="969264" y="2084832"/>
            <a:ext cx="10308031" cy="640080"/>
          </a:xfrm>
          <a:prstGeom prst="rect">
            <a:avLst/>
          </a:prstGeom>
          <a:noFill/>
          <a:ln/>
        </p:spPr>
        <p:txBody>
          <a:bodyPr wrap="square" lIns="0" tIns="0" rIns="0" bIns="0" rtlCol="0" anchor="ctr"/>
          <a:lstStyle/>
          <a:p>
            <a:pPr algn="l" indent="0" marL="0">
              <a:lnSpc>
                <a:spcPct val="118000"/>
              </a:lnSpc>
              <a:buNone/>
            </a:pPr>
            <a:r>
              <a:rPr lang="en-US" sz="1600" i="1" dirty="0">
                <a:solidFill>
                  <a:srgbClr val="243B53"/>
                </a:solidFill>
                <a:latin typeface="Aptos" pitchFamily="34" charset="0"/>
                <a:ea typeface="Aptos" pitchFamily="34" charset="-122"/>
                <a:cs typeface="Aptos" pitchFamily="34" charset="-120"/>
              </a:rPr>
              <a:t>“Program testing can be used to show the presence of bugs, but never to show their absence!”</a:t>
            </a:r>
            <a:endParaRPr lang="en-US" sz="1600" dirty="0"/>
          </a:p>
        </p:txBody>
      </p:sp>
      <p:sp>
        <p:nvSpPr>
          <p:cNvPr id="13" name="Shape 10"/>
          <p:cNvSpPr/>
          <p:nvPr/>
        </p:nvSpPr>
        <p:spPr>
          <a:xfrm>
            <a:off x="658368" y="2962656"/>
            <a:ext cx="10874959" cy="859536"/>
          </a:xfrm>
          <a:prstGeom prst="rect">
            <a:avLst/>
          </a:prstGeom>
          <a:solidFill>
            <a:srgbClr val="EDE6DA"/>
          </a:solidFill>
          <a:ln w="12700">
            <a:solidFill>
              <a:srgbClr val="EDE6DA"/>
            </a:solidFill>
            <a:prstDash val="solid"/>
          </a:ln>
        </p:spPr>
      </p:sp>
      <p:sp>
        <p:nvSpPr>
          <p:cNvPr id="14" name="Shape 11"/>
          <p:cNvSpPr/>
          <p:nvPr/>
        </p:nvSpPr>
        <p:spPr>
          <a:xfrm>
            <a:off x="658368" y="2962656"/>
            <a:ext cx="64008" cy="859536"/>
          </a:xfrm>
          <a:prstGeom prst="rect">
            <a:avLst/>
          </a:prstGeom>
          <a:solidFill>
            <a:srgbClr val="52606D"/>
          </a:solidFill>
          <a:ln w="12700">
            <a:solidFill>
              <a:srgbClr val="52606D"/>
            </a:solidFill>
            <a:prstDash val="solid"/>
          </a:ln>
        </p:spPr>
      </p:sp>
      <p:sp>
        <p:nvSpPr>
          <p:cNvPr id="15" name="Text 12"/>
          <p:cNvSpPr txBox="1"/>
          <p:nvPr/>
        </p:nvSpPr>
        <p:spPr>
          <a:xfrm>
            <a:off x="969264" y="3072384"/>
            <a:ext cx="10308031" cy="640080"/>
          </a:xfrm>
          <a:prstGeom prst="rect">
            <a:avLst/>
          </a:prstGeom>
          <a:noFill/>
          <a:ln/>
        </p:spPr>
        <p:txBody>
          <a:bodyPr wrap="square" lIns="0" tIns="0" rIns="0" bIns="0" rtlCol="0" anchor="ctr"/>
          <a:lstStyle/>
          <a:p>
            <a:pPr algn="l" indent="0" marL="0">
              <a:lnSpc>
                <a:spcPct val="118000"/>
              </a:lnSpc>
              <a:buNone/>
            </a:pPr>
            <a:r>
              <a:rPr lang="en-US" sz="1600" i="1" dirty="0">
                <a:solidFill>
                  <a:srgbClr val="243B53"/>
                </a:solidFill>
                <a:latin typeface="Aptos" pitchFamily="34" charset="0"/>
                <a:ea typeface="Aptos" pitchFamily="34" charset="-122"/>
                <a:cs typeface="Aptos" pitchFamily="34" charset="-120"/>
              </a:rPr>
              <a:t>“El testing de programas puede usarse para mostrar la presencia de errores, pero nunca para mostrar su ausencia.”</a:t>
            </a:r>
            <a:endParaRPr lang="en-US" sz="1600" dirty="0"/>
          </a:p>
        </p:txBody>
      </p:sp>
      <p:sp>
        <p:nvSpPr>
          <p:cNvPr id="16" name="Shape 13"/>
          <p:cNvSpPr/>
          <p:nvPr/>
        </p:nvSpPr>
        <p:spPr>
          <a:xfrm>
            <a:off x="658368" y="3986784"/>
            <a:ext cx="45720" cy="182880"/>
          </a:xfrm>
          <a:prstGeom prst="rect">
            <a:avLst/>
          </a:prstGeom>
          <a:solidFill>
            <a:srgbClr val="8A6A12"/>
          </a:solidFill>
          <a:ln w="12700">
            <a:solidFill>
              <a:srgbClr val="8A6A12"/>
            </a:solidFill>
            <a:prstDash val="solid"/>
          </a:ln>
        </p:spPr>
      </p:sp>
      <p:sp>
        <p:nvSpPr>
          <p:cNvPr id="17" name="Text 14"/>
          <p:cNvSpPr txBox="1"/>
          <p:nvPr/>
        </p:nvSpPr>
        <p:spPr>
          <a:xfrm>
            <a:off x="804672" y="3977640"/>
            <a:ext cx="731520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Edsger W. Dijkstra, «Notes on Structured Programming», 1970 · traducción del original en inglés</a:t>
            </a:r>
            <a:endParaRPr lang="en-US" sz="920" dirty="0"/>
          </a:p>
        </p:txBody>
      </p:sp>
      <p:sp>
        <p:nvSpPr>
          <p:cNvPr id="18" name="Shape 15"/>
          <p:cNvSpPr/>
          <p:nvPr/>
        </p:nvSpPr>
        <p:spPr>
          <a:xfrm>
            <a:off x="658368" y="4407408"/>
            <a:ext cx="10874959" cy="1042416"/>
          </a:xfrm>
          <a:prstGeom prst="rect">
            <a:avLst/>
          </a:prstGeom>
          <a:solidFill>
            <a:srgbClr val="F8E4E5"/>
          </a:solidFill>
          <a:ln w="12700">
            <a:solidFill>
              <a:srgbClr val="F8E4E5"/>
            </a:solidFill>
            <a:prstDash val="solid"/>
          </a:ln>
        </p:spPr>
      </p:sp>
      <p:sp>
        <p:nvSpPr>
          <p:cNvPr id="19" name="Shape 16"/>
          <p:cNvSpPr/>
          <p:nvPr/>
        </p:nvSpPr>
        <p:spPr>
          <a:xfrm>
            <a:off x="658368" y="4407408"/>
            <a:ext cx="64008" cy="1042416"/>
          </a:xfrm>
          <a:prstGeom prst="rect">
            <a:avLst/>
          </a:prstGeom>
          <a:solidFill>
            <a:srgbClr val="B3181E"/>
          </a:solidFill>
          <a:ln w="12700">
            <a:solidFill>
              <a:srgbClr val="B3181E"/>
            </a:solidFill>
            <a:prstDash val="solid"/>
          </a:ln>
        </p:spPr>
      </p:sp>
      <p:sp>
        <p:nvSpPr>
          <p:cNvPr id="20" name="Text 17"/>
          <p:cNvSpPr txBox="1"/>
          <p:nvPr/>
        </p:nvSpPr>
        <p:spPr>
          <a:xfrm>
            <a:off x="987552" y="4590288"/>
            <a:ext cx="64008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LO QUE EL DOCUMENTO TRAE ENCIMA, Y LAS CITAS BORRAN</a:t>
            </a:r>
            <a:endParaRPr lang="en-US" sz="960" dirty="0"/>
          </a:p>
        </p:txBody>
      </p:sp>
      <p:sp>
        <p:nvSpPr>
          <p:cNvPr id="21" name="Text 18"/>
          <p:cNvSpPr txBox="1"/>
          <p:nvPr/>
        </p:nvSpPr>
        <p:spPr>
          <a:xfrm>
            <a:off x="987552" y="4846320"/>
            <a:ext cx="10216591" cy="402336"/>
          </a:xfrm>
          <a:prstGeom prst="rect">
            <a:avLst/>
          </a:prstGeom>
          <a:noFill/>
          <a:ln/>
        </p:spPr>
        <p:txBody>
          <a:bodyPr wrap="square" lIns="0" tIns="0" rIns="0" bIns="0" rtlCol="0" anchor="t"/>
          <a:lstStyle/>
          <a:p>
            <a:pPr algn="l" indent="0" marL="0">
              <a:buNone/>
            </a:pPr>
            <a:r>
              <a:rPr lang="en-US" sz="1900" b="1" i="1" dirty="0">
                <a:solidFill>
                  <a:srgbClr val="243B53"/>
                </a:solidFill>
                <a:latin typeface="Aptos" pitchFamily="34" charset="0"/>
                <a:ea typeface="Aptos" pitchFamily="34" charset="-122"/>
                <a:cs typeface="Aptos" pitchFamily="34" charset="-120"/>
              </a:rPr>
              <a:t>Corollary of the first part of this section:</a:t>
            </a:r>
            <a:endParaRPr lang="en-US" sz="1900" dirty="0"/>
          </a:p>
        </p:txBody>
      </p:sp>
      <p:sp>
        <p:nvSpPr>
          <p:cNvPr id="22" name="Shape 19"/>
          <p:cNvSpPr/>
          <p:nvPr/>
        </p:nvSpPr>
        <p:spPr>
          <a:xfrm>
            <a:off x="658368" y="5650992"/>
            <a:ext cx="10874959" cy="530352"/>
          </a:xfrm>
          <a:prstGeom prst="rect">
            <a:avLst/>
          </a:prstGeom>
          <a:solidFill>
            <a:srgbClr val="102A43"/>
          </a:solidFill>
          <a:ln w="12700">
            <a:solidFill>
              <a:srgbClr val="102A43"/>
            </a:solidFill>
            <a:prstDash val="solid"/>
          </a:ln>
        </p:spPr>
      </p:sp>
      <p:sp>
        <p:nvSpPr>
          <p:cNvPr id="23" name="Text 20"/>
          <p:cNvSpPr txBox="1"/>
          <p:nvPr/>
        </p:nvSpPr>
        <p:spPr>
          <a:xfrm>
            <a:off x="969264" y="5687568"/>
            <a:ext cx="10253167" cy="457200"/>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Es un corolario. Un corolario se deduce de algo anterior: la pregunta es de qué.</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19</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DE QUÉ ES COROLARIO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El mismo cálculo que se acaba de hacer, en 1970</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Dijkstra se pregunta cómo se comprueba que un circuito multiplicador de dos enteros de 27 bits es correcto.</a:t>
            </a:r>
            <a:endParaRPr lang="en-US" sz="1450" dirty="0"/>
          </a:p>
        </p:txBody>
      </p:sp>
      <p:sp>
        <p:nvSpPr>
          <p:cNvPr id="11" name="Shape 8"/>
          <p:cNvSpPr/>
          <p:nvPr/>
        </p:nvSpPr>
        <p:spPr>
          <a:xfrm>
            <a:off x="658368" y="2322576"/>
            <a:ext cx="10874959" cy="1371600"/>
          </a:xfrm>
          <a:prstGeom prst="rect">
            <a:avLst/>
          </a:prstGeom>
          <a:solidFill>
            <a:srgbClr val="F2E7D9"/>
          </a:solidFill>
          <a:ln w="12700">
            <a:solidFill>
              <a:srgbClr val="F2E7D9"/>
            </a:solidFill>
            <a:prstDash val="solid"/>
          </a:ln>
        </p:spPr>
      </p:sp>
      <p:sp>
        <p:nvSpPr>
          <p:cNvPr id="12" name="Shape 9"/>
          <p:cNvSpPr/>
          <p:nvPr/>
        </p:nvSpPr>
        <p:spPr>
          <a:xfrm>
            <a:off x="658368" y="2322576"/>
            <a:ext cx="64008" cy="1371600"/>
          </a:xfrm>
          <a:prstGeom prst="rect">
            <a:avLst/>
          </a:prstGeom>
          <a:solidFill>
            <a:srgbClr val="102A43"/>
          </a:solidFill>
          <a:ln w="12700">
            <a:solidFill>
              <a:srgbClr val="102A43"/>
            </a:solidFill>
            <a:prstDash val="solid"/>
          </a:ln>
        </p:spPr>
      </p:sp>
      <p:sp>
        <p:nvSpPr>
          <p:cNvPr id="13" name="Text 10"/>
          <p:cNvSpPr txBox="1"/>
          <p:nvPr/>
        </p:nvSpPr>
        <p:spPr>
          <a:xfrm>
            <a:off x="969264" y="2432304"/>
            <a:ext cx="10308031" cy="1152144"/>
          </a:xfrm>
          <a:prstGeom prst="rect">
            <a:avLst/>
          </a:prstGeom>
          <a:noFill/>
          <a:ln/>
        </p:spPr>
        <p:txBody>
          <a:bodyPr wrap="square" lIns="0" tIns="0" rIns="0" bIns="0" rtlCol="0" anchor="ctr"/>
          <a:lstStyle/>
          <a:p>
            <a:pPr algn="l" indent="0" marL="0">
              <a:lnSpc>
                <a:spcPct val="118000"/>
              </a:lnSpc>
              <a:buNone/>
            </a:pPr>
            <a:r>
              <a:rPr lang="en-US" sz="1240" i="1" dirty="0">
                <a:solidFill>
                  <a:srgbClr val="243B53"/>
                </a:solidFill>
                <a:latin typeface="Aptos" pitchFamily="34" charset="0"/>
                <a:ea typeface="Aptos" pitchFamily="34" charset="-122"/>
                <a:cs typeface="Aptos" pitchFamily="34" charset="-120"/>
              </a:rPr>
              <a:t>“The naive answer to this is: «the number of different multiplications this multiplier is claimed to perform correctly is finite, viz. 2^54, so let us try them all.» But, reasonable as this answer may seem, it is not, for although a single multiplication took only some tens of microseconds, the total time needed would add up to more than 10 000 years!”</a:t>
            </a:r>
            <a:endParaRPr lang="en-US" sz="1240" dirty="0"/>
          </a:p>
        </p:txBody>
      </p:sp>
      <p:sp>
        <p:nvSpPr>
          <p:cNvPr id="14" name="Shape 11"/>
          <p:cNvSpPr/>
          <p:nvPr/>
        </p:nvSpPr>
        <p:spPr>
          <a:xfrm>
            <a:off x="658368" y="3822192"/>
            <a:ext cx="10874959" cy="1371600"/>
          </a:xfrm>
          <a:prstGeom prst="rect">
            <a:avLst/>
          </a:prstGeom>
          <a:solidFill>
            <a:srgbClr val="EDE6DA"/>
          </a:solidFill>
          <a:ln w="12700">
            <a:solidFill>
              <a:srgbClr val="EDE6DA"/>
            </a:solidFill>
            <a:prstDash val="solid"/>
          </a:ln>
        </p:spPr>
      </p:sp>
      <p:sp>
        <p:nvSpPr>
          <p:cNvPr id="15" name="Shape 12"/>
          <p:cNvSpPr/>
          <p:nvPr/>
        </p:nvSpPr>
        <p:spPr>
          <a:xfrm>
            <a:off x="658368" y="3822192"/>
            <a:ext cx="64008" cy="1371600"/>
          </a:xfrm>
          <a:prstGeom prst="rect">
            <a:avLst/>
          </a:prstGeom>
          <a:solidFill>
            <a:srgbClr val="52606D"/>
          </a:solidFill>
          <a:ln w="12700">
            <a:solidFill>
              <a:srgbClr val="52606D"/>
            </a:solidFill>
            <a:prstDash val="solid"/>
          </a:ln>
        </p:spPr>
      </p:sp>
      <p:sp>
        <p:nvSpPr>
          <p:cNvPr id="16" name="Text 13"/>
          <p:cNvSpPr txBox="1"/>
          <p:nvPr/>
        </p:nvSpPr>
        <p:spPr>
          <a:xfrm>
            <a:off x="969264" y="3931920"/>
            <a:ext cx="10308031" cy="1152144"/>
          </a:xfrm>
          <a:prstGeom prst="rect">
            <a:avLst/>
          </a:prstGeom>
          <a:noFill/>
          <a:ln/>
        </p:spPr>
        <p:txBody>
          <a:bodyPr wrap="square" lIns="0" tIns="0" rIns="0" bIns="0" rtlCol="0" anchor="ctr"/>
          <a:lstStyle/>
          <a:p>
            <a:pPr algn="l" indent="0" marL="0">
              <a:lnSpc>
                <a:spcPct val="118000"/>
              </a:lnSpc>
              <a:buNone/>
            </a:pPr>
            <a:r>
              <a:rPr lang="en-US" sz="1240" i="1" dirty="0">
                <a:solidFill>
                  <a:srgbClr val="243B53"/>
                </a:solidFill>
                <a:latin typeface="Aptos" pitchFamily="34" charset="0"/>
                <a:ea typeface="Aptos" pitchFamily="34" charset="-122"/>
                <a:cs typeface="Aptos" pitchFamily="34" charset="-120"/>
              </a:rPr>
              <a:t>“La respuesta ingenua es: «la cantidad de multiplicaciones distintas que este multiplicador dice ejecutar correctamente es finita, a saber 2^54, así que probémoslas todas». Pero, por razonable que parezca, no lo es, porque aunque una sola multiplicación tomaba apenas algunas decenas de microsegundos, el tiempo total necesario sumaría más de 10 000 años.”</a:t>
            </a:r>
            <a:endParaRPr lang="en-US" sz="1240" dirty="0"/>
          </a:p>
        </p:txBody>
      </p:sp>
      <p:sp>
        <p:nvSpPr>
          <p:cNvPr id="17" name="Shape 14"/>
          <p:cNvSpPr/>
          <p:nvPr/>
        </p:nvSpPr>
        <p:spPr>
          <a:xfrm>
            <a:off x="658368" y="5358384"/>
            <a:ext cx="45720" cy="182880"/>
          </a:xfrm>
          <a:prstGeom prst="rect">
            <a:avLst/>
          </a:prstGeom>
          <a:solidFill>
            <a:srgbClr val="8A6A12"/>
          </a:solidFill>
          <a:ln w="12700">
            <a:solidFill>
              <a:srgbClr val="8A6A12"/>
            </a:solidFill>
            <a:prstDash val="solid"/>
          </a:ln>
        </p:spPr>
      </p:sp>
      <p:sp>
        <p:nvSpPr>
          <p:cNvPr id="18" name="Text 15"/>
          <p:cNvSpPr txBox="1"/>
          <p:nvPr/>
        </p:nvSpPr>
        <p:spPr>
          <a:xfrm>
            <a:off x="804672" y="5349240"/>
            <a:ext cx="1060704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Edsger W. Dijkstra, «Notes on Structured Programming», sección «On the reliability of mechanisms» · traducción del original en inglés</a:t>
            </a:r>
            <a:endParaRPr lang="en-US" sz="920" dirty="0"/>
          </a:p>
        </p:txBody>
      </p:sp>
      <p:sp>
        <p:nvSpPr>
          <p:cNvPr id="19" name="Shape 16"/>
          <p:cNvSpPr/>
          <p:nvPr/>
        </p:nvSpPr>
        <p:spPr>
          <a:xfrm>
            <a:off x="658368" y="5742432"/>
            <a:ext cx="10874959" cy="512064"/>
          </a:xfrm>
          <a:prstGeom prst="rect">
            <a:avLst/>
          </a:prstGeom>
          <a:solidFill>
            <a:srgbClr val="102A43"/>
          </a:solidFill>
          <a:ln w="12700">
            <a:solidFill>
              <a:srgbClr val="102A43"/>
            </a:solidFill>
            <a:prstDash val="solid"/>
          </a:ln>
        </p:spPr>
      </p:sp>
      <p:sp>
        <p:nvSpPr>
          <p:cNvPr id="20" name="Text 17"/>
          <p:cNvSpPr txBox="1"/>
          <p:nvPr/>
        </p:nvSpPr>
        <p:spPr>
          <a:xfrm>
            <a:off x="969264" y="5779008"/>
            <a:ext cx="10253167" cy="438912"/>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La frase célebre no es un veredicto sobre el testing: es la conclusión de una aritmética de tiempo.</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20</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AUDITAR LA CIFRA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El número de Dijkstra, comprobado</a:t>
            </a:r>
            <a:endParaRPr lang="en-US" sz="3000" dirty="0"/>
          </a:p>
        </p:txBody>
      </p:sp>
      <p:sp>
        <p:nvSpPr>
          <p:cNvPr id="10" name="Text 7"/>
          <p:cNvSpPr txBox="1"/>
          <p:nvPr/>
        </p:nvSpPr>
        <p:spPr>
          <a:xfrm>
            <a:off x="658368" y="1773936"/>
            <a:ext cx="72237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Toda cifra heredada se verifica antes de repetirla, venga de quien venga.</a:t>
            </a:r>
            <a:endParaRPr lang="en-US" sz="1450" dirty="0"/>
          </a:p>
        </p:txBody>
      </p:sp>
      <p:sp>
        <p:nvSpPr>
          <p:cNvPr id="11" name="Shape 8"/>
          <p:cNvSpPr/>
          <p:nvPr/>
        </p:nvSpPr>
        <p:spPr>
          <a:xfrm>
            <a:off x="8165592" y="1883664"/>
            <a:ext cx="1060704" cy="274320"/>
          </a:xfrm>
          <a:prstGeom prst="rect">
            <a:avLst/>
          </a:prstGeom>
          <a:solidFill>
            <a:srgbClr val="EDE6DA"/>
          </a:solidFill>
          <a:ln w="12700">
            <a:solidFill>
              <a:srgbClr val="EDE6DA"/>
            </a:solidFill>
            <a:prstDash val="solid"/>
          </a:ln>
        </p:spPr>
      </p:sp>
      <p:sp>
        <p:nvSpPr>
          <p:cNvPr id="12" name="Text 9"/>
          <p:cNvSpPr txBox="1"/>
          <p:nvPr/>
        </p:nvSpPr>
        <p:spPr>
          <a:xfrm>
            <a:off x="8165592"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Leer</a:t>
            </a:r>
            <a:endParaRPr lang="en-US" sz="940" dirty="0"/>
          </a:p>
        </p:txBody>
      </p:sp>
      <p:sp>
        <p:nvSpPr>
          <p:cNvPr id="13" name="Shape 10"/>
          <p:cNvSpPr/>
          <p:nvPr/>
        </p:nvSpPr>
        <p:spPr>
          <a:xfrm>
            <a:off x="9317736" y="1883664"/>
            <a:ext cx="1060704" cy="274320"/>
          </a:xfrm>
          <a:prstGeom prst="rect">
            <a:avLst/>
          </a:prstGeom>
          <a:solidFill>
            <a:srgbClr val="EDE6DA"/>
          </a:solidFill>
          <a:ln w="12700">
            <a:solidFill>
              <a:srgbClr val="EDE6DA"/>
            </a:solidFill>
            <a:prstDash val="solid"/>
          </a:ln>
        </p:spPr>
      </p:sp>
      <p:sp>
        <p:nvSpPr>
          <p:cNvPr id="14" name="Text 11"/>
          <p:cNvSpPr txBox="1"/>
          <p:nvPr/>
        </p:nvSpPr>
        <p:spPr>
          <a:xfrm>
            <a:off x="9317736"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Predecir</a:t>
            </a:r>
            <a:endParaRPr lang="en-US" sz="940" dirty="0"/>
          </a:p>
        </p:txBody>
      </p:sp>
      <p:sp>
        <p:nvSpPr>
          <p:cNvPr id="15" name="Shape 12"/>
          <p:cNvSpPr/>
          <p:nvPr/>
        </p:nvSpPr>
        <p:spPr>
          <a:xfrm>
            <a:off x="10469880" y="1883664"/>
            <a:ext cx="1060704" cy="274320"/>
          </a:xfrm>
          <a:prstGeom prst="rect">
            <a:avLst/>
          </a:prstGeom>
          <a:solidFill>
            <a:srgbClr val="102A43"/>
          </a:solidFill>
          <a:ln w="12700">
            <a:solidFill>
              <a:srgbClr val="102A43"/>
            </a:solidFill>
            <a:prstDash val="solid"/>
          </a:ln>
        </p:spPr>
      </p:sp>
      <p:sp>
        <p:nvSpPr>
          <p:cNvPr id="16" name="Text 13"/>
          <p:cNvSpPr txBox="1"/>
          <p:nvPr/>
        </p:nvSpPr>
        <p:spPr>
          <a:xfrm>
            <a:off x="10469880"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FFFFFF"/>
                </a:solidFill>
                <a:latin typeface="Aptos" pitchFamily="34" charset="0"/>
                <a:ea typeface="Aptos" pitchFamily="34" charset="-122"/>
                <a:cs typeface="Aptos" pitchFamily="34" charset="-120"/>
              </a:rPr>
              <a:t>Comprobar</a:t>
            </a:r>
            <a:endParaRPr lang="en-US" sz="940" dirty="0"/>
          </a:p>
        </p:txBody>
      </p:sp>
      <p:sp>
        <p:nvSpPr>
          <p:cNvPr id="17" name="Shape 14"/>
          <p:cNvSpPr/>
          <p:nvPr/>
        </p:nvSpPr>
        <p:spPr>
          <a:xfrm>
            <a:off x="658368" y="2304288"/>
            <a:ext cx="6675120" cy="2231136"/>
          </a:xfrm>
          <a:prstGeom prst="roundRect">
            <a:avLst>
              <a:gd name="adj" fmla="val 1639"/>
            </a:avLst>
          </a:prstGeom>
          <a:solidFill>
            <a:srgbClr val="0F1720"/>
          </a:solidFill>
          <a:ln w="12700">
            <a:solidFill>
              <a:srgbClr val="0F1720"/>
            </a:solidFill>
            <a:prstDash val="solid"/>
          </a:ln>
        </p:spPr>
      </p:sp>
      <p:sp>
        <p:nvSpPr>
          <p:cNvPr id="18" name="Shape 15"/>
          <p:cNvSpPr/>
          <p:nvPr/>
        </p:nvSpPr>
        <p:spPr>
          <a:xfrm>
            <a:off x="786384" y="2414016"/>
            <a:ext cx="6419088" cy="310896"/>
          </a:xfrm>
          <a:prstGeom prst="roundRect">
            <a:avLst>
              <a:gd name="adj" fmla="val 8824"/>
            </a:avLst>
          </a:prstGeom>
          <a:solidFill>
            <a:srgbClr val="1E2937"/>
          </a:solidFill>
          <a:ln w="12700">
            <a:solidFill>
              <a:srgbClr val="1E2937"/>
            </a:solidFill>
            <a:prstDash val="solid"/>
          </a:ln>
        </p:spPr>
      </p:sp>
      <p:sp>
        <p:nvSpPr>
          <p:cNvPr id="19" name="Text 16"/>
          <p:cNvSpPr/>
          <p:nvPr/>
        </p:nvSpPr>
        <p:spPr>
          <a:xfrm>
            <a:off x="914400" y="2487168"/>
            <a:ext cx="6163056"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2^54 multiplicaciones, a distintas velocidades</a:t>
            </a:r>
            <a:endParaRPr lang="en-US" sz="1000" dirty="0"/>
          </a:p>
        </p:txBody>
      </p:sp>
      <p:sp>
        <p:nvSpPr>
          <p:cNvPr id="20" name="Text 17"/>
          <p:cNvSpPr/>
          <p:nvPr/>
        </p:nvSpPr>
        <p:spPr>
          <a:xfrm>
            <a:off x="877824" y="2871216"/>
            <a:ext cx="5925312" cy="164592"/>
          </a:xfrm>
          <a:prstGeom prst="rect">
            <a:avLst/>
          </a:prstGeom>
          <a:noFill/>
          <a:ln/>
        </p:spPr>
        <p:txBody>
          <a:bodyPr wrap="square" lIns="0" tIns="0" rIns="0" bIns="0" rtlCol="0" anchor="ctr"/>
          <a:lstStyle/>
          <a:p>
            <a:pPr indent="0" marL="0">
              <a:buNone/>
            </a:pPr>
            <a:r>
              <a:rPr lang="en-US" sz="1000" dirty="0">
                <a:solidFill>
                  <a:srgbClr val="E6EEF7"/>
                </a:solidFill>
                <a:latin typeface="Consolas" pitchFamily="34" charset="0"/>
                <a:ea typeface="Consolas" pitchFamily="34" charset="-122"/>
                <a:cs typeface="Consolas" pitchFamily="34" charset="-120"/>
              </a:rPr>
              <a:t>2^54 = 18,014,398,509,481,984 multiplicaciones</a:t>
            </a:r>
            <a:endParaRPr lang="en-US" sz="1000" dirty="0"/>
          </a:p>
        </p:txBody>
      </p:sp>
      <p:sp>
        <p:nvSpPr>
          <p:cNvPr id="21" name="Text 18"/>
          <p:cNvSpPr/>
          <p:nvPr/>
        </p:nvSpPr>
        <p:spPr>
          <a:xfrm>
            <a:off x="877824" y="3127248"/>
            <a:ext cx="5925312" cy="164592"/>
          </a:xfrm>
          <a:prstGeom prst="rect">
            <a:avLst/>
          </a:prstGeom>
          <a:noFill/>
          <a:ln/>
        </p:spPr>
        <p:txBody>
          <a:bodyPr wrap="square" lIns="0" tIns="0" rIns="0" bIns="0" rtlCol="0" anchor="ctr"/>
          <a:lstStyle/>
          <a:p>
            <a:pPr indent="0" marL="0">
              <a:buNone/>
            </a:pPr>
            <a:r>
              <a:rPr lang="en-US" sz="1000" dirty="0">
                <a:solidFill>
                  <a:srgbClr val="8AA0B6"/>
                </a:solidFill>
                <a:latin typeface="Consolas" pitchFamily="34" charset="0"/>
                <a:ea typeface="Consolas" pitchFamily="34" charset="-122"/>
                <a:cs typeface="Consolas" pitchFamily="34" charset="-120"/>
              </a:rPr>
              <a:t>  a 10 microsegundos -&gt;      5,712 anios</a:t>
            </a:r>
            <a:endParaRPr lang="en-US" sz="1000" dirty="0"/>
          </a:p>
        </p:txBody>
      </p:sp>
      <p:sp>
        <p:nvSpPr>
          <p:cNvPr id="22" name="Text 19"/>
          <p:cNvSpPr/>
          <p:nvPr/>
        </p:nvSpPr>
        <p:spPr>
          <a:xfrm>
            <a:off x="877824" y="3383280"/>
            <a:ext cx="5925312" cy="164592"/>
          </a:xfrm>
          <a:prstGeom prst="rect">
            <a:avLst/>
          </a:prstGeom>
          <a:noFill/>
          <a:ln/>
        </p:spPr>
        <p:txBody>
          <a:bodyPr wrap="square" lIns="0" tIns="0" rIns="0" bIns="0" rtlCol="0" anchor="ctr"/>
          <a:lstStyle/>
          <a:p>
            <a:pPr indent="0" marL="0">
              <a:buNone/>
            </a:pPr>
            <a:r>
              <a:rPr lang="en-US" sz="1000" dirty="0">
                <a:solidFill>
                  <a:srgbClr val="E6EEF7"/>
                </a:solidFill>
                <a:latin typeface="Consolas" pitchFamily="34" charset="0"/>
                <a:ea typeface="Consolas" pitchFamily="34" charset="-122"/>
                <a:cs typeface="Consolas" pitchFamily="34" charset="-120"/>
              </a:rPr>
              <a:t>  a 20 microsegundos -&gt;     11,425 anios</a:t>
            </a:r>
            <a:endParaRPr lang="en-US" sz="1000" dirty="0"/>
          </a:p>
        </p:txBody>
      </p:sp>
      <p:sp>
        <p:nvSpPr>
          <p:cNvPr id="23" name="Text 20"/>
          <p:cNvSpPr/>
          <p:nvPr/>
        </p:nvSpPr>
        <p:spPr>
          <a:xfrm>
            <a:off x="877824" y="3639312"/>
            <a:ext cx="5925312" cy="164592"/>
          </a:xfrm>
          <a:prstGeom prst="rect">
            <a:avLst/>
          </a:prstGeom>
          <a:noFill/>
          <a:ln/>
        </p:spPr>
        <p:txBody>
          <a:bodyPr wrap="square" lIns="0" tIns="0" rIns="0" bIns="0" rtlCol="0" anchor="ctr"/>
          <a:lstStyle/>
          <a:p>
            <a:pPr indent="0" marL="0">
              <a:buNone/>
            </a:pPr>
            <a:r>
              <a:rPr lang="en-US" sz="1000" dirty="0">
                <a:solidFill>
                  <a:srgbClr val="E6EEF7"/>
                </a:solidFill>
                <a:latin typeface="Consolas" pitchFamily="34" charset="0"/>
                <a:ea typeface="Consolas" pitchFamily="34" charset="-122"/>
                <a:cs typeface="Consolas" pitchFamily="34" charset="-120"/>
              </a:rPr>
              <a:t>  a 30 microsegundos -&gt;     17,137 anios</a:t>
            </a:r>
            <a:endParaRPr lang="en-US" sz="1000" dirty="0"/>
          </a:p>
        </p:txBody>
      </p:sp>
      <p:sp>
        <p:nvSpPr>
          <p:cNvPr id="24" name="Text 21"/>
          <p:cNvSpPr/>
          <p:nvPr/>
        </p:nvSpPr>
        <p:spPr>
          <a:xfrm>
            <a:off x="877824" y="3895344"/>
            <a:ext cx="5925312" cy="164592"/>
          </a:xfrm>
          <a:prstGeom prst="rect">
            <a:avLst/>
          </a:prstGeom>
          <a:noFill/>
          <a:ln/>
        </p:spPr>
        <p:txBody>
          <a:bodyPr wrap="square" lIns="0" tIns="0" rIns="0" bIns="0" rtlCol="0" anchor="ctr"/>
          <a:lstStyle/>
          <a:p>
            <a:pPr indent="0" marL="0">
              <a:buNone/>
            </a:pPr>
            <a:r>
              <a:rPr lang="en-US" sz="1000" dirty="0">
                <a:solidFill>
                  <a:srgbClr val="8AA0B6"/>
                </a:solidFill>
                <a:latin typeface="Consolas" pitchFamily="34" charset="0"/>
                <a:ea typeface="Consolas" pitchFamily="34" charset="-122"/>
                <a:cs typeface="Consolas" pitchFamily="34" charset="-120"/>
              </a:rPr>
              <a:t>  a 50 microsegundos -&gt;     28,562 anios</a:t>
            </a:r>
            <a:endParaRPr lang="en-US" sz="1000" dirty="0"/>
          </a:p>
        </p:txBody>
      </p:sp>
      <p:sp>
        <p:nvSpPr>
          <p:cNvPr id="25" name="Shape 22"/>
          <p:cNvSpPr/>
          <p:nvPr/>
        </p:nvSpPr>
        <p:spPr>
          <a:xfrm>
            <a:off x="7516368" y="2304288"/>
            <a:ext cx="4014216" cy="1060704"/>
          </a:xfrm>
          <a:prstGeom prst="rect">
            <a:avLst/>
          </a:prstGeom>
          <a:solidFill>
            <a:srgbClr val="E9F6EE"/>
          </a:solidFill>
          <a:ln w="12700">
            <a:solidFill>
              <a:srgbClr val="E9F6EE"/>
            </a:solidFill>
            <a:prstDash val="solid"/>
          </a:ln>
        </p:spPr>
      </p:sp>
      <p:sp>
        <p:nvSpPr>
          <p:cNvPr id="26" name="Shape 23"/>
          <p:cNvSpPr/>
          <p:nvPr/>
        </p:nvSpPr>
        <p:spPr>
          <a:xfrm>
            <a:off x="7516368" y="2304288"/>
            <a:ext cx="64008" cy="1060704"/>
          </a:xfrm>
          <a:prstGeom prst="rect">
            <a:avLst/>
          </a:prstGeom>
          <a:solidFill>
            <a:srgbClr val="2E7D4F"/>
          </a:solidFill>
          <a:ln w="12700">
            <a:solidFill>
              <a:srgbClr val="2E7D4F"/>
            </a:solidFill>
            <a:prstDash val="solid"/>
          </a:ln>
        </p:spPr>
      </p:sp>
      <p:sp>
        <p:nvSpPr>
          <p:cNvPr id="27" name="Text 24"/>
          <p:cNvSpPr txBox="1"/>
          <p:nvPr/>
        </p:nvSpPr>
        <p:spPr>
          <a:xfrm>
            <a:off x="7827264" y="2487168"/>
            <a:ext cx="3474720" cy="201168"/>
          </a:xfrm>
          <a:prstGeom prst="rect">
            <a:avLst/>
          </a:prstGeom>
          <a:noFill/>
          <a:ln/>
        </p:spPr>
        <p:txBody>
          <a:bodyPr wrap="square" lIns="0" tIns="0" rIns="0" bIns="0" rtlCol="0" anchor="t"/>
          <a:lstStyle/>
          <a:p>
            <a:pPr algn="l" indent="0" marL="0">
              <a:buNone/>
            </a:pPr>
            <a:r>
              <a:rPr lang="en-US" sz="960" b="1" spc="130" kern="0" dirty="0">
                <a:solidFill>
                  <a:srgbClr val="2E7D4F"/>
                </a:solidFill>
                <a:latin typeface="Aptos" pitchFamily="34" charset="0"/>
                <a:ea typeface="Aptos" pitchFamily="34" charset="-122"/>
                <a:cs typeface="Aptos" pitchFamily="34" charset="-120"/>
              </a:rPr>
              <a:t>VEREDICTO</a:t>
            </a:r>
            <a:endParaRPr lang="en-US" sz="960" dirty="0"/>
          </a:p>
        </p:txBody>
      </p:sp>
      <p:sp>
        <p:nvSpPr>
          <p:cNvPr id="28" name="Text 25"/>
          <p:cNvSpPr txBox="1"/>
          <p:nvPr/>
        </p:nvSpPr>
        <p:spPr>
          <a:xfrm>
            <a:off x="7827264" y="2743200"/>
            <a:ext cx="3383280" cy="457200"/>
          </a:xfrm>
          <a:prstGeom prst="rect">
            <a:avLst/>
          </a:prstGeom>
          <a:noFill/>
          <a:ln/>
        </p:spPr>
        <p:txBody>
          <a:bodyPr wrap="square" lIns="0" tIns="0" rIns="0" bIns="0" rtlCol="0" anchor="t"/>
          <a:lstStyle/>
          <a:p>
            <a:pPr algn="l" indent="0" marL="0">
              <a:lnSpc>
                <a:spcPct val="114000"/>
              </a:lnSpc>
              <a:buNone/>
            </a:pPr>
            <a:r>
              <a:rPr lang="en-US" sz="1450" b="1" dirty="0">
                <a:solidFill>
                  <a:srgbClr val="243B53"/>
                </a:solidFill>
                <a:latin typeface="Aptos" pitchFamily="34" charset="0"/>
                <a:ea typeface="Aptos" pitchFamily="34" charset="-122"/>
                <a:cs typeface="Aptos" pitchFamily="34" charset="-120"/>
              </a:rPr>
              <a:t>La aritmética está bien hecha.</a:t>
            </a:r>
            <a:endParaRPr lang="en-US" sz="1450" dirty="0"/>
          </a:p>
        </p:txBody>
      </p:sp>
      <p:sp>
        <p:nvSpPr>
          <p:cNvPr id="29" name="Shape 26"/>
          <p:cNvSpPr/>
          <p:nvPr/>
        </p:nvSpPr>
        <p:spPr>
          <a:xfrm>
            <a:off x="7516368" y="3493008"/>
            <a:ext cx="4014216" cy="1042416"/>
          </a:xfrm>
          <a:prstGeom prst="rect">
            <a:avLst/>
          </a:prstGeom>
          <a:solidFill>
            <a:srgbClr val="F2E7D9"/>
          </a:solidFill>
          <a:ln w="12700">
            <a:solidFill>
              <a:srgbClr val="F2E7D9"/>
            </a:solidFill>
            <a:prstDash val="solid"/>
          </a:ln>
        </p:spPr>
      </p:sp>
      <p:sp>
        <p:nvSpPr>
          <p:cNvPr id="30" name="Shape 27"/>
          <p:cNvSpPr/>
          <p:nvPr/>
        </p:nvSpPr>
        <p:spPr>
          <a:xfrm>
            <a:off x="7516368" y="3493008"/>
            <a:ext cx="64008" cy="1042416"/>
          </a:xfrm>
          <a:prstGeom prst="rect">
            <a:avLst/>
          </a:prstGeom>
          <a:solidFill>
            <a:srgbClr val="8A6A12"/>
          </a:solidFill>
          <a:ln w="12700">
            <a:solidFill>
              <a:srgbClr val="8A6A12"/>
            </a:solidFill>
            <a:prstDash val="solid"/>
          </a:ln>
        </p:spPr>
      </p:sp>
      <p:sp>
        <p:nvSpPr>
          <p:cNvPr id="31" name="Text 28"/>
          <p:cNvSpPr txBox="1"/>
          <p:nvPr/>
        </p:nvSpPr>
        <p:spPr>
          <a:xfrm>
            <a:off x="7827264" y="3657600"/>
            <a:ext cx="3383280" cy="749808"/>
          </a:xfrm>
          <a:prstGeom prst="rect">
            <a:avLst/>
          </a:prstGeom>
          <a:noFill/>
          <a:ln/>
        </p:spPr>
        <p:txBody>
          <a:bodyPr wrap="square" lIns="0" tIns="0" rIns="0" bIns="0" rtlCol="0" anchor="t"/>
          <a:lstStyle/>
          <a:p>
            <a:pPr algn="l" indent="0" marL="0">
              <a:lnSpc>
                <a:spcPct val="118000"/>
              </a:lnSpc>
              <a:buNone/>
            </a:pPr>
            <a:r>
              <a:rPr lang="en-US" sz="1220" dirty="0">
                <a:solidFill>
                  <a:srgbClr val="243B53"/>
                </a:solidFill>
                <a:latin typeface="Aptos" pitchFamily="34" charset="0"/>
                <a:ea typeface="Aptos" pitchFamily="34" charset="-122"/>
                <a:cs typeface="Aptos" pitchFamily="34" charset="-120"/>
              </a:rPr>
              <a:t>«Algunas decenas de microsegundos» sitúa el cálculo entre 11.000 y 17.000 años.</a:t>
            </a:r>
            <a:endParaRPr lang="en-US" sz="1220" dirty="0"/>
          </a:p>
        </p:txBody>
      </p:sp>
      <p:sp>
        <p:nvSpPr>
          <p:cNvPr id="32" name="Shape 29"/>
          <p:cNvSpPr/>
          <p:nvPr/>
        </p:nvSpPr>
        <p:spPr>
          <a:xfrm>
            <a:off x="658368" y="4882896"/>
            <a:ext cx="10874959" cy="548640"/>
          </a:xfrm>
          <a:prstGeom prst="rect">
            <a:avLst/>
          </a:prstGeom>
          <a:solidFill>
            <a:srgbClr val="102A43"/>
          </a:solidFill>
          <a:ln w="12700">
            <a:solidFill>
              <a:srgbClr val="102A43"/>
            </a:solidFill>
            <a:prstDash val="solid"/>
          </a:ln>
        </p:spPr>
      </p:sp>
      <p:sp>
        <p:nvSpPr>
          <p:cNvPr id="33" name="Text 30"/>
          <p:cNvSpPr txBox="1"/>
          <p:nvPr/>
        </p:nvSpPr>
        <p:spPr>
          <a:xfrm>
            <a:off x="969264" y="4919472"/>
            <a:ext cx="10253167" cy="475488"/>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Primera cifra heredada del módulo que sale intacta de una auditoría. Lo que no sobrevive es la lectura de la frase.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21</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LO QUE SÍ DIJO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Dos oraciones después están las dos palabras de hoy</a:t>
            </a:r>
            <a:endParaRPr lang="en-US" sz="3000" dirty="0"/>
          </a:p>
        </p:txBody>
      </p:sp>
      <p:sp>
        <p:nvSpPr>
          <p:cNvPr id="10" name="Shape 7"/>
          <p:cNvSpPr/>
          <p:nvPr/>
        </p:nvSpPr>
        <p:spPr>
          <a:xfrm>
            <a:off x="658368" y="1956816"/>
            <a:ext cx="10874959" cy="1060704"/>
          </a:xfrm>
          <a:prstGeom prst="rect">
            <a:avLst/>
          </a:prstGeom>
          <a:solidFill>
            <a:srgbClr val="F2E7D9"/>
          </a:solidFill>
          <a:ln w="12700">
            <a:solidFill>
              <a:srgbClr val="F2E7D9"/>
            </a:solidFill>
            <a:prstDash val="solid"/>
          </a:ln>
        </p:spPr>
      </p:sp>
      <p:sp>
        <p:nvSpPr>
          <p:cNvPr id="11" name="Shape 8"/>
          <p:cNvSpPr/>
          <p:nvPr/>
        </p:nvSpPr>
        <p:spPr>
          <a:xfrm>
            <a:off x="658368" y="1956816"/>
            <a:ext cx="64008" cy="1060704"/>
          </a:xfrm>
          <a:prstGeom prst="rect">
            <a:avLst/>
          </a:prstGeom>
          <a:solidFill>
            <a:srgbClr val="102A43"/>
          </a:solidFill>
          <a:ln w="12700">
            <a:solidFill>
              <a:srgbClr val="102A43"/>
            </a:solidFill>
            <a:prstDash val="solid"/>
          </a:ln>
        </p:spPr>
      </p:sp>
      <p:sp>
        <p:nvSpPr>
          <p:cNvPr id="12" name="Text 9"/>
          <p:cNvSpPr txBox="1"/>
          <p:nvPr/>
        </p:nvSpPr>
        <p:spPr>
          <a:xfrm>
            <a:off x="969264" y="2066544"/>
            <a:ext cx="10308031" cy="841248"/>
          </a:xfrm>
          <a:prstGeom prst="rect">
            <a:avLst/>
          </a:prstGeom>
          <a:noFill/>
          <a:ln/>
        </p:spPr>
        <p:txBody>
          <a:bodyPr wrap="square" lIns="0" tIns="0" rIns="0" bIns="0" rtlCol="0" anchor="ctr"/>
          <a:lstStyle/>
          <a:p>
            <a:pPr algn="l" indent="0" marL="0">
              <a:lnSpc>
                <a:spcPct val="118000"/>
              </a:lnSpc>
              <a:buNone/>
            </a:pPr>
            <a:r>
              <a:rPr lang="en-US" sz="1280" i="1" dirty="0">
                <a:solidFill>
                  <a:srgbClr val="243B53"/>
                </a:solidFill>
                <a:latin typeface="Aptos" pitchFamily="34" charset="0"/>
                <a:ea typeface="Aptos" pitchFamily="34" charset="-122"/>
                <a:cs typeface="Aptos" pitchFamily="34" charset="-120"/>
              </a:rPr>
              <a:t>“As long as the multiplier is considered as a black box, the only thing we can do is «testing by sampling»... Whole classes of in some sense «critical» multiplications may remain untested.”</a:t>
            </a:r>
            <a:endParaRPr lang="en-US" sz="1280" dirty="0"/>
          </a:p>
        </p:txBody>
      </p:sp>
      <p:sp>
        <p:nvSpPr>
          <p:cNvPr id="13" name="Shape 10"/>
          <p:cNvSpPr/>
          <p:nvPr/>
        </p:nvSpPr>
        <p:spPr>
          <a:xfrm>
            <a:off x="658368" y="3127248"/>
            <a:ext cx="10874959" cy="1060704"/>
          </a:xfrm>
          <a:prstGeom prst="rect">
            <a:avLst/>
          </a:prstGeom>
          <a:solidFill>
            <a:srgbClr val="EDE6DA"/>
          </a:solidFill>
          <a:ln w="12700">
            <a:solidFill>
              <a:srgbClr val="EDE6DA"/>
            </a:solidFill>
            <a:prstDash val="solid"/>
          </a:ln>
        </p:spPr>
      </p:sp>
      <p:sp>
        <p:nvSpPr>
          <p:cNvPr id="14" name="Shape 11"/>
          <p:cNvSpPr/>
          <p:nvPr/>
        </p:nvSpPr>
        <p:spPr>
          <a:xfrm>
            <a:off x="658368" y="3127248"/>
            <a:ext cx="64008" cy="1060704"/>
          </a:xfrm>
          <a:prstGeom prst="rect">
            <a:avLst/>
          </a:prstGeom>
          <a:solidFill>
            <a:srgbClr val="52606D"/>
          </a:solidFill>
          <a:ln w="12700">
            <a:solidFill>
              <a:srgbClr val="52606D"/>
            </a:solidFill>
            <a:prstDash val="solid"/>
          </a:ln>
        </p:spPr>
      </p:sp>
      <p:sp>
        <p:nvSpPr>
          <p:cNvPr id="15" name="Text 12"/>
          <p:cNvSpPr txBox="1"/>
          <p:nvPr/>
        </p:nvSpPr>
        <p:spPr>
          <a:xfrm>
            <a:off x="969264" y="3236976"/>
            <a:ext cx="10308031" cy="841248"/>
          </a:xfrm>
          <a:prstGeom prst="rect">
            <a:avLst/>
          </a:prstGeom>
          <a:noFill/>
          <a:ln/>
        </p:spPr>
        <p:txBody>
          <a:bodyPr wrap="square" lIns="0" tIns="0" rIns="0" bIns="0" rtlCol="0" anchor="ctr"/>
          <a:lstStyle/>
          <a:p>
            <a:pPr algn="l" indent="0" marL="0">
              <a:lnSpc>
                <a:spcPct val="118000"/>
              </a:lnSpc>
              <a:buNone/>
            </a:pPr>
            <a:r>
              <a:rPr lang="en-US" sz="1280" i="1" dirty="0">
                <a:solidFill>
                  <a:srgbClr val="243B53"/>
                </a:solidFill>
                <a:latin typeface="Aptos" pitchFamily="34" charset="0"/>
                <a:ea typeface="Aptos" pitchFamily="34" charset="-122"/>
                <a:cs typeface="Aptos" pitchFamily="34" charset="-120"/>
              </a:rPr>
              <a:t>“Mientras el multiplicador se considere una caja negra, lo único que podemos hacer es «probar por muestreo»... Clases enteras de multiplicaciones en algún sentido «críticas» pueden quedar sin probar.”</a:t>
            </a:r>
            <a:endParaRPr lang="en-US" sz="1280" dirty="0"/>
          </a:p>
        </p:txBody>
      </p:sp>
      <p:sp>
        <p:nvSpPr>
          <p:cNvPr id="16" name="Shape 13"/>
          <p:cNvSpPr/>
          <p:nvPr/>
        </p:nvSpPr>
        <p:spPr>
          <a:xfrm>
            <a:off x="658368" y="4370832"/>
            <a:ext cx="5358384" cy="969264"/>
          </a:xfrm>
          <a:prstGeom prst="rect">
            <a:avLst/>
          </a:prstGeom>
          <a:solidFill>
            <a:srgbClr val="E6EEF7"/>
          </a:solidFill>
          <a:ln w="12700">
            <a:solidFill>
              <a:srgbClr val="E6EEF7"/>
            </a:solidFill>
            <a:prstDash val="solid"/>
          </a:ln>
        </p:spPr>
      </p:sp>
      <p:sp>
        <p:nvSpPr>
          <p:cNvPr id="17" name="Shape 14"/>
          <p:cNvSpPr/>
          <p:nvPr/>
        </p:nvSpPr>
        <p:spPr>
          <a:xfrm>
            <a:off x="658368" y="4370832"/>
            <a:ext cx="5358384" cy="54864"/>
          </a:xfrm>
          <a:prstGeom prst="rect">
            <a:avLst/>
          </a:prstGeom>
          <a:solidFill>
            <a:srgbClr val="102A43"/>
          </a:solidFill>
          <a:ln w="12700">
            <a:solidFill>
              <a:srgbClr val="102A43"/>
            </a:solidFill>
            <a:prstDash val="solid"/>
          </a:ln>
        </p:spPr>
      </p:sp>
      <p:sp>
        <p:nvSpPr>
          <p:cNvPr id="18" name="Text 15"/>
          <p:cNvSpPr txBox="1"/>
          <p:nvPr/>
        </p:nvSpPr>
        <p:spPr>
          <a:xfrm>
            <a:off x="932688" y="4517136"/>
            <a:ext cx="4754880" cy="274320"/>
          </a:xfrm>
          <a:prstGeom prst="rect">
            <a:avLst/>
          </a:prstGeom>
          <a:noFill/>
          <a:ln/>
        </p:spPr>
        <p:txBody>
          <a:bodyPr wrap="square" lIns="0" tIns="0" rIns="0" bIns="0" rtlCol="0" anchor="t"/>
          <a:lstStyle/>
          <a:p>
            <a:pPr algn="l" indent="0" marL="0">
              <a:buNone/>
            </a:pPr>
            <a:r>
              <a:rPr lang="en-US" sz="1500" b="1" dirty="0">
                <a:solidFill>
                  <a:srgbClr val="102A43"/>
                </a:solidFill>
                <a:latin typeface="Aptos" pitchFamily="34" charset="0"/>
                <a:ea typeface="Aptos" pitchFamily="34" charset="-122"/>
                <a:cs typeface="Aptos" pitchFamily="34" charset="-120"/>
              </a:rPr>
              <a:t>Probar por muestreo</a:t>
            </a:r>
            <a:endParaRPr lang="en-US" sz="1500" dirty="0"/>
          </a:p>
        </p:txBody>
      </p:sp>
      <p:sp>
        <p:nvSpPr>
          <p:cNvPr id="19" name="Text 16"/>
          <p:cNvSpPr txBox="1"/>
          <p:nvPr/>
        </p:nvSpPr>
        <p:spPr>
          <a:xfrm>
            <a:off x="932688" y="4828032"/>
            <a:ext cx="4754880" cy="420624"/>
          </a:xfrm>
          <a:prstGeom prst="rect">
            <a:avLst/>
          </a:prstGeom>
          <a:noFill/>
          <a:ln/>
        </p:spPr>
        <p:txBody>
          <a:bodyPr wrap="square" lIns="0" tIns="0" rIns="0" bIns="0" rtlCol="0" anchor="t"/>
          <a:lstStyle/>
          <a:p>
            <a:pPr algn="l" indent="0" marL="0">
              <a:lnSpc>
                <a:spcPct val="114000"/>
              </a:lnSpc>
              <a:buNone/>
            </a:pPr>
            <a:r>
              <a:rPr lang="en-US" sz="1260" dirty="0">
                <a:solidFill>
                  <a:srgbClr val="243B53"/>
                </a:solidFill>
                <a:latin typeface="Aptos" pitchFamily="34" charset="0"/>
                <a:ea typeface="Aptos" pitchFamily="34" charset="-122"/>
                <a:cs typeface="Aptos" pitchFamily="34" charset="-120"/>
              </a:rPr>
              <a:t>Toda suite es una muestra de un conjunto que no se puede recorrer.</a:t>
            </a:r>
            <a:endParaRPr lang="en-US" sz="1260" dirty="0"/>
          </a:p>
        </p:txBody>
      </p:sp>
      <p:sp>
        <p:nvSpPr>
          <p:cNvPr id="20" name="Shape 17"/>
          <p:cNvSpPr/>
          <p:nvPr/>
        </p:nvSpPr>
        <p:spPr>
          <a:xfrm>
            <a:off x="6272784" y="4370832"/>
            <a:ext cx="5358384" cy="969264"/>
          </a:xfrm>
          <a:prstGeom prst="rect">
            <a:avLst/>
          </a:prstGeom>
          <a:solidFill>
            <a:srgbClr val="F2E7D9"/>
          </a:solidFill>
          <a:ln w="12700">
            <a:solidFill>
              <a:srgbClr val="F2E7D9"/>
            </a:solidFill>
            <a:prstDash val="solid"/>
          </a:ln>
        </p:spPr>
      </p:sp>
      <p:sp>
        <p:nvSpPr>
          <p:cNvPr id="21" name="Shape 18"/>
          <p:cNvSpPr/>
          <p:nvPr/>
        </p:nvSpPr>
        <p:spPr>
          <a:xfrm>
            <a:off x="6272784" y="4370832"/>
            <a:ext cx="5358384" cy="54864"/>
          </a:xfrm>
          <a:prstGeom prst="rect">
            <a:avLst/>
          </a:prstGeom>
          <a:solidFill>
            <a:srgbClr val="8A6A12"/>
          </a:solidFill>
          <a:ln w="12700">
            <a:solidFill>
              <a:srgbClr val="8A6A12"/>
            </a:solidFill>
            <a:prstDash val="solid"/>
          </a:ln>
        </p:spPr>
      </p:sp>
      <p:sp>
        <p:nvSpPr>
          <p:cNvPr id="22" name="Text 19"/>
          <p:cNvSpPr txBox="1"/>
          <p:nvPr/>
        </p:nvSpPr>
        <p:spPr>
          <a:xfrm>
            <a:off x="6547104" y="4517136"/>
            <a:ext cx="4754880" cy="274320"/>
          </a:xfrm>
          <a:prstGeom prst="rect">
            <a:avLst/>
          </a:prstGeom>
          <a:noFill/>
          <a:ln/>
        </p:spPr>
        <p:txBody>
          <a:bodyPr wrap="square" lIns="0" tIns="0" rIns="0" bIns="0" rtlCol="0" anchor="t"/>
          <a:lstStyle/>
          <a:p>
            <a:pPr algn="l" indent="0" marL="0">
              <a:buNone/>
            </a:pPr>
            <a:r>
              <a:rPr lang="en-US" sz="1500" b="1" dirty="0">
                <a:solidFill>
                  <a:srgbClr val="8A6A12"/>
                </a:solidFill>
                <a:latin typeface="Aptos" pitchFamily="34" charset="0"/>
                <a:ea typeface="Aptos" pitchFamily="34" charset="-122"/>
                <a:cs typeface="Aptos" pitchFamily="34" charset="-120"/>
              </a:rPr>
              <a:t>Clases</a:t>
            </a:r>
            <a:endParaRPr lang="en-US" sz="1500" dirty="0"/>
          </a:p>
        </p:txBody>
      </p:sp>
      <p:sp>
        <p:nvSpPr>
          <p:cNvPr id="23" name="Text 20"/>
          <p:cNvSpPr txBox="1"/>
          <p:nvPr/>
        </p:nvSpPr>
        <p:spPr>
          <a:xfrm>
            <a:off x="6547104" y="4828032"/>
            <a:ext cx="4754880" cy="420624"/>
          </a:xfrm>
          <a:prstGeom prst="rect">
            <a:avLst/>
          </a:prstGeom>
          <a:noFill/>
          <a:ln/>
        </p:spPr>
        <p:txBody>
          <a:bodyPr wrap="square" lIns="0" tIns="0" rIns="0" bIns="0" rtlCol="0" anchor="t"/>
          <a:lstStyle/>
          <a:p>
            <a:pPr algn="l" indent="0" marL="0">
              <a:lnSpc>
                <a:spcPct val="114000"/>
              </a:lnSpc>
              <a:buNone/>
            </a:pPr>
            <a:r>
              <a:rPr lang="en-US" sz="1260" dirty="0">
                <a:solidFill>
                  <a:srgbClr val="243B53"/>
                </a:solidFill>
                <a:latin typeface="Aptos" pitchFamily="34" charset="0"/>
                <a:ea typeface="Aptos" pitchFamily="34" charset="-122"/>
                <a:cs typeface="Aptos" pitchFamily="34" charset="-120"/>
              </a:rPr>
              <a:t>El peligro del muestreo es que queden grupos enteros sin ningún representante.</a:t>
            </a:r>
            <a:endParaRPr lang="en-US" sz="1260" dirty="0"/>
          </a:p>
        </p:txBody>
      </p:sp>
      <p:sp>
        <p:nvSpPr>
          <p:cNvPr id="24" name="Shape 21"/>
          <p:cNvSpPr/>
          <p:nvPr/>
        </p:nvSpPr>
        <p:spPr>
          <a:xfrm>
            <a:off x="658368" y="5449824"/>
            <a:ext cx="45720" cy="182880"/>
          </a:xfrm>
          <a:prstGeom prst="rect">
            <a:avLst/>
          </a:prstGeom>
          <a:solidFill>
            <a:srgbClr val="8A6A12"/>
          </a:solidFill>
          <a:ln w="12700">
            <a:solidFill>
              <a:srgbClr val="8A6A12"/>
            </a:solidFill>
            <a:prstDash val="solid"/>
          </a:ln>
        </p:spPr>
      </p:sp>
      <p:sp>
        <p:nvSpPr>
          <p:cNvPr id="25" name="Text 22"/>
          <p:cNvSpPr txBox="1"/>
          <p:nvPr/>
        </p:nvSpPr>
        <p:spPr>
          <a:xfrm>
            <a:off x="804672" y="5440680"/>
            <a:ext cx="640080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Mismo párrafo del documento original · traducción del original en inglés</a:t>
            </a:r>
            <a:endParaRPr lang="en-US" sz="920" dirty="0"/>
          </a:p>
        </p:txBody>
      </p:sp>
      <p:sp>
        <p:nvSpPr>
          <p:cNvPr id="26" name="Shape 23"/>
          <p:cNvSpPr/>
          <p:nvPr/>
        </p:nvSpPr>
        <p:spPr>
          <a:xfrm>
            <a:off x="658368" y="5760720"/>
            <a:ext cx="10874959" cy="493776"/>
          </a:xfrm>
          <a:prstGeom prst="rect">
            <a:avLst/>
          </a:prstGeom>
          <a:solidFill>
            <a:srgbClr val="102A43"/>
          </a:solidFill>
          <a:ln w="12700">
            <a:solidFill>
              <a:srgbClr val="102A43"/>
            </a:solidFill>
            <a:prstDash val="solid"/>
          </a:ln>
        </p:spPr>
      </p:sp>
      <p:sp>
        <p:nvSpPr>
          <p:cNvPr id="27" name="Text 24"/>
          <p:cNvSpPr txBox="1"/>
          <p:nvPr/>
        </p:nvSpPr>
        <p:spPr>
          <a:xfrm>
            <a:off x="969264" y="5797296"/>
            <a:ext cx="10253167" cy="420624"/>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Las técnicas de hoy son la respuesta a la segunda mitad de esa frase, no a la primera.</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3\03\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22</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E0BC5A"/>
                </a:solidFill>
                <a:latin typeface="Aptos" pitchFamily="34" charset="0"/>
                <a:ea typeface="Aptos" pitchFamily="34" charset="-122"/>
                <a:cs typeface="Aptos" pitchFamily="34" charset="-120"/>
              </a:rPr>
              <a:t>BLOQUE 1 · UNA DISCUSIÓN QUE SIGUE ABIERTA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FFFFFF"/>
                </a:solidFill>
                <a:latin typeface="Aptos Display" pitchFamily="34" charset="0"/>
                <a:ea typeface="Aptos Display" pitchFamily="34" charset="-122"/>
                <a:cs typeface="Aptos Display" pitchFamily="34" charset="-120"/>
              </a:rPr>
              <a:t>Dijkstra propone mirar hacia adentro</a:t>
            </a:r>
            <a:endParaRPr lang="en-US" sz="3000" dirty="0"/>
          </a:p>
        </p:txBody>
      </p:sp>
      <p:sp>
        <p:nvSpPr>
          <p:cNvPr id="10" name="Shape 7"/>
          <p:cNvSpPr/>
          <p:nvPr/>
        </p:nvSpPr>
        <p:spPr>
          <a:xfrm>
            <a:off x="658368" y="2011680"/>
            <a:ext cx="10874959" cy="969264"/>
          </a:xfrm>
          <a:prstGeom prst="rect">
            <a:avLst/>
          </a:prstGeom>
          <a:solidFill>
            <a:srgbClr val="1D3A57"/>
          </a:solidFill>
          <a:ln w="12700">
            <a:solidFill>
              <a:srgbClr val="1D3A57"/>
            </a:solidFill>
            <a:prstDash val="solid"/>
          </a:ln>
        </p:spPr>
      </p:sp>
      <p:sp>
        <p:nvSpPr>
          <p:cNvPr id="11" name="Shape 8"/>
          <p:cNvSpPr/>
          <p:nvPr/>
        </p:nvSpPr>
        <p:spPr>
          <a:xfrm>
            <a:off x="658368" y="2011680"/>
            <a:ext cx="64008" cy="969264"/>
          </a:xfrm>
          <a:prstGeom prst="rect">
            <a:avLst/>
          </a:prstGeom>
          <a:solidFill>
            <a:srgbClr val="E0BC5A"/>
          </a:solidFill>
          <a:ln w="12700">
            <a:solidFill>
              <a:srgbClr val="E0BC5A"/>
            </a:solidFill>
            <a:prstDash val="solid"/>
          </a:ln>
        </p:spPr>
      </p:sp>
      <p:sp>
        <p:nvSpPr>
          <p:cNvPr id="12" name="Text 9"/>
          <p:cNvSpPr txBox="1"/>
          <p:nvPr/>
        </p:nvSpPr>
        <p:spPr>
          <a:xfrm>
            <a:off x="969264" y="2121408"/>
            <a:ext cx="10308031" cy="749808"/>
          </a:xfrm>
          <a:prstGeom prst="rect">
            <a:avLst/>
          </a:prstGeom>
          <a:noFill/>
          <a:ln/>
        </p:spPr>
        <p:txBody>
          <a:bodyPr wrap="square" lIns="0" tIns="0" rIns="0" bIns="0" rtlCol="0" anchor="ctr"/>
          <a:lstStyle/>
          <a:p>
            <a:pPr algn="l" indent="0" marL="0">
              <a:lnSpc>
                <a:spcPct val="118000"/>
              </a:lnSpc>
              <a:buNone/>
            </a:pPr>
            <a:r>
              <a:rPr lang="en-US" sz="1400" i="1" dirty="0">
                <a:solidFill>
                  <a:srgbClr val="FFFFFF"/>
                </a:solidFill>
                <a:latin typeface="Aptos" pitchFamily="34" charset="0"/>
                <a:ea typeface="Aptos" pitchFamily="34" charset="-122"/>
                <a:cs typeface="Aptos" pitchFamily="34" charset="-120"/>
              </a:rPr>
              <a:t>“Siendo imposible una demostración convincente de corrección mientras el mecanismo se considere una caja negra, nuestra única esperanza está en no considerarlo una caja negra.”</a:t>
            </a:r>
            <a:endParaRPr lang="en-US" sz="1400" dirty="0"/>
          </a:p>
        </p:txBody>
      </p:sp>
      <p:sp>
        <p:nvSpPr>
          <p:cNvPr id="13" name="Shape 10"/>
          <p:cNvSpPr/>
          <p:nvPr/>
        </p:nvSpPr>
        <p:spPr>
          <a:xfrm>
            <a:off x="658368" y="3108960"/>
            <a:ext cx="45720" cy="182880"/>
          </a:xfrm>
          <a:prstGeom prst="rect">
            <a:avLst/>
          </a:prstGeom>
          <a:solidFill>
            <a:srgbClr val="E0BC5A"/>
          </a:solidFill>
          <a:ln w="12700">
            <a:solidFill>
              <a:srgbClr val="E0BC5A"/>
            </a:solidFill>
            <a:prstDash val="solid"/>
          </a:ln>
        </p:spPr>
      </p:sp>
      <p:sp>
        <p:nvSpPr>
          <p:cNvPr id="14" name="Text 11"/>
          <p:cNvSpPr txBox="1"/>
          <p:nvPr/>
        </p:nvSpPr>
        <p:spPr>
          <a:xfrm>
            <a:off x="804672" y="3099816"/>
            <a:ext cx="5486400" cy="201168"/>
          </a:xfrm>
          <a:prstGeom prst="rect">
            <a:avLst/>
          </a:prstGeom>
          <a:noFill/>
          <a:ln/>
        </p:spPr>
        <p:txBody>
          <a:bodyPr wrap="square" lIns="0" tIns="0" rIns="0" bIns="0" rtlCol="0" anchor="t"/>
          <a:lstStyle/>
          <a:p>
            <a:pPr algn="l" indent="0" marL="0">
              <a:buNone/>
            </a:pPr>
            <a:r>
              <a:rPr lang="en-US" sz="920" i="1" dirty="0">
                <a:solidFill>
                  <a:srgbClr val="EADFD0"/>
                </a:solidFill>
                <a:latin typeface="Aptos" pitchFamily="34" charset="0"/>
                <a:ea typeface="Aptos" pitchFamily="34" charset="-122"/>
                <a:cs typeface="Aptos" pitchFamily="34" charset="-120"/>
              </a:rPr>
              <a:t>Traducción del original en inglés</a:t>
            </a:r>
            <a:endParaRPr lang="en-US" sz="920" dirty="0"/>
          </a:p>
        </p:txBody>
      </p:sp>
      <p:sp>
        <p:nvSpPr>
          <p:cNvPr id="15" name="Shape 12"/>
          <p:cNvSpPr/>
          <p:nvPr/>
        </p:nvSpPr>
        <p:spPr>
          <a:xfrm>
            <a:off x="658368" y="3529584"/>
            <a:ext cx="5358384" cy="1371600"/>
          </a:xfrm>
          <a:prstGeom prst="rect">
            <a:avLst/>
          </a:prstGeom>
          <a:solidFill>
            <a:srgbClr val="1D3A57"/>
          </a:solidFill>
          <a:ln w="12700">
            <a:solidFill>
              <a:srgbClr val="1D3A57"/>
            </a:solidFill>
            <a:prstDash val="solid"/>
          </a:ln>
        </p:spPr>
      </p:sp>
      <p:sp>
        <p:nvSpPr>
          <p:cNvPr id="16" name="Shape 13"/>
          <p:cNvSpPr/>
          <p:nvPr/>
        </p:nvSpPr>
        <p:spPr>
          <a:xfrm>
            <a:off x="658368" y="3529584"/>
            <a:ext cx="5358384" cy="54864"/>
          </a:xfrm>
          <a:prstGeom prst="rect">
            <a:avLst/>
          </a:prstGeom>
          <a:solidFill>
            <a:srgbClr val="E0BC5A"/>
          </a:solidFill>
          <a:ln w="12700">
            <a:solidFill>
              <a:srgbClr val="E0BC5A"/>
            </a:solidFill>
            <a:prstDash val="solid"/>
          </a:ln>
        </p:spPr>
      </p:sp>
      <p:sp>
        <p:nvSpPr>
          <p:cNvPr id="17" name="Text 14"/>
          <p:cNvSpPr txBox="1"/>
          <p:nvPr/>
        </p:nvSpPr>
        <p:spPr>
          <a:xfrm>
            <a:off x="950976" y="3730752"/>
            <a:ext cx="4754880" cy="274320"/>
          </a:xfrm>
          <a:prstGeom prst="rect">
            <a:avLst/>
          </a:prstGeom>
          <a:noFill/>
          <a:ln/>
        </p:spPr>
        <p:txBody>
          <a:bodyPr wrap="square" lIns="0" tIns="0" rIns="0" bIns="0" rtlCol="0" anchor="t"/>
          <a:lstStyle/>
          <a:p>
            <a:pPr algn="l" indent="0" marL="0">
              <a:buNone/>
            </a:pPr>
            <a:r>
              <a:rPr lang="en-US" sz="1500" b="1" dirty="0">
                <a:solidFill>
                  <a:srgbClr val="E0BC5A"/>
                </a:solidFill>
                <a:latin typeface="Aptos" pitchFamily="34" charset="0"/>
                <a:ea typeface="Aptos" pitchFamily="34" charset="-122"/>
                <a:cs typeface="Aptos" pitchFamily="34" charset="-120"/>
              </a:rPr>
              <a:t>Lo que propone Dijkstra</a:t>
            </a:r>
            <a:endParaRPr lang="en-US" sz="1500" dirty="0"/>
          </a:p>
        </p:txBody>
      </p:sp>
      <p:sp>
        <p:nvSpPr>
          <p:cNvPr id="18" name="Text 15"/>
          <p:cNvSpPr txBox="1"/>
          <p:nvPr/>
        </p:nvSpPr>
        <p:spPr>
          <a:xfrm>
            <a:off x="950976" y="4059936"/>
            <a:ext cx="4754880" cy="658368"/>
          </a:xfrm>
          <a:prstGeom prst="rect">
            <a:avLst/>
          </a:prstGeom>
          <a:noFill/>
          <a:ln/>
        </p:spPr>
        <p:txBody>
          <a:bodyPr wrap="square" lIns="0" tIns="0" rIns="0" bIns="0" rtlCol="0" anchor="t"/>
          <a:lstStyle/>
          <a:p>
            <a:pPr algn="l" indent="0" marL="0">
              <a:lnSpc>
                <a:spcPct val="118000"/>
              </a:lnSpc>
              <a:buNone/>
            </a:pPr>
            <a:r>
              <a:rPr lang="en-US" sz="1300" dirty="0">
                <a:solidFill>
                  <a:srgbClr val="FFFFFF"/>
                </a:solidFill>
                <a:latin typeface="Aptos" pitchFamily="34" charset="0"/>
                <a:ea typeface="Aptos" pitchFamily="34" charset="-122"/>
                <a:cs typeface="Aptos" pitchFamily="34" charset="-120"/>
              </a:rPr>
              <a:t>Tomar en cuenta la estructura del programa: mirar sus decisiones y sus ramas.</a:t>
            </a:r>
            <a:endParaRPr lang="en-US" sz="1300" dirty="0"/>
          </a:p>
        </p:txBody>
      </p:sp>
      <p:sp>
        <p:nvSpPr>
          <p:cNvPr id="19" name="Shape 16"/>
          <p:cNvSpPr/>
          <p:nvPr/>
        </p:nvSpPr>
        <p:spPr>
          <a:xfrm>
            <a:off x="6272784" y="3529584"/>
            <a:ext cx="5358384" cy="1371600"/>
          </a:xfrm>
          <a:prstGeom prst="rect">
            <a:avLst/>
          </a:prstGeom>
          <a:solidFill>
            <a:srgbClr val="1D3A57"/>
          </a:solidFill>
          <a:ln w="12700">
            <a:solidFill>
              <a:srgbClr val="1D3A57"/>
            </a:solidFill>
            <a:prstDash val="solid"/>
          </a:ln>
        </p:spPr>
      </p:sp>
      <p:sp>
        <p:nvSpPr>
          <p:cNvPr id="20" name="Shape 17"/>
          <p:cNvSpPr/>
          <p:nvPr/>
        </p:nvSpPr>
        <p:spPr>
          <a:xfrm>
            <a:off x="6272784" y="3529584"/>
            <a:ext cx="5358384" cy="54864"/>
          </a:xfrm>
          <a:prstGeom prst="rect">
            <a:avLst/>
          </a:prstGeom>
          <a:solidFill>
            <a:srgbClr val="E6EEF7"/>
          </a:solidFill>
          <a:ln w="12700">
            <a:solidFill>
              <a:srgbClr val="E6EEF7"/>
            </a:solidFill>
            <a:prstDash val="solid"/>
          </a:ln>
        </p:spPr>
      </p:sp>
      <p:sp>
        <p:nvSpPr>
          <p:cNvPr id="21" name="Text 18"/>
          <p:cNvSpPr txBox="1"/>
          <p:nvPr/>
        </p:nvSpPr>
        <p:spPr>
          <a:xfrm>
            <a:off x="6565392" y="3730752"/>
            <a:ext cx="4754880" cy="274320"/>
          </a:xfrm>
          <a:prstGeom prst="rect">
            <a:avLst/>
          </a:prstGeom>
          <a:noFill/>
          <a:ln/>
        </p:spPr>
        <p:txBody>
          <a:bodyPr wrap="square" lIns="0" tIns="0" rIns="0" bIns="0" rtlCol="0" anchor="t"/>
          <a:lstStyle/>
          <a:p>
            <a:pPr algn="l" indent="0" marL="0">
              <a:buNone/>
            </a:pPr>
            <a:r>
              <a:rPr lang="en-US" sz="1500" b="1" dirty="0">
                <a:solidFill>
                  <a:srgbClr val="E6EEF7"/>
                </a:solidFill>
                <a:latin typeface="Aptos" pitchFamily="34" charset="0"/>
                <a:ea typeface="Aptos" pitchFamily="34" charset="-122"/>
                <a:cs typeface="Aptos" pitchFamily="34" charset="-120"/>
              </a:rPr>
              <a:t>Lo que hacen las tres técnicas de hoy</a:t>
            </a:r>
            <a:endParaRPr lang="en-US" sz="1500" dirty="0"/>
          </a:p>
        </p:txBody>
      </p:sp>
      <p:sp>
        <p:nvSpPr>
          <p:cNvPr id="22" name="Text 19"/>
          <p:cNvSpPr txBox="1"/>
          <p:nvPr/>
        </p:nvSpPr>
        <p:spPr>
          <a:xfrm>
            <a:off x="6565392" y="4059936"/>
            <a:ext cx="4754880" cy="658368"/>
          </a:xfrm>
          <a:prstGeom prst="rect">
            <a:avLst/>
          </a:prstGeom>
          <a:noFill/>
          <a:ln/>
        </p:spPr>
        <p:txBody>
          <a:bodyPr wrap="square" lIns="0" tIns="0" rIns="0" bIns="0" rtlCol="0" anchor="t"/>
          <a:lstStyle/>
          <a:p>
            <a:pPr algn="l" indent="0" marL="0">
              <a:lnSpc>
                <a:spcPct val="118000"/>
              </a:lnSpc>
              <a:buNone/>
            </a:pPr>
            <a:r>
              <a:rPr lang="en-US" sz="1300" dirty="0">
                <a:solidFill>
                  <a:srgbClr val="FFFFFF"/>
                </a:solidFill>
                <a:latin typeface="Aptos" pitchFamily="34" charset="0"/>
                <a:ea typeface="Aptos" pitchFamily="34" charset="-122"/>
                <a:cs typeface="Aptos" pitchFamily="34" charset="-120"/>
              </a:rPr>
              <a:t>Ninguna mira el código. Las tres se derivan de la especificación y de nada más.</a:t>
            </a:r>
            <a:endParaRPr lang="en-US" sz="1300" dirty="0"/>
          </a:p>
        </p:txBody>
      </p:sp>
      <p:sp>
        <p:nvSpPr>
          <p:cNvPr id="23" name="Text 20"/>
          <p:cNvSpPr txBox="1"/>
          <p:nvPr/>
        </p:nvSpPr>
        <p:spPr>
          <a:xfrm>
            <a:off x="658368" y="5120640"/>
            <a:ext cx="10874959" cy="603504"/>
          </a:xfrm>
          <a:prstGeom prst="rect">
            <a:avLst/>
          </a:prstGeom>
          <a:noFill/>
          <a:ln/>
        </p:spPr>
        <p:txBody>
          <a:bodyPr wrap="square" lIns="0" tIns="0" rIns="0" bIns="0" rtlCol="0" anchor="t"/>
          <a:lstStyle/>
          <a:p>
            <a:pPr algn="ctr" indent="0" marL="0">
              <a:lnSpc>
                <a:spcPct val="118000"/>
              </a:lnSpc>
              <a:buNone/>
            </a:pPr>
            <a:r>
              <a:rPr lang="en-US" sz="1400" dirty="0">
                <a:solidFill>
                  <a:srgbClr val="E6EEF7"/>
                </a:solidFill>
                <a:latin typeface="Aptos" pitchFamily="34" charset="0"/>
                <a:ea typeface="Aptos" pitchFamily="34" charset="-122"/>
                <a:cs typeface="Aptos" pitchFamily="34" charset="-120"/>
              </a:rPr>
              <a:t>La industria no le hizo caso, o le hizo caso a medias. Las dos posturas se ponen sobre la mesa en la sesión siguiente,</a:t>
            </a:r>
            <a:endParaRPr lang="en-US" sz="1400" dirty="0"/>
          </a:p>
          <a:p>
            <a:pPr algn="ctr" indent="0" marL="0">
              <a:lnSpc>
                <a:spcPct val="118000"/>
              </a:lnSpc>
              <a:buNone/>
            </a:pPr>
            <a:r>
              <a:rPr lang="en-US" sz="1400" dirty="0">
                <a:solidFill>
                  <a:srgbClr val="E6EEF7"/>
                </a:solidFill>
                <a:latin typeface="Aptos" pitchFamily="34" charset="0"/>
                <a:ea typeface="Aptos" pitchFamily="34" charset="-122"/>
                <a:cs typeface="Aptos" pitchFamily="34" charset="-120"/>
              </a:rPr>
              <a:t>cuando aparezca lo que una prueba recorre dentro del programa.</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23</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EL RESULTADO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Cambia la pregunta que se le hace a una suite</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«¿Cuántas pruebas tienes?» no tiene respuesta buena: cuatro pruebas en verde probaron un solo valor.</a:t>
            </a:r>
            <a:endParaRPr lang="en-US" sz="1450" dirty="0"/>
          </a:p>
        </p:txBody>
      </p:sp>
      <p:sp>
        <p:nvSpPr>
          <p:cNvPr id="11" name="Shape 8"/>
          <p:cNvSpPr/>
          <p:nvPr/>
        </p:nvSpPr>
        <p:spPr>
          <a:xfrm>
            <a:off x="658368" y="2322576"/>
            <a:ext cx="10874959" cy="713232"/>
          </a:xfrm>
          <a:prstGeom prst="rect">
            <a:avLst/>
          </a:prstGeom>
          <a:solidFill>
            <a:srgbClr val="102A43"/>
          </a:solidFill>
          <a:ln w="12700">
            <a:solidFill>
              <a:srgbClr val="102A43"/>
            </a:solidFill>
            <a:prstDash val="solid"/>
          </a:ln>
        </p:spPr>
      </p:sp>
      <p:sp>
        <p:nvSpPr>
          <p:cNvPr id="12" name="Text 9"/>
          <p:cNvSpPr txBox="1"/>
          <p:nvPr/>
        </p:nvSpPr>
        <p:spPr>
          <a:xfrm>
            <a:off x="969264" y="2359152"/>
            <a:ext cx="10253167"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ptos Display" pitchFamily="34" charset="0"/>
                <a:ea typeface="Aptos Display" pitchFamily="34" charset="-122"/>
                <a:cs typeface="Aptos Display" pitchFamily="34" charset="-120"/>
              </a:rPr>
              <a:t>Toda suite de pruebas es una muestra de un conjunto que no se puede recorrer.</a:t>
            </a:r>
            <a:endParaRPr lang="en-US" sz="2200" dirty="0"/>
          </a:p>
        </p:txBody>
      </p:sp>
      <p:sp>
        <p:nvSpPr>
          <p:cNvPr id="13" name="Shape 10"/>
          <p:cNvSpPr/>
          <p:nvPr/>
        </p:nvSpPr>
        <p:spPr>
          <a:xfrm>
            <a:off x="658368" y="3291840"/>
            <a:ext cx="5358384" cy="1243584"/>
          </a:xfrm>
          <a:prstGeom prst="rect">
            <a:avLst/>
          </a:prstGeom>
          <a:solidFill>
            <a:srgbClr val="E6EEF7"/>
          </a:solidFill>
          <a:ln w="12700">
            <a:solidFill>
              <a:srgbClr val="E6EEF7"/>
            </a:solidFill>
            <a:prstDash val="solid"/>
          </a:ln>
        </p:spPr>
      </p:sp>
      <p:sp>
        <p:nvSpPr>
          <p:cNvPr id="14" name="Shape 11"/>
          <p:cNvSpPr/>
          <p:nvPr/>
        </p:nvSpPr>
        <p:spPr>
          <a:xfrm>
            <a:off x="658368" y="3291840"/>
            <a:ext cx="5358384" cy="64008"/>
          </a:xfrm>
          <a:prstGeom prst="rect">
            <a:avLst/>
          </a:prstGeom>
          <a:solidFill>
            <a:srgbClr val="102A43"/>
          </a:solidFill>
          <a:ln w="12700">
            <a:solidFill>
              <a:srgbClr val="102A43"/>
            </a:solidFill>
            <a:prstDash val="solid"/>
          </a:ln>
        </p:spPr>
      </p:sp>
      <p:sp>
        <p:nvSpPr>
          <p:cNvPr id="15" name="Text 12"/>
          <p:cNvSpPr txBox="1"/>
          <p:nvPr/>
        </p:nvSpPr>
        <p:spPr>
          <a:xfrm>
            <a:off x="950976" y="3493008"/>
            <a:ext cx="4754880" cy="292608"/>
          </a:xfrm>
          <a:prstGeom prst="rect">
            <a:avLst/>
          </a:prstGeom>
          <a:noFill/>
          <a:ln/>
        </p:spPr>
        <p:txBody>
          <a:bodyPr wrap="square" lIns="0" tIns="0" rIns="0" bIns="0" rtlCol="0" anchor="t"/>
          <a:lstStyle/>
          <a:p>
            <a:pPr algn="l" indent="0" marL="0">
              <a:buNone/>
            </a:pPr>
            <a:r>
              <a:rPr lang="en-US" sz="1600" b="1" dirty="0">
                <a:solidFill>
                  <a:srgbClr val="102A43"/>
                </a:solidFill>
                <a:latin typeface="Aptos" pitchFamily="34" charset="0"/>
                <a:ea typeface="Aptos" pitchFamily="34" charset="-122"/>
                <a:cs typeface="Aptos" pitchFamily="34" charset="-120"/>
              </a:rPr>
              <a:t>¿Qué representa esta muestra?</a:t>
            </a:r>
            <a:endParaRPr lang="en-US" sz="1600" dirty="0"/>
          </a:p>
        </p:txBody>
      </p:sp>
      <p:sp>
        <p:nvSpPr>
          <p:cNvPr id="16" name="Text 13"/>
          <p:cNvSpPr txBox="1"/>
          <p:nvPr/>
        </p:nvSpPr>
        <p:spPr>
          <a:xfrm>
            <a:off x="950976" y="3858768"/>
            <a:ext cx="4754880" cy="603504"/>
          </a:xfrm>
          <a:prstGeom prst="rect">
            <a:avLst/>
          </a:prstGeom>
          <a:noFill/>
          <a:ln/>
        </p:spPr>
        <p:txBody>
          <a:bodyPr wrap="square" lIns="0" tIns="0" rIns="0" bIns="0" rtlCol="0" anchor="t"/>
          <a:lstStyle/>
          <a:p>
            <a:pPr algn="l" indent="0" marL="0">
              <a:lnSpc>
                <a:spcPct val="118000"/>
              </a:lnSpc>
              <a:buNone/>
            </a:pPr>
            <a:r>
              <a:rPr lang="en-US" sz="1280" dirty="0">
                <a:solidFill>
                  <a:srgbClr val="243B53"/>
                </a:solidFill>
                <a:latin typeface="Aptos" pitchFamily="34" charset="0"/>
                <a:ea typeface="Aptos" pitchFamily="34" charset="-122"/>
                <a:cs typeface="Aptos" pitchFamily="34" charset="-120"/>
              </a:rPr>
              <a:t>Poder nombrar los grupos de entradas que la suite cubre, y señalar qué prueba representa a cada grupo.</a:t>
            </a:r>
            <a:endParaRPr lang="en-US" sz="1280" dirty="0"/>
          </a:p>
        </p:txBody>
      </p:sp>
      <p:sp>
        <p:nvSpPr>
          <p:cNvPr id="17" name="Shape 14"/>
          <p:cNvSpPr/>
          <p:nvPr/>
        </p:nvSpPr>
        <p:spPr>
          <a:xfrm>
            <a:off x="6272784" y="3291840"/>
            <a:ext cx="5358384" cy="1243584"/>
          </a:xfrm>
          <a:prstGeom prst="rect">
            <a:avLst/>
          </a:prstGeom>
          <a:solidFill>
            <a:srgbClr val="F2E7D9"/>
          </a:solidFill>
          <a:ln w="12700">
            <a:solidFill>
              <a:srgbClr val="F2E7D9"/>
            </a:solidFill>
            <a:prstDash val="solid"/>
          </a:ln>
        </p:spPr>
      </p:sp>
      <p:sp>
        <p:nvSpPr>
          <p:cNvPr id="18" name="Shape 15"/>
          <p:cNvSpPr/>
          <p:nvPr/>
        </p:nvSpPr>
        <p:spPr>
          <a:xfrm>
            <a:off x="6272784" y="3291840"/>
            <a:ext cx="5358384" cy="64008"/>
          </a:xfrm>
          <a:prstGeom prst="rect">
            <a:avLst/>
          </a:prstGeom>
          <a:solidFill>
            <a:srgbClr val="8A6A12"/>
          </a:solidFill>
          <a:ln w="12700">
            <a:solidFill>
              <a:srgbClr val="8A6A12"/>
            </a:solidFill>
            <a:prstDash val="solid"/>
          </a:ln>
        </p:spPr>
      </p:sp>
      <p:sp>
        <p:nvSpPr>
          <p:cNvPr id="19" name="Text 16"/>
          <p:cNvSpPr txBox="1"/>
          <p:nvPr/>
        </p:nvSpPr>
        <p:spPr>
          <a:xfrm>
            <a:off x="6565392" y="3493008"/>
            <a:ext cx="4754880" cy="292608"/>
          </a:xfrm>
          <a:prstGeom prst="rect">
            <a:avLst/>
          </a:prstGeom>
          <a:noFill/>
          <a:ln/>
        </p:spPr>
        <p:txBody>
          <a:bodyPr wrap="square" lIns="0" tIns="0" rIns="0" bIns="0" rtlCol="0" anchor="t"/>
          <a:lstStyle/>
          <a:p>
            <a:pPr algn="l" indent="0" marL="0">
              <a:buNone/>
            </a:pPr>
            <a:r>
              <a:rPr lang="en-US" sz="1600" b="1" dirty="0">
                <a:solidFill>
                  <a:srgbClr val="8A6A12"/>
                </a:solidFill>
                <a:latin typeface="Aptos" pitchFamily="34" charset="0"/>
                <a:ea typeface="Aptos" pitchFamily="34" charset="-122"/>
                <a:cs typeface="Aptos" pitchFamily="34" charset="-120"/>
              </a:rPr>
              <a:t>¿Qué quedó fuera, y por qué?</a:t>
            </a:r>
            <a:endParaRPr lang="en-US" sz="1600" dirty="0"/>
          </a:p>
        </p:txBody>
      </p:sp>
      <p:sp>
        <p:nvSpPr>
          <p:cNvPr id="20" name="Text 17"/>
          <p:cNvSpPr txBox="1"/>
          <p:nvPr/>
        </p:nvSpPr>
        <p:spPr>
          <a:xfrm>
            <a:off x="6565392" y="3858768"/>
            <a:ext cx="4754880" cy="603504"/>
          </a:xfrm>
          <a:prstGeom prst="rect">
            <a:avLst/>
          </a:prstGeom>
          <a:noFill/>
          <a:ln/>
        </p:spPr>
        <p:txBody>
          <a:bodyPr wrap="square" lIns="0" tIns="0" rIns="0" bIns="0" rtlCol="0" anchor="t"/>
          <a:lstStyle/>
          <a:p>
            <a:pPr algn="l" indent="0" marL="0">
              <a:lnSpc>
                <a:spcPct val="118000"/>
              </a:lnSpc>
              <a:buNone/>
            </a:pPr>
            <a:r>
              <a:rPr lang="en-US" sz="1280" dirty="0">
                <a:solidFill>
                  <a:srgbClr val="243B53"/>
                </a:solidFill>
                <a:latin typeface="Aptos" pitchFamily="34" charset="0"/>
                <a:ea typeface="Aptos" pitchFamily="34" charset="-122"/>
                <a:cs typeface="Aptos" pitchFamily="34" charset="-120"/>
              </a:rPr>
              <a:t>Poder nombrar los grupos que se decidió no cubrir, con el argumento de esa decisión escrito.</a:t>
            </a:r>
            <a:endParaRPr lang="en-US" sz="1280" dirty="0"/>
          </a:p>
        </p:txBody>
      </p:sp>
      <p:sp>
        <p:nvSpPr>
          <p:cNvPr id="21" name="Shape 18"/>
          <p:cNvSpPr/>
          <p:nvPr/>
        </p:nvSpPr>
        <p:spPr>
          <a:xfrm>
            <a:off x="658368" y="4773168"/>
            <a:ext cx="10874959" cy="950976"/>
          </a:xfrm>
          <a:prstGeom prst="rect">
            <a:avLst/>
          </a:prstGeom>
          <a:solidFill>
            <a:srgbClr val="FFFFFF"/>
          </a:solidFill>
          <a:ln w="12700">
            <a:solidFill>
              <a:srgbClr val="FFFFFF"/>
            </a:solidFill>
            <a:prstDash val="solid"/>
          </a:ln>
        </p:spPr>
      </p:sp>
      <p:sp>
        <p:nvSpPr>
          <p:cNvPr id="22" name="Shape 19"/>
          <p:cNvSpPr/>
          <p:nvPr/>
        </p:nvSpPr>
        <p:spPr>
          <a:xfrm>
            <a:off x="658368" y="4773168"/>
            <a:ext cx="64008" cy="950976"/>
          </a:xfrm>
          <a:prstGeom prst="rect">
            <a:avLst/>
          </a:prstGeom>
          <a:solidFill>
            <a:srgbClr val="B3181E"/>
          </a:solidFill>
          <a:ln w="12700">
            <a:solidFill>
              <a:srgbClr val="B3181E"/>
            </a:solidFill>
            <a:prstDash val="solid"/>
          </a:ln>
        </p:spPr>
      </p:sp>
      <p:sp>
        <p:nvSpPr>
          <p:cNvPr id="23" name="Text 20"/>
          <p:cNvSpPr txBox="1"/>
          <p:nvPr/>
        </p:nvSpPr>
        <p:spPr>
          <a:xfrm>
            <a:off x="987552" y="4937760"/>
            <a:ext cx="54864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UNA SUITE QUE NO RESPONDE LA SEGUNDA</a:t>
            </a:r>
            <a:endParaRPr lang="en-US" sz="960" dirty="0"/>
          </a:p>
        </p:txBody>
      </p:sp>
      <p:sp>
        <p:nvSpPr>
          <p:cNvPr id="24" name="Text 21"/>
          <p:cNvSpPr txBox="1"/>
          <p:nvPr/>
        </p:nvSpPr>
        <p:spPr>
          <a:xfrm>
            <a:off x="987552" y="5193792"/>
            <a:ext cx="10216591" cy="402336"/>
          </a:xfrm>
          <a:prstGeom prst="rect">
            <a:avLst/>
          </a:prstGeom>
          <a:noFill/>
          <a:ln/>
        </p:spPr>
        <p:txBody>
          <a:bodyPr wrap="square" lIns="0" tIns="0" rIns="0" bIns="0" rtlCol="0" anchor="t"/>
          <a:lstStyle/>
          <a:p>
            <a:pPr algn="l" indent="0" marL="0">
              <a:buNone/>
            </a:pPr>
            <a:r>
              <a:rPr lang="en-US" sz="1340" dirty="0">
                <a:solidFill>
                  <a:srgbClr val="243B53"/>
                </a:solidFill>
                <a:latin typeface="Aptos" pitchFamily="34" charset="0"/>
                <a:ea typeface="Aptos" pitchFamily="34" charset="-122"/>
                <a:cs typeface="Aptos" pitchFamily="34" charset="-120"/>
              </a:rPr>
              <a:t>No está incompleta: está sin justificar. Es peor, porque cuando aparece un problema nadie sabe dónde no se miró.</a:t>
            </a:r>
            <a:endParaRPr lang="en-US" sz="1340" dirty="0"/>
          </a:p>
        </p:txBody>
      </p:sp>
      <p:sp>
        <p:nvSpPr>
          <p:cNvPr id="25" name="Shape 22"/>
          <p:cNvSpPr/>
          <p:nvPr/>
        </p:nvSpPr>
        <p:spPr>
          <a:xfrm>
            <a:off x="658368" y="5907024"/>
            <a:ext cx="45720" cy="182880"/>
          </a:xfrm>
          <a:prstGeom prst="rect">
            <a:avLst/>
          </a:prstGeom>
          <a:solidFill>
            <a:srgbClr val="8A6A12"/>
          </a:solidFill>
          <a:ln w="12700">
            <a:solidFill>
              <a:srgbClr val="8A6A12"/>
            </a:solidFill>
            <a:prstDash val="solid"/>
          </a:ln>
        </p:spPr>
      </p:sp>
      <p:sp>
        <p:nvSpPr>
          <p:cNvPr id="26" name="Text 23"/>
          <p:cNvSpPr txBox="1"/>
          <p:nvPr/>
        </p:nvSpPr>
        <p:spPr>
          <a:xfrm>
            <a:off x="804672" y="5897880"/>
            <a:ext cx="1060704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ISO/IEC/IEEE 29119-4:2021, cláusula 3.49: un caso de prueba es un conjunto de precondiciones, entradas y resultados esperados.</a:t>
            </a:r>
            <a:endParaRPr lang="en-US" sz="9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24</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LA ERA DE LOS AGENTES</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Quinientas pruebas en veinte segundos</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Es un cambio real. Conviene decir con precisión qué cambia y qué no.</a:t>
            </a:r>
            <a:endParaRPr lang="en-US" sz="1450" dirty="0"/>
          </a:p>
        </p:txBody>
      </p:sp>
      <p:sp>
        <p:nvSpPr>
          <p:cNvPr id="11" name="Shape 8"/>
          <p:cNvSpPr/>
          <p:nvPr/>
        </p:nvSpPr>
        <p:spPr>
          <a:xfrm>
            <a:off x="658368" y="2249424"/>
            <a:ext cx="5358384" cy="1792224"/>
          </a:xfrm>
          <a:prstGeom prst="rect">
            <a:avLst/>
          </a:prstGeom>
          <a:solidFill>
            <a:srgbClr val="E9F6EE"/>
          </a:solidFill>
          <a:ln w="12700">
            <a:solidFill>
              <a:srgbClr val="E9F6EE"/>
            </a:solidFill>
            <a:prstDash val="solid"/>
          </a:ln>
        </p:spPr>
      </p:sp>
      <p:sp>
        <p:nvSpPr>
          <p:cNvPr id="12" name="Shape 9"/>
          <p:cNvSpPr/>
          <p:nvPr/>
        </p:nvSpPr>
        <p:spPr>
          <a:xfrm>
            <a:off x="658368" y="2249424"/>
            <a:ext cx="5358384" cy="64008"/>
          </a:xfrm>
          <a:prstGeom prst="rect">
            <a:avLst/>
          </a:prstGeom>
          <a:solidFill>
            <a:srgbClr val="2E7D4F"/>
          </a:solidFill>
          <a:ln w="12700">
            <a:solidFill>
              <a:srgbClr val="2E7D4F"/>
            </a:solidFill>
            <a:prstDash val="solid"/>
          </a:ln>
        </p:spPr>
      </p:sp>
      <p:sp>
        <p:nvSpPr>
          <p:cNvPr id="13" name="Text 10"/>
          <p:cNvSpPr txBox="1"/>
          <p:nvPr/>
        </p:nvSpPr>
        <p:spPr>
          <a:xfrm>
            <a:off x="950976" y="2414016"/>
            <a:ext cx="4572000" cy="201168"/>
          </a:xfrm>
          <a:prstGeom prst="rect">
            <a:avLst/>
          </a:prstGeom>
          <a:noFill/>
          <a:ln/>
        </p:spPr>
        <p:txBody>
          <a:bodyPr wrap="square" lIns="0" tIns="0" rIns="0" bIns="0" rtlCol="0" anchor="t"/>
          <a:lstStyle/>
          <a:p>
            <a:pPr algn="l" indent="0" marL="0">
              <a:buNone/>
            </a:pPr>
            <a:r>
              <a:rPr lang="en-US" sz="960" b="1" spc="130" kern="0" dirty="0">
                <a:solidFill>
                  <a:srgbClr val="2E7D4F"/>
                </a:solidFill>
                <a:latin typeface="Aptos" pitchFamily="34" charset="0"/>
                <a:ea typeface="Aptos" pitchFamily="34" charset="-122"/>
                <a:cs typeface="Aptos" pitchFamily="34" charset="-120"/>
              </a:rPr>
              <a:t>LO QUE SÍ CAMBIA</a:t>
            </a:r>
            <a:endParaRPr lang="en-US" sz="960" dirty="0"/>
          </a:p>
        </p:txBody>
      </p:sp>
      <p:sp>
        <p:nvSpPr>
          <p:cNvPr id="14" name="Text 11"/>
          <p:cNvSpPr txBox="1"/>
          <p:nvPr/>
        </p:nvSpPr>
        <p:spPr>
          <a:xfrm>
            <a:off x="950976" y="2651760"/>
            <a:ext cx="4754880" cy="310896"/>
          </a:xfrm>
          <a:prstGeom prst="rect">
            <a:avLst/>
          </a:prstGeom>
          <a:noFill/>
          <a:ln/>
        </p:spPr>
        <p:txBody>
          <a:bodyPr wrap="square" lIns="0" tIns="0" rIns="0" bIns="0" rtlCol="0" anchor="t"/>
          <a:lstStyle/>
          <a:p>
            <a:pPr algn="l" indent="0" marL="0">
              <a:buNone/>
            </a:pPr>
            <a:r>
              <a:rPr lang="en-US" sz="1650" b="1" dirty="0">
                <a:solidFill>
                  <a:srgbClr val="243B53"/>
                </a:solidFill>
                <a:latin typeface="Aptos" pitchFamily="34" charset="0"/>
                <a:ea typeface="Aptos" pitchFamily="34" charset="-122"/>
                <a:cs typeface="Aptos" pitchFamily="34" charset="-120"/>
              </a:rPr>
              <a:t>El costo de la muestra</a:t>
            </a:r>
            <a:endParaRPr lang="en-US" sz="1650" dirty="0"/>
          </a:p>
        </p:txBody>
      </p:sp>
      <p:sp>
        <p:nvSpPr>
          <p:cNvPr id="15" name="Text 12"/>
          <p:cNvSpPr txBox="1"/>
          <p:nvPr/>
        </p:nvSpPr>
        <p:spPr>
          <a:xfrm>
            <a:off x="950976" y="3035808"/>
            <a:ext cx="4754880" cy="859536"/>
          </a:xfrm>
          <a:prstGeom prst="rect">
            <a:avLst/>
          </a:prstGeom>
          <a:noFill/>
          <a:ln/>
        </p:spPr>
        <p:txBody>
          <a:bodyPr wrap="square" lIns="0" tIns="0" rIns="0" bIns="0" rtlCol="0" anchor="t"/>
          <a:lstStyle/>
          <a:p>
            <a:pPr algn="l" indent="0" marL="0">
              <a:lnSpc>
                <a:spcPct val="118000"/>
              </a:lnSpc>
              <a:buNone/>
            </a:pPr>
            <a:r>
              <a:rPr lang="en-US" sz="1260" dirty="0">
                <a:solidFill>
                  <a:srgbClr val="243B53"/>
                </a:solidFill>
                <a:latin typeface="Aptos" pitchFamily="34" charset="0"/>
                <a:ea typeface="Aptos" pitchFamily="34" charset="-122"/>
                <a:cs typeface="Aptos" pitchFamily="34" charset="-120"/>
              </a:rPr>
              <a:t>Escribir muchos casos dejó de ser caro. Eso permite cubrir clases que antes se dejaban fuera por presupuesto y no por criterio. Es una mejora genuina.</a:t>
            </a:r>
            <a:endParaRPr lang="en-US" sz="1260" dirty="0"/>
          </a:p>
        </p:txBody>
      </p:sp>
      <p:sp>
        <p:nvSpPr>
          <p:cNvPr id="16" name="Shape 13"/>
          <p:cNvSpPr/>
          <p:nvPr/>
        </p:nvSpPr>
        <p:spPr>
          <a:xfrm>
            <a:off x="6272784" y="2249424"/>
            <a:ext cx="5358384" cy="1792224"/>
          </a:xfrm>
          <a:prstGeom prst="rect">
            <a:avLst/>
          </a:prstGeom>
          <a:solidFill>
            <a:srgbClr val="F8E4E5"/>
          </a:solidFill>
          <a:ln w="12700">
            <a:solidFill>
              <a:srgbClr val="F8E4E5"/>
            </a:solidFill>
            <a:prstDash val="solid"/>
          </a:ln>
        </p:spPr>
      </p:sp>
      <p:sp>
        <p:nvSpPr>
          <p:cNvPr id="17" name="Shape 14"/>
          <p:cNvSpPr/>
          <p:nvPr/>
        </p:nvSpPr>
        <p:spPr>
          <a:xfrm>
            <a:off x="6272784" y="2249424"/>
            <a:ext cx="5358384" cy="64008"/>
          </a:xfrm>
          <a:prstGeom prst="rect">
            <a:avLst/>
          </a:prstGeom>
          <a:solidFill>
            <a:srgbClr val="B3181E"/>
          </a:solidFill>
          <a:ln w="12700">
            <a:solidFill>
              <a:srgbClr val="B3181E"/>
            </a:solidFill>
            <a:prstDash val="solid"/>
          </a:ln>
        </p:spPr>
      </p:sp>
      <p:sp>
        <p:nvSpPr>
          <p:cNvPr id="18" name="Text 15"/>
          <p:cNvSpPr txBox="1"/>
          <p:nvPr/>
        </p:nvSpPr>
        <p:spPr>
          <a:xfrm>
            <a:off x="6565392" y="2414016"/>
            <a:ext cx="45720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LO QUE NO CAMBIA</a:t>
            </a:r>
            <a:endParaRPr lang="en-US" sz="960" dirty="0"/>
          </a:p>
        </p:txBody>
      </p:sp>
      <p:sp>
        <p:nvSpPr>
          <p:cNvPr id="19" name="Text 16"/>
          <p:cNvSpPr txBox="1"/>
          <p:nvPr/>
        </p:nvSpPr>
        <p:spPr>
          <a:xfrm>
            <a:off x="6565392" y="2651760"/>
            <a:ext cx="4754880" cy="310896"/>
          </a:xfrm>
          <a:prstGeom prst="rect">
            <a:avLst/>
          </a:prstGeom>
          <a:noFill/>
          <a:ln/>
        </p:spPr>
        <p:txBody>
          <a:bodyPr wrap="square" lIns="0" tIns="0" rIns="0" bIns="0" rtlCol="0" anchor="t"/>
          <a:lstStyle/>
          <a:p>
            <a:pPr algn="l" indent="0" marL="0">
              <a:buNone/>
            </a:pPr>
            <a:r>
              <a:rPr lang="en-US" sz="1650" b="1" dirty="0">
                <a:solidFill>
                  <a:srgbClr val="243B53"/>
                </a:solidFill>
                <a:latin typeface="Aptos" pitchFamily="34" charset="0"/>
                <a:ea typeface="Aptos" pitchFamily="34" charset="-122"/>
                <a:cs typeface="Aptos" pitchFamily="34" charset="-120"/>
              </a:rPr>
              <a:t>La representatividad de la muestra</a:t>
            </a:r>
            <a:endParaRPr lang="en-US" sz="1650" dirty="0"/>
          </a:p>
        </p:txBody>
      </p:sp>
      <p:sp>
        <p:nvSpPr>
          <p:cNvPr id="20" name="Text 17"/>
          <p:cNvSpPr txBox="1"/>
          <p:nvPr/>
        </p:nvSpPr>
        <p:spPr>
          <a:xfrm>
            <a:off x="6565392" y="3035808"/>
            <a:ext cx="4754880" cy="859536"/>
          </a:xfrm>
          <a:prstGeom prst="rect">
            <a:avLst/>
          </a:prstGeom>
          <a:noFill/>
          <a:ln/>
        </p:spPr>
        <p:txBody>
          <a:bodyPr wrap="square" lIns="0" tIns="0" rIns="0" bIns="0" rtlCol="0" anchor="t"/>
          <a:lstStyle/>
          <a:p>
            <a:pPr algn="l" indent="0" marL="0">
              <a:lnSpc>
                <a:spcPct val="118000"/>
              </a:lnSpc>
              <a:buNone/>
            </a:pPr>
            <a:r>
              <a:rPr lang="en-US" sz="1260" dirty="0">
                <a:solidFill>
                  <a:srgbClr val="243B53"/>
                </a:solidFill>
                <a:latin typeface="Aptos" pitchFamily="34" charset="0"/>
                <a:ea typeface="Aptos" pitchFamily="34" charset="-122"/>
                <a:cs typeface="Aptos" pitchFamily="34" charset="-120"/>
              </a:rPr>
              <a:t>Quinientos casos extraídos de la misma región del espacio de entradas siguen siendo una región. Cuatro pruebas y un valor pueden ser cuatrocientas pruebas y un valor.</a:t>
            </a:r>
            <a:endParaRPr lang="en-US" sz="1260" dirty="0"/>
          </a:p>
        </p:txBody>
      </p:sp>
      <p:sp>
        <p:nvSpPr>
          <p:cNvPr id="21" name="Shape 18"/>
          <p:cNvSpPr/>
          <p:nvPr/>
        </p:nvSpPr>
        <p:spPr>
          <a:xfrm>
            <a:off x="658368" y="4187952"/>
            <a:ext cx="10874959" cy="822960"/>
          </a:xfrm>
          <a:prstGeom prst="rect">
            <a:avLst/>
          </a:prstGeom>
          <a:solidFill>
            <a:srgbClr val="FFFFFF"/>
          </a:solidFill>
          <a:ln w="12700">
            <a:solidFill>
              <a:srgbClr val="FFFFFF"/>
            </a:solidFill>
            <a:prstDash val="solid"/>
          </a:ln>
        </p:spPr>
      </p:sp>
      <p:sp>
        <p:nvSpPr>
          <p:cNvPr id="22" name="Shape 19"/>
          <p:cNvSpPr/>
          <p:nvPr/>
        </p:nvSpPr>
        <p:spPr>
          <a:xfrm>
            <a:off x="658368" y="4187952"/>
            <a:ext cx="64008" cy="822960"/>
          </a:xfrm>
          <a:prstGeom prst="rect">
            <a:avLst/>
          </a:prstGeom>
          <a:solidFill>
            <a:srgbClr val="102A43"/>
          </a:solidFill>
          <a:ln w="12700">
            <a:solidFill>
              <a:srgbClr val="102A43"/>
            </a:solidFill>
            <a:prstDash val="solid"/>
          </a:ln>
        </p:spPr>
      </p:sp>
      <p:sp>
        <p:nvSpPr>
          <p:cNvPr id="23" name="Text 20"/>
          <p:cNvSpPr txBox="1"/>
          <p:nvPr/>
        </p:nvSpPr>
        <p:spPr>
          <a:xfrm>
            <a:off x="987552" y="4334256"/>
            <a:ext cx="10216591" cy="566928"/>
          </a:xfrm>
          <a:prstGeom prst="rect">
            <a:avLst/>
          </a:prstGeom>
          <a:noFill/>
          <a:ln/>
        </p:spPr>
        <p:txBody>
          <a:bodyPr wrap="square" lIns="0" tIns="0" rIns="0" bIns="0" rtlCol="0" anchor="t"/>
          <a:lstStyle/>
          <a:p>
            <a:pPr algn="l" indent="0" marL="0">
              <a:lnSpc>
                <a:spcPct val="116000"/>
              </a:lnSpc>
              <a:buNone/>
            </a:pPr>
            <a:r>
              <a:rPr lang="en-US" sz="1300" dirty="0">
                <a:solidFill>
                  <a:srgbClr val="243B53"/>
                </a:solidFill>
                <a:latin typeface="Aptos" pitchFamily="34" charset="0"/>
                <a:ea typeface="Aptos" pitchFamily="34" charset="-122"/>
                <a:cs typeface="Aptos" pitchFamily="34" charset="-120"/>
              </a:rPr>
              <a:t>Las magnitudes que un agente puede optimizar directo —cuántas pruebas, cuántas líneas ejercitadas— son justamente</a:t>
            </a:r>
            <a:endParaRPr lang="en-US" sz="1300" dirty="0"/>
          </a:p>
          <a:p>
            <a:pPr algn="l" indent="0" marL="0">
              <a:lnSpc>
                <a:spcPct val="116000"/>
              </a:lnSpc>
              <a:buNone/>
            </a:pPr>
            <a:r>
              <a:rPr lang="en-US" sz="1300" dirty="0">
                <a:solidFill>
                  <a:srgbClr val="243B53"/>
                </a:solidFill>
                <a:latin typeface="Aptos" pitchFamily="34" charset="0"/>
                <a:ea typeface="Aptos" pitchFamily="34" charset="-122"/>
                <a:cs typeface="Aptos" pitchFamily="34" charset="-120"/>
              </a:rPr>
              <a:t>las que no dicen nada sobre qué grupos de entradas quedaron sin ninguna prueba. Las dos suben sin cubrir un grupo nuevo.</a:t>
            </a:r>
            <a:endParaRPr lang="en-US" sz="1300" dirty="0"/>
          </a:p>
        </p:txBody>
      </p:sp>
      <p:sp>
        <p:nvSpPr>
          <p:cNvPr id="24" name="Shape 21"/>
          <p:cNvSpPr/>
          <p:nvPr/>
        </p:nvSpPr>
        <p:spPr>
          <a:xfrm>
            <a:off x="658368" y="5138928"/>
            <a:ext cx="10874959" cy="1207008"/>
          </a:xfrm>
          <a:prstGeom prst="roundRect">
            <a:avLst>
              <a:gd name="adj" fmla="val 3030"/>
            </a:avLst>
          </a:prstGeom>
          <a:solidFill>
            <a:srgbClr val="102A43"/>
          </a:solidFill>
          <a:ln w="12700">
            <a:solidFill>
              <a:srgbClr val="102A43"/>
            </a:solidFill>
            <a:prstDash val="solid"/>
          </a:ln>
        </p:spPr>
      </p:sp>
      <p:sp>
        <p:nvSpPr>
          <p:cNvPr id="25" name="Shape 22"/>
          <p:cNvSpPr/>
          <p:nvPr/>
        </p:nvSpPr>
        <p:spPr>
          <a:xfrm>
            <a:off x="786384" y="5248656"/>
            <a:ext cx="10618927" cy="310896"/>
          </a:xfrm>
          <a:prstGeom prst="roundRect">
            <a:avLst>
              <a:gd name="adj" fmla="val 8824"/>
            </a:avLst>
          </a:prstGeom>
          <a:solidFill>
            <a:srgbClr val="284B75"/>
          </a:solidFill>
          <a:ln w="12700">
            <a:solidFill>
              <a:srgbClr val="284B75"/>
            </a:solidFill>
            <a:prstDash val="solid"/>
          </a:ln>
        </p:spPr>
      </p:sp>
      <p:sp>
        <p:nvSpPr>
          <p:cNvPr id="26" name="Text 23"/>
          <p:cNvSpPr/>
          <p:nvPr/>
        </p:nvSpPr>
        <p:spPr>
          <a:xfrm>
            <a:off x="896112" y="5321808"/>
            <a:ext cx="10399471"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 regla operativa que sale de aquí</a:t>
            </a:r>
            <a:endParaRPr lang="en-US" sz="1000" dirty="0"/>
          </a:p>
        </p:txBody>
      </p:sp>
      <p:pic>
        <p:nvPicPr>
          <p:cNvPr id="2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5705856"/>
            <a:ext cx="10454335" cy="4572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25</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CIERRE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Preguntas para llevarse del Bloque 1</a:t>
            </a:r>
            <a:endParaRPr lang="en-US" sz="3000" dirty="0"/>
          </a:p>
        </p:txBody>
      </p:sp>
      <p:sp>
        <p:nvSpPr>
          <p:cNvPr id="10" name="Shape 7"/>
          <p:cNvSpPr/>
          <p:nvPr/>
        </p:nvSpPr>
        <p:spPr>
          <a:xfrm>
            <a:off x="658368" y="1956816"/>
            <a:ext cx="10874959" cy="1188720"/>
          </a:xfrm>
          <a:prstGeom prst="rect">
            <a:avLst/>
          </a:prstGeom>
          <a:solidFill>
            <a:srgbClr val="F2E7D9"/>
          </a:solidFill>
          <a:ln w="12700">
            <a:solidFill>
              <a:srgbClr val="F2E7D9"/>
            </a:solidFill>
            <a:prstDash val="solid"/>
          </a:ln>
        </p:spPr>
      </p:sp>
      <p:sp>
        <p:nvSpPr>
          <p:cNvPr id="11" name="Shape 8"/>
          <p:cNvSpPr/>
          <p:nvPr/>
        </p:nvSpPr>
        <p:spPr>
          <a:xfrm>
            <a:off x="658368" y="1956816"/>
            <a:ext cx="54864" cy="1188720"/>
          </a:xfrm>
          <a:prstGeom prst="rect">
            <a:avLst/>
          </a:prstGeom>
          <a:solidFill>
            <a:srgbClr val="B3181E"/>
          </a:solidFill>
          <a:ln w="12700">
            <a:solidFill>
              <a:srgbClr val="B3181E"/>
            </a:solidFill>
            <a:prstDash val="solid"/>
          </a:ln>
        </p:spPr>
      </p:sp>
      <p:sp>
        <p:nvSpPr>
          <p:cNvPr id="12" name="Text 9"/>
          <p:cNvSpPr txBox="1"/>
          <p:nvPr/>
        </p:nvSpPr>
        <p:spPr>
          <a:xfrm>
            <a:off x="932688" y="2103120"/>
            <a:ext cx="475488" cy="457200"/>
          </a:xfrm>
          <a:prstGeom prst="rect">
            <a:avLst/>
          </a:prstGeom>
          <a:noFill/>
          <a:ln/>
        </p:spPr>
        <p:txBody>
          <a:bodyPr wrap="square" lIns="0" tIns="0" rIns="0" bIns="0" rtlCol="0" anchor="t"/>
          <a:lstStyle/>
          <a:p>
            <a:pPr algn="l"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3" name="Text 10"/>
          <p:cNvSpPr txBox="1"/>
          <p:nvPr/>
        </p:nvSpPr>
        <p:spPr>
          <a:xfrm>
            <a:off x="1572768" y="2093976"/>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El barrido de las 64 combinaciones encontró el defecto sin ninguna técnica de diseño. ¿Qué impide usarlo siempre, y cuál de esos impedimentos seguiría existiendo aunque las máquinas fueran mil veces más rápidas?</a:t>
            </a:r>
            <a:endParaRPr lang="en-US" sz="1400" dirty="0"/>
          </a:p>
        </p:txBody>
      </p:sp>
      <p:sp>
        <p:nvSpPr>
          <p:cNvPr id="14" name="Shape 11"/>
          <p:cNvSpPr/>
          <p:nvPr/>
        </p:nvSpPr>
        <p:spPr>
          <a:xfrm>
            <a:off x="1572768" y="2724912"/>
            <a:ext cx="9631375" cy="0"/>
          </a:xfrm>
          <a:prstGeom prst="line">
            <a:avLst/>
          </a:prstGeom>
          <a:noFill/>
          <a:ln w="12700">
            <a:solidFill>
              <a:srgbClr val="D8CFC4"/>
            </a:solidFill>
            <a:prstDash val="solid"/>
            <a:headEnd type="none"/>
            <a:tailEnd type="none"/>
          </a:ln>
        </p:spPr>
      </p:sp>
      <p:sp>
        <p:nvSpPr>
          <p:cNvPr id="15" name="Text 12"/>
          <p:cNvSpPr txBox="1"/>
          <p:nvPr/>
        </p:nvSpPr>
        <p:spPr>
          <a:xfrm>
            <a:off x="1572768" y="2816352"/>
            <a:ext cx="640080" cy="182880"/>
          </a:xfrm>
          <a:prstGeom prst="rect">
            <a:avLst/>
          </a:prstGeom>
          <a:noFill/>
          <a:ln/>
        </p:spPr>
        <p:txBody>
          <a:bodyPr wrap="square" lIns="0" tIns="0" rIns="0" bIns="0" rtlCol="0" anchor="t"/>
          <a:lstStyle/>
          <a:p>
            <a:pPr algn="l" indent="0" marL="0">
              <a:buNone/>
            </a:pPr>
            <a:r>
              <a:rPr lang="en-US" sz="860" b="1" spc="110" kern="0" dirty="0">
                <a:solidFill>
                  <a:srgbClr val="B3181E"/>
                </a:solidFill>
                <a:latin typeface="Aptos" pitchFamily="34" charset="0"/>
                <a:ea typeface="Aptos" pitchFamily="34" charset="-122"/>
                <a:cs typeface="Aptos" pitchFamily="34" charset="-120"/>
              </a:rPr>
              <a:t>PISTA</a:t>
            </a:r>
            <a:endParaRPr lang="en-US" sz="860" dirty="0"/>
          </a:p>
        </p:txBody>
      </p:sp>
      <p:sp>
        <p:nvSpPr>
          <p:cNvPr id="16" name="Text 13"/>
          <p:cNvSpPr txBox="1"/>
          <p:nvPr/>
        </p:nvSpPr>
        <p:spPr>
          <a:xfrm>
            <a:off x="2286000" y="2798064"/>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Una de las dos razones es de tamaño; la otra no depende de la velocidad de nada.</a:t>
            </a:r>
            <a:endParaRPr lang="en-US" sz="1200" dirty="0"/>
          </a:p>
        </p:txBody>
      </p:sp>
      <p:sp>
        <p:nvSpPr>
          <p:cNvPr id="17" name="Shape 14"/>
          <p:cNvSpPr/>
          <p:nvPr/>
        </p:nvSpPr>
        <p:spPr>
          <a:xfrm>
            <a:off x="658368" y="3273552"/>
            <a:ext cx="10874959" cy="1188720"/>
          </a:xfrm>
          <a:prstGeom prst="rect">
            <a:avLst/>
          </a:prstGeom>
          <a:solidFill>
            <a:srgbClr val="EDE6DA"/>
          </a:solidFill>
          <a:ln w="12700">
            <a:solidFill>
              <a:srgbClr val="EDE6DA"/>
            </a:solidFill>
            <a:prstDash val="solid"/>
          </a:ln>
        </p:spPr>
      </p:sp>
      <p:sp>
        <p:nvSpPr>
          <p:cNvPr id="18" name="Shape 15"/>
          <p:cNvSpPr/>
          <p:nvPr/>
        </p:nvSpPr>
        <p:spPr>
          <a:xfrm>
            <a:off x="658368" y="3273552"/>
            <a:ext cx="54864" cy="1188720"/>
          </a:xfrm>
          <a:prstGeom prst="rect">
            <a:avLst/>
          </a:prstGeom>
          <a:solidFill>
            <a:srgbClr val="102A43"/>
          </a:solidFill>
          <a:ln w="12700">
            <a:solidFill>
              <a:srgbClr val="102A43"/>
            </a:solidFill>
            <a:prstDash val="solid"/>
          </a:ln>
        </p:spPr>
      </p:sp>
      <p:sp>
        <p:nvSpPr>
          <p:cNvPr id="19" name="Text 16"/>
          <p:cNvSpPr txBox="1"/>
          <p:nvPr/>
        </p:nvSpPr>
        <p:spPr>
          <a:xfrm>
            <a:off x="932688" y="3419856"/>
            <a:ext cx="475488" cy="457200"/>
          </a:xfrm>
          <a:prstGeom prst="rect">
            <a:avLst/>
          </a:prstGeom>
          <a:noFill/>
          <a:ln/>
        </p:spPr>
        <p:txBody>
          <a:bodyPr wrap="square" lIns="0" tIns="0" rIns="0" bIns="0" rtlCol="0" anchor="t"/>
          <a:lstStyle/>
          <a:p>
            <a:pPr algn="l"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0" name="Text 17"/>
          <p:cNvSpPr txBox="1"/>
          <p:nvPr/>
        </p:nvSpPr>
        <p:spPr>
          <a:xfrm>
            <a:off x="1572768" y="3410712"/>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La suite del proyecto probó siempre el bloque 3 y terminó en verde. ¿Qué grupo de valores quedó sin ningún representante, y por qué el verde no lo delataba?</a:t>
            </a:r>
            <a:endParaRPr lang="en-US" sz="1400" dirty="0"/>
          </a:p>
        </p:txBody>
      </p:sp>
      <p:sp>
        <p:nvSpPr>
          <p:cNvPr id="21" name="Shape 18"/>
          <p:cNvSpPr/>
          <p:nvPr/>
        </p:nvSpPr>
        <p:spPr>
          <a:xfrm>
            <a:off x="1572768" y="4041648"/>
            <a:ext cx="9631375" cy="0"/>
          </a:xfrm>
          <a:prstGeom prst="line">
            <a:avLst/>
          </a:prstGeom>
          <a:noFill/>
          <a:ln w="12700">
            <a:solidFill>
              <a:srgbClr val="D8CFC4"/>
            </a:solidFill>
            <a:prstDash val="solid"/>
            <a:headEnd type="none"/>
            <a:tailEnd type="none"/>
          </a:ln>
        </p:spPr>
      </p:sp>
      <p:sp>
        <p:nvSpPr>
          <p:cNvPr id="22" name="Text 19"/>
          <p:cNvSpPr txBox="1"/>
          <p:nvPr/>
        </p:nvSpPr>
        <p:spPr>
          <a:xfrm>
            <a:off x="1572768" y="4133088"/>
            <a:ext cx="640080" cy="182880"/>
          </a:xfrm>
          <a:prstGeom prst="rect">
            <a:avLst/>
          </a:prstGeom>
          <a:noFill/>
          <a:ln/>
        </p:spPr>
        <p:txBody>
          <a:bodyPr wrap="square" lIns="0" tIns="0" rIns="0" bIns="0" rtlCol="0" anchor="t"/>
          <a:lstStyle/>
          <a:p>
            <a:pPr algn="l" indent="0" marL="0">
              <a:buNone/>
            </a:pPr>
            <a:r>
              <a:rPr lang="en-US" sz="860" b="1" spc="110" kern="0" dirty="0">
                <a:solidFill>
                  <a:srgbClr val="102A43"/>
                </a:solidFill>
                <a:latin typeface="Aptos" pitchFamily="34" charset="0"/>
                <a:ea typeface="Aptos" pitchFamily="34" charset="-122"/>
                <a:cs typeface="Aptos" pitchFamily="34" charset="-120"/>
              </a:rPr>
              <a:t>PISTA</a:t>
            </a:r>
            <a:endParaRPr lang="en-US" sz="860" dirty="0"/>
          </a:p>
        </p:txBody>
      </p:sp>
      <p:sp>
        <p:nvSpPr>
          <p:cNvPr id="23" name="Text 20"/>
          <p:cNvSpPr txBox="1"/>
          <p:nvPr/>
        </p:nvSpPr>
        <p:spPr>
          <a:xfrm>
            <a:off x="2286000" y="4114800"/>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Mira la casilla donde estaba el defecto y pregúntate qué prueba habría tenido que ejecutarla.</a:t>
            </a:r>
            <a:endParaRPr lang="en-US" sz="1200" dirty="0"/>
          </a:p>
        </p:txBody>
      </p:sp>
      <p:sp>
        <p:nvSpPr>
          <p:cNvPr id="24" name="Shape 21"/>
          <p:cNvSpPr/>
          <p:nvPr/>
        </p:nvSpPr>
        <p:spPr>
          <a:xfrm>
            <a:off x="658368" y="4590288"/>
            <a:ext cx="10874959" cy="1188720"/>
          </a:xfrm>
          <a:prstGeom prst="rect">
            <a:avLst/>
          </a:prstGeom>
          <a:solidFill>
            <a:srgbClr val="F2E7D9"/>
          </a:solidFill>
          <a:ln w="12700">
            <a:solidFill>
              <a:srgbClr val="F2E7D9"/>
            </a:solidFill>
            <a:prstDash val="solid"/>
          </a:ln>
        </p:spPr>
      </p:sp>
      <p:sp>
        <p:nvSpPr>
          <p:cNvPr id="25" name="Shape 22"/>
          <p:cNvSpPr/>
          <p:nvPr/>
        </p:nvSpPr>
        <p:spPr>
          <a:xfrm>
            <a:off x="658368" y="4590288"/>
            <a:ext cx="54864" cy="1188720"/>
          </a:xfrm>
          <a:prstGeom prst="rect">
            <a:avLst/>
          </a:prstGeom>
          <a:solidFill>
            <a:srgbClr val="8A6A12"/>
          </a:solidFill>
          <a:ln w="12700">
            <a:solidFill>
              <a:srgbClr val="8A6A12"/>
            </a:solidFill>
            <a:prstDash val="solid"/>
          </a:ln>
        </p:spPr>
      </p:sp>
      <p:sp>
        <p:nvSpPr>
          <p:cNvPr id="26" name="Text 23"/>
          <p:cNvSpPr txBox="1"/>
          <p:nvPr/>
        </p:nvSpPr>
        <p:spPr>
          <a:xfrm>
            <a:off x="932688" y="4736592"/>
            <a:ext cx="475488" cy="457200"/>
          </a:xfrm>
          <a:prstGeom prst="rect">
            <a:avLst/>
          </a:prstGeom>
          <a:noFill/>
          <a:ln/>
        </p:spPr>
        <p:txBody>
          <a:bodyPr wrap="square" lIns="0" tIns="0" rIns="0" bIns="0" rtlCol="0" anchor="t"/>
          <a:lstStyle/>
          <a:p>
            <a:pPr algn="l"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7" name="Text 24"/>
          <p:cNvSpPr txBox="1"/>
          <p:nvPr/>
        </p:nvSpPr>
        <p:spPr>
          <a:xfrm>
            <a:off x="1572768" y="4727448"/>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Un agente puede multiplicar por cien las pruebas de un proyecto en un minuto. ¿Qué habría que entregarle para que esas pruebas cubran grupos nuevos en vez de repetir el que ya estaba cubierto?</a:t>
            </a:r>
            <a:endParaRPr lang="en-US" sz="1400" dirty="0"/>
          </a:p>
        </p:txBody>
      </p:sp>
      <p:sp>
        <p:nvSpPr>
          <p:cNvPr id="28" name="Shape 25"/>
          <p:cNvSpPr/>
          <p:nvPr/>
        </p:nvSpPr>
        <p:spPr>
          <a:xfrm>
            <a:off x="1572768" y="5358384"/>
            <a:ext cx="9631375" cy="0"/>
          </a:xfrm>
          <a:prstGeom prst="line">
            <a:avLst/>
          </a:prstGeom>
          <a:noFill/>
          <a:ln w="12700">
            <a:solidFill>
              <a:srgbClr val="D8CFC4"/>
            </a:solidFill>
            <a:prstDash val="solid"/>
            <a:headEnd type="none"/>
            <a:tailEnd type="none"/>
          </a:ln>
        </p:spPr>
      </p:sp>
      <p:sp>
        <p:nvSpPr>
          <p:cNvPr id="29" name="Text 26"/>
          <p:cNvSpPr txBox="1"/>
          <p:nvPr/>
        </p:nvSpPr>
        <p:spPr>
          <a:xfrm>
            <a:off x="1572768" y="5449824"/>
            <a:ext cx="640080" cy="182880"/>
          </a:xfrm>
          <a:prstGeom prst="rect">
            <a:avLst/>
          </a:prstGeom>
          <a:noFill/>
          <a:ln/>
        </p:spPr>
        <p:txBody>
          <a:bodyPr wrap="square" lIns="0" tIns="0" rIns="0" bIns="0" rtlCol="0" anchor="t"/>
          <a:lstStyle/>
          <a:p>
            <a:pPr algn="l" indent="0" marL="0">
              <a:buNone/>
            </a:pPr>
            <a:r>
              <a:rPr lang="en-US" sz="860" b="1" spc="110" kern="0" dirty="0">
                <a:solidFill>
                  <a:srgbClr val="8A6A12"/>
                </a:solidFill>
                <a:latin typeface="Aptos" pitchFamily="34" charset="0"/>
                <a:ea typeface="Aptos" pitchFamily="34" charset="-122"/>
                <a:cs typeface="Aptos" pitchFamily="34" charset="-120"/>
              </a:rPr>
              <a:t>PISTA</a:t>
            </a:r>
            <a:endParaRPr lang="en-US" sz="860" dirty="0"/>
          </a:p>
        </p:txBody>
      </p:sp>
      <p:sp>
        <p:nvSpPr>
          <p:cNvPr id="30" name="Text 27"/>
          <p:cNvSpPr txBox="1"/>
          <p:nvPr/>
        </p:nvSpPr>
        <p:spPr>
          <a:xfrm>
            <a:off x="2286000" y="5431536"/>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La regla operativa de la lámina anterior dice qué va primero y qué va después.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26</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CONTRASTE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Lo que tenía que aparecer en tu respuesta</a:t>
            </a:r>
            <a:endParaRPr lang="en-US" sz="3000" dirty="0"/>
          </a:p>
        </p:txBody>
      </p:sp>
      <p:sp>
        <p:nvSpPr>
          <p:cNvPr id="10" name="Shape 7"/>
          <p:cNvSpPr/>
          <p:nvPr/>
        </p:nvSpPr>
        <p:spPr>
          <a:xfrm>
            <a:off x="658368" y="1828800"/>
            <a:ext cx="10874959" cy="1371600"/>
          </a:xfrm>
          <a:prstGeom prst="rect">
            <a:avLst/>
          </a:prstGeom>
          <a:solidFill>
            <a:srgbClr val="FFFFFF"/>
          </a:solidFill>
          <a:ln w="12700">
            <a:solidFill>
              <a:srgbClr val="FFFFFF"/>
            </a:solidFill>
            <a:prstDash val="solid"/>
          </a:ln>
        </p:spPr>
      </p:sp>
      <p:sp>
        <p:nvSpPr>
          <p:cNvPr id="11" name="Shape 8"/>
          <p:cNvSpPr/>
          <p:nvPr/>
        </p:nvSpPr>
        <p:spPr>
          <a:xfrm>
            <a:off x="658368" y="1828800"/>
            <a:ext cx="54864" cy="1371600"/>
          </a:xfrm>
          <a:prstGeom prst="rect">
            <a:avLst/>
          </a:prstGeom>
          <a:solidFill>
            <a:srgbClr val="B3181E"/>
          </a:solidFill>
          <a:ln w="12700">
            <a:solidFill>
              <a:srgbClr val="B3181E"/>
            </a:solidFill>
            <a:prstDash val="solid"/>
          </a:ln>
        </p:spPr>
      </p:sp>
      <p:sp>
        <p:nvSpPr>
          <p:cNvPr id="12" name="Text 9"/>
          <p:cNvSpPr txBox="1"/>
          <p:nvPr/>
        </p:nvSpPr>
        <p:spPr>
          <a:xfrm>
            <a:off x="932688" y="1975104"/>
            <a:ext cx="475488" cy="457200"/>
          </a:xfrm>
          <a:prstGeom prst="rect">
            <a:avLst/>
          </a:prstGeom>
          <a:noFill/>
          <a:ln/>
        </p:spPr>
        <p:txBody>
          <a:bodyPr wrap="square" lIns="0" tIns="0" rIns="0" bIns="0" rtlCol="0" anchor="t"/>
          <a:lstStyle/>
          <a:p>
            <a:pPr algn="l"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3" name="Text 10"/>
          <p:cNvSpPr txBox="1"/>
          <p:nvPr/>
        </p:nvSpPr>
        <p:spPr>
          <a:xfrm>
            <a:off x="1572768" y="1956816"/>
            <a:ext cx="9631375" cy="182880"/>
          </a:xfrm>
          <a:prstGeom prst="rect">
            <a:avLst/>
          </a:prstGeom>
          <a:noFill/>
          <a:ln/>
        </p:spPr>
        <p:txBody>
          <a:bodyPr wrap="square" lIns="0" tIns="0" rIns="0" bIns="0" rtlCol="0" anchor="t"/>
          <a:lstStyle/>
          <a:p>
            <a:pPr algn="l" indent="0" marL="0">
              <a:buNone/>
            </a:pPr>
            <a:r>
              <a:rPr lang="en-US" sz="900" b="1" spc="120" kern="0" dirty="0">
                <a:solidFill>
                  <a:srgbClr val="B3181E"/>
                </a:solidFill>
                <a:latin typeface="Aptos" pitchFamily="34" charset="0"/>
                <a:ea typeface="Aptos" pitchFamily="34" charset="-122"/>
                <a:cs typeface="Aptos" pitchFamily="34" charset="-120"/>
              </a:rPr>
              <a:t>LOS DOS IMPEDIMENTOS, Y CUÁL NO DEPENDE DE LA MÁQUINA</a:t>
            </a:r>
            <a:endParaRPr lang="en-US" sz="900" dirty="0"/>
          </a:p>
        </p:txBody>
      </p:sp>
      <p:sp>
        <p:nvSpPr>
          <p:cNvPr id="14" name="Text 11"/>
          <p:cNvSpPr txBox="1"/>
          <p:nvPr/>
        </p:nvSpPr>
        <p:spPr>
          <a:xfrm>
            <a:off x="1572768" y="2194560"/>
            <a:ext cx="9631375" cy="475488"/>
          </a:xfrm>
          <a:prstGeom prst="rect">
            <a:avLst/>
          </a:prstGeom>
          <a:noFill/>
          <a:ln/>
        </p:spPr>
        <p:txBody>
          <a:bodyPr wrap="square" lIns="0" tIns="0" rIns="0" bIns="0" rtlCol="0" anchor="t"/>
          <a:lstStyle/>
          <a:p>
            <a:pPr algn="l" indent="0" marL="0">
              <a:lnSpc>
                <a:spcPct val="114000"/>
              </a:lnSpc>
              <a:buNone/>
            </a:pPr>
            <a:r>
              <a:rPr lang="en-US" sz="1450" b="1" dirty="0">
                <a:solidFill>
                  <a:srgbClr val="243B53"/>
                </a:solidFill>
                <a:latin typeface="Aptos" pitchFamily="34" charset="0"/>
                <a:ea typeface="Aptos" pitchFamily="34" charset="-122"/>
                <a:cs typeface="Aptos" pitchFamily="34" charset="-120"/>
              </a:rPr>
              <a:t>El tamaño del dominio y la necesidad de un oráculo por caso. El segundo sobrevive a cualquier velocidad.</a:t>
            </a:r>
            <a:endParaRPr lang="en-US" sz="1450" dirty="0"/>
          </a:p>
        </p:txBody>
      </p:sp>
      <p:sp>
        <p:nvSpPr>
          <p:cNvPr id="15" name="Shape 12"/>
          <p:cNvSpPr/>
          <p:nvPr/>
        </p:nvSpPr>
        <p:spPr>
          <a:xfrm>
            <a:off x="1572768" y="2743200"/>
            <a:ext cx="9631375" cy="0"/>
          </a:xfrm>
          <a:prstGeom prst="line">
            <a:avLst/>
          </a:prstGeom>
          <a:noFill/>
          <a:ln w="12700">
            <a:solidFill>
              <a:srgbClr val="D8CFC4"/>
            </a:solidFill>
            <a:prstDash val="solid"/>
            <a:headEnd type="none"/>
            <a:tailEnd type="none"/>
          </a:ln>
        </p:spPr>
      </p:sp>
      <p:sp>
        <p:nvSpPr>
          <p:cNvPr id="16" name="Text 13"/>
          <p:cNvSpPr txBox="1"/>
          <p:nvPr/>
        </p:nvSpPr>
        <p:spPr>
          <a:xfrm>
            <a:off x="1572768" y="2834640"/>
            <a:ext cx="1645920" cy="182880"/>
          </a:xfrm>
          <a:prstGeom prst="rect">
            <a:avLst/>
          </a:prstGeom>
          <a:noFill/>
          <a:ln/>
        </p:spPr>
        <p:txBody>
          <a:bodyPr wrap="square" lIns="0" tIns="0" rIns="0" bIns="0" rtlCol="0" anchor="t"/>
          <a:lstStyle/>
          <a:p>
            <a:pPr algn="l" indent="0" marL="0">
              <a:buNone/>
            </a:pPr>
            <a:r>
              <a:rPr lang="en-US" sz="860" b="1" spc="110" kern="0" dirty="0">
                <a:solidFill>
                  <a:srgbClr val="B3181E"/>
                </a:solidFill>
                <a:latin typeface="Aptos" pitchFamily="34" charset="0"/>
                <a:ea typeface="Aptos" pitchFamily="34" charset="-122"/>
                <a:cs typeface="Aptos" pitchFamily="34" charset="-120"/>
              </a:rPr>
              <a:t>LO QUE REVELA</a:t>
            </a:r>
            <a:endParaRPr lang="en-US" sz="860" dirty="0"/>
          </a:p>
        </p:txBody>
      </p:sp>
      <p:sp>
        <p:nvSpPr>
          <p:cNvPr id="17" name="Text 14"/>
          <p:cNvSpPr txBox="1"/>
          <p:nvPr/>
        </p:nvSpPr>
        <p:spPr>
          <a:xfrm>
            <a:off x="3346704" y="2816352"/>
            <a:ext cx="7144207" cy="256032"/>
          </a:xfrm>
          <a:prstGeom prst="rect">
            <a:avLst/>
          </a:prstGeom>
          <a:noFill/>
          <a:ln/>
        </p:spPr>
        <p:txBody>
          <a:bodyPr wrap="square" lIns="0" tIns="0" rIns="0" bIns="0" rtlCol="0" anchor="t"/>
          <a:lstStyle/>
          <a:p>
            <a:pPr algn="l" indent="0" marL="0">
              <a:buNone/>
            </a:pPr>
            <a:r>
              <a:rPr lang="en-US" sz="1200" i="1" dirty="0">
                <a:solidFill>
                  <a:srgbClr val="243B53"/>
                </a:solidFill>
                <a:latin typeface="Aptos" pitchFamily="34" charset="0"/>
                <a:ea typeface="Aptos" pitchFamily="34" charset="-122"/>
                <a:cs typeface="Aptos" pitchFamily="34" charset="-120"/>
              </a:rPr>
              <a:t>Escribir qué debe salir cuesta lo mismo para 64 casos que para 64 millones.</a:t>
            </a:r>
            <a:endParaRPr lang="en-US" sz="1200" dirty="0"/>
          </a:p>
        </p:txBody>
      </p:sp>
      <p:sp>
        <p:nvSpPr>
          <p:cNvPr id="18" name="Shape 15"/>
          <p:cNvSpPr/>
          <p:nvPr/>
        </p:nvSpPr>
        <p:spPr>
          <a:xfrm>
            <a:off x="658368" y="3310128"/>
            <a:ext cx="10874959" cy="1371600"/>
          </a:xfrm>
          <a:prstGeom prst="rect">
            <a:avLst/>
          </a:prstGeom>
          <a:solidFill>
            <a:srgbClr val="FFFFFF"/>
          </a:solidFill>
          <a:ln w="12700">
            <a:solidFill>
              <a:srgbClr val="FFFFFF"/>
            </a:solidFill>
            <a:prstDash val="solid"/>
          </a:ln>
        </p:spPr>
      </p:sp>
      <p:sp>
        <p:nvSpPr>
          <p:cNvPr id="19" name="Shape 16"/>
          <p:cNvSpPr/>
          <p:nvPr/>
        </p:nvSpPr>
        <p:spPr>
          <a:xfrm>
            <a:off x="658368" y="3310128"/>
            <a:ext cx="54864" cy="1371600"/>
          </a:xfrm>
          <a:prstGeom prst="rect">
            <a:avLst/>
          </a:prstGeom>
          <a:solidFill>
            <a:srgbClr val="102A43"/>
          </a:solidFill>
          <a:ln w="12700">
            <a:solidFill>
              <a:srgbClr val="102A43"/>
            </a:solidFill>
            <a:prstDash val="solid"/>
          </a:ln>
        </p:spPr>
      </p:sp>
      <p:sp>
        <p:nvSpPr>
          <p:cNvPr id="20" name="Text 17"/>
          <p:cNvSpPr txBox="1"/>
          <p:nvPr/>
        </p:nvSpPr>
        <p:spPr>
          <a:xfrm>
            <a:off x="932688" y="3456432"/>
            <a:ext cx="475488" cy="457200"/>
          </a:xfrm>
          <a:prstGeom prst="rect">
            <a:avLst/>
          </a:prstGeom>
          <a:noFill/>
          <a:ln/>
        </p:spPr>
        <p:txBody>
          <a:bodyPr wrap="square" lIns="0" tIns="0" rIns="0" bIns="0" rtlCol="0" anchor="t"/>
          <a:lstStyle/>
          <a:p>
            <a:pPr algn="l"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1" name="Text 18"/>
          <p:cNvSpPr txBox="1"/>
          <p:nvPr/>
        </p:nvSpPr>
        <p:spPr>
          <a:xfrm>
            <a:off x="1572768" y="3438144"/>
            <a:ext cx="9631375" cy="182880"/>
          </a:xfrm>
          <a:prstGeom prst="rect">
            <a:avLst/>
          </a:prstGeom>
          <a:noFill/>
          <a:ln/>
        </p:spPr>
        <p:txBody>
          <a:bodyPr wrap="square" lIns="0" tIns="0" rIns="0" bIns="0" rtlCol="0" anchor="t"/>
          <a:lstStyle/>
          <a:p>
            <a:pPr algn="l" indent="0" marL="0">
              <a:buNone/>
            </a:pPr>
            <a:r>
              <a:rPr lang="en-US" sz="900" b="1" spc="120" kern="0" dirty="0">
                <a:solidFill>
                  <a:srgbClr val="102A43"/>
                </a:solidFill>
                <a:latin typeface="Aptos" pitchFamily="34" charset="0"/>
                <a:ea typeface="Aptos" pitchFamily="34" charset="-122"/>
                <a:cs typeface="Aptos" pitchFamily="34" charset="-120"/>
              </a:rPr>
              <a:t>EL GRUPO DE VALORES SIN NINGUNA PRUEBA, Y POR QUÉ EL VERDE CALLABA</a:t>
            </a:r>
            <a:endParaRPr lang="en-US" sz="900" dirty="0"/>
          </a:p>
        </p:txBody>
      </p:sp>
      <p:sp>
        <p:nvSpPr>
          <p:cNvPr id="22" name="Text 19"/>
          <p:cNvSpPr txBox="1"/>
          <p:nvPr/>
        </p:nvSpPr>
        <p:spPr>
          <a:xfrm>
            <a:off x="1572768" y="3675888"/>
            <a:ext cx="9631375" cy="475488"/>
          </a:xfrm>
          <a:prstGeom prst="rect">
            <a:avLst/>
          </a:prstGeom>
          <a:noFill/>
          <a:ln/>
        </p:spPr>
        <p:txBody>
          <a:bodyPr wrap="square" lIns="0" tIns="0" rIns="0" bIns="0" rtlCol="0" anchor="t"/>
          <a:lstStyle/>
          <a:p>
            <a:pPr algn="l" indent="0" marL="0">
              <a:lnSpc>
                <a:spcPct val="114000"/>
              </a:lnSpc>
              <a:buNone/>
            </a:pPr>
            <a:r>
              <a:rPr lang="en-US" sz="1450" b="1" dirty="0">
                <a:solidFill>
                  <a:srgbClr val="243B53"/>
                </a:solidFill>
                <a:latin typeface="Aptos" pitchFamily="34" charset="0"/>
                <a:ea typeface="Aptos" pitchFamily="34" charset="-122"/>
                <a:cs typeface="Aptos" pitchFamily="34" charset="-120"/>
              </a:rPr>
              <a:t>Los bordes de la jornada, el 1 y el 8: ninguna prueba los ejecutó. El verde solo informa de los valores que sí se ejecutaron.</a:t>
            </a:r>
            <a:endParaRPr lang="en-US" sz="1450" dirty="0"/>
          </a:p>
        </p:txBody>
      </p:sp>
      <p:sp>
        <p:nvSpPr>
          <p:cNvPr id="23" name="Shape 20"/>
          <p:cNvSpPr/>
          <p:nvPr/>
        </p:nvSpPr>
        <p:spPr>
          <a:xfrm>
            <a:off x="1572768" y="4224528"/>
            <a:ext cx="9631375" cy="0"/>
          </a:xfrm>
          <a:prstGeom prst="line">
            <a:avLst/>
          </a:prstGeom>
          <a:noFill/>
          <a:ln w="12700">
            <a:solidFill>
              <a:srgbClr val="D8CFC4"/>
            </a:solidFill>
            <a:prstDash val="solid"/>
            <a:headEnd type="none"/>
            <a:tailEnd type="none"/>
          </a:ln>
        </p:spPr>
      </p:sp>
      <p:sp>
        <p:nvSpPr>
          <p:cNvPr id="24" name="Text 21"/>
          <p:cNvSpPr txBox="1"/>
          <p:nvPr/>
        </p:nvSpPr>
        <p:spPr>
          <a:xfrm>
            <a:off x="1572768" y="4315968"/>
            <a:ext cx="1645920" cy="182880"/>
          </a:xfrm>
          <a:prstGeom prst="rect">
            <a:avLst/>
          </a:prstGeom>
          <a:noFill/>
          <a:ln/>
        </p:spPr>
        <p:txBody>
          <a:bodyPr wrap="square" lIns="0" tIns="0" rIns="0" bIns="0" rtlCol="0" anchor="t"/>
          <a:lstStyle/>
          <a:p>
            <a:pPr algn="l" indent="0" marL="0">
              <a:buNone/>
            </a:pPr>
            <a:r>
              <a:rPr lang="en-US" sz="860" b="1" spc="110" kern="0" dirty="0">
                <a:solidFill>
                  <a:srgbClr val="102A43"/>
                </a:solidFill>
                <a:latin typeface="Aptos" pitchFamily="34" charset="0"/>
                <a:ea typeface="Aptos" pitchFamily="34" charset="-122"/>
                <a:cs typeface="Aptos" pitchFamily="34" charset="-120"/>
              </a:rPr>
              <a:t>LO QUE REVELA</a:t>
            </a:r>
            <a:endParaRPr lang="en-US" sz="860" dirty="0"/>
          </a:p>
        </p:txBody>
      </p:sp>
      <p:sp>
        <p:nvSpPr>
          <p:cNvPr id="25" name="Text 22"/>
          <p:cNvSpPr txBox="1"/>
          <p:nvPr/>
        </p:nvSpPr>
        <p:spPr>
          <a:xfrm>
            <a:off x="3346704" y="4297680"/>
            <a:ext cx="7144207" cy="256032"/>
          </a:xfrm>
          <a:prstGeom prst="rect">
            <a:avLst/>
          </a:prstGeom>
          <a:noFill/>
          <a:ln/>
        </p:spPr>
        <p:txBody>
          <a:bodyPr wrap="square" lIns="0" tIns="0" rIns="0" bIns="0" rtlCol="0" anchor="t"/>
          <a:lstStyle/>
          <a:p>
            <a:pPr algn="l" indent="0" marL="0">
              <a:buNone/>
            </a:pPr>
            <a:r>
              <a:rPr lang="en-US" sz="1200" i="1" dirty="0">
                <a:solidFill>
                  <a:srgbClr val="243B53"/>
                </a:solidFill>
                <a:latin typeface="Aptos" pitchFamily="34" charset="0"/>
                <a:ea typeface="Aptos" pitchFamily="34" charset="-122"/>
                <a:cs typeface="Aptos" pitchFamily="34" charset="-120"/>
              </a:rPr>
              <a:t>Una suite en verde no afirma nada sobre lo que no probó: su silencio no es una aprobación.</a:t>
            </a:r>
            <a:endParaRPr lang="en-US" sz="1200" dirty="0"/>
          </a:p>
        </p:txBody>
      </p:sp>
      <p:sp>
        <p:nvSpPr>
          <p:cNvPr id="26" name="Shape 23"/>
          <p:cNvSpPr/>
          <p:nvPr/>
        </p:nvSpPr>
        <p:spPr>
          <a:xfrm>
            <a:off x="658368" y="4791456"/>
            <a:ext cx="10874959" cy="1371600"/>
          </a:xfrm>
          <a:prstGeom prst="rect">
            <a:avLst/>
          </a:prstGeom>
          <a:solidFill>
            <a:srgbClr val="FFFFFF"/>
          </a:solidFill>
          <a:ln w="12700">
            <a:solidFill>
              <a:srgbClr val="FFFFFF"/>
            </a:solidFill>
            <a:prstDash val="solid"/>
          </a:ln>
        </p:spPr>
      </p:sp>
      <p:sp>
        <p:nvSpPr>
          <p:cNvPr id="27" name="Shape 24"/>
          <p:cNvSpPr/>
          <p:nvPr/>
        </p:nvSpPr>
        <p:spPr>
          <a:xfrm>
            <a:off x="658368" y="4791456"/>
            <a:ext cx="54864" cy="1371600"/>
          </a:xfrm>
          <a:prstGeom prst="rect">
            <a:avLst/>
          </a:prstGeom>
          <a:solidFill>
            <a:srgbClr val="8A6A12"/>
          </a:solidFill>
          <a:ln w="12700">
            <a:solidFill>
              <a:srgbClr val="8A6A12"/>
            </a:solidFill>
            <a:prstDash val="solid"/>
          </a:ln>
        </p:spPr>
      </p:sp>
      <p:sp>
        <p:nvSpPr>
          <p:cNvPr id="28" name="Text 25"/>
          <p:cNvSpPr txBox="1"/>
          <p:nvPr/>
        </p:nvSpPr>
        <p:spPr>
          <a:xfrm>
            <a:off x="932688" y="4937760"/>
            <a:ext cx="475488" cy="457200"/>
          </a:xfrm>
          <a:prstGeom prst="rect">
            <a:avLst/>
          </a:prstGeom>
          <a:noFill/>
          <a:ln/>
        </p:spPr>
        <p:txBody>
          <a:bodyPr wrap="square" lIns="0" tIns="0" rIns="0" bIns="0" rtlCol="0" anchor="t"/>
          <a:lstStyle/>
          <a:p>
            <a:pPr algn="l"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9" name="Text 26"/>
          <p:cNvSpPr txBox="1"/>
          <p:nvPr/>
        </p:nvSpPr>
        <p:spPr>
          <a:xfrm>
            <a:off x="1572768" y="4919472"/>
            <a:ext cx="9631375" cy="182880"/>
          </a:xfrm>
          <a:prstGeom prst="rect">
            <a:avLst/>
          </a:prstGeom>
          <a:noFill/>
          <a:ln/>
        </p:spPr>
        <p:txBody>
          <a:bodyPr wrap="square" lIns="0" tIns="0" rIns="0" bIns="0" rtlCol="0" anchor="t"/>
          <a:lstStyle/>
          <a:p>
            <a:pPr algn="l" indent="0" marL="0">
              <a:buNone/>
            </a:pPr>
            <a:r>
              <a:rPr lang="en-US" sz="900" b="1" spc="120" kern="0" dirty="0">
                <a:solidFill>
                  <a:srgbClr val="8A6A12"/>
                </a:solidFill>
                <a:latin typeface="Aptos" pitchFamily="34" charset="0"/>
                <a:ea typeface="Aptos" pitchFamily="34" charset="-122"/>
                <a:cs typeface="Aptos" pitchFamily="34" charset="-120"/>
              </a:rPr>
              <a:t>LO QUE HAY QUE ENTREGARLE ANTES DE PEDIRLE NADA</a:t>
            </a:r>
            <a:endParaRPr lang="en-US" sz="900" dirty="0"/>
          </a:p>
        </p:txBody>
      </p:sp>
      <p:sp>
        <p:nvSpPr>
          <p:cNvPr id="30" name="Text 27"/>
          <p:cNvSpPr txBox="1"/>
          <p:nvPr/>
        </p:nvSpPr>
        <p:spPr>
          <a:xfrm>
            <a:off x="1572768" y="5157216"/>
            <a:ext cx="9631375" cy="475488"/>
          </a:xfrm>
          <a:prstGeom prst="rect">
            <a:avLst/>
          </a:prstGeom>
          <a:noFill/>
          <a:ln/>
        </p:spPr>
        <p:txBody>
          <a:bodyPr wrap="square" lIns="0" tIns="0" rIns="0" bIns="0" rtlCol="0" anchor="t"/>
          <a:lstStyle/>
          <a:p>
            <a:pPr algn="l" indent="0" marL="0">
              <a:lnSpc>
                <a:spcPct val="114000"/>
              </a:lnSpc>
              <a:buNone/>
            </a:pPr>
            <a:r>
              <a:rPr lang="en-US" sz="1450" b="1" dirty="0">
                <a:solidFill>
                  <a:srgbClr val="243B53"/>
                </a:solidFill>
                <a:latin typeface="Aptos" pitchFamily="34" charset="0"/>
                <a:ea typeface="Aptos" pitchFamily="34" charset="-122"/>
                <a:cs typeface="Aptos" pitchFamily="34" charset="-120"/>
              </a:rPr>
              <a:t>La lista de grupos ya escrita, con el resultado esperado de cada uno sacado del requisito y no del código.</a:t>
            </a:r>
            <a:endParaRPr lang="en-US" sz="1450" dirty="0"/>
          </a:p>
        </p:txBody>
      </p:sp>
      <p:sp>
        <p:nvSpPr>
          <p:cNvPr id="31" name="Shape 28"/>
          <p:cNvSpPr/>
          <p:nvPr/>
        </p:nvSpPr>
        <p:spPr>
          <a:xfrm>
            <a:off x="1572768" y="5705856"/>
            <a:ext cx="9631375" cy="0"/>
          </a:xfrm>
          <a:prstGeom prst="line">
            <a:avLst/>
          </a:prstGeom>
          <a:noFill/>
          <a:ln w="12700">
            <a:solidFill>
              <a:srgbClr val="D8CFC4"/>
            </a:solidFill>
            <a:prstDash val="solid"/>
            <a:headEnd type="none"/>
            <a:tailEnd type="none"/>
          </a:ln>
        </p:spPr>
      </p:sp>
      <p:sp>
        <p:nvSpPr>
          <p:cNvPr id="32" name="Text 29"/>
          <p:cNvSpPr txBox="1"/>
          <p:nvPr/>
        </p:nvSpPr>
        <p:spPr>
          <a:xfrm>
            <a:off x="1572768" y="5797296"/>
            <a:ext cx="1645920" cy="182880"/>
          </a:xfrm>
          <a:prstGeom prst="rect">
            <a:avLst/>
          </a:prstGeom>
          <a:noFill/>
          <a:ln/>
        </p:spPr>
        <p:txBody>
          <a:bodyPr wrap="square" lIns="0" tIns="0" rIns="0" bIns="0" rtlCol="0" anchor="t"/>
          <a:lstStyle/>
          <a:p>
            <a:pPr algn="l" indent="0" marL="0">
              <a:buNone/>
            </a:pPr>
            <a:r>
              <a:rPr lang="en-US" sz="860" b="1" spc="110" kern="0" dirty="0">
                <a:solidFill>
                  <a:srgbClr val="8A6A12"/>
                </a:solidFill>
                <a:latin typeface="Aptos" pitchFamily="34" charset="0"/>
                <a:ea typeface="Aptos" pitchFamily="34" charset="-122"/>
                <a:cs typeface="Aptos" pitchFamily="34" charset="-120"/>
              </a:rPr>
              <a:t>LO QUE REVELA</a:t>
            </a:r>
            <a:endParaRPr lang="en-US" sz="860" dirty="0"/>
          </a:p>
        </p:txBody>
      </p:sp>
      <p:sp>
        <p:nvSpPr>
          <p:cNvPr id="33" name="Text 30"/>
          <p:cNvSpPr txBox="1"/>
          <p:nvPr/>
        </p:nvSpPr>
        <p:spPr>
          <a:xfrm>
            <a:off x="3346704" y="5779008"/>
            <a:ext cx="7144207" cy="256032"/>
          </a:xfrm>
          <a:prstGeom prst="rect">
            <a:avLst/>
          </a:prstGeom>
          <a:noFill/>
          <a:ln/>
        </p:spPr>
        <p:txBody>
          <a:bodyPr wrap="square" lIns="0" tIns="0" rIns="0" bIns="0" rtlCol="0" anchor="t"/>
          <a:lstStyle/>
          <a:p>
            <a:pPr algn="l" indent="0" marL="0">
              <a:buNone/>
            </a:pPr>
            <a:r>
              <a:rPr lang="en-US" sz="1200" i="1" dirty="0">
                <a:solidFill>
                  <a:srgbClr val="243B53"/>
                </a:solidFill>
                <a:latin typeface="Aptos" pitchFamily="34" charset="0"/>
                <a:ea typeface="Aptos" pitchFamily="34" charset="-122"/>
                <a:cs typeface="Aptos" pitchFamily="34" charset="-120"/>
              </a:rPr>
              <a:t>Un agente sin esa lista saca sus casos del código, y el código ya contiene el defecto.</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3\03\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27</a:t>
            </a:r>
            <a:endParaRPr lang="en-US" sz="1400" dirty="0"/>
          </a:p>
        </p:txBody>
      </p:sp>
      <p:sp>
        <p:nvSpPr>
          <p:cNvPr id="8" name="Text 5"/>
          <p:cNvSpPr txBox="1"/>
          <p:nvPr/>
        </p:nvSpPr>
        <p:spPr>
          <a:xfrm>
            <a:off x="658368" y="1572768"/>
            <a:ext cx="27432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BLOQUE 2 DE 4</a:t>
            </a:r>
            <a:endParaRPr lang="en-US" sz="960" dirty="0"/>
          </a:p>
        </p:txBody>
      </p:sp>
      <p:sp>
        <p:nvSpPr>
          <p:cNvPr id="9" name="Text 6"/>
          <p:cNvSpPr txBox="1"/>
          <p:nvPr/>
        </p:nvSpPr>
        <p:spPr>
          <a:xfrm>
            <a:off x="658368" y="1920240"/>
            <a:ext cx="9692640" cy="914400"/>
          </a:xfrm>
          <a:prstGeom prst="rect">
            <a:avLst/>
          </a:prstGeom>
          <a:noFill/>
          <a:ln/>
        </p:spPr>
        <p:txBody>
          <a:bodyPr wrap="square" lIns="0" tIns="0" rIns="0" bIns="0" rtlCol="0" anchor="t"/>
          <a:lstStyle/>
          <a:p>
            <a:pPr algn="l" indent="0" marL="0">
              <a:lnSpc>
                <a:spcPct val="104000"/>
              </a:lnSpc>
              <a:buNone/>
            </a:pPr>
            <a:r>
              <a:rPr lang="en-US" sz="4000" b="1" dirty="0">
                <a:solidFill>
                  <a:srgbClr val="FFFFFF"/>
                </a:solidFill>
                <a:latin typeface="Aptos Display" pitchFamily="34" charset="0"/>
                <a:ea typeface="Aptos Display" pitchFamily="34" charset="-122"/>
                <a:cs typeface="Aptos Display" pitchFamily="34" charset="-120"/>
              </a:rPr>
              <a:t>Partición de equivalencia</a:t>
            </a:r>
            <a:endParaRPr lang="en-US" sz="4000" dirty="0"/>
          </a:p>
        </p:txBody>
      </p:sp>
      <p:sp>
        <p:nvSpPr>
          <p:cNvPr id="10" name="Shape 7"/>
          <p:cNvSpPr/>
          <p:nvPr/>
        </p:nvSpPr>
        <p:spPr>
          <a:xfrm>
            <a:off x="658368" y="3035808"/>
            <a:ext cx="3108960" cy="0"/>
          </a:xfrm>
          <a:prstGeom prst="line">
            <a:avLst/>
          </a:prstGeom>
          <a:noFill/>
          <a:ln w="12700">
            <a:solidFill>
              <a:srgbClr val="E0BC5A"/>
            </a:solidFill>
            <a:prstDash val="solid"/>
            <a:headEnd type="none"/>
            <a:tailEnd type="none"/>
          </a:ln>
        </p:spPr>
      </p:sp>
      <p:sp>
        <p:nvSpPr>
          <p:cNvPr id="11" name="Text 8"/>
          <p:cNvSpPr txBox="1"/>
          <p:nvPr/>
        </p:nvSpPr>
        <p:spPr>
          <a:xfrm>
            <a:off x="658368" y="3291840"/>
            <a:ext cx="9326880" cy="822960"/>
          </a:xfrm>
          <a:prstGeom prst="rect">
            <a:avLst/>
          </a:prstGeom>
          <a:noFill/>
          <a:ln/>
        </p:spPr>
        <p:txBody>
          <a:bodyPr wrap="square" lIns="0" tIns="0" rIns="0" bIns="0" rtlCol="0" anchor="t"/>
          <a:lstStyle/>
          <a:p>
            <a:pPr algn="l" indent="0" marL="0">
              <a:lnSpc>
                <a:spcPct val="116000"/>
              </a:lnSpc>
              <a:buNone/>
            </a:pPr>
            <a:r>
              <a:rPr lang="en-US" sz="1700" i="1" dirty="0">
                <a:solidFill>
                  <a:srgbClr val="E6EEF7"/>
                </a:solidFill>
                <a:latin typeface="Aptos" pitchFamily="34" charset="0"/>
                <a:ea typeface="Aptos" pitchFamily="34" charset="-122"/>
                <a:cs typeface="Aptos" pitchFamily="34" charset="-120"/>
              </a:rPr>
              <a:t>¿Con qué argumento se agrupan valores distintos para probar solo uno de cada grupo?</a:t>
            </a:r>
            <a:endParaRPr lang="en-US" sz="1700" dirty="0"/>
          </a:p>
        </p:txBody>
      </p:sp>
      <p:sp>
        <p:nvSpPr>
          <p:cNvPr id="12" name="Text 9"/>
          <p:cNvSpPr txBox="1"/>
          <p:nvPr/>
        </p:nvSpPr>
        <p:spPr>
          <a:xfrm>
            <a:off x="658368" y="4864608"/>
            <a:ext cx="4572000" cy="201168"/>
          </a:xfrm>
          <a:prstGeom prst="rect">
            <a:avLst/>
          </a:prstGeom>
          <a:noFill/>
          <a:ln/>
        </p:spPr>
        <p:txBody>
          <a:bodyPr wrap="square" lIns="0" tIns="0" rIns="0" bIns="0" rtlCol="0" anchor="t"/>
          <a:lstStyle/>
          <a:p>
            <a:pPr algn="l" indent="0" marL="0">
              <a:buNone/>
            </a:pPr>
            <a:r>
              <a:rPr lang="en-US" sz="960" b="1" spc="130" kern="0" dirty="0">
                <a:solidFill>
                  <a:srgbClr val="EADFD0"/>
                </a:solidFill>
                <a:latin typeface="Aptos" pitchFamily="34" charset="0"/>
                <a:ea typeface="Aptos" pitchFamily="34" charset="-122"/>
                <a:cs typeface="Aptos" pitchFamily="34" charset="-120"/>
              </a:rPr>
              <a:t>DÓNDE ESTAMOS EN LA REDUCCIÓN</a:t>
            </a:r>
            <a:endParaRPr lang="en-US" sz="960" dirty="0"/>
          </a:p>
        </p:txBody>
      </p:sp>
      <p:sp>
        <p:nvSpPr>
          <p:cNvPr id="13" name="Shape 10"/>
          <p:cNvSpPr/>
          <p:nvPr/>
        </p:nvSpPr>
        <p:spPr>
          <a:xfrm>
            <a:off x="658368" y="5138928"/>
            <a:ext cx="4206240" cy="420624"/>
          </a:xfrm>
          <a:prstGeom prst="rect">
            <a:avLst/>
          </a:prstGeom>
          <a:solidFill>
            <a:srgbClr val="1D3A57"/>
          </a:solidFill>
          <a:ln w="12700">
            <a:solidFill>
              <a:srgbClr val="1D3A57"/>
            </a:solidFill>
            <a:prstDash val="solid"/>
          </a:ln>
        </p:spPr>
      </p:sp>
      <p:sp>
        <p:nvSpPr>
          <p:cNvPr id="14" name="Text 11"/>
          <p:cNvSpPr txBox="1"/>
          <p:nvPr/>
        </p:nvSpPr>
        <p:spPr>
          <a:xfrm>
            <a:off x="822960" y="5157216"/>
            <a:ext cx="3877056" cy="384048"/>
          </a:xfrm>
          <a:prstGeom prst="rect">
            <a:avLst/>
          </a:prstGeom>
          <a:noFill/>
          <a:ln/>
        </p:spPr>
        <p:txBody>
          <a:bodyPr wrap="square" lIns="0" tIns="0" rIns="0" bIns="0" rtlCol="0" anchor="ctr"/>
          <a:lstStyle/>
          <a:p>
            <a:pPr algn="l" indent="0" marL="0">
              <a:buNone/>
            </a:pPr>
            <a:r>
              <a:rPr lang="en-US" sz="1060" dirty="0">
                <a:solidFill>
                  <a:srgbClr val="EADFD0"/>
                </a:solidFill>
                <a:latin typeface="Aptos" pitchFamily="34" charset="0"/>
                <a:ea typeface="Aptos" pitchFamily="34" charset="-122"/>
                <a:cs typeface="Aptos" pitchFamily="34" charset="-120"/>
              </a:rPr>
              <a:t>Todas las entradas</a:t>
            </a:r>
            <a:endParaRPr lang="en-US" sz="1060" dirty="0"/>
          </a:p>
        </p:txBody>
      </p:sp>
      <p:sp>
        <p:nvSpPr>
          <p:cNvPr id="15" name="Shape 12"/>
          <p:cNvSpPr/>
          <p:nvPr/>
        </p:nvSpPr>
        <p:spPr>
          <a:xfrm>
            <a:off x="4901184" y="5349240"/>
            <a:ext cx="182880" cy="0"/>
          </a:xfrm>
          <a:prstGeom prst="line">
            <a:avLst/>
          </a:prstGeom>
          <a:noFill/>
          <a:ln w="12700">
            <a:solidFill>
              <a:srgbClr val="EADFD0"/>
            </a:solidFill>
            <a:prstDash val="solid"/>
            <a:headEnd type="none"/>
            <a:tailEnd type="triangle"/>
          </a:ln>
        </p:spPr>
      </p:sp>
      <p:sp>
        <p:nvSpPr>
          <p:cNvPr id="16" name="Shape 13"/>
          <p:cNvSpPr/>
          <p:nvPr/>
        </p:nvSpPr>
        <p:spPr>
          <a:xfrm>
            <a:off x="5120640" y="5138928"/>
            <a:ext cx="2926080" cy="420624"/>
          </a:xfrm>
          <a:prstGeom prst="rect">
            <a:avLst/>
          </a:prstGeom>
          <a:solidFill>
            <a:srgbClr val="E0BC5A"/>
          </a:solidFill>
          <a:ln w="12700">
            <a:solidFill>
              <a:srgbClr val="E0BC5A"/>
            </a:solidFill>
            <a:prstDash val="solid"/>
          </a:ln>
        </p:spPr>
      </p:sp>
      <p:sp>
        <p:nvSpPr>
          <p:cNvPr id="17" name="Text 14"/>
          <p:cNvSpPr txBox="1"/>
          <p:nvPr/>
        </p:nvSpPr>
        <p:spPr>
          <a:xfrm>
            <a:off x="5285232" y="5157216"/>
            <a:ext cx="2596896" cy="384048"/>
          </a:xfrm>
          <a:prstGeom prst="rect">
            <a:avLst/>
          </a:prstGeom>
          <a:noFill/>
          <a:ln/>
        </p:spPr>
        <p:txBody>
          <a:bodyPr wrap="square" lIns="0" tIns="0" rIns="0" bIns="0" rtlCol="0" anchor="ctr"/>
          <a:lstStyle/>
          <a:p>
            <a:pPr algn="l" indent="0" marL="0">
              <a:buNone/>
            </a:pPr>
            <a:r>
              <a:rPr lang="en-US" sz="1200" b="1" dirty="0">
                <a:solidFill>
                  <a:srgbClr val="102A43"/>
                </a:solidFill>
                <a:latin typeface="Aptos" pitchFamily="34" charset="0"/>
                <a:ea typeface="Aptos" pitchFamily="34" charset="-122"/>
                <a:cs typeface="Aptos" pitchFamily="34" charset="-120"/>
              </a:rPr>
              <a:t>Clases</a:t>
            </a:r>
            <a:endParaRPr lang="en-US" sz="1200" dirty="0"/>
          </a:p>
        </p:txBody>
      </p:sp>
      <p:sp>
        <p:nvSpPr>
          <p:cNvPr id="18" name="Shape 15"/>
          <p:cNvSpPr/>
          <p:nvPr/>
        </p:nvSpPr>
        <p:spPr>
          <a:xfrm>
            <a:off x="8083296" y="5349240"/>
            <a:ext cx="182880" cy="0"/>
          </a:xfrm>
          <a:prstGeom prst="line">
            <a:avLst/>
          </a:prstGeom>
          <a:noFill/>
          <a:ln w="12700">
            <a:solidFill>
              <a:srgbClr val="EADFD0"/>
            </a:solidFill>
            <a:prstDash val="solid"/>
            <a:headEnd type="none"/>
            <a:tailEnd type="triangle"/>
          </a:ln>
        </p:spPr>
      </p:sp>
      <p:sp>
        <p:nvSpPr>
          <p:cNvPr id="19" name="Shape 16"/>
          <p:cNvSpPr/>
          <p:nvPr/>
        </p:nvSpPr>
        <p:spPr>
          <a:xfrm>
            <a:off x="8302752" y="5138928"/>
            <a:ext cx="2011680" cy="420624"/>
          </a:xfrm>
          <a:prstGeom prst="rect">
            <a:avLst/>
          </a:prstGeom>
          <a:solidFill>
            <a:srgbClr val="1D3A57"/>
          </a:solidFill>
          <a:ln w="12700">
            <a:solidFill>
              <a:srgbClr val="1D3A57"/>
            </a:solidFill>
            <a:prstDash val="solid"/>
          </a:ln>
        </p:spPr>
      </p:sp>
      <p:sp>
        <p:nvSpPr>
          <p:cNvPr id="20" name="Text 17"/>
          <p:cNvSpPr txBox="1"/>
          <p:nvPr/>
        </p:nvSpPr>
        <p:spPr>
          <a:xfrm>
            <a:off x="8467344" y="5157216"/>
            <a:ext cx="1682496" cy="384048"/>
          </a:xfrm>
          <a:prstGeom prst="rect">
            <a:avLst/>
          </a:prstGeom>
          <a:noFill/>
          <a:ln/>
        </p:spPr>
        <p:txBody>
          <a:bodyPr wrap="square" lIns="0" tIns="0" rIns="0" bIns="0" rtlCol="0" anchor="ctr"/>
          <a:lstStyle/>
          <a:p>
            <a:pPr algn="l" indent="0" marL="0">
              <a:buNone/>
            </a:pPr>
            <a:r>
              <a:rPr lang="en-US" sz="1060" dirty="0">
                <a:solidFill>
                  <a:srgbClr val="EADFD0"/>
                </a:solidFill>
                <a:latin typeface="Aptos" pitchFamily="34" charset="0"/>
                <a:ea typeface="Aptos" pitchFamily="34" charset="-122"/>
                <a:cs typeface="Aptos" pitchFamily="34" charset="-120"/>
              </a:rPr>
              <a:t>Límites</a:t>
            </a:r>
            <a:endParaRPr lang="en-US" sz="1060" dirty="0"/>
          </a:p>
        </p:txBody>
      </p:sp>
      <p:sp>
        <p:nvSpPr>
          <p:cNvPr id="21" name="Shape 18"/>
          <p:cNvSpPr/>
          <p:nvPr/>
        </p:nvSpPr>
        <p:spPr>
          <a:xfrm>
            <a:off x="10351008" y="5349240"/>
            <a:ext cx="182880" cy="0"/>
          </a:xfrm>
          <a:prstGeom prst="line">
            <a:avLst/>
          </a:prstGeom>
          <a:noFill/>
          <a:ln w="12700">
            <a:solidFill>
              <a:srgbClr val="EADFD0"/>
            </a:solidFill>
            <a:prstDash val="solid"/>
            <a:headEnd type="none"/>
            <a:tailEnd type="triangle"/>
          </a:ln>
        </p:spPr>
      </p:sp>
      <p:sp>
        <p:nvSpPr>
          <p:cNvPr id="22" name="Shape 19"/>
          <p:cNvSpPr/>
          <p:nvPr/>
        </p:nvSpPr>
        <p:spPr>
          <a:xfrm>
            <a:off x="10570464" y="5138928"/>
            <a:ext cx="1371600" cy="420624"/>
          </a:xfrm>
          <a:prstGeom prst="rect">
            <a:avLst/>
          </a:prstGeom>
          <a:solidFill>
            <a:srgbClr val="1D3A57"/>
          </a:solidFill>
          <a:ln w="12700">
            <a:solidFill>
              <a:srgbClr val="1D3A57"/>
            </a:solidFill>
            <a:prstDash val="solid"/>
          </a:ln>
        </p:spPr>
      </p:sp>
      <p:sp>
        <p:nvSpPr>
          <p:cNvPr id="23" name="Text 20"/>
          <p:cNvSpPr txBox="1"/>
          <p:nvPr/>
        </p:nvSpPr>
        <p:spPr>
          <a:xfrm>
            <a:off x="10735056" y="5157216"/>
            <a:ext cx="1042416" cy="384048"/>
          </a:xfrm>
          <a:prstGeom prst="rect">
            <a:avLst/>
          </a:prstGeom>
          <a:noFill/>
          <a:ln/>
        </p:spPr>
        <p:txBody>
          <a:bodyPr wrap="square" lIns="0" tIns="0" rIns="0" bIns="0" rtlCol="0" anchor="ctr"/>
          <a:lstStyle/>
          <a:p>
            <a:pPr algn="l" indent="0" marL="0">
              <a:buNone/>
            </a:pPr>
            <a:r>
              <a:rPr lang="en-US" sz="1060" dirty="0">
                <a:solidFill>
                  <a:srgbClr val="EADFD0"/>
                </a:solidFill>
                <a:latin typeface="Aptos" pitchFamily="34" charset="0"/>
                <a:ea typeface="Aptos" pitchFamily="34" charset="-122"/>
                <a:cs typeface="Aptos" pitchFamily="34" charset="-120"/>
              </a:rPr>
              <a:t>Reglas combinadas</a:t>
            </a:r>
            <a:endParaRPr lang="en-US" sz="106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28</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LA IDEA, ANTES DEL NOMBRE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800" b="1" dirty="0">
                <a:solidFill>
                  <a:srgbClr val="243B53"/>
                </a:solidFill>
                <a:latin typeface="Aptos Display" pitchFamily="34" charset="0"/>
                <a:ea typeface="Aptos Display" pitchFamily="34" charset="-122"/>
                <a:cs typeface="Aptos Display" pitchFamily="34" charset="-120"/>
              </a:rPr>
              <a:t>Partir las entradas en grupos, y probar uno de cada grupo</a:t>
            </a:r>
            <a:endParaRPr lang="en-US" sz="28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Las entradas posibles no se pueden recorrer. Sí se pueden agrupar, si hay un argumento para agruparlas.</a:t>
            </a:r>
            <a:endParaRPr lang="en-US" sz="1450" dirty="0"/>
          </a:p>
        </p:txBody>
      </p:sp>
      <p:sp>
        <p:nvSpPr>
          <p:cNvPr id="11" name="Shape 8"/>
          <p:cNvSpPr/>
          <p:nvPr/>
        </p:nvSpPr>
        <p:spPr>
          <a:xfrm>
            <a:off x="658368" y="2249424"/>
            <a:ext cx="10874959" cy="457200"/>
          </a:xfrm>
          <a:prstGeom prst="rect">
            <a:avLst/>
          </a:prstGeom>
          <a:solidFill>
            <a:srgbClr val="102A43"/>
          </a:solidFill>
          <a:ln w="12700">
            <a:solidFill>
              <a:srgbClr val="102A43"/>
            </a:solidFill>
            <a:prstDash val="solid"/>
          </a:ln>
        </p:spPr>
      </p:sp>
      <p:sp>
        <p:nvSpPr>
          <p:cNvPr id="12" name="Text 9"/>
          <p:cNvSpPr txBox="1"/>
          <p:nvPr/>
        </p:nvSpPr>
        <p:spPr>
          <a:xfrm>
            <a:off x="969264" y="2286000"/>
            <a:ext cx="10253167"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ptos" pitchFamily="34" charset="0"/>
                <a:ea typeface="Aptos" pitchFamily="34" charset="-122"/>
                <a:cs typeface="Aptos" pitchFamily="34" charset="-120"/>
              </a:rPr>
              <a:t>Todas las entradas posibles del parámetro «bloque»: cualquier número entero</a:t>
            </a:r>
            <a:endParaRPr lang="en-US" sz="1400" dirty="0"/>
          </a:p>
        </p:txBody>
      </p:sp>
      <p:sp>
        <p:nvSpPr>
          <p:cNvPr id="13" name="Text 10"/>
          <p:cNvSpPr txBox="1"/>
          <p:nvPr/>
        </p:nvSpPr>
        <p:spPr>
          <a:xfrm>
            <a:off x="658368" y="2798064"/>
            <a:ext cx="10874959" cy="219456"/>
          </a:xfrm>
          <a:prstGeom prst="rect">
            <a:avLst/>
          </a:prstGeom>
          <a:noFill/>
          <a:ln/>
        </p:spPr>
        <p:txBody>
          <a:bodyPr wrap="square" lIns="0" tIns="0" rIns="0" bIns="0" rtlCol="0" anchor="t"/>
          <a:lstStyle/>
          <a:p>
            <a:pPr algn="ctr" indent="0" marL="0">
              <a:buNone/>
            </a:pPr>
            <a:r>
              <a:rPr lang="en-US" sz="1140" i="1" dirty="0">
                <a:solidFill>
                  <a:srgbClr val="52606D"/>
                </a:solidFill>
                <a:latin typeface="Aptos" pitchFamily="34" charset="0"/>
                <a:ea typeface="Aptos" pitchFamily="34" charset="-122"/>
                <a:cs typeface="Aptos" pitchFamily="34" charset="-120"/>
              </a:rPr>
              <a:t>se parten en grupos</a:t>
            </a:r>
            <a:endParaRPr lang="en-US" sz="1140" dirty="0"/>
          </a:p>
        </p:txBody>
      </p:sp>
      <p:sp>
        <p:nvSpPr>
          <p:cNvPr id="14" name="Shape 11"/>
          <p:cNvSpPr/>
          <p:nvPr/>
        </p:nvSpPr>
        <p:spPr>
          <a:xfrm>
            <a:off x="658368" y="3072384"/>
            <a:ext cx="3465576" cy="932688"/>
          </a:xfrm>
          <a:prstGeom prst="rect">
            <a:avLst/>
          </a:prstGeom>
          <a:solidFill>
            <a:srgbClr val="F8E4E5"/>
          </a:solidFill>
          <a:ln w="12700">
            <a:solidFill>
              <a:srgbClr val="F8E4E5"/>
            </a:solidFill>
            <a:prstDash val="solid"/>
          </a:ln>
        </p:spPr>
      </p:sp>
      <p:sp>
        <p:nvSpPr>
          <p:cNvPr id="15" name="Shape 12"/>
          <p:cNvSpPr/>
          <p:nvPr/>
        </p:nvSpPr>
        <p:spPr>
          <a:xfrm>
            <a:off x="658368" y="3072384"/>
            <a:ext cx="3465576" cy="54864"/>
          </a:xfrm>
          <a:prstGeom prst="rect">
            <a:avLst/>
          </a:prstGeom>
          <a:solidFill>
            <a:srgbClr val="B3181E"/>
          </a:solidFill>
          <a:ln w="12700">
            <a:solidFill>
              <a:srgbClr val="B3181E"/>
            </a:solidFill>
            <a:prstDash val="solid"/>
          </a:ln>
        </p:spPr>
      </p:sp>
      <p:sp>
        <p:nvSpPr>
          <p:cNvPr id="16" name="Text 13"/>
          <p:cNvSpPr txBox="1"/>
          <p:nvPr/>
        </p:nvSpPr>
        <p:spPr>
          <a:xfrm>
            <a:off x="896112" y="3200400"/>
            <a:ext cx="3017520" cy="237744"/>
          </a:xfrm>
          <a:prstGeom prst="rect">
            <a:avLst/>
          </a:prstGeom>
          <a:noFill/>
          <a:ln/>
        </p:spPr>
        <p:txBody>
          <a:bodyPr wrap="square" lIns="0" tIns="0" rIns="0" bIns="0" rtlCol="0" anchor="t"/>
          <a:lstStyle/>
          <a:p>
            <a:pPr algn="l" indent="0" marL="0">
              <a:buNone/>
            </a:pPr>
            <a:r>
              <a:rPr lang="en-US" sz="1240" b="1" dirty="0">
                <a:solidFill>
                  <a:srgbClr val="243B53"/>
                </a:solidFill>
                <a:latin typeface="Aptos" pitchFamily="34" charset="0"/>
                <a:ea typeface="Aptos" pitchFamily="34" charset="-122"/>
                <a:cs typeface="Aptos" pitchFamily="34" charset="-120"/>
              </a:rPr>
              <a:t>Números por debajo de la jornada</a:t>
            </a:r>
            <a:endParaRPr lang="en-US" sz="1240" dirty="0"/>
          </a:p>
        </p:txBody>
      </p:sp>
      <p:sp>
        <p:nvSpPr>
          <p:cNvPr id="17" name="Text 14"/>
          <p:cNvSpPr txBox="1"/>
          <p:nvPr/>
        </p:nvSpPr>
        <p:spPr>
          <a:xfrm>
            <a:off x="896112" y="3474720"/>
            <a:ext cx="1920240" cy="219456"/>
          </a:xfrm>
          <a:prstGeom prst="rect">
            <a:avLst/>
          </a:prstGeom>
          <a:noFill/>
          <a:ln/>
        </p:spPr>
        <p:txBody>
          <a:bodyPr wrap="square" lIns="0" tIns="0" rIns="0" bIns="0" rtlCol="0" anchor="t"/>
          <a:lstStyle/>
          <a:p>
            <a:pPr algn="l" indent="0" marL="0">
              <a:buNone/>
            </a:pPr>
            <a:r>
              <a:rPr lang="en-US" sz="1140" dirty="0">
                <a:solidFill>
                  <a:srgbClr val="52606D"/>
                </a:solidFill>
                <a:latin typeface="Consolas" pitchFamily="34" charset="0"/>
                <a:ea typeface="Consolas" pitchFamily="34" charset="-122"/>
                <a:cs typeface="Consolas" pitchFamily="34" charset="-120"/>
              </a:rPr>
              <a:t>-8, -1, 0 …</a:t>
            </a:r>
            <a:endParaRPr lang="en-US" sz="1140" dirty="0"/>
          </a:p>
        </p:txBody>
      </p:sp>
      <p:sp>
        <p:nvSpPr>
          <p:cNvPr id="18" name="Shape 15"/>
          <p:cNvSpPr/>
          <p:nvPr/>
        </p:nvSpPr>
        <p:spPr>
          <a:xfrm>
            <a:off x="3035808" y="3438144"/>
            <a:ext cx="868680" cy="420624"/>
          </a:xfrm>
          <a:prstGeom prst="rect">
            <a:avLst/>
          </a:prstGeom>
          <a:solidFill>
            <a:srgbClr val="B3181E"/>
          </a:solidFill>
          <a:ln w="12700">
            <a:solidFill>
              <a:srgbClr val="B3181E"/>
            </a:solidFill>
            <a:prstDash val="solid"/>
          </a:ln>
        </p:spPr>
      </p:sp>
      <p:sp>
        <p:nvSpPr>
          <p:cNvPr id="19" name="Text 16"/>
          <p:cNvSpPr txBox="1"/>
          <p:nvPr/>
        </p:nvSpPr>
        <p:spPr>
          <a:xfrm>
            <a:off x="3035808" y="3456432"/>
            <a:ext cx="868680"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-5</a:t>
            </a:r>
            <a:endParaRPr lang="en-US" sz="1500" dirty="0"/>
          </a:p>
        </p:txBody>
      </p:sp>
      <p:sp>
        <p:nvSpPr>
          <p:cNvPr id="20" name="Text 17"/>
          <p:cNvSpPr txBox="1"/>
          <p:nvPr/>
        </p:nvSpPr>
        <p:spPr>
          <a:xfrm>
            <a:off x="3035808" y="3813048"/>
            <a:ext cx="868680" cy="155448"/>
          </a:xfrm>
          <a:prstGeom prst="rect">
            <a:avLst/>
          </a:prstGeom>
          <a:noFill/>
          <a:ln/>
        </p:spPr>
        <p:txBody>
          <a:bodyPr wrap="square" lIns="0" tIns="0" rIns="0" bIns="0" rtlCol="0" anchor="t"/>
          <a:lstStyle/>
          <a:p>
            <a:pPr algn="ctr" indent="0" marL="0">
              <a:buNone/>
            </a:pPr>
            <a:r>
              <a:rPr lang="en-US" sz="800" i="1" dirty="0">
                <a:solidFill>
                  <a:srgbClr val="52606D"/>
                </a:solidFill>
                <a:latin typeface="Aptos" pitchFamily="34" charset="0"/>
                <a:ea typeface="Aptos" pitchFamily="34" charset="-122"/>
                <a:cs typeface="Aptos" pitchFamily="34" charset="-120"/>
              </a:rPr>
              <a:t>se prueba este</a:t>
            </a:r>
            <a:endParaRPr lang="en-US" sz="800" dirty="0"/>
          </a:p>
        </p:txBody>
      </p:sp>
      <p:sp>
        <p:nvSpPr>
          <p:cNvPr id="21" name="Shape 18"/>
          <p:cNvSpPr/>
          <p:nvPr/>
        </p:nvSpPr>
        <p:spPr>
          <a:xfrm>
            <a:off x="4379976" y="3072384"/>
            <a:ext cx="3465576" cy="932688"/>
          </a:xfrm>
          <a:prstGeom prst="rect">
            <a:avLst/>
          </a:prstGeom>
          <a:solidFill>
            <a:srgbClr val="E9F6EE"/>
          </a:solidFill>
          <a:ln w="12700">
            <a:solidFill>
              <a:srgbClr val="E9F6EE"/>
            </a:solidFill>
            <a:prstDash val="solid"/>
          </a:ln>
        </p:spPr>
      </p:sp>
      <p:sp>
        <p:nvSpPr>
          <p:cNvPr id="22" name="Shape 19"/>
          <p:cNvSpPr/>
          <p:nvPr/>
        </p:nvSpPr>
        <p:spPr>
          <a:xfrm>
            <a:off x="4379976" y="3072384"/>
            <a:ext cx="3465576" cy="54864"/>
          </a:xfrm>
          <a:prstGeom prst="rect">
            <a:avLst/>
          </a:prstGeom>
          <a:solidFill>
            <a:srgbClr val="2E7D4F"/>
          </a:solidFill>
          <a:ln w="12700">
            <a:solidFill>
              <a:srgbClr val="2E7D4F"/>
            </a:solidFill>
            <a:prstDash val="solid"/>
          </a:ln>
        </p:spPr>
      </p:sp>
      <p:sp>
        <p:nvSpPr>
          <p:cNvPr id="23" name="Text 20"/>
          <p:cNvSpPr txBox="1"/>
          <p:nvPr/>
        </p:nvSpPr>
        <p:spPr>
          <a:xfrm>
            <a:off x="4617720" y="3200400"/>
            <a:ext cx="3017520" cy="237744"/>
          </a:xfrm>
          <a:prstGeom prst="rect">
            <a:avLst/>
          </a:prstGeom>
          <a:noFill/>
          <a:ln/>
        </p:spPr>
        <p:txBody>
          <a:bodyPr wrap="square" lIns="0" tIns="0" rIns="0" bIns="0" rtlCol="0" anchor="t"/>
          <a:lstStyle/>
          <a:p>
            <a:pPr algn="l" indent="0" marL="0">
              <a:buNone/>
            </a:pPr>
            <a:r>
              <a:rPr lang="en-US" sz="1240" b="1" dirty="0">
                <a:solidFill>
                  <a:srgbClr val="243B53"/>
                </a:solidFill>
                <a:latin typeface="Aptos" pitchFamily="34" charset="0"/>
                <a:ea typeface="Aptos" pitchFamily="34" charset="-122"/>
                <a:cs typeface="Aptos" pitchFamily="34" charset="-120"/>
              </a:rPr>
              <a:t>Números de la jornada</a:t>
            </a:r>
            <a:endParaRPr lang="en-US" sz="1240" dirty="0"/>
          </a:p>
        </p:txBody>
      </p:sp>
      <p:sp>
        <p:nvSpPr>
          <p:cNvPr id="24" name="Text 21"/>
          <p:cNvSpPr txBox="1"/>
          <p:nvPr/>
        </p:nvSpPr>
        <p:spPr>
          <a:xfrm>
            <a:off x="4617720" y="3474720"/>
            <a:ext cx="1920240" cy="219456"/>
          </a:xfrm>
          <a:prstGeom prst="rect">
            <a:avLst/>
          </a:prstGeom>
          <a:noFill/>
          <a:ln/>
        </p:spPr>
        <p:txBody>
          <a:bodyPr wrap="square" lIns="0" tIns="0" rIns="0" bIns="0" rtlCol="0" anchor="t"/>
          <a:lstStyle/>
          <a:p>
            <a:pPr algn="l" indent="0" marL="0">
              <a:buNone/>
            </a:pPr>
            <a:r>
              <a:rPr lang="en-US" sz="1140" dirty="0">
                <a:solidFill>
                  <a:srgbClr val="52606D"/>
                </a:solidFill>
                <a:latin typeface="Consolas" pitchFamily="34" charset="0"/>
                <a:ea typeface="Consolas" pitchFamily="34" charset="-122"/>
                <a:cs typeface="Consolas" pitchFamily="34" charset="-120"/>
              </a:rPr>
              <a:t>1, 2, 3 … 8</a:t>
            </a:r>
            <a:endParaRPr lang="en-US" sz="1140" dirty="0"/>
          </a:p>
        </p:txBody>
      </p:sp>
      <p:sp>
        <p:nvSpPr>
          <p:cNvPr id="25" name="Shape 22"/>
          <p:cNvSpPr/>
          <p:nvPr/>
        </p:nvSpPr>
        <p:spPr>
          <a:xfrm>
            <a:off x="6757416" y="3438144"/>
            <a:ext cx="868680" cy="420624"/>
          </a:xfrm>
          <a:prstGeom prst="rect">
            <a:avLst/>
          </a:prstGeom>
          <a:solidFill>
            <a:srgbClr val="2E7D4F"/>
          </a:solidFill>
          <a:ln w="12700">
            <a:solidFill>
              <a:srgbClr val="2E7D4F"/>
            </a:solidFill>
            <a:prstDash val="solid"/>
          </a:ln>
        </p:spPr>
      </p:sp>
      <p:sp>
        <p:nvSpPr>
          <p:cNvPr id="26" name="Text 23"/>
          <p:cNvSpPr txBox="1"/>
          <p:nvPr/>
        </p:nvSpPr>
        <p:spPr>
          <a:xfrm>
            <a:off x="6757416" y="3456432"/>
            <a:ext cx="868680"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4</a:t>
            </a:r>
            <a:endParaRPr lang="en-US" sz="1500" dirty="0"/>
          </a:p>
        </p:txBody>
      </p:sp>
      <p:sp>
        <p:nvSpPr>
          <p:cNvPr id="27" name="Text 24"/>
          <p:cNvSpPr txBox="1"/>
          <p:nvPr/>
        </p:nvSpPr>
        <p:spPr>
          <a:xfrm>
            <a:off x="6757416" y="3813048"/>
            <a:ext cx="868680" cy="155448"/>
          </a:xfrm>
          <a:prstGeom prst="rect">
            <a:avLst/>
          </a:prstGeom>
          <a:noFill/>
          <a:ln/>
        </p:spPr>
        <p:txBody>
          <a:bodyPr wrap="square" lIns="0" tIns="0" rIns="0" bIns="0" rtlCol="0" anchor="t"/>
          <a:lstStyle/>
          <a:p>
            <a:pPr algn="ctr" indent="0" marL="0">
              <a:buNone/>
            </a:pPr>
            <a:r>
              <a:rPr lang="en-US" sz="800" i="1" dirty="0">
                <a:solidFill>
                  <a:srgbClr val="52606D"/>
                </a:solidFill>
                <a:latin typeface="Aptos" pitchFamily="34" charset="0"/>
                <a:ea typeface="Aptos" pitchFamily="34" charset="-122"/>
                <a:cs typeface="Aptos" pitchFamily="34" charset="-120"/>
              </a:rPr>
              <a:t>se prueba este</a:t>
            </a:r>
            <a:endParaRPr lang="en-US" sz="800" dirty="0"/>
          </a:p>
        </p:txBody>
      </p:sp>
      <p:sp>
        <p:nvSpPr>
          <p:cNvPr id="28" name="Shape 25"/>
          <p:cNvSpPr/>
          <p:nvPr/>
        </p:nvSpPr>
        <p:spPr>
          <a:xfrm>
            <a:off x="8101584" y="3072384"/>
            <a:ext cx="3465576" cy="932688"/>
          </a:xfrm>
          <a:prstGeom prst="rect">
            <a:avLst/>
          </a:prstGeom>
          <a:solidFill>
            <a:srgbClr val="F8E4E5"/>
          </a:solidFill>
          <a:ln w="12700">
            <a:solidFill>
              <a:srgbClr val="F8E4E5"/>
            </a:solidFill>
            <a:prstDash val="solid"/>
          </a:ln>
        </p:spPr>
      </p:sp>
      <p:sp>
        <p:nvSpPr>
          <p:cNvPr id="29" name="Shape 26"/>
          <p:cNvSpPr/>
          <p:nvPr/>
        </p:nvSpPr>
        <p:spPr>
          <a:xfrm>
            <a:off x="8101584" y="3072384"/>
            <a:ext cx="3465576" cy="54864"/>
          </a:xfrm>
          <a:prstGeom prst="rect">
            <a:avLst/>
          </a:prstGeom>
          <a:solidFill>
            <a:srgbClr val="B3181E"/>
          </a:solidFill>
          <a:ln w="12700">
            <a:solidFill>
              <a:srgbClr val="B3181E"/>
            </a:solidFill>
            <a:prstDash val="solid"/>
          </a:ln>
        </p:spPr>
      </p:sp>
      <p:sp>
        <p:nvSpPr>
          <p:cNvPr id="30" name="Text 27"/>
          <p:cNvSpPr txBox="1"/>
          <p:nvPr/>
        </p:nvSpPr>
        <p:spPr>
          <a:xfrm>
            <a:off x="8339328" y="3200400"/>
            <a:ext cx="3017520" cy="237744"/>
          </a:xfrm>
          <a:prstGeom prst="rect">
            <a:avLst/>
          </a:prstGeom>
          <a:noFill/>
          <a:ln/>
        </p:spPr>
        <p:txBody>
          <a:bodyPr wrap="square" lIns="0" tIns="0" rIns="0" bIns="0" rtlCol="0" anchor="t"/>
          <a:lstStyle/>
          <a:p>
            <a:pPr algn="l" indent="0" marL="0">
              <a:buNone/>
            </a:pPr>
            <a:r>
              <a:rPr lang="en-US" sz="1240" b="1" dirty="0">
                <a:solidFill>
                  <a:srgbClr val="243B53"/>
                </a:solidFill>
                <a:latin typeface="Aptos" pitchFamily="34" charset="0"/>
                <a:ea typeface="Aptos" pitchFamily="34" charset="-122"/>
                <a:cs typeface="Aptos" pitchFamily="34" charset="-120"/>
              </a:rPr>
              <a:t>Números por encima de la jornada</a:t>
            </a:r>
            <a:endParaRPr lang="en-US" sz="1240" dirty="0"/>
          </a:p>
        </p:txBody>
      </p:sp>
      <p:sp>
        <p:nvSpPr>
          <p:cNvPr id="31" name="Text 28"/>
          <p:cNvSpPr txBox="1"/>
          <p:nvPr/>
        </p:nvSpPr>
        <p:spPr>
          <a:xfrm>
            <a:off x="8339328" y="3474720"/>
            <a:ext cx="1920240" cy="219456"/>
          </a:xfrm>
          <a:prstGeom prst="rect">
            <a:avLst/>
          </a:prstGeom>
          <a:noFill/>
          <a:ln/>
        </p:spPr>
        <p:txBody>
          <a:bodyPr wrap="square" lIns="0" tIns="0" rIns="0" bIns="0" rtlCol="0" anchor="t"/>
          <a:lstStyle/>
          <a:p>
            <a:pPr algn="l" indent="0" marL="0">
              <a:buNone/>
            </a:pPr>
            <a:r>
              <a:rPr lang="en-US" sz="1140" dirty="0">
                <a:solidFill>
                  <a:srgbClr val="52606D"/>
                </a:solidFill>
                <a:latin typeface="Consolas" pitchFamily="34" charset="0"/>
                <a:ea typeface="Consolas" pitchFamily="34" charset="-122"/>
                <a:cs typeface="Consolas" pitchFamily="34" charset="-120"/>
              </a:rPr>
              <a:t>9, 10, 47 …</a:t>
            </a:r>
            <a:endParaRPr lang="en-US" sz="1140" dirty="0"/>
          </a:p>
        </p:txBody>
      </p:sp>
      <p:sp>
        <p:nvSpPr>
          <p:cNvPr id="32" name="Shape 29"/>
          <p:cNvSpPr/>
          <p:nvPr/>
        </p:nvSpPr>
        <p:spPr>
          <a:xfrm>
            <a:off x="10479024" y="3438144"/>
            <a:ext cx="868680" cy="420624"/>
          </a:xfrm>
          <a:prstGeom prst="rect">
            <a:avLst/>
          </a:prstGeom>
          <a:solidFill>
            <a:srgbClr val="B3181E"/>
          </a:solidFill>
          <a:ln w="12700">
            <a:solidFill>
              <a:srgbClr val="B3181E"/>
            </a:solidFill>
            <a:prstDash val="solid"/>
          </a:ln>
        </p:spPr>
      </p:sp>
      <p:sp>
        <p:nvSpPr>
          <p:cNvPr id="33" name="Text 30"/>
          <p:cNvSpPr txBox="1"/>
          <p:nvPr/>
        </p:nvSpPr>
        <p:spPr>
          <a:xfrm>
            <a:off x="10479024" y="3456432"/>
            <a:ext cx="868680"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12</a:t>
            </a:r>
            <a:endParaRPr lang="en-US" sz="1500" dirty="0"/>
          </a:p>
        </p:txBody>
      </p:sp>
      <p:sp>
        <p:nvSpPr>
          <p:cNvPr id="34" name="Text 31"/>
          <p:cNvSpPr txBox="1"/>
          <p:nvPr/>
        </p:nvSpPr>
        <p:spPr>
          <a:xfrm>
            <a:off x="10479024" y="3813048"/>
            <a:ext cx="868680" cy="155448"/>
          </a:xfrm>
          <a:prstGeom prst="rect">
            <a:avLst/>
          </a:prstGeom>
          <a:noFill/>
          <a:ln/>
        </p:spPr>
        <p:txBody>
          <a:bodyPr wrap="square" lIns="0" tIns="0" rIns="0" bIns="0" rtlCol="0" anchor="t"/>
          <a:lstStyle/>
          <a:p>
            <a:pPr algn="ctr" indent="0" marL="0">
              <a:buNone/>
            </a:pPr>
            <a:r>
              <a:rPr lang="en-US" sz="800" i="1" dirty="0">
                <a:solidFill>
                  <a:srgbClr val="52606D"/>
                </a:solidFill>
                <a:latin typeface="Aptos" pitchFamily="34" charset="0"/>
                <a:ea typeface="Aptos" pitchFamily="34" charset="-122"/>
                <a:cs typeface="Aptos" pitchFamily="34" charset="-120"/>
              </a:rPr>
              <a:t>se prueba este</a:t>
            </a:r>
            <a:endParaRPr lang="en-US" sz="800" dirty="0"/>
          </a:p>
        </p:txBody>
      </p:sp>
      <p:sp>
        <p:nvSpPr>
          <p:cNvPr id="35" name="Text 32"/>
          <p:cNvSpPr txBox="1"/>
          <p:nvPr/>
        </p:nvSpPr>
        <p:spPr>
          <a:xfrm>
            <a:off x="658368" y="4279392"/>
            <a:ext cx="6400800" cy="201168"/>
          </a:xfrm>
          <a:prstGeom prst="rect">
            <a:avLst/>
          </a:prstGeom>
          <a:noFill/>
          <a:ln/>
        </p:spPr>
        <p:txBody>
          <a:bodyPr wrap="square" lIns="0" tIns="0" rIns="0" bIns="0" rtlCol="0" anchor="t"/>
          <a:lstStyle/>
          <a:p>
            <a:pPr algn="l" indent="0" marL="0">
              <a:buNone/>
            </a:pPr>
            <a:r>
              <a:rPr lang="en-US" sz="960" b="1" spc="130" kern="0" dirty="0">
                <a:solidFill>
                  <a:srgbClr val="243B53"/>
                </a:solidFill>
                <a:latin typeface="Aptos" pitchFamily="34" charset="0"/>
                <a:ea typeface="Aptos" pitchFamily="34" charset="-122"/>
                <a:cs typeface="Aptos" pitchFamily="34" charset="-120"/>
              </a:rPr>
              <a:t>TRES PALABRAS QUE NO SIGNIFICAN LO MISMO</a:t>
            </a:r>
            <a:endParaRPr lang="en-US" sz="960" dirty="0"/>
          </a:p>
        </p:txBody>
      </p:sp>
      <p:sp>
        <p:nvSpPr>
          <p:cNvPr id="36" name="Shape 33"/>
          <p:cNvSpPr/>
          <p:nvPr/>
        </p:nvSpPr>
        <p:spPr>
          <a:xfrm>
            <a:off x="658368" y="4572000"/>
            <a:ext cx="3465576" cy="804672"/>
          </a:xfrm>
          <a:prstGeom prst="rect">
            <a:avLst/>
          </a:prstGeom>
          <a:solidFill>
            <a:srgbClr val="FFFFFF"/>
          </a:solidFill>
          <a:ln w="12700">
            <a:solidFill>
              <a:srgbClr val="FFFFFF"/>
            </a:solidFill>
            <a:prstDash val="solid"/>
          </a:ln>
        </p:spPr>
      </p:sp>
      <p:sp>
        <p:nvSpPr>
          <p:cNvPr id="37" name="Shape 34"/>
          <p:cNvSpPr/>
          <p:nvPr/>
        </p:nvSpPr>
        <p:spPr>
          <a:xfrm>
            <a:off x="658368" y="4572000"/>
            <a:ext cx="54864" cy="804672"/>
          </a:xfrm>
          <a:prstGeom prst="rect">
            <a:avLst/>
          </a:prstGeom>
          <a:solidFill>
            <a:srgbClr val="102A43"/>
          </a:solidFill>
          <a:ln w="12700">
            <a:solidFill>
              <a:srgbClr val="102A43"/>
            </a:solidFill>
            <a:prstDash val="solid"/>
          </a:ln>
        </p:spPr>
      </p:sp>
      <p:sp>
        <p:nvSpPr>
          <p:cNvPr id="38" name="Text 35"/>
          <p:cNvSpPr txBox="1"/>
          <p:nvPr/>
        </p:nvSpPr>
        <p:spPr>
          <a:xfrm>
            <a:off x="896112" y="4681728"/>
            <a:ext cx="3017520" cy="237744"/>
          </a:xfrm>
          <a:prstGeom prst="rect">
            <a:avLst/>
          </a:prstGeom>
          <a:noFill/>
          <a:ln/>
        </p:spPr>
        <p:txBody>
          <a:bodyPr wrap="square" lIns="0" tIns="0" rIns="0" bIns="0" rtlCol="0" anchor="t"/>
          <a:lstStyle/>
          <a:p>
            <a:pPr algn="l" indent="0" marL="0">
              <a:buNone/>
            </a:pPr>
            <a:r>
              <a:rPr lang="en-US" sz="1300" b="1" dirty="0">
                <a:solidFill>
                  <a:srgbClr val="102A43"/>
                </a:solidFill>
                <a:latin typeface="Aptos" pitchFamily="34" charset="0"/>
                <a:ea typeface="Aptos" pitchFamily="34" charset="-122"/>
                <a:cs typeface="Aptos" pitchFamily="34" charset="-120"/>
              </a:rPr>
              <a:t>La partición</a:t>
            </a:r>
            <a:endParaRPr lang="en-US" sz="1300" dirty="0"/>
          </a:p>
        </p:txBody>
      </p:sp>
      <p:sp>
        <p:nvSpPr>
          <p:cNvPr id="39" name="Text 36"/>
          <p:cNvSpPr txBox="1"/>
          <p:nvPr/>
        </p:nvSpPr>
        <p:spPr>
          <a:xfrm>
            <a:off x="896112" y="4937760"/>
            <a:ext cx="3017520" cy="384048"/>
          </a:xfrm>
          <a:prstGeom prst="rect">
            <a:avLst/>
          </a:prstGeom>
          <a:noFill/>
          <a:ln/>
        </p:spPr>
        <p:txBody>
          <a:bodyPr wrap="square" lIns="0" tIns="0" rIns="0" bIns="0" rtlCol="0" anchor="t"/>
          <a:lstStyle/>
          <a:p>
            <a:pPr algn="l" indent="0" marL="0">
              <a:lnSpc>
                <a:spcPct val="112000"/>
              </a:lnSpc>
              <a:buNone/>
            </a:pPr>
            <a:r>
              <a:rPr lang="en-US" sz="1140" dirty="0">
                <a:solidFill>
                  <a:srgbClr val="243B53"/>
                </a:solidFill>
                <a:latin typeface="Aptos" pitchFamily="34" charset="0"/>
                <a:ea typeface="Aptos" pitchFamily="34" charset="-122"/>
                <a:cs typeface="Aptos" pitchFamily="34" charset="-120"/>
              </a:rPr>
              <a:t>La división completa: los tres grupos juntos, sin que sobre ni falte ningún valor.</a:t>
            </a:r>
            <a:endParaRPr lang="en-US" sz="1140" dirty="0"/>
          </a:p>
        </p:txBody>
      </p:sp>
      <p:sp>
        <p:nvSpPr>
          <p:cNvPr id="40" name="Shape 37"/>
          <p:cNvSpPr/>
          <p:nvPr/>
        </p:nvSpPr>
        <p:spPr>
          <a:xfrm>
            <a:off x="4379976" y="4572000"/>
            <a:ext cx="3465576" cy="804672"/>
          </a:xfrm>
          <a:prstGeom prst="rect">
            <a:avLst/>
          </a:prstGeom>
          <a:solidFill>
            <a:srgbClr val="FFFFFF"/>
          </a:solidFill>
          <a:ln w="12700">
            <a:solidFill>
              <a:srgbClr val="FFFFFF"/>
            </a:solidFill>
            <a:prstDash val="solid"/>
          </a:ln>
        </p:spPr>
      </p:sp>
      <p:sp>
        <p:nvSpPr>
          <p:cNvPr id="41" name="Shape 38"/>
          <p:cNvSpPr/>
          <p:nvPr/>
        </p:nvSpPr>
        <p:spPr>
          <a:xfrm>
            <a:off x="4379976" y="4572000"/>
            <a:ext cx="54864" cy="804672"/>
          </a:xfrm>
          <a:prstGeom prst="rect">
            <a:avLst/>
          </a:prstGeom>
          <a:solidFill>
            <a:srgbClr val="8A6A12"/>
          </a:solidFill>
          <a:ln w="12700">
            <a:solidFill>
              <a:srgbClr val="8A6A12"/>
            </a:solidFill>
            <a:prstDash val="solid"/>
          </a:ln>
        </p:spPr>
      </p:sp>
      <p:sp>
        <p:nvSpPr>
          <p:cNvPr id="42" name="Text 39"/>
          <p:cNvSpPr txBox="1"/>
          <p:nvPr/>
        </p:nvSpPr>
        <p:spPr>
          <a:xfrm>
            <a:off x="4617720" y="4681728"/>
            <a:ext cx="3017520" cy="237744"/>
          </a:xfrm>
          <a:prstGeom prst="rect">
            <a:avLst/>
          </a:prstGeom>
          <a:noFill/>
          <a:ln/>
        </p:spPr>
        <p:txBody>
          <a:bodyPr wrap="square" lIns="0" tIns="0" rIns="0" bIns="0" rtlCol="0" anchor="t"/>
          <a:lstStyle/>
          <a:p>
            <a:pPr algn="l" indent="0" marL="0">
              <a:buNone/>
            </a:pPr>
            <a:r>
              <a:rPr lang="en-US" sz="1300" b="1" dirty="0">
                <a:solidFill>
                  <a:srgbClr val="8A6A12"/>
                </a:solidFill>
                <a:latin typeface="Aptos" pitchFamily="34" charset="0"/>
                <a:ea typeface="Aptos" pitchFamily="34" charset="-122"/>
                <a:cs typeface="Aptos" pitchFamily="34" charset="-120"/>
              </a:rPr>
              <a:t>Una clase</a:t>
            </a:r>
            <a:endParaRPr lang="en-US" sz="1300" dirty="0"/>
          </a:p>
        </p:txBody>
      </p:sp>
      <p:sp>
        <p:nvSpPr>
          <p:cNvPr id="43" name="Text 40"/>
          <p:cNvSpPr txBox="1"/>
          <p:nvPr/>
        </p:nvSpPr>
        <p:spPr>
          <a:xfrm>
            <a:off x="4617720" y="4937760"/>
            <a:ext cx="3017520" cy="384048"/>
          </a:xfrm>
          <a:prstGeom prst="rect">
            <a:avLst/>
          </a:prstGeom>
          <a:noFill/>
          <a:ln/>
        </p:spPr>
        <p:txBody>
          <a:bodyPr wrap="square" lIns="0" tIns="0" rIns="0" bIns="0" rtlCol="0" anchor="t"/>
          <a:lstStyle/>
          <a:p>
            <a:pPr algn="l" indent="0" marL="0">
              <a:lnSpc>
                <a:spcPct val="112000"/>
              </a:lnSpc>
              <a:buNone/>
            </a:pPr>
            <a:r>
              <a:rPr lang="en-US" sz="1140" dirty="0">
                <a:solidFill>
                  <a:srgbClr val="243B53"/>
                </a:solidFill>
                <a:latin typeface="Aptos" pitchFamily="34" charset="0"/>
                <a:ea typeface="Aptos" pitchFamily="34" charset="-122"/>
                <a:cs typeface="Aptos" pitchFamily="34" charset="-120"/>
              </a:rPr>
              <a:t>Cada uno de esos grupos. La norma la llama «partición de equivalencia».</a:t>
            </a:r>
            <a:endParaRPr lang="en-US" sz="1140" dirty="0"/>
          </a:p>
        </p:txBody>
      </p:sp>
      <p:sp>
        <p:nvSpPr>
          <p:cNvPr id="44" name="Shape 41"/>
          <p:cNvSpPr/>
          <p:nvPr/>
        </p:nvSpPr>
        <p:spPr>
          <a:xfrm>
            <a:off x="8101584" y="4572000"/>
            <a:ext cx="3465576" cy="804672"/>
          </a:xfrm>
          <a:prstGeom prst="rect">
            <a:avLst/>
          </a:prstGeom>
          <a:solidFill>
            <a:srgbClr val="FFFFFF"/>
          </a:solidFill>
          <a:ln w="12700">
            <a:solidFill>
              <a:srgbClr val="FFFFFF"/>
            </a:solidFill>
            <a:prstDash val="solid"/>
          </a:ln>
        </p:spPr>
      </p:sp>
      <p:sp>
        <p:nvSpPr>
          <p:cNvPr id="45" name="Shape 42"/>
          <p:cNvSpPr/>
          <p:nvPr/>
        </p:nvSpPr>
        <p:spPr>
          <a:xfrm>
            <a:off x="8101584" y="4572000"/>
            <a:ext cx="54864" cy="804672"/>
          </a:xfrm>
          <a:prstGeom prst="rect">
            <a:avLst/>
          </a:prstGeom>
          <a:solidFill>
            <a:srgbClr val="2E7D4F"/>
          </a:solidFill>
          <a:ln w="12700">
            <a:solidFill>
              <a:srgbClr val="2E7D4F"/>
            </a:solidFill>
            <a:prstDash val="solid"/>
          </a:ln>
        </p:spPr>
      </p:sp>
      <p:sp>
        <p:nvSpPr>
          <p:cNvPr id="46" name="Text 43"/>
          <p:cNvSpPr txBox="1"/>
          <p:nvPr/>
        </p:nvSpPr>
        <p:spPr>
          <a:xfrm>
            <a:off x="8339328" y="4681728"/>
            <a:ext cx="3017520" cy="237744"/>
          </a:xfrm>
          <a:prstGeom prst="rect">
            <a:avLst/>
          </a:prstGeom>
          <a:noFill/>
          <a:ln/>
        </p:spPr>
        <p:txBody>
          <a:bodyPr wrap="square" lIns="0" tIns="0" rIns="0" bIns="0" rtlCol="0" anchor="t"/>
          <a:lstStyle/>
          <a:p>
            <a:pPr algn="l" indent="0" marL="0">
              <a:buNone/>
            </a:pPr>
            <a:r>
              <a:rPr lang="en-US" sz="1300" b="1" dirty="0">
                <a:solidFill>
                  <a:srgbClr val="2E7D4F"/>
                </a:solidFill>
                <a:latin typeface="Aptos" pitchFamily="34" charset="0"/>
                <a:ea typeface="Aptos" pitchFamily="34" charset="-122"/>
                <a:cs typeface="Aptos" pitchFamily="34" charset="-120"/>
              </a:rPr>
              <a:t>El representante</a:t>
            </a:r>
            <a:endParaRPr lang="en-US" sz="1300" dirty="0"/>
          </a:p>
        </p:txBody>
      </p:sp>
      <p:sp>
        <p:nvSpPr>
          <p:cNvPr id="47" name="Text 44"/>
          <p:cNvSpPr txBox="1"/>
          <p:nvPr/>
        </p:nvSpPr>
        <p:spPr>
          <a:xfrm>
            <a:off x="8339328" y="4937760"/>
            <a:ext cx="3017520" cy="384048"/>
          </a:xfrm>
          <a:prstGeom prst="rect">
            <a:avLst/>
          </a:prstGeom>
          <a:noFill/>
          <a:ln/>
        </p:spPr>
        <p:txBody>
          <a:bodyPr wrap="square" lIns="0" tIns="0" rIns="0" bIns="0" rtlCol="0" anchor="t"/>
          <a:lstStyle/>
          <a:p>
            <a:pPr algn="l" indent="0" marL="0">
              <a:lnSpc>
                <a:spcPct val="112000"/>
              </a:lnSpc>
              <a:buNone/>
            </a:pPr>
            <a:r>
              <a:rPr lang="en-US" sz="1140" dirty="0">
                <a:solidFill>
                  <a:srgbClr val="243B53"/>
                </a:solidFill>
                <a:latin typeface="Aptos" pitchFamily="34" charset="0"/>
                <a:ea typeface="Aptos" pitchFamily="34" charset="-122"/>
                <a:cs typeface="Aptos" pitchFamily="34" charset="-120"/>
              </a:rPr>
              <a:t>El valor de la clase que efectivamente se ejecuta en la prueba.</a:t>
            </a:r>
            <a:endParaRPr lang="en-US" sz="1140" dirty="0"/>
          </a:p>
        </p:txBody>
      </p:sp>
      <p:sp>
        <p:nvSpPr>
          <p:cNvPr id="48" name="Shape 45"/>
          <p:cNvSpPr/>
          <p:nvPr/>
        </p:nvSpPr>
        <p:spPr>
          <a:xfrm>
            <a:off x="658368" y="5559552"/>
            <a:ext cx="10874959" cy="548640"/>
          </a:xfrm>
          <a:prstGeom prst="rect">
            <a:avLst/>
          </a:prstGeom>
          <a:solidFill>
            <a:srgbClr val="102A43"/>
          </a:solidFill>
          <a:ln w="12700">
            <a:solidFill>
              <a:srgbClr val="102A43"/>
            </a:solidFill>
            <a:prstDash val="solid"/>
          </a:ln>
        </p:spPr>
      </p:sp>
      <p:sp>
        <p:nvSpPr>
          <p:cNvPr id="49" name="Text 46"/>
          <p:cNvSpPr txBox="1"/>
          <p:nvPr/>
        </p:nvSpPr>
        <p:spPr>
          <a:xfrm>
            <a:off x="969264" y="5596128"/>
            <a:ext cx="10253167" cy="475488"/>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La apuesta: si dos valores están en la misma clase, el programa debería tratarlos igual, así que basta probar uno.</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29</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ANTES DE ESCRIBIR LA TABLA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Cómo se escribe «pertenece a este grupo»</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Cada clase se define con una condición. Cuatro símbolos alcanzan, y la diferencia entre dos de ellos importa.</a:t>
            </a:r>
            <a:endParaRPr lang="en-US" sz="1450" dirty="0"/>
          </a:p>
        </p:txBody>
      </p:sp>
      <p:sp>
        <p:nvSpPr>
          <p:cNvPr id="11" name="Shape 8"/>
          <p:cNvSpPr/>
          <p:nvPr/>
        </p:nvSpPr>
        <p:spPr>
          <a:xfrm>
            <a:off x="658368" y="2286000"/>
            <a:ext cx="2624328" cy="1371600"/>
          </a:xfrm>
          <a:prstGeom prst="rect">
            <a:avLst/>
          </a:prstGeom>
          <a:solidFill>
            <a:srgbClr val="FFFFFF"/>
          </a:solidFill>
          <a:ln w="12700">
            <a:solidFill>
              <a:srgbClr val="FFFFFF"/>
            </a:solidFill>
            <a:prstDash val="solid"/>
          </a:ln>
        </p:spPr>
      </p:sp>
      <p:sp>
        <p:nvSpPr>
          <p:cNvPr id="12" name="Shape 9"/>
          <p:cNvSpPr/>
          <p:nvPr/>
        </p:nvSpPr>
        <p:spPr>
          <a:xfrm>
            <a:off x="658368" y="2286000"/>
            <a:ext cx="2624328" cy="54864"/>
          </a:xfrm>
          <a:prstGeom prst="rect">
            <a:avLst/>
          </a:prstGeom>
          <a:solidFill>
            <a:srgbClr val="B3181E"/>
          </a:solidFill>
          <a:ln w="12700">
            <a:solidFill>
              <a:srgbClr val="B3181E"/>
            </a:solidFill>
            <a:prstDash val="solid"/>
          </a:ln>
        </p:spPr>
      </p:sp>
      <p:sp>
        <p:nvSpPr>
          <p:cNvPr id="13" name="Text 10"/>
          <p:cNvSpPr txBox="1"/>
          <p:nvPr/>
        </p:nvSpPr>
        <p:spPr>
          <a:xfrm>
            <a:off x="859536" y="2395728"/>
            <a:ext cx="731520" cy="420624"/>
          </a:xfrm>
          <a:prstGeom prst="rect">
            <a:avLst/>
          </a:prstGeom>
          <a:noFill/>
          <a:ln/>
        </p:spPr>
        <p:txBody>
          <a:bodyPr wrap="square" lIns="0" tIns="0" rIns="0" bIns="0" rtlCol="0" anchor="t"/>
          <a:lstStyle/>
          <a:p>
            <a:pPr algn="l" indent="0" marL="0">
              <a:buNone/>
            </a:pPr>
            <a:r>
              <a:rPr lang="en-US" sz="2400" b="1" dirty="0">
                <a:solidFill>
                  <a:srgbClr val="B3181E"/>
                </a:solidFill>
                <a:latin typeface="Consolas" pitchFamily="34" charset="0"/>
                <a:ea typeface="Consolas" pitchFamily="34" charset="-122"/>
                <a:cs typeface="Consolas" pitchFamily="34" charset="-120"/>
              </a:rPr>
              <a:t>&lt;</a:t>
            </a:r>
            <a:endParaRPr lang="en-US" sz="2400" dirty="0"/>
          </a:p>
        </p:txBody>
      </p:sp>
      <p:sp>
        <p:nvSpPr>
          <p:cNvPr id="14" name="Text 11"/>
          <p:cNvSpPr txBox="1"/>
          <p:nvPr/>
        </p:nvSpPr>
        <p:spPr>
          <a:xfrm>
            <a:off x="1591056" y="2487168"/>
            <a:ext cx="1490472" cy="292608"/>
          </a:xfrm>
          <a:prstGeom prst="rect">
            <a:avLst/>
          </a:prstGeom>
          <a:noFill/>
          <a:ln/>
        </p:spPr>
        <p:txBody>
          <a:bodyPr wrap="square" lIns="0" tIns="0" rIns="0" bIns="0" rtlCol="0" anchor="t"/>
          <a:lstStyle/>
          <a:p>
            <a:pPr algn="l" indent="0" marL="0">
              <a:lnSpc>
                <a:spcPct val="110000"/>
              </a:lnSpc>
              <a:buNone/>
            </a:pPr>
            <a:r>
              <a:rPr lang="en-US" sz="1200" b="1" dirty="0">
                <a:solidFill>
                  <a:srgbClr val="243B53"/>
                </a:solidFill>
                <a:latin typeface="Aptos" pitchFamily="34" charset="0"/>
                <a:ea typeface="Aptos" pitchFamily="34" charset="-122"/>
                <a:cs typeface="Aptos" pitchFamily="34" charset="-120"/>
              </a:rPr>
              <a:t>menor que</a:t>
            </a:r>
            <a:endParaRPr lang="en-US" sz="1200" dirty="0"/>
          </a:p>
        </p:txBody>
      </p:sp>
      <p:sp>
        <p:nvSpPr>
          <p:cNvPr id="15" name="Text 12"/>
          <p:cNvSpPr txBox="1"/>
          <p:nvPr/>
        </p:nvSpPr>
        <p:spPr>
          <a:xfrm>
            <a:off x="859536" y="2926080"/>
            <a:ext cx="2221992" cy="237744"/>
          </a:xfrm>
          <a:prstGeom prst="rect">
            <a:avLst/>
          </a:prstGeom>
          <a:noFill/>
          <a:ln/>
        </p:spPr>
        <p:txBody>
          <a:bodyPr wrap="square" lIns="0" tIns="0" rIns="0" bIns="0" rtlCol="0" anchor="t"/>
          <a:lstStyle/>
          <a:p>
            <a:pPr algn="l" indent="0" marL="0">
              <a:buNone/>
            </a:pPr>
            <a:r>
              <a:rPr lang="en-US" sz="1200" dirty="0">
                <a:solidFill>
                  <a:srgbClr val="243B53"/>
                </a:solidFill>
                <a:latin typeface="Consolas" pitchFamily="34" charset="0"/>
                <a:ea typeface="Consolas" pitchFamily="34" charset="-122"/>
                <a:cs typeface="Consolas" pitchFamily="34" charset="-120"/>
              </a:rPr>
              <a:t>bloque &lt; 1</a:t>
            </a:r>
            <a:endParaRPr lang="en-US" sz="1200" dirty="0"/>
          </a:p>
        </p:txBody>
      </p:sp>
      <p:sp>
        <p:nvSpPr>
          <p:cNvPr id="16" name="Text 13"/>
          <p:cNvSpPr txBox="1"/>
          <p:nvPr/>
        </p:nvSpPr>
        <p:spPr>
          <a:xfrm>
            <a:off x="859536" y="3200400"/>
            <a:ext cx="2221992" cy="384048"/>
          </a:xfrm>
          <a:prstGeom prst="rect">
            <a:avLst/>
          </a:prstGeom>
          <a:noFill/>
          <a:ln/>
        </p:spPr>
        <p:txBody>
          <a:bodyPr wrap="square" lIns="0" tIns="0" rIns="0" bIns="0" rtlCol="0" anchor="t"/>
          <a:lstStyle/>
          <a:p>
            <a:pPr algn="l" indent="0" marL="0">
              <a:lnSpc>
                <a:spcPct val="112000"/>
              </a:lnSpc>
              <a:buNone/>
            </a:pPr>
            <a:r>
              <a:rPr lang="en-US" sz="1100" dirty="0">
                <a:solidFill>
                  <a:srgbClr val="243B53"/>
                </a:solidFill>
                <a:latin typeface="Aptos" pitchFamily="34" charset="0"/>
                <a:ea typeface="Aptos" pitchFamily="34" charset="-122"/>
                <a:cs typeface="Aptos" pitchFamily="34" charset="-120"/>
              </a:rPr>
              <a:t>El 1 NO entra. Entran 0, -1, -2…</a:t>
            </a:r>
            <a:endParaRPr lang="en-US" sz="1100" dirty="0"/>
          </a:p>
        </p:txBody>
      </p:sp>
      <p:sp>
        <p:nvSpPr>
          <p:cNvPr id="17" name="Shape 14"/>
          <p:cNvSpPr/>
          <p:nvPr/>
        </p:nvSpPr>
        <p:spPr>
          <a:xfrm>
            <a:off x="3410712" y="2286000"/>
            <a:ext cx="2624328" cy="1371600"/>
          </a:xfrm>
          <a:prstGeom prst="rect">
            <a:avLst/>
          </a:prstGeom>
          <a:solidFill>
            <a:srgbClr val="FFFFFF"/>
          </a:solidFill>
          <a:ln w="12700">
            <a:solidFill>
              <a:srgbClr val="FFFFFF"/>
            </a:solidFill>
            <a:prstDash val="solid"/>
          </a:ln>
        </p:spPr>
      </p:sp>
      <p:sp>
        <p:nvSpPr>
          <p:cNvPr id="18" name="Shape 15"/>
          <p:cNvSpPr/>
          <p:nvPr/>
        </p:nvSpPr>
        <p:spPr>
          <a:xfrm>
            <a:off x="3410712" y="2286000"/>
            <a:ext cx="2624328" cy="54864"/>
          </a:xfrm>
          <a:prstGeom prst="rect">
            <a:avLst/>
          </a:prstGeom>
          <a:solidFill>
            <a:srgbClr val="2E7D4F"/>
          </a:solidFill>
          <a:ln w="12700">
            <a:solidFill>
              <a:srgbClr val="2E7D4F"/>
            </a:solidFill>
            <a:prstDash val="solid"/>
          </a:ln>
        </p:spPr>
      </p:sp>
      <p:sp>
        <p:nvSpPr>
          <p:cNvPr id="19" name="Text 16"/>
          <p:cNvSpPr txBox="1"/>
          <p:nvPr/>
        </p:nvSpPr>
        <p:spPr>
          <a:xfrm>
            <a:off x="3611880" y="2395728"/>
            <a:ext cx="731520" cy="420624"/>
          </a:xfrm>
          <a:prstGeom prst="rect">
            <a:avLst/>
          </a:prstGeom>
          <a:noFill/>
          <a:ln/>
        </p:spPr>
        <p:txBody>
          <a:bodyPr wrap="square" lIns="0" tIns="0" rIns="0" bIns="0" rtlCol="0" anchor="t"/>
          <a:lstStyle/>
          <a:p>
            <a:pPr algn="l" indent="0" marL="0">
              <a:buNone/>
            </a:pPr>
            <a:r>
              <a:rPr lang="en-US" sz="2400" b="1" dirty="0">
                <a:solidFill>
                  <a:srgbClr val="2E7D4F"/>
                </a:solidFill>
                <a:latin typeface="Consolas" pitchFamily="34" charset="0"/>
                <a:ea typeface="Consolas" pitchFamily="34" charset="-122"/>
                <a:cs typeface="Consolas" pitchFamily="34" charset="-120"/>
              </a:rPr>
              <a:t>&lt;=</a:t>
            </a:r>
            <a:endParaRPr lang="en-US" sz="2400" dirty="0"/>
          </a:p>
        </p:txBody>
      </p:sp>
      <p:sp>
        <p:nvSpPr>
          <p:cNvPr id="20" name="Text 17"/>
          <p:cNvSpPr txBox="1"/>
          <p:nvPr/>
        </p:nvSpPr>
        <p:spPr>
          <a:xfrm>
            <a:off x="4343400" y="2487168"/>
            <a:ext cx="1490472" cy="292608"/>
          </a:xfrm>
          <a:prstGeom prst="rect">
            <a:avLst/>
          </a:prstGeom>
          <a:noFill/>
          <a:ln/>
        </p:spPr>
        <p:txBody>
          <a:bodyPr wrap="square" lIns="0" tIns="0" rIns="0" bIns="0" rtlCol="0" anchor="t"/>
          <a:lstStyle/>
          <a:p>
            <a:pPr algn="l" indent="0" marL="0">
              <a:lnSpc>
                <a:spcPct val="110000"/>
              </a:lnSpc>
              <a:buNone/>
            </a:pPr>
            <a:r>
              <a:rPr lang="en-US" sz="1200" b="1" dirty="0">
                <a:solidFill>
                  <a:srgbClr val="243B53"/>
                </a:solidFill>
                <a:latin typeface="Aptos" pitchFamily="34" charset="0"/>
                <a:ea typeface="Aptos" pitchFamily="34" charset="-122"/>
                <a:cs typeface="Aptos" pitchFamily="34" charset="-120"/>
              </a:rPr>
              <a:t>menor o igual que</a:t>
            </a:r>
            <a:endParaRPr lang="en-US" sz="1200" dirty="0"/>
          </a:p>
        </p:txBody>
      </p:sp>
      <p:sp>
        <p:nvSpPr>
          <p:cNvPr id="21" name="Text 18"/>
          <p:cNvSpPr txBox="1"/>
          <p:nvPr/>
        </p:nvSpPr>
        <p:spPr>
          <a:xfrm>
            <a:off x="3611880" y="2926080"/>
            <a:ext cx="2221992" cy="237744"/>
          </a:xfrm>
          <a:prstGeom prst="rect">
            <a:avLst/>
          </a:prstGeom>
          <a:noFill/>
          <a:ln/>
        </p:spPr>
        <p:txBody>
          <a:bodyPr wrap="square" lIns="0" tIns="0" rIns="0" bIns="0" rtlCol="0" anchor="t"/>
          <a:lstStyle/>
          <a:p>
            <a:pPr algn="l" indent="0" marL="0">
              <a:buNone/>
            </a:pPr>
            <a:r>
              <a:rPr lang="en-US" sz="1200" dirty="0">
                <a:solidFill>
                  <a:srgbClr val="243B53"/>
                </a:solidFill>
                <a:latin typeface="Consolas" pitchFamily="34" charset="0"/>
                <a:ea typeface="Consolas" pitchFamily="34" charset="-122"/>
                <a:cs typeface="Consolas" pitchFamily="34" charset="-120"/>
              </a:rPr>
              <a:t>bloque &lt;= 8</a:t>
            </a:r>
            <a:endParaRPr lang="en-US" sz="1200" dirty="0"/>
          </a:p>
        </p:txBody>
      </p:sp>
      <p:sp>
        <p:nvSpPr>
          <p:cNvPr id="22" name="Text 19"/>
          <p:cNvSpPr txBox="1"/>
          <p:nvPr/>
        </p:nvSpPr>
        <p:spPr>
          <a:xfrm>
            <a:off x="3611880" y="3200400"/>
            <a:ext cx="2221992" cy="384048"/>
          </a:xfrm>
          <a:prstGeom prst="rect">
            <a:avLst/>
          </a:prstGeom>
          <a:noFill/>
          <a:ln/>
        </p:spPr>
        <p:txBody>
          <a:bodyPr wrap="square" lIns="0" tIns="0" rIns="0" bIns="0" rtlCol="0" anchor="t"/>
          <a:lstStyle/>
          <a:p>
            <a:pPr algn="l" indent="0" marL="0">
              <a:lnSpc>
                <a:spcPct val="112000"/>
              </a:lnSpc>
              <a:buNone/>
            </a:pPr>
            <a:r>
              <a:rPr lang="en-US" sz="1100" dirty="0">
                <a:solidFill>
                  <a:srgbClr val="243B53"/>
                </a:solidFill>
                <a:latin typeface="Aptos" pitchFamily="34" charset="0"/>
                <a:ea typeface="Aptos" pitchFamily="34" charset="-122"/>
                <a:cs typeface="Aptos" pitchFamily="34" charset="-120"/>
              </a:rPr>
              <a:t>El 8 SÍ entra. Y también 7, 6, 5…</a:t>
            </a:r>
            <a:endParaRPr lang="en-US" sz="1100" dirty="0"/>
          </a:p>
        </p:txBody>
      </p:sp>
      <p:sp>
        <p:nvSpPr>
          <p:cNvPr id="23" name="Shape 20"/>
          <p:cNvSpPr/>
          <p:nvPr/>
        </p:nvSpPr>
        <p:spPr>
          <a:xfrm>
            <a:off x="6163056" y="2286000"/>
            <a:ext cx="2624328" cy="1371600"/>
          </a:xfrm>
          <a:prstGeom prst="rect">
            <a:avLst/>
          </a:prstGeom>
          <a:solidFill>
            <a:srgbClr val="FFFFFF"/>
          </a:solidFill>
          <a:ln w="12700">
            <a:solidFill>
              <a:srgbClr val="FFFFFF"/>
            </a:solidFill>
            <a:prstDash val="solid"/>
          </a:ln>
        </p:spPr>
      </p:sp>
      <p:sp>
        <p:nvSpPr>
          <p:cNvPr id="24" name="Shape 21"/>
          <p:cNvSpPr/>
          <p:nvPr/>
        </p:nvSpPr>
        <p:spPr>
          <a:xfrm>
            <a:off x="6163056" y="2286000"/>
            <a:ext cx="2624328" cy="54864"/>
          </a:xfrm>
          <a:prstGeom prst="rect">
            <a:avLst/>
          </a:prstGeom>
          <a:solidFill>
            <a:srgbClr val="B3181E"/>
          </a:solidFill>
          <a:ln w="12700">
            <a:solidFill>
              <a:srgbClr val="B3181E"/>
            </a:solidFill>
            <a:prstDash val="solid"/>
          </a:ln>
        </p:spPr>
      </p:sp>
      <p:sp>
        <p:nvSpPr>
          <p:cNvPr id="25" name="Text 22"/>
          <p:cNvSpPr txBox="1"/>
          <p:nvPr/>
        </p:nvSpPr>
        <p:spPr>
          <a:xfrm>
            <a:off x="6364224" y="2395728"/>
            <a:ext cx="731520" cy="420624"/>
          </a:xfrm>
          <a:prstGeom prst="rect">
            <a:avLst/>
          </a:prstGeom>
          <a:noFill/>
          <a:ln/>
        </p:spPr>
        <p:txBody>
          <a:bodyPr wrap="square" lIns="0" tIns="0" rIns="0" bIns="0" rtlCol="0" anchor="t"/>
          <a:lstStyle/>
          <a:p>
            <a:pPr algn="l" indent="0" marL="0">
              <a:buNone/>
            </a:pPr>
            <a:r>
              <a:rPr lang="en-US" sz="2400" b="1" dirty="0">
                <a:solidFill>
                  <a:srgbClr val="B3181E"/>
                </a:solidFill>
                <a:latin typeface="Consolas" pitchFamily="34" charset="0"/>
                <a:ea typeface="Consolas" pitchFamily="34" charset="-122"/>
                <a:cs typeface="Consolas" pitchFamily="34" charset="-120"/>
              </a:rPr>
              <a:t>&gt;</a:t>
            </a:r>
            <a:endParaRPr lang="en-US" sz="2400" dirty="0"/>
          </a:p>
        </p:txBody>
      </p:sp>
      <p:sp>
        <p:nvSpPr>
          <p:cNvPr id="26" name="Text 23"/>
          <p:cNvSpPr txBox="1"/>
          <p:nvPr/>
        </p:nvSpPr>
        <p:spPr>
          <a:xfrm>
            <a:off x="7095744" y="2487168"/>
            <a:ext cx="1490472" cy="292608"/>
          </a:xfrm>
          <a:prstGeom prst="rect">
            <a:avLst/>
          </a:prstGeom>
          <a:noFill/>
          <a:ln/>
        </p:spPr>
        <p:txBody>
          <a:bodyPr wrap="square" lIns="0" tIns="0" rIns="0" bIns="0" rtlCol="0" anchor="t"/>
          <a:lstStyle/>
          <a:p>
            <a:pPr algn="l" indent="0" marL="0">
              <a:lnSpc>
                <a:spcPct val="110000"/>
              </a:lnSpc>
              <a:buNone/>
            </a:pPr>
            <a:r>
              <a:rPr lang="en-US" sz="1200" b="1" dirty="0">
                <a:solidFill>
                  <a:srgbClr val="243B53"/>
                </a:solidFill>
                <a:latin typeface="Aptos" pitchFamily="34" charset="0"/>
                <a:ea typeface="Aptos" pitchFamily="34" charset="-122"/>
                <a:cs typeface="Aptos" pitchFamily="34" charset="-120"/>
              </a:rPr>
              <a:t>mayor que</a:t>
            </a:r>
            <a:endParaRPr lang="en-US" sz="1200" dirty="0"/>
          </a:p>
        </p:txBody>
      </p:sp>
      <p:sp>
        <p:nvSpPr>
          <p:cNvPr id="27" name="Text 24"/>
          <p:cNvSpPr txBox="1"/>
          <p:nvPr/>
        </p:nvSpPr>
        <p:spPr>
          <a:xfrm>
            <a:off x="6364224" y="2926080"/>
            <a:ext cx="2221992" cy="237744"/>
          </a:xfrm>
          <a:prstGeom prst="rect">
            <a:avLst/>
          </a:prstGeom>
          <a:noFill/>
          <a:ln/>
        </p:spPr>
        <p:txBody>
          <a:bodyPr wrap="square" lIns="0" tIns="0" rIns="0" bIns="0" rtlCol="0" anchor="t"/>
          <a:lstStyle/>
          <a:p>
            <a:pPr algn="l" indent="0" marL="0">
              <a:buNone/>
            </a:pPr>
            <a:r>
              <a:rPr lang="en-US" sz="1200" dirty="0">
                <a:solidFill>
                  <a:srgbClr val="243B53"/>
                </a:solidFill>
                <a:latin typeface="Consolas" pitchFamily="34" charset="0"/>
                <a:ea typeface="Consolas" pitchFamily="34" charset="-122"/>
                <a:cs typeface="Consolas" pitchFamily="34" charset="-120"/>
              </a:rPr>
              <a:t>bloque &gt; 8</a:t>
            </a:r>
            <a:endParaRPr lang="en-US" sz="1200" dirty="0"/>
          </a:p>
        </p:txBody>
      </p:sp>
      <p:sp>
        <p:nvSpPr>
          <p:cNvPr id="28" name="Text 25"/>
          <p:cNvSpPr txBox="1"/>
          <p:nvPr/>
        </p:nvSpPr>
        <p:spPr>
          <a:xfrm>
            <a:off x="6364224" y="3200400"/>
            <a:ext cx="2221992" cy="384048"/>
          </a:xfrm>
          <a:prstGeom prst="rect">
            <a:avLst/>
          </a:prstGeom>
          <a:noFill/>
          <a:ln/>
        </p:spPr>
        <p:txBody>
          <a:bodyPr wrap="square" lIns="0" tIns="0" rIns="0" bIns="0" rtlCol="0" anchor="t"/>
          <a:lstStyle/>
          <a:p>
            <a:pPr algn="l" indent="0" marL="0">
              <a:lnSpc>
                <a:spcPct val="112000"/>
              </a:lnSpc>
              <a:buNone/>
            </a:pPr>
            <a:r>
              <a:rPr lang="en-US" sz="1100" dirty="0">
                <a:solidFill>
                  <a:srgbClr val="243B53"/>
                </a:solidFill>
                <a:latin typeface="Aptos" pitchFamily="34" charset="0"/>
                <a:ea typeface="Aptos" pitchFamily="34" charset="-122"/>
                <a:cs typeface="Aptos" pitchFamily="34" charset="-120"/>
              </a:rPr>
              <a:t>El 8 NO entra. Entran 9, 10, 11…</a:t>
            </a:r>
            <a:endParaRPr lang="en-US" sz="1100" dirty="0"/>
          </a:p>
        </p:txBody>
      </p:sp>
      <p:sp>
        <p:nvSpPr>
          <p:cNvPr id="29" name="Shape 26"/>
          <p:cNvSpPr/>
          <p:nvPr/>
        </p:nvSpPr>
        <p:spPr>
          <a:xfrm>
            <a:off x="8915400" y="2286000"/>
            <a:ext cx="2624328" cy="1371600"/>
          </a:xfrm>
          <a:prstGeom prst="rect">
            <a:avLst/>
          </a:prstGeom>
          <a:solidFill>
            <a:srgbClr val="FFFFFF"/>
          </a:solidFill>
          <a:ln w="12700">
            <a:solidFill>
              <a:srgbClr val="FFFFFF"/>
            </a:solidFill>
            <a:prstDash val="solid"/>
          </a:ln>
        </p:spPr>
      </p:sp>
      <p:sp>
        <p:nvSpPr>
          <p:cNvPr id="30" name="Shape 27"/>
          <p:cNvSpPr/>
          <p:nvPr/>
        </p:nvSpPr>
        <p:spPr>
          <a:xfrm>
            <a:off x="8915400" y="2286000"/>
            <a:ext cx="2624328" cy="54864"/>
          </a:xfrm>
          <a:prstGeom prst="rect">
            <a:avLst/>
          </a:prstGeom>
          <a:solidFill>
            <a:srgbClr val="2E7D4F"/>
          </a:solidFill>
          <a:ln w="12700">
            <a:solidFill>
              <a:srgbClr val="2E7D4F"/>
            </a:solidFill>
            <a:prstDash val="solid"/>
          </a:ln>
        </p:spPr>
      </p:sp>
      <p:sp>
        <p:nvSpPr>
          <p:cNvPr id="31" name="Text 28"/>
          <p:cNvSpPr txBox="1"/>
          <p:nvPr/>
        </p:nvSpPr>
        <p:spPr>
          <a:xfrm>
            <a:off x="9116568" y="2395728"/>
            <a:ext cx="731520" cy="420624"/>
          </a:xfrm>
          <a:prstGeom prst="rect">
            <a:avLst/>
          </a:prstGeom>
          <a:noFill/>
          <a:ln/>
        </p:spPr>
        <p:txBody>
          <a:bodyPr wrap="square" lIns="0" tIns="0" rIns="0" bIns="0" rtlCol="0" anchor="t"/>
          <a:lstStyle/>
          <a:p>
            <a:pPr algn="l" indent="0" marL="0">
              <a:buNone/>
            </a:pPr>
            <a:r>
              <a:rPr lang="en-US" sz="2400" b="1" dirty="0">
                <a:solidFill>
                  <a:srgbClr val="2E7D4F"/>
                </a:solidFill>
                <a:latin typeface="Consolas" pitchFamily="34" charset="0"/>
                <a:ea typeface="Consolas" pitchFamily="34" charset="-122"/>
                <a:cs typeface="Consolas" pitchFamily="34" charset="-120"/>
              </a:rPr>
              <a:t>&gt;=</a:t>
            </a:r>
            <a:endParaRPr lang="en-US" sz="2400" dirty="0"/>
          </a:p>
        </p:txBody>
      </p:sp>
      <p:sp>
        <p:nvSpPr>
          <p:cNvPr id="32" name="Text 29"/>
          <p:cNvSpPr txBox="1"/>
          <p:nvPr/>
        </p:nvSpPr>
        <p:spPr>
          <a:xfrm>
            <a:off x="9848088" y="2487168"/>
            <a:ext cx="1490472" cy="292608"/>
          </a:xfrm>
          <a:prstGeom prst="rect">
            <a:avLst/>
          </a:prstGeom>
          <a:noFill/>
          <a:ln/>
        </p:spPr>
        <p:txBody>
          <a:bodyPr wrap="square" lIns="0" tIns="0" rIns="0" bIns="0" rtlCol="0" anchor="t"/>
          <a:lstStyle/>
          <a:p>
            <a:pPr algn="l" indent="0" marL="0">
              <a:lnSpc>
                <a:spcPct val="110000"/>
              </a:lnSpc>
              <a:buNone/>
            </a:pPr>
            <a:r>
              <a:rPr lang="en-US" sz="1200" b="1" dirty="0">
                <a:solidFill>
                  <a:srgbClr val="243B53"/>
                </a:solidFill>
                <a:latin typeface="Aptos" pitchFamily="34" charset="0"/>
                <a:ea typeface="Aptos" pitchFamily="34" charset="-122"/>
                <a:cs typeface="Aptos" pitchFamily="34" charset="-120"/>
              </a:rPr>
              <a:t>mayor o igual que</a:t>
            </a:r>
            <a:endParaRPr lang="en-US" sz="1200" dirty="0"/>
          </a:p>
        </p:txBody>
      </p:sp>
      <p:sp>
        <p:nvSpPr>
          <p:cNvPr id="33" name="Text 30"/>
          <p:cNvSpPr txBox="1"/>
          <p:nvPr/>
        </p:nvSpPr>
        <p:spPr>
          <a:xfrm>
            <a:off x="9116568" y="2926080"/>
            <a:ext cx="2221992" cy="237744"/>
          </a:xfrm>
          <a:prstGeom prst="rect">
            <a:avLst/>
          </a:prstGeom>
          <a:noFill/>
          <a:ln/>
        </p:spPr>
        <p:txBody>
          <a:bodyPr wrap="square" lIns="0" tIns="0" rIns="0" bIns="0" rtlCol="0" anchor="t"/>
          <a:lstStyle/>
          <a:p>
            <a:pPr algn="l" indent="0" marL="0">
              <a:buNone/>
            </a:pPr>
            <a:r>
              <a:rPr lang="en-US" sz="1200" dirty="0">
                <a:solidFill>
                  <a:srgbClr val="243B53"/>
                </a:solidFill>
                <a:latin typeface="Consolas" pitchFamily="34" charset="0"/>
                <a:ea typeface="Consolas" pitchFamily="34" charset="-122"/>
                <a:cs typeface="Consolas" pitchFamily="34" charset="-120"/>
              </a:rPr>
              <a:t>bloque &gt;= 1</a:t>
            </a:r>
            <a:endParaRPr lang="en-US" sz="1200" dirty="0"/>
          </a:p>
        </p:txBody>
      </p:sp>
      <p:sp>
        <p:nvSpPr>
          <p:cNvPr id="34" name="Text 31"/>
          <p:cNvSpPr txBox="1"/>
          <p:nvPr/>
        </p:nvSpPr>
        <p:spPr>
          <a:xfrm>
            <a:off x="9116568" y="3200400"/>
            <a:ext cx="2221992" cy="384048"/>
          </a:xfrm>
          <a:prstGeom prst="rect">
            <a:avLst/>
          </a:prstGeom>
          <a:noFill/>
          <a:ln/>
        </p:spPr>
        <p:txBody>
          <a:bodyPr wrap="square" lIns="0" tIns="0" rIns="0" bIns="0" rtlCol="0" anchor="t"/>
          <a:lstStyle/>
          <a:p>
            <a:pPr algn="l" indent="0" marL="0">
              <a:lnSpc>
                <a:spcPct val="112000"/>
              </a:lnSpc>
              <a:buNone/>
            </a:pPr>
            <a:r>
              <a:rPr lang="en-US" sz="1100" dirty="0">
                <a:solidFill>
                  <a:srgbClr val="243B53"/>
                </a:solidFill>
                <a:latin typeface="Aptos" pitchFamily="34" charset="0"/>
                <a:ea typeface="Aptos" pitchFamily="34" charset="-122"/>
                <a:cs typeface="Aptos" pitchFamily="34" charset="-120"/>
              </a:rPr>
              <a:t>El 1 SÍ entra. Y también 2, 3, 4…</a:t>
            </a:r>
            <a:endParaRPr lang="en-US" sz="1100" dirty="0"/>
          </a:p>
        </p:txBody>
      </p:sp>
      <p:sp>
        <p:nvSpPr>
          <p:cNvPr id="35" name="Shape 32"/>
          <p:cNvSpPr/>
          <p:nvPr/>
        </p:nvSpPr>
        <p:spPr>
          <a:xfrm>
            <a:off x="658368" y="3840480"/>
            <a:ext cx="10874959" cy="786384"/>
          </a:xfrm>
          <a:prstGeom prst="rect">
            <a:avLst/>
          </a:prstGeom>
          <a:solidFill>
            <a:srgbClr val="E6EEF7"/>
          </a:solidFill>
          <a:ln w="12700">
            <a:solidFill>
              <a:srgbClr val="E6EEF7"/>
            </a:solidFill>
            <a:prstDash val="solid"/>
          </a:ln>
        </p:spPr>
      </p:sp>
      <p:sp>
        <p:nvSpPr>
          <p:cNvPr id="36" name="Shape 33"/>
          <p:cNvSpPr/>
          <p:nvPr/>
        </p:nvSpPr>
        <p:spPr>
          <a:xfrm>
            <a:off x="658368" y="3840480"/>
            <a:ext cx="64008" cy="786384"/>
          </a:xfrm>
          <a:prstGeom prst="rect">
            <a:avLst/>
          </a:prstGeom>
          <a:solidFill>
            <a:srgbClr val="102A43"/>
          </a:solidFill>
          <a:ln w="12700">
            <a:solidFill>
              <a:srgbClr val="102A43"/>
            </a:solidFill>
            <a:prstDash val="solid"/>
          </a:ln>
        </p:spPr>
      </p:sp>
      <p:sp>
        <p:nvSpPr>
          <p:cNvPr id="37" name="Text 34"/>
          <p:cNvSpPr txBox="1"/>
          <p:nvPr/>
        </p:nvSpPr>
        <p:spPr>
          <a:xfrm>
            <a:off x="987552" y="3968496"/>
            <a:ext cx="2651760" cy="365760"/>
          </a:xfrm>
          <a:prstGeom prst="rect">
            <a:avLst/>
          </a:prstGeom>
          <a:noFill/>
          <a:ln/>
        </p:spPr>
        <p:txBody>
          <a:bodyPr wrap="square" lIns="0" tIns="0" rIns="0" bIns="0" rtlCol="0" anchor="t"/>
          <a:lstStyle/>
          <a:p>
            <a:pPr algn="l" indent="0" marL="0">
              <a:buNone/>
            </a:pPr>
            <a:r>
              <a:rPr lang="en-US" sz="1900" b="1" dirty="0">
                <a:solidFill>
                  <a:srgbClr val="102A43"/>
                </a:solidFill>
                <a:latin typeface="Consolas" pitchFamily="34" charset="0"/>
                <a:ea typeface="Consolas" pitchFamily="34" charset="-122"/>
                <a:cs typeface="Consolas" pitchFamily="34" charset="-120"/>
              </a:rPr>
              <a:t>1 &lt;= bloque &lt;= 8</a:t>
            </a:r>
            <a:endParaRPr lang="en-US" sz="1900" dirty="0"/>
          </a:p>
        </p:txBody>
      </p:sp>
      <p:sp>
        <p:nvSpPr>
          <p:cNvPr id="38" name="Text 35"/>
          <p:cNvSpPr txBox="1"/>
          <p:nvPr/>
        </p:nvSpPr>
        <p:spPr>
          <a:xfrm>
            <a:off x="3858768" y="3950208"/>
            <a:ext cx="7345375" cy="548640"/>
          </a:xfrm>
          <a:prstGeom prst="rect">
            <a:avLst/>
          </a:prstGeom>
          <a:noFill/>
          <a:ln/>
        </p:spPr>
        <p:txBody>
          <a:bodyPr wrap="square" lIns="0" tIns="0" rIns="0" bIns="0" rtlCol="0" anchor="t"/>
          <a:lstStyle/>
          <a:p>
            <a:pPr algn="l" indent="0" marL="0">
              <a:lnSpc>
                <a:spcPct val="116000"/>
              </a:lnSpc>
              <a:buNone/>
            </a:pPr>
            <a:r>
              <a:rPr lang="en-US" sz="1240" dirty="0">
                <a:solidFill>
                  <a:srgbClr val="243B53"/>
                </a:solidFill>
                <a:latin typeface="Aptos" pitchFamily="34" charset="0"/>
                <a:ea typeface="Aptos" pitchFamily="34" charset="-122"/>
                <a:cs typeface="Aptos" pitchFamily="34" charset="-120"/>
              </a:rPr>
              <a:t>se lee: «bloque vale al menos 1 y como mucho 8». Los dos extremos entran, y por eso esa condición</a:t>
            </a:r>
            <a:endParaRPr lang="en-US" sz="1240" dirty="0"/>
          </a:p>
          <a:p>
            <a:pPr algn="l" indent="0" marL="0">
              <a:lnSpc>
                <a:spcPct val="116000"/>
              </a:lnSpc>
              <a:buNone/>
            </a:pPr>
            <a:r>
              <a:rPr lang="en-US" sz="1240" dirty="0">
                <a:solidFill>
                  <a:srgbClr val="243B53"/>
                </a:solidFill>
                <a:latin typeface="Aptos" pitchFamily="34" charset="0"/>
                <a:ea typeface="Aptos" pitchFamily="34" charset="-122"/>
                <a:cs typeface="Aptos" pitchFamily="34" charset="-120"/>
              </a:rPr>
              <a:t>describe exactamente la jornada que declara el requisito: los bloques del 1 al 8.</a:t>
            </a:r>
            <a:endParaRPr lang="en-US" sz="1240" dirty="0"/>
          </a:p>
        </p:txBody>
      </p:sp>
      <p:sp>
        <p:nvSpPr>
          <p:cNvPr id="39" name="Shape 36"/>
          <p:cNvSpPr/>
          <p:nvPr/>
        </p:nvSpPr>
        <p:spPr>
          <a:xfrm>
            <a:off x="658368" y="4754880"/>
            <a:ext cx="10874959" cy="1225296"/>
          </a:xfrm>
          <a:prstGeom prst="roundRect">
            <a:avLst>
              <a:gd name="adj" fmla="val 2985"/>
            </a:avLst>
          </a:prstGeom>
          <a:solidFill>
            <a:srgbClr val="102A43"/>
          </a:solidFill>
          <a:ln w="12700">
            <a:solidFill>
              <a:srgbClr val="102A43"/>
            </a:solidFill>
            <a:prstDash val="solid"/>
          </a:ln>
        </p:spPr>
      </p:sp>
      <p:sp>
        <p:nvSpPr>
          <p:cNvPr id="40" name="Shape 37"/>
          <p:cNvSpPr/>
          <p:nvPr/>
        </p:nvSpPr>
        <p:spPr>
          <a:xfrm>
            <a:off x="786384" y="4864608"/>
            <a:ext cx="10618927" cy="310896"/>
          </a:xfrm>
          <a:prstGeom prst="roundRect">
            <a:avLst>
              <a:gd name="adj" fmla="val 8824"/>
            </a:avLst>
          </a:prstGeom>
          <a:solidFill>
            <a:srgbClr val="284B75"/>
          </a:solidFill>
          <a:ln w="12700">
            <a:solidFill>
              <a:srgbClr val="284B75"/>
            </a:solidFill>
            <a:prstDash val="solid"/>
          </a:ln>
        </p:spPr>
      </p:sp>
      <p:sp>
        <p:nvSpPr>
          <p:cNvPr id="41" name="Text 38"/>
          <p:cNvSpPr/>
          <p:nvPr/>
        </p:nvSpPr>
        <p:spPr>
          <a:xfrm>
            <a:off x="896112" y="4937760"/>
            <a:ext cx="10399471"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Y por qué esto no es un detalle: el defecto del proyecto es exactamente ese cambio</a:t>
            </a:r>
            <a:endParaRPr lang="en-US" sz="1000" dirty="0"/>
          </a:p>
        </p:txBody>
      </p:sp>
      <p:pic>
        <p:nvPicPr>
          <p:cNvPr id="4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5321808"/>
            <a:ext cx="10454335" cy="47548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30</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EL NOMBRE NORMATIVO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Cómo llama la norma a estos grupos</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La técnica se llama partición de equivalencia. Cada grupo, en la norma, es una «partición de equivalencia».</a:t>
            </a:r>
            <a:endParaRPr lang="en-US" sz="1450" dirty="0"/>
          </a:p>
        </p:txBody>
      </p:sp>
      <p:sp>
        <p:nvSpPr>
          <p:cNvPr id="11" name="Shape 8"/>
          <p:cNvSpPr/>
          <p:nvPr/>
        </p:nvSpPr>
        <p:spPr>
          <a:xfrm>
            <a:off x="658368" y="2286000"/>
            <a:ext cx="10874959" cy="786384"/>
          </a:xfrm>
          <a:prstGeom prst="rect">
            <a:avLst/>
          </a:prstGeom>
          <a:solidFill>
            <a:srgbClr val="F2E7D9"/>
          </a:solidFill>
          <a:ln w="12700">
            <a:solidFill>
              <a:srgbClr val="F2E7D9"/>
            </a:solidFill>
            <a:prstDash val="solid"/>
          </a:ln>
        </p:spPr>
      </p:sp>
      <p:sp>
        <p:nvSpPr>
          <p:cNvPr id="12" name="Shape 9"/>
          <p:cNvSpPr/>
          <p:nvPr/>
        </p:nvSpPr>
        <p:spPr>
          <a:xfrm>
            <a:off x="658368" y="2286000"/>
            <a:ext cx="64008" cy="786384"/>
          </a:xfrm>
          <a:prstGeom prst="rect">
            <a:avLst/>
          </a:prstGeom>
          <a:solidFill>
            <a:srgbClr val="102A43"/>
          </a:solidFill>
          <a:ln w="12700">
            <a:solidFill>
              <a:srgbClr val="102A43"/>
            </a:solidFill>
            <a:prstDash val="solid"/>
          </a:ln>
        </p:spPr>
      </p:sp>
      <p:sp>
        <p:nvSpPr>
          <p:cNvPr id="13" name="Text 10"/>
          <p:cNvSpPr txBox="1"/>
          <p:nvPr/>
        </p:nvSpPr>
        <p:spPr>
          <a:xfrm>
            <a:off x="969264" y="2395728"/>
            <a:ext cx="10308031" cy="566928"/>
          </a:xfrm>
          <a:prstGeom prst="rect">
            <a:avLst/>
          </a:prstGeom>
          <a:noFill/>
          <a:ln/>
        </p:spPr>
        <p:txBody>
          <a:bodyPr wrap="square" lIns="0" tIns="0" rIns="0" bIns="0" rtlCol="0" anchor="ctr"/>
          <a:lstStyle/>
          <a:p>
            <a:pPr algn="l" indent="0" marL="0">
              <a:lnSpc>
                <a:spcPct val="118000"/>
              </a:lnSpc>
              <a:buNone/>
            </a:pPr>
            <a:r>
              <a:rPr lang="en-US" sz="1450" i="1" dirty="0">
                <a:solidFill>
                  <a:srgbClr val="243B53"/>
                </a:solidFill>
                <a:latin typeface="Aptos" pitchFamily="34" charset="0"/>
                <a:ea typeface="Aptos" pitchFamily="34" charset="-122"/>
                <a:cs typeface="Aptos" pitchFamily="34" charset="-120"/>
              </a:rPr>
              <a:t>“class of inputs or outputs that are expected to be treated similarly by the test item”</a:t>
            </a:r>
            <a:endParaRPr lang="en-US" sz="1450" dirty="0"/>
          </a:p>
        </p:txBody>
      </p:sp>
      <p:sp>
        <p:nvSpPr>
          <p:cNvPr id="14" name="Shape 11"/>
          <p:cNvSpPr/>
          <p:nvPr/>
        </p:nvSpPr>
        <p:spPr>
          <a:xfrm>
            <a:off x="658368" y="3182112"/>
            <a:ext cx="10874959" cy="786384"/>
          </a:xfrm>
          <a:prstGeom prst="rect">
            <a:avLst/>
          </a:prstGeom>
          <a:solidFill>
            <a:srgbClr val="EDE6DA"/>
          </a:solidFill>
          <a:ln w="12700">
            <a:solidFill>
              <a:srgbClr val="EDE6DA"/>
            </a:solidFill>
            <a:prstDash val="solid"/>
          </a:ln>
        </p:spPr>
      </p:sp>
      <p:sp>
        <p:nvSpPr>
          <p:cNvPr id="15" name="Shape 12"/>
          <p:cNvSpPr/>
          <p:nvPr/>
        </p:nvSpPr>
        <p:spPr>
          <a:xfrm>
            <a:off x="658368" y="3182112"/>
            <a:ext cx="64008" cy="786384"/>
          </a:xfrm>
          <a:prstGeom prst="rect">
            <a:avLst/>
          </a:prstGeom>
          <a:solidFill>
            <a:srgbClr val="52606D"/>
          </a:solidFill>
          <a:ln w="12700">
            <a:solidFill>
              <a:srgbClr val="52606D"/>
            </a:solidFill>
            <a:prstDash val="solid"/>
          </a:ln>
        </p:spPr>
      </p:sp>
      <p:sp>
        <p:nvSpPr>
          <p:cNvPr id="16" name="Text 13"/>
          <p:cNvSpPr txBox="1"/>
          <p:nvPr/>
        </p:nvSpPr>
        <p:spPr>
          <a:xfrm>
            <a:off x="969264" y="3291840"/>
            <a:ext cx="10308031" cy="566928"/>
          </a:xfrm>
          <a:prstGeom prst="rect">
            <a:avLst/>
          </a:prstGeom>
          <a:noFill/>
          <a:ln/>
        </p:spPr>
        <p:txBody>
          <a:bodyPr wrap="square" lIns="0" tIns="0" rIns="0" bIns="0" rtlCol="0" anchor="ctr"/>
          <a:lstStyle/>
          <a:p>
            <a:pPr algn="l" indent="0" marL="0">
              <a:lnSpc>
                <a:spcPct val="118000"/>
              </a:lnSpc>
              <a:buNone/>
            </a:pPr>
            <a:r>
              <a:rPr lang="en-US" sz="1450" i="1" dirty="0">
                <a:solidFill>
                  <a:srgbClr val="243B53"/>
                </a:solidFill>
                <a:latin typeface="Aptos" pitchFamily="34" charset="0"/>
                <a:ea typeface="Aptos" pitchFamily="34" charset="-122"/>
                <a:cs typeface="Aptos" pitchFamily="34" charset="-120"/>
              </a:rPr>
              <a:t>“Clase de entradas o salidas que se espera que el elemento de prueba trate de forma similar.”</a:t>
            </a:r>
            <a:endParaRPr lang="en-US" sz="1450" dirty="0"/>
          </a:p>
        </p:txBody>
      </p:sp>
      <p:sp>
        <p:nvSpPr>
          <p:cNvPr id="17" name="Shape 14"/>
          <p:cNvSpPr/>
          <p:nvPr/>
        </p:nvSpPr>
        <p:spPr>
          <a:xfrm>
            <a:off x="658368" y="4114800"/>
            <a:ext cx="45720" cy="182880"/>
          </a:xfrm>
          <a:prstGeom prst="rect">
            <a:avLst/>
          </a:prstGeom>
          <a:solidFill>
            <a:srgbClr val="8A6A12"/>
          </a:solidFill>
          <a:ln w="12700">
            <a:solidFill>
              <a:srgbClr val="8A6A12"/>
            </a:solidFill>
            <a:prstDash val="solid"/>
          </a:ln>
        </p:spPr>
      </p:sp>
      <p:sp>
        <p:nvSpPr>
          <p:cNvPr id="18" name="Text 15"/>
          <p:cNvSpPr txBox="1"/>
          <p:nvPr/>
        </p:nvSpPr>
        <p:spPr>
          <a:xfrm>
            <a:off x="804672" y="4105656"/>
            <a:ext cx="731520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ISO/IEC/IEEE 29119-4:2021, cláusula 3.28 · traducción del original en inglés</a:t>
            </a:r>
            <a:endParaRPr lang="en-US" sz="920" dirty="0"/>
          </a:p>
        </p:txBody>
      </p:sp>
      <p:sp>
        <p:nvSpPr>
          <p:cNvPr id="19" name="Shape 16"/>
          <p:cNvSpPr/>
          <p:nvPr/>
        </p:nvSpPr>
        <p:spPr>
          <a:xfrm>
            <a:off x="658368" y="4480560"/>
            <a:ext cx="10874959" cy="1170432"/>
          </a:xfrm>
          <a:prstGeom prst="rect">
            <a:avLst/>
          </a:prstGeom>
          <a:solidFill>
            <a:srgbClr val="F2E7D9"/>
          </a:solidFill>
          <a:ln w="12700">
            <a:solidFill>
              <a:srgbClr val="F2E7D9"/>
            </a:solidFill>
            <a:prstDash val="solid"/>
          </a:ln>
        </p:spPr>
      </p:sp>
      <p:sp>
        <p:nvSpPr>
          <p:cNvPr id="20" name="Shape 17"/>
          <p:cNvSpPr/>
          <p:nvPr/>
        </p:nvSpPr>
        <p:spPr>
          <a:xfrm>
            <a:off x="658368" y="4480560"/>
            <a:ext cx="64008" cy="1170432"/>
          </a:xfrm>
          <a:prstGeom prst="rect">
            <a:avLst/>
          </a:prstGeom>
          <a:solidFill>
            <a:srgbClr val="8A6A12"/>
          </a:solidFill>
          <a:ln w="12700">
            <a:solidFill>
              <a:srgbClr val="8A6A12"/>
            </a:solidFill>
            <a:prstDash val="solid"/>
          </a:ln>
        </p:spPr>
      </p:sp>
      <p:sp>
        <p:nvSpPr>
          <p:cNvPr id="21" name="Text 18"/>
          <p:cNvSpPr txBox="1"/>
          <p:nvPr/>
        </p:nvSpPr>
        <p:spPr>
          <a:xfrm>
            <a:off x="987552" y="4626864"/>
            <a:ext cx="5486400" cy="201168"/>
          </a:xfrm>
          <a:prstGeom prst="rect">
            <a:avLst/>
          </a:prstGeom>
          <a:noFill/>
          <a:ln/>
        </p:spPr>
        <p:txBody>
          <a:bodyPr wrap="square" lIns="0" tIns="0" rIns="0" bIns="0" rtlCol="0" anchor="t"/>
          <a:lstStyle/>
          <a:p>
            <a:pPr algn="l" indent="0" marL="0">
              <a:buNone/>
            </a:pPr>
            <a:r>
              <a:rPr lang="en-US" sz="960" b="1" spc="130" kern="0" dirty="0">
                <a:solidFill>
                  <a:srgbClr val="8A6A12"/>
                </a:solidFill>
                <a:latin typeface="Aptos" pitchFamily="34" charset="0"/>
                <a:ea typeface="Aptos" pitchFamily="34" charset="-122"/>
                <a:cs typeface="Aptos" pitchFamily="34" charset="-120"/>
              </a:rPr>
              <a:t>LA PALABRA QUE DECIDE TODA LA TÉCNICA</a:t>
            </a:r>
            <a:endParaRPr lang="en-US" sz="960" dirty="0"/>
          </a:p>
        </p:txBody>
      </p:sp>
      <p:sp>
        <p:nvSpPr>
          <p:cNvPr id="22" name="Text 19"/>
          <p:cNvSpPr txBox="1"/>
          <p:nvPr/>
        </p:nvSpPr>
        <p:spPr>
          <a:xfrm>
            <a:off x="987552" y="4846320"/>
            <a:ext cx="2377440" cy="384048"/>
          </a:xfrm>
          <a:prstGeom prst="rect">
            <a:avLst/>
          </a:prstGeom>
          <a:noFill/>
          <a:ln/>
        </p:spPr>
        <p:txBody>
          <a:bodyPr wrap="square" lIns="0" tIns="0" rIns="0" bIns="0" rtlCol="0" anchor="t"/>
          <a:lstStyle/>
          <a:p>
            <a:pPr algn="l" indent="0" marL="0">
              <a:buNone/>
            </a:pPr>
            <a:r>
              <a:rPr lang="en-US" sz="2600" b="1" dirty="0">
                <a:solidFill>
                  <a:srgbClr val="8A6A12"/>
                </a:solidFill>
                <a:latin typeface="Aptos Display" pitchFamily="34" charset="0"/>
                <a:ea typeface="Aptos Display" pitchFamily="34" charset="-122"/>
                <a:cs typeface="Aptos Display" pitchFamily="34" charset="-120"/>
              </a:rPr>
              <a:t>«se espera»</a:t>
            </a:r>
            <a:endParaRPr lang="en-US" sz="2600" dirty="0"/>
          </a:p>
        </p:txBody>
      </p:sp>
      <p:sp>
        <p:nvSpPr>
          <p:cNvPr id="23" name="Text 20"/>
          <p:cNvSpPr txBox="1"/>
          <p:nvPr/>
        </p:nvSpPr>
        <p:spPr>
          <a:xfrm>
            <a:off x="3584448" y="4846320"/>
            <a:ext cx="7619695" cy="640080"/>
          </a:xfrm>
          <a:prstGeom prst="rect">
            <a:avLst/>
          </a:prstGeom>
          <a:noFill/>
          <a:ln/>
        </p:spPr>
        <p:txBody>
          <a:bodyPr wrap="square" lIns="0" tIns="0" rIns="0" bIns="0" rtlCol="0" anchor="t"/>
          <a:lstStyle/>
          <a:p>
            <a:pPr algn="l" indent="0" marL="0">
              <a:lnSpc>
                <a:spcPct val="116000"/>
              </a:lnSpc>
              <a:buNone/>
            </a:pPr>
            <a:r>
              <a:rPr lang="en-US" sz="1280" dirty="0">
                <a:solidFill>
                  <a:srgbClr val="243B53"/>
                </a:solidFill>
                <a:latin typeface="Aptos" pitchFamily="34" charset="0"/>
                <a:ea typeface="Aptos" pitchFamily="34" charset="-122"/>
                <a:cs typeface="Aptos" pitchFamily="34" charset="-120"/>
              </a:rPr>
              <a:t>Agrupar valores formula una hipótesis sobre el comportamiento debido. Ejecutar un representante</a:t>
            </a:r>
            <a:endParaRPr lang="en-US" sz="1280" dirty="0"/>
          </a:p>
          <a:p>
            <a:pPr algn="l" indent="0" marL="0">
              <a:lnSpc>
                <a:spcPct val="116000"/>
              </a:lnSpc>
              <a:buNone/>
            </a:pPr>
            <a:r>
              <a:rPr lang="en-US" sz="1280" dirty="0">
                <a:solidFill>
                  <a:srgbClr val="243B53"/>
                </a:solidFill>
                <a:latin typeface="Aptos" pitchFamily="34" charset="0"/>
                <a:ea typeface="Aptos" pitchFamily="34" charset="-122"/>
                <a:cs typeface="Aptos" pitchFamily="34" charset="-120"/>
              </a:rPr>
              <a:t>busca evidencia que la contradiga. La norma no promete que, si el representante pasa, pasen los demás.</a:t>
            </a:r>
            <a:endParaRPr lang="en-US" sz="1280" dirty="0"/>
          </a:p>
        </p:txBody>
      </p:sp>
      <p:sp>
        <p:nvSpPr>
          <p:cNvPr id="24" name="Shape 21"/>
          <p:cNvSpPr/>
          <p:nvPr/>
        </p:nvSpPr>
        <p:spPr>
          <a:xfrm>
            <a:off x="658368" y="5797296"/>
            <a:ext cx="10874959" cy="493776"/>
          </a:xfrm>
          <a:prstGeom prst="rect">
            <a:avLst/>
          </a:prstGeom>
          <a:solidFill>
            <a:srgbClr val="102A43"/>
          </a:solidFill>
          <a:ln w="12700">
            <a:solidFill>
              <a:srgbClr val="102A43"/>
            </a:solidFill>
            <a:prstDash val="solid"/>
          </a:ln>
        </p:spPr>
      </p:sp>
      <p:sp>
        <p:nvSpPr>
          <p:cNvPr id="25" name="Text 22"/>
          <p:cNvSpPr txBox="1"/>
          <p:nvPr/>
        </p:nvSpPr>
        <p:spPr>
          <a:xfrm>
            <a:off x="969264" y="5833872"/>
            <a:ext cx="10253167" cy="420624"/>
          </a:xfrm>
          <a:prstGeom prst="rect">
            <a:avLst/>
          </a:prstGeom>
          <a:noFill/>
          <a:ln/>
        </p:spPr>
        <p:txBody>
          <a:bodyPr wrap="square" lIns="0" tIns="0" rIns="0" bIns="0" rtlCol="0" anchor="ctr"/>
          <a:lstStyle/>
          <a:p>
            <a:pPr algn="ctr" indent="0" marL="0">
              <a:lnSpc>
                <a:spcPct val="110000"/>
              </a:lnSpc>
              <a:buNone/>
            </a:pPr>
            <a:r>
              <a:rPr lang="en-US" sz="1340" b="1" dirty="0">
                <a:solidFill>
                  <a:srgbClr val="FFFFFF"/>
                </a:solidFill>
                <a:latin typeface="Aptos" pitchFamily="34" charset="0"/>
                <a:ea typeface="Aptos" pitchFamily="34" charset="-122"/>
                <a:cs typeface="Aptos" pitchFamily="34" charset="-120"/>
              </a:rPr>
              <a:t>Una partición no es un hecho sobre el programa: es una afirmación refutable sobre lo que debería hacer.</a:t>
            </a:r>
            <a:endParaRPr lang="en-US" sz="134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31</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LA PARTICIÓN ESCRITA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Los tres grupos, ahora con su condición exacta</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Se parte el parámetro «bloque» de bloque_valido(), la función que responde si un número pertenece a la jornada.</a:t>
            </a:r>
            <a:endParaRPr lang="en-US" sz="1450" dirty="0"/>
          </a:p>
        </p:txBody>
      </p:sp>
      <p:sp>
        <p:nvSpPr>
          <p:cNvPr id="11" name="Shape 8"/>
          <p:cNvSpPr/>
          <p:nvPr/>
        </p:nvSpPr>
        <p:spPr>
          <a:xfrm>
            <a:off x="658368" y="2286000"/>
            <a:ext cx="10874959" cy="384048"/>
          </a:xfrm>
          <a:prstGeom prst="rect">
            <a:avLst/>
          </a:prstGeom>
          <a:solidFill>
            <a:srgbClr val="102A43"/>
          </a:solidFill>
          <a:ln w="12700">
            <a:solidFill>
              <a:srgbClr val="102A43"/>
            </a:solidFill>
            <a:prstDash val="solid"/>
          </a:ln>
        </p:spPr>
      </p:sp>
      <p:sp>
        <p:nvSpPr>
          <p:cNvPr id="12" name="Text 9"/>
          <p:cNvSpPr txBox="1"/>
          <p:nvPr/>
        </p:nvSpPr>
        <p:spPr>
          <a:xfrm>
            <a:off x="877824" y="2304288"/>
            <a:ext cx="2560320" cy="347472"/>
          </a:xfrm>
          <a:prstGeom prst="rect">
            <a:avLst/>
          </a:prstGeom>
          <a:noFill/>
          <a:ln/>
        </p:spPr>
        <p:txBody>
          <a:bodyPr wrap="square" lIns="0" tIns="0" rIns="0" bIns="0" rtlCol="0" anchor="ctr"/>
          <a:lstStyle/>
          <a:p>
            <a:pPr algn="l" indent="0" marL="0">
              <a:buNone/>
            </a:pPr>
            <a:r>
              <a:rPr lang="en-US" sz="960" b="1" spc="110" kern="0" dirty="0">
                <a:solidFill>
                  <a:srgbClr val="FFFFFF"/>
                </a:solidFill>
                <a:latin typeface="Aptos" pitchFamily="34" charset="0"/>
                <a:ea typeface="Aptos" pitchFamily="34" charset="-122"/>
                <a:cs typeface="Aptos" pitchFamily="34" charset="-120"/>
              </a:rPr>
              <a:t>CLASE · EL GRUPO</a:t>
            </a:r>
            <a:endParaRPr lang="en-US" sz="960" dirty="0"/>
          </a:p>
        </p:txBody>
      </p:sp>
      <p:sp>
        <p:nvSpPr>
          <p:cNvPr id="13" name="Text 10"/>
          <p:cNvSpPr txBox="1"/>
          <p:nvPr/>
        </p:nvSpPr>
        <p:spPr>
          <a:xfrm>
            <a:off x="3712464" y="2304288"/>
            <a:ext cx="2194560" cy="347472"/>
          </a:xfrm>
          <a:prstGeom prst="rect">
            <a:avLst/>
          </a:prstGeom>
          <a:noFill/>
          <a:ln/>
        </p:spPr>
        <p:txBody>
          <a:bodyPr wrap="square" lIns="0" tIns="0" rIns="0" bIns="0" rtlCol="0" anchor="ctr"/>
          <a:lstStyle/>
          <a:p>
            <a:pPr algn="l" indent="0" marL="0">
              <a:buNone/>
            </a:pPr>
            <a:r>
              <a:rPr lang="en-US" sz="960" b="1" spc="110" kern="0" dirty="0">
                <a:solidFill>
                  <a:srgbClr val="FFFFFF"/>
                </a:solidFill>
                <a:latin typeface="Aptos" pitchFamily="34" charset="0"/>
                <a:ea typeface="Aptos" pitchFamily="34" charset="-122"/>
                <a:cs typeface="Aptos" pitchFamily="34" charset="-120"/>
              </a:rPr>
              <a:t>CONDICIÓN · QUIÉN ENTRA</a:t>
            </a:r>
            <a:endParaRPr lang="en-US" sz="960" dirty="0"/>
          </a:p>
        </p:txBody>
      </p:sp>
      <p:sp>
        <p:nvSpPr>
          <p:cNvPr id="14" name="Text 11"/>
          <p:cNvSpPr txBox="1"/>
          <p:nvPr/>
        </p:nvSpPr>
        <p:spPr>
          <a:xfrm>
            <a:off x="6181344" y="2304288"/>
            <a:ext cx="2743200" cy="347472"/>
          </a:xfrm>
          <a:prstGeom prst="rect">
            <a:avLst/>
          </a:prstGeom>
          <a:noFill/>
          <a:ln/>
        </p:spPr>
        <p:txBody>
          <a:bodyPr wrap="square" lIns="0" tIns="0" rIns="0" bIns="0" rtlCol="0" anchor="ctr"/>
          <a:lstStyle/>
          <a:p>
            <a:pPr algn="l" indent="0" marL="0">
              <a:buNone/>
            </a:pPr>
            <a:r>
              <a:rPr lang="en-US" sz="960" b="1" spc="110" kern="0" dirty="0">
                <a:solidFill>
                  <a:srgbClr val="FFFFFF"/>
                </a:solidFill>
                <a:latin typeface="Aptos" pitchFamily="34" charset="0"/>
                <a:ea typeface="Aptos" pitchFamily="34" charset="-122"/>
                <a:cs typeface="Aptos" pitchFamily="34" charset="-120"/>
              </a:rPr>
              <a:t>TRATAMIENTO ESPERADO · QUÉ DEBE DEVOLVER</a:t>
            </a:r>
            <a:endParaRPr lang="en-US" sz="960" dirty="0"/>
          </a:p>
        </p:txBody>
      </p:sp>
      <p:sp>
        <p:nvSpPr>
          <p:cNvPr id="15" name="Text 12"/>
          <p:cNvSpPr txBox="1"/>
          <p:nvPr/>
        </p:nvSpPr>
        <p:spPr>
          <a:xfrm>
            <a:off x="9198864" y="2304288"/>
            <a:ext cx="2276856" cy="347472"/>
          </a:xfrm>
          <a:prstGeom prst="rect">
            <a:avLst/>
          </a:prstGeom>
          <a:noFill/>
          <a:ln/>
        </p:spPr>
        <p:txBody>
          <a:bodyPr wrap="square" lIns="0" tIns="0" rIns="0" bIns="0" rtlCol="0" anchor="ctr"/>
          <a:lstStyle/>
          <a:p>
            <a:pPr algn="l" indent="0" marL="0">
              <a:buNone/>
            </a:pPr>
            <a:r>
              <a:rPr lang="en-US" sz="960" b="1" spc="110" kern="0" dirty="0">
                <a:solidFill>
                  <a:srgbClr val="FFFFFF"/>
                </a:solidFill>
                <a:latin typeface="Aptos" pitchFamily="34" charset="0"/>
                <a:ea typeface="Aptos" pitchFamily="34" charset="-122"/>
                <a:cs typeface="Aptos" pitchFamily="34" charset="-120"/>
              </a:rPr>
              <a:t>REPRESENTANTE</a:t>
            </a:r>
            <a:endParaRPr lang="en-US" sz="960" dirty="0"/>
          </a:p>
        </p:txBody>
      </p:sp>
      <p:sp>
        <p:nvSpPr>
          <p:cNvPr id="16" name="Shape 13"/>
          <p:cNvSpPr/>
          <p:nvPr/>
        </p:nvSpPr>
        <p:spPr>
          <a:xfrm>
            <a:off x="658368" y="2724912"/>
            <a:ext cx="10874959" cy="585216"/>
          </a:xfrm>
          <a:prstGeom prst="rect">
            <a:avLst/>
          </a:prstGeom>
          <a:solidFill>
            <a:srgbClr val="F8E4E5"/>
          </a:solidFill>
          <a:ln w="12700">
            <a:solidFill>
              <a:srgbClr val="F8E4E5"/>
            </a:solidFill>
            <a:prstDash val="solid"/>
          </a:ln>
        </p:spPr>
      </p:sp>
      <p:sp>
        <p:nvSpPr>
          <p:cNvPr id="17" name="Shape 14"/>
          <p:cNvSpPr/>
          <p:nvPr/>
        </p:nvSpPr>
        <p:spPr>
          <a:xfrm>
            <a:off x="658368" y="2724912"/>
            <a:ext cx="54864" cy="585216"/>
          </a:xfrm>
          <a:prstGeom prst="rect">
            <a:avLst/>
          </a:prstGeom>
          <a:solidFill>
            <a:srgbClr val="B3181E"/>
          </a:solidFill>
          <a:ln w="12700">
            <a:solidFill>
              <a:srgbClr val="B3181E"/>
            </a:solidFill>
            <a:prstDash val="solid"/>
          </a:ln>
        </p:spPr>
      </p:sp>
      <p:sp>
        <p:nvSpPr>
          <p:cNvPr id="18" name="Text 15"/>
          <p:cNvSpPr txBox="1"/>
          <p:nvPr/>
        </p:nvSpPr>
        <p:spPr>
          <a:xfrm>
            <a:off x="877824" y="2743200"/>
            <a:ext cx="2560320" cy="548640"/>
          </a:xfrm>
          <a:prstGeom prst="rect">
            <a:avLst/>
          </a:prstGeom>
          <a:noFill/>
          <a:ln/>
        </p:spPr>
        <p:txBody>
          <a:bodyPr wrap="square" lIns="0" tIns="0" rIns="0" bIns="0" rtlCol="0" anchor="ctr"/>
          <a:lstStyle/>
          <a:p>
            <a:pPr algn="l" indent="0" marL="0">
              <a:buNone/>
            </a:pPr>
            <a:r>
              <a:rPr lang="en-US" sz="1300" b="1" dirty="0">
                <a:solidFill>
                  <a:srgbClr val="243B53"/>
                </a:solidFill>
                <a:latin typeface="Aptos" pitchFamily="34" charset="0"/>
                <a:ea typeface="Aptos" pitchFamily="34" charset="-122"/>
                <a:cs typeface="Aptos" pitchFamily="34" charset="-120"/>
              </a:rPr>
              <a:t>Antes de la jornada</a:t>
            </a:r>
            <a:endParaRPr lang="en-US" sz="1300" dirty="0"/>
          </a:p>
        </p:txBody>
      </p:sp>
      <p:sp>
        <p:nvSpPr>
          <p:cNvPr id="19" name="Text 16"/>
          <p:cNvSpPr txBox="1"/>
          <p:nvPr/>
        </p:nvSpPr>
        <p:spPr>
          <a:xfrm>
            <a:off x="3712464" y="2743200"/>
            <a:ext cx="2194560" cy="548640"/>
          </a:xfrm>
          <a:prstGeom prst="rect">
            <a:avLst/>
          </a:prstGeom>
          <a:noFill/>
          <a:ln/>
        </p:spPr>
        <p:txBody>
          <a:bodyPr wrap="square" lIns="0" tIns="0" rIns="0" bIns="0" rtlCol="0" anchor="ctr"/>
          <a:lstStyle/>
          <a:p>
            <a:pPr algn="l" indent="0" marL="0">
              <a:buNone/>
            </a:pPr>
            <a:r>
              <a:rPr lang="en-US" sz="1200" dirty="0">
                <a:solidFill>
                  <a:srgbClr val="243B53"/>
                </a:solidFill>
                <a:latin typeface="Consolas" pitchFamily="34" charset="0"/>
                <a:ea typeface="Consolas" pitchFamily="34" charset="-122"/>
                <a:cs typeface="Consolas" pitchFamily="34" charset="-120"/>
              </a:rPr>
              <a:t>bloque &lt; 1</a:t>
            </a:r>
            <a:endParaRPr lang="en-US" sz="1200" dirty="0"/>
          </a:p>
        </p:txBody>
      </p:sp>
      <p:sp>
        <p:nvSpPr>
          <p:cNvPr id="20" name="Text 17"/>
          <p:cNvSpPr txBox="1"/>
          <p:nvPr/>
        </p:nvSpPr>
        <p:spPr>
          <a:xfrm>
            <a:off x="6181344" y="2743200"/>
            <a:ext cx="2743200" cy="548640"/>
          </a:xfrm>
          <a:prstGeom prst="rect">
            <a:avLst/>
          </a:prstGeom>
          <a:noFill/>
          <a:ln/>
        </p:spPr>
        <p:txBody>
          <a:bodyPr wrap="square" lIns="0" tIns="0" rIns="0" bIns="0" rtlCol="0" anchor="ctr"/>
          <a:lstStyle/>
          <a:p>
            <a:pPr algn="l" indent="0" marL="0">
              <a:buNone/>
            </a:pPr>
            <a:r>
              <a:rPr lang="en-US" sz="1260" dirty="0">
                <a:solidFill>
                  <a:srgbClr val="243B53"/>
                </a:solidFill>
                <a:latin typeface="Aptos" pitchFamily="34" charset="0"/>
                <a:ea typeface="Aptos" pitchFamily="34" charset="-122"/>
                <a:cs typeface="Aptos" pitchFamily="34" charset="-120"/>
              </a:rPr>
              <a:t>False: no pertenece</a:t>
            </a:r>
            <a:endParaRPr lang="en-US" sz="1260" dirty="0"/>
          </a:p>
        </p:txBody>
      </p:sp>
      <p:sp>
        <p:nvSpPr>
          <p:cNvPr id="21" name="Text 18"/>
          <p:cNvSpPr txBox="1"/>
          <p:nvPr/>
        </p:nvSpPr>
        <p:spPr>
          <a:xfrm>
            <a:off x="9198864" y="2743200"/>
            <a:ext cx="2276856" cy="548640"/>
          </a:xfrm>
          <a:prstGeom prst="rect">
            <a:avLst/>
          </a:prstGeom>
          <a:noFill/>
          <a:ln/>
        </p:spPr>
        <p:txBody>
          <a:bodyPr wrap="square" lIns="0" tIns="0" rIns="0" bIns="0" rtlCol="0" anchor="ctr"/>
          <a:lstStyle/>
          <a:p>
            <a:pPr algn="l" indent="0" marL="0">
              <a:buNone/>
            </a:pPr>
            <a:r>
              <a:rPr lang="en-US" sz="1500" b="1" dirty="0">
                <a:solidFill>
                  <a:srgbClr val="B3181E"/>
                </a:solidFill>
                <a:latin typeface="Consolas" pitchFamily="34" charset="0"/>
                <a:ea typeface="Consolas" pitchFamily="34" charset="-122"/>
                <a:cs typeface="Consolas" pitchFamily="34" charset="-120"/>
              </a:rPr>
              <a:t>-5</a:t>
            </a:r>
            <a:endParaRPr lang="en-US" sz="1500" dirty="0"/>
          </a:p>
        </p:txBody>
      </p:sp>
      <p:sp>
        <p:nvSpPr>
          <p:cNvPr id="22" name="Shape 19"/>
          <p:cNvSpPr/>
          <p:nvPr/>
        </p:nvSpPr>
        <p:spPr>
          <a:xfrm>
            <a:off x="658368" y="3383280"/>
            <a:ext cx="10874959" cy="585216"/>
          </a:xfrm>
          <a:prstGeom prst="rect">
            <a:avLst/>
          </a:prstGeom>
          <a:solidFill>
            <a:srgbClr val="E9F6EE"/>
          </a:solidFill>
          <a:ln w="12700">
            <a:solidFill>
              <a:srgbClr val="E9F6EE"/>
            </a:solidFill>
            <a:prstDash val="solid"/>
          </a:ln>
        </p:spPr>
      </p:sp>
      <p:sp>
        <p:nvSpPr>
          <p:cNvPr id="23" name="Shape 20"/>
          <p:cNvSpPr/>
          <p:nvPr/>
        </p:nvSpPr>
        <p:spPr>
          <a:xfrm>
            <a:off x="658368" y="3383280"/>
            <a:ext cx="54864" cy="585216"/>
          </a:xfrm>
          <a:prstGeom prst="rect">
            <a:avLst/>
          </a:prstGeom>
          <a:solidFill>
            <a:srgbClr val="2E7D4F"/>
          </a:solidFill>
          <a:ln w="12700">
            <a:solidFill>
              <a:srgbClr val="2E7D4F"/>
            </a:solidFill>
            <a:prstDash val="solid"/>
          </a:ln>
        </p:spPr>
      </p:sp>
      <p:sp>
        <p:nvSpPr>
          <p:cNvPr id="24" name="Text 21"/>
          <p:cNvSpPr txBox="1"/>
          <p:nvPr/>
        </p:nvSpPr>
        <p:spPr>
          <a:xfrm>
            <a:off x="877824" y="3401568"/>
            <a:ext cx="2560320" cy="548640"/>
          </a:xfrm>
          <a:prstGeom prst="rect">
            <a:avLst/>
          </a:prstGeom>
          <a:noFill/>
          <a:ln/>
        </p:spPr>
        <p:txBody>
          <a:bodyPr wrap="square" lIns="0" tIns="0" rIns="0" bIns="0" rtlCol="0" anchor="ctr"/>
          <a:lstStyle/>
          <a:p>
            <a:pPr algn="l" indent="0" marL="0">
              <a:buNone/>
            </a:pPr>
            <a:r>
              <a:rPr lang="en-US" sz="1300" b="1" dirty="0">
                <a:solidFill>
                  <a:srgbClr val="243B53"/>
                </a:solidFill>
                <a:latin typeface="Aptos" pitchFamily="34" charset="0"/>
                <a:ea typeface="Aptos" pitchFamily="34" charset="-122"/>
                <a:cs typeface="Aptos" pitchFamily="34" charset="-120"/>
              </a:rPr>
              <a:t>Dentro de la jornada</a:t>
            </a:r>
            <a:endParaRPr lang="en-US" sz="1300" dirty="0"/>
          </a:p>
        </p:txBody>
      </p:sp>
      <p:sp>
        <p:nvSpPr>
          <p:cNvPr id="25" name="Text 22"/>
          <p:cNvSpPr txBox="1"/>
          <p:nvPr/>
        </p:nvSpPr>
        <p:spPr>
          <a:xfrm>
            <a:off x="3712464" y="3401568"/>
            <a:ext cx="2194560" cy="548640"/>
          </a:xfrm>
          <a:prstGeom prst="rect">
            <a:avLst/>
          </a:prstGeom>
          <a:noFill/>
          <a:ln/>
        </p:spPr>
        <p:txBody>
          <a:bodyPr wrap="square" lIns="0" tIns="0" rIns="0" bIns="0" rtlCol="0" anchor="ctr"/>
          <a:lstStyle/>
          <a:p>
            <a:pPr algn="l" indent="0" marL="0">
              <a:buNone/>
            </a:pPr>
            <a:r>
              <a:rPr lang="en-US" sz="1200" dirty="0">
                <a:solidFill>
                  <a:srgbClr val="243B53"/>
                </a:solidFill>
                <a:latin typeface="Consolas" pitchFamily="34" charset="0"/>
                <a:ea typeface="Consolas" pitchFamily="34" charset="-122"/>
                <a:cs typeface="Consolas" pitchFamily="34" charset="-120"/>
              </a:rPr>
              <a:t>1 &lt;= bloque &lt;= 8</a:t>
            </a:r>
            <a:endParaRPr lang="en-US" sz="1200" dirty="0"/>
          </a:p>
        </p:txBody>
      </p:sp>
      <p:sp>
        <p:nvSpPr>
          <p:cNvPr id="26" name="Text 23"/>
          <p:cNvSpPr txBox="1"/>
          <p:nvPr/>
        </p:nvSpPr>
        <p:spPr>
          <a:xfrm>
            <a:off x="6181344" y="3401568"/>
            <a:ext cx="2743200" cy="548640"/>
          </a:xfrm>
          <a:prstGeom prst="rect">
            <a:avLst/>
          </a:prstGeom>
          <a:noFill/>
          <a:ln/>
        </p:spPr>
        <p:txBody>
          <a:bodyPr wrap="square" lIns="0" tIns="0" rIns="0" bIns="0" rtlCol="0" anchor="ctr"/>
          <a:lstStyle/>
          <a:p>
            <a:pPr algn="l" indent="0" marL="0">
              <a:buNone/>
            </a:pPr>
            <a:r>
              <a:rPr lang="en-US" sz="1260" dirty="0">
                <a:solidFill>
                  <a:srgbClr val="243B53"/>
                </a:solidFill>
                <a:latin typeface="Aptos" pitchFamily="34" charset="0"/>
                <a:ea typeface="Aptos" pitchFamily="34" charset="-122"/>
                <a:cs typeface="Aptos" pitchFamily="34" charset="-120"/>
              </a:rPr>
              <a:t>True: pertenece</a:t>
            </a:r>
            <a:endParaRPr lang="en-US" sz="1260" dirty="0"/>
          </a:p>
        </p:txBody>
      </p:sp>
      <p:sp>
        <p:nvSpPr>
          <p:cNvPr id="27" name="Text 24"/>
          <p:cNvSpPr txBox="1"/>
          <p:nvPr/>
        </p:nvSpPr>
        <p:spPr>
          <a:xfrm>
            <a:off x="9198864" y="3401568"/>
            <a:ext cx="2276856" cy="548640"/>
          </a:xfrm>
          <a:prstGeom prst="rect">
            <a:avLst/>
          </a:prstGeom>
          <a:noFill/>
          <a:ln/>
        </p:spPr>
        <p:txBody>
          <a:bodyPr wrap="square" lIns="0" tIns="0" rIns="0" bIns="0" rtlCol="0" anchor="ctr"/>
          <a:lstStyle/>
          <a:p>
            <a:pPr algn="l" indent="0" marL="0">
              <a:buNone/>
            </a:pPr>
            <a:r>
              <a:rPr lang="en-US" sz="1500" b="1" dirty="0">
                <a:solidFill>
                  <a:srgbClr val="2E7D4F"/>
                </a:solidFill>
                <a:latin typeface="Consolas" pitchFamily="34" charset="0"/>
                <a:ea typeface="Consolas" pitchFamily="34" charset="-122"/>
                <a:cs typeface="Consolas" pitchFamily="34" charset="-120"/>
              </a:rPr>
              <a:t>4</a:t>
            </a:r>
            <a:endParaRPr lang="en-US" sz="1500" dirty="0"/>
          </a:p>
        </p:txBody>
      </p:sp>
      <p:sp>
        <p:nvSpPr>
          <p:cNvPr id="28" name="Shape 25"/>
          <p:cNvSpPr/>
          <p:nvPr/>
        </p:nvSpPr>
        <p:spPr>
          <a:xfrm>
            <a:off x="658368" y="4041648"/>
            <a:ext cx="10874959" cy="585216"/>
          </a:xfrm>
          <a:prstGeom prst="rect">
            <a:avLst/>
          </a:prstGeom>
          <a:solidFill>
            <a:srgbClr val="F8E4E5"/>
          </a:solidFill>
          <a:ln w="12700">
            <a:solidFill>
              <a:srgbClr val="F8E4E5"/>
            </a:solidFill>
            <a:prstDash val="solid"/>
          </a:ln>
        </p:spPr>
      </p:sp>
      <p:sp>
        <p:nvSpPr>
          <p:cNvPr id="29" name="Shape 26"/>
          <p:cNvSpPr/>
          <p:nvPr/>
        </p:nvSpPr>
        <p:spPr>
          <a:xfrm>
            <a:off x="658368" y="4041648"/>
            <a:ext cx="54864" cy="585216"/>
          </a:xfrm>
          <a:prstGeom prst="rect">
            <a:avLst/>
          </a:prstGeom>
          <a:solidFill>
            <a:srgbClr val="B3181E"/>
          </a:solidFill>
          <a:ln w="12700">
            <a:solidFill>
              <a:srgbClr val="B3181E"/>
            </a:solidFill>
            <a:prstDash val="solid"/>
          </a:ln>
        </p:spPr>
      </p:sp>
      <p:sp>
        <p:nvSpPr>
          <p:cNvPr id="30" name="Text 27"/>
          <p:cNvSpPr txBox="1"/>
          <p:nvPr/>
        </p:nvSpPr>
        <p:spPr>
          <a:xfrm>
            <a:off x="877824" y="4059936"/>
            <a:ext cx="2560320" cy="548640"/>
          </a:xfrm>
          <a:prstGeom prst="rect">
            <a:avLst/>
          </a:prstGeom>
          <a:noFill/>
          <a:ln/>
        </p:spPr>
        <p:txBody>
          <a:bodyPr wrap="square" lIns="0" tIns="0" rIns="0" bIns="0" rtlCol="0" anchor="ctr"/>
          <a:lstStyle/>
          <a:p>
            <a:pPr algn="l" indent="0" marL="0">
              <a:buNone/>
            </a:pPr>
            <a:r>
              <a:rPr lang="en-US" sz="1300" b="1" dirty="0">
                <a:solidFill>
                  <a:srgbClr val="243B53"/>
                </a:solidFill>
                <a:latin typeface="Aptos" pitchFamily="34" charset="0"/>
                <a:ea typeface="Aptos" pitchFamily="34" charset="-122"/>
                <a:cs typeface="Aptos" pitchFamily="34" charset="-120"/>
              </a:rPr>
              <a:t>Después de la jornada</a:t>
            </a:r>
            <a:endParaRPr lang="en-US" sz="1300" dirty="0"/>
          </a:p>
        </p:txBody>
      </p:sp>
      <p:sp>
        <p:nvSpPr>
          <p:cNvPr id="31" name="Text 28"/>
          <p:cNvSpPr txBox="1"/>
          <p:nvPr/>
        </p:nvSpPr>
        <p:spPr>
          <a:xfrm>
            <a:off x="3712464" y="4059936"/>
            <a:ext cx="2194560" cy="548640"/>
          </a:xfrm>
          <a:prstGeom prst="rect">
            <a:avLst/>
          </a:prstGeom>
          <a:noFill/>
          <a:ln/>
        </p:spPr>
        <p:txBody>
          <a:bodyPr wrap="square" lIns="0" tIns="0" rIns="0" bIns="0" rtlCol="0" anchor="ctr"/>
          <a:lstStyle/>
          <a:p>
            <a:pPr algn="l" indent="0" marL="0">
              <a:buNone/>
            </a:pPr>
            <a:r>
              <a:rPr lang="en-US" sz="1200" dirty="0">
                <a:solidFill>
                  <a:srgbClr val="243B53"/>
                </a:solidFill>
                <a:latin typeface="Consolas" pitchFamily="34" charset="0"/>
                <a:ea typeface="Consolas" pitchFamily="34" charset="-122"/>
                <a:cs typeface="Consolas" pitchFamily="34" charset="-120"/>
              </a:rPr>
              <a:t>bloque &gt; 8</a:t>
            </a:r>
            <a:endParaRPr lang="en-US" sz="1200" dirty="0"/>
          </a:p>
        </p:txBody>
      </p:sp>
      <p:sp>
        <p:nvSpPr>
          <p:cNvPr id="32" name="Text 29"/>
          <p:cNvSpPr txBox="1"/>
          <p:nvPr/>
        </p:nvSpPr>
        <p:spPr>
          <a:xfrm>
            <a:off x="6181344" y="4059936"/>
            <a:ext cx="2743200" cy="548640"/>
          </a:xfrm>
          <a:prstGeom prst="rect">
            <a:avLst/>
          </a:prstGeom>
          <a:noFill/>
          <a:ln/>
        </p:spPr>
        <p:txBody>
          <a:bodyPr wrap="square" lIns="0" tIns="0" rIns="0" bIns="0" rtlCol="0" anchor="ctr"/>
          <a:lstStyle/>
          <a:p>
            <a:pPr algn="l" indent="0" marL="0">
              <a:buNone/>
            </a:pPr>
            <a:r>
              <a:rPr lang="en-US" sz="1260" dirty="0">
                <a:solidFill>
                  <a:srgbClr val="243B53"/>
                </a:solidFill>
                <a:latin typeface="Aptos" pitchFamily="34" charset="0"/>
                <a:ea typeface="Aptos" pitchFamily="34" charset="-122"/>
                <a:cs typeface="Aptos" pitchFamily="34" charset="-120"/>
              </a:rPr>
              <a:t>False: no pertenece</a:t>
            </a:r>
            <a:endParaRPr lang="en-US" sz="1260" dirty="0"/>
          </a:p>
        </p:txBody>
      </p:sp>
      <p:sp>
        <p:nvSpPr>
          <p:cNvPr id="33" name="Text 30"/>
          <p:cNvSpPr txBox="1"/>
          <p:nvPr/>
        </p:nvSpPr>
        <p:spPr>
          <a:xfrm>
            <a:off x="9198864" y="4059936"/>
            <a:ext cx="2276856" cy="548640"/>
          </a:xfrm>
          <a:prstGeom prst="rect">
            <a:avLst/>
          </a:prstGeom>
          <a:noFill/>
          <a:ln/>
        </p:spPr>
        <p:txBody>
          <a:bodyPr wrap="square" lIns="0" tIns="0" rIns="0" bIns="0" rtlCol="0" anchor="ctr"/>
          <a:lstStyle/>
          <a:p>
            <a:pPr algn="l" indent="0" marL="0">
              <a:buNone/>
            </a:pPr>
            <a:r>
              <a:rPr lang="en-US" sz="1500" b="1" dirty="0">
                <a:solidFill>
                  <a:srgbClr val="B3181E"/>
                </a:solidFill>
                <a:latin typeface="Consolas" pitchFamily="34" charset="0"/>
                <a:ea typeface="Consolas" pitchFamily="34" charset="-122"/>
                <a:cs typeface="Consolas" pitchFamily="34" charset="-120"/>
              </a:rPr>
              <a:t>12</a:t>
            </a:r>
            <a:endParaRPr lang="en-US" sz="1500" dirty="0"/>
          </a:p>
        </p:txBody>
      </p:sp>
      <p:sp>
        <p:nvSpPr>
          <p:cNvPr id="34" name="Shape 31"/>
          <p:cNvSpPr/>
          <p:nvPr/>
        </p:nvSpPr>
        <p:spPr>
          <a:xfrm>
            <a:off x="658368" y="4773168"/>
            <a:ext cx="10874959" cy="896112"/>
          </a:xfrm>
          <a:prstGeom prst="rect">
            <a:avLst/>
          </a:prstGeom>
          <a:solidFill>
            <a:srgbClr val="FFFFFF"/>
          </a:solidFill>
          <a:ln w="12700">
            <a:solidFill>
              <a:srgbClr val="FFFFFF"/>
            </a:solidFill>
            <a:prstDash val="solid"/>
          </a:ln>
        </p:spPr>
      </p:sp>
      <p:sp>
        <p:nvSpPr>
          <p:cNvPr id="35" name="Shape 32"/>
          <p:cNvSpPr/>
          <p:nvPr/>
        </p:nvSpPr>
        <p:spPr>
          <a:xfrm>
            <a:off x="658368" y="4773168"/>
            <a:ext cx="64008" cy="896112"/>
          </a:xfrm>
          <a:prstGeom prst="rect">
            <a:avLst/>
          </a:prstGeom>
          <a:solidFill>
            <a:srgbClr val="102A43"/>
          </a:solidFill>
          <a:ln w="12700">
            <a:solidFill>
              <a:srgbClr val="102A43"/>
            </a:solidFill>
            <a:prstDash val="solid"/>
          </a:ln>
        </p:spPr>
      </p:sp>
      <p:sp>
        <p:nvSpPr>
          <p:cNvPr id="36" name="Text 33"/>
          <p:cNvSpPr txBox="1"/>
          <p:nvPr/>
        </p:nvSpPr>
        <p:spPr>
          <a:xfrm>
            <a:off x="987552" y="4937760"/>
            <a:ext cx="548640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POR QUÉ LAS DOS CLASES INVÁLIDAS NO SE JUNTAN</a:t>
            </a:r>
            <a:endParaRPr lang="en-US" sz="960" dirty="0"/>
          </a:p>
        </p:txBody>
      </p:sp>
      <p:sp>
        <p:nvSpPr>
          <p:cNvPr id="37" name="Text 34"/>
          <p:cNvSpPr txBox="1"/>
          <p:nvPr/>
        </p:nvSpPr>
        <p:spPr>
          <a:xfrm>
            <a:off x="987552" y="5175504"/>
            <a:ext cx="10216591" cy="438912"/>
          </a:xfrm>
          <a:prstGeom prst="rect">
            <a:avLst/>
          </a:prstGeom>
          <a:noFill/>
          <a:ln/>
        </p:spPr>
        <p:txBody>
          <a:bodyPr wrap="square" lIns="0" tIns="0" rIns="0" bIns="0" rtlCol="0" anchor="t"/>
          <a:lstStyle/>
          <a:p>
            <a:pPr algn="l" indent="0" marL="0">
              <a:lnSpc>
                <a:spcPct val="114000"/>
              </a:lnSpc>
              <a:buNone/>
            </a:pPr>
            <a:r>
              <a:rPr lang="en-US" sz="1280" dirty="0">
                <a:solidFill>
                  <a:srgbClr val="243B53"/>
                </a:solidFill>
                <a:latin typeface="Aptos" pitchFamily="34" charset="0"/>
                <a:ea typeface="Aptos" pitchFamily="34" charset="-122"/>
                <a:cs typeface="Aptos" pitchFamily="34" charset="-120"/>
              </a:rPr>
              <a:t>Esperan el mismo resultado, pero rechazar por debajo y rechazar por encima son restricciones distintas:</a:t>
            </a:r>
            <a:endParaRPr lang="en-US" sz="1280" dirty="0"/>
          </a:p>
          <a:p>
            <a:pPr algn="l" indent="0" marL="0">
              <a:lnSpc>
                <a:spcPct val="114000"/>
              </a:lnSpc>
              <a:buNone/>
            </a:pPr>
            <a:r>
              <a:rPr lang="en-US" sz="1280" dirty="0">
                <a:solidFill>
                  <a:srgbClr val="243B53"/>
                </a:solidFill>
                <a:latin typeface="Aptos" pitchFamily="34" charset="0"/>
                <a:ea typeface="Aptos" pitchFamily="34" charset="-122"/>
                <a:cs typeface="Aptos" pitchFamily="34" charset="-120"/>
              </a:rPr>
              <a:t>una puede estar bien implementada y la otra no.</a:t>
            </a:r>
            <a:endParaRPr lang="en-US" sz="1280" dirty="0"/>
          </a:p>
        </p:txBody>
      </p:sp>
      <p:sp>
        <p:nvSpPr>
          <p:cNvPr id="38" name="Shape 35"/>
          <p:cNvSpPr/>
          <p:nvPr/>
        </p:nvSpPr>
        <p:spPr>
          <a:xfrm>
            <a:off x="658368" y="5870448"/>
            <a:ext cx="10874959" cy="493776"/>
          </a:xfrm>
          <a:prstGeom prst="rect">
            <a:avLst/>
          </a:prstGeom>
          <a:solidFill>
            <a:srgbClr val="102A43"/>
          </a:solidFill>
          <a:ln w="12700">
            <a:solidFill>
              <a:srgbClr val="102A43"/>
            </a:solidFill>
            <a:prstDash val="solid"/>
          </a:ln>
        </p:spPr>
      </p:sp>
      <p:sp>
        <p:nvSpPr>
          <p:cNvPr id="39" name="Text 36"/>
          <p:cNvSpPr txBox="1"/>
          <p:nvPr/>
        </p:nvSpPr>
        <p:spPr>
          <a:xfrm>
            <a:off x="969264" y="5907024"/>
            <a:ext cx="10253167" cy="420624"/>
          </a:xfrm>
          <a:prstGeom prst="rect">
            <a:avLst/>
          </a:prstGeom>
          <a:noFill/>
          <a:ln/>
        </p:spPr>
        <p:txBody>
          <a:bodyPr wrap="square" lIns="0" tIns="0" rIns="0" bIns="0" rtlCol="0" anchor="ctr"/>
          <a:lstStyle/>
          <a:p>
            <a:pPr algn="ctr" indent="0" marL="0">
              <a:lnSpc>
                <a:spcPct val="110000"/>
              </a:lnSpc>
              <a:buNone/>
            </a:pPr>
            <a:r>
              <a:rPr lang="en-US" sz="1280" b="1" dirty="0">
                <a:solidFill>
                  <a:srgbClr val="FFFFFF"/>
                </a:solidFill>
                <a:latin typeface="Aptos" pitchFamily="34" charset="0"/>
                <a:ea typeface="Aptos" pitchFamily="34" charset="-122"/>
                <a:cs typeface="Aptos" pitchFamily="34" charset="-120"/>
              </a:rPr>
              <a:t>«Válido o inválido» describe la entrada frente al requisito. «Pasa o falla» describe la comparación. Para -5, la prueba pasa si recibe False.</a:t>
            </a:r>
            <a:endParaRPr lang="en-US" sz="128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32</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CÓMO SE REVISA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Una partición se comprueba sin ejecutar nada</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Dos propiedades bastan para detectar los dos errores que se cometen al particionar.</a:t>
            </a:r>
            <a:endParaRPr lang="en-US" sz="1450" dirty="0"/>
          </a:p>
        </p:txBody>
      </p:sp>
      <p:sp>
        <p:nvSpPr>
          <p:cNvPr id="11" name="Shape 8"/>
          <p:cNvSpPr/>
          <p:nvPr/>
        </p:nvSpPr>
        <p:spPr>
          <a:xfrm>
            <a:off x="658368" y="2322576"/>
            <a:ext cx="5358384" cy="1755648"/>
          </a:xfrm>
          <a:prstGeom prst="rect">
            <a:avLst/>
          </a:prstGeom>
          <a:solidFill>
            <a:srgbClr val="F8E4E5"/>
          </a:solidFill>
          <a:ln w="12700">
            <a:solidFill>
              <a:srgbClr val="F8E4E5"/>
            </a:solidFill>
            <a:prstDash val="solid"/>
          </a:ln>
        </p:spPr>
      </p:sp>
      <p:sp>
        <p:nvSpPr>
          <p:cNvPr id="12" name="Shape 9"/>
          <p:cNvSpPr/>
          <p:nvPr/>
        </p:nvSpPr>
        <p:spPr>
          <a:xfrm>
            <a:off x="658368" y="2322576"/>
            <a:ext cx="5358384" cy="64008"/>
          </a:xfrm>
          <a:prstGeom prst="rect">
            <a:avLst/>
          </a:prstGeom>
          <a:solidFill>
            <a:srgbClr val="B3181E"/>
          </a:solidFill>
          <a:ln w="12700">
            <a:solidFill>
              <a:srgbClr val="B3181E"/>
            </a:solidFill>
            <a:prstDash val="solid"/>
          </a:ln>
        </p:spPr>
      </p:sp>
      <p:sp>
        <p:nvSpPr>
          <p:cNvPr id="13" name="Text 10"/>
          <p:cNvSpPr txBox="1"/>
          <p:nvPr/>
        </p:nvSpPr>
        <p:spPr>
          <a:xfrm>
            <a:off x="950976" y="2505456"/>
            <a:ext cx="4754880" cy="310896"/>
          </a:xfrm>
          <a:prstGeom prst="rect">
            <a:avLst/>
          </a:prstGeom>
          <a:noFill/>
          <a:ln/>
        </p:spPr>
        <p:txBody>
          <a:bodyPr wrap="square" lIns="0" tIns="0" rIns="0" bIns="0" rtlCol="0" anchor="t"/>
          <a:lstStyle/>
          <a:p>
            <a:pPr algn="l" indent="0" marL="0">
              <a:buNone/>
            </a:pPr>
            <a:r>
              <a:rPr lang="en-US" sz="2100" b="1" dirty="0">
                <a:solidFill>
                  <a:srgbClr val="B3181E"/>
                </a:solidFill>
                <a:latin typeface="Aptos Display" pitchFamily="34" charset="0"/>
                <a:ea typeface="Aptos Display" pitchFamily="34" charset="-122"/>
                <a:cs typeface="Aptos Display" pitchFamily="34" charset="-120"/>
              </a:rPr>
              <a:t>Sin huecos</a:t>
            </a:r>
            <a:endParaRPr lang="en-US" sz="2100" dirty="0"/>
          </a:p>
        </p:txBody>
      </p:sp>
      <p:sp>
        <p:nvSpPr>
          <p:cNvPr id="14" name="Text 11"/>
          <p:cNvSpPr txBox="1"/>
          <p:nvPr/>
        </p:nvSpPr>
        <p:spPr>
          <a:xfrm>
            <a:off x="950976" y="2889504"/>
            <a:ext cx="4754880" cy="256032"/>
          </a:xfrm>
          <a:prstGeom prst="rect">
            <a:avLst/>
          </a:prstGeom>
          <a:noFill/>
          <a:ln/>
        </p:spPr>
        <p:txBody>
          <a:bodyPr wrap="square" lIns="0" tIns="0" rIns="0" bIns="0" rtlCol="0" anchor="t"/>
          <a:lstStyle/>
          <a:p>
            <a:pPr algn="l" indent="0" marL="0">
              <a:buNone/>
            </a:pPr>
            <a:r>
              <a:rPr lang="en-US" sz="1340" b="1" dirty="0">
                <a:solidFill>
                  <a:srgbClr val="243B53"/>
                </a:solidFill>
                <a:latin typeface="Aptos" pitchFamily="34" charset="0"/>
                <a:ea typeface="Aptos" pitchFamily="34" charset="-122"/>
                <a:cs typeface="Aptos" pitchFamily="34" charset="-120"/>
              </a:rPr>
              <a:t>Todo valor del dominio pertenece a alguna clase.</a:t>
            </a:r>
            <a:endParaRPr lang="en-US" sz="1340" dirty="0"/>
          </a:p>
        </p:txBody>
      </p:sp>
      <p:sp>
        <p:nvSpPr>
          <p:cNvPr id="15" name="Text 12"/>
          <p:cNvSpPr txBox="1"/>
          <p:nvPr/>
        </p:nvSpPr>
        <p:spPr>
          <a:xfrm>
            <a:off x="950976" y="3236976"/>
            <a:ext cx="4754880" cy="640080"/>
          </a:xfrm>
          <a:prstGeom prst="rect">
            <a:avLst/>
          </a:prstGeom>
          <a:noFill/>
          <a:ln/>
        </p:spPr>
        <p:txBody>
          <a:bodyPr wrap="square" lIns="0" tIns="0" rIns="0" bIns="0" rtlCol="0" anchor="t"/>
          <a:lstStyle/>
          <a:p>
            <a:pPr algn="l" indent="0" marL="0">
              <a:lnSpc>
                <a:spcPct val="116000"/>
              </a:lnSpc>
              <a:buNone/>
            </a:pPr>
            <a:r>
              <a:rPr lang="en-US" sz="1240" dirty="0">
                <a:solidFill>
                  <a:srgbClr val="243B53"/>
                </a:solidFill>
                <a:latin typeface="Aptos" pitchFamily="34" charset="0"/>
                <a:ea typeface="Aptos" pitchFamily="34" charset="-122"/>
                <a:cs typeface="Aptos" pitchFamily="34" charset="-120"/>
              </a:rPr>
              <a:t>Con «bloque &lt; 1» y «1 &lt; bloque &lt;= 8», el 1 no entra en ninguna: en la primera falta el igual, y en la segunda también.</a:t>
            </a:r>
            <a:endParaRPr lang="en-US" sz="1240" dirty="0"/>
          </a:p>
        </p:txBody>
      </p:sp>
      <p:sp>
        <p:nvSpPr>
          <p:cNvPr id="16" name="Shape 13"/>
          <p:cNvSpPr/>
          <p:nvPr/>
        </p:nvSpPr>
        <p:spPr>
          <a:xfrm>
            <a:off x="6172200" y="2322576"/>
            <a:ext cx="5358384" cy="1755648"/>
          </a:xfrm>
          <a:prstGeom prst="rect">
            <a:avLst/>
          </a:prstGeom>
          <a:solidFill>
            <a:srgbClr val="F2E7D9"/>
          </a:solidFill>
          <a:ln w="12700">
            <a:solidFill>
              <a:srgbClr val="F2E7D9"/>
            </a:solidFill>
            <a:prstDash val="solid"/>
          </a:ln>
        </p:spPr>
      </p:sp>
      <p:sp>
        <p:nvSpPr>
          <p:cNvPr id="17" name="Shape 14"/>
          <p:cNvSpPr/>
          <p:nvPr/>
        </p:nvSpPr>
        <p:spPr>
          <a:xfrm>
            <a:off x="6172200" y="2322576"/>
            <a:ext cx="5358384" cy="64008"/>
          </a:xfrm>
          <a:prstGeom prst="rect">
            <a:avLst/>
          </a:prstGeom>
          <a:solidFill>
            <a:srgbClr val="8A6A12"/>
          </a:solidFill>
          <a:ln w="12700">
            <a:solidFill>
              <a:srgbClr val="8A6A12"/>
            </a:solidFill>
            <a:prstDash val="solid"/>
          </a:ln>
        </p:spPr>
      </p:sp>
      <p:sp>
        <p:nvSpPr>
          <p:cNvPr id="18" name="Text 15"/>
          <p:cNvSpPr txBox="1"/>
          <p:nvPr/>
        </p:nvSpPr>
        <p:spPr>
          <a:xfrm>
            <a:off x="6464808" y="2505456"/>
            <a:ext cx="4754880" cy="310896"/>
          </a:xfrm>
          <a:prstGeom prst="rect">
            <a:avLst/>
          </a:prstGeom>
          <a:noFill/>
          <a:ln/>
        </p:spPr>
        <p:txBody>
          <a:bodyPr wrap="square" lIns="0" tIns="0" rIns="0" bIns="0" rtlCol="0" anchor="t"/>
          <a:lstStyle/>
          <a:p>
            <a:pPr algn="l" indent="0" marL="0">
              <a:buNone/>
            </a:pPr>
            <a:r>
              <a:rPr lang="en-US" sz="2100" b="1" dirty="0">
                <a:solidFill>
                  <a:srgbClr val="8A6A12"/>
                </a:solidFill>
                <a:latin typeface="Aptos Display" pitchFamily="34" charset="0"/>
                <a:ea typeface="Aptos Display" pitchFamily="34" charset="-122"/>
                <a:cs typeface="Aptos Display" pitchFamily="34" charset="-120"/>
              </a:rPr>
              <a:t>Sin solapamientos</a:t>
            </a:r>
            <a:endParaRPr lang="en-US" sz="2100" dirty="0"/>
          </a:p>
        </p:txBody>
      </p:sp>
      <p:sp>
        <p:nvSpPr>
          <p:cNvPr id="19" name="Text 16"/>
          <p:cNvSpPr txBox="1"/>
          <p:nvPr/>
        </p:nvSpPr>
        <p:spPr>
          <a:xfrm>
            <a:off x="6464808" y="2889504"/>
            <a:ext cx="4754880" cy="256032"/>
          </a:xfrm>
          <a:prstGeom prst="rect">
            <a:avLst/>
          </a:prstGeom>
          <a:noFill/>
          <a:ln/>
        </p:spPr>
        <p:txBody>
          <a:bodyPr wrap="square" lIns="0" tIns="0" rIns="0" bIns="0" rtlCol="0" anchor="t"/>
          <a:lstStyle/>
          <a:p>
            <a:pPr algn="l" indent="0" marL="0">
              <a:buNone/>
            </a:pPr>
            <a:r>
              <a:rPr lang="en-US" sz="1340" b="1" dirty="0">
                <a:solidFill>
                  <a:srgbClr val="243B53"/>
                </a:solidFill>
                <a:latin typeface="Aptos" pitchFamily="34" charset="0"/>
                <a:ea typeface="Aptos" pitchFamily="34" charset="-122"/>
                <a:cs typeface="Aptos" pitchFamily="34" charset="-120"/>
              </a:rPr>
              <a:t>Ningún valor pertenece a dos clases a la vez.</a:t>
            </a:r>
            <a:endParaRPr lang="en-US" sz="1340" dirty="0"/>
          </a:p>
        </p:txBody>
      </p:sp>
      <p:sp>
        <p:nvSpPr>
          <p:cNvPr id="20" name="Text 17"/>
          <p:cNvSpPr txBox="1"/>
          <p:nvPr/>
        </p:nvSpPr>
        <p:spPr>
          <a:xfrm>
            <a:off x="6464808" y="3236976"/>
            <a:ext cx="4754880" cy="640080"/>
          </a:xfrm>
          <a:prstGeom prst="rect">
            <a:avLst/>
          </a:prstGeom>
          <a:noFill/>
          <a:ln/>
        </p:spPr>
        <p:txBody>
          <a:bodyPr wrap="square" lIns="0" tIns="0" rIns="0" bIns="0" rtlCol="0" anchor="t"/>
          <a:lstStyle/>
          <a:p>
            <a:pPr algn="l" indent="0" marL="0">
              <a:lnSpc>
                <a:spcPct val="116000"/>
              </a:lnSpc>
              <a:buNone/>
            </a:pPr>
            <a:r>
              <a:rPr lang="en-US" sz="1240" dirty="0">
                <a:solidFill>
                  <a:srgbClr val="243B53"/>
                </a:solidFill>
                <a:latin typeface="Aptos" pitchFamily="34" charset="0"/>
                <a:ea typeface="Aptos" pitchFamily="34" charset="-122"/>
                <a:cs typeface="Aptos" pitchFamily="34" charset="-120"/>
              </a:rPr>
              <a:t>Si un valor cae en dos clases con expectativas distintas, la partición se contradice a sí misma.</a:t>
            </a:r>
            <a:endParaRPr lang="en-US" sz="1240" dirty="0"/>
          </a:p>
        </p:txBody>
      </p:sp>
      <p:sp>
        <p:nvSpPr>
          <p:cNvPr id="21" name="Shape 18"/>
          <p:cNvSpPr/>
          <p:nvPr/>
        </p:nvSpPr>
        <p:spPr>
          <a:xfrm>
            <a:off x="658368" y="4279392"/>
            <a:ext cx="10874959" cy="1261872"/>
          </a:xfrm>
          <a:prstGeom prst="roundRect">
            <a:avLst>
              <a:gd name="adj" fmla="val 2899"/>
            </a:avLst>
          </a:prstGeom>
          <a:solidFill>
            <a:srgbClr val="102A43"/>
          </a:solidFill>
          <a:ln w="12700">
            <a:solidFill>
              <a:srgbClr val="102A43"/>
            </a:solidFill>
            <a:prstDash val="solid"/>
          </a:ln>
        </p:spPr>
      </p:sp>
      <p:sp>
        <p:nvSpPr>
          <p:cNvPr id="22" name="Shape 19"/>
          <p:cNvSpPr/>
          <p:nvPr/>
        </p:nvSpPr>
        <p:spPr>
          <a:xfrm>
            <a:off x="786384" y="4389120"/>
            <a:ext cx="10618927" cy="310896"/>
          </a:xfrm>
          <a:prstGeom prst="roundRect">
            <a:avLst>
              <a:gd name="adj" fmla="val 8824"/>
            </a:avLst>
          </a:prstGeom>
          <a:solidFill>
            <a:srgbClr val="284B75"/>
          </a:solidFill>
          <a:ln w="12700">
            <a:solidFill>
              <a:srgbClr val="284B75"/>
            </a:solidFill>
            <a:prstDash val="solid"/>
          </a:ln>
        </p:spPr>
      </p:sp>
      <p:sp>
        <p:nvSpPr>
          <p:cNvPr id="23" name="Text 20"/>
          <p:cNvSpPr/>
          <p:nvPr/>
        </p:nvSpPr>
        <p:spPr>
          <a:xfrm>
            <a:off x="896112" y="4462272"/>
            <a:ext cx="10399471"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El hueco, escrito: el 1 no cae en ninguna de las dos condiciones</a:t>
            </a:r>
            <a:endParaRPr lang="en-US" sz="1000" dirty="0"/>
          </a:p>
        </p:txBody>
      </p:sp>
      <p:pic>
        <p:nvPicPr>
          <p:cNvPr id="2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4846320"/>
            <a:ext cx="10454335" cy="512064"/>
          </a:xfrm>
          <a:prstGeom prst="rect">
            <a:avLst/>
          </a:prstGeom>
        </p:spPr>
      </p:pic>
      <p:sp>
        <p:nvSpPr>
          <p:cNvPr id="25" name="Shape 21"/>
          <p:cNvSpPr/>
          <p:nvPr/>
        </p:nvSpPr>
        <p:spPr>
          <a:xfrm>
            <a:off x="658368" y="5705856"/>
            <a:ext cx="10874959" cy="512064"/>
          </a:xfrm>
          <a:prstGeom prst="rect">
            <a:avLst/>
          </a:prstGeom>
          <a:solidFill>
            <a:srgbClr val="102A43"/>
          </a:solidFill>
          <a:ln w="12700">
            <a:solidFill>
              <a:srgbClr val="102A43"/>
            </a:solidFill>
            <a:prstDash val="solid"/>
          </a:ln>
        </p:spPr>
      </p:sp>
      <p:sp>
        <p:nvSpPr>
          <p:cNvPr id="26" name="Text 22"/>
          <p:cNvSpPr txBox="1"/>
          <p:nvPr/>
        </p:nvSpPr>
        <p:spPr>
          <a:xfrm>
            <a:off x="969264" y="5742432"/>
            <a:ext cx="10253167" cy="438912"/>
          </a:xfrm>
          <a:prstGeom prst="rect">
            <a:avLst/>
          </a:prstGeom>
          <a:noFill/>
          <a:ln/>
        </p:spPr>
        <p:txBody>
          <a:bodyPr wrap="square" lIns="0" tIns="0" rIns="0" bIns="0" rtlCol="0" anchor="ctr"/>
          <a:lstStyle/>
          <a:p>
            <a:pPr algn="ctr" indent="0" marL="0">
              <a:lnSpc>
                <a:spcPct val="110000"/>
              </a:lnSpc>
              <a:buNone/>
            </a:pPr>
            <a:r>
              <a:rPr lang="en-US" sz="1340" b="1" dirty="0">
                <a:solidFill>
                  <a:srgbClr val="FFFFFF"/>
                </a:solidFill>
                <a:latin typeface="Aptos" pitchFamily="34" charset="0"/>
                <a:ea typeface="Aptos" pitchFamily="34" charset="-122"/>
                <a:cs typeface="Aptos" pitchFamily="34" charset="-120"/>
              </a:rPr>
              <a:t>Dividir más fino es una decisión de diseño: no hay una única partición útil para toda pregunta sobre una función.</a:t>
            </a:r>
            <a:endParaRPr lang="en-US" sz="134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33</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EL DIAGNÓSTICO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Ahora se puede decir qué representaba la suite</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Con la partición escrita, la pregunta del Bloque 1 tiene respuesta exacta.</a:t>
            </a:r>
            <a:endParaRPr lang="en-US" sz="1450" dirty="0"/>
          </a:p>
        </p:txBody>
      </p:sp>
      <p:sp>
        <p:nvSpPr>
          <p:cNvPr id="11" name="Shape 8"/>
          <p:cNvSpPr/>
          <p:nvPr/>
        </p:nvSpPr>
        <p:spPr>
          <a:xfrm>
            <a:off x="658368" y="2286000"/>
            <a:ext cx="5394960" cy="1737360"/>
          </a:xfrm>
          <a:prstGeom prst="roundRect">
            <a:avLst>
              <a:gd name="adj" fmla="val 2105"/>
            </a:avLst>
          </a:prstGeom>
          <a:solidFill>
            <a:srgbClr val="102A43"/>
          </a:solidFill>
          <a:ln w="12700">
            <a:solidFill>
              <a:srgbClr val="102A43"/>
            </a:solidFill>
            <a:prstDash val="solid"/>
          </a:ln>
        </p:spPr>
      </p:sp>
      <p:sp>
        <p:nvSpPr>
          <p:cNvPr id="12" name="Shape 9"/>
          <p:cNvSpPr/>
          <p:nvPr/>
        </p:nvSpPr>
        <p:spPr>
          <a:xfrm>
            <a:off x="786384" y="2395728"/>
            <a:ext cx="513892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68880"/>
            <a:ext cx="491947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puede_reservar(reservas, bloque, tomado)</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4974336" cy="987552"/>
          </a:xfrm>
          <a:prstGeom prst="rect">
            <a:avLst/>
          </a:prstGeom>
        </p:spPr>
      </p:pic>
      <p:sp>
        <p:nvSpPr>
          <p:cNvPr id="15" name="Shape 11"/>
          <p:cNvSpPr/>
          <p:nvPr/>
        </p:nvSpPr>
        <p:spPr>
          <a:xfrm>
            <a:off x="6236208" y="2286000"/>
            <a:ext cx="5294376" cy="530352"/>
          </a:xfrm>
          <a:prstGeom prst="rect">
            <a:avLst/>
          </a:prstGeom>
          <a:solidFill>
            <a:srgbClr val="F8E4E5"/>
          </a:solidFill>
          <a:ln w="12700">
            <a:solidFill>
              <a:srgbClr val="F8E4E5"/>
            </a:solidFill>
            <a:prstDash val="solid"/>
          </a:ln>
        </p:spPr>
      </p:sp>
      <p:sp>
        <p:nvSpPr>
          <p:cNvPr id="16" name="Shape 12"/>
          <p:cNvSpPr/>
          <p:nvPr/>
        </p:nvSpPr>
        <p:spPr>
          <a:xfrm>
            <a:off x="6236208" y="2286000"/>
            <a:ext cx="54864" cy="530352"/>
          </a:xfrm>
          <a:prstGeom prst="rect">
            <a:avLst/>
          </a:prstGeom>
          <a:solidFill>
            <a:srgbClr val="B3181E"/>
          </a:solidFill>
          <a:ln w="12700">
            <a:solidFill>
              <a:srgbClr val="B3181E"/>
            </a:solidFill>
            <a:prstDash val="solid"/>
          </a:ln>
        </p:spPr>
      </p:sp>
      <p:sp>
        <p:nvSpPr>
          <p:cNvPr id="17" name="Text 13"/>
          <p:cNvSpPr txBox="1"/>
          <p:nvPr/>
        </p:nvSpPr>
        <p:spPr>
          <a:xfrm>
            <a:off x="6510528" y="2304288"/>
            <a:ext cx="2468880" cy="493776"/>
          </a:xfrm>
          <a:prstGeom prst="rect">
            <a:avLst/>
          </a:prstGeom>
          <a:noFill/>
          <a:ln/>
        </p:spPr>
        <p:txBody>
          <a:bodyPr wrap="square" lIns="0" tIns="0" rIns="0" bIns="0" rtlCol="0" anchor="ctr"/>
          <a:lstStyle/>
          <a:p>
            <a:pPr algn="l" indent="0" marL="0">
              <a:buNone/>
            </a:pPr>
            <a:r>
              <a:rPr lang="en-US" sz="1240" b="1" dirty="0">
                <a:solidFill>
                  <a:srgbClr val="243B53"/>
                </a:solidFill>
                <a:latin typeface="Aptos" pitchFamily="34" charset="0"/>
                <a:ea typeface="Aptos" pitchFamily="34" charset="-122"/>
                <a:cs typeface="Aptos" pitchFamily="34" charset="-120"/>
              </a:rPr>
              <a:t>Antes de la jornada</a:t>
            </a:r>
            <a:endParaRPr lang="en-US" sz="1240" dirty="0"/>
          </a:p>
        </p:txBody>
      </p:sp>
      <p:sp>
        <p:nvSpPr>
          <p:cNvPr id="18" name="Text 14"/>
          <p:cNvSpPr txBox="1"/>
          <p:nvPr/>
        </p:nvSpPr>
        <p:spPr>
          <a:xfrm>
            <a:off x="9052560" y="2304288"/>
            <a:ext cx="2286000" cy="493776"/>
          </a:xfrm>
          <a:prstGeom prst="rect">
            <a:avLst/>
          </a:prstGeom>
          <a:noFill/>
          <a:ln/>
        </p:spPr>
        <p:txBody>
          <a:bodyPr wrap="square" lIns="0" tIns="0" rIns="0" bIns="0" rtlCol="0" anchor="ctr"/>
          <a:lstStyle/>
          <a:p>
            <a:pPr algn="l" indent="0" marL="0">
              <a:buNone/>
            </a:pPr>
            <a:r>
              <a:rPr lang="en-US" sz="1160" dirty="0">
                <a:solidFill>
                  <a:srgbClr val="B3181E"/>
                </a:solidFill>
                <a:latin typeface="Aptos" pitchFamily="34" charset="0"/>
                <a:ea typeface="Aptos" pitchFamily="34" charset="-122"/>
                <a:cs typeface="Aptos" pitchFamily="34" charset="-120"/>
              </a:rPr>
              <a:t>0 representantes</a:t>
            </a:r>
            <a:endParaRPr lang="en-US" sz="1160" dirty="0"/>
          </a:p>
        </p:txBody>
      </p:sp>
      <p:sp>
        <p:nvSpPr>
          <p:cNvPr id="19" name="Shape 15"/>
          <p:cNvSpPr/>
          <p:nvPr/>
        </p:nvSpPr>
        <p:spPr>
          <a:xfrm>
            <a:off x="6236208" y="2889504"/>
            <a:ext cx="5294376" cy="530352"/>
          </a:xfrm>
          <a:prstGeom prst="rect">
            <a:avLst/>
          </a:prstGeom>
          <a:solidFill>
            <a:srgbClr val="E9F6EE"/>
          </a:solidFill>
          <a:ln w="12700">
            <a:solidFill>
              <a:srgbClr val="E9F6EE"/>
            </a:solidFill>
            <a:prstDash val="solid"/>
          </a:ln>
        </p:spPr>
      </p:sp>
      <p:sp>
        <p:nvSpPr>
          <p:cNvPr id="20" name="Shape 16"/>
          <p:cNvSpPr/>
          <p:nvPr/>
        </p:nvSpPr>
        <p:spPr>
          <a:xfrm>
            <a:off x="6236208" y="2889504"/>
            <a:ext cx="54864" cy="530352"/>
          </a:xfrm>
          <a:prstGeom prst="rect">
            <a:avLst/>
          </a:prstGeom>
          <a:solidFill>
            <a:srgbClr val="2E7D4F"/>
          </a:solidFill>
          <a:ln w="12700">
            <a:solidFill>
              <a:srgbClr val="2E7D4F"/>
            </a:solidFill>
            <a:prstDash val="solid"/>
          </a:ln>
        </p:spPr>
      </p:sp>
      <p:sp>
        <p:nvSpPr>
          <p:cNvPr id="21" name="Text 17"/>
          <p:cNvSpPr txBox="1"/>
          <p:nvPr/>
        </p:nvSpPr>
        <p:spPr>
          <a:xfrm>
            <a:off x="6510528" y="2907792"/>
            <a:ext cx="2468880" cy="493776"/>
          </a:xfrm>
          <a:prstGeom prst="rect">
            <a:avLst/>
          </a:prstGeom>
          <a:noFill/>
          <a:ln/>
        </p:spPr>
        <p:txBody>
          <a:bodyPr wrap="square" lIns="0" tIns="0" rIns="0" bIns="0" rtlCol="0" anchor="ctr"/>
          <a:lstStyle/>
          <a:p>
            <a:pPr algn="l" indent="0" marL="0">
              <a:buNone/>
            </a:pPr>
            <a:r>
              <a:rPr lang="en-US" sz="1240" b="1" dirty="0">
                <a:solidFill>
                  <a:srgbClr val="243B53"/>
                </a:solidFill>
                <a:latin typeface="Aptos" pitchFamily="34" charset="0"/>
                <a:ea typeface="Aptos" pitchFamily="34" charset="-122"/>
                <a:cs typeface="Aptos" pitchFamily="34" charset="-120"/>
              </a:rPr>
              <a:t>Dentro de la jornada</a:t>
            </a:r>
            <a:endParaRPr lang="en-US" sz="1240" dirty="0"/>
          </a:p>
        </p:txBody>
      </p:sp>
      <p:sp>
        <p:nvSpPr>
          <p:cNvPr id="22" name="Text 18"/>
          <p:cNvSpPr txBox="1"/>
          <p:nvPr/>
        </p:nvSpPr>
        <p:spPr>
          <a:xfrm>
            <a:off x="9052560" y="2907792"/>
            <a:ext cx="2286000" cy="493776"/>
          </a:xfrm>
          <a:prstGeom prst="rect">
            <a:avLst/>
          </a:prstGeom>
          <a:noFill/>
          <a:ln/>
        </p:spPr>
        <p:txBody>
          <a:bodyPr wrap="square" lIns="0" tIns="0" rIns="0" bIns="0" rtlCol="0" anchor="ctr"/>
          <a:lstStyle/>
          <a:p>
            <a:pPr algn="l" indent="0" marL="0">
              <a:buNone/>
            </a:pPr>
            <a:r>
              <a:rPr lang="en-US" sz="1160" dirty="0">
                <a:solidFill>
                  <a:srgbClr val="2E7D4F"/>
                </a:solidFill>
                <a:latin typeface="Aptos" pitchFamily="34" charset="0"/>
                <a:ea typeface="Aptos" pitchFamily="34" charset="-122"/>
                <a:cs typeface="Aptos" pitchFamily="34" charset="-120"/>
              </a:rPr>
              <a:t>3 representantes, todos el mismo valor</a:t>
            </a:r>
            <a:endParaRPr lang="en-US" sz="1160" dirty="0"/>
          </a:p>
        </p:txBody>
      </p:sp>
      <p:sp>
        <p:nvSpPr>
          <p:cNvPr id="23" name="Shape 19"/>
          <p:cNvSpPr/>
          <p:nvPr/>
        </p:nvSpPr>
        <p:spPr>
          <a:xfrm>
            <a:off x="6236208" y="3493008"/>
            <a:ext cx="5294376" cy="530352"/>
          </a:xfrm>
          <a:prstGeom prst="rect">
            <a:avLst/>
          </a:prstGeom>
          <a:solidFill>
            <a:srgbClr val="F8E4E5"/>
          </a:solidFill>
          <a:ln w="12700">
            <a:solidFill>
              <a:srgbClr val="F8E4E5"/>
            </a:solidFill>
            <a:prstDash val="solid"/>
          </a:ln>
        </p:spPr>
      </p:sp>
      <p:sp>
        <p:nvSpPr>
          <p:cNvPr id="24" name="Shape 20"/>
          <p:cNvSpPr/>
          <p:nvPr/>
        </p:nvSpPr>
        <p:spPr>
          <a:xfrm>
            <a:off x="6236208" y="3493008"/>
            <a:ext cx="54864" cy="530352"/>
          </a:xfrm>
          <a:prstGeom prst="rect">
            <a:avLst/>
          </a:prstGeom>
          <a:solidFill>
            <a:srgbClr val="B3181E"/>
          </a:solidFill>
          <a:ln w="12700">
            <a:solidFill>
              <a:srgbClr val="B3181E"/>
            </a:solidFill>
            <a:prstDash val="solid"/>
          </a:ln>
        </p:spPr>
      </p:sp>
      <p:sp>
        <p:nvSpPr>
          <p:cNvPr id="25" name="Text 21"/>
          <p:cNvSpPr txBox="1"/>
          <p:nvPr/>
        </p:nvSpPr>
        <p:spPr>
          <a:xfrm>
            <a:off x="6510528" y="3511296"/>
            <a:ext cx="2468880" cy="493776"/>
          </a:xfrm>
          <a:prstGeom prst="rect">
            <a:avLst/>
          </a:prstGeom>
          <a:noFill/>
          <a:ln/>
        </p:spPr>
        <p:txBody>
          <a:bodyPr wrap="square" lIns="0" tIns="0" rIns="0" bIns="0" rtlCol="0" anchor="ctr"/>
          <a:lstStyle/>
          <a:p>
            <a:pPr algn="l" indent="0" marL="0">
              <a:buNone/>
            </a:pPr>
            <a:r>
              <a:rPr lang="en-US" sz="1240" b="1" dirty="0">
                <a:solidFill>
                  <a:srgbClr val="243B53"/>
                </a:solidFill>
                <a:latin typeface="Aptos" pitchFamily="34" charset="0"/>
                <a:ea typeface="Aptos" pitchFamily="34" charset="-122"/>
                <a:cs typeface="Aptos" pitchFamily="34" charset="-120"/>
              </a:rPr>
              <a:t>Después de la jornada</a:t>
            </a:r>
            <a:endParaRPr lang="en-US" sz="1240" dirty="0"/>
          </a:p>
        </p:txBody>
      </p:sp>
      <p:sp>
        <p:nvSpPr>
          <p:cNvPr id="26" name="Text 22"/>
          <p:cNvSpPr txBox="1"/>
          <p:nvPr/>
        </p:nvSpPr>
        <p:spPr>
          <a:xfrm>
            <a:off x="9052560" y="3511296"/>
            <a:ext cx="2286000" cy="493776"/>
          </a:xfrm>
          <a:prstGeom prst="rect">
            <a:avLst/>
          </a:prstGeom>
          <a:noFill/>
          <a:ln/>
        </p:spPr>
        <p:txBody>
          <a:bodyPr wrap="square" lIns="0" tIns="0" rIns="0" bIns="0" rtlCol="0" anchor="ctr"/>
          <a:lstStyle/>
          <a:p>
            <a:pPr algn="l" indent="0" marL="0">
              <a:buNone/>
            </a:pPr>
            <a:r>
              <a:rPr lang="en-US" sz="1160" dirty="0">
                <a:solidFill>
                  <a:srgbClr val="B3181E"/>
                </a:solidFill>
                <a:latin typeface="Aptos" pitchFamily="34" charset="0"/>
                <a:ea typeface="Aptos" pitchFamily="34" charset="-122"/>
                <a:cs typeface="Aptos" pitchFamily="34" charset="-120"/>
              </a:rPr>
              <a:t>0 representantes</a:t>
            </a:r>
            <a:endParaRPr lang="en-US" sz="1160" dirty="0"/>
          </a:p>
        </p:txBody>
      </p:sp>
      <p:sp>
        <p:nvSpPr>
          <p:cNvPr id="27" name="Shape 23"/>
          <p:cNvSpPr/>
          <p:nvPr/>
        </p:nvSpPr>
        <p:spPr>
          <a:xfrm>
            <a:off x="658368" y="4224528"/>
            <a:ext cx="10874959" cy="1060704"/>
          </a:xfrm>
          <a:prstGeom prst="rect">
            <a:avLst/>
          </a:prstGeom>
          <a:solidFill>
            <a:srgbClr val="FFFFFF"/>
          </a:solidFill>
          <a:ln w="12700">
            <a:solidFill>
              <a:srgbClr val="FFFFFF"/>
            </a:solidFill>
            <a:prstDash val="solid"/>
          </a:ln>
        </p:spPr>
      </p:sp>
      <p:sp>
        <p:nvSpPr>
          <p:cNvPr id="28" name="Shape 24"/>
          <p:cNvSpPr/>
          <p:nvPr/>
        </p:nvSpPr>
        <p:spPr>
          <a:xfrm>
            <a:off x="658368" y="4224528"/>
            <a:ext cx="64008" cy="1060704"/>
          </a:xfrm>
          <a:prstGeom prst="rect">
            <a:avLst/>
          </a:prstGeom>
          <a:solidFill>
            <a:srgbClr val="102A43"/>
          </a:solidFill>
          <a:ln w="12700">
            <a:solidFill>
              <a:srgbClr val="102A43"/>
            </a:solidFill>
            <a:prstDash val="solid"/>
          </a:ln>
        </p:spPr>
      </p:sp>
      <p:sp>
        <p:nvSpPr>
          <p:cNvPr id="29" name="Text 25"/>
          <p:cNvSpPr txBox="1"/>
          <p:nvPr/>
        </p:nvSpPr>
        <p:spPr>
          <a:xfrm>
            <a:off x="987552" y="4389120"/>
            <a:ext cx="548640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Y LO QUE ESTO NO SIGNIFICA</a:t>
            </a:r>
            <a:endParaRPr lang="en-US" sz="960" dirty="0"/>
          </a:p>
        </p:txBody>
      </p:sp>
      <p:sp>
        <p:nvSpPr>
          <p:cNvPr id="30" name="Text 26"/>
          <p:cNvSpPr txBox="1"/>
          <p:nvPr/>
        </p:nvSpPr>
        <p:spPr>
          <a:xfrm>
            <a:off x="987552" y="4608576"/>
            <a:ext cx="10216591" cy="621792"/>
          </a:xfrm>
          <a:prstGeom prst="rect">
            <a:avLst/>
          </a:prstGeom>
          <a:noFill/>
          <a:ln/>
        </p:spPr>
        <p:txBody>
          <a:bodyPr wrap="square" lIns="0" tIns="0" rIns="0" bIns="0" rtlCol="0" anchor="t"/>
          <a:lstStyle/>
          <a:p>
            <a:pPr algn="l" indent="0" marL="0">
              <a:lnSpc>
                <a:spcPct val="114000"/>
              </a:lnSpc>
              <a:buNone/>
            </a:pPr>
            <a:r>
              <a:rPr lang="en-US" sz="1240" dirty="0">
                <a:solidFill>
                  <a:srgbClr val="243B53"/>
                </a:solidFill>
                <a:latin typeface="Aptos" pitchFamily="34" charset="0"/>
                <a:ea typeface="Aptos" pitchFamily="34" charset="-122"/>
                <a:cs typeface="Aptos" pitchFamily="34" charset="-120"/>
              </a:rPr>
              <a:t>No son tres pruebas idénticas: una comprueba un bloque ocupado y otra el máximo semanal.</a:t>
            </a:r>
            <a:endParaRPr lang="en-US" sz="1240" dirty="0"/>
          </a:p>
          <a:p>
            <a:pPr algn="l" indent="0" marL="0">
              <a:lnSpc>
                <a:spcPct val="114000"/>
              </a:lnSpc>
              <a:buNone/>
            </a:pPr>
            <a:r>
              <a:rPr lang="en-US" sz="1240" dirty="0">
                <a:solidFill>
                  <a:srgbClr val="243B53"/>
                </a:solidFill>
                <a:latin typeface="Aptos" pitchFamily="34" charset="0"/>
                <a:ea typeface="Aptos" pitchFamily="34" charset="-122"/>
                <a:cs typeface="Aptos" pitchFamily="34" charset="-120"/>
              </a:rPr>
              <a:t>Son idénticas respecto del parámetro «bloque», y por eso hay que decir siempre qué se está clasificando.</a:t>
            </a:r>
            <a:endParaRPr lang="en-US" sz="1240" dirty="0"/>
          </a:p>
          <a:p>
            <a:pPr algn="l" indent="0" marL="0">
              <a:lnSpc>
                <a:spcPct val="114000"/>
              </a:lnSpc>
              <a:buNone/>
            </a:pPr>
            <a:r>
              <a:rPr lang="en-US" sz="1240" dirty="0">
                <a:solidFill>
                  <a:srgbClr val="243B53"/>
                </a:solidFill>
                <a:latin typeface="Aptos" pitchFamily="34" charset="0"/>
                <a:ea typeface="Aptos" pitchFamily="34" charset="-122"/>
                <a:cs typeface="Aptos" pitchFamily="34" charset="-120"/>
              </a:rPr>
              <a:t>Contar tres pruebas no permite inferir tres clases.</a:t>
            </a:r>
            <a:endParaRPr lang="en-US" sz="1240" dirty="0"/>
          </a:p>
        </p:txBody>
      </p:sp>
      <p:sp>
        <p:nvSpPr>
          <p:cNvPr id="31" name="Shape 27"/>
          <p:cNvSpPr/>
          <p:nvPr/>
        </p:nvSpPr>
        <p:spPr>
          <a:xfrm>
            <a:off x="658368" y="5486400"/>
            <a:ext cx="10874959" cy="530352"/>
          </a:xfrm>
          <a:prstGeom prst="rect">
            <a:avLst/>
          </a:prstGeom>
          <a:solidFill>
            <a:srgbClr val="102A43"/>
          </a:solidFill>
          <a:ln w="12700">
            <a:solidFill>
              <a:srgbClr val="102A43"/>
            </a:solidFill>
            <a:prstDash val="solid"/>
          </a:ln>
        </p:spPr>
      </p:sp>
      <p:sp>
        <p:nvSpPr>
          <p:cNvPr id="32" name="Text 28"/>
          <p:cNvSpPr txBox="1"/>
          <p:nvPr/>
        </p:nvSpPr>
        <p:spPr>
          <a:xfrm>
            <a:off x="969264" y="5522976"/>
            <a:ext cx="10253167" cy="457200"/>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La suite cubría una clase de tres. Eso es un dato verificable, no una impresión.</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34</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DE LA TABLA AL CÓDIGO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Una fila de la tabla se convierte en una prueba</a:t>
            </a:r>
            <a:endParaRPr lang="en-US" sz="3000" dirty="0"/>
          </a:p>
        </p:txBody>
      </p:sp>
      <p:sp>
        <p:nvSpPr>
          <p:cNvPr id="10" name="Text 7"/>
          <p:cNvSpPr txBox="1"/>
          <p:nvPr/>
        </p:nvSpPr>
        <p:spPr>
          <a:xfrm>
            <a:off x="658368" y="1773936"/>
            <a:ext cx="72237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La fila central tiene una entrada, 4, y una expectativa, True. Solo esa, antes de convertir las tres.</a:t>
            </a:r>
            <a:endParaRPr lang="en-US" sz="1450" dirty="0"/>
          </a:p>
        </p:txBody>
      </p:sp>
      <p:sp>
        <p:nvSpPr>
          <p:cNvPr id="11" name="Shape 8"/>
          <p:cNvSpPr/>
          <p:nvPr/>
        </p:nvSpPr>
        <p:spPr>
          <a:xfrm>
            <a:off x="8165592" y="1883664"/>
            <a:ext cx="1060704" cy="274320"/>
          </a:xfrm>
          <a:prstGeom prst="rect">
            <a:avLst/>
          </a:prstGeom>
          <a:solidFill>
            <a:srgbClr val="102A43"/>
          </a:solidFill>
          <a:ln w="12700">
            <a:solidFill>
              <a:srgbClr val="102A43"/>
            </a:solidFill>
            <a:prstDash val="solid"/>
          </a:ln>
        </p:spPr>
      </p:sp>
      <p:sp>
        <p:nvSpPr>
          <p:cNvPr id="12" name="Text 9"/>
          <p:cNvSpPr txBox="1"/>
          <p:nvPr/>
        </p:nvSpPr>
        <p:spPr>
          <a:xfrm>
            <a:off x="8165592"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FFFFFF"/>
                </a:solidFill>
                <a:latin typeface="Aptos" pitchFamily="34" charset="0"/>
                <a:ea typeface="Aptos" pitchFamily="34" charset="-122"/>
                <a:cs typeface="Aptos" pitchFamily="34" charset="-120"/>
              </a:rPr>
              <a:t>Leer</a:t>
            </a:r>
            <a:endParaRPr lang="en-US" sz="940" dirty="0"/>
          </a:p>
        </p:txBody>
      </p:sp>
      <p:sp>
        <p:nvSpPr>
          <p:cNvPr id="13" name="Shape 10"/>
          <p:cNvSpPr/>
          <p:nvPr/>
        </p:nvSpPr>
        <p:spPr>
          <a:xfrm>
            <a:off x="9317736" y="1883664"/>
            <a:ext cx="1060704" cy="274320"/>
          </a:xfrm>
          <a:prstGeom prst="rect">
            <a:avLst/>
          </a:prstGeom>
          <a:solidFill>
            <a:srgbClr val="EDE6DA"/>
          </a:solidFill>
          <a:ln w="12700">
            <a:solidFill>
              <a:srgbClr val="EDE6DA"/>
            </a:solidFill>
            <a:prstDash val="solid"/>
          </a:ln>
        </p:spPr>
      </p:sp>
      <p:sp>
        <p:nvSpPr>
          <p:cNvPr id="14" name="Text 11"/>
          <p:cNvSpPr txBox="1"/>
          <p:nvPr/>
        </p:nvSpPr>
        <p:spPr>
          <a:xfrm>
            <a:off x="9317736"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Predecir</a:t>
            </a:r>
            <a:endParaRPr lang="en-US" sz="940" dirty="0"/>
          </a:p>
        </p:txBody>
      </p:sp>
      <p:sp>
        <p:nvSpPr>
          <p:cNvPr id="15" name="Shape 12"/>
          <p:cNvSpPr/>
          <p:nvPr/>
        </p:nvSpPr>
        <p:spPr>
          <a:xfrm>
            <a:off x="10469880" y="1883664"/>
            <a:ext cx="1060704" cy="274320"/>
          </a:xfrm>
          <a:prstGeom prst="rect">
            <a:avLst/>
          </a:prstGeom>
          <a:solidFill>
            <a:srgbClr val="EDE6DA"/>
          </a:solidFill>
          <a:ln w="12700">
            <a:solidFill>
              <a:srgbClr val="EDE6DA"/>
            </a:solidFill>
            <a:prstDash val="solid"/>
          </a:ln>
        </p:spPr>
      </p:sp>
      <p:sp>
        <p:nvSpPr>
          <p:cNvPr id="16" name="Text 13"/>
          <p:cNvSpPr txBox="1"/>
          <p:nvPr/>
        </p:nvSpPr>
        <p:spPr>
          <a:xfrm>
            <a:off x="10469880"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Comprobar</a:t>
            </a:r>
            <a:endParaRPr lang="en-US" sz="940" dirty="0"/>
          </a:p>
        </p:txBody>
      </p:sp>
      <p:sp>
        <p:nvSpPr>
          <p:cNvPr id="17" name="Shape 14"/>
          <p:cNvSpPr/>
          <p:nvPr/>
        </p:nvSpPr>
        <p:spPr>
          <a:xfrm>
            <a:off x="658368" y="2286000"/>
            <a:ext cx="6035040" cy="2340864"/>
          </a:xfrm>
          <a:prstGeom prst="roundRect">
            <a:avLst>
              <a:gd name="adj" fmla="val 1563"/>
            </a:avLst>
          </a:prstGeom>
          <a:solidFill>
            <a:srgbClr val="102A43"/>
          </a:solidFill>
          <a:ln w="12700">
            <a:solidFill>
              <a:srgbClr val="102A43"/>
            </a:solidFill>
            <a:prstDash val="solid"/>
          </a:ln>
        </p:spPr>
      </p:sp>
      <p:sp>
        <p:nvSpPr>
          <p:cNvPr id="18" name="Shape 15"/>
          <p:cNvSpPr/>
          <p:nvPr/>
        </p:nvSpPr>
        <p:spPr>
          <a:xfrm>
            <a:off x="786384" y="2395728"/>
            <a:ext cx="5779008" cy="310896"/>
          </a:xfrm>
          <a:prstGeom prst="roundRect">
            <a:avLst>
              <a:gd name="adj" fmla="val 8824"/>
            </a:avLst>
          </a:prstGeom>
          <a:solidFill>
            <a:srgbClr val="284B75"/>
          </a:solidFill>
          <a:ln w="12700">
            <a:solidFill>
              <a:srgbClr val="284B75"/>
            </a:solidFill>
            <a:prstDash val="solid"/>
          </a:ln>
        </p:spPr>
      </p:sp>
      <p:sp>
        <p:nvSpPr>
          <p:cNvPr id="19" name="Text 16"/>
          <p:cNvSpPr/>
          <p:nvPr/>
        </p:nvSpPr>
        <p:spPr>
          <a:xfrm>
            <a:off x="896112" y="2468880"/>
            <a:ext cx="555955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test_particiones.py</a:t>
            </a:r>
            <a:endParaRPr lang="en-US" sz="100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5614416" cy="1591056"/>
          </a:xfrm>
          <a:prstGeom prst="rect">
            <a:avLst/>
          </a:prstGeom>
        </p:spPr>
      </p:pic>
      <p:sp>
        <p:nvSpPr>
          <p:cNvPr id="21" name="Shape 17"/>
          <p:cNvSpPr/>
          <p:nvPr/>
        </p:nvSpPr>
        <p:spPr>
          <a:xfrm>
            <a:off x="6876288" y="2286000"/>
            <a:ext cx="4654296" cy="694944"/>
          </a:xfrm>
          <a:prstGeom prst="rect">
            <a:avLst/>
          </a:prstGeom>
          <a:solidFill>
            <a:srgbClr val="E6EEF7"/>
          </a:solidFill>
          <a:ln w="12700">
            <a:solidFill>
              <a:srgbClr val="E6EEF7"/>
            </a:solidFill>
            <a:prstDash val="solid"/>
          </a:ln>
        </p:spPr>
      </p:sp>
      <p:sp>
        <p:nvSpPr>
          <p:cNvPr id="22" name="Shape 18"/>
          <p:cNvSpPr/>
          <p:nvPr/>
        </p:nvSpPr>
        <p:spPr>
          <a:xfrm>
            <a:off x="6876288" y="2286000"/>
            <a:ext cx="54864" cy="694944"/>
          </a:xfrm>
          <a:prstGeom prst="rect">
            <a:avLst/>
          </a:prstGeom>
          <a:solidFill>
            <a:srgbClr val="102A43"/>
          </a:solidFill>
          <a:ln w="12700">
            <a:solidFill>
              <a:srgbClr val="102A43"/>
            </a:solidFill>
            <a:prstDash val="solid"/>
          </a:ln>
        </p:spPr>
      </p:sp>
      <p:sp>
        <p:nvSpPr>
          <p:cNvPr id="23" name="Text 19"/>
          <p:cNvSpPr txBox="1"/>
          <p:nvPr/>
        </p:nvSpPr>
        <p:spPr>
          <a:xfrm>
            <a:off x="7150608" y="2340864"/>
            <a:ext cx="1097280" cy="237744"/>
          </a:xfrm>
          <a:prstGeom prst="rect">
            <a:avLst/>
          </a:prstGeom>
          <a:noFill/>
          <a:ln/>
        </p:spPr>
        <p:txBody>
          <a:bodyPr wrap="square" lIns="0" tIns="0" rIns="0" bIns="0" rtlCol="0" anchor="t"/>
          <a:lstStyle/>
          <a:p>
            <a:pPr algn="l" indent="0" marL="0">
              <a:buNone/>
            </a:pPr>
            <a:r>
              <a:rPr lang="en-US" sz="1300" b="1" dirty="0">
                <a:solidFill>
                  <a:srgbClr val="102A43"/>
                </a:solidFill>
                <a:latin typeface="Aptos" pitchFamily="34" charset="0"/>
                <a:ea typeface="Aptos" pitchFamily="34" charset="-122"/>
                <a:cs typeface="Aptos" pitchFamily="34" charset="-120"/>
              </a:rPr>
              <a:t>Preparar</a:t>
            </a:r>
            <a:endParaRPr lang="en-US" sz="1300" dirty="0"/>
          </a:p>
        </p:txBody>
      </p:sp>
      <p:sp>
        <p:nvSpPr>
          <p:cNvPr id="24" name="Text 20"/>
          <p:cNvSpPr txBox="1"/>
          <p:nvPr/>
        </p:nvSpPr>
        <p:spPr>
          <a:xfrm>
            <a:off x="8321040" y="2350008"/>
            <a:ext cx="3108960" cy="219456"/>
          </a:xfrm>
          <a:prstGeom prst="rect">
            <a:avLst/>
          </a:prstGeom>
          <a:noFill/>
          <a:ln/>
        </p:spPr>
        <p:txBody>
          <a:bodyPr wrap="square" lIns="0" tIns="0" rIns="0" bIns="0" rtlCol="0" anchor="t"/>
          <a:lstStyle/>
          <a:p>
            <a:pPr algn="l" indent="0" marL="0">
              <a:buNone/>
            </a:pPr>
            <a:r>
              <a:rPr lang="en-US" sz="940" dirty="0">
                <a:solidFill>
                  <a:srgbClr val="243B53"/>
                </a:solidFill>
                <a:latin typeface="Consolas" pitchFamily="34" charset="0"/>
                <a:ea typeface="Consolas" pitchFamily="34" charset="-122"/>
                <a:cs typeface="Consolas" pitchFamily="34" charset="-120"/>
              </a:rPr>
              <a:t>bloque = 4  ·  esperado = True</a:t>
            </a:r>
            <a:endParaRPr lang="en-US" sz="940" dirty="0"/>
          </a:p>
        </p:txBody>
      </p:sp>
      <p:sp>
        <p:nvSpPr>
          <p:cNvPr id="25" name="Text 21"/>
          <p:cNvSpPr txBox="1"/>
          <p:nvPr/>
        </p:nvSpPr>
        <p:spPr>
          <a:xfrm>
            <a:off x="7150608" y="2633472"/>
            <a:ext cx="4206240" cy="292608"/>
          </a:xfrm>
          <a:prstGeom prst="rect">
            <a:avLst/>
          </a:prstGeom>
          <a:noFill/>
          <a:ln/>
        </p:spPr>
        <p:txBody>
          <a:bodyPr wrap="square" lIns="0" tIns="0" rIns="0" bIns="0" rtlCol="0" anchor="t"/>
          <a:lstStyle/>
          <a:p>
            <a:pPr algn="l" indent="0" marL="0">
              <a:lnSpc>
                <a:spcPct val="110000"/>
              </a:lnSpc>
              <a:buNone/>
            </a:pPr>
            <a:r>
              <a:rPr lang="en-US" sz="1120" dirty="0">
                <a:solidFill>
                  <a:srgbClr val="243B53"/>
                </a:solidFill>
                <a:latin typeface="Aptos" pitchFamily="34" charset="0"/>
                <a:ea typeface="Aptos" pitchFamily="34" charset="-122"/>
                <a:cs typeface="Aptos" pitchFamily="34" charset="-120"/>
              </a:rPr>
              <a:t>Declara el caso. El esperado sale del requisito, no del código.</a:t>
            </a:r>
            <a:endParaRPr lang="en-US" sz="1120" dirty="0"/>
          </a:p>
        </p:txBody>
      </p:sp>
      <p:sp>
        <p:nvSpPr>
          <p:cNvPr id="26" name="Shape 22"/>
          <p:cNvSpPr/>
          <p:nvPr/>
        </p:nvSpPr>
        <p:spPr>
          <a:xfrm>
            <a:off x="6876288" y="3054096"/>
            <a:ext cx="4654296" cy="694944"/>
          </a:xfrm>
          <a:prstGeom prst="rect">
            <a:avLst/>
          </a:prstGeom>
          <a:solidFill>
            <a:srgbClr val="F2E7D9"/>
          </a:solidFill>
          <a:ln w="12700">
            <a:solidFill>
              <a:srgbClr val="F2E7D9"/>
            </a:solidFill>
            <a:prstDash val="solid"/>
          </a:ln>
        </p:spPr>
      </p:sp>
      <p:sp>
        <p:nvSpPr>
          <p:cNvPr id="27" name="Shape 23"/>
          <p:cNvSpPr/>
          <p:nvPr/>
        </p:nvSpPr>
        <p:spPr>
          <a:xfrm>
            <a:off x="6876288" y="3054096"/>
            <a:ext cx="54864" cy="694944"/>
          </a:xfrm>
          <a:prstGeom prst="rect">
            <a:avLst/>
          </a:prstGeom>
          <a:solidFill>
            <a:srgbClr val="8A6A12"/>
          </a:solidFill>
          <a:ln w="12700">
            <a:solidFill>
              <a:srgbClr val="8A6A12"/>
            </a:solidFill>
            <a:prstDash val="solid"/>
          </a:ln>
        </p:spPr>
      </p:sp>
      <p:sp>
        <p:nvSpPr>
          <p:cNvPr id="28" name="Text 24"/>
          <p:cNvSpPr txBox="1"/>
          <p:nvPr/>
        </p:nvSpPr>
        <p:spPr>
          <a:xfrm>
            <a:off x="7150608" y="3108960"/>
            <a:ext cx="1097280" cy="237744"/>
          </a:xfrm>
          <a:prstGeom prst="rect">
            <a:avLst/>
          </a:prstGeom>
          <a:noFill/>
          <a:ln/>
        </p:spPr>
        <p:txBody>
          <a:bodyPr wrap="square" lIns="0" tIns="0" rIns="0" bIns="0" rtlCol="0" anchor="t"/>
          <a:lstStyle/>
          <a:p>
            <a:pPr algn="l" indent="0" marL="0">
              <a:buNone/>
            </a:pPr>
            <a:r>
              <a:rPr lang="en-US" sz="1300" b="1" dirty="0">
                <a:solidFill>
                  <a:srgbClr val="8A6A12"/>
                </a:solidFill>
                <a:latin typeface="Aptos" pitchFamily="34" charset="0"/>
                <a:ea typeface="Aptos" pitchFamily="34" charset="-122"/>
                <a:cs typeface="Aptos" pitchFamily="34" charset="-120"/>
              </a:rPr>
              <a:t>Ejecutar</a:t>
            </a:r>
            <a:endParaRPr lang="en-US" sz="1300" dirty="0"/>
          </a:p>
        </p:txBody>
      </p:sp>
      <p:sp>
        <p:nvSpPr>
          <p:cNvPr id="29" name="Text 25"/>
          <p:cNvSpPr txBox="1"/>
          <p:nvPr/>
        </p:nvSpPr>
        <p:spPr>
          <a:xfrm>
            <a:off x="8321040" y="3118104"/>
            <a:ext cx="3108960" cy="219456"/>
          </a:xfrm>
          <a:prstGeom prst="rect">
            <a:avLst/>
          </a:prstGeom>
          <a:noFill/>
          <a:ln/>
        </p:spPr>
        <p:txBody>
          <a:bodyPr wrap="square" lIns="0" tIns="0" rIns="0" bIns="0" rtlCol="0" anchor="t"/>
          <a:lstStyle/>
          <a:p>
            <a:pPr algn="l" indent="0" marL="0">
              <a:buNone/>
            </a:pPr>
            <a:r>
              <a:rPr lang="en-US" sz="940" dirty="0">
                <a:solidFill>
                  <a:srgbClr val="243B53"/>
                </a:solidFill>
                <a:latin typeface="Consolas" pitchFamily="34" charset="0"/>
                <a:ea typeface="Consolas" pitchFamily="34" charset="-122"/>
                <a:cs typeface="Consolas" pitchFamily="34" charset="-120"/>
              </a:rPr>
              <a:t>obtenido = bloque_valido(bloque)</a:t>
            </a:r>
            <a:endParaRPr lang="en-US" sz="940" dirty="0"/>
          </a:p>
        </p:txBody>
      </p:sp>
      <p:sp>
        <p:nvSpPr>
          <p:cNvPr id="30" name="Text 26"/>
          <p:cNvSpPr txBox="1"/>
          <p:nvPr/>
        </p:nvSpPr>
        <p:spPr>
          <a:xfrm>
            <a:off x="7150608" y="3401568"/>
            <a:ext cx="4206240" cy="292608"/>
          </a:xfrm>
          <a:prstGeom prst="rect">
            <a:avLst/>
          </a:prstGeom>
          <a:noFill/>
          <a:ln/>
        </p:spPr>
        <p:txBody>
          <a:bodyPr wrap="square" lIns="0" tIns="0" rIns="0" bIns="0" rtlCol="0" anchor="t"/>
          <a:lstStyle/>
          <a:p>
            <a:pPr algn="l" indent="0" marL="0">
              <a:lnSpc>
                <a:spcPct val="110000"/>
              </a:lnSpc>
              <a:buNone/>
            </a:pPr>
            <a:r>
              <a:rPr lang="en-US" sz="1120" dirty="0">
                <a:solidFill>
                  <a:srgbClr val="243B53"/>
                </a:solidFill>
                <a:latin typeface="Aptos" pitchFamily="34" charset="0"/>
                <a:ea typeface="Aptos" pitchFamily="34" charset="-122"/>
                <a:cs typeface="Aptos" pitchFamily="34" charset="-120"/>
              </a:rPr>
              <a:t>Consulta el comportamiento real del programa.</a:t>
            </a:r>
            <a:endParaRPr lang="en-US" sz="1120" dirty="0"/>
          </a:p>
        </p:txBody>
      </p:sp>
      <p:sp>
        <p:nvSpPr>
          <p:cNvPr id="31" name="Shape 27"/>
          <p:cNvSpPr/>
          <p:nvPr/>
        </p:nvSpPr>
        <p:spPr>
          <a:xfrm>
            <a:off x="6876288" y="3822192"/>
            <a:ext cx="4654296" cy="694944"/>
          </a:xfrm>
          <a:prstGeom prst="rect">
            <a:avLst/>
          </a:prstGeom>
          <a:solidFill>
            <a:srgbClr val="E9F6EE"/>
          </a:solidFill>
          <a:ln w="12700">
            <a:solidFill>
              <a:srgbClr val="E9F6EE"/>
            </a:solidFill>
            <a:prstDash val="solid"/>
          </a:ln>
        </p:spPr>
      </p:sp>
      <p:sp>
        <p:nvSpPr>
          <p:cNvPr id="32" name="Shape 28"/>
          <p:cNvSpPr/>
          <p:nvPr/>
        </p:nvSpPr>
        <p:spPr>
          <a:xfrm>
            <a:off x="6876288" y="3822192"/>
            <a:ext cx="54864" cy="694944"/>
          </a:xfrm>
          <a:prstGeom prst="rect">
            <a:avLst/>
          </a:prstGeom>
          <a:solidFill>
            <a:srgbClr val="2E7D4F"/>
          </a:solidFill>
          <a:ln w="12700">
            <a:solidFill>
              <a:srgbClr val="2E7D4F"/>
            </a:solidFill>
            <a:prstDash val="solid"/>
          </a:ln>
        </p:spPr>
      </p:sp>
      <p:sp>
        <p:nvSpPr>
          <p:cNvPr id="33" name="Text 29"/>
          <p:cNvSpPr txBox="1"/>
          <p:nvPr/>
        </p:nvSpPr>
        <p:spPr>
          <a:xfrm>
            <a:off x="7150608" y="3877056"/>
            <a:ext cx="1097280" cy="237744"/>
          </a:xfrm>
          <a:prstGeom prst="rect">
            <a:avLst/>
          </a:prstGeom>
          <a:noFill/>
          <a:ln/>
        </p:spPr>
        <p:txBody>
          <a:bodyPr wrap="square" lIns="0" tIns="0" rIns="0" bIns="0" rtlCol="0" anchor="t"/>
          <a:lstStyle/>
          <a:p>
            <a:pPr algn="l" indent="0" marL="0">
              <a:buNone/>
            </a:pPr>
            <a:r>
              <a:rPr lang="en-US" sz="1300" b="1" dirty="0">
                <a:solidFill>
                  <a:srgbClr val="2E7D4F"/>
                </a:solidFill>
                <a:latin typeface="Aptos" pitchFamily="34" charset="0"/>
                <a:ea typeface="Aptos" pitchFamily="34" charset="-122"/>
                <a:cs typeface="Aptos" pitchFamily="34" charset="-120"/>
              </a:rPr>
              <a:t>Afirmar</a:t>
            </a:r>
            <a:endParaRPr lang="en-US" sz="1300" dirty="0"/>
          </a:p>
        </p:txBody>
      </p:sp>
      <p:sp>
        <p:nvSpPr>
          <p:cNvPr id="34" name="Text 30"/>
          <p:cNvSpPr txBox="1"/>
          <p:nvPr/>
        </p:nvSpPr>
        <p:spPr>
          <a:xfrm>
            <a:off x="8321040" y="3886200"/>
            <a:ext cx="3108960" cy="219456"/>
          </a:xfrm>
          <a:prstGeom prst="rect">
            <a:avLst/>
          </a:prstGeom>
          <a:noFill/>
          <a:ln/>
        </p:spPr>
        <p:txBody>
          <a:bodyPr wrap="square" lIns="0" tIns="0" rIns="0" bIns="0" rtlCol="0" anchor="t"/>
          <a:lstStyle/>
          <a:p>
            <a:pPr algn="l" indent="0" marL="0">
              <a:buNone/>
            </a:pPr>
            <a:r>
              <a:rPr lang="en-US" sz="940" dirty="0">
                <a:solidFill>
                  <a:srgbClr val="243B53"/>
                </a:solidFill>
                <a:latin typeface="Consolas" pitchFamily="34" charset="0"/>
                <a:ea typeface="Consolas" pitchFamily="34" charset="-122"/>
                <a:cs typeface="Consolas" pitchFamily="34" charset="-120"/>
              </a:rPr>
              <a:t>assert obtenido is esperado</a:t>
            </a:r>
            <a:endParaRPr lang="en-US" sz="940" dirty="0"/>
          </a:p>
        </p:txBody>
      </p:sp>
      <p:sp>
        <p:nvSpPr>
          <p:cNvPr id="35" name="Text 31"/>
          <p:cNvSpPr txBox="1"/>
          <p:nvPr/>
        </p:nvSpPr>
        <p:spPr>
          <a:xfrm>
            <a:off x="7150608" y="4169664"/>
            <a:ext cx="4206240" cy="292608"/>
          </a:xfrm>
          <a:prstGeom prst="rect">
            <a:avLst/>
          </a:prstGeom>
          <a:noFill/>
          <a:ln/>
        </p:spPr>
        <p:txBody>
          <a:bodyPr wrap="square" lIns="0" tIns="0" rIns="0" bIns="0" rtlCol="0" anchor="t"/>
          <a:lstStyle/>
          <a:p>
            <a:pPr algn="l" indent="0" marL="0">
              <a:lnSpc>
                <a:spcPct val="110000"/>
              </a:lnSpc>
              <a:buNone/>
            </a:pPr>
            <a:r>
              <a:rPr lang="en-US" sz="1120" dirty="0">
                <a:solidFill>
                  <a:srgbClr val="243B53"/>
                </a:solidFill>
                <a:latin typeface="Aptos" pitchFamily="34" charset="0"/>
                <a:ea typeface="Aptos" pitchFamily="34" charset="-122"/>
                <a:cs typeface="Aptos" pitchFamily="34" charset="-120"/>
              </a:rPr>
              <a:t>Exige que lo observado coincida con lo esperado.</a:t>
            </a:r>
            <a:endParaRPr lang="en-US" sz="1120" dirty="0"/>
          </a:p>
        </p:txBody>
      </p:sp>
      <p:sp>
        <p:nvSpPr>
          <p:cNvPr id="36" name="Shape 32"/>
          <p:cNvSpPr/>
          <p:nvPr/>
        </p:nvSpPr>
        <p:spPr>
          <a:xfrm>
            <a:off x="658368" y="4791456"/>
            <a:ext cx="10874959" cy="859536"/>
          </a:xfrm>
          <a:prstGeom prst="rect">
            <a:avLst/>
          </a:prstGeom>
          <a:solidFill>
            <a:srgbClr val="FFFFFF"/>
          </a:solidFill>
          <a:ln w="12700">
            <a:solidFill>
              <a:srgbClr val="FFFFFF"/>
            </a:solidFill>
            <a:prstDash val="solid"/>
          </a:ln>
        </p:spPr>
      </p:sp>
      <p:sp>
        <p:nvSpPr>
          <p:cNvPr id="37" name="Shape 33"/>
          <p:cNvSpPr/>
          <p:nvPr/>
        </p:nvSpPr>
        <p:spPr>
          <a:xfrm>
            <a:off x="658368" y="4791456"/>
            <a:ext cx="64008" cy="859536"/>
          </a:xfrm>
          <a:prstGeom prst="rect">
            <a:avLst/>
          </a:prstGeom>
          <a:solidFill>
            <a:srgbClr val="B3181E"/>
          </a:solidFill>
          <a:ln w="12700">
            <a:solidFill>
              <a:srgbClr val="B3181E"/>
            </a:solidFill>
            <a:prstDash val="solid"/>
          </a:ln>
        </p:spPr>
      </p:sp>
      <p:sp>
        <p:nvSpPr>
          <p:cNvPr id="38" name="Text 34"/>
          <p:cNvSpPr txBox="1"/>
          <p:nvPr/>
        </p:nvSpPr>
        <p:spPr>
          <a:xfrm>
            <a:off x="987552" y="4956048"/>
            <a:ext cx="54864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POR QUÉ OBTENIDO Y ESPERADO SE ESCRIBEN APARTE</a:t>
            </a:r>
            <a:endParaRPr lang="en-US" sz="960" dirty="0"/>
          </a:p>
        </p:txBody>
      </p:sp>
      <p:sp>
        <p:nvSpPr>
          <p:cNvPr id="39" name="Text 35"/>
          <p:cNvSpPr txBox="1"/>
          <p:nvPr/>
        </p:nvSpPr>
        <p:spPr>
          <a:xfrm>
            <a:off x="987552" y="5175504"/>
            <a:ext cx="10216591" cy="438912"/>
          </a:xfrm>
          <a:prstGeom prst="rect">
            <a:avLst/>
          </a:prstGeom>
          <a:noFill/>
          <a:ln/>
        </p:spPr>
        <p:txBody>
          <a:bodyPr wrap="square" lIns="0" tIns="0" rIns="0" bIns="0" rtlCol="0" anchor="t"/>
          <a:lstStyle/>
          <a:p>
            <a:pPr algn="l" indent="0" marL="0">
              <a:lnSpc>
                <a:spcPct val="114000"/>
              </a:lnSpc>
              <a:buNone/>
            </a:pPr>
            <a:r>
              <a:rPr lang="en-US" sz="1240" dirty="0">
                <a:solidFill>
                  <a:srgbClr val="243B53"/>
                </a:solidFill>
                <a:latin typeface="Aptos" pitchFamily="34" charset="0"/>
                <a:ea typeface="Aptos" pitchFamily="34" charset="-122"/>
                <a:cs typeface="Aptos" pitchFamily="34" charset="-120"/>
              </a:rPr>
              <a:t>Escribir «esperado = bloque_valido(bloque)» compararía la función consigo misma. El defecto quedaría copiado a</a:t>
            </a:r>
            <a:endParaRPr lang="en-US" sz="1240" dirty="0"/>
          </a:p>
          <a:p>
            <a:pPr algn="l" indent="0" marL="0">
              <a:lnSpc>
                <a:spcPct val="114000"/>
              </a:lnSpc>
              <a:buNone/>
            </a:pPr>
            <a:r>
              <a:rPr lang="en-US" sz="1240" dirty="0">
                <a:solidFill>
                  <a:srgbClr val="243B53"/>
                </a:solidFill>
                <a:latin typeface="Aptos" pitchFamily="34" charset="0"/>
                <a:ea typeface="Aptos" pitchFamily="34" charset="-122"/>
                <a:cs typeface="Aptos" pitchFamily="34" charset="-120"/>
              </a:rPr>
              <a:t>los dos lados y la prueba pasaría siempre. El esperado tiene que venir de otra parte: ese es el oráculo.</a:t>
            </a:r>
            <a:endParaRPr lang="en-US" sz="1240" dirty="0"/>
          </a:p>
        </p:txBody>
      </p:sp>
      <p:sp>
        <p:nvSpPr>
          <p:cNvPr id="40" name="Shape 36"/>
          <p:cNvSpPr/>
          <p:nvPr/>
        </p:nvSpPr>
        <p:spPr>
          <a:xfrm>
            <a:off x="658368" y="5833872"/>
            <a:ext cx="45720" cy="182880"/>
          </a:xfrm>
          <a:prstGeom prst="rect">
            <a:avLst/>
          </a:prstGeom>
          <a:solidFill>
            <a:srgbClr val="8A6A12"/>
          </a:solidFill>
          <a:ln w="12700">
            <a:solidFill>
              <a:srgbClr val="8A6A12"/>
            </a:solidFill>
            <a:prstDash val="solid"/>
          </a:ln>
        </p:spPr>
      </p:sp>
      <p:sp>
        <p:nvSpPr>
          <p:cNvPr id="41" name="Text 37"/>
          <p:cNvSpPr txBox="1"/>
          <p:nvPr/>
        </p:nvSpPr>
        <p:spPr>
          <a:xfrm>
            <a:off x="804672" y="5824728"/>
            <a:ext cx="1060704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El módulo importa bloque_valido desde el proyecto. El nombre test_... permite que pytest descubra la función, y «-&gt; None» expresa que la prueba no devuelve un resultado para que pytest lo califique.</a:t>
            </a:r>
            <a:endParaRPr lang="en-US" sz="92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35</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LA ASERCIÓN</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Qué es exactamente un assert</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Es la única línea de la prueba que puede hacerla fallar. Conviene saber qué hace, literalmente.</a:t>
            </a:r>
            <a:endParaRPr lang="en-US" sz="1450" dirty="0"/>
          </a:p>
        </p:txBody>
      </p:sp>
      <p:sp>
        <p:nvSpPr>
          <p:cNvPr id="11" name="Shape 8"/>
          <p:cNvSpPr/>
          <p:nvPr/>
        </p:nvSpPr>
        <p:spPr>
          <a:xfrm>
            <a:off x="658368" y="2286000"/>
            <a:ext cx="10874959" cy="731520"/>
          </a:xfrm>
          <a:prstGeom prst="rect">
            <a:avLst/>
          </a:prstGeom>
          <a:solidFill>
            <a:srgbClr val="102A43"/>
          </a:solidFill>
          <a:ln w="12700">
            <a:solidFill>
              <a:srgbClr val="102A43"/>
            </a:solidFill>
            <a:prstDash val="solid"/>
          </a:ln>
        </p:spPr>
      </p:sp>
      <p:sp>
        <p:nvSpPr>
          <p:cNvPr id="12" name="Text 9"/>
          <p:cNvSpPr txBox="1"/>
          <p:nvPr/>
        </p:nvSpPr>
        <p:spPr>
          <a:xfrm>
            <a:off x="969264" y="2322576"/>
            <a:ext cx="10253167"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Display" pitchFamily="34" charset="0"/>
                <a:ea typeface="Aptos Display" pitchFamily="34" charset="-122"/>
                <a:cs typeface="Aptos Display" pitchFamily="34" charset="-120"/>
              </a:rPr>
              <a:t>Una aserción es una afirmación comprobable que se exige verdadera en ese punto de la ejecución.</a:t>
            </a:r>
            <a:endParaRPr lang="en-US" sz="2000" dirty="0"/>
          </a:p>
        </p:txBody>
      </p:sp>
      <p:sp>
        <p:nvSpPr>
          <p:cNvPr id="13" name="Shape 10"/>
          <p:cNvSpPr/>
          <p:nvPr/>
        </p:nvSpPr>
        <p:spPr>
          <a:xfrm>
            <a:off x="658368" y="3200400"/>
            <a:ext cx="5394960" cy="1499616"/>
          </a:xfrm>
          <a:prstGeom prst="roundRect">
            <a:avLst>
              <a:gd name="adj" fmla="val 2439"/>
            </a:avLst>
          </a:prstGeom>
          <a:solidFill>
            <a:srgbClr val="102A43"/>
          </a:solidFill>
          <a:ln w="12700">
            <a:solidFill>
              <a:srgbClr val="102A43"/>
            </a:solidFill>
            <a:prstDash val="solid"/>
          </a:ln>
        </p:spPr>
      </p:sp>
      <p:sp>
        <p:nvSpPr>
          <p:cNvPr id="14" name="Shape 11"/>
          <p:cNvSpPr/>
          <p:nvPr/>
        </p:nvSpPr>
        <p:spPr>
          <a:xfrm>
            <a:off x="786384" y="3310128"/>
            <a:ext cx="5138928" cy="310896"/>
          </a:xfrm>
          <a:prstGeom prst="roundRect">
            <a:avLst>
              <a:gd name="adj" fmla="val 8824"/>
            </a:avLst>
          </a:prstGeom>
          <a:solidFill>
            <a:srgbClr val="284B75"/>
          </a:solidFill>
          <a:ln w="12700">
            <a:solidFill>
              <a:srgbClr val="284B75"/>
            </a:solidFill>
            <a:prstDash val="solid"/>
          </a:ln>
        </p:spPr>
      </p:sp>
      <p:sp>
        <p:nvSpPr>
          <p:cNvPr id="15" name="Text 12"/>
          <p:cNvSpPr/>
          <p:nvPr/>
        </p:nvSpPr>
        <p:spPr>
          <a:xfrm>
            <a:off x="896112" y="3383280"/>
            <a:ext cx="491947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Lo que hace el assert de Python</a:t>
            </a:r>
            <a:endParaRPr lang="en-US" sz="1000" dirty="0"/>
          </a:p>
        </p:txBody>
      </p:sp>
      <p:pic>
        <p:nvPicPr>
          <p:cNvPr id="1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3767328"/>
            <a:ext cx="4974336" cy="749808"/>
          </a:xfrm>
          <a:prstGeom prst="rect">
            <a:avLst/>
          </a:prstGeom>
        </p:spPr>
      </p:pic>
      <p:sp>
        <p:nvSpPr>
          <p:cNvPr id="17" name="Text 13"/>
          <p:cNvSpPr txBox="1"/>
          <p:nvPr/>
        </p:nvSpPr>
        <p:spPr>
          <a:xfrm>
            <a:off x="6236208" y="3200400"/>
            <a:ext cx="512064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LO QUE UN ASSERT NO HACE</a:t>
            </a:r>
            <a:endParaRPr lang="en-US" sz="960" dirty="0"/>
          </a:p>
        </p:txBody>
      </p:sp>
      <p:sp>
        <p:nvSpPr>
          <p:cNvPr id="18" name="Shape 14"/>
          <p:cNvSpPr/>
          <p:nvPr/>
        </p:nvSpPr>
        <p:spPr>
          <a:xfrm>
            <a:off x="6236208" y="3493008"/>
            <a:ext cx="5294376" cy="347472"/>
          </a:xfrm>
          <a:prstGeom prst="rect">
            <a:avLst/>
          </a:prstGeom>
          <a:solidFill>
            <a:srgbClr val="F8E4E5"/>
          </a:solidFill>
          <a:ln w="12700">
            <a:solidFill>
              <a:srgbClr val="F8E4E5"/>
            </a:solidFill>
            <a:prstDash val="solid"/>
          </a:ln>
        </p:spPr>
      </p:sp>
      <p:sp>
        <p:nvSpPr>
          <p:cNvPr id="19" name="Shape 15"/>
          <p:cNvSpPr/>
          <p:nvPr/>
        </p:nvSpPr>
        <p:spPr>
          <a:xfrm>
            <a:off x="6236208" y="3493008"/>
            <a:ext cx="45720" cy="347472"/>
          </a:xfrm>
          <a:prstGeom prst="rect">
            <a:avLst/>
          </a:prstGeom>
          <a:solidFill>
            <a:srgbClr val="B3181E"/>
          </a:solidFill>
          <a:ln w="12700">
            <a:solidFill>
              <a:srgbClr val="B3181E"/>
            </a:solidFill>
            <a:prstDash val="solid"/>
          </a:ln>
        </p:spPr>
      </p:sp>
      <p:sp>
        <p:nvSpPr>
          <p:cNvPr id="20" name="Text 16"/>
          <p:cNvSpPr txBox="1"/>
          <p:nvPr/>
        </p:nvSpPr>
        <p:spPr>
          <a:xfrm>
            <a:off x="6510528" y="3511296"/>
            <a:ext cx="4846320" cy="310896"/>
          </a:xfrm>
          <a:prstGeom prst="rect">
            <a:avLst/>
          </a:prstGeom>
          <a:noFill/>
          <a:ln/>
        </p:spPr>
        <p:txBody>
          <a:bodyPr wrap="square" lIns="0" tIns="0" rIns="0" bIns="0" rtlCol="0" anchor="ctr"/>
          <a:lstStyle/>
          <a:p>
            <a:pPr algn="l" indent="0" marL="0">
              <a:buNone/>
            </a:pPr>
            <a:r>
              <a:rPr lang="en-US" sz="1220" dirty="0">
                <a:solidFill>
                  <a:srgbClr val="243B53"/>
                </a:solidFill>
                <a:latin typeface="Aptos" pitchFamily="34" charset="0"/>
                <a:ea typeface="Aptos" pitchFamily="34" charset="-122"/>
                <a:cs typeface="Aptos" pitchFamily="34" charset="-120"/>
              </a:rPr>
              <a:t>No devuelve una nota ni un puntaje.</a:t>
            </a:r>
            <a:endParaRPr lang="en-US" sz="1220" dirty="0"/>
          </a:p>
        </p:txBody>
      </p:sp>
      <p:sp>
        <p:nvSpPr>
          <p:cNvPr id="21" name="Shape 17"/>
          <p:cNvSpPr/>
          <p:nvPr/>
        </p:nvSpPr>
        <p:spPr>
          <a:xfrm>
            <a:off x="6236208" y="3895344"/>
            <a:ext cx="5294376" cy="347472"/>
          </a:xfrm>
          <a:prstGeom prst="rect">
            <a:avLst/>
          </a:prstGeom>
          <a:solidFill>
            <a:srgbClr val="F8E4E5"/>
          </a:solidFill>
          <a:ln w="12700">
            <a:solidFill>
              <a:srgbClr val="F8E4E5"/>
            </a:solidFill>
            <a:prstDash val="solid"/>
          </a:ln>
        </p:spPr>
      </p:sp>
      <p:sp>
        <p:nvSpPr>
          <p:cNvPr id="22" name="Shape 18"/>
          <p:cNvSpPr/>
          <p:nvPr/>
        </p:nvSpPr>
        <p:spPr>
          <a:xfrm>
            <a:off x="6236208" y="3895344"/>
            <a:ext cx="45720" cy="347472"/>
          </a:xfrm>
          <a:prstGeom prst="rect">
            <a:avLst/>
          </a:prstGeom>
          <a:solidFill>
            <a:srgbClr val="B3181E"/>
          </a:solidFill>
          <a:ln w="12700">
            <a:solidFill>
              <a:srgbClr val="B3181E"/>
            </a:solidFill>
            <a:prstDash val="solid"/>
          </a:ln>
        </p:spPr>
      </p:sp>
      <p:sp>
        <p:nvSpPr>
          <p:cNvPr id="23" name="Text 19"/>
          <p:cNvSpPr txBox="1"/>
          <p:nvPr/>
        </p:nvSpPr>
        <p:spPr>
          <a:xfrm>
            <a:off x="6510528" y="3913632"/>
            <a:ext cx="4846320" cy="310896"/>
          </a:xfrm>
          <a:prstGeom prst="rect">
            <a:avLst/>
          </a:prstGeom>
          <a:noFill/>
          <a:ln/>
        </p:spPr>
        <p:txBody>
          <a:bodyPr wrap="square" lIns="0" tIns="0" rIns="0" bIns="0" rtlCol="0" anchor="ctr"/>
          <a:lstStyle/>
          <a:p>
            <a:pPr algn="l" indent="0" marL="0">
              <a:buNone/>
            </a:pPr>
            <a:r>
              <a:rPr lang="en-US" sz="1220" dirty="0">
                <a:solidFill>
                  <a:srgbClr val="243B53"/>
                </a:solidFill>
                <a:latin typeface="Aptos" pitchFamily="34" charset="0"/>
                <a:ea typeface="Aptos" pitchFamily="34" charset="-122"/>
                <a:cs typeface="Aptos" pitchFamily="34" charset="-120"/>
              </a:rPr>
              <a:t>No corrige la función que falló.</a:t>
            </a:r>
            <a:endParaRPr lang="en-US" sz="1220" dirty="0"/>
          </a:p>
        </p:txBody>
      </p:sp>
      <p:sp>
        <p:nvSpPr>
          <p:cNvPr id="24" name="Shape 20"/>
          <p:cNvSpPr/>
          <p:nvPr/>
        </p:nvSpPr>
        <p:spPr>
          <a:xfrm>
            <a:off x="6236208" y="4297680"/>
            <a:ext cx="5294376" cy="347472"/>
          </a:xfrm>
          <a:prstGeom prst="rect">
            <a:avLst/>
          </a:prstGeom>
          <a:solidFill>
            <a:srgbClr val="F8E4E5"/>
          </a:solidFill>
          <a:ln w="12700">
            <a:solidFill>
              <a:srgbClr val="F8E4E5"/>
            </a:solidFill>
            <a:prstDash val="solid"/>
          </a:ln>
        </p:spPr>
      </p:sp>
      <p:sp>
        <p:nvSpPr>
          <p:cNvPr id="25" name="Shape 21"/>
          <p:cNvSpPr/>
          <p:nvPr/>
        </p:nvSpPr>
        <p:spPr>
          <a:xfrm>
            <a:off x="6236208" y="4297680"/>
            <a:ext cx="45720" cy="347472"/>
          </a:xfrm>
          <a:prstGeom prst="rect">
            <a:avLst/>
          </a:prstGeom>
          <a:solidFill>
            <a:srgbClr val="B3181E"/>
          </a:solidFill>
          <a:ln w="12700">
            <a:solidFill>
              <a:srgbClr val="B3181E"/>
            </a:solidFill>
            <a:prstDash val="solid"/>
          </a:ln>
        </p:spPr>
      </p:sp>
      <p:sp>
        <p:nvSpPr>
          <p:cNvPr id="26" name="Text 22"/>
          <p:cNvSpPr txBox="1"/>
          <p:nvPr/>
        </p:nvSpPr>
        <p:spPr>
          <a:xfrm>
            <a:off x="6510528" y="4315968"/>
            <a:ext cx="4846320" cy="310896"/>
          </a:xfrm>
          <a:prstGeom prst="rect">
            <a:avLst/>
          </a:prstGeom>
          <a:noFill/>
          <a:ln/>
        </p:spPr>
        <p:txBody>
          <a:bodyPr wrap="square" lIns="0" tIns="0" rIns="0" bIns="0" rtlCol="0" anchor="ctr"/>
          <a:lstStyle/>
          <a:p>
            <a:pPr algn="l" indent="0" marL="0">
              <a:buNone/>
            </a:pPr>
            <a:r>
              <a:rPr lang="en-US" sz="1220" dirty="0">
                <a:solidFill>
                  <a:srgbClr val="243B53"/>
                </a:solidFill>
                <a:latin typeface="Aptos" pitchFamily="34" charset="0"/>
                <a:ea typeface="Aptos" pitchFamily="34" charset="-122"/>
                <a:cs typeface="Aptos" pitchFamily="34" charset="-120"/>
              </a:rPr>
              <a:t>No dice si el esperado era el correcto.</a:t>
            </a:r>
            <a:endParaRPr lang="en-US" sz="1220" dirty="0"/>
          </a:p>
        </p:txBody>
      </p:sp>
      <p:sp>
        <p:nvSpPr>
          <p:cNvPr id="27" name="Shape 23"/>
          <p:cNvSpPr/>
          <p:nvPr/>
        </p:nvSpPr>
        <p:spPr>
          <a:xfrm>
            <a:off x="658368" y="4901184"/>
            <a:ext cx="10874959" cy="841248"/>
          </a:xfrm>
          <a:prstGeom prst="rect">
            <a:avLst/>
          </a:prstGeom>
          <a:solidFill>
            <a:srgbClr val="F2E7D9"/>
          </a:solidFill>
          <a:ln w="12700">
            <a:solidFill>
              <a:srgbClr val="F2E7D9"/>
            </a:solidFill>
            <a:prstDash val="solid"/>
          </a:ln>
        </p:spPr>
      </p:sp>
      <p:sp>
        <p:nvSpPr>
          <p:cNvPr id="28" name="Shape 24"/>
          <p:cNvSpPr/>
          <p:nvPr/>
        </p:nvSpPr>
        <p:spPr>
          <a:xfrm>
            <a:off x="658368" y="4901184"/>
            <a:ext cx="64008" cy="841248"/>
          </a:xfrm>
          <a:prstGeom prst="rect">
            <a:avLst/>
          </a:prstGeom>
          <a:solidFill>
            <a:srgbClr val="8A6A12"/>
          </a:solidFill>
          <a:ln w="12700">
            <a:solidFill>
              <a:srgbClr val="8A6A12"/>
            </a:solidFill>
            <a:prstDash val="solid"/>
          </a:ln>
        </p:spPr>
      </p:sp>
      <p:sp>
        <p:nvSpPr>
          <p:cNvPr id="29" name="Text 25"/>
          <p:cNvSpPr txBox="1"/>
          <p:nvPr/>
        </p:nvSpPr>
        <p:spPr>
          <a:xfrm>
            <a:off x="987552" y="5047488"/>
            <a:ext cx="4572000" cy="201168"/>
          </a:xfrm>
          <a:prstGeom prst="rect">
            <a:avLst/>
          </a:prstGeom>
          <a:noFill/>
          <a:ln/>
        </p:spPr>
        <p:txBody>
          <a:bodyPr wrap="square" lIns="0" tIns="0" rIns="0" bIns="0" rtlCol="0" anchor="t"/>
          <a:lstStyle/>
          <a:p>
            <a:pPr algn="l" indent="0" marL="0">
              <a:buNone/>
            </a:pPr>
            <a:r>
              <a:rPr lang="en-US" sz="960" b="1" spc="130" kern="0" dirty="0">
                <a:solidFill>
                  <a:srgbClr val="8A6A12"/>
                </a:solidFill>
                <a:latin typeface="Aptos" pitchFamily="34" charset="0"/>
                <a:ea typeface="Aptos" pitchFamily="34" charset="-122"/>
                <a:cs typeface="Aptos" pitchFamily="34" charset="-120"/>
              </a:rPr>
              <a:t>QUÉ AGREGA PYTEST</a:t>
            </a:r>
            <a:endParaRPr lang="en-US" sz="960" dirty="0"/>
          </a:p>
        </p:txBody>
      </p:sp>
      <p:sp>
        <p:nvSpPr>
          <p:cNvPr id="30" name="Text 26"/>
          <p:cNvSpPr txBox="1"/>
          <p:nvPr/>
        </p:nvSpPr>
        <p:spPr>
          <a:xfrm>
            <a:off x="987552" y="5266944"/>
            <a:ext cx="10216591" cy="420624"/>
          </a:xfrm>
          <a:prstGeom prst="rect">
            <a:avLst/>
          </a:prstGeom>
          <a:noFill/>
          <a:ln/>
        </p:spPr>
        <p:txBody>
          <a:bodyPr wrap="square" lIns="0" tIns="0" rIns="0" bIns="0" rtlCol="0" anchor="t"/>
          <a:lstStyle/>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El lenguaje de la aserción sigue siendo Python. Pytest descubre y ejecuta las pruebas, registra los fallos y reescribe</a:t>
            </a:r>
            <a:endParaRPr lang="en-US" sz="1220" dirty="0"/>
          </a:p>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las aserciones de los módulos que recoge para poder mostrar los valores intermedios al fallar: «assert False is True».</a:t>
            </a:r>
            <a:endParaRPr lang="en-US" sz="1220" dirty="0"/>
          </a:p>
        </p:txBody>
      </p:sp>
      <p:sp>
        <p:nvSpPr>
          <p:cNvPr id="31" name="Shape 27"/>
          <p:cNvSpPr/>
          <p:nvPr/>
        </p:nvSpPr>
        <p:spPr>
          <a:xfrm>
            <a:off x="658368" y="5888736"/>
            <a:ext cx="10874959" cy="493776"/>
          </a:xfrm>
          <a:prstGeom prst="rect">
            <a:avLst/>
          </a:prstGeom>
          <a:solidFill>
            <a:srgbClr val="102A43"/>
          </a:solidFill>
          <a:ln w="12700">
            <a:solidFill>
              <a:srgbClr val="102A43"/>
            </a:solidFill>
            <a:prstDash val="solid"/>
          </a:ln>
        </p:spPr>
      </p:sp>
      <p:sp>
        <p:nvSpPr>
          <p:cNvPr id="32" name="Text 28"/>
          <p:cNvSpPr txBox="1"/>
          <p:nvPr/>
        </p:nvSpPr>
        <p:spPr>
          <a:xfrm>
            <a:off x="969264" y="5925312"/>
            <a:ext cx="10253167" cy="420624"/>
          </a:xfrm>
          <a:prstGeom prst="rect">
            <a:avLst/>
          </a:prstGeom>
          <a:noFill/>
          <a:ln/>
        </p:spPr>
        <p:txBody>
          <a:bodyPr wrap="square" lIns="0" tIns="0" rIns="0" bIns="0" rtlCol="0" anchor="ctr"/>
          <a:lstStyle/>
          <a:p>
            <a:pPr algn="ctr" indent="0" marL="0">
              <a:lnSpc>
                <a:spcPct val="110000"/>
              </a:lnSpc>
              <a:buNone/>
            </a:pPr>
            <a:r>
              <a:rPr lang="en-US" sz="1340" b="1" dirty="0">
                <a:solidFill>
                  <a:srgbClr val="FFFFFF"/>
                </a:solidFill>
                <a:latin typeface="Aptos" pitchFamily="34" charset="0"/>
                <a:ea typeface="Aptos" pitchFamily="34" charset="-122"/>
                <a:cs typeface="Aptos" pitchFamily="34" charset="-120"/>
              </a:rPr>
              <a:t>Quien decide si el esperado era correcto es quien escribió el caso. Eso no lo aporta ninguna herramienta.</a:t>
            </a:r>
            <a:endParaRPr lang="en-US" sz="134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36</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QUÉ EXIGE CADA ASERCIÓN</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Tres formas parecidas que exigen cosas distintas</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El contrato de bloque_valido() pide True o False. No cualquier valor que Python considere verdadero.</a:t>
            </a:r>
            <a:endParaRPr lang="en-US" sz="1450" dirty="0"/>
          </a:p>
        </p:txBody>
      </p:sp>
      <p:sp>
        <p:nvSpPr>
          <p:cNvPr id="11" name="Shape 8"/>
          <p:cNvSpPr/>
          <p:nvPr/>
        </p:nvSpPr>
        <p:spPr>
          <a:xfrm>
            <a:off x="658368" y="2286000"/>
            <a:ext cx="10874959" cy="914400"/>
          </a:xfrm>
          <a:prstGeom prst="rect">
            <a:avLst/>
          </a:prstGeom>
          <a:solidFill>
            <a:srgbClr val="F8E4E5"/>
          </a:solidFill>
          <a:ln w="12700">
            <a:solidFill>
              <a:srgbClr val="F8E4E5"/>
            </a:solidFill>
            <a:prstDash val="solid"/>
          </a:ln>
        </p:spPr>
      </p:sp>
      <p:sp>
        <p:nvSpPr>
          <p:cNvPr id="12" name="Shape 9"/>
          <p:cNvSpPr/>
          <p:nvPr/>
        </p:nvSpPr>
        <p:spPr>
          <a:xfrm>
            <a:off x="658368" y="2286000"/>
            <a:ext cx="54864" cy="914400"/>
          </a:xfrm>
          <a:prstGeom prst="rect">
            <a:avLst/>
          </a:prstGeom>
          <a:solidFill>
            <a:srgbClr val="B3181E"/>
          </a:solidFill>
          <a:ln w="12700">
            <a:solidFill>
              <a:srgbClr val="B3181E"/>
            </a:solidFill>
            <a:prstDash val="solid"/>
          </a:ln>
        </p:spPr>
      </p:sp>
      <p:sp>
        <p:nvSpPr>
          <p:cNvPr id="13" name="Text 10"/>
          <p:cNvSpPr txBox="1"/>
          <p:nvPr/>
        </p:nvSpPr>
        <p:spPr>
          <a:xfrm>
            <a:off x="950976" y="2414016"/>
            <a:ext cx="3840480" cy="274320"/>
          </a:xfrm>
          <a:prstGeom prst="rect">
            <a:avLst/>
          </a:prstGeom>
          <a:noFill/>
          <a:ln/>
        </p:spPr>
        <p:txBody>
          <a:bodyPr wrap="square" lIns="0" tIns="0" rIns="0" bIns="0" rtlCol="0" anchor="t"/>
          <a:lstStyle/>
          <a:p>
            <a:pPr algn="l" indent="0" marL="0">
              <a:buNone/>
            </a:pPr>
            <a:r>
              <a:rPr lang="en-US" sz="1350" b="1" dirty="0">
                <a:solidFill>
                  <a:srgbClr val="B3181E"/>
                </a:solidFill>
                <a:latin typeface="Consolas" pitchFamily="34" charset="0"/>
                <a:ea typeface="Consolas" pitchFamily="34" charset="-122"/>
                <a:cs typeface="Consolas" pitchFamily="34" charset="-120"/>
              </a:rPr>
              <a:t>assert obtenido</a:t>
            </a:r>
            <a:endParaRPr lang="en-US" sz="1350" dirty="0"/>
          </a:p>
        </p:txBody>
      </p:sp>
      <p:sp>
        <p:nvSpPr>
          <p:cNvPr id="14" name="Text 11"/>
          <p:cNvSpPr txBox="1"/>
          <p:nvPr/>
        </p:nvSpPr>
        <p:spPr>
          <a:xfrm>
            <a:off x="950976" y="2761488"/>
            <a:ext cx="3840480" cy="329184"/>
          </a:xfrm>
          <a:prstGeom prst="rect">
            <a:avLst/>
          </a:prstGeom>
          <a:noFill/>
          <a:ln/>
        </p:spPr>
        <p:txBody>
          <a:bodyPr wrap="square" lIns="0" tIns="0" rIns="0" bIns="0" rtlCol="0" anchor="t"/>
          <a:lstStyle/>
          <a:p>
            <a:pPr algn="l" indent="0" marL="0">
              <a:lnSpc>
                <a:spcPct val="110000"/>
              </a:lnSpc>
              <a:buNone/>
            </a:pPr>
            <a:r>
              <a:rPr lang="en-US" sz="1180" i="1" dirty="0">
                <a:solidFill>
                  <a:srgbClr val="243B53"/>
                </a:solidFill>
                <a:latin typeface="Aptos" pitchFamily="34" charset="0"/>
                <a:ea typeface="Aptos" pitchFamily="34" charset="-122"/>
                <a:cs typeface="Aptos" pitchFamily="34" charset="-120"/>
              </a:rPr>
              <a:t>Cualquier valor que Python considere verdadero</a:t>
            </a:r>
            <a:endParaRPr lang="en-US" sz="1180" dirty="0"/>
          </a:p>
        </p:txBody>
      </p:sp>
      <p:sp>
        <p:nvSpPr>
          <p:cNvPr id="15" name="Shape 12"/>
          <p:cNvSpPr/>
          <p:nvPr/>
        </p:nvSpPr>
        <p:spPr>
          <a:xfrm>
            <a:off x="5102352" y="2432304"/>
            <a:ext cx="0" cy="621792"/>
          </a:xfrm>
          <a:prstGeom prst="line">
            <a:avLst/>
          </a:prstGeom>
          <a:noFill/>
          <a:ln w="12700">
            <a:solidFill>
              <a:srgbClr val="D8CFC4"/>
            </a:solidFill>
            <a:prstDash val="solid"/>
            <a:headEnd type="none"/>
            <a:tailEnd type="none"/>
          </a:ln>
        </p:spPr>
      </p:sp>
      <p:sp>
        <p:nvSpPr>
          <p:cNvPr id="16" name="Text 13"/>
          <p:cNvSpPr txBox="1"/>
          <p:nvPr/>
        </p:nvSpPr>
        <p:spPr>
          <a:xfrm>
            <a:off x="5358384" y="2505456"/>
            <a:ext cx="5845759" cy="512064"/>
          </a:xfrm>
          <a:prstGeom prst="rect">
            <a:avLst/>
          </a:prstGeom>
          <a:noFill/>
          <a:ln/>
        </p:spPr>
        <p:txBody>
          <a:bodyPr wrap="square" lIns="0" tIns="0" rIns="0" bIns="0" rtlCol="0" anchor="t"/>
          <a:lstStyle/>
          <a:p>
            <a:pPr algn="l" indent="0" marL="0">
              <a:lnSpc>
                <a:spcPct val="116000"/>
              </a:lnSpc>
              <a:buNone/>
            </a:pPr>
            <a:r>
              <a:rPr lang="en-US" sz="1260" dirty="0">
                <a:solidFill>
                  <a:srgbClr val="243B53"/>
                </a:solidFill>
                <a:latin typeface="Aptos" pitchFamily="34" charset="0"/>
                <a:ea typeface="Aptos" pitchFamily="34" charset="-122"/>
                <a:cs typeface="Aptos" pitchFamily="34" charset="-120"/>
              </a:rPr>
              <a:t>También aceptaría 1 o una cadena no vacía. Y no sirve para las filas cuyo esperado es False.</a:t>
            </a:r>
            <a:endParaRPr lang="en-US" sz="1260" dirty="0"/>
          </a:p>
        </p:txBody>
      </p:sp>
      <p:sp>
        <p:nvSpPr>
          <p:cNvPr id="17" name="Shape 14"/>
          <p:cNvSpPr/>
          <p:nvPr/>
        </p:nvSpPr>
        <p:spPr>
          <a:xfrm>
            <a:off x="658368" y="3273552"/>
            <a:ext cx="10874959" cy="914400"/>
          </a:xfrm>
          <a:prstGeom prst="rect">
            <a:avLst/>
          </a:prstGeom>
          <a:solidFill>
            <a:srgbClr val="F2E7D9"/>
          </a:solidFill>
          <a:ln w="12700">
            <a:solidFill>
              <a:srgbClr val="F2E7D9"/>
            </a:solidFill>
            <a:prstDash val="solid"/>
          </a:ln>
        </p:spPr>
      </p:sp>
      <p:sp>
        <p:nvSpPr>
          <p:cNvPr id="18" name="Shape 15"/>
          <p:cNvSpPr/>
          <p:nvPr/>
        </p:nvSpPr>
        <p:spPr>
          <a:xfrm>
            <a:off x="658368" y="3273552"/>
            <a:ext cx="54864" cy="914400"/>
          </a:xfrm>
          <a:prstGeom prst="rect">
            <a:avLst/>
          </a:prstGeom>
          <a:solidFill>
            <a:srgbClr val="8A6A12"/>
          </a:solidFill>
          <a:ln w="12700">
            <a:solidFill>
              <a:srgbClr val="8A6A12"/>
            </a:solidFill>
            <a:prstDash val="solid"/>
          </a:ln>
        </p:spPr>
      </p:sp>
      <p:sp>
        <p:nvSpPr>
          <p:cNvPr id="19" name="Text 16"/>
          <p:cNvSpPr txBox="1"/>
          <p:nvPr/>
        </p:nvSpPr>
        <p:spPr>
          <a:xfrm>
            <a:off x="950976" y="3401568"/>
            <a:ext cx="3840480" cy="274320"/>
          </a:xfrm>
          <a:prstGeom prst="rect">
            <a:avLst/>
          </a:prstGeom>
          <a:noFill/>
          <a:ln/>
        </p:spPr>
        <p:txBody>
          <a:bodyPr wrap="square" lIns="0" tIns="0" rIns="0" bIns="0" rtlCol="0" anchor="t"/>
          <a:lstStyle/>
          <a:p>
            <a:pPr algn="l" indent="0" marL="0">
              <a:buNone/>
            </a:pPr>
            <a:r>
              <a:rPr lang="en-US" sz="1350" b="1" dirty="0">
                <a:solidFill>
                  <a:srgbClr val="8A6A12"/>
                </a:solidFill>
                <a:latin typeface="Consolas" pitchFamily="34" charset="0"/>
                <a:ea typeface="Consolas" pitchFamily="34" charset="-122"/>
                <a:cs typeface="Consolas" pitchFamily="34" charset="-120"/>
              </a:rPr>
              <a:t>assert obtenido == esperado</a:t>
            </a:r>
            <a:endParaRPr lang="en-US" sz="1350" dirty="0"/>
          </a:p>
        </p:txBody>
      </p:sp>
      <p:sp>
        <p:nvSpPr>
          <p:cNvPr id="20" name="Text 17"/>
          <p:cNvSpPr txBox="1"/>
          <p:nvPr/>
        </p:nvSpPr>
        <p:spPr>
          <a:xfrm>
            <a:off x="950976" y="3749040"/>
            <a:ext cx="3840480" cy="329184"/>
          </a:xfrm>
          <a:prstGeom prst="rect">
            <a:avLst/>
          </a:prstGeom>
          <a:noFill/>
          <a:ln/>
        </p:spPr>
        <p:txBody>
          <a:bodyPr wrap="square" lIns="0" tIns="0" rIns="0" bIns="0" rtlCol="0" anchor="t"/>
          <a:lstStyle/>
          <a:p>
            <a:pPr algn="l" indent="0" marL="0">
              <a:lnSpc>
                <a:spcPct val="110000"/>
              </a:lnSpc>
              <a:buNone/>
            </a:pPr>
            <a:r>
              <a:rPr lang="en-US" sz="1180" i="1" dirty="0">
                <a:solidFill>
                  <a:srgbClr val="243B53"/>
                </a:solidFill>
                <a:latin typeface="Aptos" pitchFamily="34" charset="0"/>
                <a:ea typeface="Aptos" pitchFamily="34" charset="-122"/>
                <a:cs typeface="Aptos" pitchFamily="34" charset="-120"/>
              </a:rPr>
              <a:t>Un valor igual al esperado</a:t>
            </a:r>
            <a:endParaRPr lang="en-US" sz="1180" dirty="0"/>
          </a:p>
        </p:txBody>
      </p:sp>
      <p:sp>
        <p:nvSpPr>
          <p:cNvPr id="21" name="Shape 18"/>
          <p:cNvSpPr/>
          <p:nvPr/>
        </p:nvSpPr>
        <p:spPr>
          <a:xfrm>
            <a:off x="5102352" y="3419856"/>
            <a:ext cx="0" cy="621792"/>
          </a:xfrm>
          <a:prstGeom prst="line">
            <a:avLst/>
          </a:prstGeom>
          <a:noFill/>
          <a:ln w="12700">
            <a:solidFill>
              <a:srgbClr val="D8CFC4"/>
            </a:solidFill>
            <a:prstDash val="solid"/>
            <a:headEnd type="none"/>
            <a:tailEnd type="none"/>
          </a:ln>
        </p:spPr>
      </p:sp>
      <p:sp>
        <p:nvSpPr>
          <p:cNvPr id="22" name="Text 19"/>
          <p:cNvSpPr txBox="1"/>
          <p:nvPr/>
        </p:nvSpPr>
        <p:spPr>
          <a:xfrm>
            <a:off x="5358384" y="3493008"/>
            <a:ext cx="5845759" cy="512064"/>
          </a:xfrm>
          <a:prstGeom prst="rect">
            <a:avLst/>
          </a:prstGeom>
          <a:noFill/>
          <a:ln/>
        </p:spPr>
        <p:txBody>
          <a:bodyPr wrap="square" lIns="0" tIns="0" rIns="0" bIns="0" rtlCol="0" anchor="t"/>
          <a:lstStyle/>
          <a:p>
            <a:pPr algn="l" indent="0" marL="0">
              <a:lnSpc>
                <a:spcPct val="116000"/>
              </a:lnSpc>
              <a:buNone/>
            </a:pPr>
            <a:r>
              <a:rPr lang="en-US" sz="1260" dirty="0">
                <a:solidFill>
                  <a:srgbClr val="243B53"/>
                </a:solidFill>
                <a:latin typeface="Aptos" pitchFamily="34" charset="0"/>
                <a:ea typeface="Aptos" pitchFamily="34" charset="-122"/>
                <a:cs typeface="Aptos" pitchFamily="34" charset="-120"/>
              </a:rPr>
              <a:t>Si el esperado es True, también aceptaría el entero 1. Es la comparación general de valores.</a:t>
            </a:r>
            <a:endParaRPr lang="en-US" sz="1260" dirty="0"/>
          </a:p>
        </p:txBody>
      </p:sp>
      <p:sp>
        <p:nvSpPr>
          <p:cNvPr id="23" name="Shape 20"/>
          <p:cNvSpPr/>
          <p:nvPr/>
        </p:nvSpPr>
        <p:spPr>
          <a:xfrm>
            <a:off x="658368" y="4261104"/>
            <a:ext cx="10874959" cy="914400"/>
          </a:xfrm>
          <a:prstGeom prst="rect">
            <a:avLst/>
          </a:prstGeom>
          <a:solidFill>
            <a:srgbClr val="E9F6EE"/>
          </a:solidFill>
          <a:ln w="12700">
            <a:solidFill>
              <a:srgbClr val="E9F6EE"/>
            </a:solidFill>
            <a:prstDash val="solid"/>
          </a:ln>
        </p:spPr>
      </p:sp>
      <p:sp>
        <p:nvSpPr>
          <p:cNvPr id="24" name="Shape 21"/>
          <p:cNvSpPr/>
          <p:nvPr/>
        </p:nvSpPr>
        <p:spPr>
          <a:xfrm>
            <a:off x="658368" y="4261104"/>
            <a:ext cx="54864" cy="914400"/>
          </a:xfrm>
          <a:prstGeom prst="rect">
            <a:avLst/>
          </a:prstGeom>
          <a:solidFill>
            <a:srgbClr val="2E7D4F"/>
          </a:solidFill>
          <a:ln w="12700">
            <a:solidFill>
              <a:srgbClr val="2E7D4F"/>
            </a:solidFill>
            <a:prstDash val="solid"/>
          </a:ln>
        </p:spPr>
      </p:sp>
      <p:sp>
        <p:nvSpPr>
          <p:cNvPr id="25" name="Text 22"/>
          <p:cNvSpPr txBox="1"/>
          <p:nvPr/>
        </p:nvSpPr>
        <p:spPr>
          <a:xfrm>
            <a:off x="950976" y="4389120"/>
            <a:ext cx="3840480" cy="274320"/>
          </a:xfrm>
          <a:prstGeom prst="rect">
            <a:avLst/>
          </a:prstGeom>
          <a:noFill/>
          <a:ln/>
        </p:spPr>
        <p:txBody>
          <a:bodyPr wrap="square" lIns="0" tIns="0" rIns="0" bIns="0" rtlCol="0" anchor="t"/>
          <a:lstStyle/>
          <a:p>
            <a:pPr algn="l" indent="0" marL="0">
              <a:buNone/>
            </a:pPr>
            <a:r>
              <a:rPr lang="en-US" sz="1350" b="1" dirty="0">
                <a:solidFill>
                  <a:srgbClr val="2E7D4F"/>
                </a:solidFill>
                <a:latin typeface="Consolas" pitchFamily="34" charset="0"/>
                <a:ea typeface="Consolas" pitchFamily="34" charset="-122"/>
                <a:cs typeface="Consolas" pitchFamily="34" charset="-120"/>
              </a:rPr>
              <a:t>assert obtenido is esperado</a:t>
            </a:r>
            <a:endParaRPr lang="en-US" sz="1350" dirty="0"/>
          </a:p>
        </p:txBody>
      </p:sp>
      <p:sp>
        <p:nvSpPr>
          <p:cNvPr id="26" name="Text 23"/>
          <p:cNvSpPr txBox="1"/>
          <p:nvPr/>
        </p:nvSpPr>
        <p:spPr>
          <a:xfrm>
            <a:off x="950976" y="4736592"/>
            <a:ext cx="3840480" cy="329184"/>
          </a:xfrm>
          <a:prstGeom prst="rect">
            <a:avLst/>
          </a:prstGeom>
          <a:noFill/>
          <a:ln/>
        </p:spPr>
        <p:txBody>
          <a:bodyPr wrap="square" lIns="0" tIns="0" rIns="0" bIns="0" rtlCol="0" anchor="t"/>
          <a:lstStyle/>
          <a:p>
            <a:pPr algn="l" indent="0" marL="0">
              <a:lnSpc>
                <a:spcPct val="110000"/>
              </a:lnSpc>
              <a:buNone/>
            </a:pPr>
            <a:r>
              <a:rPr lang="en-US" sz="1180" i="1" dirty="0">
                <a:solidFill>
                  <a:srgbClr val="243B53"/>
                </a:solidFill>
                <a:latin typeface="Aptos" pitchFamily="34" charset="0"/>
                <a:ea typeface="Aptos" pitchFamily="34" charset="-122"/>
                <a:cs typeface="Aptos" pitchFamily="34" charset="-120"/>
              </a:rPr>
              <a:t>Exactamente el mismo booleano declarado</a:t>
            </a:r>
            <a:endParaRPr lang="en-US" sz="1180" dirty="0"/>
          </a:p>
        </p:txBody>
      </p:sp>
      <p:sp>
        <p:nvSpPr>
          <p:cNvPr id="27" name="Shape 24"/>
          <p:cNvSpPr/>
          <p:nvPr/>
        </p:nvSpPr>
        <p:spPr>
          <a:xfrm>
            <a:off x="5102352" y="4407408"/>
            <a:ext cx="0" cy="621792"/>
          </a:xfrm>
          <a:prstGeom prst="line">
            <a:avLst/>
          </a:prstGeom>
          <a:noFill/>
          <a:ln w="12700">
            <a:solidFill>
              <a:srgbClr val="D8CFC4"/>
            </a:solidFill>
            <a:prstDash val="solid"/>
            <a:headEnd type="none"/>
            <a:tailEnd type="none"/>
          </a:ln>
        </p:spPr>
      </p:sp>
      <p:sp>
        <p:nvSpPr>
          <p:cNvPr id="28" name="Text 25"/>
          <p:cNvSpPr txBox="1"/>
          <p:nvPr/>
        </p:nvSpPr>
        <p:spPr>
          <a:xfrm>
            <a:off x="5358384" y="4480560"/>
            <a:ext cx="5845759" cy="512064"/>
          </a:xfrm>
          <a:prstGeom prst="rect">
            <a:avLst/>
          </a:prstGeom>
          <a:noFill/>
          <a:ln/>
        </p:spPr>
        <p:txBody>
          <a:bodyPr wrap="square" lIns="0" tIns="0" rIns="0" bIns="0" rtlCol="0" anchor="t"/>
          <a:lstStyle/>
          <a:p>
            <a:pPr algn="l" indent="0" marL="0">
              <a:lnSpc>
                <a:spcPct val="116000"/>
              </a:lnSpc>
              <a:buNone/>
            </a:pPr>
            <a:r>
              <a:rPr lang="en-US" sz="1260" dirty="0">
                <a:solidFill>
                  <a:srgbClr val="243B53"/>
                </a:solidFill>
                <a:latin typeface="Aptos" pitchFamily="34" charset="0"/>
                <a:ea typeface="Aptos" pitchFamily="34" charset="-122"/>
                <a:cs typeface="Aptos" pitchFamily="34" charset="-120"/>
              </a:rPr>
              <a:t>Apropiada para este contrato. «is» pregunta si son el mismo objeto; «==» pregunta si valen lo mismo.</a:t>
            </a:r>
            <a:endParaRPr lang="en-US" sz="1260" dirty="0"/>
          </a:p>
        </p:txBody>
      </p:sp>
      <p:sp>
        <p:nvSpPr>
          <p:cNvPr id="29" name="Shape 26"/>
          <p:cNvSpPr/>
          <p:nvPr/>
        </p:nvSpPr>
        <p:spPr>
          <a:xfrm>
            <a:off x="658368" y="5321808"/>
            <a:ext cx="10874959" cy="1024128"/>
          </a:xfrm>
          <a:prstGeom prst="roundRect">
            <a:avLst>
              <a:gd name="adj" fmla="val 3571"/>
            </a:avLst>
          </a:prstGeom>
          <a:solidFill>
            <a:srgbClr val="102A43"/>
          </a:solidFill>
          <a:ln w="12700">
            <a:solidFill>
              <a:srgbClr val="102A43"/>
            </a:solidFill>
            <a:prstDash val="solid"/>
          </a:ln>
        </p:spPr>
      </p:sp>
      <p:sp>
        <p:nvSpPr>
          <p:cNvPr id="30" name="Shape 27"/>
          <p:cNvSpPr/>
          <p:nvPr/>
        </p:nvSpPr>
        <p:spPr>
          <a:xfrm>
            <a:off x="786384" y="5431536"/>
            <a:ext cx="10618927" cy="310896"/>
          </a:xfrm>
          <a:prstGeom prst="roundRect">
            <a:avLst>
              <a:gd name="adj" fmla="val 8824"/>
            </a:avLst>
          </a:prstGeom>
          <a:solidFill>
            <a:srgbClr val="284B75"/>
          </a:solidFill>
          <a:ln w="12700">
            <a:solidFill>
              <a:srgbClr val="284B75"/>
            </a:solidFill>
            <a:prstDash val="solid"/>
          </a:ln>
        </p:spPr>
      </p:sp>
      <p:sp>
        <p:nvSpPr>
          <p:cNvPr id="31" name="Text 28"/>
          <p:cNvSpPr/>
          <p:nvPr/>
        </p:nvSpPr>
        <p:spPr>
          <a:xfrm>
            <a:off x="896112" y="5504688"/>
            <a:ext cx="10399471"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 diferencia, en una línea</a:t>
            </a:r>
            <a:endParaRPr lang="en-US" sz="1000" dirty="0"/>
          </a:p>
        </p:txBody>
      </p:sp>
      <p:pic>
        <p:nvPicPr>
          <p:cNvPr id="3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5888736"/>
            <a:ext cx="10454335" cy="27432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37</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EL ERROR QUE PASA DESAPERCIBIDO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Una comparación no es una aserción</a:t>
            </a:r>
            <a:endParaRPr lang="en-US" sz="3000" dirty="0"/>
          </a:p>
        </p:txBody>
      </p:sp>
      <p:sp>
        <p:nvSpPr>
          <p:cNvPr id="10" name="Text 7"/>
          <p:cNvSpPr txBox="1"/>
          <p:nvPr/>
        </p:nvSpPr>
        <p:spPr>
          <a:xfrm>
            <a:off x="658368" y="1773936"/>
            <a:ext cx="72237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Esta prueba termina en verde y no comprueba absolutamente nada.</a:t>
            </a:r>
            <a:endParaRPr lang="en-US" sz="1450" dirty="0"/>
          </a:p>
        </p:txBody>
      </p:sp>
      <p:sp>
        <p:nvSpPr>
          <p:cNvPr id="11" name="Shape 8"/>
          <p:cNvSpPr/>
          <p:nvPr/>
        </p:nvSpPr>
        <p:spPr>
          <a:xfrm>
            <a:off x="8165592" y="1883664"/>
            <a:ext cx="1060704" cy="274320"/>
          </a:xfrm>
          <a:prstGeom prst="rect">
            <a:avLst/>
          </a:prstGeom>
          <a:solidFill>
            <a:srgbClr val="EDE6DA"/>
          </a:solidFill>
          <a:ln w="12700">
            <a:solidFill>
              <a:srgbClr val="EDE6DA"/>
            </a:solidFill>
            <a:prstDash val="solid"/>
          </a:ln>
        </p:spPr>
      </p:sp>
      <p:sp>
        <p:nvSpPr>
          <p:cNvPr id="12" name="Text 9"/>
          <p:cNvSpPr txBox="1"/>
          <p:nvPr/>
        </p:nvSpPr>
        <p:spPr>
          <a:xfrm>
            <a:off x="8165592"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Leer</a:t>
            </a:r>
            <a:endParaRPr lang="en-US" sz="940" dirty="0"/>
          </a:p>
        </p:txBody>
      </p:sp>
      <p:sp>
        <p:nvSpPr>
          <p:cNvPr id="13" name="Shape 10"/>
          <p:cNvSpPr/>
          <p:nvPr/>
        </p:nvSpPr>
        <p:spPr>
          <a:xfrm>
            <a:off x="9317736" y="1883664"/>
            <a:ext cx="1060704" cy="274320"/>
          </a:xfrm>
          <a:prstGeom prst="rect">
            <a:avLst/>
          </a:prstGeom>
          <a:solidFill>
            <a:srgbClr val="102A43"/>
          </a:solidFill>
          <a:ln w="12700">
            <a:solidFill>
              <a:srgbClr val="102A43"/>
            </a:solidFill>
            <a:prstDash val="solid"/>
          </a:ln>
        </p:spPr>
      </p:sp>
      <p:sp>
        <p:nvSpPr>
          <p:cNvPr id="14" name="Text 11"/>
          <p:cNvSpPr txBox="1"/>
          <p:nvPr/>
        </p:nvSpPr>
        <p:spPr>
          <a:xfrm>
            <a:off x="9317736"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FFFFFF"/>
                </a:solidFill>
                <a:latin typeface="Aptos" pitchFamily="34" charset="0"/>
                <a:ea typeface="Aptos" pitchFamily="34" charset="-122"/>
                <a:cs typeface="Aptos" pitchFamily="34" charset="-120"/>
              </a:rPr>
              <a:t>Predecir</a:t>
            </a:r>
            <a:endParaRPr lang="en-US" sz="940" dirty="0"/>
          </a:p>
        </p:txBody>
      </p:sp>
      <p:sp>
        <p:nvSpPr>
          <p:cNvPr id="15" name="Shape 12"/>
          <p:cNvSpPr/>
          <p:nvPr/>
        </p:nvSpPr>
        <p:spPr>
          <a:xfrm>
            <a:off x="10469880" y="1883664"/>
            <a:ext cx="1060704" cy="274320"/>
          </a:xfrm>
          <a:prstGeom prst="rect">
            <a:avLst/>
          </a:prstGeom>
          <a:solidFill>
            <a:srgbClr val="EDE6DA"/>
          </a:solidFill>
          <a:ln w="12700">
            <a:solidFill>
              <a:srgbClr val="EDE6DA"/>
            </a:solidFill>
            <a:prstDash val="solid"/>
          </a:ln>
        </p:spPr>
      </p:sp>
      <p:sp>
        <p:nvSpPr>
          <p:cNvPr id="16" name="Text 13"/>
          <p:cNvSpPr txBox="1"/>
          <p:nvPr/>
        </p:nvSpPr>
        <p:spPr>
          <a:xfrm>
            <a:off x="10469880"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Comprobar</a:t>
            </a:r>
            <a:endParaRPr lang="en-US" sz="940" dirty="0"/>
          </a:p>
        </p:txBody>
      </p:sp>
      <p:sp>
        <p:nvSpPr>
          <p:cNvPr id="17" name="Shape 14"/>
          <p:cNvSpPr/>
          <p:nvPr/>
        </p:nvSpPr>
        <p:spPr>
          <a:xfrm>
            <a:off x="658368" y="2286000"/>
            <a:ext cx="6035040" cy="1499616"/>
          </a:xfrm>
          <a:prstGeom prst="roundRect">
            <a:avLst>
              <a:gd name="adj" fmla="val 2439"/>
            </a:avLst>
          </a:prstGeom>
          <a:solidFill>
            <a:srgbClr val="102A43"/>
          </a:solidFill>
          <a:ln w="12700">
            <a:solidFill>
              <a:srgbClr val="102A43"/>
            </a:solidFill>
            <a:prstDash val="solid"/>
          </a:ln>
        </p:spPr>
      </p:sp>
      <p:sp>
        <p:nvSpPr>
          <p:cNvPr id="18" name="Shape 15"/>
          <p:cNvSpPr/>
          <p:nvPr/>
        </p:nvSpPr>
        <p:spPr>
          <a:xfrm>
            <a:off x="786384" y="2395728"/>
            <a:ext cx="5779008" cy="310896"/>
          </a:xfrm>
          <a:prstGeom prst="roundRect">
            <a:avLst>
              <a:gd name="adj" fmla="val 8824"/>
            </a:avLst>
          </a:prstGeom>
          <a:solidFill>
            <a:srgbClr val="284B75"/>
          </a:solidFill>
          <a:ln w="12700">
            <a:solidFill>
              <a:srgbClr val="284B75"/>
            </a:solidFill>
            <a:prstDash val="solid"/>
          </a:ln>
        </p:spPr>
      </p:sp>
      <p:sp>
        <p:nvSpPr>
          <p:cNvPr id="19" name="Text 16"/>
          <p:cNvSpPr/>
          <p:nvPr/>
        </p:nvSpPr>
        <p:spPr>
          <a:xfrm>
            <a:off x="896112" y="2468880"/>
            <a:ext cx="555955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Falta una palabra, y no hay error en ninguna parte</a:t>
            </a:r>
            <a:endParaRPr lang="en-US" sz="100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5614416" cy="749808"/>
          </a:xfrm>
          <a:prstGeom prst="rect">
            <a:avLst/>
          </a:prstGeom>
        </p:spPr>
      </p:pic>
      <p:sp>
        <p:nvSpPr>
          <p:cNvPr id="21" name="Shape 17"/>
          <p:cNvSpPr/>
          <p:nvPr/>
        </p:nvSpPr>
        <p:spPr>
          <a:xfrm>
            <a:off x="6876288" y="2286000"/>
            <a:ext cx="4654296" cy="1499616"/>
          </a:xfrm>
          <a:prstGeom prst="rect">
            <a:avLst/>
          </a:prstGeom>
          <a:solidFill>
            <a:srgbClr val="F8E4E5"/>
          </a:solidFill>
          <a:ln w="12700">
            <a:solidFill>
              <a:srgbClr val="F8E4E5"/>
            </a:solidFill>
            <a:prstDash val="solid"/>
          </a:ln>
        </p:spPr>
      </p:sp>
      <p:sp>
        <p:nvSpPr>
          <p:cNvPr id="22" name="Shape 18"/>
          <p:cNvSpPr/>
          <p:nvPr/>
        </p:nvSpPr>
        <p:spPr>
          <a:xfrm>
            <a:off x="6876288" y="2286000"/>
            <a:ext cx="64008" cy="1499616"/>
          </a:xfrm>
          <a:prstGeom prst="rect">
            <a:avLst/>
          </a:prstGeom>
          <a:solidFill>
            <a:srgbClr val="B3181E"/>
          </a:solidFill>
          <a:ln w="12700">
            <a:solidFill>
              <a:srgbClr val="B3181E"/>
            </a:solidFill>
            <a:prstDash val="solid"/>
          </a:ln>
        </p:spPr>
      </p:sp>
      <p:sp>
        <p:nvSpPr>
          <p:cNvPr id="23" name="Text 19"/>
          <p:cNvSpPr txBox="1"/>
          <p:nvPr/>
        </p:nvSpPr>
        <p:spPr>
          <a:xfrm>
            <a:off x="7187184" y="2468880"/>
            <a:ext cx="402336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QUÉ OCURRE EN ESA ÚLTIMA LÍNEA</a:t>
            </a:r>
            <a:endParaRPr lang="en-US" sz="960" dirty="0"/>
          </a:p>
        </p:txBody>
      </p:sp>
      <p:sp>
        <p:nvSpPr>
          <p:cNvPr id="24" name="Text 20"/>
          <p:cNvSpPr txBox="1"/>
          <p:nvPr/>
        </p:nvSpPr>
        <p:spPr>
          <a:xfrm>
            <a:off x="7187184" y="2724912"/>
            <a:ext cx="4114800" cy="914400"/>
          </a:xfrm>
          <a:prstGeom prst="rect">
            <a:avLst/>
          </a:prstGeom>
          <a:noFill/>
          <a:ln/>
        </p:spPr>
        <p:txBody>
          <a:bodyPr wrap="square" lIns="0" tIns="0" rIns="0" bIns="0" rtlCol="0" anchor="t"/>
          <a:lstStyle/>
          <a:p>
            <a:pPr algn="l" indent="0" marL="0">
              <a:lnSpc>
                <a:spcPct val="118000"/>
              </a:lnSpc>
              <a:buNone/>
            </a:pPr>
            <a:r>
              <a:rPr lang="en-US" sz="1240" dirty="0">
                <a:solidFill>
                  <a:srgbClr val="243B53"/>
                </a:solidFill>
                <a:latin typeface="Aptos" pitchFamily="34" charset="0"/>
                <a:ea typeface="Aptos" pitchFamily="34" charset="-122"/>
                <a:cs typeface="Aptos" pitchFamily="34" charset="-120"/>
              </a:rPr>
              <a:t>Python calcula «False» y lo descarta. No interrumpe nada ni señala un error. La función termina</a:t>
            </a:r>
            <a:endParaRPr lang="en-US" sz="1240" dirty="0"/>
          </a:p>
          <a:p>
            <a:pPr algn="l" indent="0" marL="0">
              <a:lnSpc>
                <a:spcPct val="118000"/>
              </a:lnSpc>
              <a:buNone/>
            </a:pPr>
            <a:r>
              <a:rPr lang="en-US" sz="1240" dirty="0">
                <a:solidFill>
                  <a:srgbClr val="243B53"/>
                </a:solidFill>
                <a:latin typeface="Aptos" pitchFamily="34" charset="0"/>
                <a:ea typeface="Aptos" pitchFamily="34" charset="-122"/>
                <a:cs typeface="Aptos" pitchFamily="34" charset="-120"/>
              </a:rPr>
              <a:t>normalmente, así que pytest la marca como pasada.</a:t>
            </a:r>
            <a:endParaRPr lang="en-US" sz="1240" dirty="0"/>
          </a:p>
        </p:txBody>
      </p:sp>
      <p:sp>
        <p:nvSpPr>
          <p:cNvPr id="25" name="Shape 21"/>
          <p:cNvSpPr/>
          <p:nvPr/>
        </p:nvSpPr>
        <p:spPr>
          <a:xfrm>
            <a:off x="658368" y="3986784"/>
            <a:ext cx="10874959" cy="658368"/>
          </a:xfrm>
          <a:prstGeom prst="rect">
            <a:avLst/>
          </a:prstGeom>
          <a:solidFill>
            <a:srgbClr val="102A43"/>
          </a:solidFill>
          <a:ln w="12700">
            <a:solidFill>
              <a:srgbClr val="102A43"/>
            </a:solidFill>
            <a:prstDash val="solid"/>
          </a:ln>
        </p:spPr>
      </p:sp>
      <p:sp>
        <p:nvSpPr>
          <p:cNvPr id="26" name="Text 22"/>
          <p:cNvSpPr txBox="1"/>
          <p:nvPr/>
        </p:nvSpPr>
        <p:spPr>
          <a:xfrm>
            <a:off x="969264" y="4023360"/>
            <a:ext cx="10253167" cy="585216"/>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Es una prueba que no puede fallar nunca. Agregarle «assert» delante convierte la discrepancia en un fallo visible.</a:t>
            </a:r>
            <a:endParaRPr lang="en-US" sz="1500" dirty="0"/>
          </a:p>
        </p:txBody>
      </p:sp>
      <p:sp>
        <p:nvSpPr>
          <p:cNvPr id="27" name="Shape 23"/>
          <p:cNvSpPr/>
          <p:nvPr/>
        </p:nvSpPr>
        <p:spPr>
          <a:xfrm>
            <a:off x="658368" y="4846320"/>
            <a:ext cx="10874959" cy="914400"/>
          </a:xfrm>
          <a:prstGeom prst="rect">
            <a:avLst/>
          </a:prstGeom>
          <a:solidFill>
            <a:srgbClr val="F2E7D9"/>
          </a:solidFill>
          <a:ln w="12700">
            <a:solidFill>
              <a:srgbClr val="F2E7D9"/>
            </a:solidFill>
            <a:prstDash val="solid"/>
          </a:ln>
        </p:spPr>
      </p:sp>
      <p:sp>
        <p:nvSpPr>
          <p:cNvPr id="28" name="Shape 24"/>
          <p:cNvSpPr/>
          <p:nvPr/>
        </p:nvSpPr>
        <p:spPr>
          <a:xfrm>
            <a:off x="658368" y="4846320"/>
            <a:ext cx="64008" cy="914400"/>
          </a:xfrm>
          <a:prstGeom prst="rect">
            <a:avLst/>
          </a:prstGeom>
          <a:solidFill>
            <a:srgbClr val="8A6A12"/>
          </a:solidFill>
          <a:ln w="12700">
            <a:solidFill>
              <a:srgbClr val="8A6A12"/>
            </a:solidFill>
            <a:prstDash val="solid"/>
          </a:ln>
        </p:spPr>
      </p:sp>
      <p:sp>
        <p:nvSpPr>
          <p:cNvPr id="29" name="Text 25"/>
          <p:cNvSpPr txBox="1"/>
          <p:nvPr/>
        </p:nvSpPr>
        <p:spPr>
          <a:xfrm>
            <a:off x="987552" y="5010912"/>
            <a:ext cx="5852160" cy="201168"/>
          </a:xfrm>
          <a:prstGeom prst="rect">
            <a:avLst/>
          </a:prstGeom>
          <a:noFill/>
          <a:ln/>
        </p:spPr>
        <p:txBody>
          <a:bodyPr wrap="square" lIns="0" tIns="0" rIns="0" bIns="0" rtlCol="0" anchor="t"/>
          <a:lstStyle/>
          <a:p>
            <a:pPr algn="l" indent="0" marL="0">
              <a:buNone/>
            </a:pPr>
            <a:r>
              <a:rPr lang="en-US" sz="960" b="1" spc="130" kern="0" dirty="0">
                <a:solidFill>
                  <a:srgbClr val="8A6A12"/>
                </a:solidFill>
                <a:latin typeface="Aptos" pitchFamily="34" charset="0"/>
                <a:ea typeface="Aptos" pitchFamily="34" charset="-122"/>
                <a:cs typeface="Aptos" pitchFamily="34" charset="-120"/>
              </a:rPr>
              <a:t>Y UNA ADVERTENCIA QUE VALE FUERA DE LAS PRUEBAS</a:t>
            </a:r>
            <a:endParaRPr lang="en-US" sz="960" dirty="0"/>
          </a:p>
        </p:txBody>
      </p:sp>
      <p:sp>
        <p:nvSpPr>
          <p:cNvPr id="30" name="Text 26"/>
          <p:cNvSpPr txBox="1"/>
          <p:nvPr/>
        </p:nvSpPr>
        <p:spPr>
          <a:xfrm>
            <a:off x="987552" y="5248656"/>
            <a:ext cx="10216591" cy="438912"/>
          </a:xfrm>
          <a:prstGeom prst="rect">
            <a:avLst/>
          </a:prstGeom>
          <a:noFill/>
          <a:ln/>
        </p:spPr>
        <p:txBody>
          <a:bodyPr wrap="square" lIns="0" tIns="0" rIns="0" bIns="0" rtlCol="0" anchor="t"/>
          <a:lstStyle/>
          <a:p>
            <a:pPr algn="l" indent="0" marL="0">
              <a:lnSpc>
                <a:spcPct val="114000"/>
              </a:lnSpc>
              <a:buNone/>
            </a:pPr>
            <a:r>
              <a:rPr lang="en-US" sz="1240" dirty="0">
                <a:solidFill>
                  <a:srgbClr val="243B53"/>
                </a:solidFill>
                <a:latin typeface="Aptos" pitchFamily="34" charset="0"/>
                <a:ea typeface="Aptos" pitchFamily="34" charset="-122"/>
                <a:cs typeface="Aptos" pitchFamily="34" charset="-120"/>
              </a:rPr>
              <a:t>«assert» es útil en pruebas, pero no debe ser la única validación de entradas de un sistema en producción:</a:t>
            </a:r>
            <a:endParaRPr lang="en-US" sz="1240" dirty="0"/>
          </a:p>
          <a:p>
            <a:pPr algn="l" indent="0" marL="0">
              <a:lnSpc>
                <a:spcPct val="114000"/>
              </a:lnSpc>
              <a:buNone/>
            </a:pPr>
            <a:r>
              <a:rPr lang="en-US" sz="1240" dirty="0">
                <a:solidFill>
                  <a:srgbClr val="243B53"/>
                </a:solidFill>
                <a:latin typeface="Aptos" pitchFamily="34" charset="0"/>
                <a:ea typeface="Aptos" pitchFamily="34" charset="-122"/>
                <a:cs typeface="Aptos" pitchFamily="34" charset="-120"/>
              </a:rPr>
              <a:t>Python puede omitir todas sus aserciones al ejecutarse con la opción de optimización «-O».</a:t>
            </a:r>
            <a:endParaRPr lang="en-US" sz="124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38</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LA REPETICIÓN QUE SOBRA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Tres clases, la misma operación, distintos datos</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Antes de introducir nada nuevo conviene ver qué problema resuelve.</a:t>
            </a:r>
            <a:endParaRPr lang="en-US" sz="1450" dirty="0"/>
          </a:p>
        </p:txBody>
      </p:sp>
      <p:sp>
        <p:nvSpPr>
          <p:cNvPr id="11" name="Shape 8"/>
          <p:cNvSpPr/>
          <p:nvPr/>
        </p:nvSpPr>
        <p:spPr>
          <a:xfrm>
            <a:off x="658368" y="2286000"/>
            <a:ext cx="5532120" cy="2688336"/>
          </a:xfrm>
          <a:prstGeom prst="roundRect">
            <a:avLst>
              <a:gd name="adj" fmla="val 1361"/>
            </a:avLst>
          </a:prstGeom>
          <a:solidFill>
            <a:srgbClr val="102A43"/>
          </a:solidFill>
          <a:ln w="12700">
            <a:solidFill>
              <a:srgbClr val="102A43"/>
            </a:solidFill>
            <a:prstDash val="solid"/>
          </a:ln>
        </p:spPr>
      </p:sp>
      <p:sp>
        <p:nvSpPr>
          <p:cNvPr id="12" name="Shape 9"/>
          <p:cNvSpPr/>
          <p:nvPr/>
        </p:nvSpPr>
        <p:spPr>
          <a:xfrm>
            <a:off x="786384" y="2395728"/>
            <a:ext cx="527608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68880"/>
            <a:ext cx="505663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Lo que habría que escribir sin parametrizar</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5111496" cy="1938528"/>
          </a:xfrm>
          <a:prstGeom prst="rect">
            <a:avLst/>
          </a:prstGeom>
        </p:spPr>
      </p:pic>
      <p:sp>
        <p:nvSpPr>
          <p:cNvPr id="15" name="Shape 11"/>
          <p:cNvSpPr/>
          <p:nvPr/>
        </p:nvSpPr>
        <p:spPr>
          <a:xfrm>
            <a:off x="6382512" y="2286000"/>
            <a:ext cx="5148072" cy="2688336"/>
          </a:xfrm>
          <a:prstGeom prst="rect">
            <a:avLst/>
          </a:prstGeom>
          <a:solidFill>
            <a:srgbClr val="E6EEF7"/>
          </a:solidFill>
          <a:ln w="12700">
            <a:solidFill>
              <a:srgbClr val="E6EEF7"/>
            </a:solidFill>
            <a:prstDash val="solid"/>
          </a:ln>
        </p:spPr>
      </p:sp>
      <p:sp>
        <p:nvSpPr>
          <p:cNvPr id="16" name="Shape 12"/>
          <p:cNvSpPr/>
          <p:nvPr/>
        </p:nvSpPr>
        <p:spPr>
          <a:xfrm>
            <a:off x="6382512" y="2286000"/>
            <a:ext cx="64008" cy="2688336"/>
          </a:xfrm>
          <a:prstGeom prst="rect">
            <a:avLst/>
          </a:prstGeom>
          <a:solidFill>
            <a:srgbClr val="102A43"/>
          </a:solidFill>
          <a:ln w="12700">
            <a:solidFill>
              <a:srgbClr val="102A43"/>
            </a:solidFill>
            <a:prstDash val="solid"/>
          </a:ln>
        </p:spPr>
      </p:sp>
      <p:sp>
        <p:nvSpPr>
          <p:cNvPr id="17" name="Text 13"/>
          <p:cNvSpPr txBox="1"/>
          <p:nvPr/>
        </p:nvSpPr>
        <p:spPr>
          <a:xfrm>
            <a:off x="6693408" y="2468880"/>
            <a:ext cx="420624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QUÉ CAMBIA Y QUÉ NO</a:t>
            </a:r>
            <a:endParaRPr lang="en-US" sz="960" dirty="0"/>
          </a:p>
        </p:txBody>
      </p:sp>
      <p:sp>
        <p:nvSpPr>
          <p:cNvPr id="18" name="Text 14"/>
          <p:cNvSpPr txBox="1"/>
          <p:nvPr/>
        </p:nvSpPr>
        <p:spPr>
          <a:xfrm>
            <a:off x="6693408" y="2743200"/>
            <a:ext cx="4572000" cy="237744"/>
          </a:xfrm>
          <a:prstGeom prst="rect">
            <a:avLst/>
          </a:prstGeom>
          <a:noFill/>
          <a:ln/>
        </p:spPr>
        <p:txBody>
          <a:bodyPr wrap="square" lIns="0" tIns="0" rIns="0" bIns="0" rtlCol="0" anchor="t"/>
          <a:lstStyle/>
          <a:p>
            <a:pPr algn="l" indent="0" marL="0">
              <a:buNone/>
            </a:pPr>
            <a:r>
              <a:rPr lang="en-US" sz="1260" b="1" dirty="0">
                <a:solidFill>
                  <a:srgbClr val="102A43"/>
                </a:solidFill>
                <a:latin typeface="Aptos" pitchFamily="34" charset="0"/>
                <a:ea typeface="Aptos" pitchFamily="34" charset="-122"/>
                <a:cs typeface="Aptos" pitchFamily="34" charset="-120"/>
              </a:rPr>
              <a:t>Igual en las tres</a:t>
            </a:r>
            <a:endParaRPr lang="en-US" sz="1260" dirty="0"/>
          </a:p>
        </p:txBody>
      </p:sp>
      <p:sp>
        <p:nvSpPr>
          <p:cNvPr id="19" name="Text 15"/>
          <p:cNvSpPr txBox="1"/>
          <p:nvPr/>
        </p:nvSpPr>
        <p:spPr>
          <a:xfrm>
            <a:off x="6693408" y="2999232"/>
            <a:ext cx="4572000" cy="384048"/>
          </a:xfrm>
          <a:prstGeom prst="rect">
            <a:avLst/>
          </a:prstGeom>
          <a:noFill/>
          <a:ln/>
        </p:spPr>
        <p:txBody>
          <a:bodyPr wrap="square" lIns="0" tIns="0" rIns="0" bIns="0" rtlCol="0" anchor="t"/>
          <a:lstStyle/>
          <a:p>
            <a:pPr algn="l" indent="0" marL="0">
              <a:lnSpc>
                <a:spcPct val="114000"/>
              </a:lnSpc>
              <a:buNone/>
            </a:pPr>
            <a:r>
              <a:rPr lang="en-US" sz="1200" dirty="0">
                <a:solidFill>
                  <a:srgbClr val="243B53"/>
                </a:solidFill>
                <a:latin typeface="Aptos" pitchFamily="34" charset="0"/>
                <a:ea typeface="Aptos" pitchFamily="34" charset="-122"/>
                <a:cs typeface="Aptos" pitchFamily="34" charset="-120"/>
              </a:rPr>
              <a:t>La llamada, la forma de comparar y la estructura entera.</a:t>
            </a:r>
            <a:endParaRPr lang="en-US" sz="1200" dirty="0"/>
          </a:p>
        </p:txBody>
      </p:sp>
      <p:sp>
        <p:nvSpPr>
          <p:cNvPr id="20" name="Text 16"/>
          <p:cNvSpPr txBox="1"/>
          <p:nvPr/>
        </p:nvSpPr>
        <p:spPr>
          <a:xfrm>
            <a:off x="6693408" y="3456432"/>
            <a:ext cx="4572000" cy="237744"/>
          </a:xfrm>
          <a:prstGeom prst="rect">
            <a:avLst/>
          </a:prstGeom>
          <a:noFill/>
          <a:ln/>
        </p:spPr>
        <p:txBody>
          <a:bodyPr wrap="square" lIns="0" tIns="0" rIns="0" bIns="0" rtlCol="0" anchor="t"/>
          <a:lstStyle/>
          <a:p>
            <a:pPr algn="l" indent="0" marL="0">
              <a:buNone/>
            </a:pPr>
            <a:r>
              <a:rPr lang="en-US" sz="1260" b="1" dirty="0">
                <a:solidFill>
                  <a:srgbClr val="102A43"/>
                </a:solidFill>
                <a:latin typeface="Aptos" pitchFamily="34" charset="0"/>
                <a:ea typeface="Aptos" pitchFamily="34" charset="-122"/>
                <a:cs typeface="Aptos" pitchFamily="34" charset="-120"/>
              </a:rPr>
              <a:t>Distinto en las tres</a:t>
            </a:r>
            <a:endParaRPr lang="en-US" sz="1260" dirty="0"/>
          </a:p>
        </p:txBody>
      </p:sp>
      <p:sp>
        <p:nvSpPr>
          <p:cNvPr id="21" name="Text 17"/>
          <p:cNvSpPr txBox="1"/>
          <p:nvPr/>
        </p:nvSpPr>
        <p:spPr>
          <a:xfrm>
            <a:off x="6693408" y="3712464"/>
            <a:ext cx="4572000" cy="384048"/>
          </a:xfrm>
          <a:prstGeom prst="rect">
            <a:avLst/>
          </a:prstGeom>
          <a:noFill/>
          <a:ln/>
        </p:spPr>
        <p:txBody>
          <a:bodyPr wrap="square" lIns="0" tIns="0" rIns="0" bIns="0" rtlCol="0" anchor="t"/>
          <a:lstStyle/>
          <a:p>
            <a:pPr algn="l" indent="0" marL="0">
              <a:lnSpc>
                <a:spcPct val="114000"/>
              </a:lnSpc>
              <a:buNone/>
            </a:pPr>
            <a:r>
              <a:rPr lang="en-US" sz="1200" dirty="0">
                <a:solidFill>
                  <a:srgbClr val="243B53"/>
                </a:solidFill>
                <a:latin typeface="Aptos" pitchFamily="34" charset="0"/>
                <a:ea typeface="Aptos" pitchFamily="34" charset="-122"/>
                <a:cs typeface="Aptos" pitchFamily="34" charset="-120"/>
              </a:rPr>
              <a:t>Solo dos datos: el valor de entrada y el resultado esperado.</a:t>
            </a:r>
            <a:endParaRPr lang="en-US" sz="1200" dirty="0"/>
          </a:p>
        </p:txBody>
      </p:sp>
      <p:sp>
        <p:nvSpPr>
          <p:cNvPr id="22" name="Text 18"/>
          <p:cNvSpPr txBox="1"/>
          <p:nvPr/>
        </p:nvSpPr>
        <p:spPr>
          <a:xfrm>
            <a:off x="6693408" y="4169664"/>
            <a:ext cx="4572000" cy="237744"/>
          </a:xfrm>
          <a:prstGeom prst="rect">
            <a:avLst/>
          </a:prstGeom>
          <a:noFill/>
          <a:ln/>
        </p:spPr>
        <p:txBody>
          <a:bodyPr wrap="square" lIns="0" tIns="0" rIns="0" bIns="0" rtlCol="0" anchor="t"/>
          <a:lstStyle/>
          <a:p>
            <a:pPr algn="l" indent="0" marL="0">
              <a:buNone/>
            </a:pPr>
            <a:r>
              <a:rPr lang="en-US" sz="1260" b="1" dirty="0">
                <a:solidFill>
                  <a:srgbClr val="102A43"/>
                </a:solidFill>
                <a:latin typeface="Aptos" pitchFamily="34" charset="0"/>
                <a:ea typeface="Aptos" pitchFamily="34" charset="-122"/>
                <a:cs typeface="Aptos" pitchFamily="34" charset="-120"/>
              </a:rPr>
              <a:t>Lo que eso sugiere</a:t>
            </a:r>
            <a:endParaRPr lang="en-US" sz="1260" dirty="0"/>
          </a:p>
        </p:txBody>
      </p:sp>
      <p:sp>
        <p:nvSpPr>
          <p:cNvPr id="23" name="Text 19"/>
          <p:cNvSpPr txBox="1"/>
          <p:nvPr/>
        </p:nvSpPr>
        <p:spPr>
          <a:xfrm>
            <a:off x="6693408" y="4425696"/>
            <a:ext cx="4572000" cy="384048"/>
          </a:xfrm>
          <a:prstGeom prst="rect">
            <a:avLst/>
          </a:prstGeom>
          <a:noFill/>
          <a:ln/>
        </p:spPr>
        <p:txBody>
          <a:bodyPr wrap="square" lIns="0" tIns="0" rIns="0" bIns="0" rtlCol="0" anchor="t"/>
          <a:lstStyle/>
          <a:p>
            <a:pPr algn="l" indent="0" marL="0">
              <a:lnSpc>
                <a:spcPct val="114000"/>
              </a:lnSpc>
              <a:buNone/>
            </a:pPr>
            <a:r>
              <a:rPr lang="en-US" sz="1200" dirty="0">
                <a:solidFill>
                  <a:srgbClr val="243B53"/>
                </a:solidFill>
                <a:latin typeface="Aptos" pitchFamily="34" charset="0"/>
                <a:ea typeface="Aptos" pitchFamily="34" charset="-122"/>
                <a:cs typeface="Aptos" pitchFamily="34" charset="-120"/>
              </a:rPr>
              <a:t>Una sola prueba que se ejecute una vez por fila de la tabla.</a:t>
            </a:r>
            <a:endParaRPr lang="en-US" sz="1200" dirty="0"/>
          </a:p>
        </p:txBody>
      </p:sp>
      <p:sp>
        <p:nvSpPr>
          <p:cNvPr id="24" name="Shape 20"/>
          <p:cNvSpPr/>
          <p:nvPr/>
        </p:nvSpPr>
        <p:spPr>
          <a:xfrm>
            <a:off x="658368" y="5138928"/>
            <a:ext cx="10874959" cy="658368"/>
          </a:xfrm>
          <a:prstGeom prst="rect">
            <a:avLst/>
          </a:prstGeom>
          <a:solidFill>
            <a:srgbClr val="102A43"/>
          </a:solidFill>
          <a:ln w="12700">
            <a:solidFill>
              <a:srgbClr val="102A43"/>
            </a:solidFill>
            <a:prstDash val="solid"/>
          </a:ln>
        </p:spPr>
      </p:sp>
      <p:sp>
        <p:nvSpPr>
          <p:cNvPr id="25" name="Text 21"/>
          <p:cNvSpPr txBox="1"/>
          <p:nvPr/>
        </p:nvSpPr>
        <p:spPr>
          <a:xfrm>
            <a:off x="969264" y="5175504"/>
            <a:ext cx="10253167" cy="585216"/>
          </a:xfrm>
          <a:prstGeom prst="rect">
            <a:avLst/>
          </a:prstGeom>
          <a:noFill/>
          <a:ln/>
        </p:spPr>
        <p:txBody>
          <a:bodyPr wrap="square" lIns="0" tIns="0" rIns="0" bIns="0" rtlCol="0" anchor="ctr"/>
          <a:lstStyle/>
          <a:p>
            <a:pPr algn="ctr" indent="0" marL="0">
              <a:buNone/>
            </a:pPr>
            <a:r>
              <a:rPr lang="en-US" sz="1900" b="1" dirty="0">
                <a:solidFill>
                  <a:srgbClr val="FFFFFF"/>
                </a:solidFill>
                <a:latin typeface="Aptos Display" pitchFamily="34" charset="0"/>
                <a:ea typeface="Aptos Display" pitchFamily="34" charset="-122"/>
                <a:cs typeface="Aptos Display" pitchFamily="34" charset="-120"/>
              </a:rPr>
              <a:t>Parametrizar es ejecutar una misma prueba con conjuntos distintos de argumentos.</a:t>
            </a:r>
            <a:endParaRPr lang="en-US" sz="1900" dirty="0"/>
          </a:p>
        </p:txBody>
      </p:sp>
      <p:sp>
        <p:nvSpPr>
          <p:cNvPr id="26" name="Shape 22"/>
          <p:cNvSpPr/>
          <p:nvPr/>
        </p:nvSpPr>
        <p:spPr>
          <a:xfrm>
            <a:off x="658368" y="5961888"/>
            <a:ext cx="10874959" cy="457200"/>
          </a:xfrm>
          <a:prstGeom prst="rect">
            <a:avLst/>
          </a:prstGeom>
          <a:solidFill>
            <a:srgbClr val="8A6A12"/>
          </a:solidFill>
          <a:ln w="12700">
            <a:solidFill>
              <a:srgbClr val="8A6A12"/>
            </a:solidFill>
            <a:prstDash val="solid"/>
          </a:ln>
        </p:spPr>
      </p:sp>
      <p:sp>
        <p:nvSpPr>
          <p:cNvPr id="27" name="Text 23"/>
          <p:cNvSpPr txBox="1"/>
          <p:nvPr/>
        </p:nvSpPr>
        <p:spPr>
          <a:xfrm>
            <a:off x="969264" y="5998464"/>
            <a:ext cx="10253167" cy="384048"/>
          </a:xfrm>
          <a:prstGeom prst="rect">
            <a:avLst/>
          </a:prstGeom>
          <a:noFill/>
          <a:ln/>
        </p:spPr>
        <p:txBody>
          <a:bodyPr wrap="square" lIns="0" tIns="0" rIns="0" bIns="0" rtlCol="0" anchor="ctr"/>
          <a:lstStyle/>
          <a:p>
            <a:pPr algn="ctr" indent="0" marL="0">
              <a:lnSpc>
                <a:spcPct val="110000"/>
              </a:lnSpc>
              <a:buNone/>
            </a:pPr>
            <a:r>
              <a:rPr lang="en-US" sz="1340" b="1" dirty="0">
                <a:solidFill>
                  <a:srgbClr val="FFFFFF"/>
                </a:solidFill>
                <a:latin typeface="Aptos" pitchFamily="34" charset="0"/>
                <a:ea typeface="Aptos" pitchFamily="34" charset="-122"/>
                <a:cs typeface="Aptos" pitchFamily="34" charset="-120"/>
              </a:rPr>
              <a:t>La tabla de la partición pasa a ser, literalmente, la lista de casos de la prueba.</a:t>
            </a:r>
            <a:endParaRPr lang="en-US" sz="134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39</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LEER LA SINTAXIS</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@pytest.mark.parametrize, pieza por pieza</a:t>
            </a:r>
            <a:endParaRPr lang="en-US" sz="3000" dirty="0"/>
          </a:p>
        </p:txBody>
      </p:sp>
      <p:sp>
        <p:nvSpPr>
          <p:cNvPr id="10" name="Shape 7"/>
          <p:cNvSpPr/>
          <p:nvPr/>
        </p:nvSpPr>
        <p:spPr>
          <a:xfrm>
            <a:off x="658368" y="1883664"/>
            <a:ext cx="5120640" cy="3127248"/>
          </a:xfrm>
          <a:prstGeom prst="roundRect">
            <a:avLst>
              <a:gd name="adj" fmla="val 1170"/>
            </a:avLst>
          </a:prstGeom>
          <a:solidFill>
            <a:srgbClr val="102A43"/>
          </a:solidFill>
          <a:ln w="12700">
            <a:solidFill>
              <a:srgbClr val="102A43"/>
            </a:solidFill>
            <a:prstDash val="solid"/>
          </a:ln>
        </p:spPr>
      </p:sp>
      <p:sp>
        <p:nvSpPr>
          <p:cNvPr id="11" name="Shape 8"/>
          <p:cNvSpPr/>
          <p:nvPr/>
        </p:nvSpPr>
        <p:spPr>
          <a:xfrm>
            <a:off x="786384" y="1993392"/>
            <a:ext cx="4864608" cy="310896"/>
          </a:xfrm>
          <a:prstGeom prst="roundRect">
            <a:avLst>
              <a:gd name="adj" fmla="val 8824"/>
            </a:avLst>
          </a:prstGeom>
          <a:solidFill>
            <a:srgbClr val="284B75"/>
          </a:solidFill>
          <a:ln w="12700">
            <a:solidFill>
              <a:srgbClr val="284B75"/>
            </a:solidFill>
            <a:prstDash val="solid"/>
          </a:ln>
        </p:spPr>
      </p:sp>
      <p:sp>
        <p:nvSpPr>
          <p:cNvPr id="12" name="Text 9"/>
          <p:cNvSpPr/>
          <p:nvPr/>
        </p:nvSpPr>
        <p:spPr>
          <a:xfrm>
            <a:off x="896112" y="2066544"/>
            <a:ext cx="464515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 tabla, escrita como código</a:t>
            </a:r>
            <a:endParaRPr lang="en-US" sz="1000" dirty="0"/>
          </a:p>
        </p:txBody>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450592"/>
            <a:ext cx="4700016" cy="2377440"/>
          </a:xfrm>
          <a:prstGeom prst="rect">
            <a:avLst/>
          </a:prstGeom>
        </p:spPr>
      </p:pic>
      <p:sp>
        <p:nvSpPr>
          <p:cNvPr id="14" name="Shape 10"/>
          <p:cNvSpPr/>
          <p:nvPr/>
        </p:nvSpPr>
        <p:spPr>
          <a:xfrm>
            <a:off x="6035040" y="1847088"/>
            <a:ext cx="5495544" cy="493776"/>
          </a:xfrm>
          <a:prstGeom prst="rect">
            <a:avLst/>
          </a:prstGeom>
          <a:solidFill>
            <a:srgbClr val="FFFFFF"/>
          </a:solidFill>
          <a:ln w="12700">
            <a:solidFill>
              <a:srgbClr val="FFFFFF"/>
            </a:solidFill>
            <a:prstDash val="solid"/>
          </a:ln>
        </p:spPr>
      </p:sp>
      <p:sp>
        <p:nvSpPr>
          <p:cNvPr id="15" name="Shape 11"/>
          <p:cNvSpPr/>
          <p:nvPr/>
        </p:nvSpPr>
        <p:spPr>
          <a:xfrm>
            <a:off x="6035040" y="1847088"/>
            <a:ext cx="45720" cy="493776"/>
          </a:xfrm>
          <a:prstGeom prst="rect">
            <a:avLst/>
          </a:prstGeom>
          <a:solidFill>
            <a:srgbClr val="8A6A12"/>
          </a:solidFill>
          <a:ln w="12700">
            <a:solidFill>
              <a:srgbClr val="8A6A12"/>
            </a:solidFill>
            <a:prstDash val="solid"/>
          </a:ln>
        </p:spPr>
      </p:sp>
      <p:sp>
        <p:nvSpPr>
          <p:cNvPr id="16" name="Text 12"/>
          <p:cNvSpPr txBox="1"/>
          <p:nvPr/>
        </p:nvSpPr>
        <p:spPr>
          <a:xfrm>
            <a:off x="6291072" y="1874520"/>
            <a:ext cx="5120640" cy="182880"/>
          </a:xfrm>
          <a:prstGeom prst="rect">
            <a:avLst/>
          </a:prstGeom>
          <a:noFill/>
          <a:ln/>
        </p:spPr>
        <p:txBody>
          <a:bodyPr wrap="square" lIns="0" tIns="0" rIns="0" bIns="0" rtlCol="0" anchor="t"/>
          <a:lstStyle/>
          <a:p>
            <a:pPr algn="l" indent="0" marL="0">
              <a:buNone/>
            </a:pPr>
            <a:r>
              <a:rPr lang="en-US" sz="960" b="1" dirty="0">
                <a:solidFill>
                  <a:srgbClr val="8A6A12"/>
                </a:solidFill>
                <a:latin typeface="Consolas" pitchFamily="34" charset="0"/>
                <a:ea typeface="Consolas" pitchFamily="34" charset="-122"/>
                <a:cs typeface="Consolas" pitchFamily="34" charset="-120"/>
              </a:rPr>
              <a:t>import pytest</a:t>
            </a:r>
            <a:endParaRPr lang="en-US" sz="960" dirty="0"/>
          </a:p>
        </p:txBody>
      </p:sp>
      <p:sp>
        <p:nvSpPr>
          <p:cNvPr id="17" name="Text 13"/>
          <p:cNvSpPr txBox="1"/>
          <p:nvPr/>
        </p:nvSpPr>
        <p:spPr>
          <a:xfrm>
            <a:off x="6291072" y="2066544"/>
            <a:ext cx="5120640" cy="256032"/>
          </a:xfrm>
          <a:prstGeom prst="rect">
            <a:avLst/>
          </a:prstGeom>
          <a:noFill/>
          <a:ln/>
        </p:spPr>
        <p:txBody>
          <a:bodyPr wrap="square" lIns="0" tIns="0" rIns="0" bIns="0" rtlCol="0" anchor="t"/>
          <a:lstStyle/>
          <a:p>
            <a:pPr algn="l" indent="0" marL="0">
              <a:lnSpc>
                <a:spcPct val="110000"/>
              </a:lnSpc>
              <a:buNone/>
            </a:pPr>
            <a:r>
              <a:rPr lang="en-US" sz="1040" dirty="0">
                <a:solidFill>
                  <a:srgbClr val="243B53"/>
                </a:solidFill>
                <a:latin typeface="Aptos" pitchFamily="34" charset="0"/>
                <a:ea typeface="Aptos" pitchFamily="34" charset="-122"/>
                <a:cs typeface="Aptos" pitchFamily="34" charset="-120"/>
              </a:rPr>
              <a:t>Hace disponible la herramienta que declara los casos. El assert no lo necesita.</a:t>
            </a:r>
            <a:endParaRPr lang="en-US" sz="1040" dirty="0"/>
          </a:p>
        </p:txBody>
      </p:sp>
      <p:sp>
        <p:nvSpPr>
          <p:cNvPr id="18" name="Shape 14"/>
          <p:cNvSpPr/>
          <p:nvPr/>
        </p:nvSpPr>
        <p:spPr>
          <a:xfrm>
            <a:off x="6035040" y="2414016"/>
            <a:ext cx="5495544" cy="493776"/>
          </a:xfrm>
          <a:prstGeom prst="rect">
            <a:avLst/>
          </a:prstGeom>
          <a:solidFill>
            <a:srgbClr val="EDE6DA"/>
          </a:solidFill>
          <a:ln w="12700">
            <a:solidFill>
              <a:srgbClr val="EDE6DA"/>
            </a:solidFill>
            <a:prstDash val="solid"/>
          </a:ln>
        </p:spPr>
      </p:sp>
      <p:sp>
        <p:nvSpPr>
          <p:cNvPr id="19" name="Shape 15"/>
          <p:cNvSpPr/>
          <p:nvPr/>
        </p:nvSpPr>
        <p:spPr>
          <a:xfrm>
            <a:off x="6035040" y="2414016"/>
            <a:ext cx="45720" cy="493776"/>
          </a:xfrm>
          <a:prstGeom prst="rect">
            <a:avLst/>
          </a:prstGeom>
          <a:solidFill>
            <a:srgbClr val="8A6A12"/>
          </a:solidFill>
          <a:ln w="12700">
            <a:solidFill>
              <a:srgbClr val="8A6A12"/>
            </a:solidFill>
            <a:prstDash val="solid"/>
          </a:ln>
        </p:spPr>
      </p:sp>
      <p:sp>
        <p:nvSpPr>
          <p:cNvPr id="20" name="Text 16"/>
          <p:cNvSpPr txBox="1"/>
          <p:nvPr/>
        </p:nvSpPr>
        <p:spPr>
          <a:xfrm>
            <a:off x="6291072" y="2441448"/>
            <a:ext cx="5120640" cy="182880"/>
          </a:xfrm>
          <a:prstGeom prst="rect">
            <a:avLst/>
          </a:prstGeom>
          <a:noFill/>
          <a:ln/>
        </p:spPr>
        <p:txBody>
          <a:bodyPr wrap="square" lIns="0" tIns="0" rIns="0" bIns="0" rtlCol="0" anchor="t"/>
          <a:lstStyle/>
          <a:p>
            <a:pPr algn="l" indent="0" marL="0">
              <a:buNone/>
            </a:pPr>
            <a:r>
              <a:rPr lang="en-US" sz="960" b="1" dirty="0">
                <a:solidFill>
                  <a:srgbClr val="8A6A12"/>
                </a:solidFill>
                <a:latin typeface="Consolas" pitchFamily="34" charset="0"/>
                <a:ea typeface="Consolas" pitchFamily="34" charset="-122"/>
                <a:cs typeface="Consolas" pitchFamily="34" charset="-120"/>
              </a:rPr>
              <a:t>@pytest.mark.parametrize</a:t>
            </a:r>
            <a:endParaRPr lang="en-US" sz="960" dirty="0"/>
          </a:p>
        </p:txBody>
      </p:sp>
      <p:sp>
        <p:nvSpPr>
          <p:cNvPr id="21" name="Text 17"/>
          <p:cNvSpPr txBox="1"/>
          <p:nvPr/>
        </p:nvSpPr>
        <p:spPr>
          <a:xfrm>
            <a:off x="6291072" y="2633472"/>
            <a:ext cx="5120640" cy="256032"/>
          </a:xfrm>
          <a:prstGeom prst="rect">
            <a:avLst/>
          </a:prstGeom>
          <a:noFill/>
          <a:ln/>
        </p:spPr>
        <p:txBody>
          <a:bodyPr wrap="square" lIns="0" tIns="0" rIns="0" bIns="0" rtlCol="0" anchor="t"/>
          <a:lstStyle/>
          <a:p>
            <a:pPr algn="l" indent="0" marL="0">
              <a:lnSpc>
                <a:spcPct val="110000"/>
              </a:lnSpc>
              <a:buNone/>
            </a:pPr>
            <a:r>
              <a:rPr lang="en-US" sz="1040" dirty="0">
                <a:solidFill>
                  <a:srgbClr val="243B53"/>
                </a:solidFill>
                <a:latin typeface="Aptos" pitchFamily="34" charset="0"/>
                <a:ea typeface="Aptos" pitchFamily="34" charset="-122"/>
                <a:cs typeface="Aptos" pitchFamily="34" charset="-120"/>
              </a:rPr>
              <a:t>Es un decorador: va sobre la definición y le asocia los casos a ejecutar.</a:t>
            </a:r>
            <a:endParaRPr lang="en-US" sz="1040" dirty="0"/>
          </a:p>
        </p:txBody>
      </p:sp>
      <p:sp>
        <p:nvSpPr>
          <p:cNvPr id="22" name="Shape 18"/>
          <p:cNvSpPr/>
          <p:nvPr/>
        </p:nvSpPr>
        <p:spPr>
          <a:xfrm>
            <a:off x="6035040" y="2980944"/>
            <a:ext cx="5495544" cy="493776"/>
          </a:xfrm>
          <a:prstGeom prst="rect">
            <a:avLst/>
          </a:prstGeom>
          <a:solidFill>
            <a:srgbClr val="FFFFFF"/>
          </a:solidFill>
          <a:ln w="12700">
            <a:solidFill>
              <a:srgbClr val="FFFFFF"/>
            </a:solidFill>
            <a:prstDash val="solid"/>
          </a:ln>
        </p:spPr>
      </p:sp>
      <p:sp>
        <p:nvSpPr>
          <p:cNvPr id="23" name="Shape 19"/>
          <p:cNvSpPr/>
          <p:nvPr/>
        </p:nvSpPr>
        <p:spPr>
          <a:xfrm>
            <a:off x="6035040" y="2980944"/>
            <a:ext cx="45720" cy="493776"/>
          </a:xfrm>
          <a:prstGeom prst="rect">
            <a:avLst/>
          </a:prstGeom>
          <a:solidFill>
            <a:srgbClr val="8A6A12"/>
          </a:solidFill>
          <a:ln w="12700">
            <a:solidFill>
              <a:srgbClr val="8A6A12"/>
            </a:solidFill>
            <a:prstDash val="solid"/>
          </a:ln>
        </p:spPr>
      </p:sp>
      <p:sp>
        <p:nvSpPr>
          <p:cNvPr id="24" name="Text 20"/>
          <p:cNvSpPr txBox="1"/>
          <p:nvPr/>
        </p:nvSpPr>
        <p:spPr>
          <a:xfrm>
            <a:off x="6291072" y="3008376"/>
            <a:ext cx="5120640" cy="182880"/>
          </a:xfrm>
          <a:prstGeom prst="rect">
            <a:avLst/>
          </a:prstGeom>
          <a:noFill/>
          <a:ln/>
        </p:spPr>
        <p:txBody>
          <a:bodyPr wrap="square" lIns="0" tIns="0" rIns="0" bIns="0" rtlCol="0" anchor="t"/>
          <a:lstStyle/>
          <a:p>
            <a:pPr algn="l" indent="0" marL="0">
              <a:buNone/>
            </a:pPr>
            <a:r>
              <a:rPr lang="en-US" sz="960" b="1" dirty="0">
                <a:solidFill>
                  <a:srgbClr val="8A6A12"/>
                </a:solidFill>
                <a:latin typeface="Consolas" pitchFamily="34" charset="0"/>
                <a:ea typeface="Consolas" pitchFamily="34" charset="-122"/>
                <a:cs typeface="Consolas" pitchFamily="34" charset="-120"/>
              </a:rPr>
              <a:t>("bloque", "esperado")</a:t>
            </a:r>
            <a:endParaRPr lang="en-US" sz="960" dirty="0"/>
          </a:p>
        </p:txBody>
      </p:sp>
      <p:sp>
        <p:nvSpPr>
          <p:cNvPr id="25" name="Text 21"/>
          <p:cNvSpPr txBox="1"/>
          <p:nvPr/>
        </p:nvSpPr>
        <p:spPr>
          <a:xfrm>
            <a:off x="6291072" y="3200400"/>
            <a:ext cx="5120640" cy="256032"/>
          </a:xfrm>
          <a:prstGeom prst="rect">
            <a:avLst/>
          </a:prstGeom>
          <a:noFill/>
          <a:ln/>
        </p:spPr>
        <p:txBody>
          <a:bodyPr wrap="square" lIns="0" tIns="0" rIns="0" bIns="0" rtlCol="0" anchor="t"/>
          <a:lstStyle/>
          <a:p>
            <a:pPr algn="l" indent="0" marL="0">
              <a:lnSpc>
                <a:spcPct val="110000"/>
              </a:lnSpc>
              <a:buNone/>
            </a:pPr>
            <a:r>
              <a:rPr lang="en-US" sz="1040" dirty="0">
                <a:solidFill>
                  <a:srgbClr val="243B53"/>
                </a:solidFill>
                <a:latin typeface="Aptos" pitchFamily="34" charset="0"/>
                <a:ea typeface="Aptos" pitchFamily="34" charset="-122"/>
                <a:cs typeface="Aptos" pitchFamily="34" charset="-120"/>
              </a:rPr>
              <a:t>Los nombres de los argumentos que recibirá la prueba. Son cadenas, no valores.</a:t>
            </a:r>
            <a:endParaRPr lang="en-US" sz="1040" dirty="0"/>
          </a:p>
        </p:txBody>
      </p:sp>
      <p:sp>
        <p:nvSpPr>
          <p:cNvPr id="26" name="Shape 22"/>
          <p:cNvSpPr/>
          <p:nvPr/>
        </p:nvSpPr>
        <p:spPr>
          <a:xfrm>
            <a:off x="6035040" y="3547872"/>
            <a:ext cx="5495544" cy="493776"/>
          </a:xfrm>
          <a:prstGeom prst="rect">
            <a:avLst/>
          </a:prstGeom>
          <a:solidFill>
            <a:srgbClr val="EDE6DA"/>
          </a:solidFill>
          <a:ln w="12700">
            <a:solidFill>
              <a:srgbClr val="EDE6DA"/>
            </a:solidFill>
            <a:prstDash val="solid"/>
          </a:ln>
        </p:spPr>
      </p:sp>
      <p:sp>
        <p:nvSpPr>
          <p:cNvPr id="27" name="Shape 23"/>
          <p:cNvSpPr/>
          <p:nvPr/>
        </p:nvSpPr>
        <p:spPr>
          <a:xfrm>
            <a:off x="6035040" y="3547872"/>
            <a:ext cx="45720" cy="493776"/>
          </a:xfrm>
          <a:prstGeom prst="rect">
            <a:avLst/>
          </a:prstGeom>
          <a:solidFill>
            <a:srgbClr val="8A6A12"/>
          </a:solidFill>
          <a:ln w="12700">
            <a:solidFill>
              <a:srgbClr val="8A6A12"/>
            </a:solidFill>
            <a:prstDash val="solid"/>
          </a:ln>
        </p:spPr>
      </p:sp>
      <p:sp>
        <p:nvSpPr>
          <p:cNvPr id="28" name="Text 24"/>
          <p:cNvSpPr txBox="1"/>
          <p:nvPr/>
        </p:nvSpPr>
        <p:spPr>
          <a:xfrm>
            <a:off x="6291072" y="3575304"/>
            <a:ext cx="5120640" cy="182880"/>
          </a:xfrm>
          <a:prstGeom prst="rect">
            <a:avLst/>
          </a:prstGeom>
          <a:noFill/>
          <a:ln/>
        </p:spPr>
        <p:txBody>
          <a:bodyPr wrap="square" lIns="0" tIns="0" rIns="0" bIns="0" rtlCol="0" anchor="t"/>
          <a:lstStyle/>
          <a:p>
            <a:pPr algn="l" indent="0" marL="0">
              <a:buNone/>
            </a:pPr>
            <a:r>
              <a:rPr lang="en-US" sz="960" b="1" dirty="0">
                <a:solidFill>
                  <a:srgbClr val="8A6A12"/>
                </a:solidFill>
                <a:latin typeface="Consolas" pitchFamily="34" charset="0"/>
                <a:ea typeface="Consolas" pitchFamily="34" charset="-122"/>
                <a:cs typeface="Consolas" pitchFamily="34" charset="-120"/>
              </a:rPr>
              <a:t>[(-5, False), (4, True), ...]</a:t>
            </a:r>
            <a:endParaRPr lang="en-US" sz="960" dirty="0"/>
          </a:p>
        </p:txBody>
      </p:sp>
      <p:sp>
        <p:nvSpPr>
          <p:cNvPr id="29" name="Text 25"/>
          <p:cNvSpPr txBox="1"/>
          <p:nvPr/>
        </p:nvSpPr>
        <p:spPr>
          <a:xfrm>
            <a:off x="6291072" y="3767328"/>
            <a:ext cx="5120640" cy="256032"/>
          </a:xfrm>
          <a:prstGeom prst="rect">
            <a:avLst/>
          </a:prstGeom>
          <a:noFill/>
          <a:ln/>
        </p:spPr>
        <p:txBody>
          <a:bodyPr wrap="square" lIns="0" tIns="0" rIns="0" bIns="0" rtlCol="0" anchor="t"/>
          <a:lstStyle/>
          <a:p>
            <a:pPr algn="l" indent="0" marL="0">
              <a:lnSpc>
                <a:spcPct val="110000"/>
              </a:lnSpc>
              <a:buNone/>
            </a:pPr>
            <a:r>
              <a:rPr lang="en-US" sz="1040" dirty="0">
                <a:solidFill>
                  <a:srgbClr val="243B53"/>
                </a:solidFill>
                <a:latin typeface="Aptos" pitchFamily="34" charset="0"/>
                <a:ea typeface="Aptos" pitchFamily="34" charset="-122"/>
                <a:cs typeface="Aptos" pitchFamily="34" charset="-120"/>
              </a:rPr>
              <a:t>La lista de casos. Cada tupla es una fila, en el orden de los nombres.</a:t>
            </a:r>
            <a:endParaRPr lang="en-US" sz="1040" dirty="0"/>
          </a:p>
        </p:txBody>
      </p:sp>
      <p:sp>
        <p:nvSpPr>
          <p:cNvPr id="30" name="Shape 26"/>
          <p:cNvSpPr/>
          <p:nvPr/>
        </p:nvSpPr>
        <p:spPr>
          <a:xfrm>
            <a:off x="6035040" y="4114800"/>
            <a:ext cx="5495544" cy="493776"/>
          </a:xfrm>
          <a:prstGeom prst="rect">
            <a:avLst/>
          </a:prstGeom>
          <a:solidFill>
            <a:srgbClr val="FFFFFF"/>
          </a:solidFill>
          <a:ln w="12700">
            <a:solidFill>
              <a:srgbClr val="FFFFFF"/>
            </a:solidFill>
            <a:prstDash val="solid"/>
          </a:ln>
        </p:spPr>
      </p:sp>
      <p:sp>
        <p:nvSpPr>
          <p:cNvPr id="31" name="Shape 27"/>
          <p:cNvSpPr/>
          <p:nvPr/>
        </p:nvSpPr>
        <p:spPr>
          <a:xfrm>
            <a:off x="6035040" y="4114800"/>
            <a:ext cx="45720" cy="493776"/>
          </a:xfrm>
          <a:prstGeom prst="rect">
            <a:avLst/>
          </a:prstGeom>
          <a:solidFill>
            <a:srgbClr val="8A6A12"/>
          </a:solidFill>
          <a:ln w="12700">
            <a:solidFill>
              <a:srgbClr val="8A6A12"/>
            </a:solidFill>
            <a:prstDash val="solid"/>
          </a:ln>
        </p:spPr>
      </p:sp>
      <p:sp>
        <p:nvSpPr>
          <p:cNvPr id="32" name="Text 28"/>
          <p:cNvSpPr txBox="1"/>
          <p:nvPr/>
        </p:nvSpPr>
        <p:spPr>
          <a:xfrm>
            <a:off x="6291072" y="4142232"/>
            <a:ext cx="5120640" cy="182880"/>
          </a:xfrm>
          <a:prstGeom prst="rect">
            <a:avLst/>
          </a:prstGeom>
          <a:noFill/>
          <a:ln/>
        </p:spPr>
        <p:txBody>
          <a:bodyPr wrap="square" lIns="0" tIns="0" rIns="0" bIns="0" rtlCol="0" anchor="t"/>
          <a:lstStyle/>
          <a:p>
            <a:pPr algn="l" indent="0" marL="0">
              <a:buNone/>
            </a:pPr>
            <a:r>
              <a:rPr lang="en-US" sz="960" b="1" dirty="0">
                <a:solidFill>
                  <a:srgbClr val="8A6A12"/>
                </a:solidFill>
                <a:latin typeface="Consolas" pitchFamily="34" charset="0"/>
                <a:ea typeface="Consolas" pitchFamily="34" charset="-122"/>
                <a:cs typeface="Consolas" pitchFamily="34" charset="-120"/>
              </a:rPr>
              <a:t>ids=[...]</a:t>
            </a:r>
            <a:endParaRPr lang="en-US" sz="960" dirty="0"/>
          </a:p>
        </p:txBody>
      </p:sp>
      <p:sp>
        <p:nvSpPr>
          <p:cNvPr id="33" name="Text 29"/>
          <p:cNvSpPr txBox="1"/>
          <p:nvPr/>
        </p:nvSpPr>
        <p:spPr>
          <a:xfrm>
            <a:off x="6291072" y="4334256"/>
            <a:ext cx="5120640" cy="256032"/>
          </a:xfrm>
          <a:prstGeom prst="rect">
            <a:avLst/>
          </a:prstGeom>
          <a:noFill/>
          <a:ln/>
        </p:spPr>
        <p:txBody>
          <a:bodyPr wrap="square" lIns="0" tIns="0" rIns="0" bIns="0" rtlCol="0" anchor="t"/>
          <a:lstStyle/>
          <a:p>
            <a:pPr algn="l" indent="0" marL="0">
              <a:lnSpc>
                <a:spcPct val="110000"/>
              </a:lnSpc>
              <a:buNone/>
            </a:pPr>
            <a:r>
              <a:rPr lang="en-US" sz="1040" dirty="0">
                <a:solidFill>
                  <a:srgbClr val="243B53"/>
                </a:solidFill>
                <a:latin typeface="Aptos" pitchFamily="34" charset="0"/>
                <a:ea typeface="Aptos" pitchFamily="34" charset="-122"/>
                <a:cs typeface="Aptos" pitchFamily="34" charset="-120"/>
              </a:rPr>
              <a:t>Una etiqueta legible por fila, en el mismo orden. Identifica el caso en la salida.</a:t>
            </a:r>
            <a:endParaRPr lang="en-US" sz="1040" dirty="0"/>
          </a:p>
        </p:txBody>
      </p:sp>
      <p:sp>
        <p:nvSpPr>
          <p:cNvPr id="34" name="Shape 30"/>
          <p:cNvSpPr/>
          <p:nvPr/>
        </p:nvSpPr>
        <p:spPr>
          <a:xfrm>
            <a:off x="6035040" y="4681728"/>
            <a:ext cx="5495544" cy="493776"/>
          </a:xfrm>
          <a:prstGeom prst="rect">
            <a:avLst/>
          </a:prstGeom>
          <a:solidFill>
            <a:srgbClr val="EDE6DA"/>
          </a:solidFill>
          <a:ln w="12700">
            <a:solidFill>
              <a:srgbClr val="EDE6DA"/>
            </a:solidFill>
            <a:prstDash val="solid"/>
          </a:ln>
        </p:spPr>
      </p:sp>
      <p:sp>
        <p:nvSpPr>
          <p:cNvPr id="35" name="Shape 31"/>
          <p:cNvSpPr/>
          <p:nvPr/>
        </p:nvSpPr>
        <p:spPr>
          <a:xfrm>
            <a:off x="6035040" y="4681728"/>
            <a:ext cx="45720" cy="493776"/>
          </a:xfrm>
          <a:prstGeom prst="rect">
            <a:avLst/>
          </a:prstGeom>
          <a:solidFill>
            <a:srgbClr val="8A6A12"/>
          </a:solidFill>
          <a:ln w="12700">
            <a:solidFill>
              <a:srgbClr val="8A6A12"/>
            </a:solidFill>
            <a:prstDash val="solid"/>
          </a:ln>
        </p:spPr>
      </p:sp>
      <p:sp>
        <p:nvSpPr>
          <p:cNvPr id="36" name="Text 32"/>
          <p:cNvSpPr txBox="1"/>
          <p:nvPr/>
        </p:nvSpPr>
        <p:spPr>
          <a:xfrm>
            <a:off x="6291072" y="4709160"/>
            <a:ext cx="5120640" cy="182880"/>
          </a:xfrm>
          <a:prstGeom prst="rect">
            <a:avLst/>
          </a:prstGeom>
          <a:noFill/>
          <a:ln/>
        </p:spPr>
        <p:txBody>
          <a:bodyPr wrap="square" lIns="0" tIns="0" rIns="0" bIns="0" rtlCol="0" anchor="t"/>
          <a:lstStyle/>
          <a:p>
            <a:pPr algn="l" indent="0" marL="0">
              <a:buNone/>
            </a:pPr>
            <a:r>
              <a:rPr lang="en-US" sz="960" b="1" dirty="0">
                <a:solidFill>
                  <a:srgbClr val="8A6A12"/>
                </a:solidFill>
                <a:latin typeface="Consolas" pitchFamily="34" charset="0"/>
                <a:ea typeface="Consolas" pitchFamily="34" charset="-122"/>
                <a:cs typeface="Consolas" pitchFamily="34" charset="-120"/>
              </a:rPr>
              <a:t>def test_...(bloque, esperado)</a:t>
            </a:r>
            <a:endParaRPr lang="en-US" sz="960" dirty="0"/>
          </a:p>
        </p:txBody>
      </p:sp>
      <p:sp>
        <p:nvSpPr>
          <p:cNvPr id="37" name="Text 33"/>
          <p:cNvSpPr txBox="1"/>
          <p:nvPr/>
        </p:nvSpPr>
        <p:spPr>
          <a:xfrm>
            <a:off x="6291072" y="4901184"/>
            <a:ext cx="5120640" cy="256032"/>
          </a:xfrm>
          <a:prstGeom prst="rect">
            <a:avLst/>
          </a:prstGeom>
          <a:noFill/>
          <a:ln/>
        </p:spPr>
        <p:txBody>
          <a:bodyPr wrap="square" lIns="0" tIns="0" rIns="0" bIns="0" rtlCol="0" anchor="t"/>
          <a:lstStyle/>
          <a:p>
            <a:pPr algn="l" indent="0" marL="0">
              <a:lnSpc>
                <a:spcPct val="110000"/>
              </a:lnSpc>
              <a:buNone/>
            </a:pPr>
            <a:r>
              <a:rPr lang="en-US" sz="1040" dirty="0">
                <a:solidFill>
                  <a:srgbClr val="243B53"/>
                </a:solidFill>
                <a:latin typeface="Aptos" pitchFamily="34" charset="0"/>
                <a:ea typeface="Aptos" pitchFamily="34" charset="-122"/>
                <a:cs typeface="Aptos" pitchFamily="34" charset="-120"/>
              </a:rPr>
              <a:t>Dónde recibe la prueba los dos valores. Los nombres deben coincidir.</a:t>
            </a:r>
            <a:endParaRPr lang="en-US" sz="1040" dirty="0"/>
          </a:p>
        </p:txBody>
      </p:sp>
      <p:sp>
        <p:nvSpPr>
          <p:cNvPr id="38" name="Shape 34"/>
          <p:cNvSpPr/>
          <p:nvPr/>
        </p:nvSpPr>
        <p:spPr>
          <a:xfrm>
            <a:off x="658368" y="5175504"/>
            <a:ext cx="10874959" cy="859536"/>
          </a:xfrm>
          <a:prstGeom prst="rect">
            <a:avLst/>
          </a:prstGeom>
          <a:solidFill>
            <a:srgbClr val="F8E4E5"/>
          </a:solidFill>
          <a:ln w="12700">
            <a:solidFill>
              <a:srgbClr val="F8E4E5"/>
            </a:solidFill>
            <a:prstDash val="solid"/>
          </a:ln>
        </p:spPr>
      </p:sp>
      <p:sp>
        <p:nvSpPr>
          <p:cNvPr id="39" name="Shape 35"/>
          <p:cNvSpPr/>
          <p:nvPr/>
        </p:nvSpPr>
        <p:spPr>
          <a:xfrm>
            <a:off x="658368" y="5175504"/>
            <a:ext cx="64008" cy="859536"/>
          </a:xfrm>
          <a:prstGeom prst="rect">
            <a:avLst/>
          </a:prstGeom>
          <a:solidFill>
            <a:srgbClr val="B3181E"/>
          </a:solidFill>
          <a:ln w="12700">
            <a:solidFill>
              <a:srgbClr val="B3181E"/>
            </a:solidFill>
            <a:prstDash val="solid"/>
          </a:ln>
        </p:spPr>
      </p:sp>
      <p:sp>
        <p:nvSpPr>
          <p:cNvPr id="40" name="Text 36"/>
          <p:cNvSpPr txBox="1"/>
          <p:nvPr/>
        </p:nvSpPr>
        <p:spPr>
          <a:xfrm>
            <a:off x="987552" y="5340096"/>
            <a:ext cx="54864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LO QUE PYTEST NO HACE POR NADIE</a:t>
            </a:r>
            <a:endParaRPr lang="en-US" sz="960" dirty="0"/>
          </a:p>
        </p:txBody>
      </p:sp>
      <p:sp>
        <p:nvSpPr>
          <p:cNvPr id="41" name="Text 37"/>
          <p:cNvSpPr txBox="1"/>
          <p:nvPr/>
        </p:nvSpPr>
        <p:spPr>
          <a:xfrm>
            <a:off x="987552" y="5559552"/>
            <a:ext cx="10216591" cy="438912"/>
          </a:xfrm>
          <a:prstGeom prst="rect">
            <a:avLst/>
          </a:prstGeom>
          <a:noFill/>
          <a:ln/>
        </p:spPr>
        <p:txBody>
          <a:bodyPr wrap="square" lIns="0" tIns="0" rIns="0" bIns="0" rtlCol="0" anchor="t"/>
          <a:lstStyle/>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No inventa representantes, no calcula el resultado esperado y no genera todas las combinaciones de los valores</a:t>
            </a:r>
            <a:endParaRPr lang="en-US" sz="1220" dirty="0"/>
          </a:p>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listados. Entrega los argumentos que se escribieron, en el orden en que se escribieron. Tres tuplas, tres casos.</a:t>
            </a:r>
            <a:endParaRPr lang="en-US" sz="122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40</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COMPROBAR</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Ver qué casos se recogen y cómo se ejecutan</a:t>
            </a:r>
            <a:endParaRPr lang="en-US" sz="3000" dirty="0"/>
          </a:p>
        </p:txBody>
      </p:sp>
      <p:sp>
        <p:nvSpPr>
          <p:cNvPr id="10" name="Text 7"/>
          <p:cNvSpPr txBox="1"/>
          <p:nvPr/>
        </p:nvSpPr>
        <p:spPr>
          <a:xfrm>
            <a:off x="658368" y="1773936"/>
            <a:ext cx="72237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Son opciones de lectura de la salida, no cambios en el criterio de aceptación.</a:t>
            </a:r>
            <a:endParaRPr lang="en-US" sz="1450" dirty="0"/>
          </a:p>
        </p:txBody>
      </p:sp>
      <p:sp>
        <p:nvSpPr>
          <p:cNvPr id="11" name="Shape 8"/>
          <p:cNvSpPr/>
          <p:nvPr/>
        </p:nvSpPr>
        <p:spPr>
          <a:xfrm>
            <a:off x="8165592" y="1883664"/>
            <a:ext cx="1060704" cy="274320"/>
          </a:xfrm>
          <a:prstGeom prst="rect">
            <a:avLst/>
          </a:prstGeom>
          <a:solidFill>
            <a:srgbClr val="EDE6DA"/>
          </a:solidFill>
          <a:ln w="12700">
            <a:solidFill>
              <a:srgbClr val="EDE6DA"/>
            </a:solidFill>
            <a:prstDash val="solid"/>
          </a:ln>
        </p:spPr>
      </p:sp>
      <p:sp>
        <p:nvSpPr>
          <p:cNvPr id="12" name="Text 9"/>
          <p:cNvSpPr txBox="1"/>
          <p:nvPr/>
        </p:nvSpPr>
        <p:spPr>
          <a:xfrm>
            <a:off x="8165592"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Leer</a:t>
            </a:r>
            <a:endParaRPr lang="en-US" sz="940" dirty="0"/>
          </a:p>
        </p:txBody>
      </p:sp>
      <p:sp>
        <p:nvSpPr>
          <p:cNvPr id="13" name="Shape 10"/>
          <p:cNvSpPr/>
          <p:nvPr/>
        </p:nvSpPr>
        <p:spPr>
          <a:xfrm>
            <a:off x="9317736" y="1883664"/>
            <a:ext cx="1060704" cy="274320"/>
          </a:xfrm>
          <a:prstGeom prst="rect">
            <a:avLst/>
          </a:prstGeom>
          <a:solidFill>
            <a:srgbClr val="EDE6DA"/>
          </a:solidFill>
          <a:ln w="12700">
            <a:solidFill>
              <a:srgbClr val="EDE6DA"/>
            </a:solidFill>
            <a:prstDash val="solid"/>
          </a:ln>
        </p:spPr>
      </p:sp>
      <p:sp>
        <p:nvSpPr>
          <p:cNvPr id="14" name="Text 11"/>
          <p:cNvSpPr txBox="1"/>
          <p:nvPr/>
        </p:nvSpPr>
        <p:spPr>
          <a:xfrm>
            <a:off x="9317736"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Predecir</a:t>
            </a:r>
            <a:endParaRPr lang="en-US" sz="940" dirty="0"/>
          </a:p>
        </p:txBody>
      </p:sp>
      <p:sp>
        <p:nvSpPr>
          <p:cNvPr id="15" name="Shape 12"/>
          <p:cNvSpPr/>
          <p:nvPr/>
        </p:nvSpPr>
        <p:spPr>
          <a:xfrm>
            <a:off x="10469880" y="1883664"/>
            <a:ext cx="1060704" cy="274320"/>
          </a:xfrm>
          <a:prstGeom prst="rect">
            <a:avLst/>
          </a:prstGeom>
          <a:solidFill>
            <a:srgbClr val="102A43"/>
          </a:solidFill>
          <a:ln w="12700">
            <a:solidFill>
              <a:srgbClr val="102A43"/>
            </a:solidFill>
            <a:prstDash val="solid"/>
          </a:ln>
        </p:spPr>
      </p:sp>
      <p:sp>
        <p:nvSpPr>
          <p:cNvPr id="16" name="Text 13"/>
          <p:cNvSpPr txBox="1"/>
          <p:nvPr/>
        </p:nvSpPr>
        <p:spPr>
          <a:xfrm>
            <a:off x="10469880"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FFFFFF"/>
                </a:solidFill>
                <a:latin typeface="Aptos" pitchFamily="34" charset="0"/>
                <a:ea typeface="Aptos" pitchFamily="34" charset="-122"/>
                <a:cs typeface="Aptos" pitchFamily="34" charset="-120"/>
              </a:rPr>
              <a:t>Comprobar</a:t>
            </a:r>
            <a:endParaRPr lang="en-US" sz="940" dirty="0"/>
          </a:p>
        </p:txBody>
      </p:sp>
      <p:sp>
        <p:nvSpPr>
          <p:cNvPr id="17" name="Shape 14"/>
          <p:cNvSpPr/>
          <p:nvPr/>
        </p:nvSpPr>
        <p:spPr>
          <a:xfrm>
            <a:off x="658368" y="2286000"/>
            <a:ext cx="5532120" cy="1975104"/>
          </a:xfrm>
          <a:prstGeom prst="roundRect">
            <a:avLst>
              <a:gd name="adj" fmla="val 1852"/>
            </a:avLst>
          </a:prstGeom>
          <a:solidFill>
            <a:srgbClr val="0F1720"/>
          </a:solidFill>
          <a:ln w="12700">
            <a:solidFill>
              <a:srgbClr val="0F1720"/>
            </a:solidFill>
            <a:prstDash val="solid"/>
          </a:ln>
        </p:spPr>
      </p:sp>
      <p:sp>
        <p:nvSpPr>
          <p:cNvPr id="18" name="Shape 15"/>
          <p:cNvSpPr/>
          <p:nvPr/>
        </p:nvSpPr>
        <p:spPr>
          <a:xfrm>
            <a:off x="786384" y="2395728"/>
            <a:ext cx="5276088" cy="310896"/>
          </a:xfrm>
          <a:prstGeom prst="roundRect">
            <a:avLst>
              <a:gd name="adj" fmla="val 8824"/>
            </a:avLst>
          </a:prstGeom>
          <a:solidFill>
            <a:srgbClr val="1E2937"/>
          </a:solidFill>
          <a:ln w="12700">
            <a:solidFill>
              <a:srgbClr val="1E2937"/>
            </a:solidFill>
            <a:prstDash val="solid"/>
          </a:ln>
        </p:spPr>
      </p:sp>
      <p:sp>
        <p:nvSpPr>
          <p:cNvPr id="19" name="Text 16"/>
          <p:cNvSpPr/>
          <p:nvPr/>
        </p:nvSpPr>
        <p:spPr>
          <a:xfrm>
            <a:off x="914400" y="2468880"/>
            <a:ext cx="5020056"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Enumerar los casos sin ejecutarlos</a:t>
            </a:r>
            <a:endParaRPr lang="en-US" sz="1000" dirty="0"/>
          </a:p>
        </p:txBody>
      </p:sp>
      <p:sp>
        <p:nvSpPr>
          <p:cNvPr id="20" name="Text 17"/>
          <p:cNvSpPr/>
          <p:nvPr/>
        </p:nvSpPr>
        <p:spPr>
          <a:xfrm>
            <a:off x="877824" y="2852928"/>
            <a:ext cx="329184" cy="164592"/>
          </a:xfrm>
          <a:prstGeom prst="rect">
            <a:avLst/>
          </a:prstGeom>
          <a:noFill/>
          <a:ln/>
        </p:spPr>
        <p:txBody>
          <a:bodyPr wrap="square" lIns="0" tIns="0" rIns="0" bIns="0" rtlCol="0" anchor="ctr"/>
          <a:lstStyle/>
          <a:p>
            <a:pPr indent="0" marL="0">
              <a:buNone/>
            </a:pPr>
            <a:r>
              <a:rPr lang="en-US" sz="960" b="1" dirty="0">
                <a:solidFill>
                  <a:srgbClr val="E0BC5A"/>
                </a:solidFill>
                <a:latin typeface="Consolas" pitchFamily="34" charset="0"/>
                <a:ea typeface="Consolas" pitchFamily="34" charset="-122"/>
                <a:cs typeface="Consolas" pitchFamily="34" charset="-120"/>
              </a:rPr>
              <a:t>&gt;</a:t>
            </a:r>
            <a:endParaRPr lang="en-US" sz="960" dirty="0"/>
          </a:p>
        </p:txBody>
      </p:sp>
      <p:sp>
        <p:nvSpPr>
          <p:cNvPr id="21" name="Text 18"/>
          <p:cNvSpPr/>
          <p:nvPr/>
        </p:nvSpPr>
        <p:spPr>
          <a:xfrm>
            <a:off x="1188720" y="2852928"/>
            <a:ext cx="4782312"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uv run pytest --collect-only -q</a:t>
            </a:r>
            <a:endParaRPr lang="en-US" sz="960" dirty="0"/>
          </a:p>
        </p:txBody>
      </p:sp>
      <p:sp>
        <p:nvSpPr>
          <p:cNvPr id="22" name="Text 19"/>
          <p:cNvSpPr/>
          <p:nvPr/>
        </p:nvSpPr>
        <p:spPr>
          <a:xfrm>
            <a:off x="877824" y="3108960"/>
            <a:ext cx="4782312"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collecting ... collected 3 items</a:t>
            </a:r>
            <a:endParaRPr lang="en-US" sz="960" dirty="0"/>
          </a:p>
        </p:txBody>
      </p:sp>
      <p:sp>
        <p:nvSpPr>
          <p:cNvPr id="23" name="Text 20"/>
          <p:cNvSpPr/>
          <p:nvPr/>
        </p:nvSpPr>
        <p:spPr>
          <a:xfrm>
            <a:off x="877824" y="3364992"/>
            <a:ext cx="4782312"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3 tests collected in 0.02s</a:t>
            </a:r>
            <a:endParaRPr lang="en-US" sz="960" dirty="0"/>
          </a:p>
        </p:txBody>
      </p:sp>
      <p:sp>
        <p:nvSpPr>
          <p:cNvPr id="24" name="Shape 21"/>
          <p:cNvSpPr/>
          <p:nvPr/>
        </p:nvSpPr>
        <p:spPr>
          <a:xfrm>
            <a:off x="6382512" y="2286000"/>
            <a:ext cx="5148072" cy="1975104"/>
          </a:xfrm>
          <a:prstGeom prst="roundRect">
            <a:avLst>
              <a:gd name="adj" fmla="val 1852"/>
            </a:avLst>
          </a:prstGeom>
          <a:solidFill>
            <a:srgbClr val="0F1720"/>
          </a:solidFill>
          <a:ln w="12700">
            <a:solidFill>
              <a:srgbClr val="0F1720"/>
            </a:solidFill>
            <a:prstDash val="solid"/>
          </a:ln>
        </p:spPr>
      </p:sp>
      <p:sp>
        <p:nvSpPr>
          <p:cNvPr id="25" name="Shape 22"/>
          <p:cNvSpPr/>
          <p:nvPr/>
        </p:nvSpPr>
        <p:spPr>
          <a:xfrm>
            <a:off x="6510528" y="2395728"/>
            <a:ext cx="4892040" cy="310896"/>
          </a:xfrm>
          <a:prstGeom prst="roundRect">
            <a:avLst>
              <a:gd name="adj" fmla="val 8824"/>
            </a:avLst>
          </a:prstGeom>
          <a:solidFill>
            <a:srgbClr val="1E2937"/>
          </a:solidFill>
          <a:ln w="12700">
            <a:solidFill>
              <a:srgbClr val="1E2937"/>
            </a:solidFill>
            <a:prstDash val="solid"/>
          </a:ln>
        </p:spPr>
      </p:sp>
      <p:sp>
        <p:nvSpPr>
          <p:cNvPr id="26" name="Text 23"/>
          <p:cNvSpPr/>
          <p:nvPr/>
        </p:nvSpPr>
        <p:spPr>
          <a:xfrm>
            <a:off x="6638544" y="2468880"/>
            <a:ext cx="4636008"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Ejecutarlos mostrando cada identificador</a:t>
            </a:r>
            <a:endParaRPr lang="en-US" sz="1000" dirty="0"/>
          </a:p>
        </p:txBody>
      </p:sp>
      <p:sp>
        <p:nvSpPr>
          <p:cNvPr id="27" name="Text 24"/>
          <p:cNvSpPr/>
          <p:nvPr/>
        </p:nvSpPr>
        <p:spPr>
          <a:xfrm>
            <a:off x="6601968" y="2852928"/>
            <a:ext cx="329184" cy="164592"/>
          </a:xfrm>
          <a:prstGeom prst="rect">
            <a:avLst/>
          </a:prstGeom>
          <a:noFill/>
          <a:ln/>
        </p:spPr>
        <p:txBody>
          <a:bodyPr wrap="square" lIns="0" tIns="0" rIns="0" bIns="0" rtlCol="0" anchor="ctr"/>
          <a:lstStyle/>
          <a:p>
            <a:pPr indent="0" marL="0">
              <a:buNone/>
            </a:pPr>
            <a:r>
              <a:rPr lang="en-US" sz="880" b="1" dirty="0">
                <a:solidFill>
                  <a:srgbClr val="E0BC5A"/>
                </a:solidFill>
                <a:latin typeface="Consolas" pitchFamily="34" charset="0"/>
                <a:ea typeface="Consolas" pitchFamily="34" charset="-122"/>
                <a:cs typeface="Consolas" pitchFamily="34" charset="-120"/>
              </a:rPr>
              <a:t>&gt;</a:t>
            </a:r>
            <a:endParaRPr lang="en-US" sz="880" dirty="0"/>
          </a:p>
        </p:txBody>
      </p:sp>
      <p:sp>
        <p:nvSpPr>
          <p:cNvPr id="28" name="Text 25"/>
          <p:cNvSpPr/>
          <p:nvPr/>
        </p:nvSpPr>
        <p:spPr>
          <a:xfrm>
            <a:off x="6912864" y="2852928"/>
            <a:ext cx="4398264" cy="164592"/>
          </a:xfrm>
          <a:prstGeom prst="rect">
            <a:avLst/>
          </a:prstGeom>
          <a:noFill/>
          <a:ln/>
        </p:spPr>
        <p:txBody>
          <a:bodyPr wrap="square" lIns="0" tIns="0" rIns="0" bIns="0" rtlCol="0" anchor="ctr"/>
          <a:lstStyle/>
          <a:p>
            <a:pPr indent="0" marL="0">
              <a:buNone/>
            </a:pPr>
            <a:r>
              <a:rPr lang="en-US" sz="880" dirty="0">
                <a:solidFill>
                  <a:srgbClr val="E6EEF7"/>
                </a:solidFill>
                <a:latin typeface="Consolas" pitchFamily="34" charset="0"/>
                <a:ea typeface="Consolas" pitchFamily="34" charset="-122"/>
                <a:cs typeface="Consolas" pitchFamily="34" charset="-120"/>
              </a:rPr>
              <a:t>uv run pytest -v --tb=short</a:t>
            </a:r>
            <a:endParaRPr lang="en-US" sz="880" dirty="0"/>
          </a:p>
        </p:txBody>
      </p:sp>
      <p:sp>
        <p:nvSpPr>
          <p:cNvPr id="29" name="Text 26"/>
          <p:cNvSpPr/>
          <p:nvPr/>
        </p:nvSpPr>
        <p:spPr>
          <a:xfrm>
            <a:off x="6601968" y="3108960"/>
            <a:ext cx="4398264" cy="164592"/>
          </a:xfrm>
          <a:prstGeom prst="rect">
            <a:avLst/>
          </a:prstGeom>
          <a:noFill/>
          <a:ln/>
        </p:spPr>
        <p:txBody>
          <a:bodyPr wrap="square" lIns="0" tIns="0" rIns="0" bIns="0" rtlCol="0" anchor="ctr"/>
          <a:lstStyle/>
          <a:p>
            <a:pPr indent="0" marL="0">
              <a:buNone/>
            </a:pPr>
            <a:r>
              <a:rPr lang="en-US" sz="880" dirty="0">
                <a:solidFill>
                  <a:srgbClr val="E6EEF7"/>
                </a:solidFill>
                <a:latin typeface="Consolas" pitchFamily="34" charset="0"/>
                <a:ea typeface="Consolas" pitchFamily="34" charset="-122"/>
                <a:cs typeface="Consolas" pitchFamily="34" charset="-120"/>
              </a:rPr>
              <a:t>...[antes-jornada]     PASSED</a:t>
            </a:r>
            <a:endParaRPr lang="en-US" sz="880" dirty="0"/>
          </a:p>
        </p:txBody>
      </p:sp>
      <p:sp>
        <p:nvSpPr>
          <p:cNvPr id="30" name="Text 27"/>
          <p:cNvSpPr/>
          <p:nvPr/>
        </p:nvSpPr>
        <p:spPr>
          <a:xfrm>
            <a:off x="6601968" y="3364992"/>
            <a:ext cx="4398264" cy="164592"/>
          </a:xfrm>
          <a:prstGeom prst="rect">
            <a:avLst/>
          </a:prstGeom>
          <a:noFill/>
          <a:ln/>
        </p:spPr>
        <p:txBody>
          <a:bodyPr wrap="square" lIns="0" tIns="0" rIns="0" bIns="0" rtlCol="0" anchor="ctr"/>
          <a:lstStyle/>
          <a:p>
            <a:pPr indent="0" marL="0">
              <a:buNone/>
            </a:pPr>
            <a:r>
              <a:rPr lang="en-US" sz="880" dirty="0">
                <a:solidFill>
                  <a:srgbClr val="E6EEF7"/>
                </a:solidFill>
                <a:latin typeface="Consolas" pitchFamily="34" charset="0"/>
                <a:ea typeface="Consolas" pitchFamily="34" charset="-122"/>
                <a:cs typeface="Consolas" pitchFamily="34" charset="-120"/>
              </a:rPr>
              <a:t>...[dentro-jornada]    PASSED</a:t>
            </a:r>
            <a:endParaRPr lang="en-US" sz="880" dirty="0"/>
          </a:p>
        </p:txBody>
      </p:sp>
      <p:sp>
        <p:nvSpPr>
          <p:cNvPr id="31" name="Text 28"/>
          <p:cNvSpPr/>
          <p:nvPr/>
        </p:nvSpPr>
        <p:spPr>
          <a:xfrm>
            <a:off x="6601968" y="3621024"/>
            <a:ext cx="4398264" cy="164592"/>
          </a:xfrm>
          <a:prstGeom prst="rect">
            <a:avLst/>
          </a:prstGeom>
          <a:noFill/>
          <a:ln/>
        </p:spPr>
        <p:txBody>
          <a:bodyPr wrap="square" lIns="0" tIns="0" rIns="0" bIns="0" rtlCol="0" anchor="ctr"/>
          <a:lstStyle/>
          <a:p>
            <a:pPr indent="0" marL="0">
              <a:buNone/>
            </a:pPr>
            <a:r>
              <a:rPr lang="en-US" sz="880" dirty="0">
                <a:solidFill>
                  <a:srgbClr val="E6EEF7"/>
                </a:solidFill>
                <a:latin typeface="Consolas" pitchFamily="34" charset="0"/>
                <a:ea typeface="Consolas" pitchFamily="34" charset="-122"/>
                <a:cs typeface="Consolas" pitchFamily="34" charset="-120"/>
              </a:rPr>
              <a:t>...[despues-jornada]   PASSED</a:t>
            </a:r>
            <a:endParaRPr lang="en-US" sz="880" dirty="0"/>
          </a:p>
        </p:txBody>
      </p:sp>
      <p:sp>
        <p:nvSpPr>
          <p:cNvPr id="32" name="Text 29"/>
          <p:cNvSpPr/>
          <p:nvPr/>
        </p:nvSpPr>
        <p:spPr>
          <a:xfrm>
            <a:off x="6601968" y="3877056"/>
            <a:ext cx="4398264" cy="164592"/>
          </a:xfrm>
          <a:prstGeom prst="rect">
            <a:avLst/>
          </a:prstGeom>
          <a:noFill/>
          <a:ln/>
        </p:spPr>
        <p:txBody>
          <a:bodyPr wrap="square" lIns="0" tIns="0" rIns="0" bIns="0" rtlCol="0" anchor="ctr"/>
          <a:lstStyle/>
          <a:p>
            <a:pPr indent="0" marL="0">
              <a:buNone/>
            </a:pPr>
            <a:r>
              <a:rPr lang="en-US" sz="880" dirty="0">
                <a:solidFill>
                  <a:srgbClr val="E6EEF7"/>
                </a:solidFill>
                <a:latin typeface="Consolas" pitchFamily="34" charset="0"/>
                <a:ea typeface="Consolas" pitchFamily="34" charset="-122"/>
                <a:cs typeface="Consolas" pitchFamily="34" charset="-120"/>
              </a:rPr>
              <a:t>3 passed in 0.02s</a:t>
            </a:r>
            <a:endParaRPr lang="en-US" sz="880" dirty="0"/>
          </a:p>
        </p:txBody>
      </p:sp>
      <p:sp>
        <p:nvSpPr>
          <p:cNvPr id="33" name="Shape 30"/>
          <p:cNvSpPr/>
          <p:nvPr/>
        </p:nvSpPr>
        <p:spPr>
          <a:xfrm>
            <a:off x="658368" y="4370832"/>
            <a:ext cx="5358384" cy="438912"/>
          </a:xfrm>
          <a:prstGeom prst="rect">
            <a:avLst/>
          </a:prstGeom>
          <a:solidFill>
            <a:srgbClr val="FFFFFF"/>
          </a:solidFill>
          <a:ln w="12700">
            <a:solidFill>
              <a:srgbClr val="FFFFFF"/>
            </a:solidFill>
            <a:prstDash val="solid"/>
          </a:ln>
        </p:spPr>
      </p:sp>
      <p:sp>
        <p:nvSpPr>
          <p:cNvPr id="34" name="Shape 31"/>
          <p:cNvSpPr/>
          <p:nvPr/>
        </p:nvSpPr>
        <p:spPr>
          <a:xfrm>
            <a:off x="658368" y="4370832"/>
            <a:ext cx="45720" cy="438912"/>
          </a:xfrm>
          <a:prstGeom prst="rect">
            <a:avLst/>
          </a:prstGeom>
          <a:solidFill>
            <a:srgbClr val="102A43"/>
          </a:solidFill>
          <a:ln w="12700">
            <a:solidFill>
              <a:srgbClr val="102A43"/>
            </a:solidFill>
            <a:prstDash val="solid"/>
          </a:ln>
        </p:spPr>
      </p:sp>
      <p:sp>
        <p:nvSpPr>
          <p:cNvPr id="35" name="Text 32"/>
          <p:cNvSpPr txBox="1"/>
          <p:nvPr/>
        </p:nvSpPr>
        <p:spPr>
          <a:xfrm>
            <a:off x="914400" y="4389120"/>
            <a:ext cx="1554480" cy="402336"/>
          </a:xfrm>
          <a:prstGeom prst="rect">
            <a:avLst/>
          </a:prstGeom>
          <a:noFill/>
          <a:ln/>
        </p:spPr>
        <p:txBody>
          <a:bodyPr wrap="square" lIns="0" tIns="0" rIns="0" bIns="0" rtlCol="0" anchor="ctr"/>
          <a:lstStyle/>
          <a:p>
            <a:pPr algn="l" indent="0" marL="0">
              <a:buNone/>
            </a:pPr>
            <a:r>
              <a:rPr lang="en-US" sz="1100" b="1" dirty="0">
                <a:solidFill>
                  <a:srgbClr val="102A43"/>
                </a:solidFill>
                <a:latin typeface="Consolas" pitchFamily="34" charset="0"/>
                <a:ea typeface="Consolas" pitchFamily="34" charset="-122"/>
                <a:cs typeface="Consolas" pitchFamily="34" charset="-120"/>
              </a:rPr>
              <a:t>--collect-only</a:t>
            </a:r>
            <a:endParaRPr lang="en-US" sz="1100" dirty="0"/>
          </a:p>
        </p:txBody>
      </p:sp>
      <p:sp>
        <p:nvSpPr>
          <p:cNvPr id="36" name="Text 33"/>
          <p:cNvSpPr txBox="1"/>
          <p:nvPr/>
        </p:nvSpPr>
        <p:spPr>
          <a:xfrm>
            <a:off x="2542032" y="4389120"/>
            <a:ext cx="3291840" cy="402336"/>
          </a:xfrm>
          <a:prstGeom prst="rect">
            <a:avLst/>
          </a:prstGeom>
          <a:noFill/>
          <a:ln/>
        </p:spPr>
        <p:txBody>
          <a:bodyPr wrap="square" lIns="0" tIns="0" rIns="0" bIns="0" rtlCol="0" anchor="ctr"/>
          <a:lstStyle/>
          <a:p>
            <a:pPr algn="l" indent="0" marL="0">
              <a:buNone/>
            </a:pPr>
            <a:r>
              <a:rPr lang="en-US" sz="1140" dirty="0">
                <a:solidFill>
                  <a:srgbClr val="243B53"/>
                </a:solidFill>
                <a:latin typeface="Aptos" pitchFamily="34" charset="0"/>
                <a:ea typeface="Aptos" pitchFamily="34" charset="-122"/>
                <a:cs typeface="Aptos" pitchFamily="34" charset="-120"/>
              </a:rPr>
              <a:t>Enumera los casos sin ejecutar sus cuerpos.</a:t>
            </a:r>
            <a:endParaRPr lang="en-US" sz="1140" dirty="0"/>
          </a:p>
        </p:txBody>
      </p:sp>
      <p:sp>
        <p:nvSpPr>
          <p:cNvPr id="37" name="Shape 34"/>
          <p:cNvSpPr/>
          <p:nvPr/>
        </p:nvSpPr>
        <p:spPr>
          <a:xfrm>
            <a:off x="6172200" y="4370832"/>
            <a:ext cx="5358384" cy="438912"/>
          </a:xfrm>
          <a:prstGeom prst="rect">
            <a:avLst/>
          </a:prstGeom>
          <a:solidFill>
            <a:srgbClr val="FFFFFF"/>
          </a:solidFill>
          <a:ln w="12700">
            <a:solidFill>
              <a:srgbClr val="FFFFFF"/>
            </a:solidFill>
            <a:prstDash val="solid"/>
          </a:ln>
        </p:spPr>
      </p:sp>
      <p:sp>
        <p:nvSpPr>
          <p:cNvPr id="38" name="Shape 35"/>
          <p:cNvSpPr/>
          <p:nvPr/>
        </p:nvSpPr>
        <p:spPr>
          <a:xfrm>
            <a:off x="6172200" y="4370832"/>
            <a:ext cx="45720" cy="438912"/>
          </a:xfrm>
          <a:prstGeom prst="rect">
            <a:avLst/>
          </a:prstGeom>
          <a:solidFill>
            <a:srgbClr val="102A43"/>
          </a:solidFill>
          <a:ln w="12700">
            <a:solidFill>
              <a:srgbClr val="102A43"/>
            </a:solidFill>
            <a:prstDash val="solid"/>
          </a:ln>
        </p:spPr>
      </p:sp>
      <p:sp>
        <p:nvSpPr>
          <p:cNvPr id="39" name="Text 36"/>
          <p:cNvSpPr txBox="1"/>
          <p:nvPr/>
        </p:nvSpPr>
        <p:spPr>
          <a:xfrm>
            <a:off x="6428232" y="4389120"/>
            <a:ext cx="1554480" cy="402336"/>
          </a:xfrm>
          <a:prstGeom prst="rect">
            <a:avLst/>
          </a:prstGeom>
          <a:noFill/>
          <a:ln/>
        </p:spPr>
        <p:txBody>
          <a:bodyPr wrap="square" lIns="0" tIns="0" rIns="0" bIns="0" rtlCol="0" anchor="ctr"/>
          <a:lstStyle/>
          <a:p>
            <a:pPr algn="l" indent="0" marL="0">
              <a:buNone/>
            </a:pPr>
            <a:r>
              <a:rPr lang="en-US" sz="1100" b="1" dirty="0">
                <a:solidFill>
                  <a:srgbClr val="102A43"/>
                </a:solidFill>
                <a:latin typeface="Consolas" pitchFamily="34" charset="0"/>
                <a:ea typeface="Consolas" pitchFamily="34" charset="-122"/>
                <a:cs typeface="Consolas" pitchFamily="34" charset="-120"/>
              </a:rPr>
              <a:t>-q</a:t>
            </a:r>
            <a:endParaRPr lang="en-US" sz="1100" dirty="0"/>
          </a:p>
        </p:txBody>
      </p:sp>
      <p:sp>
        <p:nvSpPr>
          <p:cNvPr id="40" name="Text 37"/>
          <p:cNvSpPr txBox="1"/>
          <p:nvPr/>
        </p:nvSpPr>
        <p:spPr>
          <a:xfrm>
            <a:off x="8055864" y="4389120"/>
            <a:ext cx="3291840" cy="402336"/>
          </a:xfrm>
          <a:prstGeom prst="rect">
            <a:avLst/>
          </a:prstGeom>
          <a:noFill/>
          <a:ln/>
        </p:spPr>
        <p:txBody>
          <a:bodyPr wrap="square" lIns="0" tIns="0" rIns="0" bIns="0" rtlCol="0" anchor="ctr"/>
          <a:lstStyle/>
          <a:p>
            <a:pPr algn="l" indent="0" marL="0">
              <a:buNone/>
            </a:pPr>
            <a:r>
              <a:rPr lang="en-US" sz="1140" dirty="0">
                <a:solidFill>
                  <a:srgbClr val="243B53"/>
                </a:solidFill>
                <a:latin typeface="Aptos" pitchFamily="34" charset="0"/>
                <a:ea typeface="Aptos" pitchFamily="34" charset="-122"/>
                <a:cs typeface="Aptos" pitchFamily="34" charset="-120"/>
              </a:rPr>
              <a:t>Reduce la salida.</a:t>
            </a:r>
            <a:endParaRPr lang="en-US" sz="1140" dirty="0"/>
          </a:p>
        </p:txBody>
      </p:sp>
      <p:sp>
        <p:nvSpPr>
          <p:cNvPr id="41" name="Shape 38"/>
          <p:cNvSpPr/>
          <p:nvPr/>
        </p:nvSpPr>
        <p:spPr>
          <a:xfrm>
            <a:off x="658368" y="4882896"/>
            <a:ext cx="5358384" cy="438912"/>
          </a:xfrm>
          <a:prstGeom prst="rect">
            <a:avLst/>
          </a:prstGeom>
          <a:solidFill>
            <a:srgbClr val="FFFFFF"/>
          </a:solidFill>
          <a:ln w="12700">
            <a:solidFill>
              <a:srgbClr val="FFFFFF"/>
            </a:solidFill>
            <a:prstDash val="solid"/>
          </a:ln>
        </p:spPr>
      </p:sp>
      <p:sp>
        <p:nvSpPr>
          <p:cNvPr id="42" name="Shape 39"/>
          <p:cNvSpPr/>
          <p:nvPr/>
        </p:nvSpPr>
        <p:spPr>
          <a:xfrm>
            <a:off x="658368" y="4882896"/>
            <a:ext cx="45720" cy="438912"/>
          </a:xfrm>
          <a:prstGeom prst="rect">
            <a:avLst/>
          </a:prstGeom>
          <a:solidFill>
            <a:srgbClr val="102A43"/>
          </a:solidFill>
          <a:ln w="12700">
            <a:solidFill>
              <a:srgbClr val="102A43"/>
            </a:solidFill>
            <a:prstDash val="solid"/>
          </a:ln>
        </p:spPr>
      </p:sp>
      <p:sp>
        <p:nvSpPr>
          <p:cNvPr id="43" name="Text 40"/>
          <p:cNvSpPr txBox="1"/>
          <p:nvPr/>
        </p:nvSpPr>
        <p:spPr>
          <a:xfrm>
            <a:off x="914400" y="4901184"/>
            <a:ext cx="1554480" cy="402336"/>
          </a:xfrm>
          <a:prstGeom prst="rect">
            <a:avLst/>
          </a:prstGeom>
          <a:noFill/>
          <a:ln/>
        </p:spPr>
        <p:txBody>
          <a:bodyPr wrap="square" lIns="0" tIns="0" rIns="0" bIns="0" rtlCol="0" anchor="ctr"/>
          <a:lstStyle/>
          <a:p>
            <a:pPr algn="l" indent="0" marL="0">
              <a:buNone/>
            </a:pPr>
            <a:r>
              <a:rPr lang="en-US" sz="1100" b="1" dirty="0">
                <a:solidFill>
                  <a:srgbClr val="102A43"/>
                </a:solidFill>
                <a:latin typeface="Consolas" pitchFamily="34" charset="0"/>
                <a:ea typeface="Consolas" pitchFamily="34" charset="-122"/>
                <a:cs typeface="Consolas" pitchFamily="34" charset="-120"/>
              </a:rPr>
              <a:t>-v</a:t>
            </a:r>
            <a:endParaRPr lang="en-US" sz="1100" dirty="0"/>
          </a:p>
        </p:txBody>
      </p:sp>
      <p:sp>
        <p:nvSpPr>
          <p:cNvPr id="44" name="Text 41"/>
          <p:cNvSpPr txBox="1"/>
          <p:nvPr/>
        </p:nvSpPr>
        <p:spPr>
          <a:xfrm>
            <a:off x="2542032" y="4901184"/>
            <a:ext cx="3291840" cy="402336"/>
          </a:xfrm>
          <a:prstGeom prst="rect">
            <a:avLst/>
          </a:prstGeom>
          <a:noFill/>
          <a:ln/>
        </p:spPr>
        <p:txBody>
          <a:bodyPr wrap="square" lIns="0" tIns="0" rIns="0" bIns="0" rtlCol="0" anchor="ctr"/>
          <a:lstStyle/>
          <a:p>
            <a:pPr algn="l" indent="0" marL="0">
              <a:buNone/>
            </a:pPr>
            <a:r>
              <a:rPr lang="en-US" sz="1140" dirty="0">
                <a:solidFill>
                  <a:srgbClr val="243B53"/>
                </a:solidFill>
                <a:latin typeface="Aptos" pitchFamily="34" charset="0"/>
                <a:ea typeface="Aptos" pitchFamily="34" charset="-122"/>
                <a:cs typeface="Aptos" pitchFamily="34" charset="-120"/>
              </a:rPr>
              <a:t>Muestra cada caso con su identificador.</a:t>
            </a:r>
            <a:endParaRPr lang="en-US" sz="1140" dirty="0"/>
          </a:p>
        </p:txBody>
      </p:sp>
      <p:sp>
        <p:nvSpPr>
          <p:cNvPr id="45" name="Shape 42"/>
          <p:cNvSpPr/>
          <p:nvPr/>
        </p:nvSpPr>
        <p:spPr>
          <a:xfrm>
            <a:off x="6172200" y="4882896"/>
            <a:ext cx="5358384" cy="438912"/>
          </a:xfrm>
          <a:prstGeom prst="rect">
            <a:avLst/>
          </a:prstGeom>
          <a:solidFill>
            <a:srgbClr val="FFFFFF"/>
          </a:solidFill>
          <a:ln w="12700">
            <a:solidFill>
              <a:srgbClr val="FFFFFF"/>
            </a:solidFill>
            <a:prstDash val="solid"/>
          </a:ln>
        </p:spPr>
      </p:sp>
      <p:sp>
        <p:nvSpPr>
          <p:cNvPr id="46" name="Shape 43"/>
          <p:cNvSpPr/>
          <p:nvPr/>
        </p:nvSpPr>
        <p:spPr>
          <a:xfrm>
            <a:off x="6172200" y="4882896"/>
            <a:ext cx="45720" cy="438912"/>
          </a:xfrm>
          <a:prstGeom prst="rect">
            <a:avLst/>
          </a:prstGeom>
          <a:solidFill>
            <a:srgbClr val="102A43"/>
          </a:solidFill>
          <a:ln w="12700">
            <a:solidFill>
              <a:srgbClr val="102A43"/>
            </a:solidFill>
            <a:prstDash val="solid"/>
          </a:ln>
        </p:spPr>
      </p:sp>
      <p:sp>
        <p:nvSpPr>
          <p:cNvPr id="47" name="Text 44"/>
          <p:cNvSpPr txBox="1"/>
          <p:nvPr/>
        </p:nvSpPr>
        <p:spPr>
          <a:xfrm>
            <a:off x="6428232" y="4901184"/>
            <a:ext cx="1554480" cy="402336"/>
          </a:xfrm>
          <a:prstGeom prst="rect">
            <a:avLst/>
          </a:prstGeom>
          <a:noFill/>
          <a:ln/>
        </p:spPr>
        <p:txBody>
          <a:bodyPr wrap="square" lIns="0" tIns="0" rIns="0" bIns="0" rtlCol="0" anchor="ctr"/>
          <a:lstStyle/>
          <a:p>
            <a:pPr algn="l" indent="0" marL="0">
              <a:buNone/>
            </a:pPr>
            <a:r>
              <a:rPr lang="en-US" sz="1100" b="1" dirty="0">
                <a:solidFill>
                  <a:srgbClr val="102A43"/>
                </a:solidFill>
                <a:latin typeface="Consolas" pitchFamily="34" charset="0"/>
                <a:ea typeface="Consolas" pitchFamily="34" charset="-122"/>
                <a:cs typeface="Consolas" pitchFamily="34" charset="-120"/>
              </a:rPr>
              <a:t>--tb=short</a:t>
            </a:r>
            <a:endParaRPr lang="en-US" sz="1100" dirty="0"/>
          </a:p>
        </p:txBody>
      </p:sp>
      <p:sp>
        <p:nvSpPr>
          <p:cNvPr id="48" name="Text 45"/>
          <p:cNvSpPr txBox="1"/>
          <p:nvPr/>
        </p:nvSpPr>
        <p:spPr>
          <a:xfrm>
            <a:off x="8055864" y="4901184"/>
            <a:ext cx="3291840" cy="402336"/>
          </a:xfrm>
          <a:prstGeom prst="rect">
            <a:avLst/>
          </a:prstGeom>
          <a:noFill/>
          <a:ln/>
        </p:spPr>
        <p:txBody>
          <a:bodyPr wrap="square" lIns="0" tIns="0" rIns="0" bIns="0" rtlCol="0" anchor="ctr"/>
          <a:lstStyle/>
          <a:p>
            <a:pPr algn="l" indent="0" marL="0">
              <a:buNone/>
            </a:pPr>
            <a:r>
              <a:rPr lang="en-US" sz="1140" dirty="0">
                <a:solidFill>
                  <a:srgbClr val="243B53"/>
                </a:solidFill>
                <a:latin typeface="Aptos" pitchFamily="34" charset="0"/>
                <a:ea typeface="Aptos" pitchFamily="34" charset="-122"/>
                <a:cs typeface="Aptos" pitchFamily="34" charset="-120"/>
              </a:rPr>
              <a:t>Abrevia la traza si ocurre un fallo.</a:t>
            </a:r>
            <a:endParaRPr lang="en-US" sz="1140" dirty="0"/>
          </a:p>
        </p:txBody>
      </p:sp>
      <p:sp>
        <p:nvSpPr>
          <p:cNvPr id="49" name="Shape 46"/>
          <p:cNvSpPr/>
          <p:nvPr/>
        </p:nvSpPr>
        <p:spPr>
          <a:xfrm>
            <a:off x="658368" y="5431536"/>
            <a:ext cx="10874959" cy="530352"/>
          </a:xfrm>
          <a:prstGeom prst="rect">
            <a:avLst/>
          </a:prstGeom>
          <a:solidFill>
            <a:srgbClr val="102A43"/>
          </a:solidFill>
          <a:ln w="12700">
            <a:solidFill>
              <a:srgbClr val="102A43"/>
            </a:solidFill>
            <a:prstDash val="solid"/>
          </a:ln>
        </p:spPr>
      </p:sp>
      <p:sp>
        <p:nvSpPr>
          <p:cNvPr id="50" name="Text 47"/>
          <p:cNvSpPr txBox="1"/>
          <p:nvPr/>
        </p:nvSpPr>
        <p:spPr>
          <a:xfrm>
            <a:off x="969264" y="5468112"/>
            <a:ext cx="10253167" cy="457200"/>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Las tres clases quedan representadas y hay una aserción por ejecución. El defecto del bloque 8 sigue ahí.</a:t>
            </a:r>
            <a:endParaRPr lang="en-US" sz="1400" dirty="0"/>
          </a:p>
        </p:txBody>
      </p:sp>
      <p:sp>
        <p:nvSpPr>
          <p:cNvPr id="51" name="Shape 48"/>
          <p:cNvSpPr/>
          <p:nvPr/>
        </p:nvSpPr>
        <p:spPr>
          <a:xfrm>
            <a:off x="658368" y="6108192"/>
            <a:ext cx="45720" cy="182880"/>
          </a:xfrm>
          <a:prstGeom prst="rect">
            <a:avLst/>
          </a:prstGeom>
          <a:solidFill>
            <a:srgbClr val="8A6A12"/>
          </a:solidFill>
          <a:ln w="12700">
            <a:solidFill>
              <a:srgbClr val="8A6A12"/>
            </a:solidFill>
            <a:prstDash val="solid"/>
          </a:ln>
        </p:spPr>
      </p:sp>
      <p:sp>
        <p:nvSpPr>
          <p:cNvPr id="52" name="Text 49"/>
          <p:cNvSpPr txBox="1"/>
          <p:nvPr/>
        </p:nvSpPr>
        <p:spPr>
          <a:xfrm>
            <a:off x="804672" y="6099048"/>
            <a:ext cx="548640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Ejecutado con Python 3.12.12 y pytest 9.1.1.</a:t>
            </a:r>
            <a:endParaRPr lang="en-US" sz="92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41</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EL LÍMITE DE LA TÉCNICA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Se cambia un solo valor y la clase se rompe</a:t>
            </a:r>
            <a:endParaRPr lang="en-US" sz="3000" dirty="0"/>
          </a:p>
        </p:txBody>
      </p:sp>
      <p:sp>
        <p:nvSpPr>
          <p:cNvPr id="10" name="Text 7"/>
          <p:cNvSpPr txBox="1"/>
          <p:nvPr/>
        </p:nvSpPr>
        <p:spPr>
          <a:xfrm>
            <a:off x="658368" y="1773936"/>
            <a:ext cx="72237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Solo la fila central: 4 pasa a ser 8. Ambos pertenecen a la misma clase según el requisito.</a:t>
            </a:r>
            <a:endParaRPr lang="en-US" sz="1450" dirty="0"/>
          </a:p>
        </p:txBody>
      </p:sp>
      <p:sp>
        <p:nvSpPr>
          <p:cNvPr id="11" name="Shape 8"/>
          <p:cNvSpPr/>
          <p:nvPr/>
        </p:nvSpPr>
        <p:spPr>
          <a:xfrm>
            <a:off x="8165592" y="1883664"/>
            <a:ext cx="1060704" cy="274320"/>
          </a:xfrm>
          <a:prstGeom prst="rect">
            <a:avLst/>
          </a:prstGeom>
          <a:solidFill>
            <a:srgbClr val="EDE6DA"/>
          </a:solidFill>
          <a:ln w="12700">
            <a:solidFill>
              <a:srgbClr val="EDE6DA"/>
            </a:solidFill>
            <a:prstDash val="solid"/>
          </a:ln>
        </p:spPr>
      </p:sp>
      <p:sp>
        <p:nvSpPr>
          <p:cNvPr id="12" name="Text 9"/>
          <p:cNvSpPr txBox="1"/>
          <p:nvPr/>
        </p:nvSpPr>
        <p:spPr>
          <a:xfrm>
            <a:off x="8165592"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Leer</a:t>
            </a:r>
            <a:endParaRPr lang="en-US" sz="940" dirty="0"/>
          </a:p>
        </p:txBody>
      </p:sp>
      <p:sp>
        <p:nvSpPr>
          <p:cNvPr id="13" name="Shape 10"/>
          <p:cNvSpPr/>
          <p:nvPr/>
        </p:nvSpPr>
        <p:spPr>
          <a:xfrm>
            <a:off x="9317736" y="1883664"/>
            <a:ext cx="1060704" cy="274320"/>
          </a:xfrm>
          <a:prstGeom prst="rect">
            <a:avLst/>
          </a:prstGeom>
          <a:solidFill>
            <a:srgbClr val="EDE6DA"/>
          </a:solidFill>
          <a:ln w="12700">
            <a:solidFill>
              <a:srgbClr val="EDE6DA"/>
            </a:solidFill>
            <a:prstDash val="solid"/>
          </a:ln>
        </p:spPr>
      </p:sp>
      <p:sp>
        <p:nvSpPr>
          <p:cNvPr id="14" name="Text 11"/>
          <p:cNvSpPr txBox="1"/>
          <p:nvPr/>
        </p:nvSpPr>
        <p:spPr>
          <a:xfrm>
            <a:off x="9317736"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Predecir</a:t>
            </a:r>
            <a:endParaRPr lang="en-US" sz="940" dirty="0"/>
          </a:p>
        </p:txBody>
      </p:sp>
      <p:sp>
        <p:nvSpPr>
          <p:cNvPr id="15" name="Shape 12"/>
          <p:cNvSpPr/>
          <p:nvPr/>
        </p:nvSpPr>
        <p:spPr>
          <a:xfrm>
            <a:off x="10469880" y="1883664"/>
            <a:ext cx="1060704" cy="274320"/>
          </a:xfrm>
          <a:prstGeom prst="rect">
            <a:avLst/>
          </a:prstGeom>
          <a:solidFill>
            <a:srgbClr val="102A43"/>
          </a:solidFill>
          <a:ln w="12700">
            <a:solidFill>
              <a:srgbClr val="102A43"/>
            </a:solidFill>
            <a:prstDash val="solid"/>
          </a:ln>
        </p:spPr>
      </p:sp>
      <p:sp>
        <p:nvSpPr>
          <p:cNvPr id="16" name="Text 13"/>
          <p:cNvSpPr txBox="1"/>
          <p:nvPr/>
        </p:nvSpPr>
        <p:spPr>
          <a:xfrm>
            <a:off x="10469880"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FFFFFF"/>
                </a:solidFill>
                <a:latin typeface="Aptos" pitchFamily="34" charset="0"/>
                <a:ea typeface="Aptos" pitchFamily="34" charset="-122"/>
                <a:cs typeface="Aptos" pitchFamily="34" charset="-120"/>
              </a:rPr>
              <a:t>Comprobar</a:t>
            </a:r>
            <a:endParaRPr lang="en-US" sz="940" dirty="0"/>
          </a:p>
        </p:txBody>
      </p:sp>
      <p:sp>
        <p:nvSpPr>
          <p:cNvPr id="17" name="Shape 14"/>
          <p:cNvSpPr/>
          <p:nvPr/>
        </p:nvSpPr>
        <p:spPr>
          <a:xfrm>
            <a:off x="658368" y="2286000"/>
            <a:ext cx="4023360" cy="1261872"/>
          </a:xfrm>
          <a:prstGeom prst="roundRect">
            <a:avLst>
              <a:gd name="adj" fmla="val 2899"/>
            </a:avLst>
          </a:prstGeom>
          <a:solidFill>
            <a:srgbClr val="102A43"/>
          </a:solidFill>
          <a:ln w="12700">
            <a:solidFill>
              <a:srgbClr val="102A43"/>
            </a:solidFill>
            <a:prstDash val="solid"/>
          </a:ln>
        </p:spPr>
      </p:sp>
      <p:sp>
        <p:nvSpPr>
          <p:cNvPr id="18" name="Shape 15"/>
          <p:cNvSpPr/>
          <p:nvPr/>
        </p:nvSpPr>
        <p:spPr>
          <a:xfrm>
            <a:off x="786384" y="2395728"/>
            <a:ext cx="3767328" cy="310896"/>
          </a:xfrm>
          <a:prstGeom prst="roundRect">
            <a:avLst>
              <a:gd name="adj" fmla="val 8824"/>
            </a:avLst>
          </a:prstGeom>
          <a:solidFill>
            <a:srgbClr val="284B75"/>
          </a:solidFill>
          <a:ln w="12700">
            <a:solidFill>
              <a:srgbClr val="284B75"/>
            </a:solidFill>
            <a:prstDash val="solid"/>
          </a:ln>
        </p:spPr>
      </p:sp>
      <p:sp>
        <p:nvSpPr>
          <p:cNvPr id="19" name="Text 16"/>
          <p:cNvSpPr/>
          <p:nvPr/>
        </p:nvSpPr>
        <p:spPr>
          <a:xfrm>
            <a:off x="896112" y="2468880"/>
            <a:ext cx="354787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El único cambio</a:t>
            </a:r>
            <a:endParaRPr lang="en-US" sz="100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3602736" cy="512064"/>
          </a:xfrm>
          <a:prstGeom prst="rect">
            <a:avLst/>
          </a:prstGeom>
        </p:spPr>
      </p:pic>
      <p:sp>
        <p:nvSpPr>
          <p:cNvPr id="21" name="Shape 17"/>
          <p:cNvSpPr/>
          <p:nvPr/>
        </p:nvSpPr>
        <p:spPr>
          <a:xfrm>
            <a:off x="4864608" y="2286000"/>
            <a:ext cx="6665976" cy="1975104"/>
          </a:xfrm>
          <a:prstGeom prst="roundRect">
            <a:avLst>
              <a:gd name="adj" fmla="val 1852"/>
            </a:avLst>
          </a:prstGeom>
          <a:solidFill>
            <a:srgbClr val="0F1720"/>
          </a:solidFill>
          <a:ln w="12700">
            <a:solidFill>
              <a:srgbClr val="0F1720"/>
            </a:solidFill>
            <a:prstDash val="solid"/>
          </a:ln>
        </p:spPr>
      </p:sp>
      <p:sp>
        <p:nvSpPr>
          <p:cNvPr id="22" name="Shape 18"/>
          <p:cNvSpPr/>
          <p:nvPr/>
        </p:nvSpPr>
        <p:spPr>
          <a:xfrm>
            <a:off x="4992624" y="2395728"/>
            <a:ext cx="6409944" cy="310896"/>
          </a:xfrm>
          <a:prstGeom prst="roundRect">
            <a:avLst>
              <a:gd name="adj" fmla="val 8824"/>
            </a:avLst>
          </a:prstGeom>
          <a:solidFill>
            <a:srgbClr val="1E2937"/>
          </a:solidFill>
          <a:ln w="12700">
            <a:solidFill>
              <a:srgbClr val="1E2937"/>
            </a:solidFill>
            <a:prstDash val="solid"/>
          </a:ln>
        </p:spPr>
      </p:sp>
      <p:sp>
        <p:nvSpPr>
          <p:cNvPr id="23" name="Text 19"/>
          <p:cNvSpPr/>
          <p:nvPr/>
        </p:nvSpPr>
        <p:spPr>
          <a:xfrm>
            <a:off x="5120640" y="2468880"/>
            <a:ext cx="6153912"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Y el diagnóstico completo</a:t>
            </a:r>
            <a:endParaRPr lang="en-US" sz="1000" dirty="0"/>
          </a:p>
        </p:txBody>
      </p:sp>
      <p:sp>
        <p:nvSpPr>
          <p:cNvPr id="24" name="Text 20"/>
          <p:cNvSpPr/>
          <p:nvPr/>
        </p:nvSpPr>
        <p:spPr>
          <a:xfrm>
            <a:off x="5084064" y="2852928"/>
            <a:ext cx="5916168" cy="164592"/>
          </a:xfrm>
          <a:prstGeom prst="rect">
            <a:avLst/>
          </a:prstGeom>
          <a:noFill/>
          <a:ln/>
        </p:spPr>
        <p:txBody>
          <a:bodyPr wrap="square" lIns="0" tIns="0" rIns="0" bIns="0" rtlCol="0" anchor="ctr"/>
          <a:lstStyle/>
          <a:p>
            <a:pPr indent="0" marL="0">
              <a:buNone/>
            </a:pPr>
            <a:r>
              <a:rPr lang="en-US" sz="920" dirty="0">
                <a:solidFill>
                  <a:srgbClr val="E6EEF7"/>
                </a:solidFill>
                <a:latin typeface="Consolas" pitchFamily="34" charset="0"/>
                <a:ea typeface="Consolas" pitchFamily="34" charset="-122"/>
                <a:cs typeface="Consolas" pitchFamily="34" charset="-120"/>
              </a:rPr>
              <a:t>test_particiones.py:17: in test_validez_por_particion</a:t>
            </a:r>
            <a:endParaRPr lang="en-US" sz="920" dirty="0"/>
          </a:p>
        </p:txBody>
      </p:sp>
      <p:sp>
        <p:nvSpPr>
          <p:cNvPr id="25" name="Text 21"/>
          <p:cNvSpPr/>
          <p:nvPr/>
        </p:nvSpPr>
        <p:spPr>
          <a:xfrm>
            <a:off x="5084064" y="3108960"/>
            <a:ext cx="5916168" cy="164592"/>
          </a:xfrm>
          <a:prstGeom prst="rect">
            <a:avLst/>
          </a:prstGeom>
          <a:noFill/>
          <a:ln/>
        </p:spPr>
        <p:txBody>
          <a:bodyPr wrap="square" lIns="0" tIns="0" rIns="0" bIns="0" rtlCol="0" anchor="ctr"/>
          <a:lstStyle/>
          <a:p>
            <a:pPr indent="0" marL="0">
              <a:buNone/>
            </a:pPr>
            <a:r>
              <a:rPr lang="en-US" sz="920" dirty="0">
                <a:solidFill>
                  <a:srgbClr val="E6EEF7"/>
                </a:solidFill>
                <a:latin typeface="Consolas" pitchFamily="34" charset="0"/>
                <a:ea typeface="Consolas" pitchFamily="34" charset="-122"/>
                <a:cs typeface="Consolas" pitchFamily="34" charset="-120"/>
              </a:rPr>
              <a:t>    assert obtenido is esperado</a:t>
            </a:r>
            <a:endParaRPr lang="en-US" sz="920" dirty="0"/>
          </a:p>
        </p:txBody>
      </p:sp>
      <p:sp>
        <p:nvSpPr>
          <p:cNvPr id="26" name="Text 22"/>
          <p:cNvSpPr/>
          <p:nvPr/>
        </p:nvSpPr>
        <p:spPr>
          <a:xfrm>
            <a:off x="5084064" y="3364992"/>
            <a:ext cx="5916168" cy="164592"/>
          </a:xfrm>
          <a:prstGeom prst="rect">
            <a:avLst/>
          </a:prstGeom>
          <a:noFill/>
          <a:ln/>
        </p:spPr>
        <p:txBody>
          <a:bodyPr wrap="square" lIns="0" tIns="0" rIns="0" bIns="0" rtlCol="0" anchor="ctr"/>
          <a:lstStyle/>
          <a:p>
            <a:pPr indent="0" marL="0">
              <a:buNone/>
            </a:pPr>
            <a:r>
              <a:rPr lang="en-US" sz="920" dirty="0">
                <a:solidFill>
                  <a:srgbClr val="E6EEF7"/>
                </a:solidFill>
                <a:latin typeface="Consolas" pitchFamily="34" charset="0"/>
                <a:ea typeface="Consolas" pitchFamily="34" charset="-122"/>
                <a:cs typeface="Consolas" pitchFamily="34" charset="-120"/>
              </a:rPr>
              <a:t>E   assert False is True</a:t>
            </a:r>
            <a:endParaRPr lang="en-US" sz="920" dirty="0"/>
          </a:p>
        </p:txBody>
      </p:sp>
      <p:sp>
        <p:nvSpPr>
          <p:cNvPr id="27" name="Text 23"/>
          <p:cNvSpPr/>
          <p:nvPr/>
        </p:nvSpPr>
        <p:spPr>
          <a:xfrm>
            <a:off x="5084064" y="3621024"/>
            <a:ext cx="5916168" cy="164592"/>
          </a:xfrm>
          <a:prstGeom prst="rect">
            <a:avLst/>
          </a:prstGeom>
          <a:noFill/>
          <a:ln/>
        </p:spPr>
        <p:txBody>
          <a:bodyPr wrap="square" lIns="0" tIns="0" rIns="0" bIns="0" rtlCol="0" anchor="ctr"/>
          <a:lstStyle/>
          <a:p>
            <a:pPr indent="0" marL="0">
              <a:buNone/>
            </a:pPr>
            <a:r>
              <a:rPr lang="en-US" sz="920" dirty="0">
                <a:solidFill>
                  <a:srgbClr val="E6EEF7"/>
                </a:solidFill>
                <a:latin typeface="Consolas" pitchFamily="34" charset="0"/>
                <a:ea typeface="Consolas" pitchFamily="34" charset="-122"/>
                <a:cs typeface="Consolas" pitchFamily="34" charset="-120"/>
              </a:rPr>
              <a:t>FAILED ...[dentro-jornada] - assert False is True</a:t>
            </a:r>
            <a:endParaRPr lang="en-US" sz="920" dirty="0"/>
          </a:p>
        </p:txBody>
      </p:sp>
      <p:sp>
        <p:nvSpPr>
          <p:cNvPr id="28" name="Text 24"/>
          <p:cNvSpPr/>
          <p:nvPr/>
        </p:nvSpPr>
        <p:spPr>
          <a:xfrm>
            <a:off x="5084064" y="3877056"/>
            <a:ext cx="5916168" cy="164592"/>
          </a:xfrm>
          <a:prstGeom prst="rect">
            <a:avLst/>
          </a:prstGeom>
          <a:noFill/>
          <a:ln/>
        </p:spPr>
        <p:txBody>
          <a:bodyPr wrap="square" lIns="0" tIns="0" rIns="0" bIns="0" rtlCol="0" anchor="ctr"/>
          <a:lstStyle/>
          <a:p>
            <a:pPr indent="0" marL="0">
              <a:buNone/>
            </a:pPr>
            <a:r>
              <a:rPr lang="en-US" sz="920" dirty="0">
                <a:solidFill>
                  <a:srgbClr val="E6EEF7"/>
                </a:solidFill>
                <a:latin typeface="Consolas" pitchFamily="34" charset="0"/>
                <a:ea typeface="Consolas" pitchFamily="34" charset="-122"/>
                <a:cs typeface="Consolas" pitchFamily="34" charset="-120"/>
              </a:rPr>
              <a:t>1 failed, 2 passed in 0.09s</a:t>
            </a:r>
            <a:endParaRPr lang="en-US" sz="920" dirty="0"/>
          </a:p>
        </p:txBody>
      </p:sp>
      <p:sp>
        <p:nvSpPr>
          <p:cNvPr id="29" name="Text 25"/>
          <p:cNvSpPr txBox="1"/>
          <p:nvPr/>
        </p:nvSpPr>
        <p:spPr>
          <a:xfrm>
            <a:off x="658368" y="4480560"/>
            <a:ext cx="6400800" cy="201168"/>
          </a:xfrm>
          <a:prstGeom prst="rect">
            <a:avLst/>
          </a:prstGeom>
          <a:noFill/>
          <a:ln/>
        </p:spPr>
        <p:txBody>
          <a:bodyPr wrap="square" lIns="0" tIns="0" rIns="0" bIns="0" rtlCol="0" anchor="t"/>
          <a:lstStyle/>
          <a:p>
            <a:pPr algn="l" indent="0" marL="0">
              <a:buNone/>
            </a:pPr>
            <a:r>
              <a:rPr lang="en-US" sz="960" b="1" spc="130" kern="0" dirty="0">
                <a:solidFill>
                  <a:srgbClr val="243B53"/>
                </a:solidFill>
                <a:latin typeface="Aptos" pitchFamily="34" charset="0"/>
                <a:ea typeface="Aptos" pitchFamily="34" charset="-122"/>
                <a:cs typeface="Aptos" pitchFamily="34" charset="-120"/>
              </a:rPr>
              <a:t>CÓMO SE LEE ESA SALIDA, SIN ADIVINAR</a:t>
            </a:r>
            <a:endParaRPr lang="en-US" sz="960" dirty="0"/>
          </a:p>
        </p:txBody>
      </p:sp>
      <p:sp>
        <p:nvSpPr>
          <p:cNvPr id="30" name="Shape 26"/>
          <p:cNvSpPr/>
          <p:nvPr/>
        </p:nvSpPr>
        <p:spPr>
          <a:xfrm>
            <a:off x="658368" y="4773168"/>
            <a:ext cx="3465576" cy="786384"/>
          </a:xfrm>
          <a:prstGeom prst="rect">
            <a:avLst/>
          </a:prstGeom>
          <a:solidFill>
            <a:srgbClr val="EDE6DA"/>
          </a:solidFill>
          <a:ln w="12700">
            <a:solidFill>
              <a:srgbClr val="EDE6DA"/>
            </a:solidFill>
            <a:prstDash val="solid"/>
          </a:ln>
        </p:spPr>
      </p:sp>
      <p:sp>
        <p:nvSpPr>
          <p:cNvPr id="31" name="Shape 27"/>
          <p:cNvSpPr/>
          <p:nvPr/>
        </p:nvSpPr>
        <p:spPr>
          <a:xfrm>
            <a:off x="658368" y="4773168"/>
            <a:ext cx="3465576" cy="45720"/>
          </a:xfrm>
          <a:prstGeom prst="rect">
            <a:avLst/>
          </a:prstGeom>
          <a:solidFill>
            <a:srgbClr val="102A43"/>
          </a:solidFill>
          <a:ln w="12700">
            <a:solidFill>
              <a:srgbClr val="102A43"/>
            </a:solidFill>
            <a:prstDash val="solid"/>
          </a:ln>
        </p:spPr>
      </p:sp>
      <p:sp>
        <p:nvSpPr>
          <p:cNvPr id="32" name="Text 28"/>
          <p:cNvSpPr txBox="1"/>
          <p:nvPr/>
        </p:nvSpPr>
        <p:spPr>
          <a:xfrm>
            <a:off x="914400" y="4882896"/>
            <a:ext cx="3017520" cy="219456"/>
          </a:xfrm>
          <a:prstGeom prst="rect">
            <a:avLst/>
          </a:prstGeom>
          <a:noFill/>
          <a:ln/>
        </p:spPr>
        <p:txBody>
          <a:bodyPr wrap="square" lIns="0" tIns="0" rIns="0" bIns="0" rtlCol="0" anchor="t"/>
          <a:lstStyle/>
          <a:p>
            <a:pPr algn="l" indent="0" marL="0">
              <a:buNone/>
            </a:pPr>
            <a:r>
              <a:rPr lang="en-US" sz="1060" b="1" dirty="0">
                <a:solidFill>
                  <a:srgbClr val="102A43"/>
                </a:solidFill>
                <a:latin typeface="Consolas" pitchFamily="34" charset="0"/>
                <a:ea typeface="Consolas" pitchFamily="34" charset="-122"/>
                <a:cs typeface="Consolas" pitchFamily="34" charset="-120"/>
              </a:rPr>
              <a:t>test_particiones.py:17</a:t>
            </a:r>
            <a:endParaRPr lang="en-US" sz="1060" dirty="0"/>
          </a:p>
        </p:txBody>
      </p:sp>
      <p:sp>
        <p:nvSpPr>
          <p:cNvPr id="33" name="Text 29"/>
          <p:cNvSpPr txBox="1"/>
          <p:nvPr/>
        </p:nvSpPr>
        <p:spPr>
          <a:xfrm>
            <a:off x="914400" y="5120640"/>
            <a:ext cx="3017520" cy="384048"/>
          </a:xfrm>
          <a:prstGeom prst="rect">
            <a:avLst/>
          </a:prstGeom>
          <a:noFill/>
          <a:ln/>
        </p:spPr>
        <p:txBody>
          <a:bodyPr wrap="square" lIns="0" tIns="0" rIns="0" bIns="0" rtlCol="0" anchor="t"/>
          <a:lstStyle/>
          <a:p>
            <a:pPr algn="l" indent="0" marL="0">
              <a:lnSpc>
                <a:spcPct val="112000"/>
              </a:lnSpc>
              <a:buNone/>
            </a:pPr>
            <a:r>
              <a:rPr lang="en-US" sz="1140" dirty="0">
                <a:solidFill>
                  <a:srgbClr val="243B53"/>
                </a:solidFill>
                <a:latin typeface="Aptos" pitchFamily="34" charset="0"/>
                <a:ea typeface="Aptos" pitchFamily="34" charset="-122"/>
                <a:cs typeface="Aptos" pitchFamily="34" charset="-120"/>
              </a:rPr>
              <a:t>El módulo y la línea de la aserción.</a:t>
            </a:r>
            <a:endParaRPr lang="en-US" sz="1140" dirty="0"/>
          </a:p>
        </p:txBody>
      </p:sp>
      <p:sp>
        <p:nvSpPr>
          <p:cNvPr id="34" name="Shape 30"/>
          <p:cNvSpPr/>
          <p:nvPr/>
        </p:nvSpPr>
        <p:spPr>
          <a:xfrm>
            <a:off x="4379976" y="4773168"/>
            <a:ext cx="3465576" cy="786384"/>
          </a:xfrm>
          <a:prstGeom prst="rect">
            <a:avLst/>
          </a:prstGeom>
          <a:solidFill>
            <a:srgbClr val="EDE6DA"/>
          </a:solidFill>
          <a:ln w="12700">
            <a:solidFill>
              <a:srgbClr val="EDE6DA"/>
            </a:solidFill>
            <a:prstDash val="solid"/>
          </a:ln>
        </p:spPr>
      </p:sp>
      <p:sp>
        <p:nvSpPr>
          <p:cNvPr id="35" name="Shape 31"/>
          <p:cNvSpPr/>
          <p:nvPr/>
        </p:nvSpPr>
        <p:spPr>
          <a:xfrm>
            <a:off x="4379976" y="4773168"/>
            <a:ext cx="3465576" cy="45720"/>
          </a:xfrm>
          <a:prstGeom prst="rect">
            <a:avLst/>
          </a:prstGeom>
          <a:solidFill>
            <a:srgbClr val="102A43"/>
          </a:solidFill>
          <a:ln w="12700">
            <a:solidFill>
              <a:srgbClr val="102A43"/>
            </a:solidFill>
            <a:prstDash val="solid"/>
          </a:ln>
        </p:spPr>
      </p:sp>
      <p:sp>
        <p:nvSpPr>
          <p:cNvPr id="36" name="Text 32"/>
          <p:cNvSpPr txBox="1"/>
          <p:nvPr/>
        </p:nvSpPr>
        <p:spPr>
          <a:xfrm>
            <a:off x="4636008" y="4882896"/>
            <a:ext cx="3017520" cy="219456"/>
          </a:xfrm>
          <a:prstGeom prst="rect">
            <a:avLst/>
          </a:prstGeom>
          <a:noFill/>
          <a:ln/>
        </p:spPr>
        <p:txBody>
          <a:bodyPr wrap="square" lIns="0" tIns="0" rIns="0" bIns="0" rtlCol="0" anchor="t"/>
          <a:lstStyle/>
          <a:p>
            <a:pPr algn="l" indent="0" marL="0">
              <a:buNone/>
            </a:pPr>
            <a:r>
              <a:rPr lang="en-US" sz="1060" b="1" dirty="0">
                <a:solidFill>
                  <a:srgbClr val="102A43"/>
                </a:solidFill>
                <a:latin typeface="Consolas" pitchFamily="34" charset="0"/>
                <a:ea typeface="Consolas" pitchFamily="34" charset="-122"/>
                <a:cs typeface="Consolas" pitchFamily="34" charset="-120"/>
              </a:rPr>
              <a:t>[dentro-jornada]</a:t>
            </a:r>
            <a:endParaRPr lang="en-US" sz="1060" dirty="0"/>
          </a:p>
        </p:txBody>
      </p:sp>
      <p:sp>
        <p:nvSpPr>
          <p:cNvPr id="37" name="Text 33"/>
          <p:cNvSpPr txBox="1"/>
          <p:nvPr/>
        </p:nvSpPr>
        <p:spPr>
          <a:xfrm>
            <a:off x="4636008" y="5120640"/>
            <a:ext cx="3017520" cy="384048"/>
          </a:xfrm>
          <a:prstGeom prst="rect">
            <a:avLst/>
          </a:prstGeom>
          <a:noFill/>
          <a:ln/>
        </p:spPr>
        <p:txBody>
          <a:bodyPr wrap="square" lIns="0" tIns="0" rIns="0" bIns="0" rtlCol="0" anchor="t"/>
          <a:lstStyle/>
          <a:p>
            <a:pPr algn="l" indent="0" marL="0">
              <a:lnSpc>
                <a:spcPct val="112000"/>
              </a:lnSpc>
              <a:buNone/>
            </a:pPr>
            <a:r>
              <a:rPr lang="en-US" sz="1140" dirty="0">
                <a:solidFill>
                  <a:srgbClr val="243B53"/>
                </a:solidFill>
                <a:latin typeface="Aptos" pitchFamily="34" charset="0"/>
                <a:ea typeface="Aptos" pitchFamily="34" charset="-122"/>
                <a:cs typeface="Aptos" pitchFamily="34" charset="-120"/>
              </a:rPr>
              <a:t>La fila. Aquí sus argumentos son 8 y True.</a:t>
            </a:r>
            <a:endParaRPr lang="en-US" sz="1140" dirty="0"/>
          </a:p>
        </p:txBody>
      </p:sp>
      <p:sp>
        <p:nvSpPr>
          <p:cNvPr id="38" name="Shape 34"/>
          <p:cNvSpPr/>
          <p:nvPr/>
        </p:nvSpPr>
        <p:spPr>
          <a:xfrm>
            <a:off x="8101584" y="4773168"/>
            <a:ext cx="3465576" cy="786384"/>
          </a:xfrm>
          <a:prstGeom prst="rect">
            <a:avLst/>
          </a:prstGeom>
          <a:solidFill>
            <a:srgbClr val="EDE6DA"/>
          </a:solidFill>
          <a:ln w="12700">
            <a:solidFill>
              <a:srgbClr val="EDE6DA"/>
            </a:solidFill>
            <a:prstDash val="solid"/>
          </a:ln>
        </p:spPr>
      </p:sp>
      <p:sp>
        <p:nvSpPr>
          <p:cNvPr id="39" name="Shape 35"/>
          <p:cNvSpPr/>
          <p:nvPr/>
        </p:nvSpPr>
        <p:spPr>
          <a:xfrm>
            <a:off x="8101584" y="4773168"/>
            <a:ext cx="3465576" cy="45720"/>
          </a:xfrm>
          <a:prstGeom prst="rect">
            <a:avLst/>
          </a:prstGeom>
          <a:solidFill>
            <a:srgbClr val="102A43"/>
          </a:solidFill>
          <a:ln w="12700">
            <a:solidFill>
              <a:srgbClr val="102A43"/>
            </a:solidFill>
            <a:prstDash val="solid"/>
          </a:ln>
        </p:spPr>
      </p:sp>
      <p:sp>
        <p:nvSpPr>
          <p:cNvPr id="40" name="Text 36"/>
          <p:cNvSpPr txBox="1"/>
          <p:nvPr/>
        </p:nvSpPr>
        <p:spPr>
          <a:xfrm>
            <a:off x="8357616" y="4882896"/>
            <a:ext cx="3017520" cy="219456"/>
          </a:xfrm>
          <a:prstGeom prst="rect">
            <a:avLst/>
          </a:prstGeom>
          <a:noFill/>
          <a:ln/>
        </p:spPr>
        <p:txBody>
          <a:bodyPr wrap="square" lIns="0" tIns="0" rIns="0" bIns="0" rtlCol="0" anchor="t"/>
          <a:lstStyle/>
          <a:p>
            <a:pPr algn="l" indent="0" marL="0">
              <a:buNone/>
            </a:pPr>
            <a:r>
              <a:rPr lang="en-US" sz="1060" b="1" dirty="0">
                <a:solidFill>
                  <a:srgbClr val="102A43"/>
                </a:solidFill>
                <a:latin typeface="Consolas" pitchFamily="34" charset="0"/>
                <a:ea typeface="Consolas" pitchFamily="34" charset="-122"/>
                <a:cs typeface="Consolas" pitchFamily="34" charset="-120"/>
              </a:rPr>
              <a:t>False is True</a:t>
            </a:r>
            <a:endParaRPr lang="en-US" sz="1060" dirty="0"/>
          </a:p>
        </p:txBody>
      </p:sp>
      <p:sp>
        <p:nvSpPr>
          <p:cNvPr id="41" name="Text 37"/>
          <p:cNvSpPr txBox="1"/>
          <p:nvPr/>
        </p:nvSpPr>
        <p:spPr>
          <a:xfrm>
            <a:off x="8357616" y="5120640"/>
            <a:ext cx="3017520" cy="384048"/>
          </a:xfrm>
          <a:prstGeom prst="rect">
            <a:avLst/>
          </a:prstGeom>
          <a:noFill/>
          <a:ln/>
        </p:spPr>
        <p:txBody>
          <a:bodyPr wrap="square" lIns="0" tIns="0" rIns="0" bIns="0" rtlCol="0" anchor="t"/>
          <a:lstStyle/>
          <a:p>
            <a:pPr algn="l" indent="0" marL="0">
              <a:lnSpc>
                <a:spcPct val="112000"/>
              </a:lnSpc>
              <a:buNone/>
            </a:pPr>
            <a:r>
              <a:rPr lang="en-US" sz="1140" dirty="0">
                <a:solidFill>
                  <a:srgbClr val="243B53"/>
                </a:solidFill>
                <a:latin typeface="Aptos" pitchFamily="34" charset="0"/>
                <a:ea typeface="Aptos" pitchFamily="34" charset="-122"/>
                <a:cs typeface="Aptos" pitchFamily="34" charset="-120"/>
              </a:rPr>
              <a:t>Obtenido a la izquierda, esperado a la derecha, porque así se escribió.</a:t>
            </a:r>
            <a:endParaRPr lang="en-US" sz="1140" dirty="0"/>
          </a:p>
        </p:txBody>
      </p:sp>
      <p:sp>
        <p:nvSpPr>
          <p:cNvPr id="42" name="Shape 38"/>
          <p:cNvSpPr/>
          <p:nvPr/>
        </p:nvSpPr>
        <p:spPr>
          <a:xfrm>
            <a:off x="658368" y="5742432"/>
            <a:ext cx="10874959" cy="548640"/>
          </a:xfrm>
          <a:prstGeom prst="rect">
            <a:avLst/>
          </a:prstGeom>
          <a:solidFill>
            <a:srgbClr val="B3181E"/>
          </a:solidFill>
          <a:ln w="12700">
            <a:solidFill>
              <a:srgbClr val="B3181E"/>
            </a:solidFill>
            <a:prstDash val="solid"/>
          </a:ln>
        </p:spPr>
      </p:sp>
      <p:sp>
        <p:nvSpPr>
          <p:cNvPr id="43" name="Text 39"/>
          <p:cNvSpPr txBox="1"/>
          <p:nvPr/>
        </p:nvSpPr>
        <p:spPr>
          <a:xfrm>
            <a:off x="969264" y="5779008"/>
            <a:ext cx="10253167" cy="475488"/>
          </a:xfrm>
          <a:prstGeom prst="rect">
            <a:avLst/>
          </a:prstGeom>
          <a:noFill/>
          <a:ln/>
        </p:spPr>
        <p:txBody>
          <a:bodyPr wrap="square" lIns="0" tIns="0" rIns="0" bIns="0" rtlCol="0" anchor="ctr"/>
          <a:lstStyle/>
          <a:p>
            <a:pPr algn="ctr" indent="0" marL="0">
              <a:lnSpc>
                <a:spcPct val="110000"/>
              </a:lnSpc>
              <a:buNone/>
            </a:pPr>
            <a:r>
              <a:rPr lang="en-US" sz="1320" b="1" dirty="0">
                <a:solidFill>
                  <a:srgbClr val="FFFFFF"/>
                </a:solidFill>
                <a:latin typeface="Aptos" pitchFamily="34" charset="0"/>
                <a:ea typeface="Aptos" pitchFamily="34" charset="-122"/>
                <a:cs typeface="Aptos" pitchFamily="34" charset="-120"/>
              </a:rPr>
              <a:t>El 8 sigue perteneciendo a la clase válida. Cambiar su esperado a False para recuperar el verde haría que el defecto definiera el requisito.</a:t>
            </a:r>
            <a:endParaRPr lang="en-US" sz="132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42</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CIERRE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Preguntas para llevarse del Bloque 2</a:t>
            </a:r>
            <a:endParaRPr lang="en-US" sz="3000" dirty="0"/>
          </a:p>
        </p:txBody>
      </p:sp>
      <p:sp>
        <p:nvSpPr>
          <p:cNvPr id="10" name="Shape 7"/>
          <p:cNvSpPr/>
          <p:nvPr/>
        </p:nvSpPr>
        <p:spPr>
          <a:xfrm>
            <a:off x="658368" y="1956816"/>
            <a:ext cx="10874959" cy="1188720"/>
          </a:xfrm>
          <a:prstGeom prst="rect">
            <a:avLst/>
          </a:prstGeom>
          <a:solidFill>
            <a:srgbClr val="F2E7D9"/>
          </a:solidFill>
          <a:ln w="12700">
            <a:solidFill>
              <a:srgbClr val="F2E7D9"/>
            </a:solidFill>
            <a:prstDash val="solid"/>
          </a:ln>
        </p:spPr>
      </p:sp>
      <p:sp>
        <p:nvSpPr>
          <p:cNvPr id="11" name="Shape 8"/>
          <p:cNvSpPr/>
          <p:nvPr/>
        </p:nvSpPr>
        <p:spPr>
          <a:xfrm>
            <a:off x="658368" y="1956816"/>
            <a:ext cx="54864" cy="1188720"/>
          </a:xfrm>
          <a:prstGeom prst="rect">
            <a:avLst/>
          </a:prstGeom>
          <a:solidFill>
            <a:srgbClr val="B3181E"/>
          </a:solidFill>
          <a:ln w="12700">
            <a:solidFill>
              <a:srgbClr val="B3181E"/>
            </a:solidFill>
            <a:prstDash val="solid"/>
          </a:ln>
        </p:spPr>
      </p:sp>
      <p:sp>
        <p:nvSpPr>
          <p:cNvPr id="12" name="Text 9"/>
          <p:cNvSpPr txBox="1"/>
          <p:nvPr/>
        </p:nvSpPr>
        <p:spPr>
          <a:xfrm>
            <a:off x="932688" y="2103120"/>
            <a:ext cx="475488" cy="457200"/>
          </a:xfrm>
          <a:prstGeom prst="rect">
            <a:avLst/>
          </a:prstGeom>
          <a:noFill/>
          <a:ln/>
        </p:spPr>
        <p:txBody>
          <a:bodyPr wrap="square" lIns="0" tIns="0" rIns="0" bIns="0" rtlCol="0" anchor="t"/>
          <a:lstStyle/>
          <a:p>
            <a:pPr algn="l"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3" name="Text 10"/>
          <p:cNvSpPr txBox="1"/>
          <p:nvPr/>
        </p:nvSpPr>
        <p:spPr>
          <a:xfrm>
            <a:off x="1572768" y="2093976"/>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4 y 8 pertenecen a la misma clase según el requisito, pero la función devuelve valores distintos. ¿Qué hay que revisar: el requisito, la clasificación o la implementación?</a:t>
            </a:r>
            <a:endParaRPr lang="en-US" sz="1400" dirty="0"/>
          </a:p>
        </p:txBody>
      </p:sp>
      <p:sp>
        <p:nvSpPr>
          <p:cNvPr id="14" name="Shape 11"/>
          <p:cNvSpPr/>
          <p:nvPr/>
        </p:nvSpPr>
        <p:spPr>
          <a:xfrm>
            <a:off x="1572768" y="2724912"/>
            <a:ext cx="9631375" cy="0"/>
          </a:xfrm>
          <a:prstGeom prst="line">
            <a:avLst/>
          </a:prstGeom>
          <a:noFill/>
          <a:ln w="12700">
            <a:solidFill>
              <a:srgbClr val="D8CFC4"/>
            </a:solidFill>
            <a:prstDash val="solid"/>
            <a:headEnd type="none"/>
            <a:tailEnd type="none"/>
          </a:ln>
        </p:spPr>
      </p:sp>
      <p:sp>
        <p:nvSpPr>
          <p:cNvPr id="15" name="Text 12"/>
          <p:cNvSpPr txBox="1"/>
          <p:nvPr/>
        </p:nvSpPr>
        <p:spPr>
          <a:xfrm>
            <a:off x="1572768" y="2816352"/>
            <a:ext cx="640080" cy="182880"/>
          </a:xfrm>
          <a:prstGeom prst="rect">
            <a:avLst/>
          </a:prstGeom>
          <a:noFill/>
          <a:ln/>
        </p:spPr>
        <p:txBody>
          <a:bodyPr wrap="square" lIns="0" tIns="0" rIns="0" bIns="0" rtlCol="0" anchor="t"/>
          <a:lstStyle/>
          <a:p>
            <a:pPr algn="l" indent="0" marL="0">
              <a:buNone/>
            </a:pPr>
            <a:r>
              <a:rPr lang="en-US" sz="860" b="1" spc="110" kern="0" dirty="0">
                <a:solidFill>
                  <a:srgbClr val="B3181E"/>
                </a:solidFill>
                <a:latin typeface="Aptos" pitchFamily="34" charset="0"/>
                <a:ea typeface="Aptos" pitchFamily="34" charset="-122"/>
                <a:cs typeface="Aptos" pitchFamily="34" charset="-120"/>
              </a:rPr>
              <a:t>PISTA</a:t>
            </a:r>
            <a:endParaRPr lang="en-US" sz="860" dirty="0"/>
          </a:p>
        </p:txBody>
      </p:sp>
      <p:sp>
        <p:nvSpPr>
          <p:cNvPr id="16" name="Text 13"/>
          <p:cNvSpPr txBox="1"/>
          <p:nvPr/>
        </p:nvSpPr>
        <p:spPr>
          <a:xfrm>
            <a:off x="2286000" y="2798064"/>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La jornada incluye los bloques del 1 al 8; observar un rechazo no modifica esa regla.</a:t>
            </a:r>
            <a:endParaRPr lang="en-US" sz="1200" dirty="0"/>
          </a:p>
        </p:txBody>
      </p:sp>
      <p:sp>
        <p:nvSpPr>
          <p:cNvPr id="17" name="Shape 14"/>
          <p:cNvSpPr/>
          <p:nvPr/>
        </p:nvSpPr>
        <p:spPr>
          <a:xfrm>
            <a:off x="658368" y="3273552"/>
            <a:ext cx="10874959" cy="1188720"/>
          </a:xfrm>
          <a:prstGeom prst="rect">
            <a:avLst/>
          </a:prstGeom>
          <a:solidFill>
            <a:srgbClr val="EDE6DA"/>
          </a:solidFill>
          <a:ln w="12700">
            <a:solidFill>
              <a:srgbClr val="EDE6DA"/>
            </a:solidFill>
            <a:prstDash val="solid"/>
          </a:ln>
        </p:spPr>
      </p:sp>
      <p:sp>
        <p:nvSpPr>
          <p:cNvPr id="18" name="Shape 15"/>
          <p:cNvSpPr/>
          <p:nvPr/>
        </p:nvSpPr>
        <p:spPr>
          <a:xfrm>
            <a:off x="658368" y="3273552"/>
            <a:ext cx="54864" cy="1188720"/>
          </a:xfrm>
          <a:prstGeom prst="rect">
            <a:avLst/>
          </a:prstGeom>
          <a:solidFill>
            <a:srgbClr val="102A43"/>
          </a:solidFill>
          <a:ln w="12700">
            <a:solidFill>
              <a:srgbClr val="102A43"/>
            </a:solidFill>
            <a:prstDash val="solid"/>
          </a:ln>
        </p:spPr>
      </p:sp>
      <p:sp>
        <p:nvSpPr>
          <p:cNvPr id="19" name="Text 16"/>
          <p:cNvSpPr txBox="1"/>
          <p:nvPr/>
        </p:nvSpPr>
        <p:spPr>
          <a:xfrm>
            <a:off x="932688" y="3419856"/>
            <a:ext cx="475488" cy="457200"/>
          </a:xfrm>
          <a:prstGeom prst="rect">
            <a:avLst/>
          </a:prstGeom>
          <a:noFill/>
          <a:ln/>
        </p:spPr>
        <p:txBody>
          <a:bodyPr wrap="square" lIns="0" tIns="0" rIns="0" bIns="0" rtlCol="0" anchor="t"/>
          <a:lstStyle/>
          <a:p>
            <a:pPr algn="l"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0" name="Text 17"/>
          <p:cNvSpPr txBox="1"/>
          <p:nvPr/>
        </p:nvSpPr>
        <p:spPr>
          <a:xfrm>
            <a:off x="1572768" y="3410712"/>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¿Qué diferencia hay entre escribir «obtenido is esperado» y «assert obtenido is esperado», y qué agrega pytest cuando la segunda falla?</a:t>
            </a:r>
            <a:endParaRPr lang="en-US" sz="1400" dirty="0"/>
          </a:p>
        </p:txBody>
      </p:sp>
      <p:sp>
        <p:nvSpPr>
          <p:cNvPr id="21" name="Shape 18"/>
          <p:cNvSpPr/>
          <p:nvPr/>
        </p:nvSpPr>
        <p:spPr>
          <a:xfrm>
            <a:off x="1572768" y="4041648"/>
            <a:ext cx="9631375" cy="0"/>
          </a:xfrm>
          <a:prstGeom prst="line">
            <a:avLst/>
          </a:prstGeom>
          <a:noFill/>
          <a:ln w="12700">
            <a:solidFill>
              <a:srgbClr val="D8CFC4"/>
            </a:solidFill>
            <a:prstDash val="solid"/>
            <a:headEnd type="none"/>
            <a:tailEnd type="none"/>
          </a:ln>
        </p:spPr>
      </p:sp>
      <p:sp>
        <p:nvSpPr>
          <p:cNvPr id="22" name="Text 19"/>
          <p:cNvSpPr txBox="1"/>
          <p:nvPr/>
        </p:nvSpPr>
        <p:spPr>
          <a:xfrm>
            <a:off x="1572768" y="4133088"/>
            <a:ext cx="640080" cy="182880"/>
          </a:xfrm>
          <a:prstGeom prst="rect">
            <a:avLst/>
          </a:prstGeom>
          <a:noFill/>
          <a:ln/>
        </p:spPr>
        <p:txBody>
          <a:bodyPr wrap="square" lIns="0" tIns="0" rIns="0" bIns="0" rtlCol="0" anchor="t"/>
          <a:lstStyle/>
          <a:p>
            <a:pPr algn="l" indent="0" marL="0">
              <a:buNone/>
            </a:pPr>
            <a:r>
              <a:rPr lang="en-US" sz="860" b="1" spc="110" kern="0" dirty="0">
                <a:solidFill>
                  <a:srgbClr val="102A43"/>
                </a:solidFill>
                <a:latin typeface="Aptos" pitchFamily="34" charset="0"/>
                <a:ea typeface="Aptos" pitchFamily="34" charset="-122"/>
                <a:cs typeface="Aptos" pitchFamily="34" charset="-120"/>
              </a:rPr>
              <a:t>PISTA</a:t>
            </a:r>
            <a:endParaRPr lang="en-US" sz="860" dirty="0"/>
          </a:p>
        </p:txBody>
      </p:sp>
      <p:sp>
        <p:nvSpPr>
          <p:cNvPr id="23" name="Text 20"/>
          <p:cNvSpPr txBox="1"/>
          <p:nvPr/>
        </p:nvSpPr>
        <p:spPr>
          <a:xfrm>
            <a:off x="2286000" y="4114800"/>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Separa tres cosas: calcular una expresión, exigir que sea verdadera y mostrar el diagnóstico.</a:t>
            </a:r>
            <a:endParaRPr lang="en-US" sz="1200" dirty="0"/>
          </a:p>
        </p:txBody>
      </p:sp>
      <p:sp>
        <p:nvSpPr>
          <p:cNvPr id="24" name="Shape 21"/>
          <p:cNvSpPr/>
          <p:nvPr/>
        </p:nvSpPr>
        <p:spPr>
          <a:xfrm>
            <a:off x="658368" y="4590288"/>
            <a:ext cx="10874959" cy="1188720"/>
          </a:xfrm>
          <a:prstGeom prst="rect">
            <a:avLst/>
          </a:prstGeom>
          <a:solidFill>
            <a:srgbClr val="F2E7D9"/>
          </a:solidFill>
          <a:ln w="12700">
            <a:solidFill>
              <a:srgbClr val="F2E7D9"/>
            </a:solidFill>
            <a:prstDash val="solid"/>
          </a:ln>
        </p:spPr>
      </p:sp>
      <p:sp>
        <p:nvSpPr>
          <p:cNvPr id="25" name="Shape 22"/>
          <p:cNvSpPr/>
          <p:nvPr/>
        </p:nvSpPr>
        <p:spPr>
          <a:xfrm>
            <a:off x="658368" y="4590288"/>
            <a:ext cx="54864" cy="1188720"/>
          </a:xfrm>
          <a:prstGeom prst="rect">
            <a:avLst/>
          </a:prstGeom>
          <a:solidFill>
            <a:srgbClr val="8A6A12"/>
          </a:solidFill>
          <a:ln w="12700">
            <a:solidFill>
              <a:srgbClr val="8A6A12"/>
            </a:solidFill>
            <a:prstDash val="solid"/>
          </a:ln>
        </p:spPr>
      </p:sp>
      <p:sp>
        <p:nvSpPr>
          <p:cNvPr id="26" name="Text 23"/>
          <p:cNvSpPr txBox="1"/>
          <p:nvPr/>
        </p:nvSpPr>
        <p:spPr>
          <a:xfrm>
            <a:off x="932688" y="4736592"/>
            <a:ext cx="475488" cy="457200"/>
          </a:xfrm>
          <a:prstGeom prst="rect">
            <a:avLst/>
          </a:prstGeom>
          <a:noFill/>
          <a:ln/>
        </p:spPr>
        <p:txBody>
          <a:bodyPr wrap="square" lIns="0" tIns="0" rIns="0" bIns="0" rtlCol="0" anchor="t"/>
          <a:lstStyle/>
          <a:p>
            <a:pPr algn="l"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7" name="Text 24"/>
          <p:cNvSpPr txBox="1"/>
          <p:nvPr/>
        </p:nvSpPr>
        <p:spPr>
          <a:xfrm>
            <a:off x="1572768" y="4727448"/>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Una parametrización tiene tres filas y otra treinta, todas dentro de las mismas tres clases. ¿Qué aumentó, y qué sigue sin demostrarse aunque las treinta pasen?</a:t>
            </a:r>
            <a:endParaRPr lang="en-US" sz="1400" dirty="0"/>
          </a:p>
        </p:txBody>
      </p:sp>
      <p:sp>
        <p:nvSpPr>
          <p:cNvPr id="28" name="Shape 25"/>
          <p:cNvSpPr/>
          <p:nvPr/>
        </p:nvSpPr>
        <p:spPr>
          <a:xfrm>
            <a:off x="1572768" y="5358384"/>
            <a:ext cx="9631375" cy="0"/>
          </a:xfrm>
          <a:prstGeom prst="line">
            <a:avLst/>
          </a:prstGeom>
          <a:noFill/>
          <a:ln w="12700">
            <a:solidFill>
              <a:srgbClr val="D8CFC4"/>
            </a:solidFill>
            <a:prstDash val="solid"/>
            <a:headEnd type="none"/>
            <a:tailEnd type="none"/>
          </a:ln>
        </p:spPr>
      </p:sp>
      <p:sp>
        <p:nvSpPr>
          <p:cNvPr id="29" name="Text 26"/>
          <p:cNvSpPr txBox="1"/>
          <p:nvPr/>
        </p:nvSpPr>
        <p:spPr>
          <a:xfrm>
            <a:off x="1572768" y="5449824"/>
            <a:ext cx="640080" cy="182880"/>
          </a:xfrm>
          <a:prstGeom prst="rect">
            <a:avLst/>
          </a:prstGeom>
          <a:noFill/>
          <a:ln/>
        </p:spPr>
        <p:txBody>
          <a:bodyPr wrap="square" lIns="0" tIns="0" rIns="0" bIns="0" rtlCol="0" anchor="t"/>
          <a:lstStyle/>
          <a:p>
            <a:pPr algn="l" indent="0" marL="0">
              <a:buNone/>
            </a:pPr>
            <a:r>
              <a:rPr lang="en-US" sz="860" b="1" spc="110" kern="0" dirty="0">
                <a:solidFill>
                  <a:srgbClr val="8A6A12"/>
                </a:solidFill>
                <a:latin typeface="Aptos" pitchFamily="34" charset="0"/>
                <a:ea typeface="Aptos" pitchFamily="34" charset="-122"/>
                <a:cs typeface="Aptos" pitchFamily="34" charset="-120"/>
              </a:rPr>
              <a:t>PISTA</a:t>
            </a:r>
            <a:endParaRPr lang="en-US" sz="860" dirty="0"/>
          </a:p>
        </p:txBody>
      </p:sp>
      <p:sp>
        <p:nvSpPr>
          <p:cNvPr id="30" name="Text 27"/>
          <p:cNvSpPr txBox="1"/>
          <p:nvPr/>
        </p:nvSpPr>
        <p:spPr>
          <a:xfrm>
            <a:off x="2286000" y="5431536"/>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Distingue cantidad de casos, clases representadas y miembros que nunca se ejecutaron.</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43</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CONTRASTE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Lo que tenía que aparecer en tu respuesta</a:t>
            </a:r>
            <a:endParaRPr lang="en-US" sz="3000" dirty="0"/>
          </a:p>
        </p:txBody>
      </p:sp>
      <p:sp>
        <p:nvSpPr>
          <p:cNvPr id="10" name="Shape 7"/>
          <p:cNvSpPr/>
          <p:nvPr/>
        </p:nvSpPr>
        <p:spPr>
          <a:xfrm>
            <a:off x="658368" y="1828800"/>
            <a:ext cx="10874959" cy="1371600"/>
          </a:xfrm>
          <a:prstGeom prst="rect">
            <a:avLst/>
          </a:prstGeom>
          <a:solidFill>
            <a:srgbClr val="FFFFFF"/>
          </a:solidFill>
          <a:ln w="12700">
            <a:solidFill>
              <a:srgbClr val="FFFFFF"/>
            </a:solidFill>
            <a:prstDash val="solid"/>
          </a:ln>
        </p:spPr>
      </p:sp>
      <p:sp>
        <p:nvSpPr>
          <p:cNvPr id="11" name="Shape 8"/>
          <p:cNvSpPr/>
          <p:nvPr/>
        </p:nvSpPr>
        <p:spPr>
          <a:xfrm>
            <a:off x="658368" y="1828800"/>
            <a:ext cx="54864" cy="1371600"/>
          </a:xfrm>
          <a:prstGeom prst="rect">
            <a:avLst/>
          </a:prstGeom>
          <a:solidFill>
            <a:srgbClr val="B3181E"/>
          </a:solidFill>
          <a:ln w="12700">
            <a:solidFill>
              <a:srgbClr val="B3181E"/>
            </a:solidFill>
            <a:prstDash val="solid"/>
          </a:ln>
        </p:spPr>
      </p:sp>
      <p:sp>
        <p:nvSpPr>
          <p:cNvPr id="12" name="Text 9"/>
          <p:cNvSpPr txBox="1"/>
          <p:nvPr/>
        </p:nvSpPr>
        <p:spPr>
          <a:xfrm>
            <a:off x="932688" y="1975104"/>
            <a:ext cx="475488" cy="457200"/>
          </a:xfrm>
          <a:prstGeom prst="rect">
            <a:avLst/>
          </a:prstGeom>
          <a:noFill/>
          <a:ln/>
        </p:spPr>
        <p:txBody>
          <a:bodyPr wrap="square" lIns="0" tIns="0" rIns="0" bIns="0" rtlCol="0" anchor="t"/>
          <a:lstStyle/>
          <a:p>
            <a:pPr algn="l"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3" name="Text 10"/>
          <p:cNvSpPr txBox="1"/>
          <p:nvPr/>
        </p:nvSpPr>
        <p:spPr>
          <a:xfrm>
            <a:off x="1572768" y="1956816"/>
            <a:ext cx="9631375" cy="182880"/>
          </a:xfrm>
          <a:prstGeom prst="rect">
            <a:avLst/>
          </a:prstGeom>
          <a:noFill/>
          <a:ln/>
        </p:spPr>
        <p:txBody>
          <a:bodyPr wrap="square" lIns="0" tIns="0" rIns="0" bIns="0" rtlCol="0" anchor="t"/>
          <a:lstStyle/>
          <a:p>
            <a:pPr algn="l" indent="0" marL="0">
              <a:buNone/>
            </a:pPr>
            <a:r>
              <a:rPr lang="en-US" sz="900" b="1" spc="120" kern="0" dirty="0">
                <a:solidFill>
                  <a:srgbClr val="B3181E"/>
                </a:solidFill>
                <a:latin typeface="Aptos" pitchFamily="34" charset="0"/>
                <a:ea typeface="Aptos" pitchFamily="34" charset="-122"/>
                <a:cs typeface="Aptos" pitchFamily="34" charset="-120"/>
              </a:rPr>
              <a:t>QUÉ SE REVISA CUANDO LA CLASE Y EL CÓDIGO NO COINCIDEN</a:t>
            </a:r>
            <a:endParaRPr lang="en-US" sz="900" dirty="0"/>
          </a:p>
        </p:txBody>
      </p:sp>
      <p:sp>
        <p:nvSpPr>
          <p:cNvPr id="14" name="Text 11"/>
          <p:cNvSpPr txBox="1"/>
          <p:nvPr/>
        </p:nvSpPr>
        <p:spPr>
          <a:xfrm>
            <a:off x="1572768" y="2194560"/>
            <a:ext cx="9631375" cy="475488"/>
          </a:xfrm>
          <a:prstGeom prst="rect">
            <a:avLst/>
          </a:prstGeom>
          <a:noFill/>
          <a:ln/>
        </p:spPr>
        <p:txBody>
          <a:bodyPr wrap="square" lIns="0" tIns="0" rIns="0" bIns="0" rtlCol="0" anchor="t"/>
          <a:lstStyle/>
          <a:p>
            <a:pPr algn="l" indent="0" marL="0">
              <a:lnSpc>
                <a:spcPct val="114000"/>
              </a:lnSpc>
              <a:buNone/>
            </a:pPr>
            <a:r>
              <a:rPr lang="en-US" sz="1450" b="1" dirty="0">
                <a:solidFill>
                  <a:srgbClr val="243B53"/>
                </a:solidFill>
                <a:latin typeface="Aptos" pitchFamily="34" charset="0"/>
                <a:ea typeface="Aptos" pitchFamily="34" charset="-122"/>
                <a:cs typeface="Aptos" pitchFamily="34" charset="-120"/>
              </a:rPr>
              <a:t>La implementación. La clase se derivó del requisito, y observar un rechazo no cambia lo que el requisito dice.</a:t>
            </a:r>
            <a:endParaRPr lang="en-US" sz="1450" dirty="0"/>
          </a:p>
        </p:txBody>
      </p:sp>
      <p:sp>
        <p:nvSpPr>
          <p:cNvPr id="15" name="Shape 12"/>
          <p:cNvSpPr/>
          <p:nvPr/>
        </p:nvSpPr>
        <p:spPr>
          <a:xfrm>
            <a:off x="1572768" y="2743200"/>
            <a:ext cx="9631375" cy="0"/>
          </a:xfrm>
          <a:prstGeom prst="line">
            <a:avLst/>
          </a:prstGeom>
          <a:noFill/>
          <a:ln w="12700">
            <a:solidFill>
              <a:srgbClr val="D8CFC4"/>
            </a:solidFill>
            <a:prstDash val="solid"/>
            <a:headEnd type="none"/>
            <a:tailEnd type="none"/>
          </a:ln>
        </p:spPr>
      </p:sp>
      <p:sp>
        <p:nvSpPr>
          <p:cNvPr id="16" name="Text 13"/>
          <p:cNvSpPr txBox="1"/>
          <p:nvPr/>
        </p:nvSpPr>
        <p:spPr>
          <a:xfrm>
            <a:off x="1572768" y="2834640"/>
            <a:ext cx="1645920" cy="182880"/>
          </a:xfrm>
          <a:prstGeom prst="rect">
            <a:avLst/>
          </a:prstGeom>
          <a:noFill/>
          <a:ln/>
        </p:spPr>
        <p:txBody>
          <a:bodyPr wrap="square" lIns="0" tIns="0" rIns="0" bIns="0" rtlCol="0" anchor="t"/>
          <a:lstStyle/>
          <a:p>
            <a:pPr algn="l" indent="0" marL="0">
              <a:buNone/>
            </a:pPr>
            <a:r>
              <a:rPr lang="en-US" sz="860" b="1" spc="110" kern="0" dirty="0">
                <a:solidFill>
                  <a:srgbClr val="B3181E"/>
                </a:solidFill>
                <a:latin typeface="Aptos" pitchFamily="34" charset="0"/>
                <a:ea typeface="Aptos" pitchFamily="34" charset="-122"/>
                <a:cs typeface="Aptos" pitchFamily="34" charset="-120"/>
              </a:rPr>
              <a:t>LO QUE REVELA</a:t>
            </a:r>
            <a:endParaRPr lang="en-US" sz="860" dirty="0"/>
          </a:p>
        </p:txBody>
      </p:sp>
      <p:sp>
        <p:nvSpPr>
          <p:cNvPr id="17" name="Text 14"/>
          <p:cNvSpPr txBox="1"/>
          <p:nvPr/>
        </p:nvSpPr>
        <p:spPr>
          <a:xfrm>
            <a:off x="3346704" y="2816352"/>
            <a:ext cx="7144207" cy="256032"/>
          </a:xfrm>
          <a:prstGeom prst="rect">
            <a:avLst/>
          </a:prstGeom>
          <a:noFill/>
          <a:ln/>
        </p:spPr>
        <p:txBody>
          <a:bodyPr wrap="square" lIns="0" tIns="0" rIns="0" bIns="0" rtlCol="0" anchor="t"/>
          <a:lstStyle/>
          <a:p>
            <a:pPr algn="l" indent="0" marL="0">
              <a:buNone/>
            </a:pPr>
            <a:r>
              <a:rPr lang="en-US" sz="1200" i="1" dirty="0">
                <a:solidFill>
                  <a:srgbClr val="243B53"/>
                </a:solidFill>
                <a:latin typeface="Aptos" pitchFamily="34" charset="0"/>
                <a:ea typeface="Aptos" pitchFamily="34" charset="-122"/>
                <a:cs typeface="Aptos" pitchFamily="34" charset="-120"/>
              </a:rPr>
              <a:t>Reclasificar el 8 como inválido haría que el defecto pasara a definir el requisito.</a:t>
            </a:r>
            <a:endParaRPr lang="en-US" sz="1200" dirty="0"/>
          </a:p>
        </p:txBody>
      </p:sp>
      <p:sp>
        <p:nvSpPr>
          <p:cNvPr id="18" name="Shape 15"/>
          <p:cNvSpPr/>
          <p:nvPr/>
        </p:nvSpPr>
        <p:spPr>
          <a:xfrm>
            <a:off x="658368" y="3310128"/>
            <a:ext cx="10874959" cy="1371600"/>
          </a:xfrm>
          <a:prstGeom prst="rect">
            <a:avLst/>
          </a:prstGeom>
          <a:solidFill>
            <a:srgbClr val="FFFFFF"/>
          </a:solidFill>
          <a:ln w="12700">
            <a:solidFill>
              <a:srgbClr val="FFFFFF"/>
            </a:solidFill>
            <a:prstDash val="solid"/>
          </a:ln>
        </p:spPr>
      </p:sp>
      <p:sp>
        <p:nvSpPr>
          <p:cNvPr id="19" name="Shape 16"/>
          <p:cNvSpPr/>
          <p:nvPr/>
        </p:nvSpPr>
        <p:spPr>
          <a:xfrm>
            <a:off x="658368" y="3310128"/>
            <a:ext cx="54864" cy="1371600"/>
          </a:xfrm>
          <a:prstGeom prst="rect">
            <a:avLst/>
          </a:prstGeom>
          <a:solidFill>
            <a:srgbClr val="102A43"/>
          </a:solidFill>
          <a:ln w="12700">
            <a:solidFill>
              <a:srgbClr val="102A43"/>
            </a:solidFill>
            <a:prstDash val="solid"/>
          </a:ln>
        </p:spPr>
      </p:sp>
      <p:sp>
        <p:nvSpPr>
          <p:cNvPr id="20" name="Text 17"/>
          <p:cNvSpPr txBox="1"/>
          <p:nvPr/>
        </p:nvSpPr>
        <p:spPr>
          <a:xfrm>
            <a:off x="932688" y="3456432"/>
            <a:ext cx="475488" cy="457200"/>
          </a:xfrm>
          <a:prstGeom prst="rect">
            <a:avLst/>
          </a:prstGeom>
          <a:noFill/>
          <a:ln/>
        </p:spPr>
        <p:txBody>
          <a:bodyPr wrap="square" lIns="0" tIns="0" rIns="0" bIns="0" rtlCol="0" anchor="t"/>
          <a:lstStyle/>
          <a:p>
            <a:pPr algn="l"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1" name="Text 18"/>
          <p:cNvSpPr txBox="1"/>
          <p:nvPr/>
        </p:nvSpPr>
        <p:spPr>
          <a:xfrm>
            <a:off x="1572768" y="3438144"/>
            <a:ext cx="9631375" cy="182880"/>
          </a:xfrm>
          <a:prstGeom prst="rect">
            <a:avLst/>
          </a:prstGeom>
          <a:noFill/>
          <a:ln/>
        </p:spPr>
        <p:txBody>
          <a:bodyPr wrap="square" lIns="0" tIns="0" rIns="0" bIns="0" rtlCol="0" anchor="t"/>
          <a:lstStyle/>
          <a:p>
            <a:pPr algn="l" indent="0" marL="0">
              <a:buNone/>
            </a:pPr>
            <a:r>
              <a:rPr lang="en-US" sz="900" b="1" spc="120" kern="0" dirty="0">
                <a:solidFill>
                  <a:srgbClr val="102A43"/>
                </a:solidFill>
                <a:latin typeface="Aptos" pitchFamily="34" charset="0"/>
                <a:ea typeface="Aptos" pitchFamily="34" charset="-122"/>
                <a:cs typeface="Aptos" pitchFamily="34" charset="-120"/>
              </a:rPr>
              <a:t>LA PALABRA QUE SEPARA UNA COMPARACIÓN DE UNA PRUEBA</a:t>
            </a:r>
            <a:endParaRPr lang="en-US" sz="900" dirty="0"/>
          </a:p>
        </p:txBody>
      </p:sp>
      <p:sp>
        <p:nvSpPr>
          <p:cNvPr id="22" name="Text 19"/>
          <p:cNvSpPr txBox="1"/>
          <p:nvPr/>
        </p:nvSpPr>
        <p:spPr>
          <a:xfrm>
            <a:off x="1572768" y="3675888"/>
            <a:ext cx="9631375" cy="475488"/>
          </a:xfrm>
          <a:prstGeom prst="rect">
            <a:avLst/>
          </a:prstGeom>
          <a:noFill/>
          <a:ln/>
        </p:spPr>
        <p:txBody>
          <a:bodyPr wrap="square" lIns="0" tIns="0" rIns="0" bIns="0" rtlCol="0" anchor="t"/>
          <a:lstStyle/>
          <a:p>
            <a:pPr algn="l" indent="0" marL="0">
              <a:lnSpc>
                <a:spcPct val="114000"/>
              </a:lnSpc>
              <a:buNone/>
            </a:pPr>
            <a:r>
              <a:rPr lang="en-US" sz="1450" b="1" dirty="0">
                <a:solidFill>
                  <a:srgbClr val="243B53"/>
                </a:solidFill>
                <a:latin typeface="Aptos" pitchFamily="34" charset="0"/>
                <a:ea typeface="Aptos" pitchFamily="34" charset="-122"/>
                <a:cs typeface="Aptos" pitchFamily="34" charset="-120"/>
              </a:rPr>
              <a:t>Sin «assert», Python calcula el resultado y lo descarta: la prueba termina normalmente y aparece en verde.</a:t>
            </a:r>
            <a:endParaRPr lang="en-US" sz="1450" dirty="0"/>
          </a:p>
        </p:txBody>
      </p:sp>
      <p:sp>
        <p:nvSpPr>
          <p:cNvPr id="23" name="Shape 20"/>
          <p:cNvSpPr/>
          <p:nvPr/>
        </p:nvSpPr>
        <p:spPr>
          <a:xfrm>
            <a:off x="1572768" y="4224528"/>
            <a:ext cx="9631375" cy="0"/>
          </a:xfrm>
          <a:prstGeom prst="line">
            <a:avLst/>
          </a:prstGeom>
          <a:noFill/>
          <a:ln w="12700">
            <a:solidFill>
              <a:srgbClr val="D8CFC4"/>
            </a:solidFill>
            <a:prstDash val="solid"/>
            <a:headEnd type="none"/>
            <a:tailEnd type="none"/>
          </a:ln>
        </p:spPr>
      </p:sp>
      <p:sp>
        <p:nvSpPr>
          <p:cNvPr id="24" name="Text 21"/>
          <p:cNvSpPr txBox="1"/>
          <p:nvPr/>
        </p:nvSpPr>
        <p:spPr>
          <a:xfrm>
            <a:off x="1572768" y="4315968"/>
            <a:ext cx="1645920" cy="182880"/>
          </a:xfrm>
          <a:prstGeom prst="rect">
            <a:avLst/>
          </a:prstGeom>
          <a:noFill/>
          <a:ln/>
        </p:spPr>
        <p:txBody>
          <a:bodyPr wrap="square" lIns="0" tIns="0" rIns="0" bIns="0" rtlCol="0" anchor="t"/>
          <a:lstStyle/>
          <a:p>
            <a:pPr algn="l" indent="0" marL="0">
              <a:buNone/>
            </a:pPr>
            <a:r>
              <a:rPr lang="en-US" sz="860" b="1" spc="110" kern="0" dirty="0">
                <a:solidFill>
                  <a:srgbClr val="102A43"/>
                </a:solidFill>
                <a:latin typeface="Aptos" pitchFamily="34" charset="0"/>
                <a:ea typeface="Aptos" pitchFamily="34" charset="-122"/>
                <a:cs typeface="Aptos" pitchFamily="34" charset="-120"/>
              </a:rPr>
              <a:t>LO QUE REVELA</a:t>
            </a:r>
            <a:endParaRPr lang="en-US" sz="860" dirty="0"/>
          </a:p>
        </p:txBody>
      </p:sp>
      <p:sp>
        <p:nvSpPr>
          <p:cNvPr id="25" name="Text 22"/>
          <p:cNvSpPr txBox="1"/>
          <p:nvPr/>
        </p:nvSpPr>
        <p:spPr>
          <a:xfrm>
            <a:off x="3346704" y="4297680"/>
            <a:ext cx="7144207" cy="256032"/>
          </a:xfrm>
          <a:prstGeom prst="rect">
            <a:avLst/>
          </a:prstGeom>
          <a:noFill/>
          <a:ln/>
        </p:spPr>
        <p:txBody>
          <a:bodyPr wrap="square" lIns="0" tIns="0" rIns="0" bIns="0" rtlCol="0" anchor="t"/>
          <a:lstStyle/>
          <a:p>
            <a:pPr algn="l" indent="0" marL="0">
              <a:buNone/>
            </a:pPr>
            <a:r>
              <a:rPr lang="en-US" sz="1200" i="1" dirty="0">
                <a:solidFill>
                  <a:srgbClr val="243B53"/>
                </a:solidFill>
                <a:latin typeface="Aptos" pitchFamily="34" charset="0"/>
                <a:ea typeface="Aptos" pitchFamily="34" charset="-122"/>
                <a:cs typeface="Aptos" pitchFamily="34" charset="-120"/>
              </a:rPr>
              <a:t>Una prueba sin aserción no está incompleta: es una prueba que no puede fallar nunca.</a:t>
            </a:r>
            <a:endParaRPr lang="en-US" sz="1200" dirty="0"/>
          </a:p>
        </p:txBody>
      </p:sp>
      <p:sp>
        <p:nvSpPr>
          <p:cNvPr id="26" name="Shape 23"/>
          <p:cNvSpPr/>
          <p:nvPr/>
        </p:nvSpPr>
        <p:spPr>
          <a:xfrm>
            <a:off x="658368" y="4791456"/>
            <a:ext cx="10874959" cy="1371600"/>
          </a:xfrm>
          <a:prstGeom prst="rect">
            <a:avLst/>
          </a:prstGeom>
          <a:solidFill>
            <a:srgbClr val="FFFFFF"/>
          </a:solidFill>
          <a:ln w="12700">
            <a:solidFill>
              <a:srgbClr val="FFFFFF"/>
            </a:solidFill>
            <a:prstDash val="solid"/>
          </a:ln>
        </p:spPr>
      </p:sp>
      <p:sp>
        <p:nvSpPr>
          <p:cNvPr id="27" name="Shape 24"/>
          <p:cNvSpPr/>
          <p:nvPr/>
        </p:nvSpPr>
        <p:spPr>
          <a:xfrm>
            <a:off x="658368" y="4791456"/>
            <a:ext cx="54864" cy="1371600"/>
          </a:xfrm>
          <a:prstGeom prst="rect">
            <a:avLst/>
          </a:prstGeom>
          <a:solidFill>
            <a:srgbClr val="8A6A12"/>
          </a:solidFill>
          <a:ln w="12700">
            <a:solidFill>
              <a:srgbClr val="8A6A12"/>
            </a:solidFill>
            <a:prstDash val="solid"/>
          </a:ln>
        </p:spPr>
      </p:sp>
      <p:sp>
        <p:nvSpPr>
          <p:cNvPr id="28" name="Text 25"/>
          <p:cNvSpPr txBox="1"/>
          <p:nvPr/>
        </p:nvSpPr>
        <p:spPr>
          <a:xfrm>
            <a:off x="932688" y="4937760"/>
            <a:ext cx="475488" cy="457200"/>
          </a:xfrm>
          <a:prstGeom prst="rect">
            <a:avLst/>
          </a:prstGeom>
          <a:noFill/>
          <a:ln/>
        </p:spPr>
        <p:txBody>
          <a:bodyPr wrap="square" lIns="0" tIns="0" rIns="0" bIns="0" rtlCol="0" anchor="t"/>
          <a:lstStyle/>
          <a:p>
            <a:pPr algn="l"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9" name="Text 26"/>
          <p:cNvSpPr txBox="1"/>
          <p:nvPr/>
        </p:nvSpPr>
        <p:spPr>
          <a:xfrm>
            <a:off x="1572768" y="4919472"/>
            <a:ext cx="9631375" cy="182880"/>
          </a:xfrm>
          <a:prstGeom prst="rect">
            <a:avLst/>
          </a:prstGeom>
          <a:noFill/>
          <a:ln/>
        </p:spPr>
        <p:txBody>
          <a:bodyPr wrap="square" lIns="0" tIns="0" rIns="0" bIns="0" rtlCol="0" anchor="t"/>
          <a:lstStyle/>
          <a:p>
            <a:pPr algn="l" indent="0" marL="0">
              <a:buNone/>
            </a:pPr>
            <a:r>
              <a:rPr lang="en-US" sz="900" b="1" spc="120" kern="0" dirty="0">
                <a:solidFill>
                  <a:srgbClr val="8A6A12"/>
                </a:solidFill>
                <a:latin typeface="Aptos" pitchFamily="34" charset="0"/>
                <a:ea typeface="Aptos" pitchFamily="34" charset="-122"/>
                <a:cs typeface="Aptos" pitchFamily="34" charset="-120"/>
              </a:rPr>
              <a:t>QUÉ CRECE CON TREINTA FILAS Y QUÉ NO</a:t>
            </a:r>
            <a:endParaRPr lang="en-US" sz="900" dirty="0"/>
          </a:p>
        </p:txBody>
      </p:sp>
      <p:sp>
        <p:nvSpPr>
          <p:cNvPr id="30" name="Text 27"/>
          <p:cNvSpPr txBox="1"/>
          <p:nvPr/>
        </p:nvSpPr>
        <p:spPr>
          <a:xfrm>
            <a:off x="1572768" y="5157216"/>
            <a:ext cx="9631375" cy="475488"/>
          </a:xfrm>
          <a:prstGeom prst="rect">
            <a:avLst/>
          </a:prstGeom>
          <a:noFill/>
          <a:ln/>
        </p:spPr>
        <p:txBody>
          <a:bodyPr wrap="square" lIns="0" tIns="0" rIns="0" bIns="0" rtlCol="0" anchor="t"/>
          <a:lstStyle/>
          <a:p>
            <a:pPr algn="l" indent="0" marL="0">
              <a:lnSpc>
                <a:spcPct val="114000"/>
              </a:lnSpc>
              <a:buNone/>
            </a:pPr>
            <a:r>
              <a:rPr lang="en-US" sz="1450" b="1" dirty="0">
                <a:solidFill>
                  <a:srgbClr val="243B53"/>
                </a:solidFill>
                <a:latin typeface="Aptos" pitchFamily="34" charset="0"/>
                <a:ea typeface="Aptos" pitchFamily="34" charset="-122"/>
                <a:cs typeface="Aptos" pitchFamily="34" charset="-120"/>
              </a:rPr>
              <a:t>Aumenta la cantidad de casos ejecutados. Sigue sin demostrarse que los miembros no ejecutados se comporten igual.</a:t>
            </a:r>
            <a:endParaRPr lang="en-US" sz="1450" dirty="0"/>
          </a:p>
        </p:txBody>
      </p:sp>
      <p:sp>
        <p:nvSpPr>
          <p:cNvPr id="31" name="Shape 28"/>
          <p:cNvSpPr/>
          <p:nvPr/>
        </p:nvSpPr>
        <p:spPr>
          <a:xfrm>
            <a:off x="1572768" y="5705856"/>
            <a:ext cx="9631375" cy="0"/>
          </a:xfrm>
          <a:prstGeom prst="line">
            <a:avLst/>
          </a:prstGeom>
          <a:noFill/>
          <a:ln w="12700">
            <a:solidFill>
              <a:srgbClr val="D8CFC4"/>
            </a:solidFill>
            <a:prstDash val="solid"/>
            <a:headEnd type="none"/>
            <a:tailEnd type="none"/>
          </a:ln>
        </p:spPr>
      </p:sp>
      <p:sp>
        <p:nvSpPr>
          <p:cNvPr id="32" name="Text 29"/>
          <p:cNvSpPr txBox="1"/>
          <p:nvPr/>
        </p:nvSpPr>
        <p:spPr>
          <a:xfrm>
            <a:off x="1572768" y="5797296"/>
            <a:ext cx="1645920" cy="182880"/>
          </a:xfrm>
          <a:prstGeom prst="rect">
            <a:avLst/>
          </a:prstGeom>
          <a:noFill/>
          <a:ln/>
        </p:spPr>
        <p:txBody>
          <a:bodyPr wrap="square" lIns="0" tIns="0" rIns="0" bIns="0" rtlCol="0" anchor="t"/>
          <a:lstStyle/>
          <a:p>
            <a:pPr algn="l" indent="0" marL="0">
              <a:buNone/>
            </a:pPr>
            <a:r>
              <a:rPr lang="en-US" sz="860" b="1" spc="110" kern="0" dirty="0">
                <a:solidFill>
                  <a:srgbClr val="8A6A12"/>
                </a:solidFill>
                <a:latin typeface="Aptos" pitchFamily="34" charset="0"/>
                <a:ea typeface="Aptos" pitchFamily="34" charset="-122"/>
                <a:cs typeface="Aptos" pitchFamily="34" charset="-120"/>
              </a:rPr>
              <a:t>LO QUE REVELA</a:t>
            </a:r>
            <a:endParaRPr lang="en-US" sz="860" dirty="0"/>
          </a:p>
        </p:txBody>
      </p:sp>
      <p:sp>
        <p:nvSpPr>
          <p:cNvPr id="33" name="Text 30"/>
          <p:cNvSpPr txBox="1"/>
          <p:nvPr/>
        </p:nvSpPr>
        <p:spPr>
          <a:xfrm>
            <a:off x="3346704" y="5779008"/>
            <a:ext cx="7144207" cy="256032"/>
          </a:xfrm>
          <a:prstGeom prst="rect">
            <a:avLst/>
          </a:prstGeom>
          <a:noFill/>
          <a:ln/>
        </p:spPr>
        <p:txBody>
          <a:bodyPr wrap="square" lIns="0" tIns="0" rIns="0" bIns="0" rtlCol="0" anchor="t"/>
          <a:lstStyle/>
          <a:p>
            <a:pPr algn="l" indent="0" marL="0">
              <a:buNone/>
            </a:pPr>
            <a:r>
              <a:rPr lang="en-US" sz="1200" i="1" dirty="0">
                <a:solidFill>
                  <a:srgbClr val="243B53"/>
                </a:solidFill>
                <a:latin typeface="Aptos" pitchFamily="34" charset="0"/>
                <a:ea typeface="Aptos" pitchFamily="34" charset="-122"/>
                <a:cs typeface="Aptos" pitchFamily="34" charset="-120"/>
              </a:rPr>
              <a:t>La suite heredada ya lo probaba con cuatro casos: treinta dentro de una clase tampoco habrían hallado el 8.</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3\03\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44</a:t>
            </a:r>
            <a:endParaRPr lang="en-US" sz="1400" dirty="0"/>
          </a:p>
        </p:txBody>
      </p:sp>
      <p:sp>
        <p:nvSpPr>
          <p:cNvPr id="8" name="Text 5"/>
          <p:cNvSpPr txBox="1"/>
          <p:nvPr/>
        </p:nvSpPr>
        <p:spPr>
          <a:xfrm>
            <a:off x="658368" y="1572768"/>
            <a:ext cx="27432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BLOQUE 3 DE 4</a:t>
            </a:r>
            <a:endParaRPr lang="en-US" sz="960" dirty="0"/>
          </a:p>
        </p:txBody>
      </p:sp>
      <p:sp>
        <p:nvSpPr>
          <p:cNvPr id="9" name="Text 6"/>
          <p:cNvSpPr txBox="1"/>
          <p:nvPr/>
        </p:nvSpPr>
        <p:spPr>
          <a:xfrm>
            <a:off x="658368" y="1920240"/>
            <a:ext cx="9692640" cy="914400"/>
          </a:xfrm>
          <a:prstGeom prst="rect">
            <a:avLst/>
          </a:prstGeom>
          <a:noFill/>
          <a:ln/>
        </p:spPr>
        <p:txBody>
          <a:bodyPr wrap="square" lIns="0" tIns="0" rIns="0" bIns="0" rtlCol="0" anchor="t"/>
          <a:lstStyle/>
          <a:p>
            <a:pPr algn="l" indent="0" marL="0">
              <a:lnSpc>
                <a:spcPct val="104000"/>
              </a:lnSpc>
              <a:buNone/>
            </a:pPr>
            <a:r>
              <a:rPr lang="en-US" sz="4000" b="1" dirty="0">
                <a:solidFill>
                  <a:srgbClr val="FFFFFF"/>
                </a:solidFill>
                <a:latin typeface="Aptos Display" pitchFamily="34" charset="0"/>
                <a:ea typeface="Aptos Display" pitchFamily="34" charset="-122"/>
                <a:cs typeface="Aptos Display" pitchFamily="34" charset="-120"/>
              </a:rPr>
              <a:t>Análisis de valores límite</a:t>
            </a:r>
            <a:endParaRPr lang="en-US" sz="4000" dirty="0"/>
          </a:p>
        </p:txBody>
      </p:sp>
      <p:sp>
        <p:nvSpPr>
          <p:cNvPr id="10" name="Shape 7"/>
          <p:cNvSpPr/>
          <p:nvPr/>
        </p:nvSpPr>
        <p:spPr>
          <a:xfrm>
            <a:off x="658368" y="3035808"/>
            <a:ext cx="3108960" cy="0"/>
          </a:xfrm>
          <a:prstGeom prst="line">
            <a:avLst/>
          </a:prstGeom>
          <a:noFill/>
          <a:ln w="12700">
            <a:solidFill>
              <a:srgbClr val="E0BC5A"/>
            </a:solidFill>
            <a:prstDash val="solid"/>
            <a:headEnd type="none"/>
            <a:tailEnd type="none"/>
          </a:ln>
        </p:spPr>
      </p:sp>
      <p:sp>
        <p:nvSpPr>
          <p:cNvPr id="11" name="Text 8"/>
          <p:cNvSpPr txBox="1"/>
          <p:nvPr/>
        </p:nvSpPr>
        <p:spPr>
          <a:xfrm>
            <a:off x="658368" y="3291840"/>
            <a:ext cx="9326880" cy="822960"/>
          </a:xfrm>
          <a:prstGeom prst="rect">
            <a:avLst/>
          </a:prstGeom>
          <a:noFill/>
          <a:ln/>
        </p:spPr>
        <p:txBody>
          <a:bodyPr wrap="square" lIns="0" tIns="0" rIns="0" bIns="0" rtlCol="0" anchor="t"/>
          <a:lstStyle/>
          <a:p>
            <a:pPr algn="l" indent="0" marL="0">
              <a:lnSpc>
                <a:spcPct val="116000"/>
              </a:lnSpc>
              <a:buNone/>
            </a:pPr>
            <a:r>
              <a:rPr lang="en-US" sz="1700" i="1" dirty="0">
                <a:solidFill>
                  <a:srgbClr val="E6EEF7"/>
                </a:solidFill>
                <a:latin typeface="Aptos" pitchFamily="34" charset="0"/>
                <a:ea typeface="Aptos" pitchFamily="34" charset="-122"/>
                <a:cs typeface="Aptos" pitchFamily="34" charset="-120"/>
              </a:rPr>
              <a:t>¿Dónde exactamente cambia el comportamiento esperado, y qué hace falta saber para escribir «justo antes» de ese punto?</a:t>
            </a:r>
            <a:endParaRPr lang="en-US" sz="1700" dirty="0"/>
          </a:p>
        </p:txBody>
      </p:sp>
      <p:sp>
        <p:nvSpPr>
          <p:cNvPr id="12" name="Text 9"/>
          <p:cNvSpPr txBox="1"/>
          <p:nvPr/>
        </p:nvSpPr>
        <p:spPr>
          <a:xfrm>
            <a:off x="658368" y="4864608"/>
            <a:ext cx="4572000" cy="201168"/>
          </a:xfrm>
          <a:prstGeom prst="rect">
            <a:avLst/>
          </a:prstGeom>
          <a:noFill/>
          <a:ln/>
        </p:spPr>
        <p:txBody>
          <a:bodyPr wrap="square" lIns="0" tIns="0" rIns="0" bIns="0" rtlCol="0" anchor="t"/>
          <a:lstStyle/>
          <a:p>
            <a:pPr algn="l" indent="0" marL="0">
              <a:buNone/>
            </a:pPr>
            <a:r>
              <a:rPr lang="en-US" sz="960" b="1" spc="130" kern="0" dirty="0">
                <a:solidFill>
                  <a:srgbClr val="EADFD0"/>
                </a:solidFill>
                <a:latin typeface="Aptos" pitchFamily="34" charset="0"/>
                <a:ea typeface="Aptos" pitchFamily="34" charset="-122"/>
                <a:cs typeface="Aptos" pitchFamily="34" charset="-120"/>
              </a:rPr>
              <a:t>DÓNDE ESTAMOS EN LA REDUCCIÓN</a:t>
            </a:r>
            <a:endParaRPr lang="en-US" sz="960" dirty="0"/>
          </a:p>
        </p:txBody>
      </p:sp>
      <p:sp>
        <p:nvSpPr>
          <p:cNvPr id="13" name="Shape 10"/>
          <p:cNvSpPr/>
          <p:nvPr/>
        </p:nvSpPr>
        <p:spPr>
          <a:xfrm>
            <a:off x="658368" y="5138928"/>
            <a:ext cx="4206240" cy="420624"/>
          </a:xfrm>
          <a:prstGeom prst="rect">
            <a:avLst/>
          </a:prstGeom>
          <a:solidFill>
            <a:srgbClr val="1D3A57"/>
          </a:solidFill>
          <a:ln w="12700">
            <a:solidFill>
              <a:srgbClr val="1D3A57"/>
            </a:solidFill>
            <a:prstDash val="solid"/>
          </a:ln>
        </p:spPr>
      </p:sp>
      <p:sp>
        <p:nvSpPr>
          <p:cNvPr id="14" name="Text 11"/>
          <p:cNvSpPr txBox="1"/>
          <p:nvPr/>
        </p:nvSpPr>
        <p:spPr>
          <a:xfrm>
            <a:off x="822960" y="5157216"/>
            <a:ext cx="3877056" cy="384048"/>
          </a:xfrm>
          <a:prstGeom prst="rect">
            <a:avLst/>
          </a:prstGeom>
          <a:noFill/>
          <a:ln/>
        </p:spPr>
        <p:txBody>
          <a:bodyPr wrap="square" lIns="0" tIns="0" rIns="0" bIns="0" rtlCol="0" anchor="ctr"/>
          <a:lstStyle/>
          <a:p>
            <a:pPr algn="l" indent="0" marL="0">
              <a:buNone/>
            </a:pPr>
            <a:r>
              <a:rPr lang="en-US" sz="1060" dirty="0">
                <a:solidFill>
                  <a:srgbClr val="EADFD0"/>
                </a:solidFill>
                <a:latin typeface="Aptos" pitchFamily="34" charset="0"/>
                <a:ea typeface="Aptos" pitchFamily="34" charset="-122"/>
                <a:cs typeface="Aptos" pitchFamily="34" charset="-120"/>
              </a:rPr>
              <a:t>Todas las entradas</a:t>
            </a:r>
            <a:endParaRPr lang="en-US" sz="1060" dirty="0"/>
          </a:p>
        </p:txBody>
      </p:sp>
      <p:sp>
        <p:nvSpPr>
          <p:cNvPr id="15" name="Shape 12"/>
          <p:cNvSpPr/>
          <p:nvPr/>
        </p:nvSpPr>
        <p:spPr>
          <a:xfrm>
            <a:off x="4901184" y="5349240"/>
            <a:ext cx="182880" cy="0"/>
          </a:xfrm>
          <a:prstGeom prst="line">
            <a:avLst/>
          </a:prstGeom>
          <a:noFill/>
          <a:ln w="12700">
            <a:solidFill>
              <a:srgbClr val="EADFD0"/>
            </a:solidFill>
            <a:prstDash val="solid"/>
            <a:headEnd type="none"/>
            <a:tailEnd type="triangle"/>
          </a:ln>
        </p:spPr>
      </p:sp>
      <p:sp>
        <p:nvSpPr>
          <p:cNvPr id="16" name="Shape 13"/>
          <p:cNvSpPr/>
          <p:nvPr/>
        </p:nvSpPr>
        <p:spPr>
          <a:xfrm>
            <a:off x="5120640" y="5138928"/>
            <a:ext cx="2926080" cy="420624"/>
          </a:xfrm>
          <a:prstGeom prst="rect">
            <a:avLst/>
          </a:prstGeom>
          <a:solidFill>
            <a:srgbClr val="1D3A57"/>
          </a:solidFill>
          <a:ln w="12700">
            <a:solidFill>
              <a:srgbClr val="1D3A57"/>
            </a:solidFill>
            <a:prstDash val="solid"/>
          </a:ln>
        </p:spPr>
      </p:sp>
      <p:sp>
        <p:nvSpPr>
          <p:cNvPr id="17" name="Text 14"/>
          <p:cNvSpPr txBox="1"/>
          <p:nvPr/>
        </p:nvSpPr>
        <p:spPr>
          <a:xfrm>
            <a:off x="5285232" y="5157216"/>
            <a:ext cx="2596896" cy="384048"/>
          </a:xfrm>
          <a:prstGeom prst="rect">
            <a:avLst/>
          </a:prstGeom>
          <a:noFill/>
          <a:ln/>
        </p:spPr>
        <p:txBody>
          <a:bodyPr wrap="square" lIns="0" tIns="0" rIns="0" bIns="0" rtlCol="0" anchor="ctr"/>
          <a:lstStyle/>
          <a:p>
            <a:pPr algn="l" indent="0" marL="0">
              <a:buNone/>
            </a:pPr>
            <a:r>
              <a:rPr lang="en-US" sz="1060" dirty="0">
                <a:solidFill>
                  <a:srgbClr val="EADFD0"/>
                </a:solidFill>
                <a:latin typeface="Aptos" pitchFamily="34" charset="0"/>
                <a:ea typeface="Aptos" pitchFamily="34" charset="-122"/>
                <a:cs typeface="Aptos" pitchFamily="34" charset="-120"/>
              </a:rPr>
              <a:t>Clases</a:t>
            </a:r>
            <a:endParaRPr lang="en-US" sz="1060" dirty="0"/>
          </a:p>
        </p:txBody>
      </p:sp>
      <p:sp>
        <p:nvSpPr>
          <p:cNvPr id="18" name="Shape 15"/>
          <p:cNvSpPr/>
          <p:nvPr/>
        </p:nvSpPr>
        <p:spPr>
          <a:xfrm>
            <a:off x="8083296" y="5349240"/>
            <a:ext cx="182880" cy="0"/>
          </a:xfrm>
          <a:prstGeom prst="line">
            <a:avLst/>
          </a:prstGeom>
          <a:noFill/>
          <a:ln w="12700">
            <a:solidFill>
              <a:srgbClr val="EADFD0"/>
            </a:solidFill>
            <a:prstDash val="solid"/>
            <a:headEnd type="none"/>
            <a:tailEnd type="triangle"/>
          </a:ln>
        </p:spPr>
      </p:sp>
      <p:sp>
        <p:nvSpPr>
          <p:cNvPr id="19" name="Shape 16"/>
          <p:cNvSpPr/>
          <p:nvPr/>
        </p:nvSpPr>
        <p:spPr>
          <a:xfrm>
            <a:off x="8302752" y="5138928"/>
            <a:ext cx="2011680" cy="420624"/>
          </a:xfrm>
          <a:prstGeom prst="rect">
            <a:avLst/>
          </a:prstGeom>
          <a:solidFill>
            <a:srgbClr val="E0BC5A"/>
          </a:solidFill>
          <a:ln w="12700">
            <a:solidFill>
              <a:srgbClr val="E0BC5A"/>
            </a:solidFill>
            <a:prstDash val="solid"/>
          </a:ln>
        </p:spPr>
      </p:sp>
      <p:sp>
        <p:nvSpPr>
          <p:cNvPr id="20" name="Text 17"/>
          <p:cNvSpPr txBox="1"/>
          <p:nvPr/>
        </p:nvSpPr>
        <p:spPr>
          <a:xfrm>
            <a:off x="8467344" y="5157216"/>
            <a:ext cx="1682496" cy="384048"/>
          </a:xfrm>
          <a:prstGeom prst="rect">
            <a:avLst/>
          </a:prstGeom>
          <a:noFill/>
          <a:ln/>
        </p:spPr>
        <p:txBody>
          <a:bodyPr wrap="square" lIns="0" tIns="0" rIns="0" bIns="0" rtlCol="0" anchor="ctr"/>
          <a:lstStyle/>
          <a:p>
            <a:pPr algn="l" indent="0" marL="0">
              <a:buNone/>
            </a:pPr>
            <a:r>
              <a:rPr lang="en-US" sz="1200" b="1" dirty="0">
                <a:solidFill>
                  <a:srgbClr val="102A43"/>
                </a:solidFill>
                <a:latin typeface="Aptos" pitchFamily="34" charset="0"/>
                <a:ea typeface="Aptos" pitchFamily="34" charset="-122"/>
                <a:cs typeface="Aptos" pitchFamily="34" charset="-120"/>
              </a:rPr>
              <a:t>Límites</a:t>
            </a:r>
            <a:endParaRPr lang="en-US" sz="1200" dirty="0"/>
          </a:p>
        </p:txBody>
      </p:sp>
      <p:sp>
        <p:nvSpPr>
          <p:cNvPr id="21" name="Shape 18"/>
          <p:cNvSpPr/>
          <p:nvPr/>
        </p:nvSpPr>
        <p:spPr>
          <a:xfrm>
            <a:off x="10351008" y="5349240"/>
            <a:ext cx="182880" cy="0"/>
          </a:xfrm>
          <a:prstGeom prst="line">
            <a:avLst/>
          </a:prstGeom>
          <a:noFill/>
          <a:ln w="12700">
            <a:solidFill>
              <a:srgbClr val="EADFD0"/>
            </a:solidFill>
            <a:prstDash val="solid"/>
            <a:headEnd type="none"/>
            <a:tailEnd type="triangle"/>
          </a:ln>
        </p:spPr>
      </p:sp>
      <p:sp>
        <p:nvSpPr>
          <p:cNvPr id="22" name="Shape 19"/>
          <p:cNvSpPr/>
          <p:nvPr/>
        </p:nvSpPr>
        <p:spPr>
          <a:xfrm>
            <a:off x="10570464" y="5138928"/>
            <a:ext cx="1371600" cy="420624"/>
          </a:xfrm>
          <a:prstGeom prst="rect">
            <a:avLst/>
          </a:prstGeom>
          <a:solidFill>
            <a:srgbClr val="1D3A57"/>
          </a:solidFill>
          <a:ln w="12700">
            <a:solidFill>
              <a:srgbClr val="1D3A57"/>
            </a:solidFill>
            <a:prstDash val="solid"/>
          </a:ln>
        </p:spPr>
      </p:sp>
      <p:sp>
        <p:nvSpPr>
          <p:cNvPr id="23" name="Text 20"/>
          <p:cNvSpPr txBox="1"/>
          <p:nvPr/>
        </p:nvSpPr>
        <p:spPr>
          <a:xfrm>
            <a:off x="10735056" y="5157216"/>
            <a:ext cx="1042416" cy="384048"/>
          </a:xfrm>
          <a:prstGeom prst="rect">
            <a:avLst/>
          </a:prstGeom>
          <a:noFill/>
          <a:ln/>
        </p:spPr>
        <p:txBody>
          <a:bodyPr wrap="square" lIns="0" tIns="0" rIns="0" bIns="0" rtlCol="0" anchor="ctr"/>
          <a:lstStyle/>
          <a:p>
            <a:pPr algn="l" indent="0" marL="0">
              <a:buNone/>
            </a:pPr>
            <a:r>
              <a:rPr lang="en-US" sz="1060" dirty="0">
                <a:solidFill>
                  <a:srgbClr val="EADFD0"/>
                </a:solidFill>
                <a:latin typeface="Aptos" pitchFamily="34" charset="0"/>
                <a:ea typeface="Aptos" pitchFamily="34" charset="-122"/>
                <a:cs typeface="Aptos" pitchFamily="34" charset="-120"/>
              </a:rPr>
              <a:t>Reglas combinadas</a:t>
            </a:r>
            <a:endParaRPr lang="en-US" sz="106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45</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LA IDEA, ANTES DEL NOMBRE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El punto donde una clase termina y empieza otra</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Las clases del bloque anterior son vecinas. Entre dos vecinas hay un punto exacto donde cambia lo esperado.</a:t>
            </a:r>
            <a:endParaRPr lang="en-US" sz="1450" dirty="0"/>
          </a:p>
        </p:txBody>
      </p:sp>
      <p:sp>
        <p:nvSpPr>
          <p:cNvPr id="11" name="Shape 8"/>
          <p:cNvSpPr/>
          <p:nvPr/>
        </p:nvSpPr>
        <p:spPr>
          <a:xfrm>
            <a:off x="658368" y="2286000"/>
            <a:ext cx="3465576" cy="786384"/>
          </a:xfrm>
          <a:prstGeom prst="rect">
            <a:avLst/>
          </a:prstGeom>
          <a:solidFill>
            <a:srgbClr val="F8E4E5"/>
          </a:solidFill>
          <a:ln w="12700">
            <a:solidFill>
              <a:srgbClr val="F8E4E5"/>
            </a:solidFill>
            <a:prstDash val="solid"/>
          </a:ln>
        </p:spPr>
      </p:sp>
      <p:sp>
        <p:nvSpPr>
          <p:cNvPr id="12" name="Shape 9"/>
          <p:cNvSpPr/>
          <p:nvPr/>
        </p:nvSpPr>
        <p:spPr>
          <a:xfrm>
            <a:off x="658368" y="2286000"/>
            <a:ext cx="3465576" cy="54864"/>
          </a:xfrm>
          <a:prstGeom prst="rect">
            <a:avLst/>
          </a:prstGeom>
          <a:solidFill>
            <a:srgbClr val="B3181E"/>
          </a:solidFill>
          <a:ln w="12700">
            <a:solidFill>
              <a:srgbClr val="B3181E"/>
            </a:solidFill>
            <a:prstDash val="solid"/>
          </a:ln>
        </p:spPr>
      </p:sp>
      <p:sp>
        <p:nvSpPr>
          <p:cNvPr id="13" name="Text 10"/>
          <p:cNvSpPr txBox="1"/>
          <p:nvPr/>
        </p:nvSpPr>
        <p:spPr>
          <a:xfrm>
            <a:off x="896112" y="2395728"/>
            <a:ext cx="3017520" cy="219456"/>
          </a:xfrm>
          <a:prstGeom prst="rect">
            <a:avLst/>
          </a:prstGeom>
          <a:noFill/>
          <a:ln/>
        </p:spPr>
        <p:txBody>
          <a:bodyPr wrap="square" lIns="0" tIns="0" rIns="0" bIns="0" rtlCol="0" anchor="t"/>
          <a:lstStyle/>
          <a:p>
            <a:pPr algn="l" indent="0" marL="0">
              <a:buNone/>
            </a:pPr>
            <a:r>
              <a:rPr lang="en-US" sz="1220" b="1" dirty="0">
                <a:solidFill>
                  <a:srgbClr val="243B53"/>
                </a:solidFill>
                <a:latin typeface="Aptos" pitchFamily="34" charset="0"/>
                <a:ea typeface="Aptos" pitchFamily="34" charset="-122"/>
                <a:cs typeface="Aptos" pitchFamily="34" charset="-120"/>
              </a:rPr>
              <a:t>Antes de la jornada</a:t>
            </a:r>
            <a:endParaRPr lang="en-US" sz="1220" dirty="0"/>
          </a:p>
        </p:txBody>
      </p:sp>
      <p:sp>
        <p:nvSpPr>
          <p:cNvPr id="14" name="Text 11"/>
          <p:cNvSpPr txBox="1"/>
          <p:nvPr/>
        </p:nvSpPr>
        <p:spPr>
          <a:xfrm>
            <a:off x="896112" y="2651760"/>
            <a:ext cx="3017520" cy="274320"/>
          </a:xfrm>
          <a:prstGeom prst="rect">
            <a:avLst/>
          </a:prstGeom>
          <a:noFill/>
          <a:ln/>
        </p:spPr>
        <p:txBody>
          <a:bodyPr wrap="square" lIns="0" tIns="0" rIns="0" bIns="0" rtlCol="0" anchor="t"/>
          <a:lstStyle/>
          <a:p>
            <a:pPr algn="l" indent="0" marL="0">
              <a:buNone/>
            </a:pPr>
            <a:r>
              <a:rPr lang="en-US" sz="1300" dirty="0">
                <a:solidFill>
                  <a:srgbClr val="B3181E"/>
                </a:solidFill>
                <a:latin typeface="Consolas" pitchFamily="34" charset="0"/>
                <a:ea typeface="Consolas" pitchFamily="34" charset="-122"/>
                <a:cs typeface="Consolas" pitchFamily="34" charset="-120"/>
              </a:rPr>
              <a:t>… -1, 0</a:t>
            </a:r>
            <a:endParaRPr lang="en-US" sz="1300" dirty="0"/>
          </a:p>
        </p:txBody>
      </p:sp>
      <p:sp>
        <p:nvSpPr>
          <p:cNvPr id="15" name="Shape 12"/>
          <p:cNvSpPr/>
          <p:nvPr/>
        </p:nvSpPr>
        <p:spPr>
          <a:xfrm>
            <a:off x="4379976" y="2286000"/>
            <a:ext cx="3465576" cy="786384"/>
          </a:xfrm>
          <a:prstGeom prst="rect">
            <a:avLst/>
          </a:prstGeom>
          <a:solidFill>
            <a:srgbClr val="E9F6EE"/>
          </a:solidFill>
          <a:ln w="12700">
            <a:solidFill>
              <a:srgbClr val="E9F6EE"/>
            </a:solidFill>
            <a:prstDash val="solid"/>
          </a:ln>
        </p:spPr>
      </p:sp>
      <p:sp>
        <p:nvSpPr>
          <p:cNvPr id="16" name="Shape 13"/>
          <p:cNvSpPr/>
          <p:nvPr/>
        </p:nvSpPr>
        <p:spPr>
          <a:xfrm>
            <a:off x="4379976" y="2286000"/>
            <a:ext cx="3465576" cy="54864"/>
          </a:xfrm>
          <a:prstGeom prst="rect">
            <a:avLst/>
          </a:prstGeom>
          <a:solidFill>
            <a:srgbClr val="2E7D4F"/>
          </a:solidFill>
          <a:ln w="12700">
            <a:solidFill>
              <a:srgbClr val="2E7D4F"/>
            </a:solidFill>
            <a:prstDash val="solid"/>
          </a:ln>
        </p:spPr>
      </p:sp>
      <p:sp>
        <p:nvSpPr>
          <p:cNvPr id="17" name="Text 14"/>
          <p:cNvSpPr txBox="1"/>
          <p:nvPr/>
        </p:nvSpPr>
        <p:spPr>
          <a:xfrm>
            <a:off x="4617720" y="2395728"/>
            <a:ext cx="3017520" cy="219456"/>
          </a:xfrm>
          <a:prstGeom prst="rect">
            <a:avLst/>
          </a:prstGeom>
          <a:noFill/>
          <a:ln/>
        </p:spPr>
        <p:txBody>
          <a:bodyPr wrap="square" lIns="0" tIns="0" rIns="0" bIns="0" rtlCol="0" anchor="t"/>
          <a:lstStyle/>
          <a:p>
            <a:pPr algn="l" indent="0" marL="0">
              <a:buNone/>
            </a:pPr>
            <a:r>
              <a:rPr lang="en-US" sz="1220" b="1" dirty="0">
                <a:solidFill>
                  <a:srgbClr val="243B53"/>
                </a:solidFill>
                <a:latin typeface="Aptos" pitchFamily="34" charset="0"/>
                <a:ea typeface="Aptos" pitchFamily="34" charset="-122"/>
                <a:cs typeface="Aptos" pitchFamily="34" charset="-120"/>
              </a:rPr>
              <a:t>Dentro de la jornada</a:t>
            </a:r>
            <a:endParaRPr lang="en-US" sz="1220" dirty="0"/>
          </a:p>
        </p:txBody>
      </p:sp>
      <p:sp>
        <p:nvSpPr>
          <p:cNvPr id="18" name="Text 15"/>
          <p:cNvSpPr txBox="1"/>
          <p:nvPr/>
        </p:nvSpPr>
        <p:spPr>
          <a:xfrm>
            <a:off x="4617720" y="2651760"/>
            <a:ext cx="3017520" cy="274320"/>
          </a:xfrm>
          <a:prstGeom prst="rect">
            <a:avLst/>
          </a:prstGeom>
          <a:noFill/>
          <a:ln/>
        </p:spPr>
        <p:txBody>
          <a:bodyPr wrap="square" lIns="0" tIns="0" rIns="0" bIns="0" rtlCol="0" anchor="t"/>
          <a:lstStyle/>
          <a:p>
            <a:pPr algn="l" indent="0" marL="0">
              <a:buNone/>
            </a:pPr>
            <a:r>
              <a:rPr lang="en-US" sz="1300" dirty="0">
                <a:solidFill>
                  <a:srgbClr val="2E7D4F"/>
                </a:solidFill>
                <a:latin typeface="Consolas" pitchFamily="34" charset="0"/>
                <a:ea typeface="Consolas" pitchFamily="34" charset="-122"/>
                <a:cs typeface="Consolas" pitchFamily="34" charset="-120"/>
              </a:rPr>
              <a:t>1, 2 … 7, 8</a:t>
            </a:r>
            <a:endParaRPr lang="en-US" sz="1300" dirty="0"/>
          </a:p>
        </p:txBody>
      </p:sp>
      <p:sp>
        <p:nvSpPr>
          <p:cNvPr id="19" name="Shape 16"/>
          <p:cNvSpPr/>
          <p:nvPr/>
        </p:nvSpPr>
        <p:spPr>
          <a:xfrm>
            <a:off x="8101584" y="2286000"/>
            <a:ext cx="3465576" cy="786384"/>
          </a:xfrm>
          <a:prstGeom prst="rect">
            <a:avLst/>
          </a:prstGeom>
          <a:solidFill>
            <a:srgbClr val="F8E4E5"/>
          </a:solidFill>
          <a:ln w="12700">
            <a:solidFill>
              <a:srgbClr val="F8E4E5"/>
            </a:solidFill>
            <a:prstDash val="solid"/>
          </a:ln>
        </p:spPr>
      </p:sp>
      <p:sp>
        <p:nvSpPr>
          <p:cNvPr id="20" name="Shape 17"/>
          <p:cNvSpPr/>
          <p:nvPr/>
        </p:nvSpPr>
        <p:spPr>
          <a:xfrm>
            <a:off x="8101584" y="2286000"/>
            <a:ext cx="3465576" cy="54864"/>
          </a:xfrm>
          <a:prstGeom prst="rect">
            <a:avLst/>
          </a:prstGeom>
          <a:solidFill>
            <a:srgbClr val="B3181E"/>
          </a:solidFill>
          <a:ln w="12700">
            <a:solidFill>
              <a:srgbClr val="B3181E"/>
            </a:solidFill>
            <a:prstDash val="solid"/>
          </a:ln>
        </p:spPr>
      </p:sp>
      <p:sp>
        <p:nvSpPr>
          <p:cNvPr id="21" name="Text 18"/>
          <p:cNvSpPr txBox="1"/>
          <p:nvPr/>
        </p:nvSpPr>
        <p:spPr>
          <a:xfrm>
            <a:off x="8339328" y="2395728"/>
            <a:ext cx="3017520" cy="219456"/>
          </a:xfrm>
          <a:prstGeom prst="rect">
            <a:avLst/>
          </a:prstGeom>
          <a:noFill/>
          <a:ln/>
        </p:spPr>
        <p:txBody>
          <a:bodyPr wrap="square" lIns="0" tIns="0" rIns="0" bIns="0" rtlCol="0" anchor="t"/>
          <a:lstStyle/>
          <a:p>
            <a:pPr algn="l" indent="0" marL="0">
              <a:buNone/>
            </a:pPr>
            <a:r>
              <a:rPr lang="en-US" sz="1220" b="1" dirty="0">
                <a:solidFill>
                  <a:srgbClr val="243B53"/>
                </a:solidFill>
                <a:latin typeface="Aptos" pitchFamily="34" charset="0"/>
                <a:ea typeface="Aptos" pitchFamily="34" charset="-122"/>
                <a:cs typeface="Aptos" pitchFamily="34" charset="-120"/>
              </a:rPr>
              <a:t>Después de la jornada</a:t>
            </a:r>
            <a:endParaRPr lang="en-US" sz="1220" dirty="0"/>
          </a:p>
        </p:txBody>
      </p:sp>
      <p:sp>
        <p:nvSpPr>
          <p:cNvPr id="22" name="Text 19"/>
          <p:cNvSpPr txBox="1"/>
          <p:nvPr/>
        </p:nvSpPr>
        <p:spPr>
          <a:xfrm>
            <a:off x="8339328" y="2651760"/>
            <a:ext cx="3017520" cy="274320"/>
          </a:xfrm>
          <a:prstGeom prst="rect">
            <a:avLst/>
          </a:prstGeom>
          <a:noFill/>
          <a:ln/>
        </p:spPr>
        <p:txBody>
          <a:bodyPr wrap="square" lIns="0" tIns="0" rIns="0" bIns="0" rtlCol="0" anchor="t"/>
          <a:lstStyle/>
          <a:p>
            <a:pPr algn="l" indent="0" marL="0">
              <a:buNone/>
            </a:pPr>
            <a:r>
              <a:rPr lang="en-US" sz="1300" dirty="0">
                <a:solidFill>
                  <a:srgbClr val="B3181E"/>
                </a:solidFill>
                <a:latin typeface="Consolas" pitchFamily="34" charset="0"/>
                <a:ea typeface="Consolas" pitchFamily="34" charset="-122"/>
                <a:cs typeface="Consolas" pitchFamily="34" charset="-120"/>
              </a:rPr>
              <a:t>9, 10 …</a:t>
            </a:r>
            <a:endParaRPr lang="en-US" sz="1300" dirty="0"/>
          </a:p>
        </p:txBody>
      </p:sp>
      <p:sp>
        <p:nvSpPr>
          <p:cNvPr id="23" name="Shape 20"/>
          <p:cNvSpPr/>
          <p:nvPr/>
        </p:nvSpPr>
        <p:spPr>
          <a:xfrm>
            <a:off x="4123944" y="3127248"/>
            <a:ext cx="0" cy="274320"/>
          </a:xfrm>
          <a:prstGeom prst="line">
            <a:avLst/>
          </a:prstGeom>
          <a:noFill/>
          <a:ln w="12700">
            <a:solidFill>
              <a:srgbClr val="8A6A12"/>
            </a:solidFill>
            <a:prstDash val="solid"/>
            <a:headEnd type="none"/>
            <a:tailEnd type="none"/>
          </a:ln>
        </p:spPr>
      </p:sp>
      <p:sp>
        <p:nvSpPr>
          <p:cNvPr id="24" name="Shape 21"/>
          <p:cNvSpPr/>
          <p:nvPr/>
        </p:nvSpPr>
        <p:spPr>
          <a:xfrm>
            <a:off x="7845552" y="3127248"/>
            <a:ext cx="0" cy="274320"/>
          </a:xfrm>
          <a:prstGeom prst="line">
            <a:avLst/>
          </a:prstGeom>
          <a:noFill/>
          <a:ln w="12700">
            <a:solidFill>
              <a:srgbClr val="8A6A12"/>
            </a:solidFill>
            <a:prstDash val="solid"/>
            <a:headEnd type="none"/>
            <a:tailEnd type="none"/>
          </a:ln>
        </p:spPr>
      </p:sp>
      <p:sp>
        <p:nvSpPr>
          <p:cNvPr id="25" name="Text 22"/>
          <p:cNvSpPr txBox="1"/>
          <p:nvPr/>
        </p:nvSpPr>
        <p:spPr>
          <a:xfrm>
            <a:off x="2926080" y="3419856"/>
            <a:ext cx="2377440" cy="182880"/>
          </a:xfrm>
          <a:prstGeom prst="rect">
            <a:avLst/>
          </a:prstGeom>
          <a:noFill/>
          <a:ln/>
        </p:spPr>
        <p:txBody>
          <a:bodyPr wrap="square" lIns="0" tIns="0" rIns="0" bIns="0" rtlCol="0" anchor="t"/>
          <a:lstStyle/>
          <a:p>
            <a:pPr algn="ctr" indent="0" marL="0">
              <a:buNone/>
            </a:pPr>
            <a:r>
              <a:rPr lang="en-US" sz="940" i="1" dirty="0">
                <a:solidFill>
                  <a:srgbClr val="8A6A12"/>
                </a:solidFill>
                <a:latin typeface="Aptos" pitchFamily="34" charset="0"/>
                <a:ea typeface="Aptos" pitchFamily="34" charset="-122"/>
                <a:cs typeface="Aptos" pitchFamily="34" charset="-120"/>
              </a:rPr>
              <a:t>aquí cambia lo esperado</a:t>
            </a:r>
            <a:endParaRPr lang="en-US" sz="940" dirty="0"/>
          </a:p>
        </p:txBody>
      </p:sp>
      <p:sp>
        <p:nvSpPr>
          <p:cNvPr id="26" name="Text 23"/>
          <p:cNvSpPr txBox="1"/>
          <p:nvPr/>
        </p:nvSpPr>
        <p:spPr>
          <a:xfrm>
            <a:off x="6675120" y="3419856"/>
            <a:ext cx="2377440" cy="182880"/>
          </a:xfrm>
          <a:prstGeom prst="rect">
            <a:avLst/>
          </a:prstGeom>
          <a:noFill/>
          <a:ln/>
        </p:spPr>
        <p:txBody>
          <a:bodyPr wrap="square" lIns="0" tIns="0" rIns="0" bIns="0" rtlCol="0" anchor="t"/>
          <a:lstStyle/>
          <a:p>
            <a:pPr algn="ctr" indent="0" marL="0">
              <a:buNone/>
            </a:pPr>
            <a:r>
              <a:rPr lang="en-US" sz="940" i="1" dirty="0">
                <a:solidFill>
                  <a:srgbClr val="8A6A12"/>
                </a:solidFill>
                <a:latin typeface="Aptos" pitchFamily="34" charset="0"/>
                <a:ea typeface="Aptos" pitchFamily="34" charset="-122"/>
                <a:cs typeface="Aptos" pitchFamily="34" charset="-120"/>
              </a:rPr>
              <a:t>y aquí también</a:t>
            </a:r>
            <a:endParaRPr lang="en-US" sz="940" dirty="0"/>
          </a:p>
        </p:txBody>
      </p:sp>
      <p:sp>
        <p:nvSpPr>
          <p:cNvPr id="27" name="Shape 24"/>
          <p:cNvSpPr/>
          <p:nvPr/>
        </p:nvSpPr>
        <p:spPr>
          <a:xfrm>
            <a:off x="658368" y="3749040"/>
            <a:ext cx="10874959" cy="713232"/>
          </a:xfrm>
          <a:prstGeom prst="rect">
            <a:avLst/>
          </a:prstGeom>
          <a:solidFill>
            <a:srgbClr val="102A43"/>
          </a:solidFill>
          <a:ln w="12700">
            <a:solidFill>
              <a:srgbClr val="102A43"/>
            </a:solidFill>
            <a:prstDash val="solid"/>
          </a:ln>
        </p:spPr>
      </p:sp>
      <p:sp>
        <p:nvSpPr>
          <p:cNvPr id="28" name="Text 25"/>
          <p:cNvSpPr txBox="1"/>
          <p:nvPr/>
        </p:nvSpPr>
        <p:spPr>
          <a:xfrm>
            <a:off x="969264" y="3785616"/>
            <a:ext cx="10253167"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Aptos Display" pitchFamily="34" charset="0"/>
                <a:ea typeface="Aptos Display" pitchFamily="34" charset="-122"/>
                <a:cs typeface="Aptos Display" pitchFamily="34" charset="-120"/>
              </a:rPr>
              <a:t>Un valor límite es el último valor de una clase, o el primero de la clase de al lado.</a:t>
            </a:r>
            <a:endParaRPr lang="en-US" sz="1900" dirty="0"/>
          </a:p>
        </p:txBody>
      </p:sp>
      <p:sp>
        <p:nvSpPr>
          <p:cNvPr id="29" name="Shape 26"/>
          <p:cNvSpPr/>
          <p:nvPr/>
        </p:nvSpPr>
        <p:spPr>
          <a:xfrm>
            <a:off x="658368" y="4608576"/>
            <a:ext cx="10874959" cy="731520"/>
          </a:xfrm>
          <a:prstGeom prst="rect">
            <a:avLst/>
          </a:prstGeom>
          <a:solidFill>
            <a:srgbClr val="F2E7D9"/>
          </a:solidFill>
          <a:ln w="12700">
            <a:solidFill>
              <a:srgbClr val="F2E7D9"/>
            </a:solidFill>
            <a:prstDash val="solid"/>
          </a:ln>
        </p:spPr>
      </p:sp>
      <p:sp>
        <p:nvSpPr>
          <p:cNvPr id="30" name="Shape 27"/>
          <p:cNvSpPr/>
          <p:nvPr/>
        </p:nvSpPr>
        <p:spPr>
          <a:xfrm>
            <a:off x="658368" y="4608576"/>
            <a:ext cx="64008" cy="731520"/>
          </a:xfrm>
          <a:prstGeom prst="rect">
            <a:avLst/>
          </a:prstGeom>
          <a:solidFill>
            <a:srgbClr val="8A6A12"/>
          </a:solidFill>
          <a:ln w="12700">
            <a:solidFill>
              <a:srgbClr val="8A6A12"/>
            </a:solidFill>
            <a:prstDash val="solid"/>
          </a:ln>
        </p:spPr>
      </p:sp>
      <p:sp>
        <p:nvSpPr>
          <p:cNvPr id="31" name="Text 28"/>
          <p:cNvSpPr txBox="1"/>
          <p:nvPr/>
        </p:nvSpPr>
        <p:spPr>
          <a:xfrm>
            <a:off x="969264" y="4718304"/>
            <a:ext cx="10308031" cy="512064"/>
          </a:xfrm>
          <a:prstGeom prst="rect">
            <a:avLst/>
          </a:prstGeom>
          <a:noFill/>
          <a:ln/>
        </p:spPr>
        <p:txBody>
          <a:bodyPr wrap="square" lIns="0" tIns="0" rIns="0" bIns="0" rtlCol="0" anchor="ctr"/>
          <a:lstStyle/>
          <a:p>
            <a:pPr algn="l" indent="0" marL="0">
              <a:lnSpc>
                <a:spcPct val="118000"/>
              </a:lnSpc>
              <a:buNone/>
            </a:pPr>
            <a:r>
              <a:rPr lang="en-US" sz="1340" i="1" dirty="0">
                <a:solidFill>
                  <a:srgbClr val="243B53"/>
                </a:solidFill>
                <a:latin typeface="Aptos" pitchFamily="34" charset="0"/>
                <a:ea typeface="Aptos" pitchFamily="34" charset="-122"/>
                <a:cs typeface="Aptos" pitchFamily="34" charset="-120"/>
              </a:rPr>
              <a:t>“Técnica de diseño de casos basada en especificación que ejercita los límites de las particiones de equivalencia.”</a:t>
            </a:r>
            <a:endParaRPr lang="en-US" sz="1340" dirty="0"/>
          </a:p>
        </p:txBody>
      </p:sp>
      <p:sp>
        <p:nvSpPr>
          <p:cNvPr id="32" name="Shape 29"/>
          <p:cNvSpPr/>
          <p:nvPr/>
        </p:nvSpPr>
        <p:spPr>
          <a:xfrm>
            <a:off x="658368" y="5468112"/>
            <a:ext cx="45720" cy="182880"/>
          </a:xfrm>
          <a:prstGeom prst="rect">
            <a:avLst/>
          </a:prstGeom>
          <a:solidFill>
            <a:srgbClr val="8A6A12"/>
          </a:solidFill>
          <a:ln w="12700">
            <a:solidFill>
              <a:srgbClr val="8A6A12"/>
            </a:solidFill>
            <a:prstDash val="solid"/>
          </a:ln>
        </p:spPr>
      </p:sp>
      <p:sp>
        <p:nvSpPr>
          <p:cNvPr id="33" name="Text 30"/>
          <p:cNvSpPr txBox="1"/>
          <p:nvPr/>
        </p:nvSpPr>
        <p:spPr>
          <a:xfrm>
            <a:off x="804672" y="5458968"/>
            <a:ext cx="731520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ISO/IEC/IEEE 29119-4:2021, cláusula 3.3 · traducción del original en inglés</a:t>
            </a:r>
            <a:endParaRPr lang="en-US" sz="920" dirty="0"/>
          </a:p>
        </p:txBody>
      </p:sp>
      <p:sp>
        <p:nvSpPr>
          <p:cNvPr id="34" name="Shape 31"/>
          <p:cNvSpPr/>
          <p:nvPr/>
        </p:nvSpPr>
        <p:spPr>
          <a:xfrm>
            <a:off x="658368" y="5815584"/>
            <a:ext cx="10874959" cy="493776"/>
          </a:xfrm>
          <a:prstGeom prst="rect">
            <a:avLst/>
          </a:prstGeom>
          <a:solidFill>
            <a:srgbClr val="102A43"/>
          </a:solidFill>
          <a:ln w="12700">
            <a:solidFill>
              <a:srgbClr val="102A43"/>
            </a:solidFill>
            <a:prstDash val="solid"/>
          </a:ln>
        </p:spPr>
      </p:sp>
      <p:sp>
        <p:nvSpPr>
          <p:cNvPr id="35" name="Text 32"/>
          <p:cNvSpPr txBox="1"/>
          <p:nvPr/>
        </p:nvSpPr>
        <p:spPr>
          <a:xfrm>
            <a:off x="969264" y="5852160"/>
            <a:ext cx="10253167" cy="420624"/>
          </a:xfrm>
          <a:prstGeom prst="rect">
            <a:avLst/>
          </a:prstGeom>
          <a:noFill/>
          <a:ln/>
        </p:spPr>
        <p:txBody>
          <a:bodyPr wrap="square" lIns="0" tIns="0" rIns="0" bIns="0" rtlCol="0" anchor="ctr"/>
          <a:lstStyle/>
          <a:p>
            <a:pPr algn="ctr" indent="0" marL="0">
              <a:lnSpc>
                <a:spcPct val="110000"/>
              </a:lnSpc>
              <a:buNone/>
            </a:pPr>
            <a:r>
              <a:rPr lang="en-US" sz="1340" b="1" dirty="0">
                <a:solidFill>
                  <a:srgbClr val="FFFFFF"/>
                </a:solidFill>
                <a:latin typeface="Aptos" pitchFamily="34" charset="0"/>
                <a:ea typeface="Aptos" pitchFamily="34" charset="-122"/>
                <a:cs typeface="Aptos" pitchFamily="34" charset="-120"/>
              </a:rPr>
              <a:t>No es una técnica aparte: sin haber particionado antes, no hay límites que analizar.</a:t>
            </a:r>
            <a:endParaRPr lang="en-US" sz="134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46</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EL ORDEN DE TRABAJO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Cuatro valores, y ninguno elegido por corazonada</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Tres clases producen dos transiciones, y cada transición aporta dos valores: el último de una y el primero de la otra.</a:t>
            </a:r>
            <a:endParaRPr lang="en-US" sz="1450" dirty="0"/>
          </a:p>
        </p:txBody>
      </p:sp>
      <p:sp>
        <p:nvSpPr>
          <p:cNvPr id="11" name="Shape 8"/>
          <p:cNvSpPr/>
          <p:nvPr/>
        </p:nvSpPr>
        <p:spPr>
          <a:xfrm>
            <a:off x="658368" y="2286000"/>
            <a:ext cx="2624328" cy="457200"/>
          </a:xfrm>
          <a:prstGeom prst="rect">
            <a:avLst/>
          </a:prstGeom>
          <a:solidFill>
            <a:srgbClr val="EDE6DA"/>
          </a:solidFill>
          <a:ln w="12700">
            <a:solidFill>
              <a:srgbClr val="EDE6DA"/>
            </a:solidFill>
            <a:prstDash val="solid"/>
          </a:ln>
        </p:spPr>
      </p:sp>
      <p:sp>
        <p:nvSpPr>
          <p:cNvPr id="12" name="Text 9"/>
          <p:cNvSpPr txBox="1"/>
          <p:nvPr/>
        </p:nvSpPr>
        <p:spPr>
          <a:xfrm>
            <a:off x="822960" y="2304288"/>
            <a:ext cx="2295144" cy="420624"/>
          </a:xfrm>
          <a:prstGeom prst="rect">
            <a:avLst/>
          </a:prstGeom>
          <a:noFill/>
          <a:ln/>
        </p:spPr>
        <p:txBody>
          <a:bodyPr wrap="square" lIns="0" tIns="0" rIns="0" bIns="0" rtlCol="0" anchor="ctr"/>
          <a:lstStyle/>
          <a:p>
            <a:pPr algn="l" indent="0" marL="0">
              <a:buNone/>
            </a:pPr>
            <a:r>
              <a:rPr lang="en-US" sz="1160" b="1" dirty="0">
                <a:solidFill>
                  <a:srgbClr val="52606D"/>
                </a:solidFill>
                <a:latin typeface="Aptos" pitchFamily="34" charset="0"/>
                <a:ea typeface="Aptos" pitchFamily="34" charset="-122"/>
                <a:cs typeface="Aptos" pitchFamily="34" charset="-120"/>
              </a:rPr>
              <a:t>1. Declarar el dominio</a:t>
            </a:r>
            <a:endParaRPr lang="en-US" sz="1160" dirty="0"/>
          </a:p>
        </p:txBody>
      </p:sp>
      <p:sp>
        <p:nvSpPr>
          <p:cNvPr id="13" name="Shape 10"/>
          <p:cNvSpPr/>
          <p:nvPr/>
        </p:nvSpPr>
        <p:spPr>
          <a:xfrm>
            <a:off x="3410712" y="2286000"/>
            <a:ext cx="2624328" cy="457200"/>
          </a:xfrm>
          <a:prstGeom prst="rect">
            <a:avLst/>
          </a:prstGeom>
          <a:solidFill>
            <a:srgbClr val="EDE6DA"/>
          </a:solidFill>
          <a:ln w="12700">
            <a:solidFill>
              <a:srgbClr val="EDE6DA"/>
            </a:solidFill>
            <a:prstDash val="solid"/>
          </a:ln>
        </p:spPr>
      </p:sp>
      <p:sp>
        <p:nvSpPr>
          <p:cNvPr id="14" name="Text 11"/>
          <p:cNvSpPr txBox="1"/>
          <p:nvPr/>
        </p:nvSpPr>
        <p:spPr>
          <a:xfrm>
            <a:off x="3575304" y="2304288"/>
            <a:ext cx="2295144" cy="420624"/>
          </a:xfrm>
          <a:prstGeom prst="rect">
            <a:avLst/>
          </a:prstGeom>
          <a:noFill/>
          <a:ln/>
        </p:spPr>
        <p:txBody>
          <a:bodyPr wrap="square" lIns="0" tIns="0" rIns="0" bIns="0" rtlCol="0" anchor="ctr"/>
          <a:lstStyle/>
          <a:p>
            <a:pPr algn="l" indent="0" marL="0">
              <a:buNone/>
            </a:pPr>
            <a:r>
              <a:rPr lang="en-US" sz="1160" b="1" dirty="0">
                <a:solidFill>
                  <a:srgbClr val="52606D"/>
                </a:solidFill>
                <a:latin typeface="Aptos" pitchFamily="34" charset="0"/>
                <a:ea typeface="Aptos" pitchFamily="34" charset="-122"/>
                <a:cs typeface="Aptos" pitchFamily="34" charset="-120"/>
              </a:rPr>
              <a:t>2. Particionar</a:t>
            </a:r>
            <a:endParaRPr lang="en-US" sz="1160" dirty="0"/>
          </a:p>
        </p:txBody>
      </p:sp>
      <p:sp>
        <p:nvSpPr>
          <p:cNvPr id="15" name="Shape 12"/>
          <p:cNvSpPr/>
          <p:nvPr/>
        </p:nvSpPr>
        <p:spPr>
          <a:xfrm>
            <a:off x="6163056" y="2286000"/>
            <a:ext cx="2624328" cy="457200"/>
          </a:xfrm>
          <a:prstGeom prst="rect">
            <a:avLst/>
          </a:prstGeom>
          <a:solidFill>
            <a:srgbClr val="EDE6DA"/>
          </a:solidFill>
          <a:ln w="12700">
            <a:solidFill>
              <a:srgbClr val="EDE6DA"/>
            </a:solidFill>
            <a:prstDash val="solid"/>
          </a:ln>
        </p:spPr>
      </p:sp>
      <p:sp>
        <p:nvSpPr>
          <p:cNvPr id="16" name="Text 13"/>
          <p:cNvSpPr txBox="1"/>
          <p:nvPr/>
        </p:nvSpPr>
        <p:spPr>
          <a:xfrm>
            <a:off x="6327648" y="2304288"/>
            <a:ext cx="2295144" cy="420624"/>
          </a:xfrm>
          <a:prstGeom prst="rect">
            <a:avLst/>
          </a:prstGeom>
          <a:noFill/>
          <a:ln/>
        </p:spPr>
        <p:txBody>
          <a:bodyPr wrap="square" lIns="0" tIns="0" rIns="0" bIns="0" rtlCol="0" anchor="ctr"/>
          <a:lstStyle/>
          <a:p>
            <a:pPr algn="l" indent="0" marL="0">
              <a:buNone/>
            </a:pPr>
            <a:r>
              <a:rPr lang="en-US" sz="1160" b="1" dirty="0">
                <a:solidFill>
                  <a:srgbClr val="52606D"/>
                </a:solidFill>
                <a:latin typeface="Aptos" pitchFamily="34" charset="0"/>
                <a:ea typeface="Aptos" pitchFamily="34" charset="-122"/>
                <a:cs typeface="Aptos" pitchFamily="34" charset="-120"/>
              </a:rPr>
              <a:t>3. Identificar los límites</a:t>
            </a:r>
            <a:endParaRPr lang="en-US" sz="1160" dirty="0"/>
          </a:p>
        </p:txBody>
      </p:sp>
      <p:sp>
        <p:nvSpPr>
          <p:cNvPr id="17" name="Shape 14"/>
          <p:cNvSpPr/>
          <p:nvPr/>
        </p:nvSpPr>
        <p:spPr>
          <a:xfrm>
            <a:off x="8915400" y="2286000"/>
            <a:ext cx="2624328" cy="457200"/>
          </a:xfrm>
          <a:prstGeom prst="rect">
            <a:avLst/>
          </a:prstGeom>
          <a:solidFill>
            <a:srgbClr val="E0BC5A"/>
          </a:solidFill>
          <a:ln w="12700">
            <a:solidFill>
              <a:srgbClr val="E0BC5A"/>
            </a:solidFill>
            <a:prstDash val="solid"/>
          </a:ln>
        </p:spPr>
      </p:sp>
      <p:sp>
        <p:nvSpPr>
          <p:cNvPr id="18" name="Text 15"/>
          <p:cNvSpPr txBox="1"/>
          <p:nvPr/>
        </p:nvSpPr>
        <p:spPr>
          <a:xfrm>
            <a:off x="9079992" y="2304288"/>
            <a:ext cx="2295144" cy="420624"/>
          </a:xfrm>
          <a:prstGeom prst="rect">
            <a:avLst/>
          </a:prstGeom>
          <a:noFill/>
          <a:ln/>
        </p:spPr>
        <p:txBody>
          <a:bodyPr wrap="square" lIns="0" tIns="0" rIns="0" bIns="0" rtlCol="0" anchor="ctr"/>
          <a:lstStyle/>
          <a:p>
            <a:pPr algn="l" indent="0" marL="0">
              <a:buNone/>
            </a:pPr>
            <a:r>
              <a:rPr lang="en-US" sz="1160" b="1" dirty="0">
                <a:solidFill>
                  <a:srgbClr val="243B53"/>
                </a:solidFill>
                <a:latin typeface="Aptos" pitchFamily="34" charset="0"/>
                <a:ea typeface="Aptos" pitchFamily="34" charset="-122"/>
                <a:cs typeface="Aptos" pitchFamily="34" charset="-120"/>
              </a:rPr>
              <a:t>4. Elegir los casos</a:t>
            </a:r>
            <a:endParaRPr lang="en-US" sz="1160" dirty="0"/>
          </a:p>
        </p:txBody>
      </p:sp>
      <p:sp>
        <p:nvSpPr>
          <p:cNvPr id="19" name="Shape 16"/>
          <p:cNvSpPr/>
          <p:nvPr/>
        </p:nvSpPr>
        <p:spPr>
          <a:xfrm>
            <a:off x="658368" y="2962656"/>
            <a:ext cx="10874959" cy="365760"/>
          </a:xfrm>
          <a:prstGeom prst="rect">
            <a:avLst/>
          </a:prstGeom>
          <a:solidFill>
            <a:srgbClr val="102A43"/>
          </a:solidFill>
          <a:ln w="12700">
            <a:solidFill>
              <a:srgbClr val="102A43"/>
            </a:solidFill>
            <a:prstDash val="solid"/>
          </a:ln>
        </p:spPr>
      </p:sp>
      <p:sp>
        <p:nvSpPr>
          <p:cNvPr id="20" name="Text 17"/>
          <p:cNvSpPr txBox="1"/>
          <p:nvPr/>
        </p:nvSpPr>
        <p:spPr>
          <a:xfrm>
            <a:off x="877824" y="2980944"/>
            <a:ext cx="2834640" cy="329184"/>
          </a:xfrm>
          <a:prstGeom prst="rect">
            <a:avLst/>
          </a:prstGeom>
          <a:noFill/>
          <a:ln/>
        </p:spPr>
        <p:txBody>
          <a:bodyPr wrap="square" lIns="0" tIns="0" rIns="0" bIns="0" rtlCol="0" anchor="ctr"/>
          <a:lstStyle/>
          <a:p>
            <a:pPr algn="l" indent="0" marL="0">
              <a:buNone/>
            </a:pPr>
            <a:r>
              <a:rPr lang="en-US" sz="920" b="1" spc="100" kern="0" dirty="0">
                <a:solidFill>
                  <a:srgbClr val="FFFFFF"/>
                </a:solidFill>
                <a:latin typeface="Aptos" pitchFamily="34" charset="0"/>
                <a:ea typeface="Aptos" pitchFamily="34" charset="-122"/>
                <a:cs typeface="Aptos" pitchFamily="34" charset="-120"/>
              </a:rPr>
              <a:t>TRANSICIÓN</a:t>
            </a:r>
            <a:endParaRPr lang="en-US" sz="920" dirty="0"/>
          </a:p>
        </p:txBody>
      </p:sp>
      <p:sp>
        <p:nvSpPr>
          <p:cNvPr id="21" name="Text 18"/>
          <p:cNvSpPr txBox="1"/>
          <p:nvPr/>
        </p:nvSpPr>
        <p:spPr>
          <a:xfrm>
            <a:off x="3986784" y="2980944"/>
            <a:ext cx="2286000" cy="329184"/>
          </a:xfrm>
          <a:prstGeom prst="rect">
            <a:avLst/>
          </a:prstGeom>
          <a:noFill/>
          <a:ln/>
        </p:spPr>
        <p:txBody>
          <a:bodyPr wrap="square" lIns="0" tIns="0" rIns="0" bIns="0" rtlCol="0" anchor="ctr"/>
          <a:lstStyle/>
          <a:p>
            <a:pPr algn="l" indent="0" marL="0">
              <a:buNone/>
            </a:pPr>
            <a:r>
              <a:rPr lang="en-US" sz="920" b="1" spc="100" kern="0" dirty="0">
                <a:solidFill>
                  <a:srgbClr val="FFFFFF"/>
                </a:solidFill>
                <a:latin typeface="Aptos" pitchFamily="34" charset="0"/>
                <a:ea typeface="Aptos" pitchFamily="34" charset="-122"/>
                <a:cs typeface="Aptos" pitchFamily="34" charset="-120"/>
              </a:rPr>
              <a:t>ÚLTIMO DE LA IZQUIERDA</a:t>
            </a:r>
            <a:endParaRPr lang="en-US" sz="920" dirty="0"/>
          </a:p>
        </p:txBody>
      </p:sp>
      <p:sp>
        <p:nvSpPr>
          <p:cNvPr id="22" name="Text 19"/>
          <p:cNvSpPr txBox="1"/>
          <p:nvPr/>
        </p:nvSpPr>
        <p:spPr>
          <a:xfrm>
            <a:off x="6547104" y="2980944"/>
            <a:ext cx="2286000" cy="329184"/>
          </a:xfrm>
          <a:prstGeom prst="rect">
            <a:avLst/>
          </a:prstGeom>
          <a:noFill/>
          <a:ln/>
        </p:spPr>
        <p:txBody>
          <a:bodyPr wrap="square" lIns="0" tIns="0" rIns="0" bIns="0" rtlCol="0" anchor="ctr"/>
          <a:lstStyle/>
          <a:p>
            <a:pPr algn="l" indent="0" marL="0">
              <a:buNone/>
            </a:pPr>
            <a:r>
              <a:rPr lang="en-US" sz="920" b="1" spc="100" kern="0" dirty="0">
                <a:solidFill>
                  <a:srgbClr val="FFFFFF"/>
                </a:solidFill>
                <a:latin typeface="Aptos" pitchFamily="34" charset="0"/>
                <a:ea typeface="Aptos" pitchFamily="34" charset="-122"/>
                <a:cs typeface="Aptos" pitchFamily="34" charset="-120"/>
              </a:rPr>
              <a:t>PRIMERO DE LA DERECHA</a:t>
            </a:r>
            <a:endParaRPr lang="en-US" sz="920" dirty="0"/>
          </a:p>
        </p:txBody>
      </p:sp>
      <p:sp>
        <p:nvSpPr>
          <p:cNvPr id="23" name="Text 20"/>
          <p:cNvSpPr txBox="1"/>
          <p:nvPr/>
        </p:nvSpPr>
        <p:spPr>
          <a:xfrm>
            <a:off x="9107424" y="2980944"/>
            <a:ext cx="2368296" cy="329184"/>
          </a:xfrm>
          <a:prstGeom prst="rect">
            <a:avLst/>
          </a:prstGeom>
          <a:noFill/>
          <a:ln/>
        </p:spPr>
        <p:txBody>
          <a:bodyPr wrap="square" lIns="0" tIns="0" rIns="0" bIns="0" rtlCol="0" anchor="ctr"/>
          <a:lstStyle/>
          <a:p>
            <a:pPr algn="l" indent="0" marL="0">
              <a:buNone/>
            </a:pPr>
            <a:r>
              <a:rPr lang="en-US" sz="920" b="1" spc="100" kern="0" dirty="0">
                <a:solidFill>
                  <a:srgbClr val="FFFFFF"/>
                </a:solidFill>
                <a:latin typeface="Aptos" pitchFamily="34" charset="0"/>
                <a:ea typeface="Aptos" pitchFamily="34" charset="-122"/>
                <a:cs typeface="Aptos" pitchFamily="34" charset="-120"/>
              </a:rPr>
              <a:t>CAMBIO ESPERADO</a:t>
            </a:r>
            <a:endParaRPr lang="en-US" sz="920" dirty="0"/>
          </a:p>
        </p:txBody>
      </p:sp>
      <p:sp>
        <p:nvSpPr>
          <p:cNvPr id="24" name="Shape 21"/>
          <p:cNvSpPr/>
          <p:nvPr/>
        </p:nvSpPr>
        <p:spPr>
          <a:xfrm>
            <a:off x="658368" y="3383280"/>
            <a:ext cx="10874959" cy="493776"/>
          </a:xfrm>
          <a:prstGeom prst="rect">
            <a:avLst/>
          </a:prstGeom>
          <a:solidFill>
            <a:srgbClr val="FFFFFF"/>
          </a:solidFill>
          <a:ln w="12700">
            <a:solidFill>
              <a:srgbClr val="FFFFFF"/>
            </a:solidFill>
            <a:prstDash val="solid"/>
          </a:ln>
        </p:spPr>
      </p:sp>
      <p:sp>
        <p:nvSpPr>
          <p:cNvPr id="25" name="Shape 22"/>
          <p:cNvSpPr/>
          <p:nvPr/>
        </p:nvSpPr>
        <p:spPr>
          <a:xfrm>
            <a:off x="658368" y="3383280"/>
            <a:ext cx="54864" cy="493776"/>
          </a:xfrm>
          <a:prstGeom prst="rect">
            <a:avLst/>
          </a:prstGeom>
          <a:solidFill>
            <a:srgbClr val="8A6A12"/>
          </a:solidFill>
          <a:ln w="12700">
            <a:solidFill>
              <a:srgbClr val="8A6A12"/>
            </a:solidFill>
            <a:prstDash val="solid"/>
          </a:ln>
        </p:spPr>
      </p:sp>
      <p:sp>
        <p:nvSpPr>
          <p:cNvPr id="26" name="Text 23"/>
          <p:cNvSpPr txBox="1"/>
          <p:nvPr/>
        </p:nvSpPr>
        <p:spPr>
          <a:xfrm>
            <a:off x="877824" y="3401568"/>
            <a:ext cx="2834640" cy="457200"/>
          </a:xfrm>
          <a:prstGeom prst="rect">
            <a:avLst/>
          </a:prstGeom>
          <a:noFill/>
          <a:ln/>
        </p:spPr>
        <p:txBody>
          <a:bodyPr wrap="square" lIns="0" tIns="0" rIns="0" bIns="0" rtlCol="0" anchor="ctr"/>
          <a:lstStyle/>
          <a:p>
            <a:pPr algn="l" indent="0" marL="0">
              <a:buNone/>
            </a:pPr>
            <a:r>
              <a:rPr lang="en-US" sz="1260" dirty="0">
                <a:solidFill>
                  <a:srgbClr val="243B53"/>
                </a:solidFill>
                <a:latin typeface="Aptos" pitchFamily="34" charset="0"/>
                <a:ea typeface="Aptos" pitchFamily="34" charset="-122"/>
                <a:cs typeface="Aptos" pitchFamily="34" charset="-120"/>
              </a:rPr>
              <a:t>Antes → dentro</a:t>
            </a:r>
            <a:endParaRPr lang="en-US" sz="1260" dirty="0"/>
          </a:p>
        </p:txBody>
      </p:sp>
      <p:sp>
        <p:nvSpPr>
          <p:cNvPr id="27" name="Text 24"/>
          <p:cNvSpPr txBox="1"/>
          <p:nvPr/>
        </p:nvSpPr>
        <p:spPr>
          <a:xfrm>
            <a:off x="3986784" y="3401568"/>
            <a:ext cx="2286000" cy="457200"/>
          </a:xfrm>
          <a:prstGeom prst="rect">
            <a:avLst/>
          </a:prstGeom>
          <a:noFill/>
          <a:ln/>
        </p:spPr>
        <p:txBody>
          <a:bodyPr wrap="square" lIns="0" tIns="0" rIns="0" bIns="0" rtlCol="0" anchor="ctr"/>
          <a:lstStyle/>
          <a:p>
            <a:pPr algn="l" indent="0" marL="0">
              <a:buNone/>
            </a:pPr>
            <a:r>
              <a:rPr lang="en-US" sz="1300" b="1" dirty="0">
                <a:solidFill>
                  <a:srgbClr val="8A6A12"/>
                </a:solidFill>
                <a:latin typeface="Consolas" pitchFamily="34" charset="0"/>
                <a:ea typeface="Consolas" pitchFamily="34" charset="-122"/>
                <a:cs typeface="Consolas" pitchFamily="34" charset="-120"/>
              </a:rPr>
              <a:t>0</a:t>
            </a:r>
            <a:endParaRPr lang="en-US" sz="1300" dirty="0"/>
          </a:p>
        </p:txBody>
      </p:sp>
      <p:sp>
        <p:nvSpPr>
          <p:cNvPr id="28" name="Text 25"/>
          <p:cNvSpPr txBox="1"/>
          <p:nvPr/>
        </p:nvSpPr>
        <p:spPr>
          <a:xfrm>
            <a:off x="6547104" y="3401568"/>
            <a:ext cx="2286000" cy="457200"/>
          </a:xfrm>
          <a:prstGeom prst="rect">
            <a:avLst/>
          </a:prstGeom>
          <a:noFill/>
          <a:ln/>
        </p:spPr>
        <p:txBody>
          <a:bodyPr wrap="square" lIns="0" tIns="0" rIns="0" bIns="0" rtlCol="0" anchor="ctr"/>
          <a:lstStyle/>
          <a:p>
            <a:pPr algn="l" indent="0" marL="0">
              <a:buNone/>
            </a:pPr>
            <a:r>
              <a:rPr lang="en-US" sz="1300" b="1" dirty="0">
                <a:solidFill>
                  <a:srgbClr val="8A6A12"/>
                </a:solidFill>
                <a:latin typeface="Consolas" pitchFamily="34" charset="0"/>
                <a:ea typeface="Consolas" pitchFamily="34" charset="-122"/>
                <a:cs typeface="Consolas" pitchFamily="34" charset="-120"/>
              </a:rPr>
              <a:t>1</a:t>
            </a:r>
            <a:endParaRPr lang="en-US" sz="1300" dirty="0"/>
          </a:p>
        </p:txBody>
      </p:sp>
      <p:sp>
        <p:nvSpPr>
          <p:cNvPr id="29" name="Text 26"/>
          <p:cNvSpPr txBox="1"/>
          <p:nvPr/>
        </p:nvSpPr>
        <p:spPr>
          <a:xfrm>
            <a:off x="9107424" y="3401568"/>
            <a:ext cx="2368296" cy="457200"/>
          </a:xfrm>
          <a:prstGeom prst="rect">
            <a:avLst/>
          </a:prstGeom>
          <a:noFill/>
          <a:ln/>
        </p:spPr>
        <p:txBody>
          <a:bodyPr wrap="square" lIns="0" tIns="0" rIns="0" bIns="0" rtlCol="0" anchor="ctr"/>
          <a:lstStyle/>
          <a:p>
            <a:pPr algn="l" indent="0" marL="0">
              <a:buNone/>
            </a:pPr>
            <a:r>
              <a:rPr lang="en-US" sz="1300" dirty="0">
                <a:solidFill>
                  <a:srgbClr val="243B53"/>
                </a:solidFill>
                <a:latin typeface="Consolas" pitchFamily="34" charset="0"/>
                <a:ea typeface="Consolas" pitchFamily="34" charset="-122"/>
                <a:cs typeface="Consolas" pitchFamily="34" charset="-120"/>
              </a:rPr>
              <a:t>False → True</a:t>
            </a:r>
            <a:endParaRPr lang="en-US" sz="1300" dirty="0"/>
          </a:p>
        </p:txBody>
      </p:sp>
      <p:sp>
        <p:nvSpPr>
          <p:cNvPr id="30" name="Shape 27"/>
          <p:cNvSpPr/>
          <p:nvPr/>
        </p:nvSpPr>
        <p:spPr>
          <a:xfrm>
            <a:off x="658368" y="3950208"/>
            <a:ext cx="10874959" cy="493776"/>
          </a:xfrm>
          <a:prstGeom prst="rect">
            <a:avLst/>
          </a:prstGeom>
          <a:solidFill>
            <a:srgbClr val="EDE6DA"/>
          </a:solidFill>
          <a:ln w="12700">
            <a:solidFill>
              <a:srgbClr val="EDE6DA"/>
            </a:solidFill>
            <a:prstDash val="solid"/>
          </a:ln>
        </p:spPr>
      </p:sp>
      <p:sp>
        <p:nvSpPr>
          <p:cNvPr id="31" name="Shape 28"/>
          <p:cNvSpPr/>
          <p:nvPr/>
        </p:nvSpPr>
        <p:spPr>
          <a:xfrm>
            <a:off x="658368" y="3950208"/>
            <a:ext cx="54864" cy="493776"/>
          </a:xfrm>
          <a:prstGeom prst="rect">
            <a:avLst/>
          </a:prstGeom>
          <a:solidFill>
            <a:srgbClr val="8A6A12"/>
          </a:solidFill>
          <a:ln w="12700">
            <a:solidFill>
              <a:srgbClr val="8A6A12"/>
            </a:solidFill>
            <a:prstDash val="solid"/>
          </a:ln>
        </p:spPr>
      </p:sp>
      <p:sp>
        <p:nvSpPr>
          <p:cNvPr id="32" name="Text 29"/>
          <p:cNvSpPr txBox="1"/>
          <p:nvPr/>
        </p:nvSpPr>
        <p:spPr>
          <a:xfrm>
            <a:off x="877824" y="3968496"/>
            <a:ext cx="2834640" cy="457200"/>
          </a:xfrm>
          <a:prstGeom prst="rect">
            <a:avLst/>
          </a:prstGeom>
          <a:noFill/>
          <a:ln/>
        </p:spPr>
        <p:txBody>
          <a:bodyPr wrap="square" lIns="0" tIns="0" rIns="0" bIns="0" rtlCol="0" anchor="ctr"/>
          <a:lstStyle/>
          <a:p>
            <a:pPr algn="l" indent="0" marL="0">
              <a:buNone/>
            </a:pPr>
            <a:r>
              <a:rPr lang="en-US" sz="1260" dirty="0">
                <a:solidFill>
                  <a:srgbClr val="243B53"/>
                </a:solidFill>
                <a:latin typeface="Aptos" pitchFamily="34" charset="0"/>
                <a:ea typeface="Aptos" pitchFamily="34" charset="-122"/>
                <a:cs typeface="Aptos" pitchFamily="34" charset="-120"/>
              </a:rPr>
              <a:t>Dentro → después</a:t>
            </a:r>
            <a:endParaRPr lang="en-US" sz="1260" dirty="0"/>
          </a:p>
        </p:txBody>
      </p:sp>
      <p:sp>
        <p:nvSpPr>
          <p:cNvPr id="33" name="Text 30"/>
          <p:cNvSpPr txBox="1"/>
          <p:nvPr/>
        </p:nvSpPr>
        <p:spPr>
          <a:xfrm>
            <a:off x="3986784" y="3968496"/>
            <a:ext cx="2286000" cy="457200"/>
          </a:xfrm>
          <a:prstGeom prst="rect">
            <a:avLst/>
          </a:prstGeom>
          <a:noFill/>
          <a:ln/>
        </p:spPr>
        <p:txBody>
          <a:bodyPr wrap="square" lIns="0" tIns="0" rIns="0" bIns="0" rtlCol="0" anchor="ctr"/>
          <a:lstStyle/>
          <a:p>
            <a:pPr algn="l" indent="0" marL="0">
              <a:buNone/>
            </a:pPr>
            <a:r>
              <a:rPr lang="en-US" sz="1300" b="1" dirty="0">
                <a:solidFill>
                  <a:srgbClr val="8A6A12"/>
                </a:solidFill>
                <a:latin typeface="Consolas" pitchFamily="34" charset="0"/>
                <a:ea typeface="Consolas" pitchFamily="34" charset="-122"/>
                <a:cs typeface="Consolas" pitchFamily="34" charset="-120"/>
              </a:rPr>
              <a:t>8</a:t>
            </a:r>
            <a:endParaRPr lang="en-US" sz="1300" dirty="0"/>
          </a:p>
        </p:txBody>
      </p:sp>
      <p:sp>
        <p:nvSpPr>
          <p:cNvPr id="34" name="Text 31"/>
          <p:cNvSpPr txBox="1"/>
          <p:nvPr/>
        </p:nvSpPr>
        <p:spPr>
          <a:xfrm>
            <a:off x="6547104" y="3968496"/>
            <a:ext cx="2286000" cy="457200"/>
          </a:xfrm>
          <a:prstGeom prst="rect">
            <a:avLst/>
          </a:prstGeom>
          <a:noFill/>
          <a:ln/>
        </p:spPr>
        <p:txBody>
          <a:bodyPr wrap="square" lIns="0" tIns="0" rIns="0" bIns="0" rtlCol="0" anchor="ctr"/>
          <a:lstStyle/>
          <a:p>
            <a:pPr algn="l" indent="0" marL="0">
              <a:buNone/>
            </a:pPr>
            <a:r>
              <a:rPr lang="en-US" sz="1300" b="1" dirty="0">
                <a:solidFill>
                  <a:srgbClr val="8A6A12"/>
                </a:solidFill>
                <a:latin typeface="Consolas" pitchFamily="34" charset="0"/>
                <a:ea typeface="Consolas" pitchFamily="34" charset="-122"/>
                <a:cs typeface="Consolas" pitchFamily="34" charset="-120"/>
              </a:rPr>
              <a:t>9</a:t>
            </a:r>
            <a:endParaRPr lang="en-US" sz="1300" dirty="0"/>
          </a:p>
        </p:txBody>
      </p:sp>
      <p:sp>
        <p:nvSpPr>
          <p:cNvPr id="35" name="Text 32"/>
          <p:cNvSpPr txBox="1"/>
          <p:nvPr/>
        </p:nvSpPr>
        <p:spPr>
          <a:xfrm>
            <a:off x="9107424" y="3968496"/>
            <a:ext cx="2368296" cy="457200"/>
          </a:xfrm>
          <a:prstGeom prst="rect">
            <a:avLst/>
          </a:prstGeom>
          <a:noFill/>
          <a:ln/>
        </p:spPr>
        <p:txBody>
          <a:bodyPr wrap="square" lIns="0" tIns="0" rIns="0" bIns="0" rtlCol="0" anchor="ctr"/>
          <a:lstStyle/>
          <a:p>
            <a:pPr algn="l" indent="0" marL="0">
              <a:buNone/>
            </a:pPr>
            <a:r>
              <a:rPr lang="en-US" sz="1300" dirty="0">
                <a:solidFill>
                  <a:srgbClr val="243B53"/>
                </a:solidFill>
                <a:latin typeface="Consolas" pitchFamily="34" charset="0"/>
                <a:ea typeface="Consolas" pitchFamily="34" charset="-122"/>
                <a:cs typeface="Consolas" pitchFamily="34" charset="-120"/>
              </a:rPr>
              <a:t>True → False</a:t>
            </a:r>
            <a:endParaRPr lang="en-US" sz="1300" dirty="0"/>
          </a:p>
        </p:txBody>
      </p:sp>
      <p:sp>
        <p:nvSpPr>
          <p:cNvPr id="36" name="Shape 33"/>
          <p:cNvSpPr/>
          <p:nvPr/>
        </p:nvSpPr>
        <p:spPr>
          <a:xfrm>
            <a:off x="658368" y="4626864"/>
            <a:ext cx="10874959" cy="841248"/>
          </a:xfrm>
          <a:prstGeom prst="rect">
            <a:avLst/>
          </a:prstGeom>
          <a:solidFill>
            <a:srgbClr val="F2E7D9"/>
          </a:solidFill>
          <a:ln w="12700">
            <a:solidFill>
              <a:srgbClr val="F2E7D9"/>
            </a:solidFill>
            <a:prstDash val="solid"/>
          </a:ln>
        </p:spPr>
      </p:sp>
      <p:sp>
        <p:nvSpPr>
          <p:cNvPr id="37" name="Shape 34"/>
          <p:cNvSpPr/>
          <p:nvPr/>
        </p:nvSpPr>
        <p:spPr>
          <a:xfrm>
            <a:off x="658368" y="4626864"/>
            <a:ext cx="64008" cy="841248"/>
          </a:xfrm>
          <a:prstGeom prst="rect">
            <a:avLst/>
          </a:prstGeom>
          <a:solidFill>
            <a:srgbClr val="8A6A12"/>
          </a:solidFill>
          <a:ln w="12700">
            <a:solidFill>
              <a:srgbClr val="8A6A12"/>
            </a:solidFill>
            <a:prstDash val="solid"/>
          </a:ln>
        </p:spPr>
      </p:sp>
      <p:sp>
        <p:nvSpPr>
          <p:cNvPr id="38" name="Text 35"/>
          <p:cNvSpPr txBox="1"/>
          <p:nvPr/>
        </p:nvSpPr>
        <p:spPr>
          <a:xfrm>
            <a:off x="987552" y="4718304"/>
            <a:ext cx="4572000" cy="329184"/>
          </a:xfrm>
          <a:prstGeom prst="rect">
            <a:avLst/>
          </a:prstGeom>
          <a:noFill/>
          <a:ln/>
        </p:spPr>
        <p:txBody>
          <a:bodyPr wrap="square" lIns="0" tIns="0" rIns="0" bIns="0" rtlCol="0" anchor="t"/>
          <a:lstStyle/>
          <a:p>
            <a:pPr algn="l" indent="0" marL="0">
              <a:buNone/>
            </a:pPr>
            <a:r>
              <a:rPr lang="en-US" sz="1500" b="1" dirty="0">
                <a:solidFill>
                  <a:srgbClr val="243B53"/>
                </a:solidFill>
                <a:latin typeface="Consolas" pitchFamily="34" charset="0"/>
                <a:ea typeface="Consolas" pitchFamily="34" charset="-122"/>
                <a:cs typeface="Consolas" pitchFamily="34" charset="-120"/>
              </a:rPr>
              <a:t>Los cuatro valores límite:  0, 1, 8, 9</a:t>
            </a:r>
            <a:endParaRPr lang="en-US" sz="1500" dirty="0"/>
          </a:p>
        </p:txBody>
      </p:sp>
      <p:sp>
        <p:nvSpPr>
          <p:cNvPr id="39" name="Text 36"/>
          <p:cNvSpPr txBox="1"/>
          <p:nvPr/>
        </p:nvSpPr>
        <p:spPr>
          <a:xfrm>
            <a:off x="987552" y="5084064"/>
            <a:ext cx="10216591" cy="274320"/>
          </a:xfrm>
          <a:prstGeom prst="rect">
            <a:avLst/>
          </a:prstGeom>
          <a:noFill/>
          <a:ln/>
        </p:spPr>
        <p:txBody>
          <a:bodyPr wrap="square" lIns="0" tIns="0" rIns="0" bIns="0" rtlCol="0" anchor="t"/>
          <a:lstStyle/>
          <a:p>
            <a:pPr algn="l" indent="0" marL="0">
              <a:buNone/>
            </a:pPr>
            <a:r>
              <a:rPr lang="en-US" sz="1240" dirty="0">
                <a:solidFill>
                  <a:srgbClr val="243B53"/>
                </a:solidFill>
                <a:latin typeface="Aptos" pitchFamily="34" charset="0"/>
                <a:ea typeface="Aptos" pitchFamily="34" charset="-122"/>
                <a:cs typeface="Aptos" pitchFamily="34" charset="-120"/>
              </a:rPr>
              <a:t>El 0 y el 9 pertenecen a clases inválidas, y aun así son límites: son los bordes de esas clases.</a:t>
            </a:r>
            <a:endParaRPr lang="en-US" sz="1240" dirty="0"/>
          </a:p>
        </p:txBody>
      </p:sp>
      <p:sp>
        <p:nvSpPr>
          <p:cNvPr id="40" name="Shape 37"/>
          <p:cNvSpPr/>
          <p:nvPr/>
        </p:nvSpPr>
        <p:spPr>
          <a:xfrm>
            <a:off x="658368" y="5650992"/>
            <a:ext cx="10874959" cy="530352"/>
          </a:xfrm>
          <a:prstGeom prst="rect">
            <a:avLst/>
          </a:prstGeom>
          <a:solidFill>
            <a:srgbClr val="102A43"/>
          </a:solidFill>
          <a:ln w="12700">
            <a:solidFill>
              <a:srgbClr val="102A43"/>
            </a:solidFill>
            <a:prstDash val="solid"/>
          </a:ln>
        </p:spPr>
      </p:sp>
      <p:sp>
        <p:nvSpPr>
          <p:cNvPr id="41" name="Text 38"/>
          <p:cNvSpPr txBox="1"/>
          <p:nvPr/>
        </p:nvSpPr>
        <p:spPr>
          <a:xfrm>
            <a:off x="969264" y="5687568"/>
            <a:ext cx="10253167" cy="457200"/>
          </a:xfrm>
          <a:prstGeom prst="rect">
            <a:avLst/>
          </a:prstGeom>
          <a:noFill/>
          <a:ln/>
        </p:spPr>
        <p:txBody>
          <a:bodyPr wrap="square" lIns="0" tIns="0" rIns="0" bIns="0" rtlCol="0" anchor="ctr"/>
          <a:lstStyle/>
          <a:p>
            <a:pPr algn="ctr" indent="0" marL="0">
              <a:lnSpc>
                <a:spcPct val="110000"/>
              </a:lnSpc>
              <a:buNone/>
            </a:pPr>
            <a:r>
              <a:rPr lang="en-US" sz="1340" b="1" dirty="0">
                <a:solidFill>
                  <a:srgbClr val="FFFFFF"/>
                </a:solidFill>
                <a:latin typeface="Aptos" pitchFamily="34" charset="0"/>
                <a:ea typeface="Aptos" pitchFamily="34" charset="-122"/>
                <a:cs typeface="Aptos" pitchFamily="34" charset="-120"/>
              </a:rPr>
              <a:t>«Probar cerca del máximo» no dice máximo de qué, si está incluido, ni con qué separación. Este procedimiento sí.</a:t>
            </a:r>
            <a:endParaRPr lang="en-US" sz="134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47</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CUÁNTOS VECINOS SE TOMAN</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Dos variantes, y el criterio escrito</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Un vecino es el valor inmediatamente anterior o posterior dentro del dominio declarado. Aquí, enteros.</a:t>
            </a:r>
            <a:endParaRPr lang="en-US" sz="1450" dirty="0"/>
          </a:p>
        </p:txBody>
      </p:sp>
      <p:sp>
        <p:nvSpPr>
          <p:cNvPr id="11" name="Shape 8"/>
          <p:cNvSpPr/>
          <p:nvPr/>
        </p:nvSpPr>
        <p:spPr>
          <a:xfrm>
            <a:off x="658368" y="2286000"/>
            <a:ext cx="5358384" cy="1700784"/>
          </a:xfrm>
          <a:prstGeom prst="rect">
            <a:avLst/>
          </a:prstGeom>
          <a:solidFill>
            <a:srgbClr val="E6EEF7"/>
          </a:solidFill>
          <a:ln w="12700">
            <a:solidFill>
              <a:srgbClr val="E6EEF7"/>
            </a:solidFill>
            <a:prstDash val="solid"/>
          </a:ln>
        </p:spPr>
      </p:sp>
      <p:sp>
        <p:nvSpPr>
          <p:cNvPr id="12" name="Shape 9"/>
          <p:cNvSpPr/>
          <p:nvPr/>
        </p:nvSpPr>
        <p:spPr>
          <a:xfrm>
            <a:off x="658368" y="2286000"/>
            <a:ext cx="5358384" cy="64008"/>
          </a:xfrm>
          <a:prstGeom prst="rect">
            <a:avLst/>
          </a:prstGeom>
          <a:solidFill>
            <a:srgbClr val="102A43"/>
          </a:solidFill>
          <a:ln w="12700">
            <a:solidFill>
              <a:srgbClr val="102A43"/>
            </a:solidFill>
            <a:prstDash val="solid"/>
          </a:ln>
        </p:spPr>
      </p:sp>
      <p:sp>
        <p:nvSpPr>
          <p:cNvPr id="13" name="Text 10"/>
          <p:cNvSpPr txBox="1"/>
          <p:nvPr/>
        </p:nvSpPr>
        <p:spPr>
          <a:xfrm>
            <a:off x="950976" y="2468880"/>
            <a:ext cx="3108960" cy="310896"/>
          </a:xfrm>
          <a:prstGeom prst="rect">
            <a:avLst/>
          </a:prstGeom>
          <a:noFill/>
          <a:ln/>
        </p:spPr>
        <p:txBody>
          <a:bodyPr wrap="square" lIns="0" tIns="0" rIns="0" bIns="0" rtlCol="0" anchor="t"/>
          <a:lstStyle/>
          <a:p>
            <a:pPr algn="l" indent="0" marL="0">
              <a:buNone/>
            </a:pPr>
            <a:r>
              <a:rPr lang="en-US" sz="2100" b="1" dirty="0">
                <a:solidFill>
                  <a:srgbClr val="102A43"/>
                </a:solidFill>
                <a:latin typeface="Aptos Display" pitchFamily="34" charset="0"/>
                <a:ea typeface="Aptos Display" pitchFamily="34" charset="-122"/>
                <a:cs typeface="Aptos Display" pitchFamily="34" charset="-120"/>
              </a:rPr>
              <a:t>Dos valores</a:t>
            </a:r>
            <a:endParaRPr lang="en-US" sz="2100" dirty="0"/>
          </a:p>
        </p:txBody>
      </p:sp>
      <p:sp>
        <p:nvSpPr>
          <p:cNvPr id="14" name="Text 11"/>
          <p:cNvSpPr txBox="1"/>
          <p:nvPr/>
        </p:nvSpPr>
        <p:spPr>
          <a:xfrm>
            <a:off x="4224528" y="2523744"/>
            <a:ext cx="1554480" cy="256032"/>
          </a:xfrm>
          <a:prstGeom prst="rect">
            <a:avLst/>
          </a:prstGeom>
          <a:noFill/>
          <a:ln/>
        </p:spPr>
        <p:txBody>
          <a:bodyPr wrap="square" lIns="0" tIns="0" rIns="0" bIns="0" rtlCol="0" anchor="t"/>
          <a:lstStyle/>
          <a:p>
            <a:pPr algn="r" indent="0" marL="0">
              <a:buNone/>
            </a:pPr>
            <a:r>
              <a:rPr lang="en-US" sz="1240" b="1" dirty="0">
                <a:solidFill>
                  <a:srgbClr val="102A43"/>
                </a:solidFill>
                <a:latin typeface="Aptos" pitchFamily="34" charset="0"/>
                <a:ea typeface="Aptos" pitchFamily="34" charset="-122"/>
                <a:cs typeface="Aptos" pitchFamily="34" charset="-120"/>
              </a:rPr>
              <a:t>4 casos</a:t>
            </a:r>
            <a:endParaRPr lang="en-US" sz="1240" dirty="0"/>
          </a:p>
        </p:txBody>
      </p:sp>
      <p:sp>
        <p:nvSpPr>
          <p:cNvPr id="15" name="Text 12"/>
          <p:cNvSpPr txBox="1"/>
          <p:nvPr/>
        </p:nvSpPr>
        <p:spPr>
          <a:xfrm>
            <a:off x="950976" y="2852928"/>
            <a:ext cx="4754880" cy="402336"/>
          </a:xfrm>
          <a:prstGeom prst="rect">
            <a:avLst/>
          </a:prstGeom>
          <a:noFill/>
          <a:ln/>
        </p:spPr>
        <p:txBody>
          <a:bodyPr wrap="square" lIns="0" tIns="0" rIns="0" bIns="0" rtlCol="0" anchor="t"/>
          <a:lstStyle/>
          <a:p>
            <a:pPr algn="l" indent="0" marL="0">
              <a:lnSpc>
                <a:spcPct val="114000"/>
              </a:lnSpc>
              <a:buNone/>
            </a:pPr>
            <a:r>
              <a:rPr lang="en-US" sz="1240" dirty="0">
                <a:solidFill>
                  <a:srgbClr val="243B53"/>
                </a:solidFill>
                <a:latin typeface="Aptos" pitchFamily="34" charset="0"/>
                <a:ea typeface="Aptos" pitchFamily="34" charset="-122"/>
                <a:cs typeface="Aptos" pitchFamily="34" charset="-120"/>
              </a:rPr>
              <a:t>Cada límite y su vecino inmediato en la clase de al lado.</a:t>
            </a:r>
            <a:endParaRPr lang="en-US" sz="1240" dirty="0"/>
          </a:p>
        </p:txBody>
      </p:sp>
      <p:sp>
        <p:nvSpPr>
          <p:cNvPr id="16" name="Shape 13"/>
          <p:cNvSpPr/>
          <p:nvPr/>
        </p:nvSpPr>
        <p:spPr>
          <a:xfrm>
            <a:off x="950976" y="3310128"/>
            <a:ext cx="4754880" cy="457200"/>
          </a:xfrm>
          <a:prstGeom prst="rect">
            <a:avLst/>
          </a:prstGeom>
          <a:solidFill>
            <a:srgbClr val="FFFFFF"/>
          </a:solidFill>
          <a:ln w="12700">
            <a:solidFill>
              <a:srgbClr val="FFFFFF"/>
            </a:solidFill>
            <a:prstDash val="solid"/>
          </a:ln>
        </p:spPr>
      </p:sp>
      <p:sp>
        <p:nvSpPr>
          <p:cNvPr id="17" name="Text 14"/>
          <p:cNvSpPr txBox="1"/>
          <p:nvPr/>
        </p:nvSpPr>
        <p:spPr>
          <a:xfrm>
            <a:off x="1115568" y="3328416"/>
            <a:ext cx="4480560" cy="420624"/>
          </a:xfrm>
          <a:prstGeom prst="rect">
            <a:avLst/>
          </a:prstGeom>
          <a:noFill/>
          <a:ln/>
        </p:spPr>
        <p:txBody>
          <a:bodyPr wrap="square" lIns="0" tIns="0" rIns="0" bIns="0" rtlCol="0" anchor="ctr"/>
          <a:lstStyle/>
          <a:p>
            <a:pPr algn="l" indent="0" marL="0">
              <a:buNone/>
            </a:pPr>
            <a:r>
              <a:rPr lang="en-US" sz="1300" b="1" dirty="0">
                <a:solidFill>
                  <a:srgbClr val="243B53"/>
                </a:solidFill>
                <a:latin typeface="Consolas" pitchFamily="34" charset="0"/>
                <a:ea typeface="Consolas" pitchFamily="34" charset="-122"/>
                <a:cs typeface="Consolas" pitchFamily="34" charset="-120"/>
              </a:rPr>
              <a:t>0, 1, 8, 9</a:t>
            </a:r>
            <a:endParaRPr lang="en-US" sz="1300" dirty="0"/>
          </a:p>
        </p:txBody>
      </p:sp>
      <p:sp>
        <p:nvSpPr>
          <p:cNvPr id="18" name="Shape 15"/>
          <p:cNvSpPr/>
          <p:nvPr/>
        </p:nvSpPr>
        <p:spPr>
          <a:xfrm>
            <a:off x="6172200" y="2286000"/>
            <a:ext cx="5358384" cy="1700784"/>
          </a:xfrm>
          <a:prstGeom prst="rect">
            <a:avLst/>
          </a:prstGeom>
          <a:solidFill>
            <a:srgbClr val="F2E7D9"/>
          </a:solidFill>
          <a:ln w="12700">
            <a:solidFill>
              <a:srgbClr val="F2E7D9"/>
            </a:solidFill>
            <a:prstDash val="solid"/>
          </a:ln>
        </p:spPr>
      </p:sp>
      <p:sp>
        <p:nvSpPr>
          <p:cNvPr id="19" name="Shape 16"/>
          <p:cNvSpPr/>
          <p:nvPr/>
        </p:nvSpPr>
        <p:spPr>
          <a:xfrm>
            <a:off x="6172200" y="2286000"/>
            <a:ext cx="5358384" cy="64008"/>
          </a:xfrm>
          <a:prstGeom prst="rect">
            <a:avLst/>
          </a:prstGeom>
          <a:solidFill>
            <a:srgbClr val="8A6A12"/>
          </a:solidFill>
          <a:ln w="12700">
            <a:solidFill>
              <a:srgbClr val="8A6A12"/>
            </a:solidFill>
            <a:prstDash val="solid"/>
          </a:ln>
        </p:spPr>
      </p:sp>
      <p:sp>
        <p:nvSpPr>
          <p:cNvPr id="20" name="Text 17"/>
          <p:cNvSpPr txBox="1"/>
          <p:nvPr/>
        </p:nvSpPr>
        <p:spPr>
          <a:xfrm>
            <a:off x="6464808" y="2468880"/>
            <a:ext cx="3108960" cy="310896"/>
          </a:xfrm>
          <a:prstGeom prst="rect">
            <a:avLst/>
          </a:prstGeom>
          <a:noFill/>
          <a:ln/>
        </p:spPr>
        <p:txBody>
          <a:bodyPr wrap="square" lIns="0" tIns="0" rIns="0" bIns="0" rtlCol="0" anchor="t"/>
          <a:lstStyle/>
          <a:p>
            <a:pPr algn="l" indent="0" marL="0">
              <a:buNone/>
            </a:pPr>
            <a:r>
              <a:rPr lang="en-US" sz="2100" b="1" dirty="0">
                <a:solidFill>
                  <a:srgbClr val="8A6A12"/>
                </a:solidFill>
                <a:latin typeface="Aptos Display" pitchFamily="34" charset="0"/>
                <a:ea typeface="Aptos Display" pitchFamily="34" charset="-122"/>
                <a:cs typeface="Aptos Display" pitchFamily="34" charset="-120"/>
              </a:rPr>
              <a:t>Tres valores</a:t>
            </a:r>
            <a:endParaRPr lang="en-US" sz="2100" dirty="0"/>
          </a:p>
        </p:txBody>
      </p:sp>
      <p:sp>
        <p:nvSpPr>
          <p:cNvPr id="21" name="Text 18"/>
          <p:cNvSpPr txBox="1"/>
          <p:nvPr/>
        </p:nvSpPr>
        <p:spPr>
          <a:xfrm>
            <a:off x="9738360" y="2523744"/>
            <a:ext cx="1554480" cy="256032"/>
          </a:xfrm>
          <a:prstGeom prst="rect">
            <a:avLst/>
          </a:prstGeom>
          <a:noFill/>
          <a:ln/>
        </p:spPr>
        <p:txBody>
          <a:bodyPr wrap="square" lIns="0" tIns="0" rIns="0" bIns="0" rtlCol="0" anchor="t"/>
          <a:lstStyle/>
          <a:p>
            <a:pPr algn="r" indent="0" marL="0">
              <a:buNone/>
            </a:pPr>
            <a:r>
              <a:rPr lang="en-US" sz="1240" b="1" dirty="0">
                <a:solidFill>
                  <a:srgbClr val="8A6A12"/>
                </a:solidFill>
                <a:latin typeface="Aptos" pitchFamily="34" charset="0"/>
                <a:ea typeface="Aptos" pitchFamily="34" charset="-122"/>
                <a:cs typeface="Aptos" pitchFamily="34" charset="-120"/>
              </a:rPr>
              <a:t>8 casos</a:t>
            </a:r>
            <a:endParaRPr lang="en-US" sz="1240" dirty="0"/>
          </a:p>
        </p:txBody>
      </p:sp>
      <p:sp>
        <p:nvSpPr>
          <p:cNvPr id="22" name="Text 19"/>
          <p:cNvSpPr txBox="1"/>
          <p:nvPr/>
        </p:nvSpPr>
        <p:spPr>
          <a:xfrm>
            <a:off x="6464808" y="2852928"/>
            <a:ext cx="4754880" cy="402336"/>
          </a:xfrm>
          <a:prstGeom prst="rect">
            <a:avLst/>
          </a:prstGeom>
          <a:noFill/>
          <a:ln/>
        </p:spPr>
        <p:txBody>
          <a:bodyPr wrap="square" lIns="0" tIns="0" rIns="0" bIns="0" rtlCol="0" anchor="t"/>
          <a:lstStyle/>
          <a:p>
            <a:pPr algn="l" indent="0" marL="0">
              <a:lnSpc>
                <a:spcPct val="114000"/>
              </a:lnSpc>
              <a:buNone/>
            </a:pPr>
            <a:r>
              <a:rPr lang="en-US" sz="1240" dirty="0">
                <a:solidFill>
                  <a:srgbClr val="243B53"/>
                </a:solidFill>
                <a:latin typeface="Aptos" pitchFamily="34" charset="0"/>
                <a:ea typeface="Aptos" pitchFamily="34" charset="-122"/>
                <a:cs typeface="Aptos" pitchFamily="34" charset="-120"/>
              </a:rPr>
              <a:t>Cada límite y sus dos vecinos inmediatos, a ambos lados.</a:t>
            </a:r>
            <a:endParaRPr lang="en-US" sz="1240" dirty="0"/>
          </a:p>
        </p:txBody>
      </p:sp>
      <p:sp>
        <p:nvSpPr>
          <p:cNvPr id="23" name="Shape 20"/>
          <p:cNvSpPr/>
          <p:nvPr/>
        </p:nvSpPr>
        <p:spPr>
          <a:xfrm>
            <a:off x="6464808" y="3310128"/>
            <a:ext cx="4754880" cy="457200"/>
          </a:xfrm>
          <a:prstGeom prst="rect">
            <a:avLst/>
          </a:prstGeom>
          <a:solidFill>
            <a:srgbClr val="FFFFFF"/>
          </a:solidFill>
          <a:ln w="12700">
            <a:solidFill>
              <a:srgbClr val="FFFFFF"/>
            </a:solidFill>
            <a:prstDash val="solid"/>
          </a:ln>
        </p:spPr>
      </p:sp>
      <p:sp>
        <p:nvSpPr>
          <p:cNvPr id="24" name="Text 21"/>
          <p:cNvSpPr txBox="1"/>
          <p:nvPr/>
        </p:nvSpPr>
        <p:spPr>
          <a:xfrm>
            <a:off x="6629400" y="3328416"/>
            <a:ext cx="4480560" cy="420624"/>
          </a:xfrm>
          <a:prstGeom prst="rect">
            <a:avLst/>
          </a:prstGeom>
          <a:noFill/>
          <a:ln/>
        </p:spPr>
        <p:txBody>
          <a:bodyPr wrap="square" lIns="0" tIns="0" rIns="0" bIns="0" rtlCol="0" anchor="ctr"/>
          <a:lstStyle/>
          <a:p>
            <a:pPr algn="l" indent="0" marL="0">
              <a:buNone/>
            </a:pPr>
            <a:r>
              <a:rPr lang="en-US" sz="1300" b="1" dirty="0">
                <a:solidFill>
                  <a:srgbClr val="243B53"/>
                </a:solidFill>
                <a:latin typeface="Consolas" pitchFamily="34" charset="0"/>
                <a:ea typeface="Consolas" pitchFamily="34" charset="-122"/>
                <a:cs typeface="Consolas" pitchFamily="34" charset="-120"/>
              </a:rPr>
              <a:t>-1, 0, 1, 2, 7, 8, 9, 10</a:t>
            </a:r>
            <a:endParaRPr lang="en-US" sz="1300" dirty="0"/>
          </a:p>
        </p:txBody>
      </p:sp>
      <p:sp>
        <p:nvSpPr>
          <p:cNvPr id="25" name="Shape 22"/>
          <p:cNvSpPr/>
          <p:nvPr/>
        </p:nvSpPr>
        <p:spPr>
          <a:xfrm>
            <a:off x="658368" y="4114800"/>
            <a:ext cx="45720" cy="182880"/>
          </a:xfrm>
          <a:prstGeom prst="rect">
            <a:avLst/>
          </a:prstGeom>
          <a:solidFill>
            <a:srgbClr val="8A6A12"/>
          </a:solidFill>
          <a:ln w="12700">
            <a:solidFill>
              <a:srgbClr val="8A6A12"/>
            </a:solidFill>
            <a:prstDash val="solid"/>
          </a:ln>
        </p:spPr>
      </p:sp>
      <p:sp>
        <p:nvSpPr>
          <p:cNvPr id="26" name="Text 23"/>
          <p:cNvSpPr txBox="1"/>
          <p:nvPr/>
        </p:nvSpPr>
        <p:spPr>
          <a:xfrm>
            <a:off x="804672" y="4105656"/>
            <a:ext cx="1060704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La distinción entre las dos variantes y su nomenclatura vienen del syllabus ISTQB CTFL v4.0.1, sección 4.2.2; la definición breve de ISO no las separa.</a:t>
            </a:r>
            <a:endParaRPr lang="en-US" sz="920" dirty="0"/>
          </a:p>
        </p:txBody>
      </p:sp>
      <p:sp>
        <p:nvSpPr>
          <p:cNvPr id="27" name="Shape 24"/>
          <p:cNvSpPr/>
          <p:nvPr/>
        </p:nvSpPr>
        <p:spPr>
          <a:xfrm>
            <a:off x="658368" y="4498848"/>
            <a:ext cx="10874959" cy="969264"/>
          </a:xfrm>
          <a:prstGeom prst="rect">
            <a:avLst/>
          </a:prstGeom>
          <a:solidFill>
            <a:srgbClr val="FFFFFF"/>
          </a:solidFill>
          <a:ln w="12700">
            <a:solidFill>
              <a:srgbClr val="FFFFFF"/>
            </a:solidFill>
            <a:prstDash val="solid"/>
          </a:ln>
        </p:spPr>
      </p:sp>
      <p:sp>
        <p:nvSpPr>
          <p:cNvPr id="28" name="Shape 25"/>
          <p:cNvSpPr/>
          <p:nvPr/>
        </p:nvSpPr>
        <p:spPr>
          <a:xfrm>
            <a:off x="658368" y="4498848"/>
            <a:ext cx="64008" cy="969264"/>
          </a:xfrm>
          <a:prstGeom prst="rect">
            <a:avLst/>
          </a:prstGeom>
          <a:solidFill>
            <a:srgbClr val="B3181E"/>
          </a:solidFill>
          <a:ln w="12700">
            <a:solidFill>
              <a:srgbClr val="B3181E"/>
            </a:solidFill>
            <a:prstDash val="solid"/>
          </a:ln>
        </p:spPr>
      </p:sp>
      <p:sp>
        <p:nvSpPr>
          <p:cNvPr id="29" name="Text 26"/>
          <p:cNvSpPr txBox="1"/>
          <p:nvPr/>
        </p:nvSpPr>
        <p:spPr>
          <a:xfrm>
            <a:off x="987552" y="4663440"/>
            <a:ext cx="54864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MÁS CASOS NO SIGNIFICA MEJORES PRUEBAS</a:t>
            </a:r>
            <a:endParaRPr lang="en-US" sz="960" dirty="0"/>
          </a:p>
        </p:txBody>
      </p:sp>
      <p:sp>
        <p:nvSpPr>
          <p:cNvPr id="30" name="Text 27"/>
          <p:cNvSpPr txBox="1"/>
          <p:nvPr/>
        </p:nvSpPr>
        <p:spPr>
          <a:xfrm>
            <a:off x="987552" y="4901184"/>
            <a:ext cx="10216591" cy="457200"/>
          </a:xfrm>
          <a:prstGeom prst="rect">
            <a:avLst/>
          </a:prstGeom>
          <a:noFill/>
          <a:ln/>
        </p:spPr>
        <p:txBody>
          <a:bodyPr wrap="square" lIns="0" tIns="0" rIns="0" bIns="0" rtlCol="0" anchor="t"/>
          <a:lstStyle/>
          <a:p>
            <a:pPr algn="l" indent="0" marL="0">
              <a:lnSpc>
                <a:spcPct val="114000"/>
              </a:lnSpc>
              <a:buNone/>
            </a:pPr>
            <a:r>
              <a:rPr lang="en-US" sz="1260" dirty="0">
                <a:solidFill>
                  <a:srgbClr val="243B53"/>
                </a:solidFill>
                <a:latin typeface="Aptos" pitchFamily="34" charset="0"/>
                <a:ea typeface="Aptos" pitchFamily="34" charset="-122"/>
                <a:cs typeface="Aptos" pitchFamily="34" charset="-120"/>
              </a:rPr>
              <a:t>La variante de tres valores agrega vecinos que se quedan dentro de su clase. Eso solo se justifica si se puede</a:t>
            </a:r>
            <a:endParaRPr lang="en-US" sz="1260" dirty="0"/>
          </a:p>
          <a:p>
            <a:pPr algn="l" indent="0" marL="0">
              <a:lnSpc>
                <a:spcPct val="114000"/>
              </a:lnSpc>
              <a:buNone/>
            </a:pPr>
            <a:r>
              <a:rPr lang="en-US" sz="1260" dirty="0">
                <a:solidFill>
                  <a:srgbClr val="243B53"/>
                </a:solidFill>
                <a:latin typeface="Aptos" pitchFamily="34" charset="0"/>
                <a:ea typeface="Aptos" pitchFamily="34" charset="-122"/>
                <a:cs typeface="Aptos" pitchFamily="34" charset="-120"/>
              </a:rPr>
              <a:t>nombrar qué error adicional permite exponer. La lámina siguiente muestra uno concreto.</a:t>
            </a:r>
            <a:endParaRPr lang="en-US" sz="1260" dirty="0"/>
          </a:p>
        </p:txBody>
      </p:sp>
      <p:sp>
        <p:nvSpPr>
          <p:cNvPr id="31" name="Shape 28"/>
          <p:cNvSpPr/>
          <p:nvPr/>
        </p:nvSpPr>
        <p:spPr>
          <a:xfrm>
            <a:off x="658368" y="5669280"/>
            <a:ext cx="10874959" cy="512064"/>
          </a:xfrm>
          <a:prstGeom prst="rect">
            <a:avLst/>
          </a:prstGeom>
          <a:solidFill>
            <a:srgbClr val="102A43"/>
          </a:solidFill>
          <a:ln w="12700">
            <a:solidFill>
              <a:srgbClr val="102A43"/>
            </a:solidFill>
            <a:prstDash val="solid"/>
          </a:ln>
        </p:spPr>
      </p:sp>
      <p:sp>
        <p:nvSpPr>
          <p:cNvPr id="32" name="Text 29"/>
          <p:cNvSpPr txBox="1"/>
          <p:nvPr/>
        </p:nvSpPr>
        <p:spPr>
          <a:xfrm>
            <a:off x="969264" y="5705856"/>
            <a:ext cx="10253167" cy="438912"/>
          </a:xfrm>
          <a:prstGeom prst="rect">
            <a:avLst/>
          </a:prstGeom>
          <a:noFill/>
          <a:ln/>
        </p:spPr>
        <p:txBody>
          <a:bodyPr wrap="square" lIns="0" tIns="0" rIns="0" bIns="0" rtlCol="0" anchor="ctr"/>
          <a:lstStyle/>
          <a:p>
            <a:pPr algn="ctr" indent="0" marL="0">
              <a:lnSpc>
                <a:spcPct val="110000"/>
              </a:lnSpc>
              <a:buNone/>
            </a:pPr>
            <a:r>
              <a:rPr lang="en-US" sz="1340" b="1" dirty="0">
                <a:solidFill>
                  <a:srgbClr val="FFFFFF"/>
                </a:solidFill>
                <a:latin typeface="Aptos" pitchFamily="34" charset="0"/>
                <a:ea typeface="Aptos" pitchFamily="34" charset="-122"/>
                <a:cs typeface="Aptos" pitchFamily="34" charset="-120"/>
              </a:rPr>
              <a:t>La variante se declara antes de escribir los casos, no se decide mirando cuáles pasaron.</a:t>
            </a:r>
            <a:endParaRPr lang="en-US" sz="134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48</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COMPROBAR</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Un defecto que los cuatro casos no ven</a:t>
            </a:r>
            <a:endParaRPr lang="en-US" sz="3000" dirty="0"/>
          </a:p>
        </p:txBody>
      </p:sp>
      <p:sp>
        <p:nvSpPr>
          <p:cNvPr id="10" name="Text 7"/>
          <p:cNvSpPr txBox="1"/>
          <p:nvPr/>
        </p:nvSpPr>
        <p:spPr>
          <a:xfrm>
            <a:off x="658368" y="1773936"/>
            <a:ext cx="72237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Una implementación alternativa, escrita para esta demostración, que acepta solo los dos extremos.</a:t>
            </a:r>
            <a:endParaRPr lang="en-US" sz="1450" dirty="0"/>
          </a:p>
        </p:txBody>
      </p:sp>
      <p:sp>
        <p:nvSpPr>
          <p:cNvPr id="11" name="Shape 8"/>
          <p:cNvSpPr/>
          <p:nvPr/>
        </p:nvSpPr>
        <p:spPr>
          <a:xfrm>
            <a:off x="8165592" y="1883664"/>
            <a:ext cx="1060704" cy="274320"/>
          </a:xfrm>
          <a:prstGeom prst="rect">
            <a:avLst/>
          </a:prstGeom>
          <a:solidFill>
            <a:srgbClr val="EDE6DA"/>
          </a:solidFill>
          <a:ln w="12700">
            <a:solidFill>
              <a:srgbClr val="EDE6DA"/>
            </a:solidFill>
            <a:prstDash val="solid"/>
          </a:ln>
        </p:spPr>
      </p:sp>
      <p:sp>
        <p:nvSpPr>
          <p:cNvPr id="12" name="Text 9"/>
          <p:cNvSpPr txBox="1"/>
          <p:nvPr/>
        </p:nvSpPr>
        <p:spPr>
          <a:xfrm>
            <a:off x="8165592"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Leer</a:t>
            </a:r>
            <a:endParaRPr lang="en-US" sz="940" dirty="0"/>
          </a:p>
        </p:txBody>
      </p:sp>
      <p:sp>
        <p:nvSpPr>
          <p:cNvPr id="13" name="Shape 10"/>
          <p:cNvSpPr/>
          <p:nvPr/>
        </p:nvSpPr>
        <p:spPr>
          <a:xfrm>
            <a:off x="9317736" y="1883664"/>
            <a:ext cx="1060704" cy="274320"/>
          </a:xfrm>
          <a:prstGeom prst="rect">
            <a:avLst/>
          </a:prstGeom>
          <a:solidFill>
            <a:srgbClr val="102A43"/>
          </a:solidFill>
          <a:ln w="12700">
            <a:solidFill>
              <a:srgbClr val="102A43"/>
            </a:solidFill>
            <a:prstDash val="solid"/>
          </a:ln>
        </p:spPr>
      </p:sp>
      <p:sp>
        <p:nvSpPr>
          <p:cNvPr id="14" name="Text 11"/>
          <p:cNvSpPr txBox="1"/>
          <p:nvPr/>
        </p:nvSpPr>
        <p:spPr>
          <a:xfrm>
            <a:off x="9317736"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FFFFFF"/>
                </a:solidFill>
                <a:latin typeface="Aptos" pitchFamily="34" charset="0"/>
                <a:ea typeface="Aptos" pitchFamily="34" charset="-122"/>
                <a:cs typeface="Aptos" pitchFamily="34" charset="-120"/>
              </a:rPr>
              <a:t>Predecir</a:t>
            </a:r>
            <a:endParaRPr lang="en-US" sz="940" dirty="0"/>
          </a:p>
        </p:txBody>
      </p:sp>
      <p:sp>
        <p:nvSpPr>
          <p:cNvPr id="15" name="Shape 12"/>
          <p:cNvSpPr/>
          <p:nvPr/>
        </p:nvSpPr>
        <p:spPr>
          <a:xfrm>
            <a:off x="10469880" y="1883664"/>
            <a:ext cx="1060704" cy="274320"/>
          </a:xfrm>
          <a:prstGeom prst="rect">
            <a:avLst/>
          </a:prstGeom>
          <a:solidFill>
            <a:srgbClr val="EDE6DA"/>
          </a:solidFill>
          <a:ln w="12700">
            <a:solidFill>
              <a:srgbClr val="EDE6DA"/>
            </a:solidFill>
            <a:prstDash val="solid"/>
          </a:ln>
        </p:spPr>
      </p:sp>
      <p:sp>
        <p:nvSpPr>
          <p:cNvPr id="16" name="Text 13"/>
          <p:cNvSpPr txBox="1"/>
          <p:nvPr/>
        </p:nvSpPr>
        <p:spPr>
          <a:xfrm>
            <a:off x="10469880"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Comprobar</a:t>
            </a:r>
            <a:endParaRPr lang="en-US" sz="940" dirty="0"/>
          </a:p>
        </p:txBody>
      </p:sp>
      <p:sp>
        <p:nvSpPr>
          <p:cNvPr id="17" name="Shape 14"/>
          <p:cNvSpPr/>
          <p:nvPr/>
        </p:nvSpPr>
        <p:spPr>
          <a:xfrm>
            <a:off x="658368" y="2286000"/>
            <a:ext cx="5532120" cy="1463040"/>
          </a:xfrm>
          <a:prstGeom prst="roundRect">
            <a:avLst>
              <a:gd name="adj" fmla="val 2500"/>
            </a:avLst>
          </a:prstGeom>
          <a:solidFill>
            <a:srgbClr val="102A43"/>
          </a:solidFill>
          <a:ln w="12700">
            <a:solidFill>
              <a:srgbClr val="102A43"/>
            </a:solidFill>
            <a:prstDash val="solid"/>
          </a:ln>
        </p:spPr>
      </p:sp>
      <p:sp>
        <p:nvSpPr>
          <p:cNvPr id="18" name="Shape 15"/>
          <p:cNvSpPr/>
          <p:nvPr/>
        </p:nvSpPr>
        <p:spPr>
          <a:xfrm>
            <a:off x="786384" y="2395728"/>
            <a:ext cx="5276088" cy="310896"/>
          </a:xfrm>
          <a:prstGeom prst="roundRect">
            <a:avLst>
              <a:gd name="adj" fmla="val 8824"/>
            </a:avLst>
          </a:prstGeom>
          <a:solidFill>
            <a:srgbClr val="284B75"/>
          </a:solidFill>
          <a:ln w="12700">
            <a:solidFill>
              <a:srgbClr val="284B75"/>
            </a:solidFill>
            <a:prstDash val="solid"/>
          </a:ln>
        </p:spPr>
      </p:sp>
      <p:sp>
        <p:nvSpPr>
          <p:cNvPr id="19" name="Text 16"/>
          <p:cNvSpPr/>
          <p:nvPr/>
        </p:nvSpPr>
        <p:spPr>
          <a:xfrm>
            <a:off x="896112" y="2468880"/>
            <a:ext cx="505663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 implementación defectuosa</a:t>
            </a:r>
            <a:endParaRPr lang="en-US" sz="100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5111496" cy="713232"/>
          </a:xfrm>
          <a:prstGeom prst="rect">
            <a:avLst/>
          </a:prstGeom>
        </p:spPr>
      </p:pic>
      <p:sp>
        <p:nvSpPr>
          <p:cNvPr id="21" name="Shape 17"/>
          <p:cNvSpPr/>
          <p:nvPr/>
        </p:nvSpPr>
        <p:spPr>
          <a:xfrm>
            <a:off x="6382512" y="2286000"/>
            <a:ext cx="5148072" cy="1463040"/>
          </a:xfrm>
          <a:prstGeom prst="rect">
            <a:avLst/>
          </a:prstGeom>
          <a:solidFill>
            <a:srgbClr val="F8E4E5"/>
          </a:solidFill>
          <a:ln w="12700">
            <a:solidFill>
              <a:srgbClr val="F8E4E5"/>
            </a:solidFill>
            <a:prstDash val="solid"/>
          </a:ln>
        </p:spPr>
      </p:sp>
      <p:sp>
        <p:nvSpPr>
          <p:cNvPr id="22" name="Shape 18"/>
          <p:cNvSpPr/>
          <p:nvPr/>
        </p:nvSpPr>
        <p:spPr>
          <a:xfrm>
            <a:off x="6382512" y="2286000"/>
            <a:ext cx="64008" cy="1463040"/>
          </a:xfrm>
          <a:prstGeom prst="rect">
            <a:avLst/>
          </a:prstGeom>
          <a:solidFill>
            <a:srgbClr val="B3181E"/>
          </a:solidFill>
          <a:ln w="12700">
            <a:solidFill>
              <a:srgbClr val="B3181E"/>
            </a:solidFill>
            <a:prstDash val="solid"/>
          </a:ln>
        </p:spPr>
      </p:sp>
      <p:sp>
        <p:nvSpPr>
          <p:cNvPr id="23" name="Text 19"/>
          <p:cNvSpPr txBox="1"/>
          <p:nvPr/>
        </p:nvSpPr>
        <p:spPr>
          <a:xfrm>
            <a:off x="6693408" y="2450592"/>
            <a:ext cx="402336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QUÉ HACE MAL</a:t>
            </a:r>
            <a:endParaRPr lang="en-US" sz="960" dirty="0"/>
          </a:p>
        </p:txBody>
      </p:sp>
      <p:sp>
        <p:nvSpPr>
          <p:cNvPr id="24" name="Text 20"/>
          <p:cNvSpPr txBox="1"/>
          <p:nvPr/>
        </p:nvSpPr>
        <p:spPr>
          <a:xfrm>
            <a:off x="6693408" y="2706624"/>
            <a:ext cx="4572000" cy="896112"/>
          </a:xfrm>
          <a:prstGeom prst="rect">
            <a:avLst/>
          </a:prstGeom>
          <a:noFill/>
          <a:ln/>
        </p:spPr>
        <p:txBody>
          <a:bodyPr wrap="square" lIns="0" tIns="0" rIns="0" bIns="0" rtlCol="0" anchor="t"/>
          <a:lstStyle/>
          <a:p>
            <a:pPr algn="l" indent="0" marL="0">
              <a:lnSpc>
                <a:spcPct val="118000"/>
              </a:lnSpc>
              <a:buNone/>
            </a:pPr>
            <a:r>
              <a:rPr lang="en-US" sz="1260" dirty="0">
                <a:solidFill>
                  <a:srgbClr val="243B53"/>
                </a:solidFill>
                <a:latin typeface="Aptos" pitchFamily="34" charset="0"/>
                <a:ea typeface="Aptos" pitchFamily="34" charset="-122"/>
                <a:cs typeface="Aptos" pitchFamily="34" charset="-120"/>
              </a:rPr>
              <a:t>Acepta el primero y el último de la jornada, y rechaza todos los de en medio: el 2, el 3, el 4…</a:t>
            </a:r>
            <a:endParaRPr lang="en-US" sz="1260" dirty="0"/>
          </a:p>
        </p:txBody>
      </p:sp>
      <p:sp>
        <p:nvSpPr>
          <p:cNvPr id="25" name="Shape 21"/>
          <p:cNvSpPr/>
          <p:nvPr/>
        </p:nvSpPr>
        <p:spPr>
          <a:xfrm>
            <a:off x="658368" y="3931920"/>
            <a:ext cx="10874959" cy="1499616"/>
          </a:xfrm>
          <a:prstGeom prst="roundRect">
            <a:avLst>
              <a:gd name="adj" fmla="val 2439"/>
            </a:avLst>
          </a:prstGeom>
          <a:solidFill>
            <a:srgbClr val="0F1720"/>
          </a:solidFill>
          <a:ln w="12700">
            <a:solidFill>
              <a:srgbClr val="0F1720"/>
            </a:solidFill>
            <a:prstDash val="solid"/>
          </a:ln>
        </p:spPr>
      </p:sp>
      <p:sp>
        <p:nvSpPr>
          <p:cNvPr id="26" name="Shape 22"/>
          <p:cNvSpPr/>
          <p:nvPr/>
        </p:nvSpPr>
        <p:spPr>
          <a:xfrm>
            <a:off x="786384" y="4041648"/>
            <a:ext cx="10618927" cy="310896"/>
          </a:xfrm>
          <a:prstGeom prst="roundRect">
            <a:avLst>
              <a:gd name="adj" fmla="val 8824"/>
            </a:avLst>
          </a:prstGeom>
          <a:solidFill>
            <a:srgbClr val="1E2937"/>
          </a:solidFill>
          <a:ln w="12700">
            <a:solidFill>
              <a:srgbClr val="1E2937"/>
            </a:solidFill>
            <a:prstDash val="solid"/>
          </a:ln>
        </p:spPr>
      </p:sp>
      <p:sp>
        <p:nvSpPr>
          <p:cNvPr id="27" name="Text 23"/>
          <p:cNvSpPr/>
          <p:nvPr/>
        </p:nvSpPr>
        <p:spPr>
          <a:xfrm>
            <a:off x="914400" y="4114800"/>
            <a:ext cx="10362895"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Cada conjunto de casos, comparado contra la regla del requisito</a:t>
            </a:r>
            <a:endParaRPr lang="en-US" sz="1000" dirty="0"/>
          </a:p>
        </p:txBody>
      </p:sp>
      <p:sp>
        <p:nvSpPr>
          <p:cNvPr id="28" name="Text 24"/>
          <p:cNvSpPr/>
          <p:nvPr/>
        </p:nvSpPr>
        <p:spPr>
          <a:xfrm>
            <a:off x="877824" y="4498848"/>
            <a:ext cx="10125151"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2 valores, desacuerdos: []</a:t>
            </a:r>
            <a:endParaRPr lang="en-US" sz="1040" dirty="0"/>
          </a:p>
        </p:txBody>
      </p:sp>
      <p:sp>
        <p:nvSpPr>
          <p:cNvPr id="29" name="Text 25"/>
          <p:cNvSpPr/>
          <p:nvPr/>
        </p:nvSpPr>
        <p:spPr>
          <a:xfrm>
            <a:off x="877824" y="4754880"/>
            <a:ext cx="10125151"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3 valores, desacuerdos: [2, 7]</a:t>
            </a:r>
            <a:endParaRPr lang="en-US" sz="1040" dirty="0"/>
          </a:p>
        </p:txBody>
      </p:sp>
      <p:sp>
        <p:nvSpPr>
          <p:cNvPr id="30" name="Shape 26"/>
          <p:cNvSpPr/>
          <p:nvPr/>
        </p:nvSpPr>
        <p:spPr>
          <a:xfrm>
            <a:off x="658368" y="5577840"/>
            <a:ext cx="10874959" cy="603504"/>
          </a:xfrm>
          <a:prstGeom prst="rect">
            <a:avLst/>
          </a:prstGeom>
          <a:solidFill>
            <a:srgbClr val="102A43"/>
          </a:solidFill>
          <a:ln w="12700">
            <a:solidFill>
              <a:srgbClr val="102A43"/>
            </a:solidFill>
            <a:prstDash val="solid"/>
          </a:ln>
        </p:spPr>
      </p:sp>
      <p:sp>
        <p:nvSpPr>
          <p:cNvPr id="31" name="Text 27"/>
          <p:cNvSpPr txBox="1"/>
          <p:nvPr/>
        </p:nvSpPr>
        <p:spPr>
          <a:xfrm>
            <a:off x="969264" y="5614416"/>
            <a:ext cx="10253167" cy="530352"/>
          </a:xfrm>
          <a:prstGeom prst="rect">
            <a:avLst/>
          </a:prstGeom>
          <a:noFill/>
          <a:ln/>
        </p:spPr>
        <p:txBody>
          <a:bodyPr wrap="square" lIns="0" tIns="0" rIns="0" bIns="0" rtlCol="0" anchor="ctr"/>
          <a:lstStyle/>
          <a:p>
            <a:pPr algn="ctr" indent="0" marL="0">
              <a:lnSpc>
                <a:spcPct val="110000"/>
              </a:lnSpc>
              <a:buNone/>
            </a:pPr>
            <a:r>
              <a:rPr lang="en-US" sz="1280" b="1" dirty="0">
                <a:solidFill>
                  <a:srgbClr val="FFFFFF"/>
                </a:solidFill>
                <a:latin typeface="Aptos" pitchFamily="34" charset="0"/>
                <a:ea typeface="Aptos" pitchFamily="34" charset="-122"/>
                <a:cs typeface="Aptos" pitchFamily="34" charset="-120"/>
              </a:rPr>
              <a:t>Los cuatro casos coinciden con el requisito y no delatan nada. Los vecinos interiores 2 y 7 sí. Eso justifica la ampliación frente a ESTE error, y no frente a cualquiera.</a:t>
            </a:r>
            <a:endParaRPr lang="en-US" sz="128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49</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DE DÓNDE SALEN LOS LÍMITES</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Dos suites que ejecutan el mismo bloque 8</a:t>
            </a:r>
            <a:endParaRPr lang="en-US" sz="3000" dirty="0"/>
          </a:p>
        </p:txBody>
      </p:sp>
      <p:sp>
        <p:nvSpPr>
          <p:cNvPr id="10" name="Text 7"/>
          <p:cNvSpPr txBox="1"/>
          <p:nvPr/>
        </p:nvSpPr>
        <p:spPr>
          <a:xfrm>
            <a:off x="658368" y="1773936"/>
            <a:ext cx="72237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Misma función, mismo número de casos, misma sintaxis. Cambia de dónde se sacaron los límites y el esperado.</a:t>
            </a:r>
            <a:endParaRPr lang="en-US" sz="1450" dirty="0"/>
          </a:p>
        </p:txBody>
      </p:sp>
      <p:sp>
        <p:nvSpPr>
          <p:cNvPr id="11" name="Shape 8"/>
          <p:cNvSpPr/>
          <p:nvPr/>
        </p:nvSpPr>
        <p:spPr>
          <a:xfrm>
            <a:off x="8165592" y="1883664"/>
            <a:ext cx="1060704" cy="274320"/>
          </a:xfrm>
          <a:prstGeom prst="rect">
            <a:avLst/>
          </a:prstGeom>
          <a:solidFill>
            <a:srgbClr val="102A43"/>
          </a:solidFill>
          <a:ln w="12700">
            <a:solidFill>
              <a:srgbClr val="102A43"/>
            </a:solidFill>
            <a:prstDash val="solid"/>
          </a:ln>
        </p:spPr>
      </p:sp>
      <p:sp>
        <p:nvSpPr>
          <p:cNvPr id="12" name="Text 9"/>
          <p:cNvSpPr txBox="1"/>
          <p:nvPr/>
        </p:nvSpPr>
        <p:spPr>
          <a:xfrm>
            <a:off x="8165592"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FFFFFF"/>
                </a:solidFill>
                <a:latin typeface="Aptos" pitchFamily="34" charset="0"/>
                <a:ea typeface="Aptos" pitchFamily="34" charset="-122"/>
                <a:cs typeface="Aptos" pitchFamily="34" charset="-120"/>
              </a:rPr>
              <a:t>Leer</a:t>
            </a:r>
            <a:endParaRPr lang="en-US" sz="940" dirty="0"/>
          </a:p>
        </p:txBody>
      </p:sp>
      <p:sp>
        <p:nvSpPr>
          <p:cNvPr id="13" name="Shape 10"/>
          <p:cNvSpPr/>
          <p:nvPr/>
        </p:nvSpPr>
        <p:spPr>
          <a:xfrm>
            <a:off x="9317736" y="1883664"/>
            <a:ext cx="1060704" cy="274320"/>
          </a:xfrm>
          <a:prstGeom prst="rect">
            <a:avLst/>
          </a:prstGeom>
          <a:solidFill>
            <a:srgbClr val="EDE6DA"/>
          </a:solidFill>
          <a:ln w="12700">
            <a:solidFill>
              <a:srgbClr val="EDE6DA"/>
            </a:solidFill>
            <a:prstDash val="solid"/>
          </a:ln>
        </p:spPr>
      </p:sp>
      <p:sp>
        <p:nvSpPr>
          <p:cNvPr id="14" name="Text 11"/>
          <p:cNvSpPr txBox="1"/>
          <p:nvPr/>
        </p:nvSpPr>
        <p:spPr>
          <a:xfrm>
            <a:off x="9317736"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Predecir</a:t>
            </a:r>
            <a:endParaRPr lang="en-US" sz="940" dirty="0"/>
          </a:p>
        </p:txBody>
      </p:sp>
      <p:sp>
        <p:nvSpPr>
          <p:cNvPr id="15" name="Shape 12"/>
          <p:cNvSpPr/>
          <p:nvPr/>
        </p:nvSpPr>
        <p:spPr>
          <a:xfrm>
            <a:off x="10469880" y="1883664"/>
            <a:ext cx="1060704" cy="274320"/>
          </a:xfrm>
          <a:prstGeom prst="rect">
            <a:avLst/>
          </a:prstGeom>
          <a:solidFill>
            <a:srgbClr val="EDE6DA"/>
          </a:solidFill>
          <a:ln w="12700">
            <a:solidFill>
              <a:srgbClr val="EDE6DA"/>
            </a:solidFill>
            <a:prstDash val="solid"/>
          </a:ln>
        </p:spPr>
      </p:sp>
      <p:sp>
        <p:nvSpPr>
          <p:cNvPr id="16" name="Text 13"/>
          <p:cNvSpPr txBox="1"/>
          <p:nvPr/>
        </p:nvSpPr>
        <p:spPr>
          <a:xfrm>
            <a:off x="10469880"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Comprobar</a:t>
            </a:r>
            <a:endParaRPr lang="en-US" sz="940" dirty="0"/>
          </a:p>
        </p:txBody>
      </p:sp>
      <p:sp>
        <p:nvSpPr>
          <p:cNvPr id="17" name="Shape 14"/>
          <p:cNvSpPr/>
          <p:nvPr/>
        </p:nvSpPr>
        <p:spPr>
          <a:xfrm>
            <a:off x="658368" y="2286000"/>
            <a:ext cx="5532120" cy="1664208"/>
          </a:xfrm>
          <a:prstGeom prst="roundRect">
            <a:avLst>
              <a:gd name="adj" fmla="val 2198"/>
            </a:avLst>
          </a:prstGeom>
          <a:solidFill>
            <a:srgbClr val="102A43"/>
          </a:solidFill>
          <a:ln w="12700">
            <a:solidFill>
              <a:srgbClr val="102A43"/>
            </a:solidFill>
            <a:prstDash val="solid"/>
          </a:ln>
        </p:spPr>
      </p:sp>
      <p:sp>
        <p:nvSpPr>
          <p:cNvPr id="18" name="Shape 15"/>
          <p:cNvSpPr/>
          <p:nvPr/>
        </p:nvSpPr>
        <p:spPr>
          <a:xfrm>
            <a:off x="786384" y="2395728"/>
            <a:ext cx="5276088" cy="310896"/>
          </a:xfrm>
          <a:prstGeom prst="roundRect">
            <a:avLst>
              <a:gd name="adj" fmla="val 8824"/>
            </a:avLst>
          </a:prstGeom>
          <a:solidFill>
            <a:srgbClr val="284B75"/>
          </a:solidFill>
          <a:ln w="12700">
            <a:solidFill>
              <a:srgbClr val="284B75"/>
            </a:solidFill>
            <a:prstDash val="solid"/>
          </a:ln>
        </p:spPr>
      </p:sp>
      <p:sp>
        <p:nvSpPr>
          <p:cNvPr id="19" name="Text 16"/>
          <p:cNvSpPr/>
          <p:nvPr/>
        </p:nvSpPr>
        <p:spPr>
          <a:xfrm>
            <a:off x="896112" y="2468880"/>
            <a:ext cx="505663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Límites leídos del CÓDIGO · return BLOQUE_MIN &lt;= bloque &lt; BLOQUE_MAX</a:t>
            </a:r>
            <a:endParaRPr lang="en-US" sz="100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5111496" cy="914400"/>
          </a:xfrm>
          <a:prstGeom prst="rect">
            <a:avLst/>
          </a:prstGeom>
        </p:spPr>
      </p:pic>
      <p:sp>
        <p:nvSpPr>
          <p:cNvPr id="21" name="Shape 17"/>
          <p:cNvSpPr/>
          <p:nvPr/>
        </p:nvSpPr>
        <p:spPr>
          <a:xfrm>
            <a:off x="6382512" y="2286000"/>
            <a:ext cx="5148072" cy="1664208"/>
          </a:xfrm>
          <a:prstGeom prst="roundRect">
            <a:avLst>
              <a:gd name="adj" fmla="val 2198"/>
            </a:avLst>
          </a:prstGeom>
          <a:solidFill>
            <a:srgbClr val="102A43"/>
          </a:solidFill>
          <a:ln w="12700">
            <a:solidFill>
              <a:srgbClr val="102A43"/>
            </a:solidFill>
            <a:prstDash val="solid"/>
          </a:ln>
        </p:spPr>
      </p:sp>
      <p:sp>
        <p:nvSpPr>
          <p:cNvPr id="22" name="Shape 18"/>
          <p:cNvSpPr/>
          <p:nvPr/>
        </p:nvSpPr>
        <p:spPr>
          <a:xfrm>
            <a:off x="6510528" y="2395728"/>
            <a:ext cx="4892040" cy="310896"/>
          </a:xfrm>
          <a:prstGeom prst="roundRect">
            <a:avLst>
              <a:gd name="adj" fmla="val 8824"/>
            </a:avLst>
          </a:prstGeom>
          <a:solidFill>
            <a:srgbClr val="284B75"/>
          </a:solidFill>
          <a:ln w="12700">
            <a:solidFill>
              <a:srgbClr val="284B75"/>
            </a:solidFill>
            <a:prstDash val="solid"/>
          </a:ln>
        </p:spPr>
      </p:sp>
      <p:sp>
        <p:nvSpPr>
          <p:cNvPr id="23" name="Text 19"/>
          <p:cNvSpPr/>
          <p:nvPr/>
        </p:nvSpPr>
        <p:spPr>
          <a:xfrm>
            <a:off x="6620256" y="2468880"/>
            <a:ext cx="4672584"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Límites leídos del REQUISITO · bloques del 1 al 8</a:t>
            </a:r>
            <a:endParaRPr lang="en-US" sz="1000" dirty="0"/>
          </a:p>
        </p:txBody>
      </p:sp>
      <p:pic>
        <p:nvPicPr>
          <p:cNvPr id="2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01968" y="2852928"/>
            <a:ext cx="4727448" cy="914400"/>
          </a:xfrm>
          <a:prstGeom prst="rect">
            <a:avLst/>
          </a:prstGeom>
        </p:spPr>
      </p:pic>
      <p:sp>
        <p:nvSpPr>
          <p:cNvPr id="25" name="Shape 20"/>
          <p:cNvSpPr/>
          <p:nvPr/>
        </p:nvSpPr>
        <p:spPr>
          <a:xfrm>
            <a:off x="658368" y="4114800"/>
            <a:ext cx="10874959" cy="914400"/>
          </a:xfrm>
          <a:prstGeom prst="rect">
            <a:avLst/>
          </a:prstGeom>
          <a:solidFill>
            <a:srgbClr val="F2E7D9"/>
          </a:solidFill>
          <a:ln w="12700">
            <a:solidFill>
              <a:srgbClr val="F2E7D9"/>
            </a:solidFill>
            <a:prstDash val="solid"/>
          </a:ln>
        </p:spPr>
      </p:sp>
      <p:sp>
        <p:nvSpPr>
          <p:cNvPr id="26" name="Shape 21"/>
          <p:cNvSpPr/>
          <p:nvPr/>
        </p:nvSpPr>
        <p:spPr>
          <a:xfrm>
            <a:off x="658368" y="4114800"/>
            <a:ext cx="64008" cy="914400"/>
          </a:xfrm>
          <a:prstGeom prst="rect">
            <a:avLst/>
          </a:prstGeom>
          <a:solidFill>
            <a:srgbClr val="8A6A12"/>
          </a:solidFill>
          <a:ln w="12700">
            <a:solidFill>
              <a:srgbClr val="8A6A12"/>
            </a:solidFill>
            <a:prstDash val="solid"/>
          </a:ln>
        </p:spPr>
      </p:sp>
      <p:sp>
        <p:nvSpPr>
          <p:cNvPr id="27" name="Text 22"/>
          <p:cNvSpPr txBox="1"/>
          <p:nvPr/>
        </p:nvSpPr>
        <p:spPr>
          <a:xfrm>
            <a:off x="987552" y="4279392"/>
            <a:ext cx="6400800" cy="201168"/>
          </a:xfrm>
          <a:prstGeom prst="rect">
            <a:avLst/>
          </a:prstGeom>
          <a:noFill/>
          <a:ln/>
        </p:spPr>
        <p:txBody>
          <a:bodyPr wrap="square" lIns="0" tIns="0" rIns="0" bIns="0" rtlCol="0" anchor="t"/>
          <a:lstStyle/>
          <a:p>
            <a:pPr algn="l" indent="0" marL="0">
              <a:buNone/>
            </a:pPr>
            <a:r>
              <a:rPr lang="en-US" sz="960" b="1" spc="130" kern="0" dirty="0">
                <a:solidFill>
                  <a:srgbClr val="8A6A12"/>
                </a:solidFill>
                <a:latin typeface="Aptos" pitchFamily="34" charset="0"/>
                <a:ea typeface="Aptos" pitchFamily="34" charset="-122"/>
                <a:cs typeface="Aptos" pitchFamily="34" charset="-120"/>
              </a:rPr>
              <a:t>LAS DOS EJECUTAN EL 8. LA DIFERENCIA NO ESTÁ EN LA ENTRADA</a:t>
            </a:r>
            <a:endParaRPr lang="en-US" sz="960" dirty="0"/>
          </a:p>
        </p:txBody>
      </p:sp>
      <p:sp>
        <p:nvSpPr>
          <p:cNvPr id="28" name="Text 23"/>
          <p:cNvSpPr txBox="1"/>
          <p:nvPr/>
        </p:nvSpPr>
        <p:spPr>
          <a:xfrm>
            <a:off x="987552" y="4517136"/>
            <a:ext cx="10216591" cy="457200"/>
          </a:xfrm>
          <a:prstGeom prst="rect">
            <a:avLst/>
          </a:prstGeom>
          <a:noFill/>
          <a:ln/>
        </p:spPr>
        <p:txBody>
          <a:bodyPr wrap="square" lIns="0" tIns="0" rIns="0" bIns="0" rtlCol="0" anchor="t"/>
          <a:lstStyle/>
          <a:p>
            <a:pPr algn="l" indent="0" marL="0">
              <a:lnSpc>
                <a:spcPct val="114000"/>
              </a:lnSpc>
              <a:buNone/>
            </a:pPr>
            <a:r>
              <a:rPr lang="en-US" sz="1280" dirty="0">
                <a:solidFill>
                  <a:srgbClr val="243B53"/>
                </a:solidFill>
                <a:latin typeface="Aptos" pitchFamily="34" charset="0"/>
                <a:ea typeface="Aptos" pitchFamily="34" charset="-122"/>
                <a:cs typeface="Aptos" pitchFamily="34" charset="-120"/>
              </a:rPr>
              <a:t>La suite de la izquierda exige que el 8 devuelva False. La de la derecha exige que devuelva True.</a:t>
            </a:r>
            <a:endParaRPr lang="en-US" sz="1280" dirty="0"/>
          </a:p>
          <a:p>
            <a:pPr algn="l" indent="0" marL="0">
              <a:lnSpc>
                <a:spcPct val="114000"/>
              </a:lnSpc>
              <a:buNone/>
            </a:pPr>
            <a:r>
              <a:rPr lang="en-US" sz="1280" dirty="0">
                <a:solidFill>
                  <a:srgbClr val="243B53"/>
                </a:solidFill>
                <a:latin typeface="Aptos" pitchFamily="34" charset="0"/>
                <a:ea typeface="Aptos" pitchFamily="34" charset="-122"/>
                <a:cs typeface="Aptos" pitchFamily="34" charset="-120"/>
              </a:rPr>
              <a:t>Eligieron la misma entrada y decidieron distinto su resultado esperado.</a:t>
            </a:r>
            <a:endParaRPr lang="en-US" sz="1280" dirty="0"/>
          </a:p>
        </p:txBody>
      </p:sp>
      <p:sp>
        <p:nvSpPr>
          <p:cNvPr id="29" name="Shape 24"/>
          <p:cNvSpPr/>
          <p:nvPr/>
        </p:nvSpPr>
        <p:spPr>
          <a:xfrm>
            <a:off x="658368" y="5175504"/>
            <a:ext cx="10874959" cy="548640"/>
          </a:xfrm>
          <a:prstGeom prst="rect">
            <a:avLst/>
          </a:prstGeom>
          <a:solidFill>
            <a:srgbClr val="102A43"/>
          </a:solidFill>
          <a:ln w="12700">
            <a:solidFill>
              <a:srgbClr val="102A43"/>
            </a:solidFill>
            <a:prstDash val="solid"/>
          </a:ln>
        </p:spPr>
      </p:sp>
      <p:sp>
        <p:nvSpPr>
          <p:cNvPr id="30" name="Text 25"/>
          <p:cNvSpPr txBox="1"/>
          <p:nvPr/>
        </p:nvSpPr>
        <p:spPr>
          <a:xfrm>
            <a:off x="969264" y="5212080"/>
            <a:ext cx="10253167" cy="475488"/>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Elegir la entrada es la mitad del trabajo. La otra mitad es decidir qué debe salir, y eso no puede salir del código.</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50</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COMPROBAR</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Una pasa, la otra encuentra el defecto</a:t>
            </a:r>
            <a:endParaRPr lang="en-US" sz="3000" dirty="0"/>
          </a:p>
        </p:txBody>
      </p:sp>
      <p:sp>
        <p:nvSpPr>
          <p:cNvPr id="10" name="Text 7"/>
          <p:cNvSpPr txBox="1"/>
          <p:nvPr/>
        </p:nvSpPr>
        <p:spPr>
          <a:xfrm>
            <a:off x="658368" y="1773936"/>
            <a:ext cx="72237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Ejecutadas por separado sobre la misma función, con Python 3.12.12 y pytest 9.1.1.</a:t>
            </a:r>
            <a:endParaRPr lang="en-US" sz="1450" dirty="0"/>
          </a:p>
        </p:txBody>
      </p:sp>
      <p:sp>
        <p:nvSpPr>
          <p:cNvPr id="11" name="Shape 8"/>
          <p:cNvSpPr/>
          <p:nvPr/>
        </p:nvSpPr>
        <p:spPr>
          <a:xfrm>
            <a:off x="8165592" y="1883664"/>
            <a:ext cx="1060704" cy="274320"/>
          </a:xfrm>
          <a:prstGeom prst="rect">
            <a:avLst/>
          </a:prstGeom>
          <a:solidFill>
            <a:srgbClr val="EDE6DA"/>
          </a:solidFill>
          <a:ln w="12700">
            <a:solidFill>
              <a:srgbClr val="EDE6DA"/>
            </a:solidFill>
            <a:prstDash val="solid"/>
          </a:ln>
        </p:spPr>
      </p:sp>
      <p:sp>
        <p:nvSpPr>
          <p:cNvPr id="12" name="Text 9"/>
          <p:cNvSpPr txBox="1"/>
          <p:nvPr/>
        </p:nvSpPr>
        <p:spPr>
          <a:xfrm>
            <a:off x="8165592"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Leer</a:t>
            </a:r>
            <a:endParaRPr lang="en-US" sz="940" dirty="0"/>
          </a:p>
        </p:txBody>
      </p:sp>
      <p:sp>
        <p:nvSpPr>
          <p:cNvPr id="13" name="Shape 10"/>
          <p:cNvSpPr/>
          <p:nvPr/>
        </p:nvSpPr>
        <p:spPr>
          <a:xfrm>
            <a:off x="9317736" y="1883664"/>
            <a:ext cx="1060704" cy="274320"/>
          </a:xfrm>
          <a:prstGeom prst="rect">
            <a:avLst/>
          </a:prstGeom>
          <a:solidFill>
            <a:srgbClr val="EDE6DA"/>
          </a:solidFill>
          <a:ln w="12700">
            <a:solidFill>
              <a:srgbClr val="EDE6DA"/>
            </a:solidFill>
            <a:prstDash val="solid"/>
          </a:ln>
        </p:spPr>
      </p:sp>
      <p:sp>
        <p:nvSpPr>
          <p:cNvPr id="14" name="Text 11"/>
          <p:cNvSpPr txBox="1"/>
          <p:nvPr/>
        </p:nvSpPr>
        <p:spPr>
          <a:xfrm>
            <a:off x="9317736"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Predecir</a:t>
            </a:r>
            <a:endParaRPr lang="en-US" sz="940" dirty="0"/>
          </a:p>
        </p:txBody>
      </p:sp>
      <p:sp>
        <p:nvSpPr>
          <p:cNvPr id="15" name="Shape 12"/>
          <p:cNvSpPr/>
          <p:nvPr/>
        </p:nvSpPr>
        <p:spPr>
          <a:xfrm>
            <a:off x="10469880" y="1883664"/>
            <a:ext cx="1060704" cy="274320"/>
          </a:xfrm>
          <a:prstGeom prst="rect">
            <a:avLst/>
          </a:prstGeom>
          <a:solidFill>
            <a:srgbClr val="102A43"/>
          </a:solidFill>
          <a:ln w="12700">
            <a:solidFill>
              <a:srgbClr val="102A43"/>
            </a:solidFill>
            <a:prstDash val="solid"/>
          </a:ln>
        </p:spPr>
      </p:sp>
      <p:sp>
        <p:nvSpPr>
          <p:cNvPr id="16" name="Text 13"/>
          <p:cNvSpPr txBox="1"/>
          <p:nvPr/>
        </p:nvSpPr>
        <p:spPr>
          <a:xfrm>
            <a:off x="10469880"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FFFFFF"/>
                </a:solidFill>
                <a:latin typeface="Aptos" pitchFamily="34" charset="0"/>
                <a:ea typeface="Aptos" pitchFamily="34" charset="-122"/>
                <a:cs typeface="Aptos" pitchFamily="34" charset="-120"/>
              </a:rPr>
              <a:t>Comprobar</a:t>
            </a:r>
            <a:endParaRPr lang="en-US" sz="940" dirty="0"/>
          </a:p>
        </p:txBody>
      </p:sp>
      <p:sp>
        <p:nvSpPr>
          <p:cNvPr id="17" name="Shape 14"/>
          <p:cNvSpPr/>
          <p:nvPr/>
        </p:nvSpPr>
        <p:spPr>
          <a:xfrm>
            <a:off x="658368" y="2286000"/>
            <a:ext cx="5029200" cy="1463040"/>
          </a:xfrm>
          <a:prstGeom prst="roundRect">
            <a:avLst>
              <a:gd name="adj" fmla="val 2500"/>
            </a:avLst>
          </a:prstGeom>
          <a:solidFill>
            <a:srgbClr val="0F1720"/>
          </a:solidFill>
          <a:ln w="12700">
            <a:solidFill>
              <a:srgbClr val="0F1720"/>
            </a:solidFill>
            <a:prstDash val="solid"/>
          </a:ln>
        </p:spPr>
      </p:sp>
      <p:sp>
        <p:nvSpPr>
          <p:cNvPr id="18" name="Shape 15"/>
          <p:cNvSpPr/>
          <p:nvPr/>
        </p:nvSpPr>
        <p:spPr>
          <a:xfrm>
            <a:off x="786384" y="2395728"/>
            <a:ext cx="4773168" cy="310896"/>
          </a:xfrm>
          <a:prstGeom prst="roundRect">
            <a:avLst>
              <a:gd name="adj" fmla="val 8824"/>
            </a:avLst>
          </a:prstGeom>
          <a:solidFill>
            <a:srgbClr val="1E2937"/>
          </a:solidFill>
          <a:ln w="12700">
            <a:solidFill>
              <a:srgbClr val="1E2937"/>
            </a:solidFill>
            <a:prstDash val="solid"/>
          </a:ln>
        </p:spPr>
      </p:sp>
      <p:sp>
        <p:nvSpPr>
          <p:cNvPr id="19" name="Text 16"/>
          <p:cNvSpPr/>
          <p:nvPr/>
        </p:nvSpPr>
        <p:spPr>
          <a:xfrm>
            <a:off x="914400" y="2468880"/>
            <a:ext cx="4517136"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test_desde_codigo.py</a:t>
            </a:r>
            <a:endParaRPr lang="en-US" sz="1000" dirty="0"/>
          </a:p>
        </p:txBody>
      </p:sp>
      <p:sp>
        <p:nvSpPr>
          <p:cNvPr id="20" name="Text 17"/>
          <p:cNvSpPr/>
          <p:nvPr/>
        </p:nvSpPr>
        <p:spPr>
          <a:xfrm>
            <a:off x="877824" y="2852928"/>
            <a:ext cx="329184" cy="164592"/>
          </a:xfrm>
          <a:prstGeom prst="rect">
            <a:avLst/>
          </a:prstGeom>
          <a:noFill/>
          <a:ln/>
        </p:spPr>
        <p:txBody>
          <a:bodyPr wrap="square" lIns="0" tIns="0" rIns="0" bIns="0" rtlCol="0" anchor="ctr"/>
          <a:lstStyle/>
          <a:p>
            <a:pPr indent="0" marL="0">
              <a:buNone/>
            </a:pPr>
            <a:r>
              <a:rPr lang="en-US" sz="1000" b="1" dirty="0">
                <a:solidFill>
                  <a:srgbClr val="E0BC5A"/>
                </a:solidFill>
                <a:latin typeface="Consolas" pitchFamily="34" charset="0"/>
                <a:ea typeface="Consolas" pitchFamily="34" charset="-122"/>
                <a:cs typeface="Consolas" pitchFamily="34" charset="-120"/>
              </a:rPr>
              <a:t>&gt;</a:t>
            </a:r>
            <a:endParaRPr lang="en-US" sz="1000" dirty="0"/>
          </a:p>
        </p:txBody>
      </p:sp>
      <p:sp>
        <p:nvSpPr>
          <p:cNvPr id="21" name="Text 18"/>
          <p:cNvSpPr/>
          <p:nvPr/>
        </p:nvSpPr>
        <p:spPr>
          <a:xfrm>
            <a:off x="1188720" y="2852928"/>
            <a:ext cx="4279392" cy="164592"/>
          </a:xfrm>
          <a:prstGeom prst="rect">
            <a:avLst/>
          </a:prstGeom>
          <a:noFill/>
          <a:ln/>
        </p:spPr>
        <p:txBody>
          <a:bodyPr wrap="square" lIns="0" tIns="0" rIns="0" bIns="0" rtlCol="0" anchor="ctr"/>
          <a:lstStyle/>
          <a:p>
            <a:pPr indent="0" marL="0">
              <a:buNone/>
            </a:pPr>
            <a:r>
              <a:rPr lang="en-US" sz="1000" dirty="0">
                <a:solidFill>
                  <a:srgbClr val="E6EEF7"/>
                </a:solidFill>
                <a:latin typeface="Consolas" pitchFamily="34" charset="0"/>
                <a:ea typeface="Consolas" pitchFamily="34" charset="-122"/>
                <a:cs typeface="Consolas" pitchFamily="34" charset="-120"/>
              </a:rPr>
              <a:t>uv run pytest test_desde_codigo.py -q</a:t>
            </a:r>
            <a:endParaRPr lang="en-US" sz="1000" dirty="0"/>
          </a:p>
        </p:txBody>
      </p:sp>
      <p:sp>
        <p:nvSpPr>
          <p:cNvPr id="22" name="Text 19"/>
          <p:cNvSpPr/>
          <p:nvPr/>
        </p:nvSpPr>
        <p:spPr>
          <a:xfrm>
            <a:off x="877824" y="3108960"/>
            <a:ext cx="4279392" cy="164592"/>
          </a:xfrm>
          <a:prstGeom prst="rect">
            <a:avLst/>
          </a:prstGeom>
          <a:noFill/>
          <a:ln/>
        </p:spPr>
        <p:txBody>
          <a:bodyPr wrap="square" lIns="0" tIns="0" rIns="0" bIns="0" rtlCol="0" anchor="ctr"/>
          <a:lstStyle/>
          <a:p>
            <a:pPr indent="0" marL="0">
              <a:buNone/>
            </a:pPr>
            <a:r>
              <a:rPr lang="en-US" sz="1000" dirty="0">
                <a:solidFill>
                  <a:srgbClr val="E6EEF7"/>
                </a:solidFill>
                <a:latin typeface="Consolas" pitchFamily="34" charset="0"/>
                <a:ea typeface="Consolas" pitchFamily="34" charset="-122"/>
                <a:cs typeface="Consolas" pitchFamily="34" charset="-120"/>
              </a:rPr>
              <a:t>4 passed in 0.03s</a:t>
            </a:r>
            <a:endParaRPr lang="en-US" sz="1000" dirty="0"/>
          </a:p>
        </p:txBody>
      </p:sp>
      <p:sp>
        <p:nvSpPr>
          <p:cNvPr id="23" name="Shape 20"/>
          <p:cNvSpPr/>
          <p:nvPr/>
        </p:nvSpPr>
        <p:spPr>
          <a:xfrm>
            <a:off x="5870448" y="2286000"/>
            <a:ext cx="5660136" cy="2212848"/>
          </a:xfrm>
          <a:prstGeom prst="roundRect">
            <a:avLst>
              <a:gd name="adj" fmla="val 1653"/>
            </a:avLst>
          </a:prstGeom>
          <a:solidFill>
            <a:srgbClr val="0F1720"/>
          </a:solidFill>
          <a:ln w="12700">
            <a:solidFill>
              <a:srgbClr val="0F1720"/>
            </a:solidFill>
            <a:prstDash val="solid"/>
          </a:ln>
        </p:spPr>
      </p:sp>
      <p:sp>
        <p:nvSpPr>
          <p:cNvPr id="24" name="Shape 21"/>
          <p:cNvSpPr/>
          <p:nvPr/>
        </p:nvSpPr>
        <p:spPr>
          <a:xfrm>
            <a:off x="5998464" y="2395728"/>
            <a:ext cx="5404104" cy="310896"/>
          </a:xfrm>
          <a:prstGeom prst="roundRect">
            <a:avLst>
              <a:gd name="adj" fmla="val 8824"/>
            </a:avLst>
          </a:prstGeom>
          <a:solidFill>
            <a:srgbClr val="1E2937"/>
          </a:solidFill>
          <a:ln w="12700">
            <a:solidFill>
              <a:srgbClr val="1E2937"/>
            </a:solidFill>
            <a:prstDash val="solid"/>
          </a:ln>
        </p:spPr>
      </p:sp>
      <p:sp>
        <p:nvSpPr>
          <p:cNvPr id="25" name="Text 22"/>
          <p:cNvSpPr/>
          <p:nvPr/>
        </p:nvSpPr>
        <p:spPr>
          <a:xfrm>
            <a:off x="6126480" y="2468880"/>
            <a:ext cx="5148072"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test_desde_requisito.py</a:t>
            </a:r>
            <a:endParaRPr lang="en-US" sz="1000" dirty="0"/>
          </a:p>
        </p:txBody>
      </p:sp>
      <p:sp>
        <p:nvSpPr>
          <p:cNvPr id="26" name="Text 23"/>
          <p:cNvSpPr/>
          <p:nvPr/>
        </p:nvSpPr>
        <p:spPr>
          <a:xfrm>
            <a:off x="6089904" y="2852928"/>
            <a:ext cx="329184" cy="164592"/>
          </a:xfrm>
          <a:prstGeom prst="rect">
            <a:avLst/>
          </a:prstGeom>
          <a:noFill/>
          <a:ln/>
        </p:spPr>
        <p:txBody>
          <a:bodyPr wrap="square" lIns="0" tIns="0" rIns="0" bIns="0" rtlCol="0" anchor="ctr"/>
          <a:lstStyle/>
          <a:p>
            <a:pPr indent="0" marL="0">
              <a:buNone/>
            </a:pPr>
            <a:r>
              <a:rPr lang="en-US" sz="880" b="1" dirty="0">
                <a:solidFill>
                  <a:srgbClr val="E0BC5A"/>
                </a:solidFill>
                <a:latin typeface="Consolas" pitchFamily="34" charset="0"/>
                <a:ea typeface="Consolas" pitchFamily="34" charset="-122"/>
                <a:cs typeface="Consolas" pitchFamily="34" charset="-120"/>
              </a:rPr>
              <a:t>&gt;</a:t>
            </a:r>
            <a:endParaRPr lang="en-US" sz="880" dirty="0"/>
          </a:p>
        </p:txBody>
      </p:sp>
      <p:sp>
        <p:nvSpPr>
          <p:cNvPr id="27" name="Text 24"/>
          <p:cNvSpPr/>
          <p:nvPr/>
        </p:nvSpPr>
        <p:spPr>
          <a:xfrm>
            <a:off x="6400800" y="2852928"/>
            <a:ext cx="4910328" cy="164592"/>
          </a:xfrm>
          <a:prstGeom prst="rect">
            <a:avLst/>
          </a:prstGeom>
          <a:noFill/>
          <a:ln/>
        </p:spPr>
        <p:txBody>
          <a:bodyPr wrap="square" lIns="0" tIns="0" rIns="0" bIns="0" rtlCol="0" anchor="ctr"/>
          <a:lstStyle/>
          <a:p>
            <a:pPr indent="0" marL="0">
              <a:buNone/>
            </a:pPr>
            <a:r>
              <a:rPr lang="en-US" sz="880" dirty="0">
                <a:solidFill>
                  <a:srgbClr val="E6EEF7"/>
                </a:solidFill>
                <a:latin typeface="Consolas" pitchFamily="34" charset="0"/>
                <a:ea typeface="Consolas" pitchFamily="34" charset="-122"/>
                <a:cs typeface="Consolas" pitchFamily="34" charset="-120"/>
              </a:rPr>
              <a:t>uv run pytest test_desde_requisito.py -q</a:t>
            </a:r>
            <a:endParaRPr lang="en-US" sz="880" dirty="0"/>
          </a:p>
        </p:txBody>
      </p:sp>
      <p:sp>
        <p:nvSpPr>
          <p:cNvPr id="28" name="Text 25"/>
          <p:cNvSpPr/>
          <p:nvPr/>
        </p:nvSpPr>
        <p:spPr>
          <a:xfrm>
            <a:off x="6089904" y="3108960"/>
            <a:ext cx="4910328" cy="164592"/>
          </a:xfrm>
          <a:prstGeom prst="rect">
            <a:avLst/>
          </a:prstGeom>
          <a:noFill/>
          <a:ln/>
        </p:spPr>
        <p:txBody>
          <a:bodyPr wrap="square" lIns="0" tIns="0" rIns="0" bIns="0" rtlCol="0" anchor="ctr"/>
          <a:lstStyle/>
          <a:p>
            <a:pPr indent="0" marL="0">
              <a:buNone/>
            </a:pPr>
            <a:r>
              <a:rPr lang="en-US" sz="880" dirty="0">
                <a:solidFill>
                  <a:srgbClr val="E6EEF7"/>
                </a:solidFill>
                <a:latin typeface="Consolas" pitchFamily="34" charset="0"/>
                <a:ea typeface="Consolas" pitchFamily="34" charset="-122"/>
                <a:cs typeface="Consolas" pitchFamily="34" charset="-120"/>
              </a:rPr>
              <a:t>test_desde_requisito.py:6: in test_limites_del_requisito</a:t>
            </a:r>
            <a:endParaRPr lang="en-US" sz="880" dirty="0"/>
          </a:p>
        </p:txBody>
      </p:sp>
      <p:sp>
        <p:nvSpPr>
          <p:cNvPr id="29" name="Text 26"/>
          <p:cNvSpPr/>
          <p:nvPr/>
        </p:nvSpPr>
        <p:spPr>
          <a:xfrm>
            <a:off x="6089904" y="3364992"/>
            <a:ext cx="4910328" cy="164592"/>
          </a:xfrm>
          <a:prstGeom prst="rect">
            <a:avLst/>
          </a:prstGeom>
          <a:noFill/>
          <a:ln/>
        </p:spPr>
        <p:txBody>
          <a:bodyPr wrap="square" lIns="0" tIns="0" rIns="0" bIns="0" rtlCol="0" anchor="ctr"/>
          <a:lstStyle/>
          <a:p>
            <a:pPr indent="0" marL="0">
              <a:buNone/>
            </a:pPr>
            <a:r>
              <a:rPr lang="en-US" sz="880" dirty="0">
                <a:solidFill>
                  <a:srgbClr val="E6EEF7"/>
                </a:solidFill>
                <a:latin typeface="Consolas" pitchFamily="34" charset="0"/>
                <a:ea typeface="Consolas" pitchFamily="34" charset="-122"/>
                <a:cs typeface="Consolas" pitchFamily="34" charset="-120"/>
              </a:rPr>
              <a:t>    assert bloque_valido(bloque) is esperado</a:t>
            </a:r>
            <a:endParaRPr lang="en-US" sz="880" dirty="0"/>
          </a:p>
        </p:txBody>
      </p:sp>
      <p:sp>
        <p:nvSpPr>
          <p:cNvPr id="30" name="Text 27"/>
          <p:cNvSpPr/>
          <p:nvPr/>
        </p:nvSpPr>
        <p:spPr>
          <a:xfrm>
            <a:off x="6089904" y="3621024"/>
            <a:ext cx="4910328" cy="164592"/>
          </a:xfrm>
          <a:prstGeom prst="rect">
            <a:avLst/>
          </a:prstGeom>
          <a:noFill/>
          <a:ln/>
        </p:spPr>
        <p:txBody>
          <a:bodyPr wrap="square" lIns="0" tIns="0" rIns="0" bIns="0" rtlCol="0" anchor="ctr"/>
          <a:lstStyle/>
          <a:p>
            <a:pPr indent="0" marL="0">
              <a:buNone/>
            </a:pPr>
            <a:r>
              <a:rPr lang="en-US" sz="880" dirty="0">
                <a:solidFill>
                  <a:srgbClr val="E6EEF7"/>
                </a:solidFill>
                <a:latin typeface="Consolas" pitchFamily="34" charset="0"/>
                <a:ea typeface="Consolas" pitchFamily="34" charset="-122"/>
                <a:cs typeface="Consolas" pitchFamily="34" charset="-120"/>
              </a:rPr>
              <a:t>E   assert False is True</a:t>
            </a:r>
            <a:endParaRPr lang="en-US" sz="880" dirty="0"/>
          </a:p>
        </p:txBody>
      </p:sp>
      <p:sp>
        <p:nvSpPr>
          <p:cNvPr id="31" name="Text 28"/>
          <p:cNvSpPr/>
          <p:nvPr/>
        </p:nvSpPr>
        <p:spPr>
          <a:xfrm>
            <a:off x="6089904" y="3877056"/>
            <a:ext cx="4910328" cy="164592"/>
          </a:xfrm>
          <a:prstGeom prst="rect">
            <a:avLst/>
          </a:prstGeom>
          <a:noFill/>
          <a:ln/>
        </p:spPr>
        <p:txBody>
          <a:bodyPr wrap="square" lIns="0" tIns="0" rIns="0" bIns="0" rtlCol="0" anchor="ctr"/>
          <a:lstStyle/>
          <a:p>
            <a:pPr indent="0" marL="0">
              <a:buNone/>
            </a:pPr>
            <a:r>
              <a:rPr lang="en-US" sz="880" dirty="0">
                <a:solidFill>
                  <a:srgbClr val="E6EEF7"/>
                </a:solidFill>
                <a:latin typeface="Consolas" pitchFamily="34" charset="0"/>
                <a:ea typeface="Consolas" pitchFamily="34" charset="-122"/>
                <a:cs typeface="Consolas" pitchFamily="34" charset="-120"/>
              </a:rPr>
              <a:t>E    +  where False = bloque_valido(8)</a:t>
            </a:r>
            <a:endParaRPr lang="en-US" sz="880" dirty="0"/>
          </a:p>
        </p:txBody>
      </p:sp>
      <p:sp>
        <p:nvSpPr>
          <p:cNvPr id="32" name="Text 29"/>
          <p:cNvSpPr/>
          <p:nvPr/>
        </p:nvSpPr>
        <p:spPr>
          <a:xfrm>
            <a:off x="6089904" y="4133088"/>
            <a:ext cx="4910328" cy="164592"/>
          </a:xfrm>
          <a:prstGeom prst="rect">
            <a:avLst/>
          </a:prstGeom>
          <a:noFill/>
          <a:ln/>
        </p:spPr>
        <p:txBody>
          <a:bodyPr wrap="square" lIns="0" tIns="0" rIns="0" bIns="0" rtlCol="0" anchor="ctr"/>
          <a:lstStyle/>
          <a:p>
            <a:pPr indent="0" marL="0">
              <a:buNone/>
            </a:pPr>
            <a:r>
              <a:rPr lang="en-US" sz="880" dirty="0">
                <a:solidFill>
                  <a:srgbClr val="E6EEF7"/>
                </a:solidFill>
                <a:latin typeface="Consolas" pitchFamily="34" charset="0"/>
                <a:ea typeface="Consolas" pitchFamily="34" charset="-122"/>
                <a:cs typeface="Consolas" pitchFamily="34" charset="-120"/>
              </a:rPr>
              <a:t>1 failed, 3 passed in 0.11s</a:t>
            </a:r>
            <a:endParaRPr lang="en-US" sz="880" dirty="0"/>
          </a:p>
        </p:txBody>
      </p:sp>
      <p:sp>
        <p:nvSpPr>
          <p:cNvPr id="33" name="Shape 30"/>
          <p:cNvSpPr/>
          <p:nvPr/>
        </p:nvSpPr>
        <p:spPr>
          <a:xfrm>
            <a:off x="658368" y="3877056"/>
            <a:ext cx="5029200" cy="621792"/>
          </a:xfrm>
          <a:prstGeom prst="rect">
            <a:avLst/>
          </a:prstGeom>
          <a:solidFill>
            <a:srgbClr val="F8E4E5"/>
          </a:solidFill>
          <a:ln w="12700">
            <a:solidFill>
              <a:srgbClr val="F8E4E5"/>
            </a:solidFill>
            <a:prstDash val="solid"/>
          </a:ln>
        </p:spPr>
      </p:sp>
      <p:sp>
        <p:nvSpPr>
          <p:cNvPr id="34" name="Shape 31"/>
          <p:cNvSpPr/>
          <p:nvPr/>
        </p:nvSpPr>
        <p:spPr>
          <a:xfrm>
            <a:off x="658368" y="3877056"/>
            <a:ext cx="54864" cy="621792"/>
          </a:xfrm>
          <a:prstGeom prst="rect">
            <a:avLst/>
          </a:prstGeom>
          <a:solidFill>
            <a:srgbClr val="B3181E"/>
          </a:solidFill>
          <a:ln w="12700">
            <a:solidFill>
              <a:srgbClr val="B3181E"/>
            </a:solidFill>
            <a:prstDash val="solid"/>
          </a:ln>
        </p:spPr>
      </p:sp>
      <p:sp>
        <p:nvSpPr>
          <p:cNvPr id="35" name="Text 32"/>
          <p:cNvSpPr txBox="1"/>
          <p:nvPr/>
        </p:nvSpPr>
        <p:spPr>
          <a:xfrm>
            <a:off x="914400" y="3931920"/>
            <a:ext cx="4572000" cy="512064"/>
          </a:xfrm>
          <a:prstGeom prst="rect">
            <a:avLst/>
          </a:prstGeom>
          <a:noFill/>
          <a:ln/>
        </p:spPr>
        <p:txBody>
          <a:bodyPr wrap="square" lIns="0" tIns="0" rIns="0" bIns="0" rtlCol="0" anchor="ctr"/>
          <a:lstStyle/>
          <a:p>
            <a:pPr algn="l" indent="0" marL="0">
              <a:buNone/>
            </a:pPr>
            <a:r>
              <a:rPr lang="en-US" sz="1300" b="1" dirty="0">
                <a:solidFill>
                  <a:srgbClr val="B3181E"/>
                </a:solidFill>
                <a:latin typeface="Aptos" pitchFamily="34" charset="0"/>
                <a:ea typeface="Aptos" pitchFamily="34" charset="-122"/>
                <a:cs typeface="Aptos" pitchFamily="34" charset="-120"/>
              </a:rPr>
              <a:t>Verde con el defecto adentro.</a:t>
            </a:r>
            <a:endParaRPr lang="en-US" sz="1300" dirty="0"/>
          </a:p>
        </p:txBody>
      </p:sp>
      <p:sp>
        <p:nvSpPr>
          <p:cNvPr id="36" name="Shape 33"/>
          <p:cNvSpPr/>
          <p:nvPr/>
        </p:nvSpPr>
        <p:spPr>
          <a:xfrm>
            <a:off x="658368" y="4626864"/>
            <a:ext cx="10874959" cy="1188720"/>
          </a:xfrm>
          <a:prstGeom prst="rect">
            <a:avLst/>
          </a:prstGeom>
          <a:solidFill>
            <a:srgbClr val="FFFFFF"/>
          </a:solidFill>
          <a:ln w="12700">
            <a:solidFill>
              <a:srgbClr val="FFFFFF"/>
            </a:solidFill>
            <a:prstDash val="solid"/>
          </a:ln>
        </p:spPr>
      </p:sp>
      <p:sp>
        <p:nvSpPr>
          <p:cNvPr id="37" name="Shape 34"/>
          <p:cNvSpPr/>
          <p:nvPr/>
        </p:nvSpPr>
        <p:spPr>
          <a:xfrm>
            <a:off x="658368" y="4626864"/>
            <a:ext cx="64008" cy="1188720"/>
          </a:xfrm>
          <a:prstGeom prst="rect">
            <a:avLst/>
          </a:prstGeom>
          <a:solidFill>
            <a:srgbClr val="102A43"/>
          </a:solidFill>
          <a:ln w="12700">
            <a:solidFill>
              <a:srgbClr val="102A43"/>
            </a:solidFill>
            <a:prstDash val="solid"/>
          </a:ln>
        </p:spPr>
      </p:sp>
      <p:sp>
        <p:nvSpPr>
          <p:cNvPr id="38" name="Text 35"/>
          <p:cNvSpPr txBox="1"/>
          <p:nvPr/>
        </p:nvSpPr>
        <p:spPr>
          <a:xfrm>
            <a:off x="987552" y="4828032"/>
            <a:ext cx="548640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LA CONCLUSIÓN PRECISA, SIN EXAGERAR</a:t>
            </a:r>
            <a:endParaRPr lang="en-US" sz="960" dirty="0"/>
          </a:p>
        </p:txBody>
      </p:sp>
      <p:sp>
        <p:nvSpPr>
          <p:cNvPr id="39" name="Text 36"/>
          <p:cNvSpPr txBox="1"/>
          <p:nvPr/>
        </p:nvSpPr>
        <p:spPr>
          <a:xfrm>
            <a:off x="987552" y="5029200"/>
            <a:ext cx="10216591" cy="694944"/>
          </a:xfrm>
          <a:prstGeom prst="rect">
            <a:avLst/>
          </a:prstGeom>
          <a:noFill/>
          <a:ln/>
        </p:spPr>
        <p:txBody>
          <a:bodyPr wrap="square" lIns="0" tIns="0" rIns="0" bIns="0" rtlCol="0" anchor="t"/>
          <a:lstStyle/>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Mirar el código no impide encontrar defectos: si se conservaran los valores de la izquierda pero se corrigiera el</a:t>
            </a:r>
            <a:endParaRPr lang="en-US" sz="1220" dirty="0"/>
          </a:p>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esperado del 8 desde el requisito, esa suite también fallaría. El problema es dejar que la implementación</a:t>
            </a:r>
            <a:endParaRPr lang="en-US" sz="1220" dirty="0"/>
          </a:p>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determine aquello contra lo cual se la juzga.</a:t>
            </a:r>
            <a:endParaRPr lang="en-US" sz="122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51</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LA AFIRMACIÓN HEREDADA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«La mayoría de los defectos está en los bordes»</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Se repite en todo el gremio. Conviene separar el mecanismo, que es real, de la estadística, que no está medida aquí.</a:t>
            </a:r>
            <a:endParaRPr lang="en-US" sz="1450" dirty="0"/>
          </a:p>
        </p:txBody>
      </p:sp>
      <p:sp>
        <p:nvSpPr>
          <p:cNvPr id="11" name="Shape 8"/>
          <p:cNvSpPr/>
          <p:nvPr/>
        </p:nvSpPr>
        <p:spPr>
          <a:xfrm>
            <a:off x="658368" y="2322576"/>
            <a:ext cx="5358384" cy="1700784"/>
          </a:xfrm>
          <a:prstGeom prst="rect">
            <a:avLst/>
          </a:prstGeom>
          <a:solidFill>
            <a:srgbClr val="E9F6EE"/>
          </a:solidFill>
          <a:ln w="12700">
            <a:solidFill>
              <a:srgbClr val="E9F6EE"/>
            </a:solidFill>
            <a:prstDash val="solid"/>
          </a:ln>
        </p:spPr>
      </p:sp>
      <p:sp>
        <p:nvSpPr>
          <p:cNvPr id="12" name="Shape 9"/>
          <p:cNvSpPr/>
          <p:nvPr/>
        </p:nvSpPr>
        <p:spPr>
          <a:xfrm>
            <a:off x="658368" y="2322576"/>
            <a:ext cx="5358384" cy="64008"/>
          </a:xfrm>
          <a:prstGeom prst="rect">
            <a:avLst/>
          </a:prstGeom>
          <a:solidFill>
            <a:srgbClr val="2E7D4F"/>
          </a:solidFill>
          <a:ln w="12700">
            <a:solidFill>
              <a:srgbClr val="2E7D4F"/>
            </a:solidFill>
            <a:prstDash val="solid"/>
          </a:ln>
        </p:spPr>
      </p:sp>
      <p:sp>
        <p:nvSpPr>
          <p:cNvPr id="13" name="Text 10"/>
          <p:cNvSpPr txBox="1"/>
          <p:nvPr/>
        </p:nvSpPr>
        <p:spPr>
          <a:xfrm>
            <a:off x="950976" y="2505456"/>
            <a:ext cx="4754880" cy="274320"/>
          </a:xfrm>
          <a:prstGeom prst="rect">
            <a:avLst/>
          </a:prstGeom>
          <a:noFill/>
          <a:ln/>
        </p:spPr>
        <p:txBody>
          <a:bodyPr wrap="square" lIns="0" tIns="0" rIns="0" bIns="0" rtlCol="0" anchor="t"/>
          <a:lstStyle/>
          <a:p>
            <a:pPr algn="l" indent="0" marL="0">
              <a:buNone/>
            </a:pPr>
            <a:r>
              <a:rPr lang="en-US" sz="1500" b="1" dirty="0">
                <a:solidFill>
                  <a:srgbClr val="2E7D4F"/>
                </a:solidFill>
                <a:latin typeface="Aptos" pitchFamily="34" charset="0"/>
                <a:ea typeface="Aptos" pitchFamily="34" charset="-122"/>
                <a:cs typeface="Aptos" pitchFamily="34" charset="-120"/>
              </a:rPr>
              <a:t>Lo que sí se puede sostener</a:t>
            </a:r>
            <a:endParaRPr lang="en-US" sz="1500" dirty="0"/>
          </a:p>
        </p:txBody>
      </p:sp>
      <p:sp>
        <p:nvSpPr>
          <p:cNvPr id="14" name="Text 11"/>
          <p:cNvSpPr txBox="1"/>
          <p:nvPr/>
        </p:nvSpPr>
        <p:spPr>
          <a:xfrm>
            <a:off x="950976" y="2852928"/>
            <a:ext cx="4754880" cy="1005840"/>
          </a:xfrm>
          <a:prstGeom prst="rect">
            <a:avLst/>
          </a:prstGeom>
          <a:noFill/>
          <a:ln/>
        </p:spPr>
        <p:txBody>
          <a:bodyPr wrap="square" lIns="0" tIns="0" rIns="0" bIns="0" rtlCol="0" anchor="t"/>
          <a:lstStyle/>
          <a:p>
            <a:pPr algn="l" indent="0" marL="0">
              <a:lnSpc>
                <a:spcPct val="118000"/>
              </a:lnSpc>
              <a:buNone/>
            </a:pPr>
            <a:r>
              <a:rPr lang="en-US" sz="1240" dirty="0">
                <a:solidFill>
                  <a:srgbClr val="243B53"/>
                </a:solidFill>
                <a:latin typeface="Aptos" pitchFamily="34" charset="0"/>
                <a:ea typeface="Aptos" pitchFamily="34" charset="-122"/>
                <a:cs typeface="Aptos" pitchFamily="34" charset="-120"/>
              </a:rPr>
              <a:t>Los bordes son candidatos razonables porque un operador estricto, un extremo desplazado o una condición omitida cambian qué clase recibe un valor. El defecto del laboratorio es exactamente ese mecanismo.</a:t>
            </a:r>
            <a:endParaRPr lang="en-US" sz="1240" dirty="0"/>
          </a:p>
        </p:txBody>
      </p:sp>
      <p:sp>
        <p:nvSpPr>
          <p:cNvPr id="15" name="Shape 12"/>
          <p:cNvSpPr/>
          <p:nvPr/>
        </p:nvSpPr>
        <p:spPr>
          <a:xfrm>
            <a:off x="6172200" y="2322576"/>
            <a:ext cx="5358384" cy="1700784"/>
          </a:xfrm>
          <a:prstGeom prst="rect">
            <a:avLst/>
          </a:prstGeom>
          <a:solidFill>
            <a:srgbClr val="F8E4E5"/>
          </a:solidFill>
          <a:ln w="12700">
            <a:solidFill>
              <a:srgbClr val="F8E4E5"/>
            </a:solidFill>
            <a:prstDash val="solid"/>
          </a:ln>
        </p:spPr>
      </p:sp>
      <p:sp>
        <p:nvSpPr>
          <p:cNvPr id="16" name="Shape 13"/>
          <p:cNvSpPr/>
          <p:nvPr/>
        </p:nvSpPr>
        <p:spPr>
          <a:xfrm>
            <a:off x="6172200" y="2322576"/>
            <a:ext cx="5358384" cy="64008"/>
          </a:xfrm>
          <a:prstGeom prst="rect">
            <a:avLst/>
          </a:prstGeom>
          <a:solidFill>
            <a:srgbClr val="B3181E"/>
          </a:solidFill>
          <a:ln w="12700">
            <a:solidFill>
              <a:srgbClr val="B3181E"/>
            </a:solidFill>
            <a:prstDash val="solid"/>
          </a:ln>
        </p:spPr>
      </p:sp>
      <p:sp>
        <p:nvSpPr>
          <p:cNvPr id="17" name="Text 14"/>
          <p:cNvSpPr txBox="1"/>
          <p:nvPr/>
        </p:nvSpPr>
        <p:spPr>
          <a:xfrm>
            <a:off x="6464808" y="2505456"/>
            <a:ext cx="4754880" cy="274320"/>
          </a:xfrm>
          <a:prstGeom prst="rect">
            <a:avLst/>
          </a:prstGeom>
          <a:noFill/>
          <a:ln/>
        </p:spPr>
        <p:txBody>
          <a:bodyPr wrap="square" lIns="0" tIns="0" rIns="0" bIns="0" rtlCol="0" anchor="t"/>
          <a:lstStyle/>
          <a:p>
            <a:pPr algn="l" indent="0" marL="0">
              <a:buNone/>
            </a:pPr>
            <a:r>
              <a:rPr lang="en-US" sz="1500" b="1" dirty="0">
                <a:solidFill>
                  <a:srgbClr val="B3181E"/>
                </a:solidFill>
                <a:latin typeface="Aptos" pitchFamily="34" charset="0"/>
                <a:ea typeface="Aptos" pitchFamily="34" charset="-122"/>
                <a:cs typeface="Aptos" pitchFamily="34" charset="-120"/>
              </a:rPr>
              <a:t>Lo que exigiría otra evidencia</a:t>
            </a:r>
            <a:endParaRPr lang="en-US" sz="1500" dirty="0"/>
          </a:p>
        </p:txBody>
      </p:sp>
      <p:sp>
        <p:nvSpPr>
          <p:cNvPr id="18" name="Text 15"/>
          <p:cNvSpPr txBox="1"/>
          <p:nvPr/>
        </p:nvSpPr>
        <p:spPr>
          <a:xfrm>
            <a:off x="6464808" y="2852928"/>
            <a:ext cx="4754880" cy="1005840"/>
          </a:xfrm>
          <a:prstGeom prst="rect">
            <a:avLst/>
          </a:prstGeom>
          <a:noFill/>
          <a:ln/>
        </p:spPr>
        <p:txBody>
          <a:bodyPr wrap="square" lIns="0" tIns="0" rIns="0" bIns="0" rtlCol="0" anchor="t"/>
          <a:lstStyle/>
          <a:p>
            <a:pPr algn="l" indent="0" marL="0">
              <a:lnSpc>
                <a:spcPct val="118000"/>
              </a:lnSpc>
              <a:buNone/>
            </a:pPr>
            <a:r>
              <a:rPr lang="en-US" sz="1240" dirty="0">
                <a:solidFill>
                  <a:srgbClr val="243B53"/>
                </a:solidFill>
                <a:latin typeface="Aptos" pitchFamily="34" charset="0"/>
                <a:ea typeface="Aptos" pitchFamily="34" charset="-122"/>
                <a:cs typeface="Aptos" pitchFamily="34" charset="-120"/>
              </a:rPr>
              <a:t>Afirmar «la mayoría» pide una población de programas, una definición de defecto y una medición de su distribución. Nada de eso aparece en las demostraciones de una clase.</a:t>
            </a:r>
            <a:endParaRPr lang="en-US" sz="1240" dirty="0"/>
          </a:p>
        </p:txBody>
      </p:sp>
      <p:sp>
        <p:nvSpPr>
          <p:cNvPr id="19" name="Shape 16"/>
          <p:cNvSpPr/>
          <p:nvPr/>
        </p:nvSpPr>
        <p:spPr>
          <a:xfrm>
            <a:off x="658368" y="4169664"/>
            <a:ext cx="10874959" cy="1133856"/>
          </a:xfrm>
          <a:prstGeom prst="rect">
            <a:avLst/>
          </a:prstGeom>
          <a:solidFill>
            <a:srgbClr val="E6EEF7"/>
          </a:solidFill>
          <a:ln w="12700">
            <a:solidFill>
              <a:srgbClr val="E6EEF7"/>
            </a:solidFill>
            <a:prstDash val="solid"/>
          </a:ln>
        </p:spPr>
      </p:sp>
      <p:sp>
        <p:nvSpPr>
          <p:cNvPr id="20" name="Shape 17"/>
          <p:cNvSpPr/>
          <p:nvPr/>
        </p:nvSpPr>
        <p:spPr>
          <a:xfrm>
            <a:off x="658368" y="4169664"/>
            <a:ext cx="64008" cy="1133856"/>
          </a:xfrm>
          <a:prstGeom prst="rect">
            <a:avLst/>
          </a:prstGeom>
          <a:solidFill>
            <a:srgbClr val="102A43"/>
          </a:solidFill>
          <a:ln w="12700">
            <a:solidFill>
              <a:srgbClr val="102A43"/>
            </a:solidFill>
            <a:prstDash val="solid"/>
          </a:ln>
        </p:spPr>
      </p:sp>
      <p:sp>
        <p:nvSpPr>
          <p:cNvPr id="21" name="Text 18"/>
          <p:cNvSpPr txBox="1"/>
          <p:nvPr/>
        </p:nvSpPr>
        <p:spPr>
          <a:xfrm>
            <a:off x="987552" y="4334256"/>
            <a:ext cx="731520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HAY INVESTIGACIÓN EMPÍRICA, Y CONVIENE CONSERVAR SU ALCANCE</a:t>
            </a:r>
            <a:endParaRPr lang="en-US" sz="960" dirty="0"/>
          </a:p>
        </p:txBody>
      </p:sp>
      <p:sp>
        <p:nvSpPr>
          <p:cNvPr id="22" name="Text 19"/>
          <p:cNvSpPr txBox="1"/>
          <p:nvPr/>
        </p:nvSpPr>
        <p:spPr>
          <a:xfrm>
            <a:off x="987552" y="4572000"/>
            <a:ext cx="10216591" cy="658368"/>
          </a:xfrm>
          <a:prstGeom prst="rect">
            <a:avLst/>
          </a:prstGeom>
          <a:noFill/>
          <a:ln/>
        </p:spPr>
        <p:txBody>
          <a:bodyPr wrap="square" lIns="0" tIns="0" rIns="0" bIns="0" rtlCol="0" anchor="t"/>
          <a:lstStyle/>
          <a:p>
            <a:pPr algn="l" indent="0" marL="0">
              <a:lnSpc>
                <a:spcPct val="116000"/>
              </a:lnSpc>
              <a:buNone/>
            </a:pPr>
            <a:r>
              <a:rPr lang="en-US" sz="1240" dirty="0">
                <a:solidFill>
                  <a:srgbClr val="243B53"/>
                </a:solidFill>
                <a:latin typeface="Aptos" pitchFamily="34" charset="0"/>
                <a:ea typeface="Aptos" pitchFamily="34" charset="-122"/>
                <a:cs typeface="Aptos" pitchFamily="34" charset="-120"/>
              </a:rPr>
              <a:t>Roper, Wood y Miller (1997) compararon lectura de código, pruebas funcionales con partición y valores límite, y</a:t>
            </a:r>
            <a:endParaRPr lang="en-US" sz="1240" dirty="0"/>
          </a:p>
          <a:p>
            <a:pPr algn="l" indent="0" marL="0">
              <a:lnSpc>
                <a:spcPct val="116000"/>
              </a:lnSpc>
              <a:buNone/>
            </a:pPr>
            <a:r>
              <a:rPr lang="en-US" sz="1240" dirty="0">
                <a:solidFill>
                  <a:srgbClr val="243B53"/>
                </a:solidFill>
                <a:latin typeface="Aptos" pitchFamily="34" charset="0"/>
                <a:ea typeface="Aptos" pitchFamily="34" charset="-122"/>
                <a:cs typeface="Aptos" pitchFamily="34" charset="-120"/>
              </a:rPr>
              <a:t>pruebas estructurales: 47 estudiantes sobre programas pequeños en C. Eficacia individual ampliamente similar,</a:t>
            </a:r>
            <a:endParaRPr lang="en-US" sz="1240" dirty="0"/>
          </a:p>
          <a:p>
            <a:pPr algn="l" indent="0" marL="0">
              <a:lnSpc>
                <a:spcPct val="116000"/>
              </a:lnSpc>
              <a:buNone/>
            </a:pPr>
            <a:r>
              <a:rPr lang="en-US" sz="1240" dirty="0">
                <a:solidFill>
                  <a:srgbClr val="243B53"/>
                </a:solidFill>
                <a:latin typeface="Aptos" pitchFamily="34" charset="0"/>
                <a:ea typeface="Aptos" pitchFamily="34" charset="-122"/>
                <a:cs typeface="Aptos" pitchFamily="34" charset="-120"/>
              </a:rPr>
              <a:t>dependiente del programa y sus defectos, y mayor al combinar técnicas.</a:t>
            </a:r>
            <a:endParaRPr lang="en-US" sz="1240" dirty="0"/>
          </a:p>
        </p:txBody>
      </p:sp>
      <p:sp>
        <p:nvSpPr>
          <p:cNvPr id="23" name="Shape 20"/>
          <p:cNvSpPr/>
          <p:nvPr/>
        </p:nvSpPr>
        <p:spPr>
          <a:xfrm>
            <a:off x="658368" y="5504688"/>
            <a:ext cx="10874959" cy="603504"/>
          </a:xfrm>
          <a:prstGeom prst="rect">
            <a:avLst/>
          </a:prstGeom>
          <a:solidFill>
            <a:srgbClr val="102A43"/>
          </a:solidFill>
          <a:ln w="12700">
            <a:solidFill>
              <a:srgbClr val="102A43"/>
            </a:solidFill>
            <a:prstDash val="solid"/>
          </a:ln>
        </p:spPr>
      </p:sp>
      <p:sp>
        <p:nvSpPr>
          <p:cNvPr id="24" name="Text 21"/>
          <p:cNvSpPr txBox="1"/>
          <p:nvPr/>
        </p:nvSpPr>
        <p:spPr>
          <a:xfrm>
            <a:off x="969264" y="5541264"/>
            <a:ext cx="10253167" cy="530352"/>
          </a:xfrm>
          <a:prstGeom prst="rect">
            <a:avLst/>
          </a:prstGeom>
          <a:noFill/>
          <a:ln/>
        </p:spPr>
        <p:txBody>
          <a:bodyPr wrap="square" lIns="0" tIns="0" rIns="0" bIns="0" rtlCol="0" anchor="ctr"/>
          <a:lstStyle/>
          <a:p>
            <a:pPr algn="ctr" indent="0" marL="0">
              <a:lnSpc>
                <a:spcPct val="110000"/>
              </a:lnSpc>
              <a:buNone/>
            </a:pPr>
            <a:r>
              <a:rPr lang="en-US" sz="1260" b="1" dirty="0">
                <a:solidFill>
                  <a:srgbClr val="FFFFFF"/>
                </a:solidFill>
                <a:latin typeface="Aptos" pitchFamily="34" charset="0"/>
                <a:ea typeface="Aptos" pitchFamily="34" charset="-122"/>
                <a:cs typeface="Aptos" pitchFamily="34" charset="-120"/>
              </a:rPr>
              <a:t>Ese estudio no aísla el efecto de los valores límite ni mide qué proporción de defectos vive en bordes. Se eligen los bordes por los errores que permiten exponer, no por una frecuencia.</a:t>
            </a:r>
            <a:endParaRPr lang="en-US" sz="126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52</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CUANDO EL PARÁMETRO NO ES UN ENTERO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«Justo antes» necesita una unidad</a:t>
            </a:r>
            <a:endParaRPr lang="en-US" sz="3000" dirty="0"/>
          </a:p>
        </p:txBody>
      </p:sp>
      <p:sp>
        <p:nvSpPr>
          <p:cNvPr id="10" name="Text 7"/>
          <p:cNvSpPr txBox="1"/>
          <p:nvPr/>
        </p:nvSpPr>
        <p:spPr>
          <a:xfrm>
            <a:off x="658368" y="1773936"/>
            <a:ext cx="72237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La regla de cancelación no compara bloques: compara dos instantes. Lo que se estudia es la anticipación.</a:t>
            </a:r>
            <a:endParaRPr lang="en-US" sz="1450" dirty="0"/>
          </a:p>
        </p:txBody>
      </p:sp>
      <p:sp>
        <p:nvSpPr>
          <p:cNvPr id="11" name="Shape 8"/>
          <p:cNvSpPr/>
          <p:nvPr/>
        </p:nvSpPr>
        <p:spPr>
          <a:xfrm>
            <a:off x="8165592" y="1883664"/>
            <a:ext cx="1060704" cy="274320"/>
          </a:xfrm>
          <a:prstGeom prst="rect">
            <a:avLst/>
          </a:prstGeom>
          <a:solidFill>
            <a:srgbClr val="EDE6DA"/>
          </a:solidFill>
          <a:ln w="12700">
            <a:solidFill>
              <a:srgbClr val="EDE6DA"/>
            </a:solidFill>
            <a:prstDash val="solid"/>
          </a:ln>
        </p:spPr>
      </p:sp>
      <p:sp>
        <p:nvSpPr>
          <p:cNvPr id="12" name="Text 9"/>
          <p:cNvSpPr txBox="1"/>
          <p:nvPr/>
        </p:nvSpPr>
        <p:spPr>
          <a:xfrm>
            <a:off x="8165592"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Leer</a:t>
            </a:r>
            <a:endParaRPr lang="en-US" sz="940" dirty="0"/>
          </a:p>
        </p:txBody>
      </p:sp>
      <p:sp>
        <p:nvSpPr>
          <p:cNvPr id="13" name="Shape 10"/>
          <p:cNvSpPr/>
          <p:nvPr/>
        </p:nvSpPr>
        <p:spPr>
          <a:xfrm>
            <a:off x="9317736" y="1883664"/>
            <a:ext cx="1060704" cy="274320"/>
          </a:xfrm>
          <a:prstGeom prst="rect">
            <a:avLst/>
          </a:prstGeom>
          <a:solidFill>
            <a:srgbClr val="EDE6DA"/>
          </a:solidFill>
          <a:ln w="12700">
            <a:solidFill>
              <a:srgbClr val="EDE6DA"/>
            </a:solidFill>
            <a:prstDash val="solid"/>
          </a:ln>
        </p:spPr>
      </p:sp>
      <p:sp>
        <p:nvSpPr>
          <p:cNvPr id="14" name="Text 11"/>
          <p:cNvSpPr txBox="1"/>
          <p:nvPr/>
        </p:nvSpPr>
        <p:spPr>
          <a:xfrm>
            <a:off x="9317736"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Predecir</a:t>
            </a:r>
            <a:endParaRPr lang="en-US" sz="940" dirty="0"/>
          </a:p>
        </p:txBody>
      </p:sp>
      <p:sp>
        <p:nvSpPr>
          <p:cNvPr id="15" name="Shape 12"/>
          <p:cNvSpPr/>
          <p:nvPr/>
        </p:nvSpPr>
        <p:spPr>
          <a:xfrm>
            <a:off x="10469880" y="1883664"/>
            <a:ext cx="1060704" cy="274320"/>
          </a:xfrm>
          <a:prstGeom prst="rect">
            <a:avLst/>
          </a:prstGeom>
          <a:solidFill>
            <a:srgbClr val="102A43"/>
          </a:solidFill>
          <a:ln w="12700">
            <a:solidFill>
              <a:srgbClr val="102A43"/>
            </a:solidFill>
            <a:prstDash val="solid"/>
          </a:ln>
        </p:spPr>
      </p:sp>
      <p:sp>
        <p:nvSpPr>
          <p:cNvPr id="16" name="Text 13"/>
          <p:cNvSpPr txBox="1"/>
          <p:nvPr/>
        </p:nvSpPr>
        <p:spPr>
          <a:xfrm>
            <a:off x="10469880"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FFFFFF"/>
                </a:solidFill>
                <a:latin typeface="Aptos" pitchFamily="34" charset="0"/>
                <a:ea typeface="Aptos" pitchFamily="34" charset="-122"/>
                <a:cs typeface="Aptos" pitchFamily="34" charset="-120"/>
              </a:rPr>
              <a:t>Comprobar</a:t>
            </a:r>
            <a:endParaRPr lang="en-US" sz="940" dirty="0"/>
          </a:p>
        </p:txBody>
      </p:sp>
      <p:sp>
        <p:nvSpPr>
          <p:cNvPr id="17" name="Shape 14"/>
          <p:cNvSpPr/>
          <p:nvPr/>
        </p:nvSpPr>
        <p:spPr>
          <a:xfrm>
            <a:off x="658368" y="2286000"/>
            <a:ext cx="5029200" cy="1463040"/>
          </a:xfrm>
          <a:prstGeom prst="roundRect">
            <a:avLst>
              <a:gd name="adj" fmla="val 2500"/>
            </a:avLst>
          </a:prstGeom>
          <a:solidFill>
            <a:srgbClr val="102A43"/>
          </a:solidFill>
          <a:ln w="12700">
            <a:solidFill>
              <a:srgbClr val="102A43"/>
            </a:solidFill>
            <a:prstDash val="solid"/>
          </a:ln>
        </p:spPr>
      </p:sp>
      <p:sp>
        <p:nvSpPr>
          <p:cNvPr id="18" name="Shape 15"/>
          <p:cNvSpPr/>
          <p:nvPr/>
        </p:nvSpPr>
        <p:spPr>
          <a:xfrm>
            <a:off x="786384" y="2395728"/>
            <a:ext cx="4773168" cy="310896"/>
          </a:xfrm>
          <a:prstGeom prst="roundRect">
            <a:avLst>
              <a:gd name="adj" fmla="val 8824"/>
            </a:avLst>
          </a:prstGeom>
          <a:solidFill>
            <a:srgbClr val="284B75"/>
          </a:solidFill>
          <a:ln w="12700">
            <a:solidFill>
              <a:srgbClr val="284B75"/>
            </a:solidFill>
            <a:prstDash val="solid"/>
          </a:ln>
        </p:spPr>
      </p:sp>
      <p:sp>
        <p:nvSpPr>
          <p:cNvPr id="19" name="Text 16"/>
          <p:cNvSpPr/>
          <p:nvPr/>
        </p:nvSpPr>
        <p:spPr>
          <a:xfrm>
            <a:off x="896112" y="2468880"/>
            <a:ext cx="455371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 anticipación, y el paso elegido</a:t>
            </a:r>
            <a:endParaRPr lang="en-US" sz="100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4608576" cy="713232"/>
          </a:xfrm>
          <a:prstGeom prst="rect">
            <a:avLst/>
          </a:prstGeom>
        </p:spPr>
      </p:pic>
      <p:sp>
        <p:nvSpPr>
          <p:cNvPr id="21" name="Shape 17"/>
          <p:cNvSpPr/>
          <p:nvPr/>
        </p:nvSpPr>
        <p:spPr>
          <a:xfrm>
            <a:off x="5870448" y="2286000"/>
            <a:ext cx="5660136" cy="1463040"/>
          </a:xfrm>
          <a:prstGeom prst="rect">
            <a:avLst/>
          </a:prstGeom>
          <a:solidFill>
            <a:srgbClr val="F2E7D9"/>
          </a:solidFill>
          <a:ln w="12700">
            <a:solidFill>
              <a:srgbClr val="F2E7D9"/>
            </a:solidFill>
            <a:prstDash val="solid"/>
          </a:ln>
        </p:spPr>
      </p:sp>
      <p:sp>
        <p:nvSpPr>
          <p:cNvPr id="22" name="Shape 18"/>
          <p:cNvSpPr/>
          <p:nvPr/>
        </p:nvSpPr>
        <p:spPr>
          <a:xfrm>
            <a:off x="5870448" y="2286000"/>
            <a:ext cx="64008" cy="1463040"/>
          </a:xfrm>
          <a:prstGeom prst="rect">
            <a:avLst/>
          </a:prstGeom>
          <a:solidFill>
            <a:srgbClr val="8A6A12"/>
          </a:solidFill>
          <a:ln w="12700">
            <a:solidFill>
              <a:srgbClr val="8A6A12"/>
            </a:solidFill>
            <a:prstDash val="solid"/>
          </a:ln>
        </p:spPr>
      </p:sp>
      <p:sp>
        <p:nvSpPr>
          <p:cNvPr id="23" name="Text 19"/>
          <p:cNvSpPr txBox="1"/>
          <p:nvPr/>
        </p:nvSpPr>
        <p:spPr>
          <a:xfrm>
            <a:off x="6199632" y="2450592"/>
            <a:ext cx="5029200" cy="1170432"/>
          </a:xfrm>
          <a:prstGeom prst="rect">
            <a:avLst/>
          </a:prstGeom>
          <a:noFill/>
          <a:ln/>
        </p:spPr>
        <p:txBody>
          <a:bodyPr wrap="square" lIns="0" tIns="0" rIns="0" bIns="0" rtlCol="0" anchor="t"/>
          <a:lstStyle/>
          <a:p>
            <a:pPr algn="l" indent="0" marL="0">
              <a:lnSpc>
                <a:spcPct val="120000"/>
              </a:lnSpc>
              <a:buNone/>
            </a:pPr>
            <a:r>
              <a:rPr lang="en-US" sz="1240" dirty="0">
                <a:solidFill>
                  <a:srgbClr val="243B53"/>
                </a:solidFill>
                <a:latin typeface="Aptos" pitchFamily="34" charset="0"/>
                <a:ea typeface="Aptos" pitchFamily="34" charset="-122"/>
                <a:cs typeface="Aptos" pitchFamily="34" charset="-120"/>
              </a:rPr>
              <a:t>El tipo timedelta representa una duración con resolución de un microsegundo. Ese es el «vecino» más cercano posible en este dominio, y hay que declararlo antes de escribir el caso.</a:t>
            </a:r>
            <a:endParaRPr lang="en-US" sz="1240" dirty="0"/>
          </a:p>
        </p:txBody>
      </p:sp>
      <p:sp>
        <p:nvSpPr>
          <p:cNvPr id="24" name="Shape 20"/>
          <p:cNvSpPr/>
          <p:nvPr/>
        </p:nvSpPr>
        <p:spPr>
          <a:xfrm>
            <a:off x="658368" y="3913632"/>
            <a:ext cx="10874959" cy="1737360"/>
          </a:xfrm>
          <a:prstGeom prst="roundRect">
            <a:avLst>
              <a:gd name="adj" fmla="val 2105"/>
            </a:avLst>
          </a:prstGeom>
          <a:solidFill>
            <a:srgbClr val="0F1720"/>
          </a:solidFill>
          <a:ln w="12700">
            <a:solidFill>
              <a:srgbClr val="0F1720"/>
            </a:solidFill>
            <a:prstDash val="solid"/>
          </a:ln>
        </p:spPr>
      </p:sp>
      <p:sp>
        <p:nvSpPr>
          <p:cNvPr id="25" name="Shape 21"/>
          <p:cNvSpPr/>
          <p:nvPr/>
        </p:nvSpPr>
        <p:spPr>
          <a:xfrm>
            <a:off x="786384" y="4023360"/>
            <a:ext cx="10618927" cy="310896"/>
          </a:xfrm>
          <a:prstGeom prst="roundRect">
            <a:avLst>
              <a:gd name="adj" fmla="val 8824"/>
            </a:avLst>
          </a:prstGeom>
          <a:solidFill>
            <a:srgbClr val="1E2937"/>
          </a:solidFill>
          <a:ln w="12700">
            <a:solidFill>
              <a:srgbClr val="1E2937"/>
            </a:solidFill>
            <a:prstDash val="solid"/>
          </a:ln>
        </p:spPr>
      </p:sp>
      <p:sp>
        <p:nvSpPr>
          <p:cNvPr id="26" name="Text 22"/>
          <p:cNvSpPr/>
          <p:nvPr/>
        </p:nvSpPr>
        <p:spPr>
          <a:xfrm>
            <a:off x="914400" y="4096512"/>
            <a:ext cx="10362895"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Un instante fijo, y solo la anticipación cambia</a:t>
            </a:r>
            <a:endParaRPr lang="en-US" sz="1000" dirty="0"/>
          </a:p>
        </p:txBody>
      </p:sp>
      <p:sp>
        <p:nvSpPr>
          <p:cNvPr id="27" name="Text 23"/>
          <p:cNvSpPr/>
          <p:nvPr/>
        </p:nvSpPr>
        <p:spPr>
          <a:xfrm>
            <a:off x="877824" y="4480560"/>
            <a:ext cx="10125151" cy="164592"/>
          </a:xfrm>
          <a:prstGeom prst="rect">
            <a:avLst/>
          </a:prstGeom>
          <a:noFill/>
          <a:ln/>
        </p:spPr>
        <p:txBody>
          <a:bodyPr wrap="square" lIns="0" tIns="0" rIns="0" bIns="0" rtlCol="0" anchor="ctr"/>
          <a:lstStyle/>
          <a:p>
            <a:pPr indent="0" marL="0">
              <a:buNone/>
            </a:pPr>
            <a:r>
              <a:rPr lang="en-US" sz="1020" dirty="0">
                <a:solidFill>
                  <a:srgbClr val="E6EEF7"/>
                </a:solidFill>
                <a:latin typeface="Consolas" pitchFamily="34" charset="0"/>
                <a:ea typeface="Consolas" pitchFamily="34" charset="-122"/>
                <a:cs typeface="Consolas" pitchFamily="34" charset="-120"/>
              </a:rPr>
              <a:t>un microsegundo menos  1:59:59.999999  False</a:t>
            </a:r>
            <a:endParaRPr lang="en-US" sz="1020" dirty="0"/>
          </a:p>
        </p:txBody>
      </p:sp>
      <p:sp>
        <p:nvSpPr>
          <p:cNvPr id="28" name="Text 24"/>
          <p:cNvSpPr/>
          <p:nvPr/>
        </p:nvSpPr>
        <p:spPr>
          <a:xfrm>
            <a:off x="877824" y="4736592"/>
            <a:ext cx="10125151" cy="164592"/>
          </a:xfrm>
          <a:prstGeom prst="rect">
            <a:avLst/>
          </a:prstGeom>
          <a:noFill/>
          <a:ln/>
        </p:spPr>
        <p:txBody>
          <a:bodyPr wrap="square" lIns="0" tIns="0" rIns="0" bIns="0" rtlCol="0" anchor="ctr"/>
          <a:lstStyle/>
          <a:p>
            <a:pPr indent="0" marL="0">
              <a:buNone/>
            </a:pPr>
            <a:r>
              <a:rPr lang="en-US" sz="1020" dirty="0">
                <a:solidFill>
                  <a:srgbClr val="E6EEF7"/>
                </a:solidFill>
                <a:latin typeface="Consolas" pitchFamily="34" charset="0"/>
                <a:ea typeface="Consolas" pitchFamily="34" charset="-122"/>
                <a:cs typeface="Consolas" pitchFamily="34" charset="-120"/>
              </a:rPr>
              <a:t>exactamente dos horas  2:00:00         False</a:t>
            </a:r>
            <a:endParaRPr lang="en-US" sz="1020" dirty="0"/>
          </a:p>
        </p:txBody>
      </p:sp>
      <p:sp>
        <p:nvSpPr>
          <p:cNvPr id="29" name="Text 25"/>
          <p:cNvSpPr/>
          <p:nvPr/>
        </p:nvSpPr>
        <p:spPr>
          <a:xfrm>
            <a:off x="877824" y="4992624"/>
            <a:ext cx="10125151" cy="164592"/>
          </a:xfrm>
          <a:prstGeom prst="rect">
            <a:avLst/>
          </a:prstGeom>
          <a:noFill/>
          <a:ln/>
        </p:spPr>
        <p:txBody>
          <a:bodyPr wrap="square" lIns="0" tIns="0" rIns="0" bIns="0" rtlCol="0" anchor="ctr"/>
          <a:lstStyle/>
          <a:p>
            <a:pPr indent="0" marL="0">
              <a:buNone/>
            </a:pPr>
            <a:r>
              <a:rPr lang="en-US" sz="1020" dirty="0">
                <a:solidFill>
                  <a:srgbClr val="E6EEF7"/>
                </a:solidFill>
                <a:latin typeface="Consolas" pitchFamily="34" charset="0"/>
                <a:ea typeface="Consolas" pitchFamily="34" charset="-122"/>
                <a:cs typeface="Consolas" pitchFamily="34" charset="-120"/>
              </a:rPr>
              <a:t>un microsegundo mas    2:00:00.000001  True</a:t>
            </a:r>
            <a:endParaRPr lang="en-US" sz="1020" dirty="0"/>
          </a:p>
        </p:txBody>
      </p:sp>
      <p:sp>
        <p:nvSpPr>
          <p:cNvPr id="30" name="Shape 26"/>
          <p:cNvSpPr/>
          <p:nvPr/>
        </p:nvSpPr>
        <p:spPr>
          <a:xfrm>
            <a:off x="658368" y="5779008"/>
            <a:ext cx="10874959" cy="566928"/>
          </a:xfrm>
          <a:prstGeom prst="rect">
            <a:avLst/>
          </a:prstGeom>
          <a:solidFill>
            <a:srgbClr val="B3181E"/>
          </a:solidFill>
          <a:ln w="12700">
            <a:solidFill>
              <a:srgbClr val="B3181E"/>
            </a:solidFill>
            <a:prstDash val="solid"/>
          </a:ln>
        </p:spPr>
      </p:sp>
      <p:sp>
        <p:nvSpPr>
          <p:cNvPr id="31" name="Text 27"/>
          <p:cNvSpPr txBox="1"/>
          <p:nvPr/>
        </p:nvSpPr>
        <p:spPr>
          <a:xfrm>
            <a:off x="969264" y="5815584"/>
            <a:ext cx="10253167" cy="493776"/>
          </a:xfrm>
          <a:prstGeom prst="rect">
            <a:avLst/>
          </a:prstGeom>
          <a:noFill/>
          <a:ln/>
        </p:spPr>
        <p:txBody>
          <a:bodyPr wrap="square" lIns="0" tIns="0" rIns="0" bIns="0" rtlCol="0" anchor="ctr"/>
          <a:lstStyle/>
          <a:p>
            <a:pPr algn="ctr" indent="0" marL="0">
              <a:lnSpc>
                <a:spcPct val="110000"/>
              </a:lnSpc>
              <a:buNone/>
            </a:pPr>
            <a:r>
              <a:rPr lang="en-US" sz="1260" b="1" dirty="0">
                <a:solidFill>
                  <a:srgbClr val="FFFFFF"/>
                </a:solidFill>
                <a:latin typeface="Aptos" pitchFamily="34" charset="0"/>
                <a:ea typeface="Aptos" pitchFamily="34" charset="-122"/>
                <a:cs typeface="Aptos" pitchFamily="34" charset="-120"/>
              </a:rPr>
              <a:t>Es una observación, no una prueba: el requisito dice «hasta 2 horas antes» y nunca resolvió si las dos horas exactas entran. Ese False es lo que hace el código, no lo que se le exige.</a:t>
            </a:r>
            <a:endParaRPr lang="en-US" sz="126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53</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DOS DECISIONES DISTINTAS</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800" b="1" dirty="0">
                <a:solidFill>
                  <a:srgbClr val="243B53"/>
                </a:solidFill>
                <a:latin typeface="Aptos Display" pitchFamily="34" charset="0"/>
                <a:ea typeface="Aptos Display" pitchFamily="34" charset="-122"/>
                <a:cs typeface="Aptos Display" pitchFamily="34" charset="-120"/>
              </a:rPr>
              <a:t>La resolución de un tipo no es la precisión del producto</a:t>
            </a:r>
            <a:endParaRPr lang="en-US" sz="28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El microsegundo lo trae el tipo. Qué precisión admite el sistema es una decisión del requisito, y todavía no está tomada.</a:t>
            </a:r>
            <a:endParaRPr lang="en-US" sz="1450" dirty="0"/>
          </a:p>
        </p:txBody>
      </p:sp>
      <p:sp>
        <p:nvSpPr>
          <p:cNvPr id="11" name="Shape 8"/>
          <p:cNvSpPr/>
          <p:nvPr/>
        </p:nvSpPr>
        <p:spPr>
          <a:xfrm>
            <a:off x="658368" y="2395728"/>
            <a:ext cx="3465576" cy="1463040"/>
          </a:xfrm>
          <a:prstGeom prst="rect">
            <a:avLst/>
          </a:prstGeom>
          <a:solidFill>
            <a:srgbClr val="E6EEF7"/>
          </a:solidFill>
          <a:ln w="12700">
            <a:solidFill>
              <a:srgbClr val="E6EEF7"/>
            </a:solidFill>
            <a:prstDash val="solid"/>
          </a:ln>
        </p:spPr>
      </p:sp>
      <p:sp>
        <p:nvSpPr>
          <p:cNvPr id="12" name="Shape 9"/>
          <p:cNvSpPr/>
          <p:nvPr/>
        </p:nvSpPr>
        <p:spPr>
          <a:xfrm>
            <a:off x="658368" y="2395728"/>
            <a:ext cx="3465576" cy="64008"/>
          </a:xfrm>
          <a:prstGeom prst="rect">
            <a:avLst/>
          </a:prstGeom>
          <a:solidFill>
            <a:srgbClr val="102A43"/>
          </a:solidFill>
          <a:ln w="12700">
            <a:solidFill>
              <a:srgbClr val="102A43"/>
            </a:solidFill>
            <a:prstDash val="solid"/>
          </a:ln>
        </p:spPr>
      </p:sp>
      <p:sp>
        <p:nvSpPr>
          <p:cNvPr id="13" name="Text 10"/>
          <p:cNvSpPr txBox="1"/>
          <p:nvPr/>
        </p:nvSpPr>
        <p:spPr>
          <a:xfrm>
            <a:off x="914400" y="2578608"/>
            <a:ext cx="2962656" cy="274320"/>
          </a:xfrm>
          <a:prstGeom prst="rect">
            <a:avLst/>
          </a:prstGeom>
          <a:noFill/>
          <a:ln/>
        </p:spPr>
        <p:txBody>
          <a:bodyPr wrap="square" lIns="0" tIns="0" rIns="0" bIns="0" rtlCol="0" anchor="t"/>
          <a:lstStyle/>
          <a:p>
            <a:pPr algn="l" indent="0" marL="0">
              <a:buNone/>
            </a:pPr>
            <a:r>
              <a:rPr lang="en-US" sz="1400" b="1" dirty="0">
                <a:solidFill>
                  <a:srgbClr val="102A43"/>
                </a:solidFill>
                <a:latin typeface="Aptos" pitchFamily="34" charset="0"/>
                <a:ea typeface="Aptos" pitchFamily="34" charset="-122"/>
                <a:cs typeface="Aptos" pitchFamily="34" charset="-120"/>
              </a:rPr>
              <a:t>El dominio</a:t>
            </a:r>
            <a:endParaRPr lang="en-US" sz="1400" dirty="0"/>
          </a:p>
        </p:txBody>
      </p:sp>
      <p:sp>
        <p:nvSpPr>
          <p:cNvPr id="14" name="Text 11"/>
          <p:cNvSpPr txBox="1"/>
          <p:nvPr/>
        </p:nvSpPr>
        <p:spPr>
          <a:xfrm>
            <a:off x="914400" y="2926080"/>
            <a:ext cx="2962656" cy="786384"/>
          </a:xfrm>
          <a:prstGeom prst="rect">
            <a:avLst/>
          </a:prstGeom>
          <a:noFill/>
          <a:ln/>
        </p:spPr>
        <p:txBody>
          <a:bodyPr wrap="square" lIns="0" tIns="0" rIns="0" bIns="0" rtlCol="0" anchor="t"/>
          <a:lstStyle/>
          <a:p>
            <a:pPr algn="l" indent="0" marL="0">
              <a:lnSpc>
                <a:spcPct val="118000"/>
              </a:lnSpc>
              <a:buNone/>
            </a:pPr>
            <a:r>
              <a:rPr lang="en-US" sz="1220" dirty="0">
                <a:solidFill>
                  <a:srgbClr val="243B53"/>
                </a:solidFill>
                <a:latin typeface="Aptos" pitchFamily="34" charset="0"/>
                <a:ea typeface="Aptos" pitchFamily="34" charset="-122"/>
                <a:cs typeface="Aptos" pitchFamily="34" charset="-120"/>
              </a:rPr>
              <a:t>¿Enteros, instantes, duraciones, decimales? Determina qué significa «el siguiente».</a:t>
            </a:r>
            <a:endParaRPr lang="en-US" sz="1220" dirty="0"/>
          </a:p>
        </p:txBody>
      </p:sp>
      <p:sp>
        <p:nvSpPr>
          <p:cNvPr id="15" name="Shape 12"/>
          <p:cNvSpPr/>
          <p:nvPr/>
        </p:nvSpPr>
        <p:spPr>
          <a:xfrm>
            <a:off x="4379976" y="2395728"/>
            <a:ext cx="3465576" cy="1463040"/>
          </a:xfrm>
          <a:prstGeom prst="rect">
            <a:avLst/>
          </a:prstGeom>
          <a:solidFill>
            <a:srgbClr val="F2E7D9"/>
          </a:solidFill>
          <a:ln w="12700">
            <a:solidFill>
              <a:srgbClr val="F2E7D9"/>
            </a:solidFill>
            <a:prstDash val="solid"/>
          </a:ln>
        </p:spPr>
      </p:sp>
      <p:sp>
        <p:nvSpPr>
          <p:cNvPr id="16" name="Shape 13"/>
          <p:cNvSpPr/>
          <p:nvPr/>
        </p:nvSpPr>
        <p:spPr>
          <a:xfrm>
            <a:off x="4379976" y="2395728"/>
            <a:ext cx="3465576" cy="64008"/>
          </a:xfrm>
          <a:prstGeom prst="rect">
            <a:avLst/>
          </a:prstGeom>
          <a:solidFill>
            <a:srgbClr val="8A6A12"/>
          </a:solidFill>
          <a:ln w="12700">
            <a:solidFill>
              <a:srgbClr val="8A6A12"/>
            </a:solidFill>
            <a:prstDash val="solid"/>
          </a:ln>
        </p:spPr>
      </p:sp>
      <p:sp>
        <p:nvSpPr>
          <p:cNvPr id="17" name="Text 14"/>
          <p:cNvSpPr txBox="1"/>
          <p:nvPr/>
        </p:nvSpPr>
        <p:spPr>
          <a:xfrm>
            <a:off x="4636008" y="2578608"/>
            <a:ext cx="2962656" cy="274320"/>
          </a:xfrm>
          <a:prstGeom prst="rect">
            <a:avLst/>
          </a:prstGeom>
          <a:noFill/>
          <a:ln/>
        </p:spPr>
        <p:txBody>
          <a:bodyPr wrap="square" lIns="0" tIns="0" rIns="0" bIns="0" rtlCol="0" anchor="t"/>
          <a:lstStyle/>
          <a:p>
            <a:pPr algn="l" indent="0" marL="0">
              <a:buNone/>
            </a:pPr>
            <a:r>
              <a:rPr lang="en-US" sz="1400" b="1" dirty="0">
                <a:solidFill>
                  <a:srgbClr val="8A6A12"/>
                </a:solidFill>
                <a:latin typeface="Aptos" pitchFamily="34" charset="0"/>
                <a:ea typeface="Aptos" pitchFamily="34" charset="-122"/>
                <a:cs typeface="Aptos" pitchFamily="34" charset="-120"/>
              </a:rPr>
              <a:t>La unidad y el paso</a:t>
            </a:r>
            <a:endParaRPr lang="en-US" sz="1400" dirty="0"/>
          </a:p>
        </p:txBody>
      </p:sp>
      <p:sp>
        <p:nvSpPr>
          <p:cNvPr id="18" name="Text 15"/>
          <p:cNvSpPr txBox="1"/>
          <p:nvPr/>
        </p:nvSpPr>
        <p:spPr>
          <a:xfrm>
            <a:off x="4636008" y="2926080"/>
            <a:ext cx="2962656" cy="786384"/>
          </a:xfrm>
          <a:prstGeom prst="rect">
            <a:avLst/>
          </a:prstGeom>
          <a:noFill/>
          <a:ln/>
        </p:spPr>
        <p:txBody>
          <a:bodyPr wrap="square" lIns="0" tIns="0" rIns="0" bIns="0" rtlCol="0" anchor="t"/>
          <a:lstStyle/>
          <a:p>
            <a:pPr algn="l" indent="0" marL="0">
              <a:lnSpc>
                <a:spcPct val="118000"/>
              </a:lnSpc>
              <a:buNone/>
            </a:pPr>
            <a:r>
              <a:rPr lang="en-US" sz="1220" dirty="0">
                <a:solidFill>
                  <a:srgbClr val="243B53"/>
                </a:solidFill>
                <a:latin typeface="Aptos" pitchFamily="34" charset="0"/>
                <a:ea typeface="Aptos" pitchFamily="34" charset="-122"/>
                <a:cs typeface="Aptos" pitchFamily="34" charset="-120"/>
              </a:rPr>
              <a:t>Un microsegundo, un minuto, un bloque. Sin unidad, «límite − 1» no está definido.</a:t>
            </a:r>
            <a:endParaRPr lang="en-US" sz="1220" dirty="0"/>
          </a:p>
        </p:txBody>
      </p:sp>
      <p:sp>
        <p:nvSpPr>
          <p:cNvPr id="19" name="Shape 16"/>
          <p:cNvSpPr/>
          <p:nvPr/>
        </p:nvSpPr>
        <p:spPr>
          <a:xfrm>
            <a:off x="8101584" y="2395728"/>
            <a:ext cx="3465576" cy="1463040"/>
          </a:xfrm>
          <a:prstGeom prst="rect">
            <a:avLst/>
          </a:prstGeom>
          <a:solidFill>
            <a:srgbClr val="F8E4E5"/>
          </a:solidFill>
          <a:ln w="12700">
            <a:solidFill>
              <a:srgbClr val="F8E4E5"/>
            </a:solidFill>
            <a:prstDash val="solid"/>
          </a:ln>
        </p:spPr>
      </p:sp>
      <p:sp>
        <p:nvSpPr>
          <p:cNvPr id="20" name="Shape 17"/>
          <p:cNvSpPr/>
          <p:nvPr/>
        </p:nvSpPr>
        <p:spPr>
          <a:xfrm>
            <a:off x="8101584" y="2395728"/>
            <a:ext cx="3465576" cy="64008"/>
          </a:xfrm>
          <a:prstGeom prst="rect">
            <a:avLst/>
          </a:prstGeom>
          <a:solidFill>
            <a:srgbClr val="B3181E"/>
          </a:solidFill>
          <a:ln w="12700">
            <a:solidFill>
              <a:srgbClr val="B3181E"/>
            </a:solidFill>
            <a:prstDash val="solid"/>
          </a:ln>
        </p:spPr>
      </p:sp>
      <p:sp>
        <p:nvSpPr>
          <p:cNvPr id="21" name="Text 18"/>
          <p:cNvSpPr txBox="1"/>
          <p:nvPr/>
        </p:nvSpPr>
        <p:spPr>
          <a:xfrm>
            <a:off x="8357616" y="2578608"/>
            <a:ext cx="2962656" cy="274320"/>
          </a:xfrm>
          <a:prstGeom prst="rect">
            <a:avLst/>
          </a:prstGeom>
          <a:noFill/>
          <a:ln/>
        </p:spPr>
        <p:txBody>
          <a:bodyPr wrap="square" lIns="0" tIns="0" rIns="0" bIns="0" rtlCol="0" anchor="t"/>
          <a:lstStyle/>
          <a:p>
            <a:pPr algn="l" indent="0" marL="0">
              <a:buNone/>
            </a:pPr>
            <a:r>
              <a:rPr lang="en-US" sz="1400" b="1" dirty="0">
                <a:solidFill>
                  <a:srgbClr val="B3181E"/>
                </a:solidFill>
                <a:latin typeface="Aptos" pitchFamily="34" charset="0"/>
                <a:ea typeface="Aptos" pitchFamily="34" charset="-122"/>
                <a:cs typeface="Aptos" pitchFamily="34" charset="-120"/>
              </a:rPr>
              <a:t>La pertenencia del límite</a:t>
            </a:r>
            <a:endParaRPr lang="en-US" sz="1400" dirty="0"/>
          </a:p>
        </p:txBody>
      </p:sp>
      <p:sp>
        <p:nvSpPr>
          <p:cNvPr id="22" name="Text 19"/>
          <p:cNvSpPr txBox="1"/>
          <p:nvPr/>
        </p:nvSpPr>
        <p:spPr>
          <a:xfrm>
            <a:off x="8357616" y="2926080"/>
            <a:ext cx="2962656" cy="786384"/>
          </a:xfrm>
          <a:prstGeom prst="rect">
            <a:avLst/>
          </a:prstGeom>
          <a:noFill/>
          <a:ln/>
        </p:spPr>
        <p:txBody>
          <a:bodyPr wrap="square" lIns="0" tIns="0" rIns="0" bIns="0" rtlCol="0" anchor="t"/>
          <a:lstStyle/>
          <a:p>
            <a:pPr algn="l" indent="0" marL="0">
              <a:lnSpc>
                <a:spcPct val="118000"/>
              </a:lnSpc>
              <a:buNone/>
            </a:pPr>
            <a:r>
              <a:rPr lang="en-US" sz="1220" dirty="0">
                <a:solidFill>
                  <a:srgbClr val="243B53"/>
                </a:solidFill>
                <a:latin typeface="Aptos" pitchFamily="34" charset="0"/>
                <a:ea typeface="Aptos" pitchFamily="34" charset="-122"/>
                <a:cs typeface="Aptos" pitchFamily="34" charset="-120"/>
              </a:rPr>
              <a:t>¿El valor exacto entra en una clase o en la otra? Eso lo decide el requisito, no el tipo.</a:t>
            </a:r>
            <a:endParaRPr lang="en-US" sz="1220" dirty="0"/>
          </a:p>
        </p:txBody>
      </p:sp>
      <p:sp>
        <p:nvSpPr>
          <p:cNvPr id="23" name="Shape 20"/>
          <p:cNvSpPr/>
          <p:nvPr/>
        </p:nvSpPr>
        <p:spPr>
          <a:xfrm>
            <a:off x="658368" y="4041648"/>
            <a:ext cx="10874959" cy="1261872"/>
          </a:xfrm>
          <a:prstGeom prst="roundRect">
            <a:avLst>
              <a:gd name="adj" fmla="val 2899"/>
            </a:avLst>
          </a:prstGeom>
          <a:solidFill>
            <a:srgbClr val="102A43"/>
          </a:solidFill>
          <a:ln w="12700">
            <a:solidFill>
              <a:srgbClr val="102A43"/>
            </a:solidFill>
            <a:prstDash val="solid"/>
          </a:ln>
        </p:spPr>
      </p:sp>
      <p:sp>
        <p:nvSpPr>
          <p:cNvPr id="24" name="Shape 21"/>
          <p:cNvSpPr/>
          <p:nvPr/>
        </p:nvSpPr>
        <p:spPr>
          <a:xfrm>
            <a:off x="786384" y="4151376"/>
            <a:ext cx="10618927" cy="310896"/>
          </a:xfrm>
          <a:prstGeom prst="roundRect">
            <a:avLst>
              <a:gd name="adj" fmla="val 8824"/>
            </a:avLst>
          </a:prstGeom>
          <a:solidFill>
            <a:srgbClr val="284B75"/>
          </a:solidFill>
          <a:ln w="12700">
            <a:solidFill>
              <a:srgbClr val="284B75"/>
            </a:solidFill>
            <a:prstDash val="solid"/>
          </a:ln>
        </p:spPr>
      </p:sp>
      <p:sp>
        <p:nvSpPr>
          <p:cNvPr id="25" name="Text 22"/>
          <p:cNvSpPr/>
          <p:nvPr/>
        </p:nvSpPr>
        <p:spPr>
          <a:xfrm>
            <a:off x="896112" y="4224528"/>
            <a:ext cx="10399471"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Por qué «límite − 1» por reflejo no sirve</a:t>
            </a:r>
            <a:endParaRPr lang="en-US" sz="1000" dirty="0"/>
          </a:p>
        </p:txBody>
      </p:sp>
      <p:pic>
        <p:nvPicPr>
          <p:cNvPr id="2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4608576"/>
            <a:ext cx="10454335" cy="512064"/>
          </a:xfrm>
          <a:prstGeom prst="rect">
            <a:avLst/>
          </a:prstGeom>
        </p:spPr>
      </p:pic>
      <p:sp>
        <p:nvSpPr>
          <p:cNvPr id="27" name="Shape 23"/>
          <p:cNvSpPr/>
          <p:nvPr/>
        </p:nvSpPr>
        <p:spPr>
          <a:xfrm>
            <a:off x="658368" y="5449824"/>
            <a:ext cx="10874959" cy="603504"/>
          </a:xfrm>
          <a:prstGeom prst="rect">
            <a:avLst/>
          </a:prstGeom>
          <a:solidFill>
            <a:srgbClr val="102A43"/>
          </a:solidFill>
          <a:ln w="12700">
            <a:solidFill>
              <a:srgbClr val="102A43"/>
            </a:solidFill>
            <a:prstDash val="solid"/>
          </a:ln>
        </p:spPr>
      </p:sp>
      <p:sp>
        <p:nvSpPr>
          <p:cNvPr id="28" name="Text 24"/>
          <p:cNvSpPr txBox="1"/>
          <p:nvPr/>
        </p:nvSpPr>
        <p:spPr>
          <a:xfrm>
            <a:off x="969264" y="5486400"/>
            <a:ext cx="10253167" cy="530352"/>
          </a:xfrm>
          <a:prstGeom prst="rect">
            <a:avLst/>
          </a:prstGeom>
          <a:noFill/>
          <a:ln/>
        </p:spPr>
        <p:txBody>
          <a:bodyPr wrap="square" lIns="0" tIns="0" rIns="0" bIns="0" rtlCol="0" anchor="ctr"/>
          <a:lstStyle/>
          <a:p>
            <a:pPr algn="ctr" indent="0" marL="0">
              <a:lnSpc>
                <a:spcPct val="110000"/>
              </a:lnSpc>
              <a:buNone/>
            </a:pPr>
            <a:r>
              <a:rPr lang="en-US" sz="1260" b="1" dirty="0">
                <a:solidFill>
                  <a:srgbClr val="FFFFFF"/>
                </a:solidFill>
                <a:latin typeface="Aptos" pitchFamily="34" charset="0"/>
                <a:ea typeface="Aptos" pitchFamily="34" charset="-122"/>
                <a:cs typeface="Aptos" pitchFamily="34" charset="-120"/>
              </a:rPr>
              <a:t>Si el contrato de entrada admitiera solo minutos completos, el vecino pertinente sería un minuto antes, no un microsegundo. Entre dos números reales siempre hay otro: el paso hay que declararlo.</a:t>
            </a:r>
            <a:endParaRPr lang="en-US" sz="126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54</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COMPROBAR</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Cuando la igualdad exacta es la prueba equivocada</a:t>
            </a:r>
            <a:endParaRPr lang="en-US" sz="3000" dirty="0"/>
          </a:p>
        </p:txBody>
      </p:sp>
      <p:sp>
        <p:nvSpPr>
          <p:cNvPr id="10" name="Text 7"/>
          <p:cNvSpPr txBox="1"/>
          <p:nvPr/>
        </p:nvSpPr>
        <p:spPr>
          <a:xfrm>
            <a:off x="658368" y="1773936"/>
            <a:ext cx="72237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Para un número de bloque la pertenencia es exacta. Para una duración calculada con decimales, no siempre.</a:t>
            </a:r>
            <a:endParaRPr lang="en-US" sz="1450" dirty="0"/>
          </a:p>
        </p:txBody>
      </p:sp>
      <p:sp>
        <p:nvSpPr>
          <p:cNvPr id="11" name="Shape 8"/>
          <p:cNvSpPr/>
          <p:nvPr/>
        </p:nvSpPr>
        <p:spPr>
          <a:xfrm>
            <a:off x="8165592" y="1883664"/>
            <a:ext cx="1060704" cy="274320"/>
          </a:xfrm>
          <a:prstGeom prst="rect">
            <a:avLst/>
          </a:prstGeom>
          <a:solidFill>
            <a:srgbClr val="EDE6DA"/>
          </a:solidFill>
          <a:ln w="12700">
            <a:solidFill>
              <a:srgbClr val="EDE6DA"/>
            </a:solidFill>
            <a:prstDash val="solid"/>
          </a:ln>
        </p:spPr>
      </p:sp>
      <p:sp>
        <p:nvSpPr>
          <p:cNvPr id="12" name="Text 9"/>
          <p:cNvSpPr txBox="1"/>
          <p:nvPr/>
        </p:nvSpPr>
        <p:spPr>
          <a:xfrm>
            <a:off x="8165592"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Leer</a:t>
            </a:r>
            <a:endParaRPr lang="en-US" sz="940" dirty="0"/>
          </a:p>
        </p:txBody>
      </p:sp>
      <p:sp>
        <p:nvSpPr>
          <p:cNvPr id="13" name="Shape 10"/>
          <p:cNvSpPr/>
          <p:nvPr/>
        </p:nvSpPr>
        <p:spPr>
          <a:xfrm>
            <a:off x="9317736" y="1883664"/>
            <a:ext cx="1060704" cy="274320"/>
          </a:xfrm>
          <a:prstGeom prst="rect">
            <a:avLst/>
          </a:prstGeom>
          <a:solidFill>
            <a:srgbClr val="EDE6DA"/>
          </a:solidFill>
          <a:ln w="12700">
            <a:solidFill>
              <a:srgbClr val="EDE6DA"/>
            </a:solidFill>
            <a:prstDash val="solid"/>
          </a:ln>
        </p:spPr>
      </p:sp>
      <p:sp>
        <p:nvSpPr>
          <p:cNvPr id="14" name="Text 11"/>
          <p:cNvSpPr txBox="1"/>
          <p:nvPr/>
        </p:nvSpPr>
        <p:spPr>
          <a:xfrm>
            <a:off x="9317736"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Predecir</a:t>
            </a:r>
            <a:endParaRPr lang="en-US" sz="940" dirty="0"/>
          </a:p>
        </p:txBody>
      </p:sp>
      <p:sp>
        <p:nvSpPr>
          <p:cNvPr id="15" name="Shape 12"/>
          <p:cNvSpPr/>
          <p:nvPr/>
        </p:nvSpPr>
        <p:spPr>
          <a:xfrm>
            <a:off x="10469880" y="1883664"/>
            <a:ext cx="1060704" cy="274320"/>
          </a:xfrm>
          <a:prstGeom prst="rect">
            <a:avLst/>
          </a:prstGeom>
          <a:solidFill>
            <a:srgbClr val="102A43"/>
          </a:solidFill>
          <a:ln w="12700">
            <a:solidFill>
              <a:srgbClr val="102A43"/>
            </a:solidFill>
            <a:prstDash val="solid"/>
          </a:ln>
        </p:spPr>
      </p:sp>
      <p:sp>
        <p:nvSpPr>
          <p:cNvPr id="16" name="Text 13"/>
          <p:cNvSpPr txBox="1"/>
          <p:nvPr/>
        </p:nvSpPr>
        <p:spPr>
          <a:xfrm>
            <a:off x="10469880"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FFFFFF"/>
                </a:solidFill>
                <a:latin typeface="Aptos" pitchFamily="34" charset="0"/>
                <a:ea typeface="Aptos" pitchFamily="34" charset="-122"/>
                <a:cs typeface="Aptos" pitchFamily="34" charset="-120"/>
              </a:rPr>
              <a:t>Comprobar</a:t>
            </a:r>
            <a:endParaRPr lang="en-US" sz="940" dirty="0"/>
          </a:p>
        </p:txBody>
      </p:sp>
      <p:sp>
        <p:nvSpPr>
          <p:cNvPr id="17" name="Shape 14"/>
          <p:cNvSpPr/>
          <p:nvPr/>
        </p:nvSpPr>
        <p:spPr>
          <a:xfrm>
            <a:off x="658368" y="2286000"/>
            <a:ext cx="5029200" cy="1463040"/>
          </a:xfrm>
          <a:prstGeom prst="roundRect">
            <a:avLst>
              <a:gd name="adj" fmla="val 2500"/>
            </a:avLst>
          </a:prstGeom>
          <a:solidFill>
            <a:srgbClr val="102A43"/>
          </a:solidFill>
          <a:ln w="12700">
            <a:solidFill>
              <a:srgbClr val="102A43"/>
            </a:solidFill>
            <a:prstDash val="solid"/>
          </a:ln>
        </p:spPr>
      </p:sp>
      <p:sp>
        <p:nvSpPr>
          <p:cNvPr id="18" name="Shape 15"/>
          <p:cNvSpPr/>
          <p:nvPr/>
        </p:nvSpPr>
        <p:spPr>
          <a:xfrm>
            <a:off x="786384" y="2395728"/>
            <a:ext cx="4773168" cy="310896"/>
          </a:xfrm>
          <a:prstGeom prst="roundRect">
            <a:avLst>
              <a:gd name="adj" fmla="val 8824"/>
            </a:avLst>
          </a:prstGeom>
          <a:solidFill>
            <a:srgbClr val="284B75"/>
          </a:solidFill>
          <a:ln w="12700">
            <a:solidFill>
              <a:srgbClr val="284B75"/>
            </a:solidFill>
            <a:prstDash val="solid"/>
          </a:ln>
        </p:spPr>
      </p:sp>
      <p:sp>
        <p:nvSpPr>
          <p:cNvPr id="19" name="Text 16"/>
          <p:cNvSpPr/>
          <p:nvPr/>
        </p:nvSpPr>
        <p:spPr>
          <a:xfrm>
            <a:off x="896112" y="2468880"/>
            <a:ext cx="455371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Dos duraciones en horas, sumadas</a:t>
            </a:r>
            <a:endParaRPr lang="en-US" sz="100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4608576" cy="713232"/>
          </a:xfrm>
          <a:prstGeom prst="rect">
            <a:avLst/>
          </a:prstGeom>
        </p:spPr>
      </p:pic>
      <p:sp>
        <p:nvSpPr>
          <p:cNvPr id="21" name="Shape 17"/>
          <p:cNvSpPr/>
          <p:nvPr/>
        </p:nvSpPr>
        <p:spPr>
          <a:xfrm>
            <a:off x="5870448" y="2286000"/>
            <a:ext cx="5660136" cy="1737360"/>
          </a:xfrm>
          <a:prstGeom prst="roundRect">
            <a:avLst>
              <a:gd name="adj" fmla="val 2105"/>
            </a:avLst>
          </a:prstGeom>
          <a:solidFill>
            <a:srgbClr val="0F1720"/>
          </a:solidFill>
          <a:ln w="12700">
            <a:solidFill>
              <a:srgbClr val="0F1720"/>
            </a:solidFill>
            <a:prstDash val="solid"/>
          </a:ln>
        </p:spPr>
      </p:sp>
      <p:sp>
        <p:nvSpPr>
          <p:cNvPr id="22" name="Shape 18"/>
          <p:cNvSpPr/>
          <p:nvPr/>
        </p:nvSpPr>
        <p:spPr>
          <a:xfrm>
            <a:off x="5998464" y="2395728"/>
            <a:ext cx="5404104" cy="310896"/>
          </a:xfrm>
          <a:prstGeom prst="roundRect">
            <a:avLst>
              <a:gd name="adj" fmla="val 8824"/>
            </a:avLst>
          </a:prstGeom>
          <a:solidFill>
            <a:srgbClr val="1E2937"/>
          </a:solidFill>
          <a:ln w="12700">
            <a:solidFill>
              <a:srgbClr val="1E2937"/>
            </a:solidFill>
            <a:prstDash val="solid"/>
          </a:ln>
        </p:spPr>
      </p:sp>
      <p:sp>
        <p:nvSpPr>
          <p:cNvPr id="23" name="Text 19"/>
          <p:cNvSpPr/>
          <p:nvPr/>
        </p:nvSpPr>
        <p:spPr>
          <a:xfrm>
            <a:off x="6126480" y="2468880"/>
            <a:ext cx="5148072"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Y lo que realmente ocurre</a:t>
            </a:r>
            <a:endParaRPr lang="en-US" sz="1000" dirty="0"/>
          </a:p>
        </p:txBody>
      </p:sp>
      <p:sp>
        <p:nvSpPr>
          <p:cNvPr id="24" name="Text 20"/>
          <p:cNvSpPr/>
          <p:nvPr/>
        </p:nvSpPr>
        <p:spPr>
          <a:xfrm>
            <a:off x="6089904" y="2852928"/>
            <a:ext cx="4910328"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obtenido: 0.30000000000000004</a:t>
            </a:r>
            <a:endParaRPr lang="en-US" sz="960" dirty="0"/>
          </a:p>
        </p:txBody>
      </p:sp>
      <p:sp>
        <p:nvSpPr>
          <p:cNvPr id="25" name="Text 21"/>
          <p:cNvSpPr/>
          <p:nvPr/>
        </p:nvSpPr>
        <p:spPr>
          <a:xfrm>
            <a:off x="6089904" y="3108960"/>
            <a:ext cx="4910328"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igualdad exacta: False</a:t>
            </a:r>
            <a:endParaRPr lang="en-US" sz="960" dirty="0"/>
          </a:p>
        </p:txBody>
      </p:sp>
      <p:sp>
        <p:nvSpPr>
          <p:cNvPr id="26" name="Text 22"/>
          <p:cNvSpPr/>
          <p:nvPr/>
        </p:nvSpPr>
        <p:spPr>
          <a:xfrm>
            <a:off x="6089904" y="3364992"/>
            <a:ext cx="4910328"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error absoluto: 5.551115123125783e-17</a:t>
            </a:r>
            <a:endParaRPr lang="en-US" sz="960" dirty="0"/>
          </a:p>
        </p:txBody>
      </p:sp>
      <p:sp>
        <p:nvSpPr>
          <p:cNvPr id="27" name="Shape 23"/>
          <p:cNvSpPr/>
          <p:nvPr/>
        </p:nvSpPr>
        <p:spPr>
          <a:xfrm>
            <a:off x="658368" y="4187952"/>
            <a:ext cx="10874959" cy="1005840"/>
          </a:xfrm>
          <a:prstGeom prst="rect">
            <a:avLst/>
          </a:prstGeom>
          <a:solidFill>
            <a:srgbClr val="FFFFFF"/>
          </a:solidFill>
          <a:ln w="12700">
            <a:solidFill>
              <a:srgbClr val="FFFFFF"/>
            </a:solidFill>
            <a:prstDash val="solid"/>
          </a:ln>
        </p:spPr>
      </p:sp>
      <p:sp>
        <p:nvSpPr>
          <p:cNvPr id="28" name="Shape 24"/>
          <p:cNvSpPr/>
          <p:nvPr/>
        </p:nvSpPr>
        <p:spPr>
          <a:xfrm>
            <a:off x="658368" y="4187952"/>
            <a:ext cx="64008" cy="1005840"/>
          </a:xfrm>
          <a:prstGeom prst="rect">
            <a:avLst/>
          </a:prstGeom>
          <a:solidFill>
            <a:srgbClr val="102A43"/>
          </a:solidFill>
          <a:ln w="12700">
            <a:solidFill>
              <a:srgbClr val="102A43"/>
            </a:solidFill>
            <a:prstDash val="solid"/>
          </a:ln>
        </p:spPr>
      </p:sp>
      <p:sp>
        <p:nvSpPr>
          <p:cNvPr id="29" name="Text 25"/>
          <p:cNvSpPr txBox="1"/>
          <p:nvPr/>
        </p:nvSpPr>
        <p:spPr>
          <a:xfrm>
            <a:off x="987552" y="4352544"/>
            <a:ext cx="457200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POR QUÉ PASA ESTO</a:t>
            </a:r>
            <a:endParaRPr lang="en-US" sz="960" dirty="0"/>
          </a:p>
        </p:txBody>
      </p:sp>
      <p:sp>
        <p:nvSpPr>
          <p:cNvPr id="30" name="Text 26"/>
          <p:cNvSpPr txBox="1"/>
          <p:nvPr/>
        </p:nvSpPr>
        <p:spPr>
          <a:xfrm>
            <a:off x="987552" y="4590288"/>
            <a:ext cx="10216591" cy="475488"/>
          </a:xfrm>
          <a:prstGeom prst="rect">
            <a:avLst/>
          </a:prstGeom>
          <a:noFill/>
          <a:ln/>
        </p:spPr>
        <p:txBody>
          <a:bodyPr wrap="square" lIns="0" tIns="0" rIns="0" bIns="0" rtlCol="0" anchor="t"/>
          <a:lstStyle/>
          <a:p>
            <a:pPr algn="l" indent="0" marL="0">
              <a:lnSpc>
                <a:spcPct val="114000"/>
              </a:lnSpc>
              <a:buNone/>
            </a:pPr>
            <a:r>
              <a:rPr lang="en-US" sz="1260" dirty="0">
                <a:solidFill>
                  <a:srgbClr val="243B53"/>
                </a:solidFill>
                <a:latin typeface="Aptos" pitchFamily="34" charset="0"/>
                <a:ea typeface="Aptos" pitchFamily="34" charset="-122"/>
                <a:cs typeface="Aptos" pitchFamily="34" charset="-120"/>
              </a:rPr>
              <a:t>No toda cantidad decimal se representa exactamente en binario. El cálculo siguió el modelo esperado y aun así</a:t>
            </a:r>
            <a:endParaRPr lang="en-US" sz="1260" dirty="0"/>
          </a:p>
          <a:p>
            <a:pPr algn="l" indent="0" marL="0">
              <a:lnSpc>
                <a:spcPct val="114000"/>
              </a:lnSpc>
              <a:buNone/>
            </a:pPr>
            <a:r>
              <a:rPr lang="en-US" sz="1260" dirty="0">
                <a:solidFill>
                  <a:srgbClr val="243B53"/>
                </a:solidFill>
                <a:latin typeface="Aptos" pitchFamily="34" charset="0"/>
                <a:ea typeface="Aptos" pitchFamily="34" charset="-122"/>
                <a:cs typeface="Aptos" pitchFamily="34" charset="-120"/>
              </a:rPr>
              <a:t>el resultado difiere en la diecisieteava cifra. La igualdad exacta rechaza un resultado que es correcto.</a:t>
            </a:r>
            <a:endParaRPr lang="en-US" sz="1260" dirty="0"/>
          </a:p>
        </p:txBody>
      </p:sp>
      <p:sp>
        <p:nvSpPr>
          <p:cNvPr id="31" name="Shape 27"/>
          <p:cNvSpPr/>
          <p:nvPr/>
        </p:nvSpPr>
        <p:spPr>
          <a:xfrm>
            <a:off x="658368" y="5376672"/>
            <a:ext cx="10874959" cy="530352"/>
          </a:xfrm>
          <a:prstGeom prst="rect">
            <a:avLst/>
          </a:prstGeom>
          <a:solidFill>
            <a:srgbClr val="102A43"/>
          </a:solidFill>
          <a:ln w="12700">
            <a:solidFill>
              <a:srgbClr val="102A43"/>
            </a:solidFill>
            <a:prstDash val="solid"/>
          </a:ln>
        </p:spPr>
      </p:sp>
      <p:sp>
        <p:nvSpPr>
          <p:cNvPr id="32" name="Text 28"/>
          <p:cNvSpPr txBox="1"/>
          <p:nvPr/>
        </p:nvSpPr>
        <p:spPr>
          <a:xfrm>
            <a:off x="969264" y="5413248"/>
            <a:ext cx="10253167" cy="457200"/>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La respuesta no es aceptar «cualquier cosa parecida»: es declarar cuánta diferencia se admite, y por qué.</a:t>
            </a:r>
            <a:endParaRPr lang="en-US"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55</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LEER LA SINTAXIS</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pytest.approx, pieza por pieza</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Para este ejemplo se declara el criterio antes de ejecutar: error absoluto máximo de 1e-12 horas, sin tolerancia relativa.</a:t>
            </a:r>
            <a:endParaRPr lang="en-US" sz="1450" dirty="0"/>
          </a:p>
        </p:txBody>
      </p:sp>
      <p:sp>
        <p:nvSpPr>
          <p:cNvPr id="11" name="Shape 8"/>
          <p:cNvSpPr/>
          <p:nvPr/>
        </p:nvSpPr>
        <p:spPr>
          <a:xfrm>
            <a:off x="658368" y="2286000"/>
            <a:ext cx="10874959" cy="1463040"/>
          </a:xfrm>
          <a:prstGeom prst="roundRect">
            <a:avLst>
              <a:gd name="adj" fmla="val 2500"/>
            </a:avLst>
          </a:prstGeom>
          <a:solidFill>
            <a:srgbClr val="102A43"/>
          </a:solidFill>
          <a:ln w="12700">
            <a:solidFill>
              <a:srgbClr val="102A43"/>
            </a:solidFill>
            <a:prstDash val="solid"/>
          </a:ln>
        </p:spPr>
      </p:sp>
      <p:sp>
        <p:nvSpPr>
          <p:cNvPr id="12" name="Shape 9"/>
          <p:cNvSpPr/>
          <p:nvPr/>
        </p:nvSpPr>
        <p:spPr>
          <a:xfrm>
            <a:off x="786384" y="2395728"/>
            <a:ext cx="10618927"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68880"/>
            <a:ext cx="10399471"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 comparación completa</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10454335" cy="713232"/>
          </a:xfrm>
          <a:prstGeom prst="rect">
            <a:avLst/>
          </a:prstGeom>
        </p:spPr>
      </p:pic>
      <p:sp>
        <p:nvSpPr>
          <p:cNvPr id="15" name="Shape 11"/>
          <p:cNvSpPr/>
          <p:nvPr/>
        </p:nvSpPr>
        <p:spPr>
          <a:xfrm>
            <a:off x="658368" y="3895344"/>
            <a:ext cx="10874959" cy="402336"/>
          </a:xfrm>
          <a:prstGeom prst="rect">
            <a:avLst/>
          </a:prstGeom>
          <a:solidFill>
            <a:srgbClr val="FFFFFF"/>
          </a:solidFill>
          <a:ln w="12700">
            <a:solidFill>
              <a:srgbClr val="FFFFFF"/>
            </a:solidFill>
            <a:prstDash val="solid"/>
          </a:ln>
        </p:spPr>
      </p:sp>
      <p:sp>
        <p:nvSpPr>
          <p:cNvPr id="16" name="Shape 12"/>
          <p:cNvSpPr/>
          <p:nvPr/>
        </p:nvSpPr>
        <p:spPr>
          <a:xfrm>
            <a:off x="658368" y="3895344"/>
            <a:ext cx="45720" cy="402336"/>
          </a:xfrm>
          <a:prstGeom prst="rect">
            <a:avLst/>
          </a:prstGeom>
          <a:solidFill>
            <a:srgbClr val="102A43"/>
          </a:solidFill>
          <a:ln w="12700">
            <a:solidFill>
              <a:srgbClr val="102A43"/>
            </a:solidFill>
            <a:prstDash val="solid"/>
          </a:ln>
        </p:spPr>
      </p:sp>
      <p:sp>
        <p:nvSpPr>
          <p:cNvPr id="17" name="Text 13"/>
          <p:cNvSpPr txBox="1"/>
          <p:nvPr/>
        </p:nvSpPr>
        <p:spPr>
          <a:xfrm>
            <a:off x="914400" y="3913632"/>
            <a:ext cx="2286000" cy="365760"/>
          </a:xfrm>
          <a:prstGeom prst="rect">
            <a:avLst/>
          </a:prstGeom>
          <a:noFill/>
          <a:ln/>
        </p:spPr>
        <p:txBody>
          <a:bodyPr wrap="square" lIns="0" tIns="0" rIns="0" bIns="0" rtlCol="0" anchor="ctr"/>
          <a:lstStyle/>
          <a:p>
            <a:pPr algn="l" indent="0" marL="0">
              <a:buNone/>
            </a:pPr>
            <a:r>
              <a:rPr lang="en-US" sz="1100" b="1" dirty="0">
                <a:solidFill>
                  <a:srgbClr val="102A43"/>
                </a:solidFill>
                <a:latin typeface="Consolas" pitchFamily="34" charset="0"/>
                <a:ea typeface="Consolas" pitchFamily="34" charset="-122"/>
                <a:cs typeface="Consolas" pitchFamily="34" charset="-120"/>
              </a:rPr>
              <a:t>esperado</a:t>
            </a:r>
            <a:endParaRPr lang="en-US" sz="1100" dirty="0"/>
          </a:p>
        </p:txBody>
      </p:sp>
      <p:sp>
        <p:nvSpPr>
          <p:cNvPr id="18" name="Text 14"/>
          <p:cNvSpPr txBox="1"/>
          <p:nvPr/>
        </p:nvSpPr>
        <p:spPr>
          <a:xfrm>
            <a:off x="3401568" y="3913632"/>
            <a:ext cx="7802575" cy="365760"/>
          </a:xfrm>
          <a:prstGeom prst="rect">
            <a:avLst/>
          </a:prstGeom>
          <a:noFill/>
          <a:ln/>
        </p:spPr>
        <p:txBody>
          <a:bodyPr wrap="square" lIns="0" tIns="0" rIns="0" bIns="0" rtlCol="0" anchor="ctr"/>
          <a:lstStyle/>
          <a:p>
            <a:pPr algn="l" indent="0" marL="0">
              <a:buNone/>
            </a:pPr>
            <a:r>
              <a:rPr lang="en-US" sz="1180" dirty="0">
                <a:solidFill>
                  <a:srgbClr val="243B53"/>
                </a:solidFill>
                <a:latin typeface="Aptos" pitchFamily="34" charset="0"/>
                <a:ea typeface="Aptos" pitchFamily="34" charset="-122"/>
                <a:cs typeface="Aptos" pitchFamily="34" charset="-120"/>
              </a:rPr>
              <a:t>El valor de referencia: 0.3 horas.</a:t>
            </a:r>
            <a:endParaRPr lang="en-US" sz="1180" dirty="0"/>
          </a:p>
        </p:txBody>
      </p:sp>
      <p:sp>
        <p:nvSpPr>
          <p:cNvPr id="19" name="Shape 15"/>
          <p:cNvSpPr/>
          <p:nvPr/>
        </p:nvSpPr>
        <p:spPr>
          <a:xfrm>
            <a:off x="658368" y="4352544"/>
            <a:ext cx="10874959" cy="402336"/>
          </a:xfrm>
          <a:prstGeom prst="rect">
            <a:avLst/>
          </a:prstGeom>
          <a:solidFill>
            <a:srgbClr val="EDE6DA"/>
          </a:solidFill>
          <a:ln w="12700">
            <a:solidFill>
              <a:srgbClr val="EDE6DA"/>
            </a:solidFill>
            <a:prstDash val="solid"/>
          </a:ln>
        </p:spPr>
      </p:sp>
      <p:sp>
        <p:nvSpPr>
          <p:cNvPr id="20" name="Shape 16"/>
          <p:cNvSpPr/>
          <p:nvPr/>
        </p:nvSpPr>
        <p:spPr>
          <a:xfrm>
            <a:off x="658368" y="4352544"/>
            <a:ext cx="45720" cy="402336"/>
          </a:xfrm>
          <a:prstGeom prst="rect">
            <a:avLst/>
          </a:prstGeom>
          <a:solidFill>
            <a:srgbClr val="8A6A12"/>
          </a:solidFill>
          <a:ln w="12700">
            <a:solidFill>
              <a:srgbClr val="8A6A12"/>
            </a:solidFill>
            <a:prstDash val="solid"/>
          </a:ln>
        </p:spPr>
      </p:sp>
      <p:sp>
        <p:nvSpPr>
          <p:cNvPr id="21" name="Text 17"/>
          <p:cNvSpPr txBox="1"/>
          <p:nvPr/>
        </p:nvSpPr>
        <p:spPr>
          <a:xfrm>
            <a:off x="914400" y="4370832"/>
            <a:ext cx="2286000" cy="365760"/>
          </a:xfrm>
          <a:prstGeom prst="rect">
            <a:avLst/>
          </a:prstGeom>
          <a:noFill/>
          <a:ln/>
        </p:spPr>
        <p:txBody>
          <a:bodyPr wrap="square" lIns="0" tIns="0" rIns="0" bIns="0" rtlCol="0" anchor="ctr"/>
          <a:lstStyle/>
          <a:p>
            <a:pPr algn="l" indent="0" marL="0">
              <a:buNone/>
            </a:pPr>
            <a:r>
              <a:rPr lang="en-US" sz="1100" b="1" dirty="0">
                <a:solidFill>
                  <a:srgbClr val="8A6A12"/>
                </a:solidFill>
                <a:latin typeface="Consolas" pitchFamily="34" charset="0"/>
                <a:ea typeface="Consolas" pitchFamily="34" charset="-122"/>
                <a:cs typeface="Consolas" pitchFamily="34" charset="-120"/>
              </a:rPr>
              <a:t>pytest.approx(...)</a:t>
            </a:r>
            <a:endParaRPr lang="en-US" sz="1100" dirty="0"/>
          </a:p>
        </p:txBody>
      </p:sp>
      <p:sp>
        <p:nvSpPr>
          <p:cNvPr id="22" name="Text 18"/>
          <p:cNvSpPr txBox="1"/>
          <p:nvPr/>
        </p:nvSpPr>
        <p:spPr>
          <a:xfrm>
            <a:off x="3401568" y="4370832"/>
            <a:ext cx="7802575" cy="365760"/>
          </a:xfrm>
          <a:prstGeom prst="rect">
            <a:avLst/>
          </a:prstGeom>
          <a:noFill/>
          <a:ln/>
        </p:spPr>
        <p:txBody>
          <a:bodyPr wrap="square" lIns="0" tIns="0" rIns="0" bIns="0" rtlCol="0" anchor="ctr"/>
          <a:lstStyle/>
          <a:p>
            <a:pPr algn="l" indent="0" marL="0">
              <a:buNone/>
            </a:pPr>
            <a:r>
              <a:rPr lang="en-US" sz="1180" dirty="0">
                <a:solidFill>
                  <a:srgbClr val="243B53"/>
                </a:solidFill>
                <a:latin typeface="Aptos" pitchFamily="34" charset="0"/>
                <a:ea typeface="Aptos" pitchFamily="34" charset="-122"/>
                <a:cs typeface="Aptos" pitchFamily="34" charset="-120"/>
              </a:rPr>
              <a:t>Construye una comparación con tolerancia. No redondea ni modifica el obtenido.</a:t>
            </a:r>
            <a:endParaRPr lang="en-US" sz="1180" dirty="0"/>
          </a:p>
        </p:txBody>
      </p:sp>
      <p:sp>
        <p:nvSpPr>
          <p:cNvPr id="23" name="Shape 19"/>
          <p:cNvSpPr/>
          <p:nvPr/>
        </p:nvSpPr>
        <p:spPr>
          <a:xfrm>
            <a:off x="658368" y="4809744"/>
            <a:ext cx="10874959" cy="402336"/>
          </a:xfrm>
          <a:prstGeom prst="rect">
            <a:avLst/>
          </a:prstGeom>
          <a:solidFill>
            <a:srgbClr val="FFFFFF"/>
          </a:solidFill>
          <a:ln w="12700">
            <a:solidFill>
              <a:srgbClr val="FFFFFF"/>
            </a:solidFill>
            <a:prstDash val="solid"/>
          </a:ln>
        </p:spPr>
      </p:sp>
      <p:sp>
        <p:nvSpPr>
          <p:cNvPr id="24" name="Shape 20"/>
          <p:cNvSpPr/>
          <p:nvPr/>
        </p:nvSpPr>
        <p:spPr>
          <a:xfrm>
            <a:off x="658368" y="4809744"/>
            <a:ext cx="45720" cy="402336"/>
          </a:xfrm>
          <a:prstGeom prst="rect">
            <a:avLst/>
          </a:prstGeom>
          <a:solidFill>
            <a:srgbClr val="8A6A12"/>
          </a:solidFill>
          <a:ln w="12700">
            <a:solidFill>
              <a:srgbClr val="8A6A12"/>
            </a:solidFill>
            <a:prstDash val="solid"/>
          </a:ln>
        </p:spPr>
      </p:sp>
      <p:sp>
        <p:nvSpPr>
          <p:cNvPr id="25" name="Text 21"/>
          <p:cNvSpPr txBox="1"/>
          <p:nvPr/>
        </p:nvSpPr>
        <p:spPr>
          <a:xfrm>
            <a:off x="914400" y="4828032"/>
            <a:ext cx="2286000" cy="365760"/>
          </a:xfrm>
          <a:prstGeom prst="rect">
            <a:avLst/>
          </a:prstGeom>
          <a:noFill/>
          <a:ln/>
        </p:spPr>
        <p:txBody>
          <a:bodyPr wrap="square" lIns="0" tIns="0" rIns="0" bIns="0" rtlCol="0" anchor="ctr"/>
          <a:lstStyle/>
          <a:p>
            <a:pPr algn="l" indent="0" marL="0">
              <a:buNone/>
            </a:pPr>
            <a:r>
              <a:rPr lang="en-US" sz="1100" b="1" dirty="0">
                <a:solidFill>
                  <a:srgbClr val="8A6A12"/>
                </a:solidFill>
                <a:latin typeface="Consolas" pitchFamily="34" charset="0"/>
                <a:ea typeface="Consolas" pitchFamily="34" charset="-122"/>
                <a:cs typeface="Consolas" pitchFamily="34" charset="-120"/>
              </a:rPr>
              <a:t>abs=1e-12</a:t>
            </a:r>
            <a:endParaRPr lang="en-US" sz="1100" dirty="0"/>
          </a:p>
        </p:txBody>
      </p:sp>
      <p:sp>
        <p:nvSpPr>
          <p:cNvPr id="26" name="Text 22"/>
          <p:cNvSpPr txBox="1"/>
          <p:nvPr/>
        </p:nvSpPr>
        <p:spPr>
          <a:xfrm>
            <a:off x="3401568" y="4828032"/>
            <a:ext cx="7802575" cy="365760"/>
          </a:xfrm>
          <a:prstGeom prst="rect">
            <a:avLst/>
          </a:prstGeom>
          <a:noFill/>
          <a:ln/>
        </p:spPr>
        <p:txBody>
          <a:bodyPr wrap="square" lIns="0" tIns="0" rIns="0" bIns="0" rtlCol="0" anchor="ctr"/>
          <a:lstStyle/>
          <a:p>
            <a:pPr algn="l" indent="0" marL="0">
              <a:buNone/>
            </a:pPr>
            <a:r>
              <a:rPr lang="en-US" sz="1180" dirty="0">
                <a:solidFill>
                  <a:srgbClr val="243B53"/>
                </a:solidFill>
                <a:latin typeface="Aptos" pitchFamily="34" charset="0"/>
                <a:ea typeface="Aptos" pitchFamily="34" charset="-122"/>
                <a:cs typeface="Aptos" pitchFamily="34" charset="-120"/>
              </a:rPr>
              <a:t>Tolera hasta 0,000000000001 horas de diferencia. No es la función abs() de Python.</a:t>
            </a:r>
            <a:endParaRPr lang="en-US" sz="1180" dirty="0"/>
          </a:p>
        </p:txBody>
      </p:sp>
      <p:sp>
        <p:nvSpPr>
          <p:cNvPr id="27" name="Shape 23"/>
          <p:cNvSpPr/>
          <p:nvPr/>
        </p:nvSpPr>
        <p:spPr>
          <a:xfrm>
            <a:off x="658368" y="5266944"/>
            <a:ext cx="10874959" cy="402336"/>
          </a:xfrm>
          <a:prstGeom prst="rect">
            <a:avLst/>
          </a:prstGeom>
          <a:solidFill>
            <a:srgbClr val="EDE6DA"/>
          </a:solidFill>
          <a:ln w="12700">
            <a:solidFill>
              <a:srgbClr val="EDE6DA"/>
            </a:solidFill>
            <a:prstDash val="solid"/>
          </a:ln>
        </p:spPr>
      </p:sp>
      <p:sp>
        <p:nvSpPr>
          <p:cNvPr id="28" name="Shape 24"/>
          <p:cNvSpPr/>
          <p:nvPr/>
        </p:nvSpPr>
        <p:spPr>
          <a:xfrm>
            <a:off x="658368" y="5266944"/>
            <a:ext cx="45720" cy="402336"/>
          </a:xfrm>
          <a:prstGeom prst="rect">
            <a:avLst/>
          </a:prstGeom>
          <a:solidFill>
            <a:srgbClr val="8A6A12"/>
          </a:solidFill>
          <a:ln w="12700">
            <a:solidFill>
              <a:srgbClr val="8A6A12"/>
            </a:solidFill>
            <a:prstDash val="solid"/>
          </a:ln>
        </p:spPr>
      </p:sp>
      <p:sp>
        <p:nvSpPr>
          <p:cNvPr id="29" name="Text 25"/>
          <p:cNvSpPr txBox="1"/>
          <p:nvPr/>
        </p:nvSpPr>
        <p:spPr>
          <a:xfrm>
            <a:off x="914400" y="5285232"/>
            <a:ext cx="2286000" cy="365760"/>
          </a:xfrm>
          <a:prstGeom prst="rect">
            <a:avLst/>
          </a:prstGeom>
          <a:noFill/>
          <a:ln/>
        </p:spPr>
        <p:txBody>
          <a:bodyPr wrap="square" lIns="0" tIns="0" rIns="0" bIns="0" rtlCol="0" anchor="ctr"/>
          <a:lstStyle/>
          <a:p>
            <a:pPr algn="l" indent="0" marL="0">
              <a:buNone/>
            </a:pPr>
            <a:r>
              <a:rPr lang="en-US" sz="1100" b="1" dirty="0">
                <a:solidFill>
                  <a:srgbClr val="8A6A12"/>
                </a:solidFill>
                <a:latin typeface="Consolas" pitchFamily="34" charset="0"/>
                <a:ea typeface="Consolas" pitchFamily="34" charset="-122"/>
                <a:cs typeface="Consolas" pitchFamily="34" charset="-120"/>
              </a:rPr>
              <a:t>rel=0</a:t>
            </a:r>
            <a:endParaRPr lang="en-US" sz="1100" dirty="0"/>
          </a:p>
        </p:txBody>
      </p:sp>
      <p:sp>
        <p:nvSpPr>
          <p:cNvPr id="30" name="Text 26"/>
          <p:cNvSpPr txBox="1"/>
          <p:nvPr/>
        </p:nvSpPr>
        <p:spPr>
          <a:xfrm>
            <a:off x="3401568" y="5285232"/>
            <a:ext cx="7802575" cy="365760"/>
          </a:xfrm>
          <a:prstGeom prst="rect">
            <a:avLst/>
          </a:prstGeom>
          <a:noFill/>
          <a:ln/>
        </p:spPr>
        <p:txBody>
          <a:bodyPr wrap="square" lIns="0" tIns="0" rIns="0" bIns="0" rtlCol="0" anchor="ctr"/>
          <a:lstStyle/>
          <a:p>
            <a:pPr algn="l" indent="0" marL="0">
              <a:buNone/>
            </a:pPr>
            <a:r>
              <a:rPr lang="en-US" sz="1180" dirty="0">
                <a:solidFill>
                  <a:srgbClr val="243B53"/>
                </a:solidFill>
                <a:latin typeface="Aptos" pitchFamily="34" charset="0"/>
                <a:ea typeface="Aptos" pitchFamily="34" charset="-122"/>
                <a:cs typeface="Aptos" pitchFamily="34" charset="-120"/>
              </a:rPr>
              <a:t>Desactiva el margen proporcional al esperado. Se escribe para hacer visible la elección.</a:t>
            </a:r>
            <a:endParaRPr lang="en-US" sz="1180" dirty="0"/>
          </a:p>
        </p:txBody>
      </p:sp>
      <p:sp>
        <p:nvSpPr>
          <p:cNvPr id="31" name="Shape 27"/>
          <p:cNvSpPr/>
          <p:nvPr/>
        </p:nvSpPr>
        <p:spPr>
          <a:xfrm>
            <a:off x="658368" y="5724144"/>
            <a:ext cx="10874959" cy="402336"/>
          </a:xfrm>
          <a:prstGeom prst="rect">
            <a:avLst/>
          </a:prstGeom>
          <a:solidFill>
            <a:srgbClr val="FFFFFF"/>
          </a:solidFill>
          <a:ln w="12700">
            <a:solidFill>
              <a:srgbClr val="FFFFFF"/>
            </a:solidFill>
            <a:prstDash val="solid"/>
          </a:ln>
        </p:spPr>
      </p:sp>
      <p:sp>
        <p:nvSpPr>
          <p:cNvPr id="32" name="Shape 28"/>
          <p:cNvSpPr/>
          <p:nvPr/>
        </p:nvSpPr>
        <p:spPr>
          <a:xfrm>
            <a:off x="658368" y="5724144"/>
            <a:ext cx="45720" cy="402336"/>
          </a:xfrm>
          <a:prstGeom prst="rect">
            <a:avLst/>
          </a:prstGeom>
          <a:solidFill>
            <a:srgbClr val="2E7D4F"/>
          </a:solidFill>
          <a:ln w="12700">
            <a:solidFill>
              <a:srgbClr val="2E7D4F"/>
            </a:solidFill>
            <a:prstDash val="solid"/>
          </a:ln>
        </p:spPr>
      </p:sp>
      <p:sp>
        <p:nvSpPr>
          <p:cNvPr id="33" name="Text 29"/>
          <p:cNvSpPr txBox="1"/>
          <p:nvPr/>
        </p:nvSpPr>
        <p:spPr>
          <a:xfrm>
            <a:off x="914400" y="5742432"/>
            <a:ext cx="2286000" cy="365760"/>
          </a:xfrm>
          <a:prstGeom prst="rect">
            <a:avLst/>
          </a:prstGeom>
          <a:noFill/>
          <a:ln/>
        </p:spPr>
        <p:txBody>
          <a:bodyPr wrap="square" lIns="0" tIns="0" rIns="0" bIns="0" rtlCol="0" anchor="ctr"/>
          <a:lstStyle/>
          <a:p>
            <a:pPr algn="l" indent="0" marL="0">
              <a:buNone/>
            </a:pPr>
            <a:r>
              <a:rPr lang="en-US" sz="1100" b="1" dirty="0">
                <a:solidFill>
                  <a:srgbClr val="2E7D4F"/>
                </a:solidFill>
                <a:latin typeface="Consolas" pitchFamily="34" charset="0"/>
                <a:ea typeface="Consolas" pitchFamily="34" charset="-122"/>
                <a:cs typeface="Consolas" pitchFamily="34" charset="-120"/>
              </a:rPr>
              <a:t>==</a:t>
            </a:r>
            <a:endParaRPr lang="en-US" sz="1100" dirty="0"/>
          </a:p>
        </p:txBody>
      </p:sp>
      <p:sp>
        <p:nvSpPr>
          <p:cNvPr id="34" name="Text 30"/>
          <p:cNvSpPr txBox="1"/>
          <p:nvPr/>
        </p:nvSpPr>
        <p:spPr>
          <a:xfrm>
            <a:off x="3401568" y="5742432"/>
            <a:ext cx="7802575" cy="365760"/>
          </a:xfrm>
          <a:prstGeom prst="rect">
            <a:avLst/>
          </a:prstGeom>
          <a:noFill/>
          <a:ln/>
        </p:spPr>
        <p:txBody>
          <a:bodyPr wrap="square" lIns="0" tIns="0" rIns="0" bIns="0" rtlCol="0" anchor="ctr"/>
          <a:lstStyle/>
          <a:p>
            <a:pPr algn="l" indent="0" marL="0">
              <a:buNone/>
            </a:pPr>
            <a:r>
              <a:rPr lang="en-US" sz="1180" dirty="0">
                <a:solidFill>
                  <a:srgbClr val="243B53"/>
                </a:solidFill>
                <a:latin typeface="Aptos" pitchFamily="34" charset="0"/>
                <a:ea typeface="Aptos" pitchFamily="34" charset="-122"/>
                <a:cs typeface="Aptos" pitchFamily="34" charset="-120"/>
              </a:rPr>
              <a:t>Compara contra ese criterio. Aquí «is» compararía identidad y sería incorrecto.</a:t>
            </a:r>
            <a:endParaRPr lang="en-US" sz="1180" dirty="0"/>
          </a:p>
        </p:txBody>
      </p:sp>
      <p:sp>
        <p:nvSpPr>
          <p:cNvPr id="35" name="Shape 31"/>
          <p:cNvSpPr/>
          <p:nvPr/>
        </p:nvSpPr>
        <p:spPr>
          <a:xfrm>
            <a:off x="658368" y="6272784"/>
            <a:ext cx="45720" cy="182880"/>
          </a:xfrm>
          <a:prstGeom prst="rect">
            <a:avLst/>
          </a:prstGeom>
          <a:solidFill>
            <a:srgbClr val="8A6A12"/>
          </a:solidFill>
          <a:ln w="12700">
            <a:solidFill>
              <a:srgbClr val="8A6A12"/>
            </a:solidFill>
            <a:prstDash val="solid"/>
          </a:ln>
        </p:spPr>
      </p:sp>
      <p:sp>
        <p:nvSpPr>
          <p:cNvPr id="36" name="Text 32"/>
          <p:cNvSpPr txBox="1"/>
          <p:nvPr/>
        </p:nvSpPr>
        <p:spPr>
          <a:xfrm>
            <a:off x="804672" y="6263640"/>
            <a:ext cx="1060704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La tolerancia absoluta tiene la unidad del resultado; la relativa es una fracción del esperado. Con ambas, pytest acepta si se cumple cualquiera.</a:t>
            </a:r>
            <a:endParaRPr lang="en-US" sz="92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56</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EL RIESGO DE LA TOLERANCIA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Ampliar el margen también pone la prueba en verde</a:t>
            </a:r>
            <a:endParaRPr lang="en-US" sz="3000" dirty="0"/>
          </a:p>
        </p:txBody>
      </p:sp>
      <p:sp>
        <p:nvSpPr>
          <p:cNvPr id="10" name="Text 7"/>
          <p:cNvSpPr txBox="1"/>
          <p:nvPr/>
        </p:nvSpPr>
        <p:spPr>
          <a:xfrm>
            <a:off x="658368" y="1773936"/>
            <a:ext cx="72237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Se comprueba la sensibilidad del criterio con un resultado deliberadamente incorrecto: 0.31 en vez de 0.3.</a:t>
            </a:r>
            <a:endParaRPr lang="en-US" sz="1450" dirty="0"/>
          </a:p>
        </p:txBody>
      </p:sp>
      <p:sp>
        <p:nvSpPr>
          <p:cNvPr id="11" name="Shape 8"/>
          <p:cNvSpPr/>
          <p:nvPr/>
        </p:nvSpPr>
        <p:spPr>
          <a:xfrm>
            <a:off x="8165592" y="1883664"/>
            <a:ext cx="1060704" cy="274320"/>
          </a:xfrm>
          <a:prstGeom prst="rect">
            <a:avLst/>
          </a:prstGeom>
          <a:solidFill>
            <a:srgbClr val="EDE6DA"/>
          </a:solidFill>
          <a:ln w="12700">
            <a:solidFill>
              <a:srgbClr val="EDE6DA"/>
            </a:solidFill>
            <a:prstDash val="solid"/>
          </a:ln>
        </p:spPr>
      </p:sp>
      <p:sp>
        <p:nvSpPr>
          <p:cNvPr id="12" name="Text 9"/>
          <p:cNvSpPr txBox="1"/>
          <p:nvPr/>
        </p:nvSpPr>
        <p:spPr>
          <a:xfrm>
            <a:off x="8165592"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Leer</a:t>
            </a:r>
            <a:endParaRPr lang="en-US" sz="940" dirty="0"/>
          </a:p>
        </p:txBody>
      </p:sp>
      <p:sp>
        <p:nvSpPr>
          <p:cNvPr id="13" name="Shape 10"/>
          <p:cNvSpPr/>
          <p:nvPr/>
        </p:nvSpPr>
        <p:spPr>
          <a:xfrm>
            <a:off x="9317736" y="1883664"/>
            <a:ext cx="1060704" cy="274320"/>
          </a:xfrm>
          <a:prstGeom prst="rect">
            <a:avLst/>
          </a:prstGeom>
          <a:solidFill>
            <a:srgbClr val="EDE6DA"/>
          </a:solidFill>
          <a:ln w="12700">
            <a:solidFill>
              <a:srgbClr val="EDE6DA"/>
            </a:solidFill>
            <a:prstDash val="solid"/>
          </a:ln>
        </p:spPr>
      </p:sp>
      <p:sp>
        <p:nvSpPr>
          <p:cNvPr id="14" name="Text 11"/>
          <p:cNvSpPr txBox="1"/>
          <p:nvPr/>
        </p:nvSpPr>
        <p:spPr>
          <a:xfrm>
            <a:off x="9317736"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Predecir</a:t>
            </a:r>
            <a:endParaRPr lang="en-US" sz="940" dirty="0"/>
          </a:p>
        </p:txBody>
      </p:sp>
      <p:sp>
        <p:nvSpPr>
          <p:cNvPr id="15" name="Shape 12"/>
          <p:cNvSpPr/>
          <p:nvPr/>
        </p:nvSpPr>
        <p:spPr>
          <a:xfrm>
            <a:off x="10469880" y="1883664"/>
            <a:ext cx="1060704" cy="274320"/>
          </a:xfrm>
          <a:prstGeom prst="rect">
            <a:avLst/>
          </a:prstGeom>
          <a:solidFill>
            <a:srgbClr val="102A43"/>
          </a:solidFill>
          <a:ln w="12700">
            <a:solidFill>
              <a:srgbClr val="102A43"/>
            </a:solidFill>
            <a:prstDash val="solid"/>
          </a:ln>
        </p:spPr>
      </p:sp>
      <p:sp>
        <p:nvSpPr>
          <p:cNvPr id="16" name="Text 13"/>
          <p:cNvSpPr txBox="1"/>
          <p:nvPr/>
        </p:nvSpPr>
        <p:spPr>
          <a:xfrm>
            <a:off x="10469880"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FFFFFF"/>
                </a:solidFill>
                <a:latin typeface="Aptos" pitchFamily="34" charset="0"/>
                <a:ea typeface="Aptos" pitchFamily="34" charset="-122"/>
                <a:cs typeface="Aptos" pitchFamily="34" charset="-120"/>
              </a:rPr>
              <a:t>Comprobar</a:t>
            </a:r>
            <a:endParaRPr lang="en-US" sz="940" dirty="0"/>
          </a:p>
        </p:txBody>
      </p:sp>
      <p:sp>
        <p:nvSpPr>
          <p:cNvPr id="17" name="Shape 14"/>
          <p:cNvSpPr/>
          <p:nvPr/>
        </p:nvSpPr>
        <p:spPr>
          <a:xfrm>
            <a:off x="658368" y="2286000"/>
            <a:ext cx="10874959" cy="1499616"/>
          </a:xfrm>
          <a:prstGeom prst="roundRect">
            <a:avLst>
              <a:gd name="adj" fmla="val 2439"/>
            </a:avLst>
          </a:prstGeom>
          <a:solidFill>
            <a:srgbClr val="0F1720"/>
          </a:solidFill>
          <a:ln w="12700">
            <a:solidFill>
              <a:srgbClr val="0F1720"/>
            </a:solidFill>
            <a:prstDash val="solid"/>
          </a:ln>
        </p:spPr>
      </p:sp>
      <p:sp>
        <p:nvSpPr>
          <p:cNvPr id="18" name="Shape 15"/>
          <p:cNvSpPr/>
          <p:nvPr/>
        </p:nvSpPr>
        <p:spPr>
          <a:xfrm>
            <a:off x="786384" y="2395728"/>
            <a:ext cx="10618927" cy="310896"/>
          </a:xfrm>
          <a:prstGeom prst="roundRect">
            <a:avLst>
              <a:gd name="adj" fmla="val 8824"/>
            </a:avLst>
          </a:prstGeom>
          <a:solidFill>
            <a:srgbClr val="1E2937"/>
          </a:solidFill>
          <a:ln w="12700">
            <a:solidFill>
              <a:srgbClr val="1E2937"/>
            </a:solidFill>
            <a:prstDash val="solid"/>
          </a:ln>
        </p:spPr>
      </p:sp>
      <p:sp>
        <p:nvSpPr>
          <p:cNvPr id="19" name="Text 16"/>
          <p:cNvSpPr/>
          <p:nvPr/>
        </p:nvSpPr>
        <p:spPr>
          <a:xfrm>
            <a:off x="914400" y="2468880"/>
            <a:ext cx="10362895"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El mismo valor incorrecto, contra dos tolerancias</a:t>
            </a:r>
            <a:endParaRPr lang="en-US" sz="1000" dirty="0"/>
          </a:p>
        </p:txBody>
      </p:sp>
      <p:sp>
        <p:nvSpPr>
          <p:cNvPr id="20" name="Text 17"/>
          <p:cNvSpPr/>
          <p:nvPr/>
        </p:nvSpPr>
        <p:spPr>
          <a:xfrm>
            <a:off x="877824" y="2852928"/>
            <a:ext cx="10125151" cy="164592"/>
          </a:xfrm>
          <a:prstGeom prst="rect">
            <a:avLst/>
          </a:prstGeom>
          <a:noFill/>
          <a:ln/>
        </p:spPr>
        <p:txBody>
          <a:bodyPr wrap="square" lIns="0" tIns="0" rIns="0" bIns="0" rtlCol="0" anchor="ctr"/>
          <a:lstStyle/>
          <a:p>
            <a:pPr indent="0" marL="0">
              <a:buNone/>
            </a:pPr>
            <a:r>
              <a:rPr lang="en-US" sz="1060" dirty="0">
                <a:solidFill>
                  <a:srgbClr val="E6EEF7"/>
                </a:solidFill>
                <a:latin typeface="Consolas" pitchFamily="34" charset="0"/>
                <a:ea typeface="Consolas" pitchFamily="34" charset="-122"/>
                <a:cs typeface="Consolas" pitchFamily="34" charset="-120"/>
              </a:rPr>
              <a:t>0.31 con tolerancia 1e-12: False</a:t>
            </a:r>
            <a:endParaRPr lang="en-US" sz="1060" dirty="0"/>
          </a:p>
        </p:txBody>
      </p:sp>
      <p:sp>
        <p:nvSpPr>
          <p:cNvPr id="21" name="Text 18"/>
          <p:cNvSpPr/>
          <p:nvPr/>
        </p:nvSpPr>
        <p:spPr>
          <a:xfrm>
            <a:off x="877824" y="3108960"/>
            <a:ext cx="10125151" cy="164592"/>
          </a:xfrm>
          <a:prstGeom prst="rect">
            <a:avLst/>
          </a:prstGeom>
          <a:noFill/>
          <a:ln/>
        </p:spPr>
        <p:txBody>
          <a:bodyPr wrap="square" lIns="0" tIns="0" rIns="0" bIns="0" rtlCol="0" anchor="ctr"/>
          <a:lstStyle/>
          <a:p>
            <a:pPr indent="0" marL="0">
              <a:buNone/>
            </a:pPr>
            <a:r>
              <a:rPr lang="en-US" sz="1060" dirty="0">
                <a:solidFill>
                  <a:srgbClr val="E6EEF7"/>
                </a:solidFill>
                <a:latin typeface="Consolas" pitchFamily="34" charset="0"/>
                <a:ea typeface="Consolas" pitchFamily="34" charset="-122"/>
                <a:cs typeface="Consolas" pitchFamily="34" charset="-120"/>
              </a:rPr>
              <a:t>0.31 con tolerancia 0.02:  True</a:t>
            </a:r>
            <a:endParaRPr lang="en-US" sz="1060" dirty="0"/>
          </a:p>
        </p:txBody>
      </p:sp>
      <p:sp>
        <p:nvSpPr>
          <p:cNvPr id="22" name="Shape 19"/>
          <p:cNvSpPr/>
          <p:nvPr/>
        </p:nvSpPr>
        <p:spPr>
          <a:xfrm>
            <a:off x="658368" y="3968496"/>
            <a:ext cx="10874959" cy="731520"/>
          </a:xfrm>
          <a:prstGeom prst="rect">
            <a:avLst/>
          </a:prstGeom>
          <a:solidFill>
            <a:srgbClr val="102A43"/>
          </a:solidFill>
          <a:ln w="12700">
            <a:solidFill>
              <a:srgbClr val="102A43"/>
            </a:solidFill>
            <a:prstDash val="solid"/>
          </a:ln>
        </p:spPr>
      </p:sp>
      <p:sp>
        <p:nvSpPr>
          <p:cNvPr id="23" name="Text 20"/>
          <p:cNvSpPr txBox="1"/>
          <p:nvPr/>
        </p:nvSpPr>
        <p:spPr>
          <a:xfrm>
            <a:off x="969264" y="4005072"/>
            <a:ext cx="10253167" cy="658368"/>
          </a:xfrm>
          <a:prstGeom prst="rect">
            <a:avLst/>
          </a:prstGeom>
          <a:noFill/>
          <a:ln/>
        </p:spPr>
        <p:txBody>
          <a:bodyPr wrap="square" lIns="0" tIns="0" rIns="0" bIns="0" rtlCol="0" anchor="ctr"/>
          <a:lstStyle/>
          <a:p>
            <a:pPr algn="ctr" indent="0" marL="0">
              <a:buNone/>
            </a:pPr>
            <a:r>
              <a:rPr lang="en-US" sz="1900" b="1" dirty="0">
                <a:solidFill>
                  <a:srgbClr val="FFFFFF"/>
                </a:solidFill>
                <a:latin typeface="Aptos Display" pitchFamily="34" charset="0"/>
                <a:ea typeface="Aptos Display" pitchFamily="34" charset="-122"/>
                <a:cs typeface="Aptos Display" pitchFamily="34" charset="-120"/>
              </a:rPr>
              <a:t>El verde no distingue si mejoró la implementación o si se debilitó la exigencia.</a:t>
            </a:r>
            <a:endParaRPr lang="en-US" sz="1900" dirty="0"/>
          </a:p>
        </p:txBody>
      </p:sp>
      <p:sp>
        <p:nvSpPr>
          <p:cNvPr id="24" name="Shape 21"/>
          <p:cNvSpPr/>
          <p:nvPr/>
        </p:nvSpPr>
        <p:spPr>
          <a:xfrm>
            <a:off x="658368" y="4846320"/>
            <a:ext cx="10874959" cy="1060704"/>
          </a:xfrm>
          <a:prstGeom prst="rect">
            <a:avLst/>
          </a:prstGeom>
          <a:solidFill>
            <a:srgbClr val="F2E7D9"/>
          </a:solidFill>
          <a:ln w="12700">
            <a:solidFill>
              <a:srgbClr val="F2E7D9"/>
            </a:solidFill>
            <a:prstDash val="solid"/>
          </a:ln>
        </p:spPr>
      </p:sp>
      <p:sp>
        <p:nvSpPr>
          <p:cNvPr id="25" name="Shape 22"/>
          <p:cNvSpPr/>
          <p:nvPr/>
        </p:nvSpPr>
        <p:spPr>
          <a:xfrm>
            <a:off x="658368" y="4846320"/>
            <a:ext cx="64008" cy="1060704"/>
          </a:xfrm>
          <a:prstGeom prst="rect">
            <a:avLst/>
          </a:prstGeom>
          <a:solidFill>
            <a:srgbClr val="8A6A12"/>
          </a:solidFill>
          <a:ln w="12700">
            <a:solidFill>
              <a:srgbClr val="8A6A12"/>
            </a:solidFill>
            <a:prstDash val="solid"/>
          </a:ln>
        </p:spPr>
      </p:sp>
      <p:sp>
        <p:nvSpPr>
          <p:cNvPr id="26" name="Text 23"/>
          <p:cNvSpPr txBox="1"/>
          <p:nvPr/>
        </p:nvSpPr>
        <p:spPr>
          <a:xfrm>
            <a:off x="987552" y="5010912"/>
            <a:ext cx="7315200" cy="201168"/>
          </a:xfrm>
          <a:prstGeom prst="rect">
            <a:avLst/>
          </a:prstGeom>
          <a:noFill/>
          <a:ln/>
        </p:spPr>
        <p:txBody>
          <a:bodyPr wrap="square" lIns="0" tIns="0" rIns="0" bIns="0" rtlCol="0" anchor="t"/>
          <a:lstStyle/>
          <a:p>
            <a:pPr algn="l" indent="0" marL="0">
              <a:buNone/>
            </a:pPr>
            <a:r>
              <a:rPr lang="en-US" sz="960" b="1" spc="130" kern="0" dirty="0">
                <a:solidFill>
                  <a:srgbClr val="8A6A12"/>
                </a:solidFill>
                <a:latin typeface="Aptos" pitchFamily="34" charset="0"/>
                <a:ea typeface="Aptos" pitchFamily="34" charset="-122"/>
                <a:cs typeface="Aptos" pitchFamily="34" charset="-120"/>
              </a:rPr>
              <a:t>TRES COSAS QUE SE REVISAN ANTES DE ACEPTAR CASOS ESCRITOS POR UN AGENTE</a:t>
            </a:r>
            <a:endParaRPr lang="en-US" sz="960" dirty="0"/>
          </a:p>
        </p:txBody>
      </p:sp>
      <p:sp>
        <p:nvSpPr>
          <p:cNvPr id="27" name="Text 24"/>
          <p:cNvSpPr txBox="1"/>
          <p:nvPr/>
        </p:nvSpPr>
        <p:spPr>
          <a:xfrm>
            <a:off x="987552" y="5230368"/>
            <a:ext cx="10216591" cy="603504"/>
          </a:xfrm>
          <a:prstGeom prst="rect">
            <a:avLst/>
          </a:prstGeom>
          <a:noFill/>
          <a:ln/>
        </p:spPr>
        <p:txBody>
          <a:bodyPr wrap="square" lIns="0" tIns="0" rIns="0" bIns="0" rtlCol="0" anchor="t"/>
          <a:lstStyle/>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De dónde salió el límite, de dónde salió el esperado y de dónde salió la tolerancia. Ninguna se justifica porque</a:t>
            </a:r>
            <a:endParaRPr lang="en-US" sz="1220" dirty="0"/>
          </a:p>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la suite pase. Si propone subir «abs» o «rel», tiene que explicar qué error admite el modelo y mostrar un</a:t>
            </a:r>
            <a:endParaRPr lang="en-US" sz="1220" dirty="0"/>
          </a:p>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resultado incorrecto que la prueba siga rechazando.</a:t>
            </a:r>
            <a:endParaRPr lang="en-US" sz="1220" dirty="0"/>
          </a:p>
        </p:txBody>
      </p:sp>
      <p:sp>
        <p:nvSpPr>
          <p:cNvPr id="28" name="Shape 25"/>
          <p:cNvSpPr/>
          <p:nvPr/>
        </p:nvSpPr>
        <p:spPr>
          <a:xfrm>
            <a:off x="658368" y="6053328"/>
            <a:ext cx="45720" cy="182880"/>
          </a:xfrm>
          <a:prstGeom prst="rect">
            <a:avLst/>
          </a:prstGeom>
          <a:solidFill>
            <a:srgbClr val="8A6A12"/>
          </a:solidFill>
          <a:ln w="12700">
            <a:solidFill>
              <a:srgbClr val="8A6A12"/>
            </a:solidFill>
            <a:prstDash val="solid"/>
          </a:ln>
        </p:spPr>
      </p:sp>
      <p:sp>
        <p:nvSpPr>
          <p:cNvPr id="29" name="Text 26"/>
          <p:cNvSpPr txBox="1"/>
          <p:nvPr/>
        </p:nvSpPr>
        <p:spPr>
          <a:xfrm>
            <a:off x="804672" y="6044184"/>
            <a:ext cx="1060704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approx no decide si las dos horas exactas permiten cancelar: eso es una regla de inclusión del umbral, no un error numérico.</a:t>
            </a:r>
            <a:endParaRPr lang="en-US" sz="92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57</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CIERRE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Preguntas para llevarse del Bloque 3</a:t>
            </a:r>
            <a:endParaRPr lang="en-US" sz="3000" dirty="0"/>
          </a:p>
        </p:txBody>
      </p:sp>
      <p:sp>
        <p:nvSpPr>
          <p:cNvPr id="10" name="Shape 7"/>
          <p:cNvSpPr/>
          <p:nvPr/>
        </p:nvSpPr>
        <p:spPr>
          <a:xfrm>
            <a:off x="658368" y="1956816"/>
            <a:ext cx="10874959" cy="1188720"/>
          </a:xfrm>
          <a:prstGeom prst="rect">
            <a:avLst/>
          </a:prstGeom>
          <a:solidFill>
            <a:srgbClr val="F2E7D9"/>
          </a:solidFill>
          <a:ln w="12700">
            <a:solidFill>
              <a:srgbClr val="F2E7D9"/>
            </a:solidFill>
            <a:prstDash val="solid"/>
          </a:ln>
        </p:spPr>
      </p:sp>
      <p:sp>
        <p:nvSpPr>
          <p:cNvPr id="11" name="Shape 8"/>
          <p:cNvSpPr/>
          <p:nvPr/>
        </p:nvSpPr>
        <p:spPr>
          <a:xfrm>
            <a:off x="658368" y="1956816"/>
            <a:ext cx="54864" cy="1188720"/>
          </a:xfrm>
          <a:prstGeom prst="rect">
            <a:avLst/>
          </a:prstGeom>
          <a:solidFill>
            <a:srgbClr val="B3181E"/>
          </a:solidFill>
          <a:ln w="12700">
            <a:solidFill>
              <a:srgbClr val="B3181E"/>
            </a:solidFill>
            <a:prstDash val="solid"/>
          </a:ln>
        </p:spPr>
      </p:sp>
      <p:sp>
        <p:nvSpPr>
          <p:cNvPr id="12" name="Text 9"/>
          <p:cNvSpPr txBox="1"/>
          <p:nvPr/>
        </p:nvSpPr>
        <p:spPr>
          <a:xfrm>
            <a:off x="932688" y="2103120"/>
            <a:ext cx="475488" cy="457200"/>
          </a:xfrm>
          <a:prstGeom prst="rect">
            <a:avLst/>
          </a:prstGeom>
          <a:noFill/>
          <a:ln/>
        </p:spPr>
        <p:txBody>
          <a:bodyPr wrap="square" lIns="0" tIns="0" rIns="0" bIns="0" rtlCol="0" anchor="t"/>
          <a:lstStyle/>
          <a:p>
            <a:pPr algn="l"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3" name="Text 10"/>
          <p:cNvSpPr txBox="1"/>
          <p:nvPr/>
        </p:nvSpPr>
        <p:spPr>
          <a:xfrm>
            <a:off x="1572768" y="2093976"/>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Las dos suites de límites ejecutan el bloque 8, pero solo una falla. ¿Qué demuestra eso sobre la diferencia entre elegir una entrada y decidir su resultado esperado?</a:t>
            </a:r>
            <a:endParaRPr lang="en-US" sz="1400" dirty="0"/>
          </a:p>
        </p:txBody>
      </p:sp>
      <p:sp>
        <p:nvSpPr>
          <p:cNvPr id="14" name="Shape 11"/>
          <p:cNvSpPr/>
          <p:nvPr/>
        </p:nvSpPr>
        <p:spPr>
          <a:xfrm>
            <a:off x="1572768" y="2724912"/>
            <a:ext cx="9631375" cy="0"/>
          </a:xfrm>
          <a:prstGeom prst="line">
            <a:avLst/>
          </a:prstGeom>
          <a:noFill/>
          <a:ln w="12700">
            <a:solidFill>
              <a:srgbClr val="D8CFC4"/>
            </a:solidFill>
            <a:prstDash val="solid"/>
            <a:headEnd type="none"/>
            <a:tailEnd type="none"/>
          </a:ln>
        </p:spPr>
      </p:sp>
      <p:sp>
        <p:nvSpPr>
          <p:cNvPr id="15" name="Text 12"/>
          <p:cNvSpPr txBox="1"/>
          <p:nvPr/>
        </p:nvSpPr>
        <p:spPr>
          <a:xfrm>
            <a:off x="1572768" y="2816352"/>
            <a:ext cx="640080" cy="182880"/>
          </a:xfrm>
          <a:prstGeom prst="rect">
            <a:avLst/>
          </a:prstGeom>
          <a:noFill/>
          <a:ln/>
        </p:spPr>
        <p:txBody>
          <a:bodyPr wrap="square" lIns="0" tIns="0" rIns="0" bIns="0" rtlCol="0" anchor="t"/>
          <a:lstStyle/>
          <a:p>
            <a:pPr algn="l" indent="0" marL="0">
              <a:buNone/>
            </a:pPr>
            <a:r>
              <a:rPr lang="en-US" sz="860" b="1" spc="110" kern="0" dirty="0">
                <a:solidFill>
                  <a:srgbClr val="B3181E"/>
                </a:solidFill>
                <a:latin typeface="Aptos" pitchFamily="34" charset="0"/>
                <a:ea typeface="Aptos" pitchFamily="34" charset="-122"/>
                <a:cs typeface="Aptos" pitchFamily="34" charset="-120"/>
              </a:rPr>
              <a:t>PISTA</a:t>
            </a:r>
            <a:endParaRPr lang="en-US" sz="860" dirty="0"/>
          </a:p>
        </p:txBody>
      </p:sp>
      <p:sp>
        <p:nvSpPr>
          <p:cNvPr id="16" name="Text 13"/>
          <p:cNvSpPr txBox="1"/>
          <p:nvPr/>
        </p:nvSpPr>
        <p:spPr>
          <a:xfrm>
            <a:off x="2286000" y="2798064"/>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Compara la tupla del 8 en las dos listas; la discrepancia no está en la sintaxis.</a:t>
            </a:r>
            <a:endParaRPr lang="en-US" sz="1200" dirty="0"/>
          </a:p>
        </p:txBody>
      </p:sp>
      <p:sp>
        <p:nvSpPr>
          <p:cNvPr id="17" name="Shape 14"/>
          <p:cNvSpPr/>
          <p:nvPr/>
        </p:nvSpPr>
        <p:spPr>
          <a:xfrm>
            <a:off x="658368" y="3273552"/>
            <a:ext cx="10874959" cy="1188720"/>
          </a:xfrm>
          <a:prstGeom prst="rect">
            <a:avLst/>
          </a:prstGeom>
          <a:solidFill>
            <a:srgbClr val="EDE6DA"/>
          </a:solidFill>
          <a:ln w="12700">
            <a:solidFill>
              <a:srgbClr val="EDE6DA"/>
            </a:solidFill>
            <a:prstDash val="solid"/>
          </a:ln>
        </p:spPr>
      </p:sp>
      <p:sp>
        <p:nvSpPr>
          <p:cNvPr id="18" name="Shape 15"/>
          <p:cNvSpPr/>
          <p:nvPr/>
        </p:nvSpPr>
        <p:spPr>
          <a:xfrm>
            <a:off x="658368" y="3273552"/>
            <a:ext cx="54864" cy="1188720"/>
          </a:xfrm>
          <a:prstGeom prst="rect">
            <a:avLst/>
          </a:prstGeom>
          <a:solidFill>
            <a:srgbClr val="102A43"/>
          </a:solidFill>
          <a:ln w="12700">
            <a:solidFill>
              <a:srgbClr val="102A43"/>
            </a:solidFill>
            <a:prstDash val="solid"/>
          </a:ln>
        </p:spPr>
      </p:sp>
      <p:sp>
        <p:nvSpPr>
          <p:cNvPr id="19" name="Text 16"/>
          <p:cNvSpPr txBox="1"/>
          <p:nvPr/>
        </p:nvSpPr>
        <p:spPr>
          <a:xfrm>
            <a:off x="932688" y="3419856"/>
            <a:ext cx="475488" cy="457200"/>
          </a:xfrm>
          <a:prstGeom prst="rect">
            <a:avLst/>
          </a:prstGeom>
          <a:noFill/>
          <a:ln/>
        </p:spPr>
        <p:txBody>
          <a:bodyPr wrap="square" lIns="0" tIns="0" rIns="0" bIns="0" rtlCol="0" anchor="t"/>
          <a:lstStyle/>
          <a:p>
            <a:pPr algn="l"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0" name="Text 17"/>
          <p:cNvSpPr txBox="1"/>
          <p:nvPr/>
        </p:nvSpPr>
        <p:spPr>
          <a:xfrm>
            <a:off x="1572768" y="3410712"/>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¿Qué información hace falta para escribir «justo antes del límite» cuando el parámetro deja de ser un bloque entero y pasa a ser un instante o una duración?</a:t>
            </a:r>
            <a:endParaRPr lang="en-US" sz="1400" dirty="0"/>
          </a:p>
        </p:txBody>
      </p:sp>
      <p:sp>
        <p:nvSpPr>
          <p:cNvPr id="21" name="Shape 18"/>
          <p:cNvSpPr/>
          <p:nvPr/>
        </p:nvSpPr>
        <p:spPr>
          <a:xfrm>
            <a:off x="1572768" y="4041648"/>
            <a:ext cx="9631375" cy="0"/>
          </a:xfrm>
          <a:prstGeom prst="line">
            <a:avLst/>
          </a:prstGeom>
          <a:noFill/>
          <a:ln w="12700">
            <a:solidFill>
              <a:srgbClr val="D8CFC4"/>
            </a:solidFill>
            <a:prstDash val="solid"/>
            <a:headEnd type="none"/>
            <a:tailEnd type="none"/>
          </a:ln>
        </p:spPr>
      </p:sp>
      <p:sp>
        <p:nvSpPr>
          <p:cNvPr id="22" name="Text 19"/>
          <p:cNvSpPr txBox="1"/>
          <p:nvPr/>
        </p:nvSpPr>
        <p:spPr>
          <a:xfrm>
            <a:off x="1572768" y="4133088"/>
            <a:ext cx="640080" cy="182880"/>
          </a:xfrm>
          <a:prstGeom prst="rect">
            <a:avLst/>
          </a:prstGeom>
          <a:noFill/>
          <a:ln/>
        </p:spPr>
        <p:txBody>
          <a:bodyPr wrap="square" lIns="0" tIns="0" rIns="0" bIns="0" rtlCol="0" anchor="t"/>
          <a:lstStyle/>
          <a:p>
            <a:pPr algn="l" indent="0" marL="0">
              <a:buNone/>
            </a:pPr>
            <a:r>
              <a:rPr lang="en-US" sz="860" b="1" spc="110" kern="0" dirty="0">
                <a:solidFill>
                  <a:srgbClr val="102A43"/>
                </a:solidFill>
                <a:latin typeface="Aptos" pitchFamily="34" charset="0"/>
                <a:ea typeface="Aptos" pitchFamily="34" charset="-122"/>
                <a:cs typeface="Aptos" pitchFamily="34" charset="-120"/>
              </a:rPr>
              <a:t>PISTA</a:t>
            </a:r>
            <a:endParaRPr lang="en-US" sz="860" dirty="0"/>
          </a:p>
        </p:txBody>
      </p:sp>
      <p:sp>
        <p:nvSpPr>
          <p:cNvPr id="23" name="Text 20"/>
          <p:cNvSpPr txBox="1"/>
          <p:nvPr/>
        </p:nvSpPr>
        <p:spPr>
          <a:xfrm>
            <a:off x="2286000" y="4114800"/>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Identifica dominio, unidad, resolución y a qué clase pertenece el valor exacto.</a:t>
            </a:r>
            <a:endParaRPr lang="en-US" sz="1200" dirty="0"/>
          </a:p>
        </p:txBody>
      </p:sp>
      <p:sp>
        <p:nvSpPr>
          <p:cNvPr id="24" name="Shape 21"/>
          <p:cNvSpPr/>
          <p:nvPr/>
        </p:nvSpPr>
        <p:spPr>
          <a:xfrm>
            <a:off x="658368" y="4590288"/>
            <a:ext cx="10874959" cy="1188720"/>
          </a:xfrm>
          <a:prstGeom prst="rect">
            <a:avLst/>
          </a:prstGeom>
          <a:solidFill>
            <a:srgbClr val="F2E7D9"/>
          </a:solidFill>
          <a:ln w="12700">
            <a:solidFill>
              <a:srgbClr val="F2E7D9"/>
            </a:solidFill>
            <a:prstDash val="solid"/>
          </a:ln>
        </p:spPr>
      </p:sp>
      <p:sp>
        <p:nvSpPr>
          <p:cNvPr id="25" name="Shape 22"/>
          <p:cNvSpPr/>
          <p:nvPr/>
        </p:nvSpPr>
        <p:spPr>
          <a:xfrm>
            <a:off x="658368" y="4590288"/>
            <a:ext cx="54864" cy="1188720"/>
          </a:xfrm>
          <a:prstGeom prst="rect">
            <a:avLst/>
          </a:prstGeom>
          <a:solidFill>
            <a:srgbClr val="8A6A12"/>
          </a:solidFill>
          <a:ln w="12700">
            <a:solidFill>
              <a:srgbClr val="8A6A12"/>
            </a:solidFill>
            <a:prstDash val="solid"/>
          </a:ln>
        </p:spPr>
      </p:sp>
      <p:sp>
        <p:nvSpPr>
          <p:cNvPr id="26" name="Text 23"/>
          <p:cNvSpPr txBox="1"/>
          <p:nvPr/>
        </p:nvSpPr>
        <p:spPr>
          <a:xfrm>
            <a:off x="932688" y="4736592"/>
            <a:ext cx="475488" cy="457200"/>
          </a:xfrm>
          <a:prstGeom prst="rect">
            <a:avLst/>
          </a:prstGeom>
          <a:noFill/>
          <a:ln/>
        </p:spPr>
        <p:txBody>
          <a:bodyPr wrap="square" lIns="0" tIns="0" rIns="0" bIns="0" rtlCol="0" anchor="t"/>
          <a:lstStyle/>
          <a:p>
            <a:pPr algn="l"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7" name="Text 24"/>
          <p:cNvSpPr txBox="1"/>
          <p:nvPr/>
        </p:nvSpPr>
        <p:spPr>
          <a:xfrm>
            <a:off x="1572768" y="4727448"/>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¿Por qué es correcto tolerar una diferencia pequeña al sumar duraciones con decimales, pero incorrecto usar esa tolerancia para decidir si las dos horas exactas permiten cancelar?</a:t>
            </a:r>
            <a:endParaRPr lang="en-US" sz="1400" dirty="0"/>
          </a:p>
        </p:txBody>
      </p:sp>
      <p:sp>
        <p:nvSpPr>
          <p:cNvPr id="28" name="Shape 25"/>
          <p:cNvSpPr/>
          <p:nvPr/>
        </p:nvSpPr>
        <p:spPr>
          <a:xfrm>
            <a:off x="1572768" y="5358384"/>
            <a:ext cx="9631375" cy="0"/>
          </a:xfrm>
          <a:prstGeom prst="line">
            <a:avLst/>
          </a:prstGeom>
          <a:noFill/>
          <a:ln w="12700">
            <a:solidFill>
              <a:srgbClr val="D8CFC4"/>
            </a:solidFill>
            <a:prstDash val="solid"/>
            <a:headEnd type="none"/>
            <a:tailEnd type="none"/>
          </a:ln>
        </p:spPr>
      </p:sp>
      <p:sp>
        <p:nvSpPr>
          <p:cNvPr id="29" name="Text 26"/>
          <p:cNvSpPr txBox="1"/>
          <p:nvPr/>
        </p:nvSpPr>
        <p:spPr>
          <a:xfrm>
            <a:off x="1572768" y="5449824"/>
            <a:ext cx="640080" cy="182880"/>
          </a:xfrm>
          <a:prstGeom prst="rect">
            <a:avLst/>
          </a:prstGeom>
          <a:noFill/>
          <a:ln/>
        </p:spPr>
        <p:txBody>
          <a:bodyPr wrap="square" lIns="0" tIns="0" rIns="0" bIns="0" rtlCol="0" anchor="t"/>
          <a:lstStyle/>
          <a:p>
            <a:pPr algn="l" indent="0" marL="0">
              <a:buNone/>
            </a:pPr>
            <a:r>
              <a:rPr lang="en-US" sz="860" b="1" spc="110" kern="0" dirty="0">
                <a:solidFill>
                  <a:srgbClr val="8A6A12"/>
                </a:solidFill>
                <a:latin typeface="Aptos" pitchFamily="34" charset="0"/>
                <a:ea typeface="Aptos" pitchFamily="34" charset="-122"/>
                <a:cs typeface="Aptos" pitchFamily="34" charset="-120"/>
              </a:rPr>
              <a:t>PISTA</a:t>
            </a:r>
            <a:endParaRPr lang="en-US" sz="860" dirty="0"/>
          </a:p>
        </p:txBody>
      </p:sp>
      <p:sp>
        <p:nvSpPr>
          <p:cNvPr id="30" name="Text 27"/>
          <p:cNvSpPr txBox="1"/>
          <p:nvPr/>
        </p:nvSpPr>
        <p:spPr>
          <a:xfrm>
            <a:off x="2286000" y="5431536"/>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Un caso trata de error numérico; el otro, de una decisión del requisito.</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58</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CONTRASTE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Lo que tenía que aparecer en tu respuesta</a:t>
            </a:r>
            <a:endParaRPr lang="en-US" sz="3000" dirty="0"/>
          </a:p>
        </p:txBody>
      </p:sp>
      <p:sp>
        <p:nvSpPr>
          <p:cNvPr id="10" name="Shape 7"/>
          <p:cNvSpPr/>
          <p:nvPr/>
        </p:nvSpPr>
        <p:spPr>
          <a:xfrm>
            <a:off x="658368" y="1828800"/>
            <a:ext cx="10874959" cy="1371600"/>
          </a:xfrm>
          <a:prstGeom prst="rect">
            <a:avLst/>
          </a:prstGeom>
          <a:solidFill>
            <a:srgbClr val="FFFFFF"/>
          </a:solidFill>
          <a:ln w="12700">
            <a:solidFill>
              <a:srgbClr val="FFFFFF"/>
            </a:solidFill>
            <a:prstDash val="solid"/>
          </a:ln>
        </p:spPr>
      </p:sp>
      <p:sp>
        <p:nvSpPr>
          <p:cNvPr id="11" name="Shape 8"/>
          <p:cNvSpPr/>
          <p:nvPr/>
        </p:nvSpPr>
        <p:spPr>
          <a:xfrm>
            <a:off x="658368" y="1828800"/>
            <a:ext cx="54864" cy="1371600"/>
          </a:xfrm>
          <a:prstGeom prst="rect">
            <a:avLst/>
          </a:prstGeom>
          <a:solidFill>
            <a:srgbClr val="B3181E"/>
          </a:solidFill>
          <a:ln w="12700">
            <a:solidFill>
              <a:srgbClr val="B3181E"/>
            </a:solidFill>
            <a:prstDash val="solid"/>
          </a:ln>
        </p:spPr>
      </p:sp>
      <p:sp>
        <p:nvSpPr>
          <p:cNvPr id="12" name="Text 9"/>
          <p:cNvSpPr txBox="1"/>
          <p:nvPr/>
        </p:nvSpPr>
        <p:spPr>
          <a:xfrm>
            <a:off x="932688" y="1975104"/>
            <a:ext cx="475488" cy="457200"/>
          </a:xfrm>
          <a:prstGeom prst="rect">
            <a:avLst/>
          </a:prstGeom>
          <a:noFill/>
          <a:ln/>
        </p:spPr>
        <p:txBody>
          <a:bodyPr wrap="square" lIns="0" tIns="0" rIns="0" bIns="0" rtlCol="0" anchor="t"/>
          <a:lstStyle/>
          <a:p>
            <a:pPr algn="l"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3" name="Text 10"/>
          <p:cNvSpPr txBox="1"/>
          <p:nvPr/>
        </p:nvSpPr>
        <p:spPr>
          <a:xfrm>
            <a:off x="1572768" y="1956816"/>
            <a:ext cx="9631375" cy="182880"/>
          </a:xfrm>
          <a:prstGeom prst="rect">
            <a:avLst/>
          </a:prstGeom>
          <a:noFill/>
          <a:ln/>
        </p:spPr>
        <p:txBody>
          <a:bodyPr wrap="square" lIns="0" tIns="0" rIns="0" bIns="0" rtlCol="0" anchor="t"/>
          <a:lstStyle/>
          <a:p>
            <a:pPr algn="l" indent="0" marL="0">
              <a:buNone/>
            </a:pPr>
            <a:r>
              <a:rPr lang="en-US" sz="900" b="1" spc="120" kern="0" dirty="0">
                <a:solidFill>
                  <a:srgbClr val="B3181E"/>
                </a:solidFill>
                <a:latin typeface="Aptos" pitchFamily="34" charset="0"/>
                <a:ea typeface="Aptos" pitchFamily="34" charset="-122"/>
                <a:cs typeface="Aptos" pitchFamily="34" charset="-120"/>
              </a:rPr>
              <a:t>ELEGIR LA ENTRADA Y DECIDIR EL ESPERADO SON DOS TRABAJOS</a:t>
            </a:r>
            <a:endParaRPr lang="en-US" sz="900" dirty="0"/>
          </a:p>
        </p:txBody>
      </p:sp>
      <p:sp>
        <p:nvSpPr>
          <p:cNvPr id="14" name="Text 11"/>
          <p:cNvSpPr txBox="1"/>
          <p:nvPr/>
        </p:nvSpPr>
        <p:spPr>
          <a:xfrm>
            <a:off x="1572768" y="2194560"/>
            <a:ext cx="9631375" cy="475488"/>
          </a:xfrm>
          <a:prstGeom prst="rect">
            <a:avLst/>
          </a:prstGeom>
          <a:noFill/>
          <a:ln/>
        </p:spPr>
        <p:txBody>
          <a:bodyPr wrap="square" lIns="0" tIns="0" rIns="0" bIns="0" rtlCol="0" anchor="t"/>
          <a:lstStyle/>
          <a:p>
            <a:pPr algn="l" indent="0" marL="0">
              <a:lnSpc>
                <a:spcPct val="114000"/>
              </a:lnSpc>
              <a:buNone/>
            </a:pPr>
            <a:r>
              <a:rPr lang="en-US" sz="1450" b="1" dirty="0">
                <a:solidFill>
                  <a:srgbClr val="243B53"/>
                </a:solidFill>
                <a:latin typeface="Aptos" pitchFamily="34" charset="0"/>
                <a:ea typeface="Aptos" pitchFamily="34" charset="-122"/>
                <a:cs typeface="Aptos" pitchFamily="34" charset="-120"/>
              </a:rPr>
              <a:t>Las dos eligieron bien el 8. Una lo esperó False copiando el código, la otra True leyendo el requisito.</a:t>
            </a:r>
            <a:endParaRPr lang="en-US" sz="1450" dirty="0"/>
          </a:p>
        </p:txBody>
      </p:sp>
      <p:sp>
        <p:nvSpPr>
          <p:cNvPr id="15" name="Shape 12"/>
          <p:cNvSpPr/>
          <p:nvPr/>
        </p:nvSpPr>
        <p:spPr>
          <a:xfrm>
            <a:off x="1572768" y="2743200"/>
            <a:ext cx="9631375" cy="0"/>
          </a:xfrm>
          <a:prstGeom prst="line">
            <a:avLst/>
          </a:prstGeom>
          <a:noFill/>
          <a:ln w="12700">
            <a:solidFill>
              <a:srgbClr val="D8CFC4"/>
            </a:solidFill>
            <a:prstDash val="solid"/>
            <a:headEnd type="none"/>
            <a:tailEnd type="none"/>
          </a:ln>
        </p:spPr>
      </p:sp>
      <p:sp>
        <p:nvSpPr>
          <p:cNvPr id="16" name="Text 13"/>
          <p:cNvSpPr txBox="1"/>
          <p:nvPr/>
        </p:nvSpPr>
        <p:spPr>
          <a:xfrm>
            <a:off x="1572768" y="2834640"/>
            <a:ext cx="1645920" cy="182880"/>
          </a:xfrm>
          <a:prstGeom prst="rect">
            <a:avLst/>
          </a:prstGeom>
          <a:noFill/>
          <a:ln/>
        </p:spPr>
        <p:txBody>
          <a:bodyPr wrap="square" lIns="0" tIns="0" rIns="0" bIns="0" rtlCol="0" anchor="t"/>
          <a:lstStyle/>
          <a:p>
            <a:pPr algn="l" indent="0" marL="0">
              <a:buNone/>
            </a:pPr>
            <a:r>
              <a:rPr lang="en-US" sz="860" b="1" spc="110" kern="0" dirty="0">
                <a:solidFill>
                  <a:srgbClr val="B3181E"/>
                </a:solidFill>
                <a:latin typeface="Aptos" pitchFamily="34" charset="0"/>
                <a:ea typeface="Aptos" pitchFamily="34" charset="-122"/>
                <a:cs typeface="Aptos" pitchFamily="34" charset="-120"/>
              </a:rPr>
              <a:t>LO QUE REVELA</a:t>
            </a:r>
            <a:endParaRPr lang="en-US" sz="860" dirty="0"/>
          </a:p>
        </p:txBody>
      </p:sp>
      <p:sp>
        <p:nvSpPr>
          <p:cNvPr id="17" name="Text 14"/>
          <p:cNvSpPr txBox="1"/>
          <p:nvPr/>
        </p:nvSpPr>
        <p:spPr>
          <a:xfrm>
            <a:off x="3346704" y="2816352"/>
            <a:ext cx="7144207" cy="256032"/>
          </a:xfrm>
          <a:prstGeom prst="rect">
            <a:avLst/>
          </a:prstGeom>
          <a:noFill/>
          <a:ln/>
        </p:spPr>
        <p:txBody>
          <a:bodyPr wrap="square" lIns="0" tIns="0" rIns="0" bIns="0" rtlCol="0" anchor="t"/>
          <a:lstStyle/>
          <a:p>
            <a:pPr algn="l" indent="0" marL="0">
              <a:buNone/>
            </a:pPr>
            <a:r>
              <a:rPr lang="en-US" sz="1200" i="1" dirty="0">
                <a:solidFill>
                  <a:srgbClr val="243B53"/>
                </a:solidFill>
                <a:latin typeface="Aptos" pitchFamily="34" charset="0"/>
                <a:ea typeface="Aptos" pitchFamily="34" charset="-122"/>
                <a:cs typeface="Aptos" pitchFamily="34" charset="-120"/>
              </a:rPr>
              <a:t>Un caso de prueba puede tener la entrada perfecta y seguir siendo inútil si su esperado salió del programa.</a:t>
            </a:r>
            <a:endParaRPr lang="en-US" sz="1200" dirty="0"/>
          </a:p>
        </p:txBody>
      </p:sp>
      <p:sp>
        <p:nvSpPr>
          <p:cNvPr id="18" name="Shape 15"/>
          <p:cNvSpPr/>
          <p:nvPr/>
        </p:nvSpPr>
        <p:spPr>
          <a:xfrm>
            <a:off x="658368" y="3310128"/>
            <a:ext cx="10874959" cy="1371600"/>
          </a:xfrm>
          <a:prstGeom prst="rect">
            <a:avLst/>
          </a:prstGeom>
          <a:solidFill>
            <a:srgbClr val="FFFFFF"/>
          </a:solidFill>
          <a:ln w="12700">
            <a:solidFill>
              <a:srgbClr val="FFFFFF"/>
            </a:solidFill>
            <a:prstDash val="solid"/>
          </a:ln>
        </p:spPr>
      </p:sp>
      <p:sp>
        <p:nvSpPr>
          <p:cNvPr id="19" name="Shape 16"/>
          <p:cNvSpPr/>
          <p:nvPr/>
        </p:nvSpPr>
        <p:spPr>
          <a:xfrm>
            <a:off x="658368" y="3310128"/>
            <a:ext cx="54864" cy="1371600"/>
          </a:xfrm>
          <a:prstGeom prst="rect">
            <a:avLst/>
          </a:prstGeom>
          <a:solidFill>
            <a:srgbClr val="102A43"/>
          </a:solidFill>
          <a:ln w="12700">
            <a:solidFill>
              <a:srgbClr val="102A43"/>
            </a:solidFill>
            <a:prstDash val="solid"/>
          </a:ln>
        </p:spPr>
      </p:sp>
      <p:sp>
        <p:nvSpPr>
          <p:cNvPr id="20" name="Text 17"/>
          <p:cNvSpPr txBox="1"/>
          <p:nvPr/>
        </p:nvSpPr>
        <p:spPr>
          <a:xfrm>
            <a:off x="932688" y="3456432"/>
            <a:ext cx="475488" cy="457200"/>
          </a:xfrm>
          <a:prstGeom prst="rect">
            <a:avLst/>
          </a:prstGeom>
          <a:noFill/>
          <a:ln/>
        </p:spPr>
        <p:txBody>
          <a:bodyPr wrap="square" lIns="0" tIns="0" rIns="0" bIns="0" rtlCol="0" anchor="t"/>
          <a:lstStyle/>
          <a:p>
            <a:pPr algn="l"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1" name="Text 18"/>
          <p:cNvSpPr txBox="1"/>
          <p:nvPr/>
        </p:nvSpPr>
        <p:spPr>
          <a:xfrm>
            <a:off x="1572768" y="3438144"/>
            <a:ext cx="9631375" cy="182880"/>
          </a:xfrm>
          <a:prstGeom prst="rect">
            <a:avLst/>
          </a:prstGeom>
          <a:noFill/>
          <a:ln/>
        </p:spPr>
        <p:txBody>
          <a:bodyPr wrap="square" lIns="0" tIns="0" rIns="0" bIns="0" rtlCol="0" anchor="t"/>
          <a:lstStyle/>
          <a:p>
            <a:pPr algn="l" indent="0" marL="0">
              <a:buNone/>
            </a:pPr>
            <a:r>
              <a:rPr lang="en-US" sz="900" b="1" spc="120" kern="0" dirty="0">
                <a:solidFill>
                  <a:srgbClr val="102A43"/>
                </a:solidFill>
                <a:latin typeface="Aptos" pitchFamily="34" charset="0"/>
                <a:ea typeface="Aptos" pitchFamily="34" charset="-122"/>
                <a:cs typeface="Aptos" pitchFamily="34" charset="-120"/>
              </a:rPr>
              <a:t>LO QUE HAY QUE DECLARAR ANTES DE ESCRIBIR «JUSTO ANTES»</a:t>
            </a:r>
            <a:endParaRPr lang="en-US" sz="900" dirty="0"/>
          </a:p>
        </p:txBody>
      </p:sp>
      <p:sp>
        <p:nvSpPr>
          <p:cNvPr id="22" name="Text 19"/>
          <p:cNvSpPr txBox="1"/>
          <p:nvPr/>
        </p:nvSpPr>
        <p:spPr>
          <a:xfrm>
            <a:off x="1572768" y="3675888"/>
            <a:ext cx="9631375" cy="475488"/>
          </a:xfrm>
          <a:prstGeom prst="rect">
            <a:avLst/>
          </a:prstGeom>
          <a:noFill/>
          <a:ln/>
        </p:spPr>
        <p:txBody>
          <a:bodyPr wrap="square" lIns="0" tIns="0" rIns="0" bIns="0" rtlCol="0" anchor="t"/>
          <a:lstStyle/>
          <a:p>
            <a:pPr algn="l" indent="0" marL="0">
              <a:lnSpc>
                <a:spcPct val="114000"/>
              </a:lnSpc>
              <a:buNone/>
            </a:pPr>
            <a:r>
              <a:rPr lang="en-US" sz="1450" b="1" dirty="0">
                <a:solidFill>
                  <a:srgbClr val="243B53"/>
                </a:solidFill>
                <a:latin typeface="Aptos" pitchFamily="34" charset="0"/>
                <a:ea typeface="Aptos" pitchFamily="34" charset="-122"/>
                <a:cs typeface="Aptos" pitchFamily="34" charset="-120"/>
              </a:rPr>
              <a:t>El dominio, la unidad, la resolución del paso y a qué clase pertenece el valor exacto del límite.</a:t>
            </a:r>
            <a:endParaRPr lang="en-US" sz="1450" dirty="0"/>
          </a:p>
        </p:txBody>
      </p:sp>
      <p:sp>
        <p:nvSpPr>
          <p:cNvPr id="23" name="Shape 20"/>
          <p:cNvSpPr/>
          <p:nvPr/>
        </p:nvSpPr>
        <p:spPr>
          <a:xfrm>
            <a:off x="1572768" y="4224528"/>
            <a:ext cx="9631375" cy="0"/>
          </a:xfrm>
          <a:prstGeom prst="line">
            <a:avLst/>
          </a:prstGeom>
          <a:noFill/>
          <a:ln w="12700">
            <a:solidFill>
              <a:srgbClr val="D8CFC4"/>
            </a:solidFill>
            <a:prstDash val="solid"/>
            <a:headEnd type="none"/>
            <a:tailEnd type="none"/>
          </a:ln>
        </p:spPr>
      </p:sp>
      <p:sp>
        <p:nvSpPr>
          <p:cNvPr id="24" name="Text 21"/>
          <p:cNvSpPr txBox="1"/>
          <p:nvPr/>
        </p:nvSpPr>
        <p:spPr>
          <a:xfrm>
            <a:off x="1572768" y="4315968"/>
            <a:ext cx="1645920" cy="182880"/>
          </a:xfrm>
          <a:prstGeom prst="rect">
            <a:avLst/>
          </a:prstGeom>
          <a:noFill/>
          <a:ln/>
        </p:spPr>
        <p:txBody>
          <a:bodyPr wrap="square" lIns="0" tIns="0" rIns="0" bIns="0" rtlCol="0" anchor="t"/>
          <a:lstStyle/>
          <a:p>
            <a:pPr algn="l" indent="0" marL="0">
              <a:buNone/>
            </a:pPr>
            <a:r>
              <a:rPr lang="en-US" sz="860" b="1" spc="110" kern="0" dirty="0">
                <a:solidFill>
                  <a:srgbClr val="102A43"/>
                </a:solidFill>
                <a:latin typeface="Aptos" pitchFamily="34" charset="0"/>
                <a:ea typeface="Aptos" pitchFamily="34" charset="-122"/>
                <a:cs typeface="Aptos" pitchFamily="34" charset="-120"/>
              </a:rPr>
              <a:t>LO QUE REVELA</a:t>
            </a:r>
            <a:endParaRPr lang="en-US" sz="860" dirty="0"/>
          </a:p>
        </p:txBody>
      </p:sp>
      <p:sp>
        <p:nvSpPr>
          <p:cNvPr id="25" name="Text 22"/>
          <p:cNvSpPr txBox="1"/>
          <p:nvPr/>
        </p:nvSpPr>
        <p:spPr>
          <a:xfrm>
            <a:off x="3346704" y="4297680"/>
            <a:ext cx="7144207" cy="256032"/>
          </a:xfrm>
          <a:prstGeom prst="rect">
            <a:avLst/>
          </a:prstGeom>
          <a:noFill/>
          <a:ln/>
        </p:spPr>
        <p:txBody>
          <a:bodyPr wrap="square" lIns="0" tIns="0" rIns="0" bIns="0" rtlCol="0" anchor="t"/>
          <a:lstStyle/>
          <a:p>
            <a:pPr algn="l" indent="0" marL="0">
              <a:buNone/>
            </a:pPr>
            <a:r>
              <a:rPr lang="en-US" sz="1200" i="1" dirty="0">
                <a:solidFill>
                  <a:srgbClr val="243B53"/>
                </a:solidFill>
                <a:latin typeface="Aptos" pitchFamily="34" charset="0"/>
                <a:ea typeface="Aptos" pitchFamily="34" charset="-122"/>
                <a:cs typeface="Aptos" pitchFamily="34" charset="-120"/>
              </a:rPr>
              <a:t>Sin unidad, «límite − 1» puede significar un bloque, un segundo o una hora: el caso no está definido.</a:t>
            </a:r>
            <a:endParaRPr lang="en-US" sz="1200" dirty="0"/>
          </a:p>
        </p:txBody>
      </p:sp>
      <p:sp>
        <p:nvSpPr>
          <p:cNvPr id="26" name="Shape 23"/>
          <p:cNvSpPr/>
          <p:nvPr/>
        </p:nvSpPr>
        <p:spPr>
          <a:xfrm>
            <a:off x="658368" y="4791456"/>
            <a:ext cx="10874959" cy="1371600"/>
          </a:xfrm>
          <a:prstGeom prst="rect">
            <a:avLst/>
          </a:prstGeom>
          <a:solidFill>
            <a:srgbClr val="FFFFFF"/>
          </a:solidFill>
          <a:ln w="12700">
            <a:solidFill>
              <a:srgbClr val="FFFFFF"/>
            </a:solidFill>
            <a:prstDash val="solid"/>
          </a:ln>
        </p:spPr>
      </p:sp>
      <p:sp>
        <p:nvSpPr>
          <p:cNvPr id="27" name="Shape 24"/>
          <p:cNvSpPr/>
          <p:nvPr/>
        </p:nvSpPr>
        <p:spPr>
          <a:xfrm>
            <a:off x="658368" y="4791456"/>
            <a:ext cx="54864" cy="1371600"/>
          </a:xfrm>
          <a:prstGeom prst="rect">
            <a:avLst/>
          </a:prstGeom>
          <a:solidFill>
            <a:srgbClr val="8A6A12"/>
          </a:solidFill>
          <a:ln w="12700">
            <a:solidFill>
              <a:srgbClr val="8A6A12"/>
            </a:solidFill>
            <a:prstDash val="solid"/>
          </a:ln>
        </p:spPr>
      </p:sp>
      <p:sp>
        <p:nvSpPr>
          <p:cNvPr id="28" name="Text 25"/>
          <p:cNvSpPr txBox="1"/>
          <p:nvPr/>
        </p:nvSpPr>
        <p:spPr>
          <a:xfrm>
            <a:off x="932688" y="4937760"/>
            <a:ext cx="475488" cy="457200"/>
          </a:xfrm>
          <a:prstGeom prst="rect">
            <a:avLst/>
          </a:prstGeom>
          <a:noFill/>
          <a:ln/>
        </p:spPr>
        <p:txBody>
          <a:bodyPr wrap="square" lIns="0" tIns="0" rIns="0" bIns="0" rtlCol="0" anchor="t"/>
          <a:lstStyle/>
          <a:p>
            <a:pPr algn="l"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9" name="Text 26"/>
          <p:cNvSpPr txBox="1"/>
          <p:nvPr/>
        </p:nvSpPr>
        <p:spPr>
          <a:xfrm>
            <a:off x="1572768" y="4919472"/>
            <a:ext cx="9631375" cy="182880"/>
          </a:xfrm>
          <a:prstGeom prst="rect">
            <a:avLst/>
          </a:prstGeom>
          <a:noFill/>
          <a:ln/>
        </p:spPr>
        <p:txBody>
          <a:bodyPr wrap="square" lIns="0" tIns="0" rIns="0" bIns="0" rtlCol="0" anchor="t"/>
          <a:lstStyle/>
          <a:p>
            <a:pPr algn="l" indent="0" marL="0">
              <a:buNone/>
            </a:pPr>
            <a:r>
              <a:rPr lang="en-US" sz="900" b="1" spc="120" kern="0" dirty="0">
                <a:solidFill>
                  <a:srgbClr val="8A6A12"/>
                </a:solidFill>
                <a:latin typeface="Aptos" pitchFamily="34" charset="0"/>
                <a:ea typeface="Aptos" pitchFamily="34" charset="-122"/>
                <a:cs typeface="Aptos" pitchFamily="34" charset="-120"/>
              </a:rPr>
              <a:t>ERROR NUMÉRICO CONTRA DECISIÓN DE REQUISITO</a:t>
            </a:r>
            <a:endParaRPr lang="en-US" sz="900" dirty="0"/>
          </a:p>
        </p:txBody>
      </p:sp>
      <p:sp>
        <p:nvSpPr>
          <p:cNvPr id="30" name="Text 27"/>
          <p:cNvSpPr txBox="1"/>
          <p:nvPr/>
        </p:nvSpPr>
        <p:spPr>
          <a:xfrm>
            <a:off x="1572768" y="5157216"/>
            <a:ext cx="9631375" cy="475488"/>
          </a:xfrm>
          <a:prstGeom prst="rect">
            <a:avLst/>
          </a:prstGeom>
          <a:noFill/>
          <a:ln/>
        </p:spPr>
        <p:txBody>
          <a:bodyPr wrap="square" lIns="0" tIns="0" rIns="0" bIns="0" rtlCol="0" anchor="t"/>
          <a:lstStyle/>
          <a:p>
            <a:pPr algn="l" indent="0" marL="0">
              <a:lnSpc>
                <a:spcPct val="114000"/>
              </a:lnSpc>
              <a:buNone/>
            </a:pPr>
            <a:r>
              <a:rPr lang="en-US" sz="1450" b="1" dirty="0">
                <a:solidFill>
                  <a:srgbClr val="243B53"/>
                </a:solidFill>
                <a:latin typeface="Aptos" pitchFamily="34" charset="0"/>
                <a:ea typeface="Aptos" pitchFamily="34" charset="-122"/>
                <a:cs typeface="Aptos" pitchFamily="34" charset="-120"/>
              </a:rPr>
              <a:t>La suma con decimales falla por cómo se representan en binario. Las dos horas exactas no son un error: son un vacío del requisito.</a:t>
            </a:r>
            <a:endParaRPr lang="en-US" sz="1450" dirty="0"/>
          </a:p>
        </p:txBody>
      </p:sp>
      <p:sp>
        <p:nvSpPr>
          <p:cNvPr id="31" name="Shape 28"/>
          <p:cNvSpPr/>
          <p:nvPr/>
        </p:nvSpPr>
        <p:spPr>
          <a:xfrm>
            <a:off x="1572768" y="5705856"/>
            <a:ext cx="9631375" cy="0"/>
          </a:xfrm>
          <a:prstGeom prst="line">
            <a:avLst/>
          </a:prstGeom>
          <a:noFill/>
          <a:ln w="12700">
            <a:solidFill>
              <a:srgbClr val="D8CFC4"/>
            </a:solidFill>
            <a:prstDash val="solid"/>
            <a:headEnd type="none"/>
            <a:tailEnd type="none"/>
          </a:ln>
        </p:spPr>
      </p:sp>
      <p:sp>
        <p:nvSpPr>
          <p:cNvPr id="32" name="Text 29"/>
          <p:cNvSpPr txBox="1"/>
          <p:nvPr/>
        </p:nvSpPr>
        <p:spPr>
          <a:xfrm>
            <a:off x="1572768" y="5797296"/>
            <a:ext cx="1645920" cy="182880"/>
          </a:xfrm>
          <a:prstGeom prst="rect">
            <a:avLst/>
          </a:prstGeom>
          <a:noFill/>
          <a:ln/>
        </p:spPr>
        <p:txBody>
          <a:bodyPr wrap="square" lIns="0" tIns="0" rIns="0" bIns="0" rtlCol="0" anchor="t"/>
          <a:lstStyle/>
          <a:p>
            <a:pPr algn="l" indent="0" marL="0">
              <a:buNone/>
            </a:pPr>
            <a:r>
              <a:rPr lang="en-US" sz="860" b="1" spc="110" kern="0" dirty="0">
                <a:solidFill>
                  <a:srgbClr val="8A6A12"/>
                </a:solidFill>
                <a:latin typeface="Aptos" pitchFamily="34" charset="0"/>
                <a:ea typeface="Aptos" pitchFamily="34" charset="-122"/>
                <a:cs typeface="Aptos" pitchFamily="34" charset="-120"/>
              </a:rPr>
              <a:t>LO QUE REVELA</a:t>
            </a:r>
            <a:endParaRPr lang="en-US" sz="860" dirty="0"/>
          </a:p>
        </p:txBody>
      </p:sp>
      <p:sp>
        <p:nvSpPr>
          <p:cNvPr id="33" name="Text 30"/>
          <p:cNvSpPr txBox="1"/>
          <p:nvPr/>
        </p:nvSpPr>
        <p:spPr>
          <a:xfrm>
            <a:off x="3346704" y="5779008"/>
            <a:ext cx="7144207" cy="256032"/>
          </a:xfrm>
          <a:prstGeom prst="rect">
            <a:avLst/>
          </a:prstGeom>
          <a:noFill/>
          <a:ln/>
        </p:spPr>
        <p:txBody>
          <a:bodyPr wrap="square" lIns="0" tIns="0" rIns="0" bIns="0" rtlCol="0" anchor="t"/>
          <a:lstStyle/>
          <a:p>
            <a:pPr algn="l" indent="0" marL="0">
              <a:buNone/>
            </a:pPr>
            <a:r>
              <a:rPr lang="en-US" sz="1200" i="1" dirty="0">
                <a:solidFill>
                  <a:srgbClr val="243B53"/>
                </a:solidFill>
                <a:latin typeface="Aptos" pitchFamily="34" charset="0"/>
                <a:ea typeface="Aptos" pitchFamily="34" charset="-122"/>
                <a:cs typeface="Aptos" pitchFamily="34" charset="-120"/>
              </a:rPr>
              <a:t>Una tolerancia aplicada a un vacío del requisito lo tapa en vez de resolverlo, y deja la suite en verde.</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3\03\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59</a:t>
            </a:r>
            <a:endParaRPr lang="en-US" sz="1400" dirty="0"/>
          </a:p>
        </p:txBody>
      </p:sp>
      <p:sp>
        <p:nvSpPr>
          <p:cNvPr id="8" name="Text 5"/>
          <p:cNvSpPr txBox="1"/>
          <p:nvPr/>
        </p:nvSpPr>
        <p:spPr>
          <a:xfrm>
            <a:off x="658368" y="1572768"/>
            <a:ext cx="27432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BLOQUE 4 DE 4</a:t>
            </a:r>
            <a:endParaRPr lang="en-US" sz="960" dirty="0"/>
          </a:p>
        </p:txBody>
      </p:sp>
      <p:sp>
        <p:nvSpPr>
          <p:cNvPr id="9" name="Text 6"/>
          <p:cNvSpPr txBox="1"/>
          <p:nvPr/>
        </p:nvSpPr>
        <p:spPr>
          <a:xfrm>
            <a:off x="658368" y="1920240"/>
            <a:ext cx="9692640" cy="914400"/>
          </a:xfrm>
          <a:prstGeom prst="rect">
            <a:avLst/>
          </a:prstGeom>
          <a:noFill/>
          <a:ln/>
        </p:spPr>
        <p:txBody>
          <a:bodyPr wrap="square" lIns="0" tIns="0" rIns="0" bIns="0" rtlCol="0" anchor="t"/>
          <a:lstStyle/>
          <a:p>
            <a:pPr algn="l" indent="0" marL="0">
              <a:lnSpc>
                <a:spcPct val="104000"/>
              </a:lnSpc>
              <a:buNone/>
            </a:pPr>
            <a:r>
              <a:rPr lang="en-US" sz="4000" b="1" dirty="0">
                <a:solidFill>
                  <a:srgbClr val="FFFFFF"/>
                </a:solidFill>
                <a:latin typeface="Aptos Display" pitchFamily="34" charset="0"/>
                <a:ea typeface="Aptos Display" pitchFamily="34" charset="-122"/>
                <a:cs typeface="Aptos Display" pitchFamily="34" charset="-120"/>
              </a:rPr>
              <a:t>Tablas de decisión</a:t>
            </a:r>
            <a:endParaRPr lang="en-US" sz="4000" dirty="0"/>
          </a:p>
        </p:txBody>
      </p:sp>
      <p:sp>
        <p:nvSpPr>
          <p:cNvPr id="10" name="Shape 7"/>
          <p:cNvSpPr/>
          <p:nvPr/>
        </p:nvSpPr>
        <p:spPr>
          <a:xfrm>
            <a:off x="658368" y="3035808"/>
            <a:ext cx="3108960" cy="0"/>
          </a:xfrm>
          <a:prstGeom prst="line">
            <a:avLst/>
          </a:prstGeom>
          <a:noFill/>
          <a:ln w="12700">
            <a:solidFill>
              <a:srgbClr val="E0BC5A"/>
            </a:solidFill>
            <a:prstDash val="solid"/>
            <a:headEnd type="none"/>
            <a:tailEnd type="none"/>
          </a:ln>
        </p:spPr>
      </p:sp>
      <p:sp>
        <p:nvSpPr>
          <p:cNvPr id="11" name="Text 8"/>
          <p:cNvSpPr txBox="1"/>
          <p:nvPr/>
        </p:nvSpPr>
        <p:spPr>
          <a:xfrm>
            <a:off x="658368" y="3291840"/>
            <a:ext cx="9326880" cy="822960"/>
          </a:xfrm>
          <a:prstGeom prst="rect">
            <a:avLst/>
          </a:prstGeom>
          <a:noFill/>
          <a:ln/>
        </p:spPr>
        <p:txBody>
          <a:bodyPr wrap="square" lIns="0" tIns="0" rIns="0" bIns="0" rtlCol="0" anchor="t"/>
          <a:lstStyle/>
          <a:p>
            <a:pPr algn="l" indent="0" marL="0">
              <a:lnSpc>
                <a:spcPct val="116000"/>
              </a:lnSpc>
              <a:buNone/>
            </a:pPr>
            <a:r>
              <a:rPr lang="en-US" sz="1700" i="1" dirty="0">
                <a:solidFill>
                  <a:srgbClr val="E6EEF7"/>
                </a:solidFill>
                <a:latin typeface="Aptos" pitchFamily="34" charset="0"/>
                <a:ea typeface="Aptos" pitchFamily="34" charset="-122"/>
                <a:cs typeface="Aptos" pitchFamily="34" charset="-120"/>
              </a:rPr>
              <a:t>¿Qué debe ocurrir cuando varias condiciones se cumplen o fallan al mismo tiempo?</a:t>
            </a:r>
            <a:endParaRPr lang="en-US" sz="1700" dirty="0"/>
          </a:p>
        </p:txBody>
      </p:sp>
      <p:sp>
        <p:nvSpPr>
          <p:cNvPr id="12" name="Text 9"/>
          <p:cNvSpPr txBox="1"/>
          <p:nvPr/>
        </p:nvSpPr>
        <p:spPr>
          <a:xfrm>
            <a:off x="658368" y="4864608"/>
            <a:ext cx="4572000" cy="201168"/>
          </a:xfrm>
          <a:prstGeom prst="rect">
            <a:avLst/>
          </a:prstGeom>
          <a:noFill/>
          <a:ln/>
        </p:spPr>
        <p:txBody>
          <a:bodyPr wrap="square" lIns="0" tIns="0" rIns="0" bIns="0" rtlCol="0" anchor="t"/>
          <a:lstStyle/>
          <a:p>
            <a:pPr algn="l" indent="0" marL="0">
              <a:buNone/>
            </a:pPr>
            <a:r>
              <a:rPr lang="en-US" sz="960" b="1" spc="130" kern="0" dirty="0">
                <a:solidFill>
                  <a:srgbClr val="EADFD0"/>
                </a:solidFill>
                <a:latin typeface="Aptos" pitchFamily="34" charset="0"/>
                <a:ea typeface="Aptos" pitchFamily="34" charset="-122"/>
                <a:cs typeface="Aptos" pitchFamily="34" charset="-120"/>
              </a:rPr>
              <a:t>DÓNDE ESTAMOS EN LA REDUCCIÓN</a:t>
            </a:r>
            <a:endParaRPr lang="en-US" sz="960" dirty="0"/>
          </a:p>
        </p:txBody>
      </p:sp>
      <p:sp>
        <p:nvSpPr>
          <p:cNvPr id="13" name="Shape 10"/>
          <p:cNvSpPr/>
          <p:nvPr/>
        </p:nvSpPr>
        <p:spPr>
          <a:xfrm>
            <a:off x="658368" y="5138928"/>
            <a:ext cx="4206240" cy="420624"/>
          </a:xfrm>
          <a:prstGeom prst="rect">
            <a:avLst/>
          </a:prstGeom>
          <a:solidFill>
            <a:srgbClr val="1D3A57"/>
          </a:solidFill>
          <a:ln w="12700">
            <a:solidFill>
              <a:srgbClr val="1D3A57"/>
            </a:solidFill>
            <a:prstDash val="solid"/>
          </a:ln>
        </p:spPr>
      </p:sp>
      <p:sp>
        <p:nvSpPr>
          <p:cNvPr id="14" name="Text 11"/>
          <p:cNvSpPr txBox="1"/>
          <p:nvPr/>
        </p:nvSpPr>
        <p:spPr>
          <a:xfrm>
            <a:off x="822960" y="5157216"/>
            <a:ext cx="3877056" cy="384048"/>
          </a:xfrm>
          <a:prstGeom prst="rect">
            <a:avLst/>
          </a:prstGeom>
          <a:noFill/>
          <a:ln/>
        </p:spPr>
        <p:txBody>
          <a:bodyPr wrap="square" lIns="0" tIns="0" rIns="0" bIns="0" rtlCol="0" anchor="ctr"/>
          <a:lstStyle/>
          <a:p>
            <a:pPr algn="l" indent="0" marL="0">
              <a:buNone/>
            </a:pPr>
            <a:r>
              <a:rPr lang="en-US" sz="1060" dirty="0">
                <a:solidFill>
                  <a:srgbClr val="EADFD0"/>
                </a:solidFill>
                <a:latin typeface="Aptos" pitchFamily="34" charset="0"/>
                <a:ea typeface="Aptos" pitchFamily="34" charset="-122"/>
                <a:cs typeface="Aptos" pitchFamily="34" charset="-120"/>
              </a:rPr>
              <a:t>Todas las entradas</a:t>
            </a:r>
            <a:endParaRPr lang="en-US" sz="1060" dirty="0"/>
          </a:p>
        </p:txBody>
      </p:sp>
      <p:sp>
        <p:nvSpPr>
          <p:cNvPr id="15" name="Shape 12"/>
          <p:cNvSpPr/>
          <p:nvPr/>
        </p:nvSpPr>
        <p:spPr>
          <a:xfrm>
            <a:off x="4901184" y="5349240"/>
            <a:ext cx="182880" cy="0"/>
          </a:xfrm>
          <a:prstGeom prst="line">
            <a:avLst/>
          </a:prstGeom>
          <a:noFill/>
          <a:ln w="12700">
            <a:solidFill>
              <a:srgbClr val="EADFD0"/>
            </a:solidFill>
            <a:prstDash val="solid"/>
            <a:headEnd type="none"/>
            <a:tailEnd type="triangle"/>
          </a:ln>
        </p:spPr>
      </p:sp>
      <p:sp>
        <p:nvSpPr>
          <p:cNvPr id="16" name="Shape 13"/>
          <p:cNvSpPr/>
          <p:nvPr/>
        </p:nvSpPr>
        <p:spPr>
          <a:xfrm>
            <a:off x="5120640" y="5138928"/>
            <a:ext cx="2926080" cy="420624"/>
          </a:xfrm>
          <a:prstGeom prst="rect">
            <a:avLst/>
          </a:prstGeom>
          <a:solidFill>
            <a:srgbClr val="1D3A57"/>
          </a:solidFill>
          <a:ln w="12700">
            <a:solidFill>
              <a:srgbClr val="1D3A57"/>
            </a:solidFill>
            <a:prstDash val="solid"/>
          </a:ln>
        </p:spPr>
      </p:sp>
      <p:sp>
        <p:nvSpPr>
          <p:cNvPr id="17" name="Text 14"/>
          <p:cNvSpPr txBox="1"/>
          <p:nvPr/>
        </p:nvSpPr>
        <p:spPr>
          <a:xfrm>
            <a:off x="5285232" y="5157216"/>
            <a:ext cx="2596896" cy="384048"/>
          </a:xfrm>
          <a:prstGeom prst="rect">
            <a:avLst/>
          </a:prstGeom>
          <a:noFill/>
          <a:ln/>
        </p:spPr>
        <p:txBody>
          <a:bodyPr wrap="square" lIns="0" tIns="0" rIns="0" bIns="0" rtlCol="0" anchor="ctr"/>
          <a:lstStyle/>
          <a:p>
            <a:pPr algn="l" indent="0" marL="0">
              <a:buNone/>
            </a:pPr>
            <a:r>
              <a:rPr lang="en-US" sz="1060" dirty="0">
                <a:solidFill>
                  <a:srgbClr val="EADFD0"/>
                </a:solidFill>
                <a:latin typeface="Aptos" pitchFamily="34" charset="0"/>
                <a:ea typeface="Aptos" pitchFamily="34" charset="-122"/>
                <a:cs typeface="Aptos" pitchFamily="34" charset="-120"/>
              </a:rPr>
              <a:t>Clases</a:t>
            </a:r>
            <a:endParaRPr lang="en-US" sz="1060" dirty="0"/>
          </a:p>
        </p:txBody>
      </p:sp>
      <p:sp>
        <p:nvSpPr>
          <p:cNvPr id="18" name="Shape 15"/>
          <p:cNvSpPr/>
          <p:nvPr/>
        </p:nvSpPr>
        <p:spPr>
          <a:xfrm>
            <a:off x="8083296" y="5349240"/>
            <a:ext cx="182880" cy="0"/>
          </a:xfrm>
          <a:prstGeom prst="line">
            <a:avLst/>
          </a:prstGeom>
          <a:noFill/>
          <a:ln w="12700">
            <a:solidFill>
              <a:srgbClr val="EADFD0"/>
            </a:solidFill>
            <a:prstDash val="solid"/>
            <a:headEnd type="none"/>
            <a:tailEnd type="triangle"/>
          </a:ln>
        </p:spPr>
      </p:sp>
      <p:sp>
        <p:nvSpPr>
          <p:cNvPr id="19" name="Shape 16"/>
          <p:cNvSpPr/>
          <p:nvPr/>
        </p:nvSpPr>
        <p:spPr>
          <a:xfrm>
            <a:off x="8302752" y="5138928"/>
            <a:ext cx="2011680" cy="420624"/>
          </a:xfrm>
          <a:prstGeom prst="rect">
            <a:avLst/>
          </a:prstGeom>
          <a:solidFill>
            <a:srgbClr val="1D3A57"/>
          </a:solidFill>
          <a:ln w="12700">
            <a:solidFill>
              <a:srgbClr val="1D3A57"/>
            </a:solidFill>
            <a:prstDash val="solid"/>
          </a:ln>
        </p:spPr>
      </p:sp>
      <p:sp>
        <p:nvSpPr>
          <p:cNvPr id="20" name="Text 17"/>
          <p:cNvSpPr txBox="1"/>
          <p:nvPr/>
        </p:nvSpPr>
        <p:spPr>
          <a:xfrm>
            <a:off x="8467344" y="5157216"/>
            <a:ext cx="1682496" cy="384048"/>
          </a:xfrm>
          <a:prstGeom prst="rect">
            <a:avLst/>
          </a:prstGeom>
          <a:noFill/>
          <a:ln/>
        </p:spPr>
        <p:txBody>
          <a:bodyPr wrap="square" lIns="0" tIns="0" rIns="0" bIns="0" rtlCol="0" anchor="ctr"/>
          <a:lstStyle/>
          <a:p>
            <a:pPr algn="l" indent="0" marL="0">
              <a:buNone/>
            </a:pPr>
            <a:r>
              <a:rPr lang="en-US" sz="1060" dirty="0">
                <a:solidFill>
                  <a:srgbClr val="EADFD0"/>
                </a:solidFill>
                <a:latin typeface="Aptos" pitchFamily="34" charset="0"/>
                <a:ea typeface="Aptos" pitchFamily="34" charset="-122"/>
                <a:cs typeface="Aptos" pitchFamily="34" charset="-120"/>
              </a:rPr>
              <a:t>Límites</a:t>
            </a:r>
            <a:endParaRPr lang="en-US" sz="1060" dirty="0"/>
          </a:p>
        </p:txBody>
      </p:sp>
      <p:sp>
        <p:nvSpPr>
          <p:cNvPr id="21" name="Shape 18"/>
          <p:cNvSpPr/>
          <p:nvPr/>
        </p:nvSpPr>
        <p:spPr>
          <a:xfrm>
            <a:off x="10351008" y="5349240"/>
            <a:ext cx="182880" cy="0"/>
          </a:xfrm>
          <a:prstGeom prst="line">
            <a:avLst/>
          </a:prstGeom>
          <a:noFill/>
          <a:ln w="12700">
            <a:solidFill>
              <a:srgbClr val="EADFD0"/>
            </a:solidFill>
            <a:prstDash val="solid"/>
            <a:headEnd type="none"/>
            <a:tailEnd type="triangle"/>
          </a:ln>
        </p:spPr>
      </p:sp>
      <p:sp>
        <p:nvSpPr>
          <p:cNvPr id="22" name="Shape 19"/>
          <p:cNvSpPr/>
          <p:nvPr/>
        </p:nvSpPr>
        <p:spPr>
          <a:xfrm>
            <a:off x="10570464" y="5138928"/>
            <a:ext cx="1371600" cy="420624"/>
          </a:xfrm>
          <a:prstGeom prst="rect">
            <a:avLst/>
          </a:prstGeom>
          <a:solidFill>
            <a:srgbClr val="E0BC5A"/>
          </a:solidFill>
          <a:ln w="12700">
            <a:solidFill>
              <a:srgbClr val="E0BC5A"/>
            </a:solidFill>
            <a:prstDash val="solid"/>
          </a:ln>
        </p:spPr>
      </p:sp>
      <p:sp>
        <p:nvSpPr>
          <p:cNvPr id="23" name="Text 20"/>
          <p:cNvSpPr txBox="1"/>
          <p:nvPr/>
        </p:nvSpPr>
        <p:spPr>
          <a:xfrm>
            <a:off x="10735056" y="5157216"/>
            <a:ext cx="1042416" cy="384048"/>
          </a:xfrm>
          <a:prstGeom prst="rect">
            <a:avLst/>
          </a:prstGeom>
          <a:noFill/>
          <a:ln/>
        </p:spPr>
        <p:txBody>
          <a:bodyPr wrap="square" lIns="0" tIns="0" rIns="0" bIns="0" rtlCol="0" anchor="ctr"/>
          <a:lstStyle/>
          <a:p>
            <a:pPr algn="l" indent="0" marL="0">
              <a:buNone/>
            </a:pPr>
            <a:r>
              <a:rPr lang="en-US" sz="1200" b="1" dirty="0">
                <a:solidFill>
                  <a:srgbClr val="102A43"/>
                </a:solidFill>
                <a:latin typeface="Aptos" pitchFamily="34" charset="0"/>
                <a:ea typeface="Aptos" pitchFamily="34" charset="-122"/>
                <a:cs typeface="Aptos" pitchFamily="34" charset="-120"/>
              </a:rPr>
              <a:t>Reglas combinadas</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60</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LA IDEA, ANTES DEL NOMBRE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Tres condiciones no son tres pruebas</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Un bloque puede pertenecer a la jornada y estar ocupado. La decisión depende de que las reglas se cumplan juntas.</a:t>
            </a:r>
            <a:endParaRPr lang="en-US" sz="1450" dirty="0"/>
          </a:p>
        </p:txBody>
      </p:sp>
      <p:sp>
        <p:nvSpPr>
          <p:cNvPr id="11" name="Shape 8"/>
          <p:cNvSpPr/>
          <p:nvPr/>
        </p:nvSpPr>
        <p:spPr>
          <a:xfrm>
            <a:off x="658368" y="2322576"/>
            <a:ext cx="3465576" cy="1572768"/>
          </a:xfrm>
          <a:prstGeom prst="rect">
            <a:avLst/>
          </a:prstGeom>
          <a:solidFill>
            <a:srgbClr val="E6EEF7"/>
          </a:solidFill>
          <a:ln w="12700">
            <a:solidFill>
              <a:srgbClr val="E6EEF7"/>
            </a:solidFill>
            <a:prstDash val="solid"/>
          </a:ln>
        </p:spPr>
      </p:sp>
      <p:sp>
        <p:nvSpPr>
          <p:cNvPr id="12" name="Shape 9"/>
          <p:cNvSpPr/>
          <p:nvPr/>
        </p:nvSpPr>
        <p:spPr>
          <a:xfrm>
            <a:off x="658368" y="2322576"/>
            <a:ext cx="3465576" cy="64008"/>
          </a:xfrm>
          <a:prstGeom prst="rect">
            <a:avLst/>
          </a:prstGeom>
          <a:solidFill>
            <a:srgbClr val="102A43"/>
          </a:solidFill>
          <a:ln w="12700">
            <a:solidFill>
              <a:srgbClr val="102A43"/>
            </a:solidFill>
            <a:prstDash val="solid"/>
          </a:ln>
        </p:spPr>
      </p:sp>
      <p:sp>
        <p:nvSpPr>
          <p:cNvPr id="13" name="Shape 10"/>
          <p:cNvSpPr/>
          <p:nvPr/>
        </p:nvSpPr>
        <p:spPr>
          <a:xfrm>
            <a:off x="914400" y="2487168"/>
            <a:ext cx="457200" cy="457200"/>
          </a:xfrm>
          <a:prstGeom prst="rect">
            <a:avLst/>
          </a:prstGeom>
          <a:solidFill>
            <a:srgbClr val="102A43"/>
          </a:solidFill>
          <a:ln w="12700">
            <a:solidFill>
              <a:srgbClr val="102A43"/>
            </a:solidFill>
            <a:prstDash val="solid"/>
          </a:ln>
        </p:spPr>
      </p:sp>
      <p:sp>
        <p:nvSpPr>
          <p:cNvPr id="14" name="Text 11"/>
          <p:cNvSpPr txBox="1"/>
          <p:nvPr/>
        </p:nvSpPr>
        <p:spPr>
          <a:xfrm>
            <a:off x="914400" y="2505456"/>
            <a:ext cx="457200" cy="420624"/>
          </a:xfrm>
          <a:prstGeom prst="rect">
            <a:avLst/>
          </a:prstGeom>
          <a:noFill/>
          <a:ln/>
        </p:spPr>
        <p:txBody>
          <a:bodyPr wrap="square" lIns="0" tIns="0" rIns="0" bIns="0" rtlCol="0" anchor="ctr"/>
          <a:lstStyle/>
          <a:p>
            <a:pPr algn="ctr" indent="0" marL="0">
              <a:buNone/>
            </a:pPr>
            <a:r>
              <a:rPr lang="en-US" sz="2200" b="1" dirty="0">
                <a:solidFill>
                  <a:srgbClr val="FFFFFF"/>
                </a:solidFill>
                <a:latin typeface="Aptos Display" pitchFamily="34" charset="0"/>
                <a:ea typeface="Aptos Display" pitchFamily="34" charset="-122"/>
                <a:cs typeface="Aptos Display" pitchFamily="34" charset="-120"/>
              </a:rPr>
              <a:t>V</a:t>
            </a:r>
            <a:endParaRPr lang="en-US" sz="2200" dirty="0"/>
          </a:p>
        </p:txBody>
      </p:sp>
      <p:sp>
        <p:nvSpPr>
          <p:cNvPr id="15" name="Text 12"/>
          <p:cNvSpPr txBox="1"/>
          <p:nvPr/>
        </p:nvSpPr>
        <p:spPr>
          <a:xfrm>
            <a:off x="1481328" y="2560320"/>
            <a:ext cx="2377440" cy="256032"/>
          </a:xfrm>
          <a:prstGeom prst="rect">
            <a:avLst/>
          </a:prstGeom>
          <a:noFill/>
          <a:ln/>
        </p:spPr>
        <p:txBody>
          <a:bodyPr wrap="square" lIns="0" tIns="0" rIns="0" bIns="0" rtlCol="0" anchor="t"/>
          <a:lstStyle/>
          <a:p>
            <a:pPr algn="l" indent="0" marL="0">
              <a:buNone/>
            </a:pPr>
            <a:r>
              <a:rPr lang="en-US" sz="1400" b="1" dirty="0">
                <a:solidFill>
                  <a:srgbClr val="243B53"/>
                </a:solidFill>
                <a:latin typeface="Aptos" pitchFamily="34" charset="0"/>
                <a:ea typeface="Aptos" pitchFamily="34" charset="-122"/>
                <a:cs typeface="Aptos" pitchFamily="34" charset="-120"/>
              </a:rPr>
              <a:t>bloque válido</a:t>
            </a:r>
            <a:endParaRPr lang="en-US" sz="1400" dirty="0"/>
          </a:p>
        </p:txBody>
      </p:sp>
      <p:sp>
        <p:nvSpPr>
          <p:cNvPr id="16" name="Text 13"/>
          <p:cNvSpPr txBox="1"/>
          <p:nvPr/>
        </p:nvSpPr>
        <p:spPr>
          <a:xfrm>
            <a:off x="914400" y="3054096"/>
            <a:ext cx="2962656" cy="237744"/>
          </a:xfrm>
          <a:prstGeom prst="rect">
            <a:avLst/>
          </a:prstGeom>
          <a:noFill/>
          <a:ln/>
        </p:spPr>
        <p:txBody>
          <a:bodyPr wrap="square" lIns="0" tIns="0" rIns="0" bIns="0" rtlCol="0" anchor="t"/>
          <a:lstStyle/>
          <a:p>
            <a:pPr algn="l" indent="0" marL="0">
              <a:buNone/>
            </a:pPr>
            <a:r>
              <a:rPr lang="en-US" sz="1240" i="1" dirty="0">
                <a:solidFill>
                  <a:srgbClr val="102A43"/>
                </a:solidFill>
                <a:latin typeface="Aptos" pitchFamily="34" charset="0"/>
                <a:ea typeface="Aptos" pitchFamily="34" charset="-122"/>
                <a:cs typeface="Aptos" pitchFamily="34" charset="-120"/>
              </a:rPr>
              <a:t>¿Pertenece a la jornada?</a:t>
            </a:r>
            <a:endParaRPr lang="en-US" sz="1240" dirty="0"/>
          </a:p>
        </p:txBody>
      </p:sp>
      <p:sp>
        <p:nvSpPr>
          <p:cNvPr id="17" name="Text 14"/>
          <p:cNvSpPr txBox="1"/>
          <p:nvPr/>
        </p:nvSpPr>
        <p:spPr>
          <a:xfrm>
            <a:off x="914400" y="3328416"/>
            <a:ext cx="2962656" cy="475488"/>
          </a:xfrm>
          <a:prstGeom prst="rect">
            <a:avLst/>
          </a:prstGeom>
          <a:noFill/>
          <a:ln/>
        </p:spPr>
        <p:txBody>
          <a:bodyPr wrap="square" lIns="0" tIns="0" rIns="0" bIns="0" rtlCol="0" anchor="t"/>
          <a:lstStyle/>
          <a:p>
            <a:pPr algn="l" indent="0" marL="0">
              <a:lnSpc>
                <a:spcPct val="114000"/>
              </a:lnSpc>
              <a:buNone/>
            </a:pPr>
            <a:r>
              <a:rPr lang="en-US" sz="1180" dirty="0">
                <a:solidFill>
                  <a:srgbClr val="243B53"/>
                </a:solidFill>
                <a:latin typeface="Aptos" pitchFamily="34" charset="0"/>
                <a:ea typeface="Aptos" pitchFamily="34" charset="-122"/>
                <a:cs typeface="Aptos" pitchFamily="34" charset="-120"/>
              </a:rPr>
              <a:t>El entero está entre 1 y 8, incluidos.</a:t>
            </a:r>
            <a:endParaRPr lang="en-US" sz="1180" dirty="0"/>
          </a:p>
        </p:txBody>
      </p:sp>
      <p:sp>
        <p:nvSpPr>
          <p:cNvPr id="18" name="Shape 15"/>
          <p:cNvSpPr/>
          <p:nvPr/>
        </p:nvSpPr>
        <p:spPr>
          <a:xfrm>
            <a:off x="4379976" y="2322576"/>
            <a:ext cx="3465576" cy="1572768"/>
          </a:xfrm>
          <a:prstGeom prst="rect">
            <a:avLst/>
          </a:prstGeom>
          <a:solidFill>
            <a:srgbClr val="F2E7D9"/>
          </a:solidFill>
          <a:ln w="12700">
            <a:solidFill>
              <a:srgbClr val="F2E7D9"/>
            </a:solidFill>
            <a:prstDash val="solid"/>
          </a:ln>
        </p:spPr>
      </p:sp>
      <p:sp>
        <p:nvSpPr>
          <p:cNvPr id="19" name="Shape 16"/>
          <p:cNvSpPr/>
          <p:nvPr/>
        </p:nvSpPr>
        <p:spPr>
          <a:xfrm>
            <a:off x="4379976" y="2322576"/>
            <a:ext cx="3465576" cy="64008"/>
          </a:xfrm>
          <a:prstGeom prst="rect">
            <a:avLst/>
          </a:prstGeom>
          <a:solidFill>
            <a:srgbClr val="8A6A12"/>
          </a:solidFill>
          <a:ln w="12700">
            <a:solidFill>
              <a:srgbClr val="8A6A12"/>
            </a:solidFill>
            <a:prstDash val="solid"/>
          </a:ln>
        </p:spPr>
      </p:sp>
      <p:sp>
        <p:nvSpPr>
          <p:cNvPr id="20" name="Shape 17"/>
          <p:cNvSpPr/>
          <p:nvPr/>
        </p:nvSpPr>
        <p:spPr>
          <a:xfrm>
            <a:off x="4636008" y="2487168"/>
            <a:ext cx="457200" cy="457200"/>
          </a:xfrm>
          <a:prstGeom prst="rect">
            <a:avLst/>
          </a:prstGeom>
          <a:solidFill>
            <a:srgbClr val="8A6A12"/>
          </a:solidFill>
          <a:ln w="12700">
            <a:solidFill>
              <a:srgbClr val="8A6A12"/>
            </a:solidFill>
            <a:prstDash val="solid"/>
          </a:ln>
        </p:spPr>
      </p:sp>
      <p:sp>
        <p:nvSpPr>
          <p:cNvPr id="21" name="Text 18"/>
          <p:cNvSpPr txBox="1"/>
          <p:nvPr/>
        </p:nvSpPr>
        <p:spPr>
          <a:xfrm>
            <a:off x="4636008" y="2505456"/>
            <a:ext cx="457200" cy="420624"/>
          </a:xfrm>
          <a:prstGeom prst="rect">
            <a:avLst/>
          </a:prstGeom>
          <a:noFill/>
          <a:ln/>
        </p:spPr>
        <p:txBody>
          <a:bodyPr wrap="square" lIns="0" tIns="0" rIns="0" bIns="0" rtlCol="0" anchor="ctr"/>
          <a:lstStyle/>
          <a:p>
            <a:pPr algn="ctr" indent="0" marL="0">
              <a:buNone/>
            </a:pPr>
            <a:r>
              <a:rPr lang="en-US" sz="2200" b="1" dirty="0">
                <a:solidFill>
                  <a:srgbClr val="FFFFFF"/>
                </a:solidFill>
                <a:latin typeface="Aptos Display" pitchFamily="34" charset="0"/>
                <a:ea typeface="Aptos Display" pitchFamily="34" charset="-122"/>
                <a:cs typeface="Aptos Display" pitchFamily="34" charset="-120"/>
              </a:rPr>
              <a:t>L</a:t>
            </a:r>
            <a:endParaRPr lang="en-US" sz="2200" dirty="0"/>
          </a:p>
        </p:txBody>
      </p:sp>
      <p:sp>
        <p:nvSpPr>
          <p:cNvPr id="22" name="Text 19"/>
          <p:cNvSpPr txBox="1"/>
          <p:nvPr/>
        </p:nvSpPr>
        <p:spPr>
          <a:xfrm>
            <a:off x="5202936" y="2560320"/>
            <a:ext cx="2377440" cy="256032"/>
          </a:xfrm>
          <a:prstGeom prst="rect">
            <a:avLst/>
          </a:prstGeom>
          <a:noFill/>
          <a:ln/>
        </p:spPr>
        <p:txBody>
          <a:bodyPr wrap="square" lIns="0" tIns="0" rIns="0" bIns="0" rtlCol="0" anchor="t"/>
          <a:lstStyle/>
          <a:p>
            <a:pPr algn="l" indent="0" marL="0">
              <a:buNone/>
            </a:pPr>
            <a:r>
              <a:rPr lang="en-US" sz="1400" b="1" dirty="0">
                <a:solidFill>
                  <a:srgbClr val="243B53"/>
                </a:solidFill>
                <a:latin typeface="Aptos" pitchFamily="34" charset="0"/>
                <a:ea typeface="Aptos" pitchFamily="34" charset="-122"/>
                <a:cs typeface="Aptos" pitchFamily="34" charset="-120"/>
              </a:rPr>
              <a:t>bloque libre</a:t>
            </a:r>
            <a:endParaRPr lang="en-US" sz="1400" dirty="0"/>
          </a:p>
        </p:txBody>
      </p:sp>
      <p:sp>
        <p:nvSpPr>
          <p:cNvPr id="23" name="Text 20"/>
          <p:cNvSpPr txBox="1"/>
          <p:nvPr/>
        </p:nvSpPr>
        <p:spPr>
          <a:xfrm>
            <a:off x="4636008" y="3054096"/>
            <a:ext cx="2962656" cy="237744"/>
          </a:xfrm>
          <a:prstGeom prst="rect">
            <a:avLst/>
          </a:prstGeom>
          <a:noFill/>
          <a:ln/>
        </p:spPr>
        <p:txBody>
          <a:bodyPr wrap="square" lIns="0" tIns="0" rIns="0" bIns="0" rtlCol="0" anchor="t"/>
          <a:lstStyle/>
          <a:p>
            <a:pPr algn="l" indent="0" marL="0">
              <a:buNone/>
            </a:pPr>
            <a:r>
              <a:rPr lang="en-US" sz="1240" i="1" dirty="0">
                <a:solidFill>
                  <a:srgbClr val="8A6A12"/>
                </a:solidFill>
                <a:latin typeface="Aptos" pitchFamily="34" charset="0"/>
                <a:ea typeface="Aptos" pitchFamily="34" charset="-122"/>
                <a:cs typeface="Aptos" pitchFamily="34" charset="-120"/>
              </a:rPr>
              <a:t>¿Está disponible?</a:t>
            </a:r>
            <a:endParaRPr lang="en-US" sz="1240" dirty="0"/>
          </a:p>
        </p:txBody>
      </p:sp>
      <p:sp>
        <p:nvSpPr>
          <p:cNvPr id="24" name="Text 21"/>
          <p:cNvSpPr txBox="1"/>
          <p:nvPr/>
        </p:nvSpPr>
        <p:spPr>
          <a:xfrm>
            <a:off x="4636008" y="3328416"/>
            <a:ext cx="2962656" cy="475488"/>
          </a:xfrm>
          <a:prstGeom prst="rect">
            <a:avLst/>
          </a:prstGeom>
          <a:noFill/>
          <a:ln/>
        </p:spPr>
        <p:txBody>
          <a:bodyPr wrap="square" lIns="0" tIns="0" rIns="0" bIns="0" rtlCol="0" anchor="t"/>
          <a:lstStyle/>
          <a:p>
            <a:pPr algn="l" indent="0" marL="0">
              <a:lnSpc>
                <a:spcPct val="114000"/>
              </a:lnSpc>
              <a:buNone/>
            </a:pPr>
            <a:r>
              <a:rPr lang="en-US" sz="1180" dirty="0">
                <a:solidFill>
                  <a:srgbClr val="243B53"/>
                </a:solidFill>
                <a:latin typeface="Aptos" pitchFamily="34" charset="0"/>
                <a:ea typeface="Aptos" pitchFamily="34" charset="-122"/>
                <a:cs typeface="Aptos" pitchFamily="34" charset="-120"/>
              </a:rPr>
              <a:t>El argumento «tomado» es False. L es su negación.</a:t>
            </a:r>
            <a:endParaRPr lang="en-US" sz="1180" dirty="0"/>
          </a:p>
        </p:txBody>
      </p:sp>
      <p:sp>
        <p:nvSpPr>
          <p:cNvPr id="25" name="Shape 22"/>
          <p:cNvSpPr/>
          <p:nvPr/>
        </p:nvSpPr>
        <p:spPr>
          <a:xfrm>
            <a:off x="8101584" y="2322576"/>
            <a:ext cx="3465576" cy="1572768"/>
          </a:xfrm>
          <a:prstGeom prst="rect">
            <a:avLst/>
          </a:prstGeom>
          <a:solidFill>
            <a:srgbClr val="E9F6EE"/>
          </a:solidFill>
          <a:ln w="12700">
            <a:solidFill>
              <a:srgbClr val="E9F6EE"/>
            </a:solidFill>
            <a:prstDash val="solid"/>
          </a:ln>
        </p:spPr>
      </p:sp>
      <p:sp>
        <p:nvSpPr>
          <p:cNvPr id="26" name="Shape 23"/>
          <p:cNvSpPr/>
          <p:nvPr/>
        </p:nvSpPr>
        <p:spPr>
          <a:xfrm>
            <a:off x="8101584" y="2322576"/>
            <a:ext cx="3465576" cy="64008"/>
          </a:xfrm>
          <a:prstGeom prst="rect">
            <a:avLst/>
          </a:prstGeom>
          <a:solidFill>
            <a:srgbClr val="2E7D4F"/>
          </a:solidFill>
          <a:ln w="12700">
            <a:solidFill>
              <a:srgbClr val="2E7D4F"/>
            </a:solidFill>
            <a:prstDash val="solid"/>
          </a:ln>
        </p:spPr>
      </p:sp>
      <p:sp>
        <p:nvSpPr>
          <p:cNvPr id="27" name="Shape 24"/>
          <p:cNvSpPr/>
          <p:nvPr/>
        </p:nvSpPr>
        <p:spPr>
          <a:xfrm>
            <a:off x="8357616" y="2487168"/>
            <a:ext cx="457200" cy="457200"/>
          </a:xfrm>
          <a:prstGeom prst="rect">
            <a:avLst/>
          </a:prstGeom>
          <a:solidFill>
            <a:srgbClr val="2E7D4F"/>
          </a:solidFill>
          <a:ln w="12700">
            <a:solidFill>
              <a:srgbClr val="2E7D4F"/>
            </a:solidFill>
            <a:prstDash val="solid"/>
          </a:ln>
        </p:spPr>
      </p:sp>
      <p:sp>
        <p:nvSpPr>
          <p:cNvPr id="28" name="Text 25"/>
          <p:cNvSpPr txBox="1"/>
          <p:nvPr/>
        </p:nvSpPr>
        <p:spPr>
          <a:xfrm>
            <a:off x="8357616" y="2505456"/>
            <a:ext cx="457200" cy="420624"/>
          </a:xfrm>
          <a:prstGeom prst="rect">
            <a:avLst/>
          </a:prstGeom>
          <a:noFill/>
          <a:ln/>
        </p:spPr>
        <p:txBody>
          <a:bodyPr wrap="square" lIns="0" tIns="0" rIns="0" bIns="0" rtlCol="0" anchor="ctr"/>
          <a:lstStyle/>
          <a:p>
            <a:pPr algn="ctr" indent="0" marL="0">
              <a:buNone/>
            </a:pPr>
            <a:r>
              <a:rPr lang="en-US" sz="2200" b="1" dirty="0">
                <a:solidFill>
                  <a:srgbClr val="FFFFFF"/>
                </a:solidFill>
                <a:latin typeface="Aptos Display" pitchFamily="34" charset="0"/>
                <a:ea typeface="Aptos Display" pitchFamily="34" charset="-122"/>
                <a:cs typeface="Aptos Display" pitchFamily="34" charset="-120"/>
              </a:rPr>
              <a:t>C</a:t>
            </a:r>
            <a:endParaRPr lang="en-US" sz="2200" dirty="0"/>
          </a:p>
        </p:txBody>
      </p:sp>
      <p:sp>
        <p:nvSpPr>
          <p:cNvPr id="29" name="Text 26"/>
          <p:cNvSpPr txBox="1"/>
          <p:nvPr/>
        </p:nvSpPr>
        <p:spPr>
          <a:xfrm>
            <a:off x="8924544" y="2560320"/>
            <a:ext cx="2377440" cy="256032"/>
          </a:xfrm>
          <a:prstGeom prst="rect">
            <a:avLst/>
          </a:prstGeom>
          <a:noFill/>
          <a:ln/>
        </p:spPr>
        <p:txBody>
          <a:bodyPr wrap="square" lIns="0" tIns="0" rIns="0" bIns="0" rtlCol="0" anchor="t"/>
          <a:lstStyle/>
          <a:p>
            <a:pPr algn="l" indent="0" marL="0">
              <a:buNone/>
            </a:pPr>
            <a:r>
              <a:rPr lang="en-US" sz="1400" b="1" dirty="0">
                <a:solidFill>
                  <a:srgbClr val="243B53"/>
                </a:solidFill>
                <a:latin typeface="Aptos" pitchFamily="34" charset="0"/>
                <a:ea typeface="Aptos" pitchFamily="34" charset="-122"/>
                <a:cs typeface="Aptos" pitchFamily="34" charset="-120"/>
              </a:rPr>
              <a:t>cupo semanal</a:t>
            </a:r>
            <a:endParaRPr lang="en-US" sz="1400" dirty="0"/>
          </a:p>
        </p:txBody>
      </p:sp>
      <p:sp>
        <p:nvSpPr>
          <p:cNvPr id="30" name="Text 27"/>
          <p:cNvSpPr txBox="1"/>
          <p:nvPr/>
        </p:nvSpPr>
        <p:spPr>
          <a:xfrm>
            <a:off x="8357616" y="3054096"/>
            <a:ext cx="2962656" cy="237744"/>
          </a:xfrm>
          <a:prstGeom prst="rect">
            <a:avLst/>
          </a:prstGeom>
          <a:noFill/>
          <a:ln/>
        </p:spPr>
        <p:txBody>
          <a:bodyPr wrap="square" lIns="0" tIns="0" rIns="0" bIns="0" rtlCol="0" anchor="t"/>
          <a:lstStyle/>
          <a:p>
            <a:pPr algn="l" indent="0" marL="0">
              <a:buNone/>
            </a:pPr>
            <a:r>
              <a:rPr lang="en-US" sz="1240" i="1" dirty="0">
                <a:solidFill>
                  <a:srgbClr val="2E7D4F"/>
                </a:solidFill>
                <a:latin typeface="Aptos" pitchFamily="34" charset="0"/>
                <a:ea typeface="Aptos" pitchFamily="34" charset="-122"/>
                <a:cs typeface="Aptos" pitchFamily="34" charset="-120"/>
              </a:rPr>
              <a:t>¿Puede agregar una reserva?</a:t>
            </a:r>
            <a:endParaRPr lang="en-US" sz="1240" dirty="0"/>
          </a:p>
        </p:txBody>
      </p:sp>
      <p:sp>
        <p:nvSpPr>
          <p:cNvPr id="31" name="Text 28"/>
          <p:cNvSpPr txBox="1"/>
          <p:nvPr/>
        </p:nvSpPr>
        <p:spPr>
          <a:xfrm>
            <a:off x="8357616" y="3328416"/>
            <a:ext cx="2962656" cy="475488"/>
          </a:xfrm>
          <a:prstGeom prst="rect">
            <a:avLst/>
          </a:prstGeom>
          <a:noFill/>
          <a:ln/>
        </p:spPr>
        <p:txBody>
          <a:bodyPr wrap="square" lIns="0" tIns="0" rIns="0" bIns="0" rtlCol="0" anchor="t"/>
          <a:lstStyle/>
          <a:p>
            <a:pPr algn="l" indent="0" marL="0">
              <a:lnSpc>
                <a:spcPct val="114000"/>
              </a:lnSpc>
              <a:buNone/>
            </a:pPr>
            <a:r>
              <a:rPr lang="en-US" sz="1180" dirty="0">
                <a:solidFill>
                  <a:srgbClr val="243B53"/>
                </a:solidFill>
                <a:latin typeface="Aptos" pitchFamily="34" charset="0"/>
                <a:ea typeface="Aptos" pitchFamily="34" charset="-122"/>
                <a:cs typeface="Aptos" pitchFamily="34" charset="-120"/>
              </a:rPr>
              <a:t>Tiene menos de tres reservas activas.</a:t>
            </a:r>
            <a:endParaRPr lang="en-US" sz="1180" dirty="0"/>
          </a:p>
        </p:txBody>
      </p:sp>
      <p:sp>
        <p:nvSpPr>
          <p:cNvPr id="32" name="Shape 29"/>
          <p:cNvSpPr/>
          <p:nvPr/>
        </p:nvSpPr>
        <p:spPr>
          <a:xfrm>
            <a:off x="658368" y="4041648"/>
            <a:ext cx="10874959" cy="877824"/>
          </a:xfrm>
          <a:prstGeom prst="rect">
            <a:avLst/>
          </a:prstGeom>
          <a:solidFill>
            <a:srgbClr val="F8E4E5"/>
          </a:solidFill>
          <a:ln w="12700">
            <a:solidFill>
              <a:srgbClr val="F8E4E5"/>
            </a:solidFill>
            <a:prstDash val="solid"/>
          </a:ln>
        </p:spPr>
      </p:sp>
      <p:sp>
        <p:nvSpPr>
          <p:cNvPr id="33" name="Shape 30"/>
          <p:cNvSpPr/>
          <p:nvPr/>
        </p:nvSpPr>
        <p:spPr>
          <a:xfrm>
            <a:off x="658368" y="4041648"/>
            <a:ext cx="64008" cy="877824"/>
          </a:xfrm>
          <a:prstGeom prst="rect">
            <a:avLst/>
          </a:prstGeom>
          <a:solidFill>
            <a:srgbClr val="B3181E"/>
          </a:solidFill>
          <a:ln w="12700">
            <a:solidFill>
              <a:srgbClr val="B3181E"/>
            </a:solidFill>
            <a:prstDash val="solid"/>
          </a:ln>
        </p:spPr>
      </p:sp>
      <p:sp>
        <p:nvSpPr>
          <p:cNvPr id="34" name="Text 31"/>
          <p:cNvSpPr txBox="1"/>
          <p:nvPr/>
        </p:nvSpPr>
        <p:spPr>
          <a:xfrm>
            <a:off x="987552" y="4206240"/>
            <a:ext cx="54864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CUIDADO CON LA SEGUNDA CONDICIÓN</a:t>
            </a:r>
            <a:endParaRPr lang="en-US" sz="960" dirty="0"/>
          </a:p>
        </p:txBody>
      </p:sp>
      <p:sp>
        <p:nvSpPr>
          <p:cNvPr id="35" name="Text 32"/>
          <p:cNvSpPr txBox="1"/>
          <p:nvPr/>
        </p:nvSpPr>
        <p:spPr>
          <a:xfrm>
            <a:off x="987552" y="4443984"/>
            <a:ext cx="10216591" cy="420624"/>
          </a:xfrm>
          <a:prstGeom prst="rect">
            <a:avLst/>
          </a:prstGeom>
          <a:noFill/>
          <a:ln/>
        </p:spPr>
        <p:txBody>
          <a:bodyPr wrap="square" lIns="0" tIns="0" rIns="0" bIns="0" rtlCol="0" anchor="t"/>
          <a:lstStyle/>
          <a:p>
            <a:pPr algn="l" indent="0" marL="0">
              <a:lnSpc>
                <a:spcPct val="114000"/>
              </a:lnSpc>
              <a:buNone/>
            </a:pPr>
            <a:r>
              <a:rPr lang="en-US" sz="1260" dirty="0">
                <a:solidFill>
                  <a:srgbClr val="243B53"/>
                </a:solidFill>
                <a:latin typeface="Aptos" pitchFamily="34" charset="0"/>
                <a:ea typeface="Aptos" pitchFamily="34" charset="-122"/>
                <a:cs typeface="Aptos" pitchFamily="34" charset="-120"/>
              </a:rPr>
              <a:t>«L: bloque libre» NO es el argumento «tomado»: es su negación. Traducir la tabla a código exige conservar esa</a:t>
            </a:r>
            <a:endParaRPr lang="en-US" sz="1260" dirty="0"/>
          </a:p>
          <a:p>
            <a:pPr algn="l" indent="0" marL="0">
              <a:lnSpc>
                <a:spcPct val="114000"/>
              </a:lnSpc>
              <a:buNone/>
            </a:pPr>
            <a:r>
              <a:rPr lang="en-US" sz="1260" dirty="0">
                <a:solidFill>
                  <a:srgbClr val="243B53"/>
                </a:solidFill>
                <a:latin typeface="Aptos" pitchFamily="34" charset="0"/>
                <a:ea typeface="Aptos" pitchFamily="34" charset="-122"/>
                <a:cs typeface="Aptos" pitchFamily="34" charset="-120"/>
              </a:rPr>
              <a:t>diferencia, porque L verdadera significa tomado=False.</a:t>
            </a:r>
            <a:endParaRPr lang="en-US" sz="1260" dirty="0"/>
          </a:p>
        </p:txBody>
      </p:sp>
      <p:sp>
        <p:nvSpPr>
          <p:cNvPr id="36" name="Shape 33"/>
          <p:cNvSpPr/>
          <p:nvPr/>
        </p:nvSpPr>
        <p:spPr>
          <a:xfrm>
            <a:off x="658368" y="5065776"/>
            <a:ext cx="10874959" cy="694944"/>
          </a:xfrm>
          <a:prstGeom prst="rect">
            <a:avLst/>
          </a:prstGeom>
          <a:solidFill>
            <a:srgbClr val="102A43"/>
          </a:solidFill>
          <a:ln w="12700">
            <a:solidFill>
              <a:srgbClr val="102A43"/>
            </a:solidFill>
            <a:prstDash val="solid"/>
          </a:ln>
        </p:spPr>
      </p:sp>
      <p:sp>
        <p:nvSpPr>
          <p:cNvPr id="37" name="Text 34"/>
          <p:cNvSpPr txBox="1"/>
          <p:nvPr/>
        </p:nvSpPr>
        <p:spPr>
          <a:xfrm>
            <a:off x="969264" y="5102352"/>
            <a:ext cx="10253167" cy="621792"/>
          </a:xfrm>
          <a:prstGeom prst="rect">
            <a:avLst/>
          </a:prstGeom>
          <a:noFill/>
          <a:ln/>
        </p:spPr>
        <p:txBody>
          <a:bodyPr wrap="square" lIns="0" tIns="0" rIns="0" bIns="0" rtlCol="0" anchor="ctr"/>
          <a:lstStyle/>
          <a:p>
            <a:pPr algn="ctr" indent="0" marL="0">
              <a:buNone/>
            </a:pPr>
            <a:r>
              <a:rPr lang="en-US" sz="1800" b="1" dirty="0">
                <a:solidFill>
                  <a:srgbClr val="FFFFFF"/>
                </a:solidFill>
                <a:latin typeface="Aptos Display" pitchFamily="34" charset="0"/>
                <a:ea typeface="Aptos Display" pitchFamily="34" charset="-122"/>
                <a:cs typeface="Aptos Display" pitchFamily="34" charset="-120"/>
              </a:rPr>
              <a:t>Tres condiciones que pueden ser verdaderas o falsas producen 2 × 2 × 2 = 8 combinaciones.</a:t>
            </a:r>
            <a:endParaRPr lang="en-US" sz="1800" dirty="0"/>
          </a:p>
        </p:txBody>
      </p:sp>
      <p:sp>
        <p:nvSpPr>
          <p:cNvPr id="38" name="Shape 35"/>
          <p:cNvSpPr/>
          <p:nvPr/>
        </p:nvSpPr>
        <p:spPr>
          <a:xfrm>
            <a:off x="658368" y="5888736"/>
            <a:ext cx="10874959" cy="475488"/>
          </a:xfrm>
          <a:prstGeom prst="rect">
            <a:avLst/>
          </a:prstGeom>
          <a:solidFill>
            <a:srgbClr val="102A43"/>
          </a:solidFill>
          <a:ln w="12700">
            <a:solidFill>
              <a:srgbClr val="102A43"/>
            </a:solidFill>
            <a:prstDash val="solid"/>
          </a:ln>
        </p:spPr>
      </p:sp>
      <p:sp>
        <p:nvSpPr>
          <p:cNvPr id="39" name="Text 36"/>
          <p:cNvSpPr txBox="1"/>
          <p:nvPr/>
        </p:nvSpPr>
        <p:spPr>
          <a:xfrm>
            <a:off x="969264" y="5925312"/>
            <a:ext cx="10253167" cy="402336"/>
          </a:xfrm>
          <a:prstGeom prst="rect">
            <a:avLst/>
          </a:prstGeom>
          <a:noFill/>
          <a:ln/>
        </p:spPr>
        <p:txBody>
          <a:bodyPr wrap="square" lIns="0" tIns="0" rIns="0" bIns="0" rtlCol="0" anchor="ctr"/>
          <a:lstStyle/>
          <a:p>
            <a:pPr algn="ctr" indent="0" marL="0">
              <a:lnSpc>
                <a:spcPct val="110000"/>
              </a:lnSpc>
              <a:buNone/>
            </a:pPr>
            <a:r>
              <a:rPr lang="en-US" sz="1320" b="1" dirty="0">
                <a:solidFill>
                  <a:srgbClr val="FFFFFF"/>
                </a:solidFill>
                <a:latin typeface="Aptos" pitchFamily="34" charset="0"/>
                <a:ea typeface="Aptos" pitchFamily="34" charset="-122"/>
                <a:cs typeface="Aptos" pitchFamily="34" charset="-120"/>
              </a:rPr>
              <a:t>Probar los bordes de cada parámetro por separado no dice qué pasa cuando las tres coinciden.</a:t>
            </a:r>
            <a:endParaRPr lang="en-US" sz="132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61</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LA TABLA COMPLETA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Las ocho combinaciones, y qué se espera de cada una</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Cada columna es una regla: una combinación de condiciones y el resultado que debe producir. T es verdadero, F es falso.</a:t>
            </a:r>
            <a:endParaRPr lang="en-US" sz="1450" dirty="0"/>
          </a:p>
        </p:txBody>
      </p:sp>
      <p:sp>
        <p:nvSpPr>
          <p:cNvPr id="11" name="Shape 8"/>
          <p:cNvSpPr/>
          <p:nvPr/>
        </p:nvSpPr>
        <p:spPr>
          <a:xfrm>
            <a:off x="658368" y="2377440"/>
            <a:ext cx="10874959" cy="402336"/>
          </a:xfrm>
          <a:prstGeom prst="rect">
            <a:avLst/>
          </a:prstGeom>
          <a:solidFill>
            <a:srgbClr val="102A43"/>
          </a:solidFill>
          <a:ln w="12700">
            <a:solidFill>
              <a:srgbClr val="102A43"/>
            </a:solidFill>
            <a:prstDash val="solid"/>
          </a:ln>
        </p:spPr>
      </p:sp>
      <p:sp>
        <p:nvSpPr>
          <p:cNvPr id="12" name="Text 9"/>
          <p:cNvSpPr txBox="1"/>
          <p:nvPr/>
        </p:nvSpPr>
        <p:spPr>
          <a:xfrm>
            <a:off x="877824" y="2395728"/>
            <a:ext cx="2651760" cy="365760"/>
          </a:xfrm>
          <a:prstGeom prst="rect">
            <a:avLst/>
          </a:prstGeom>
          <a:noFill/>
          <a:ln/>
        </p:spPr>
        <p:txBody>
          <a:bodyPr wrap="square" lIns="0" tIns="0" rIns="0" bIns="0" rtlCol="0" anchor="ctr"/>
          <a:lstStyle/>
          <a:p>
            <a:pPr algn="l" indent="0" marL="0">
              <a:buNone/>
            </a:pPr>
            <a:r>
              <a:rPr lang="en-US" sz="920" b="1" spc="100" kern="0" dirty="0">
                <a:solidFill>
                  <a:srgbClr val="FFFFFF"/>
                </a:solidFill>
                <a:latin typeface="Aptos" pitchFamily="34" charset="0"/>
                <a:ea typeface="Aptos" pitchFamily="34" charset="-122"/>
                <a:cs typeface="Aptos" pitchFamily="34" charset="-120"/>
              </a:rPr>
              <a:t>CONDICIÓN / RESULTADO</a:t>
            </a:r>
            <a:endParaRPr lang="en-US" sz="920" dirty="0"/>
          </a:p>
        </p:txBody>
      </p:sp>
      <p:sp>
        <p:nvSpPr>
          <p:cNvPr id="13" name="Text 10"/>
          <p:cNvSpPr txBox="1"/>
          <p:nvPr/>
        </p:nvSpPr>
        <p:spPr>
          <a:xfrm>
            <a:off x="3584448" y="2395728"/>
            <a:ext cx="99361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T1</a:t>
            </a:r>
            <a:endParaRPr lang="en-US" sz="1100" dirty="0"/>
          </a:p>
        </p:txBody>
      </p:sp>
      <p:sp>
        <p:nvSpPr>
          <p:cNvPr id="14" name="Text 11"/>
          <p:cNvSpPr txBox="1"/>
          <p:nvPr/>
        </p:nvSpPr>
        <p:spPr>
          <a:xfrm>
            <a:off x="4578058" y="2395728"/>
            <a:ext cx="99361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T2</a:t>
            </a:r>
            <a:endParaRPr lang="en-US" sz="1100" dirty="0"/>
          </a:p>
        </p:txBody>
      </p:sp>
      <p:sp>
        <p:nvSpPr>
          <p:cNvPr id="15" name="Text 12"/>
          <p:cNvSpPr txBox="1"/>
          <p:nvPr/>
        </p:nvSpPr>
        <p:spPr>
          <a:xfrm>
            <a:off x="5571668" y="2395728"/>
            <a:ext cx="99361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T3</a:t>
            </a:r>
            <a:endParaRPr lang="en-US" sz="1100" dirty="0"/>
          </a:p>
        </p:txBody>
      </p:sp>
      <p:sp>
        <p:nvSpPr>
          <p:cNvPr id="16" name="Text 13"/>
          <p:cNvSpPr txBox="1"/>
          <p:nvPr/>
        </p:nvSpPr>
        <p:spPr>
          <a:xfrm>
            <a:off x="6565278" y="2395728"/>
            <a:ext cx="99361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T4</a:t>
            </a:r>
            <a:endParaRPr lang="en-US" sz="1100" dirty="0"/>
          </a:p>
        </p:txBody>
      </p:sp>
      <p:sp>
        <p:nvSpPr>
          <p:cNvPr id="17" name="Text 14"/>
          <p:cNvSpPr txBox="1"/>
          <p:nvPr/>
        </p:nvSpPr>
        <p:spPr>
          <a:xfrm>
            <a:off x="7558888" y="2395728"/>
            <a:ext cx="99361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T5</a:t>
            </a:r>
            <a:endParaRPr lang="en-US" sz="1100" dirty="0"/>
          </a:p>
        </p:txBody>
      </p:sp>
      <p:sp>
        <p:nvSpPr>
          <p:cNvPr id="18" name="Text 15"/>
          <p:cNvSpPr txBox="1"/>
          <p:nvPr/>
        </p:nvSpPr>
        <p:spPr>
          <a:xfrm>
            <a:off x="8552498" y="2395728"/>
            <a:ext cx="99361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T6</a:t>
            </a:r>
            <a:endParaRPr lang="en-US" sz="1100" dirty="0"/>
          </a:p>
        </p:txBody>
      </p:sp>
      <p:sp>
        <p:nvSpPr>
          <p:cNvPr id="19" name="Text 16"/>
          <p:cNvSpPr txBox="1"/>
          <p:nvPr/>
        </p:nvSpPr>
        <p:spPr>
          <a:xfrm>
            <a:off x="9546107" y="2395728"/>
            <a:ext cx="99361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T7</a:t>
            </a:r>
            <a:endParaRPr lang="en-US" sz="1100" dirty="0"/>
          </a:p>
        </p:txBody>
      </p:sp>
      <p:sp>
        <p:nvSpPr>
          <p:cNvPr id="20" name="Text 17"/>
          <p:cNvSpPr txBox="1"/>
          <p:nvPr/>
        </p:nvSpPr>
        <p:spPr>
          <a:xfrm>
            <a:off x="10539717" y="2395728"/>
            <a:ext cx="99361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T8</a:t>
            </a:r>
            <a:endParaRPr lang="en-US" sz="1100" dirty="0"/>
          </a:p>
        </p:txBody>
      </p:sp>
      <p:sp>
        <p:nvSpPr>
          <p:cNvPr id="21" name="Shape 18"/>
          <p:cNvSpPr/>
          <p:nvPr/>
        </p:nvSpPr>
        <p:spPr>
          <a:xfrm>
            <a:off x="658368" y="2834640"/>
            <a:ext cx="10874959" cy="420624"/>
          </a:xfrm>
          <a:prstGeom prst="rect">
            <a:avLst/>
          </a:prstGeom>
          <a:solidFill>
            <a:srgbClr val="FFFFFF"/>
          </a:solidFill>
          <a:ln w="12700">
            <a:solidFill>
              <a:srgbClr val="FFFFFF"/>
            </a:solidFill>
            <a:prstDash val="solid"/>
          </a:ln>
        </p:spPr>
      </p:sp>
      <p:sp>
        <p:nvSpPr>
          <p:cNvPr id="22" name="Text 19"/>
          <p:cNvSpPr txBox="1"/>
          <p:nvPr/>
        </p:nvSpPr>
        <p:spPr>
          <a:xfrm>
            <a:off x="877824" y="2852928"/>
            <a:ext cx="2651760" cy="384048"/>
          </a:xfrm>
          <a:prstGeom prst="rect">
            <a:avLst/>
          </a:prstGeom>
          <a:noFill/>
          <a:ln/>
        </p:spPr>
        <p:txBody>
          <a:bodyPr wrap="square" lIns="0" tIns="0" rIns="0" bIns="0" rtlCol="0" anchor="ctr"/>
          <a:lstStyle/>
          <a:p>
            <a:pPr algn="l" indent="0" marL="0">
              <a:buNone/>
            </a:pPr>
            <a:r>
              <a:rPr lang="en-US" sz="1220" dirty="0">
                <a:solidFill>
                  <a:srgbClr val="243B53"/>
                </a:solidFill>
                <a:latin typeface="Aptos" pitchFamily="34" charset="0"/>
                <a:ea typeface="Aptos" pitchFamily="34" charset="-122"/>
                <a:cs typeface="Aptos" pitchFamily="34" charset="-120"/>
              </a:rPr>
              <a:t>V: bloque válido</a:t>
            </a:r>
            <a:endParaRPr lang="en-US" sz="1220" dirty="0"/>
          </a:p>
        </p:txBody>
      </p:sp>
      <p:sp>
        <p:nvSpPr>
          <p:cNvPr id="23" name="Text 20"/>
          <p:cNvSpPr txBox="1"/>
          <p:nvPr/>
        </p:nvSpPr>
        <p:spPr>
          <a:xfrm>
            <a:off x="3584448" y="2852928"/>
            <a:ext cx="993610" cy="384048"/>
          </a:xfrm>
          <a:prstGeom prst="rect">
            <a:avLst/>
          </a:prstGeom>
          <a:noFill/>
          <a:ln/>
        </p:spPr>
        <p:txBody>
          <a:bodyPr wrap="square" lIns="0" tIns="0" rIns="0" bIns="0" rtlCol="0" anchor="ctr"/>
          <a:lstStyle/>
          <a:p>
            <a:pPr algn="ctr" indent="0" marL="0">
              <a:buNone/>
            </a:pPr>
            <a:r>
              <a:rPr lang="en-US" sz="1300" b="1" dirty="0">
                <a:solidFill>
                  <a:srgbClr val="2E7D4F"/>
                </a:solidFill>
                <a:latin typeface="Consolas" pitchFamily="34" charset="0"/>
                <a:ea typeface="Consolas" pitchFamily="34" charset="-122"/>
                <a:cs typeface="Consolas" pitchFamily="34" charset="-120"/>
              </a:rPr>
              <a:t>T</a:t>
            </a:r>
            <a:endParaRPr lang="en-US" sz="1300" dirty="0"/>
          </a:p>
        </p:txBody>
      </p:sp>
      <p:sp>
        <p:nvSpPr>
          <p:cNvPr id="24" name="Text 21"/>
          <p:cNvSpPr txBox="1"/>
          <p:nvPr/>
        </p:nvSpPr>
        <p:spPr>
          <a:xfrm>
            <a:off x="4578058" y="2852928"/>
            <a:ext cx="993610" cy="384048"/>
          </a:xfrm>
          <a:prstGeom prst="rect">
            <a:avLst/>
          </a:prstGeom>
          <a:noFill/>
          <a:ln/>
        </p:spPr>
        <p:txBody>
          <a:bodyPr wrap="square" lIns="0" tIns="0" rIns="0" bIns="0" rtlCol="0" anchor="ctr"/>
          <a:lstStyle/>
          <a:p>
            <a:pPr algn="ctr" indent="0" marL="0">
              <a:buNone/>
            </a:pPr>
            <a:r>
              <a:rPr lang="en-US" sz="1300" b="1" dirty="0">
                <a:solidFill>
                  <a:srgbClr val="2E7D4F"/>
                </a:solidFill>
                <a:latin typeface="Consolas" pitchFamily="34" charset="0"/>
                <a:ea typeface="Consolas" pitchFamily="34" charset="-122"/>
                <a:cs typeface="Consolas" pitchFamily="34" charset="-120"/>
              </a:rPr>
              <a:t>T</a:t>
            </a:r>
            <a:endParaRPr lang="en-US" sz="1300" dirty="0"/>
          </a:p>
        </p:txBody>
      </p:sp>
      <p:sp>
        <p:nvSpPr>
          <p:cNvPr id="25" name="Text 22"/>
          <p:cNvSpPr txBox="1"/>
          <p:nvPr/>
        </p:nvSpPr>
        <p:spPr>
          <a:xfrm>
            <a:off x="5571668" y="2852928"/>
            <a:ext cx="993610" cy="384048"/>
          </a:xfrm>
          <a:prstGeom prst="rect">
            <a:avLst/>
          </a:prstGeom>
          <a:noFill/>
          <a:ln/>
        </p:spPr>
        <p:txBody>
          <a:bodyPr wrap="square" lIns="0" tIns="0" rIns="0" bIns="0" rtlCol="0" anchor="ctr"/>
          <a:lstStyle/>
          <a:p>
            <a:pPr algn="ctr" indent="0" marL="0">
              <a:buNone/>
            </a:pPr>
            <a:r>
              <a:rPr lang="en-US" sz="1300" b="1" dirty="0">
                <a:solidFill>
                  <a:srgbClr val="2E7D4F"/>
                </a:solidFill>
                <a:latin typeface="Consolas" pitchFamily="34" charset="0"/>
                <a:ea typeface="Consolas" pitchFamily="34" charset="-122"/>
                <a:cs typeface="Consolas" pitchFamily="34" charset="-120"/>
              </a:rPr>
              <a:t>T</a:t>
            </a:r>
            <a:endParaRPr lang="en-US" sz="1300" dirty="0"/>
          </a:p>
        </p:txBody>
      </p:sp>
      <p:sp>
        <p:nvSpPr>
          <p:cNvPr id="26" name="Text 23"/>
          <p:cNvSpPr txBox="1"/>
          <p:nvPr/>
        </p:nvSpPr>
        <p:spPr>
          <a:xfrm>
            <a:off x="6565278" y="2852928"/>
            <a:ext cx="993610" cy="384048"/>
          </a:xfrm>
          <a:prstGeom prst="rect">
            <a:avLst/>
          </a:prstGeom>
          <a:noFill/>
          <a:ln/>
        </p:spPr>
        <p:txBody>
          <a:bodyPr wrap="square" lIns="0" tIns="0" rIns="0" bIns="0" rtlCol="0" anchor="ctr"/>
          <a:lstStyle/>
          <a:p>
            <a:pPr algn="ctr" indent="0" marL="0">
              <a:buNone/>
            </a:pPr>
            <a:r>
              <a:rPr lang="en-US" sz="1300" b="1" dirty="0">
                <a:solidFill>
                  <a:srgbClr val="2E7D4F"/>
                </a:solidFill>
                <a:latin typeface="Consolas" pitchFamily="34" charset="0"/>
                <a:ea typeface="Consolas" pitchFamily="34" charset="-122"/>
                <a:cs typeface="Consolas" pitchFamily="34" charset="-120"/>
              </a:rPr>
              <a:t>T</a:t>
            </a:r>
            <a:endParaRPr lang="en-US" sz="1300" dirty="0"/>
          </a:p>
        </p:txBody>
      </p:sp>
      <p:sp>
        <p:nvSpPr>
          <p:cNvPr id="27" name="Text 24"/>
          <p:cNvSpPr txBox="1"/>
          <p:nvPr/>
        </p:nvSpPr>
        <p:spPr>
          <a:xfrm>
            <a:off x="7558888" y="2852928"/>
            <a:ext cx="993610" cy="384048"/>
          </a:xfrm>
          <a:prstGeom prst="rect">
            <a:avLst/>
          </a:prstGeom>
          <a:noFill/>
          <a:ln/>
        </p:spPr>
        <p:txBody>
          <a:bodyPr wrap="square" lIns="0" tIns="0" rIns="0" bIns="0" rtlCol="0" anchor="ctr"/>
          <a:lstStyle/>
          <a:p>
            <a:pPr algn="ctr" indent="0" marL="0">
              <a:buNone/>
            </a:pPr>
            <a:r>
              <a:rPr lang="en-US" sz="1300" b="1" dirty="0">
                <a:solidFill>
                  <a:srgbClr val="B3181E"/>
                </a:solidFill>
                <a:latin typeface="Consolas" pitchFamily="34" charset="0"/>
                <a:ea typeface="Consolas" pitchFamily="34" charset="-122"/>
                <a:cs typeface="Consolas" pitchFamily="34" charset="-120"/>
              </a:rPr>
              <a:t>F</a:t>
            </a:r>
            <a:endParaRPr lang="en-US" sz="1300" dirty="0"/>
          </a:p>
        </p:txBody>
      </p:sp>
      <p:sp>
        <p:nvSpPr>
          <p:cNvPr id="28" name="Text 25"/>
          <p:cNvSpPr txBox="1"/>
          <p:nvPr/>
        </p:nvSpPr>
        <p:spPr>
          <a:xfrm>
            <a:off x="8552498" y="2852928"/>
            <a:ext cx="993610" cy="384048"/>
          </a:xfrm>
          <a:prstGeom prst="rect">
            <a:avLst/>
          </a:prstGeom>
          <a:noFill/>
          <a:ln/>
        </p:spPr>
        <p:txBody>
          <a:bodyPr wrap="square" lIns="0" tIns="0" rIns="0" bIns="0" rtlCol="0" anchor="ctr"/>
          <a:lstStyle/>
          <a:p>
            <a:pPr algn="ctr" indent="0" marL="0">
              <a:buNone/>
            </a:pPr>
            <a:r>
              <a:rPr lang="en-US" sz="1300" b="1" dirty="0">
                <a:solidFill>
                  <a:srgbClr val="B3181E"/>
                </a:solidFill>
                <a:latin typeface="Consolas" pitchFamily="34" charset="0"/>
                <a:ea typeface="Consolas" pitchFamily="34" charset="-122"/>
                <a:cs typeface="Consolas" pitchFamily="34" charset="-120"/>
              </a:rPr>
              <a:t>F</a:t>
            </a:r>
            <a:endParaRPr lang="en-US" sz="1300" dirty="0"/>
          </a:p>
        </p:txBody>
      </p:sp>
      <p:sp>
        <p:nvSpPr>
          <p:cNvPr id="29" name="Text 26"/>
          <p:cNvSpPr txBox="1"/>
          <p:nvPr/>
        </p:nvSpPr>
        <p:spPr>
          <a:xfrm>
            <a:off x="9546107" y="2852928"/>
            <a:ext cx="993610" cy="384048"/>
          </a:xfrm>
          <a:prstGeom prst="rect">
            <a:avLst/>
          </a:prstGeom>
          <a:noFill/>
          <a:ln/>
        </p:spPr>
        <p:txBody>
          <a:bodyPr wrap="square" lIns="0" tIns="0" rIns="0" bIns="0" rtlCol="0" anchor="ctr"/>
          <a:lstStyle/>
          <a:p>
            <a:pPr algn="ctr" indent="0" marL="0">
              <a:buNone/>
            </a:pPr>
            <a:r>
              <a:rPr lang="en-US" sz="1300" b="1" dirty="0">
                <a:solidFill>
                  <a:srgbClr val="B3181E"/>
                </a:solidFill>
                <a:latin typeface="Consolas" pitchFamily="34" charset="0"/>
                <a:ea typeface="Consolas" pitchFamily="34" charset="-122"/>
                <a:cs typeface="Consolas" pitchFamily="34" charset="-120"/>
              </a:rPr>
              <a:t>F</a:t>
            </a:r>
            <a:endParaRPr lang="en-US" sz="1300" dirty="0"/>
          </a:p>
        </p:txBody>
      </p:sp>
      <p:sp>
        <p:nvSpPr>
          <p:cNvPr id="30" name="Text 27"/>
          <p:cNvSpPr txBox="1"/>
          <p:nvPr/>
        </p:nvSpPr>
        <p:spPr>
          <a:xfrm>
            <a:off x="10539717" y="2852928"/>
            <a:ext cx="993610" cy="384048"/>
          </a:xfrm>
          <a:prstGeom prst="rect">
            <a:avLst/>
          </a:prstGeom>
          <a:noFill/>
          <a:ln/>
        </p:spPr>
        <p:txBody>
          <a:bodyPr wrap="square" lIns="0" tIns="0" rIns="0" bIns="0" rtlCol="0" anchor="ctr"/>
          <a:lstStyle/>
          <a:p>
            <a:pPr algn="ctr" indent="0" marL="0">
              <a:buNone/>
            </a:pPr>
            <a:r>
              <a:rPr lang="en-US" sz="1300" b="1" dirty="0">
                <a:solidFill>
                  <a:srgbClr val="B3181E"/>
                </a:solidFill>
                <a:latin typeface="Consolas" pitchFamily="34" charset="0"/>
                <a:ea typeface="Consolas" pitchFamily="34" charset="-122"/>
                <a:cs typeface="Consolas" pitchFamily="34" charset="-120"/>
              </a:rPr>
              <a:t>F</a:t>
            </a:r>
            <a:endParaRPr lang="en-US" sz="1300" dirty="0"/>
          </a:p>
        </p:txBody>
      </p:sp>
      <p:sp>
        <p:nvSpPr>
          <p:cNvPr id="31" name="Shape 28"/>
          <p:cNvSpPr/>
          <p:nvPr/>
        </p:nvSpPr>
        <p:spPr>
          <a:xfrm>
            <a:off x="658368" y="3310128"/>
            <a:ext cx="10874959" cy="420624"/>
          </a:xfrm>
          <a:prstGeom prst="rect">
            <a:avLst/>
          </a:prstGeom>
          <a:solidFill>
            <a:srgbClr val="EDE6DA"/>
          </a:solidFill>
          <a:ln w="12700">
            <a:solidFill>
              <a:srgbClr val="EDE6DA"/>
            </a:solidFill>
            <a:prstDash val="solid"/>
          </a:ln>
        </p:spPr>
      </p:sp>
      <p:sp>
        <p:nvSpPr>
          <p:cNvPr id="32" name="Text 29"/>
          <p:cNvSpPr txBox="1"/>
          <p:nvPr/>
        </p:nvSpPr>
        <p:spPr>
          <a:xfrm>
            <a:off x="877824" y="3328416"/>
            <a:ext cx="2651760" cy="384048"/>
          </a:xfrm>
          <a:prstGeom prst="rect">
            <a:avLst/>
          </a:prstGeom>
          <a:noFill/>
          <a:ln/>
        </p:spPr>
        <p:txBody>
          <a:bodyPr wrap="square" lIns="0" tIns="0" rIns="0" bIns="0" rtlCol="0" anchor="ctr"/>
          <a:lstStyle/>
          <a:p>
            <a:pPr algn="l" indent="0" marL="0">
              <a:buNone/>
            </a:pPr>
            <a:r>
              <a:rPr lang="en-US" sz="1220" dirty="0">
                <a:solidFill>
                  <a:srgbClr val="243B53"/>
                </a:solidFill>
                <a:latin typeface="Aptos" pitchFamily="34" charset="0"/>
                <a:ea typeface="Aptos" pitchFamily="34" charset="-122"/>
                <a:cs typeface="Aptos" pitchFamily="34" charset="-120"/>
              </a:rPr>
              <a:t>L: bloque libre</a:t>
            </a:r>
            <a:endParaRPr lang="en-US" sz="1220" dirty="0"/>
          </a:p>
        </p:txBody>
      </p:sp>
      <p:sp>
        <p:nvSpPr>
          <p:cNvPr id="33" name="Text 30"/>
          <p:cNvSpPr txBox="1"/>
          <p:nvPr/>
        </p:nvSpPr>
        <p:spPr>
          <a:xfrm>
            <a:off x="3584448" y="3328416"/>
            <a:ext cx="993610" cy="384048"/>
          </a:xfrm>
          <a:prstGeom prst="rect">
            <a:avLst/>
          </a:prstGeom>
          <a:noFill/>
          <a:ln/>
        </p:spPr>
        <p:txBody>
          <a:bodyPr wrap="square" lIns="0" tIns="0" rIns="0" bIns="0" rtlCol="0" anchor="ctr"/>
          <a:lstStyle/>
          <a:p>
            <a:pPr algn="ctr" indent="0" marL="0">
              <a:buNone/>
            </a:pPr>
            <a:r>
              <a:rPr lang="en-US" sz="1300" b="1" dirty="0">
                <a:solidFill>
                  <a:srgbClr val="2E7D4F"/>
                </a:solidFill>
                <a:latin typeface="Consolas" pitchFamily="34" charset="0"/>
                <a:ea typeface="Consolas" pitchFamily="34" charset="-122"/>
                <a:cs typeface="Consolas" pitchFamily="34" charset="-120"/>
              </a:rPr>
              <a:t>T</a:t>
            </a:r>
            <a:endParaRPr lang="en-US" sz="1300" dirty="0"/>
          </a:p>
        </p:txBody>
      </p:sp>
      <p:sp>
        <p:nvSpPr>
          <p:cNvPr id="34" name="Text 31"/>
          <p:cNvSpPr txBox="1"/>
          <p:nvPr/>
        </p:nvSpPr>
        <p:spPr>
          <a:xfrm>
            <a:off x="4578058" y="3328416"/>
            <a:ext cx="993610" cy="384048"/>
          </a:xfrm>
          <a:prstGeom prst="rect">
            <a:avLst/>
          </a:prstGeom>
          <a:noFill/>
          <a:ln/>
        </p:spPr>
        <p:txBody>
          <a:bodyPr wrap="square" lIns="0" tIns="0" rIns="0" bIns="0" rtlCol="0" anchor="ctr"/>
          <a:lstStyle/>
          <a:p>
            <a:pPr algn="ctr" indent="0" marL="0">
              <a:buNone/>
            </a:pPr>
            <a:r>
              <a:rPr lang="en-US" sz="1300" b="1" dirty="0">
                <a:solidFill>
                  <a:srgbClr val="2E7D4F"/>
                </a:solidFill>
                <a:latin typeface="Consolas" pitchFamily="34" charset="0"/>
                <a:ea typeface="Consolas" pitchFamily="34" charset="-122"/>
                <a:cs typeface="Consolas" pitchFamily="34" charset="-120"/>
              </a:rPr>
              <a:t>T</a:t>
            </a:r>
            <a:endParaRPr lang="en-US" sz="1300" dirty="0"/>
          </a:p>
        </p:txBody>
      </p:sp>
      <p:sp>
        <p:nvSpPr>
          <p:cNvPr id="35" name="Text 32"/>
          <p:cNvSpPr txBox="1"/>
          <p:nvPr/>
        </p:nvSpPr>
        <p:spPr>
          <a:xfrm>
            <a:off x="5571668" y="3328416"/>
            <a:ext cx="993610" cy="384048"/>
          </a:xfrm>
          <a:prstGeom prst="rect">
            <a:avLst/>
          </a:prstGeom>
          <a:noFill/>
          <a:ln/>
        </p:spPr>
        <p:txBody>
          <a:bodyPr wrap="square" lIns="0" tIns="0" rIns="0" bIns="0" rtlCol="0" anchor="ctr"/>
          <a:lstStyle/>
          <a:p>
            <a:pPr algn="ctr" indent="0" marL="0">
              <a:buNone/>
            </a:pPr>
            <a:r>
              <a:rPr lang="en-US" sz="1300" b="1" dirty="0">
                <a:solidFill>
                  <a:srgbClr val="B3181E"/>
                </a:solidFill>
                <a:latin typeface="Consolas" pitchFamily="34" charset="0"/>
                <a:ea typeface="Consolas" pitchFamily="34" charset="-122"/>
                <a:cs typeface="Consolas" pitchFamily="34" charset="-120"/>
              </a:rPr>
              <a:t>F</a:t>
            </a:r>
            <a:endParaRPr lang="en-US" sz="1300" dirty="0"/>
          </a:p>
        </p:txBody>
      </p:sp>
      <p:sp>
        <p:nvSpPr>
          <p:cNvPr id="36" name="Text 33"/>
          <p:cNvSpPr txBox="1"/>
          <p:nvPr/>
        </p:nvSpPr>
        <p:spPr>
          <a:xfrm>
            <a:off x="6565278" y="3328416"/>
            <a:ext cx="993610" cy="384048"/>
          </a:xfrm>
          <a:prstGeom prst="rect">
            <a:avLst/>
          </a:prstGeom>
          <a:noFill/>
          <a:ln/>
        </p:spPr>
        <p:txBody>
          <a:bodyPr wrap="square" lIns="0" tIns="0" rIns="0" bIns="0" rtlCol="0" anchor="ctr"/>
          <a:lstStyle/>
          <a:p>
            <a:pPr algn="ctr" indent="0" marL="0">
              <a:buNone/>
            </a:pPr>
            <a:r>
              <a:rPr lang="en-US" sz="1300" b="1" dirty="0">
                <a:solidFill>
                  <a:srgbClr val="B3181E"/>
                </a:solidFill>
                <a:latin typeface="Consolas" pitchFamily="34" charset="0"/>
                <a:ea typeface="Consolas" pitchFamily="34" charset="-122"/>
                <a:cs typeface="Consolas" pitchFamily="34" charset="-120"/>
              </a:rPr>
              <a:t>F</a:t>
            </a:r>
            <a:endParaRPr lang="en-US" sz="1300" dirty="0"/>
          </a:p>
        </p:txBody>
      </p:sp>
      <p:sp>
        <p:nvSpPr>
          <p:cNvPr id="37" name="Text 34"/>
          <p:cNvSpPr txBox="1"/>
          <p:nvPr/>
        </p:nvSpPr>
        <p:spPr>
          <a:xfrm>
            <a:off x="7558888" y="3328416"/>
            <a:ext cx="993610" cy="384048"/>
          </a:xfrm>
          <a:prstGeom prst="rect">
            <a:avLst/>
          </a:prstGeom>
          <a:noFill/>
          <a:ln/>
        </p:spPr>
        <p:txBody>
          <a:bodyPr wrap="square" lIns="0" tIns="0" rIns="0" bIns="0" rtlCol="0" anchor="ctr"/>
          <a:lstStyle/>
          <a:p>
            <a:pPr algn="ctr" indent="0" marL="0">
              <a:buNone/>
            </a:pPr>
            <a:r>
              <a:rPr lang="en-US" sz="1300" b="1" dirty="0">
                <a:solidFill>
                  <a:srgbClr val="2E7D4F"/>
                </a:solidFill>
                <a:latin typeface="Consolas" pitchFamily="34" charset="0"/>
                <a:ea typeface="Consolas" pitchFamily="34" charset="-122"/>
                <a:cs typeface="Consolas" pitchFamily="34" charset="-120"/>
              </a:rPr>
              <a:t>T</a:t>
            </a:r>
            <a:endParaRPr lang="en-US" sz="1300" dirty="0"/>
          </a:p>
        </p:txBody>
      </p:sp>
      <p:sp>
        <p:nvSpPr>
          <p:cNvPr id="38" name="Text 35"/>
          <p:cNvSpPr txBox="1"/>
          <p:nvPr/>
        </p:nvSpPr>
        <p:spPr>
          <a:xfrm>
            <a:off x="8552498" y="3328416"/>
            <a:ext cx="993610" cy="384048"/>
          </a:xfrm>
          <a:prstGeom prst="rect">
            <a:avLst/>
          </a:prstGeom>
          <a:noFill/>
          <a:ln/>
        </p:spPr>
        <p:txBody>
          <a:bodyPr wrap="square" lIns="0" tIns="0" rIns="0" bIns="0" rtlCol="0" anchor="ctr"/>
          <a:lstStyle/>
          <a:p>
            <a:pPr algn="ctr" indent="0" marL="0">
              <a:buNone/>
            </a:pPr>
            <a:r>
              <a:rPr lang="en-US" sz="1300" b="1" dirty="0">
                <a:solidFill>
                  <a:srgbClr val="2E7D4F"/>
                </a:solidFill>
                <a:latin typeface="Consolas" pitchFamily="34" charset="0"/>
                <a:ea typeface="Consolas" pitchFamily="34" charset="-122"/>
                <a:cs typeface="Consolas" pitchFamily="34" charset="-120"/>
              </a:rPr>
              <a:t>T</a:t>
            </a:r>
            <a:endParaRPr lang="en-US" sz="1300" dirty="0"/>
          </a:p>
        </p:txBody>
      </p:sp>
      <p:sp>
        <p:nvSpPr>
          <p:cNvPr id="39" name="Text 36"/>
          <p:cNvSpPr txBox="1"/>
          <p:nvPr/>
        </p:nvSpPr>
        <p:spPr>
          <a:xfrm>
            <a:off x="9546107" y="3328416"/>
            <a:ext cx="993610" cy="384048"/>
          </a:xfrm>
          <a:prstGeom prst="rect">
            <a:avLst/>
          </a:prstGeom>
          <a:noFill/>
          <a:ln/>
        </p:spPr>
        <p:txBody>
          <a:bodyPr wrap="square" lIns="0" tIns="0" rIns="0" bIns="0" rtlCol="0" anchor="ctr"/>
          <a:lstStyle/>
          <a:p>
            <a:pPr algn="ctr" indent="0" marL="0">
              <a:buNone/>
            </a:pPr>
            <a:r>
              <a:rPr lang="en-US" sz="1300" b="1" dirty="0">
                <a:solidFill>
                  <a:srgbClr val="B3181E"/>
                </a:solidFill>
                <a:latin typeface="Consolas" pitchFamily="34" charset="0"/>
                <a:ea typeface="Consolas" pitchFamily="34" charset="-122"/>
                <a:cs typeface="Consolas" pitchFamily="34" charset="-120"/>
              </a:rPr>
              <a:t>F</a:t>
            </a:r>
            <a:endParaRPr lang="en-US" sz="1300" dirty="0"/>
          </a:p>
        </p:txBody>
      </p:sp>
      <p:sp>
        <p:nvSpPr>
          <p:cNvPr id="40" name="Text 37"/>
          <p:cNvSpPr txBox="1"/>
          <p:nvPr/>
        </p:nvSpPr>
        <p:spPr>
          <a:xfrm>
            <a:off x="10539717" y="3328416"/>
            <a:ext cx="993610" cy="384048"/>
          </a:xfrm>
          <a:prstGeom prst="rect">
            <a:avLst/>
          </a:prstGeom>
          <a:noFill/>
          <a:ln/>
        </p:spPr>
        <p:txBody>
          <a:bodyPr wrap="square" lIns="0" tIns="0" rIns="0" bIns="0" rtlCol="0" anchor="ctr"/>
          <a:lstStyle/>
          <a:p>
            <a:pPr algn="ctr" indent="0" marL="0">
              <a:buNone/>
            </a:pPr>
            <a:r>
              <a:rPr lang="en-US" sz="1300" b="1" dirty="0">
                <a:solidFill>
                  <a:srgbClr val="B3181E"/>
                </a:solidFill>
                <a:latin typeface="Consolas" pitchFamily="34" charset="0"/>
                <a:ea typeface="Consolas" pitchFamily="34" charset="-122"/>
                <a:cs typeface="Consolas" pitchFamily="34" charset="-120"/>
              </a:rPr>
              <a:t>F</a:t>
            </a:r>
            <a:endParaRPr lang="en-US" sz="1300" dirty="0"/>
          </a:p>
        </p:txBody>
      </p:sp>
      <p:sp>
        <p:nvSpPr>
          <p:cNvPr id="41" name="Shape 38"/>
          <p:cNvSpPr/>
          <p:nvPr/>
        </p:nvSpPr>
        <p:spPr>
          <a:xfrm>
            <a:off x="658368" y="3785616"/>
            <a:ext cx="10874959" cy="420624"/>
          </a:xfrm>
          <a:prstGeom prst="rect">
            <a:avLst/>
          </a:prstGeom>
          <a:solidFill>
            <a:srgbClr val="FFFFFF"/>
          </a:solidFill>
          <a:ln w="12700">
            <a:solidFill>
              <a:srgbClr val="FFFFFF"/>
            </a:solidFill>
            <a:prstDash val="solid"/>
          </a:ln>
        </p:spPr>
      </p:sp>
      <p:sp>
        <p:nvSpPr>
          <p:cNvPr id="42" name="Text 39"/>
          <p:cNvSpPr txBox="1"/>
          <p:nvPr/>
        </p:nvSpPr>
        <p:spPr>
          <a:xfrm>
            <a:off x="877824" y="3803904"/>
            <a:ext cx="2651760" cy="384048"/>
          </a:xfrm>
          <a:prstGeom prst="rect">
            <a:avLst/>
          </a:prstGeom>
          <a:noFill/>
          <a:ln/>
        </p:spPr>
        <p:txBody>
          <a:bodyPr wrap="square" lIns="0" tIns="0" rIns="0" bIns="0" rtlCol="0" anchor="ctr"/>
          <a:lstStyle/>
          <a:p>
            <a:pPr algn="l" indent="0" marL="0">
              <a:buNone/>
            </a:pPr>
            <a:r>
              <a:rPr lang="en-US" sz="1220" dirty="0">
                <a:solidFill>
                  <a:srgbClr val="243B53"/>
                </a:solidFill>
                <a:latin typeface="Aptos" pitchFamily="34" charset="0"/>
                <a:ea typeface="Aptos" pitchFamily="34" charset="-122"/>
                <a:cs typeface="Aptos" pitchFamily="34" charset="-120"/>
              </a:rPr>
              <a:t>C: cupo semanal</a:t>
            </a:r>
            <a:endParaRPr lang="en-US" sz="1220" dirty="0"/>
          </a:p>
        </p:txBody>
      </p:sp>
      <p:sp>
        <p:nvSpPr>
          <p:cNvPr id="43" name="Text 40"/>
          <p:cNvSpPr txBox="1"/>
          <p:nvPr/>
        </p:nvSpPr>
        <p:spPr>
          <a:xfrm>
            <a:off x="3584448" y="3803904"/>
            <a:ext cx="993610" cy="384048"/>
          </a:xfrm>
          <a:prstGeom prst="rect">
            <a:avLst/>
          </a:prstGeom>
          <a:noFill/>
          <a:ln/>
        </p:spPr>
        <p:txBody>
          <a:bodyPr wrap="square" lIns="0" tIns="0" rIns="0" bIns="0" rtlCol="0" anchor="ctr"/>
          <a:lstStyle/>
          <a:p>
            <a:pPr algn="ctr" indent="0" marL="0">
              <a:buNone/>
            </a:pPr>
            <a:r>
              <a:rPr lang="en-US" sz="1300" b="1" dirty="0">
                <a:solidFill>
                  <a:srgbClr val="2E7D4F"/>
                </a:solidFill>
                <a:latin typeface="Consolas" pitchFamily="34" charset="0"/>
                <a:ea typeface="Consolas" pitchFamily="34" charset="-122"/>
                <a:cs typeface="Consolas" pitchFamily="34" charset="-120"/>
              </a:rPr>
              <a:t>T</a:t>
            </a:r>
            <a:endParaRPr lang="en-US" sz="1300" dirty="0"/>
          </a:p>
        </p:txBody>
      </p:sp>
      <p:sp>
        <p:nvSpPr>
          <p:cNvPr id="44" name="Text 41"/>
          <p:cNvSpPr txBox="1"/>
          <p:nvPr/>
        </p:nvSpPr>
        <p:spPr>
          <a:xfrm>
            <a:off x="4578058" y="3803904"/>
            <a:ext cx="993610" cy="384048"/>
          </a:xfrm>
          <a:prstGeom prst="rect">
            <a:avLst/>
          </a:prstGeom>
          <a:noFill/>
          <a:ln/>
        </p:spPr>
        <p:txBody>
          <a:bodyPr wrap="square" lIns="0" tIns="0" rIns="0" bIns="0" rtlCol="0" anchor="ctr"/>
          <a:lstStyle/>
          <a:p>
            <a:pPr algn="ctr" indent="0" marL="0">
              <a:buNone/>
            </a:pPr>
            <a:r>
              <a:rPr lang="en-US" sz="1300" b="1" dirty="0">
                <a:solidFill>
                  <a:srgbClr val="B3181E"/>
                </a:solidFill>
                <a:latin typeface="Consolas" pitchFamily="34" charset="0"/>
                <a:ea typeface="Consolas" pitchFamily="34" charset="-122"/>
                <a:cs typeface="Consolas" pitchFamily="34" charset="-120"/>
              </a:rPr>
              <a:t>F</a:t>
            </a:r>
            <a:endParaRPr lang="en-US" sz="1300" dirty="0"/>
          </a:p>
        </p:txBody>
      </p:sp>
      <p:sp>
        <p:nvSpPr>
          <p:cNvPr id="45" name="Text 42"/>
          <p:cNvSpPr txBox="1"/>
          <p:nvPr/>
        </p:nvSpPr>
        <p:spPr>
          <a:xfrm>
            <a:off x="5571668" y="3803904"/>
            <a:ext cx="993610" cy="384048"/>
          </a:xfrm>
          <a:prstGeom prst="rect">
            <a:avLst/>
          </a:prstGeom>
          <a:noFill/>
          <a:ln/>
        </p:spPr>
        <p:txBody>
          <a:bodyPr wrap="square" lIns="0" tIns="0" rIns="0" bIns="0" rtlCol="0" anchor="ctr"/>
          <a:lstStyle/>
          <a:p>
            <a:pPr algn="ctr" indent="0" marL="0">
              <a:buNone/>
            </a:pPr>
            <a:r>
              <a:rPr lang="en-US" sz="1300" b="1" dirty="0">
                <a:solidFill>
                  <a:srgbClr val="2E7D4F"/>
                </a:solidFill>
                <a:latin typeface="Consolas" pitchFamily="34" charset="0"/>
                <a:ea typeface="Consolas" pitchFamily="34" charset="-122"/>
                <a:cs typeface="Consolas" pitchFamily="34" charset="-120"/>
              </a:rPr>
              <a:t>T</a:t>
            </a:r>
            <a:endParaRPr lang="en-US" sz="1300" dirty="0"/>
          </a:p>
        </p:txBody>
      </p:sp>
      <p:sp>
        <p:nvSpPr>
          <p:cNvPr id="46" name="Text 43"/>
          <p:cNvSpPr txBox="1"/>
          <p:nvPr/>
        </p:nvSpPr>
        <p:spPr>
          <a:xfrm>
            <a:off x="6565278" y="3803904"/>
            <a:ext cx="993610" cy="384048"/>
          </a:xfrm>
          <a:prstGeom prst="rect">
            <a:avLst/>
          </a:prstGeom>
          <a:noFill/>
          <a:ln/>
        </p:spPr>
        <p:txBody>
          <a:bodyPr wrap="square" lIns="0" tIns="0" rIns="0" bIns="0" rtlCol="0" anchor="ctr"/>
          <a:lstStyle/>
          <a:p>
            <a:pPr algn="ctr" indent="0" marL="0">
              <a:buNone/>
            </a:pPr>
            <a:r>
              <a:rPr lang="en-US" sz="1300" b="1" dirty="0">
                <a:solidFill>
                  <a:srgbClr val="B3181E"/>
                </a:solidFill>
                <a:latin typeface="Consolas" pitchFamily="34" charset="0"/>
                <a:ea typeface="Consolas" pitchFamily="34" charset="-122"/>
                <a:cs typeface="Consolas" pitchFamily="34" charset="-120"/>
              </a:rPr>
              <a:t>F</a:t>
            </a:r>
            <a:endParaRPr lang="en-US" sz="1300" dirty="0"/>
          </a:p>
        </p:txBody>
      </p:sp>
      <p:sp>
        <p:nvSpPr>
          <p:cNvPr id="47" name="Text 44"/>
          <p:cNvSpPr txBox="1"/>
          <p:nvPr/>
        </p:nvSpPr>
        <p:spPr>
          <a:xfrm>
            <a:off x="7558888" y="3803904"/>
            <a:ext cx="993610" cy="384048"/>
          </a:xfrm>
          <a:prstGeom prst="rect">
            <a:avLst/>
          </a:prstGeom>
          <a:noFill/>
          <a:ln/>
        </p:spPr>
        <p:txBody>
          <a:bodyPr wrap="square" lIns="0" tIns="0" rIns="0" bIns="0" rtlCol="0" anchor="ctr"/>
          <a:lstStyle/>
          <a:p>
            <a:pPr algn="ctr" indent="0" marL="0">
              <a:buNone/>
            </a:pPr>
            <a:r>
              <a:rPr lang="en-US" sz="1300" b="1" dirty="0">
                <a:solidFill>
                  <a:srgbClr val="2E7D4F"/>
                </a:solidFill>
                <a:latin typeface="Consolas" pitchFamily="34" charset="0"/>
                <a:ea typeface="Consolas" pitchFamily="34" charset="-122"/>
                <a:cs typeface="Consolas" pitchFamily="34" charset="-120"/>
              </a:rPr>
              <a:t>T</a:t>
            </a:r>
            <a:endParaRPr lang="en-US" sz="1300" dirty="0"/>
          </a:p>
        </p:txBody>
      </p:sp>
      <p:sp>
        <p:nvSpPr>
          <p:cNvPr id="48" name="Text 45"/>
          <p:cNvSpPr txBox="1"/>
          <p:nvPr/>
        </p:nvSpPr>
        <p:spPr>
          <a:xfrm>
            <a:off x="8552498" y="3803904"/>
            <a:ext cx="993610" cy="384048"/>
          </a:xfrm>
          <a:prstGeom prst="rect">
            <a:avLst/>
          </a:prstGeom>
          <a:noFill/>
          <a:ln/>
        </p:spPr>
        <p:txBody>
          <a:bodyPr wrap="square" lIns="0" tIns="0" rIns="0" bIns="0" rtlCol="0" anchor="ctr"/>
          <a:lstStyle/>
          <a:p>
            <a:pPr algn="ctr" indent="0" marL="0">
              <a:buNone/>
            </a:pPr>
            <a:r>
              <a:rPr lang="en-US" sz="1300" b="1" dirty="0">
                <a:solidFill>
                  <a:srgbClr val="B3181E"/>
                </a:solidFill>
                <a:latin typeface="Consolas" pitchFamily="34" charset="0"/>
                <a:ea typeface="Consolas" pitchFamily="34" charset="-122"/>
                <a:cs typeface="Consolas" pitchFamily="34" charset="-120"/>
              </a:rPr>
              <a:t>F</a:t>
            </a:r>
            <a:endParaRPr lang="en-US" sz="1300" dirty="0"/>
          </a:p>
        </p:txBody>
      </p:sp>
      <p:sp>
        <p:nvSpPr>
          <p:cNvPr id="49" name="Text 46"/>
          <p:cNvSpPr txBox="1"/>
          <p:nvPr/>
        </p:nvSpPr>
        <p:spPr>
          <a:xfrm>
            <a:off x="9546107" y="3803904"/>
            <a:ext cx="993610" cy="384048"/>
          </a:xfrm>
          <a:prstGeom prst="rect">
            <a:avLst/>
          </a:prstGeom>
          <a:noFill/>
          <a:ln/>
        </p:spPr>
        <p:txBody>
          <a:bodyPr wrap="square" lIns="0" tIns="0" rIns="0" bIns="0" rtlCol="0" anchor="ctr"/>
          <a:lstStyle/>
          <a:p>
            <a:pPr algn="ctr" indent="0" marL="0">
              <a:buNone/>
            </a:pPr>
            <a:r>
              <a:rPr lang="en-US" sz="1300" b="1" dirty="0">
                <a:solidFill>
                  <a:srgbClr val="2E7D4F"/>
                </a:solidFill>
                <a:latin typeface="Consolas" pitchFamily="34" charset="0"/>
                <a:ea typeface="Consolas" pitchFamily="34" charset="-122"/>
                <a:cs typeface="Consolas" pitchFamily="34" charset="-120"/>
              </a:rPr>
              <a:t>T</a:t>
            </a:r>
            <a:endParaRPr lang="en-US" sz="1300" dirty="0"/>
          </a:p>
        </p:txBody>
      </p:sp>
      <p:sp>
        <p:nvSpPr>
          <p:cNvPr id="50" name="Text 47"/>
          <p:cNvSpPr txBox="1"/>
          <p:nvPr/>
        </p:nvSpPr>
        <p:spPr>
          <a:xfrm>
            <a:off x="10539717" y="3803904"/>
            <a:ext cx="993610" cy="384048"/>
          </a:xfrm>
          <a:prstGeom prst="rect">
            <a:avLst/>
          </a:prstGeom>
          <a:noFill/>
          <a:ln/>
        </p:spPr>
        <p:txBody>
          <a:bodyPr wrap="square" lIns="0" tIns="0" rIns="0" bIns="0" rtlCol="0" anchor="ctr"/>
          <a:lstStyle/>
          <a:p>
            <a:pPr algn="ctr" indent="0" marL="0">
              <a:buNone/>
            </a:pPr>
            <a:r>
              <a:rPr lang="en-US" sz="1300" b="1" dirty="0">
                <a:solidFill>
                  <a:srgbClr val="B3181E"/>
                </a:solidFill>
                <a:latin typeface="Consolas" pitchFamily="34" charset="0"/>
                <a:ea typeface="Consolas" pitchFamily="34" charset="-122"/>
                <a:cs typeface="Consolas" pitchFamily="34" charset="-120"/>
              </a:rPr>
              <a:t>F</a:t>
            </a:r>
            <a:endParaRPr lang="en-US" sz="1300" dirty="0"/>
          </a:p>
        </p:txBody>
      </p:sp>
      <p:sp>
        <p:nvSpPr>
          <p:cNvPr id="51" name="Shape 48"/>
          <p:cNvSpPr/>
          <p:nvPr/>
        </p:nvSpPr>
        <p:spPr>
          <a:xfrm>
            <a:off x="658368" y="4261104"/>
            <a:ext cx="10874959" cy="457200"/>
          </a:xfrm>
          <a:prstGeom prst="rect">
            <a:avLst/>
          </a:prstGeom>
          <a:solidFill>
            <a:srgbClr val="F2E7D9"/>
          </a:solidFill>
          <a:ln w="12700">
            <a:solidFill>
              <a:srgbClr val="F2E7D9"/>
            </a:solidFill>
            <a:prstDash val="solid"/>
          </a:ln>
        </p:spPr>
      </p:sp>
      <p:sp>
        <p:nvSpPr>
          <p:cNvPr id="52" name="Shape 49"/>
          <p:cNvSpPr/>
          <p:nvPr/>
        </p:nvSpPr>
        <p:spPr>
          <a:xfrm>
            <a:off x="658368" y="4261104"/>
            <a:ext cx="54864" cy="457200"/>
          </a:xfrm>
          <a:prstGeom prst="rect">
            <a:avLst/>
          </a:prstGeom>
          <a:solidFill>
            <a:srgbClr val="8A6A12"/>
          </a:solidFill>
          <a:ln w="12700">
            <a:solidFill>
              <a:srgbClr val="8A6A12"/>
            </a:solidFill>
            <a:prstDash val="solid"/>
          </a:ln>
        </p:spPr>
      </p:sp>
      <p:sp>
        <p:nvSpPr>
          <p:cNvPr id="53" name="Text 50"/>
          <p:cNvSpPr txBox="1"/>
          <p:nvPr/>
        </p:nvSpPr>
        <p:spPr>
          <a:xfrm>
            <a:off x="877824" y="4279392"/>
            <a:ext cx="2651760" cy="420624"/>
          </a:xfrm>
          <a:prstGeom prst="rect">
            <a:avLst/>
          </a:prstGeom>
          <a:noFill/>
          <a:ln/>
        </p:spPr>
        <p:txBody>
          <a:bodyPr wrap="square" lIns="0" tIns="0" rIns="0" bIns="0" rtlCol="0" anchor="ctr"/>
          <a:lstStyle/>
          <a:p>
            <a:pPr algn="l" indent="0" marL="0">
              <a:buNone/>
            </a:pPr>
            <a:r>
              <a:rPr lang="en-US" sz="1260" b="1" dirty="0">
                <a:solidFill>
                  <a:srgbClr val="243B53"/>
                </a:solidFill>
                <a:latin typeface="Aptos" pitchFamily="34" charset="0"/>
                <a:ea typeface="Aptos" pitchFamily="34" charset="-122"/>
                <a:cs typeface="Aptos" pitchFamily="34" charset="-120"/>
              </a:rPr>
              <a:t>Permitir reserva</a:t>
            </a:r>
            <a:endParaRPr lang="en-US" sz="1260" dirty="0"/>
          </a:p>
        </p:txBody>
      </p:sp>
      <p:sp>
        <p:nvSpPr>
          <p:cNvPr id="54" name="Text 51"/>
          <p:cNvSpPr txBox="1"/>
          <p:nvPr/>
        </p:nvSpPr>
        <p:spPr>
          <a:xfrm>
            <a:off x="3584448" y="4279392"/>
            <a:ext cx="993610" cy="420624"/>
          </a:xfrm>
          <a:prstGeom prst="rect">
            <a:avLst/>
          </a:prstGeom>
          <a:noFill/>
          <a:ln/>
        </p:spPr>
        <p:txBody>
          <a:bodyPr wrap="square" lIns="0" tIns="0" rIns="0" bIns="0" rtlCol="0" anchor="ctr"/>
          <a:lstStyle/>
          <a:p>
            <a:pPr algn="ctr" indent="0" marL="0">
              <a:buNone/>
            </a:pPr>
            <a:r>
              <a:rPr lang="en-US" sz="1500" b="1" dirty="0">
                <a:solidFill>
                  <a:srgbClr val="2E7D4F"/>
                </a:solidFill>
                <a:latin typeface="Consolas" pitchFamily="34" charset="0"/>
                <a:ea typeface="Consolas" pitchFamily="34" charset="-122"/>
                <a:cs typeface="Consolas" pitchFamily="34" charset="-120"/>
              </a:rPr>
              <a:t>T</a:t>
            </a:r>
            <a:endParaRPr lang="en-US" sz="1500" dirty="0"/>
          </a:p>
        </p:txBody>
      </p:sp>
      <p:sp>
        <p:nvSpPr>
          <p:cNvPr id="55" name="Text 52"/>
          <p:cNvSpPr txBox="1"/>
          <p:nvPr/>
        </p:nvSpPr>
        <p:spPr>
          <a:xfrm>
            <a:off x="4578058" y="4279392"/>
            <a:ext cx="993610" cy="420624"/>
          </a:xfrm>
          <a:prstGeom prst="rect">
            <a:avLst/>
          </a:prstGeom>
          <a:noFill/>
          <a:ln/>
        </p:spPr>
        <p:txBody>
          <a:bodyPr wrap="square" lIns="0" tIns="0" rIns="0" bIns="0" rtlCol="0" anchor="ctr"/>
          <a:lstStyle/>
          <a:p>
            <a:pPr algn="ctr" indent="0" marL="0">
              <a:buNone/>
            </a:pPr>
            <a:r>
              <a:rPr lang="en-US" sz="1500" b="1" dirty="0">
                <a:solidFill>
                  <a:srgbClr val="B3181E"/>
                </a:solidFill>
                <a:latin typeface="Consolas" pitchFamily="34" charset="0"/>
                <a:ea typeface="Consolas" pitchFamily="34" charset="-122"/>
                <a:cs typeface="Consolas" pitchFamily="34" charset="-120"/>
              </a:rPr>
              <a:t>F</a:t>
            </a:r>
            <a:endParaRPr lang="en-US" sz="1500" dirty="0"/>
          </a:p>
        </p:txBody>
      </p:sp>
      <p:sp>
        <p:nvSpPr>
          <p:cNvPr id="56" name="Text 53"/>
          <p:cNvSpPr txBox="1"/>
          <p:nvPr/>
        </p:nvSpPr>
        <p:spPr>
          <a:xfrm>
            <a:off x="5571668" y="4279392"/>
            <a:ext cx="993610" cy="420624"/>
          </a:xfrm>
          <a:prstGeom prst="rect">
            <a:avLst/>
          </a:prstGeom>
          <a:noFill/>
          <a:ln/>
        </p:spPr>
        <p:txBody>
          <a:bodyPr wrap="square" lIns="0" tIns="0" rIns="0" bIns="0" rtlCol="0" anchor="ctr"/>
          <a:lstStyle/>
          <a:p>
            <a:pPr algn="ctr" indent="0" marL="0">
              <a:buNone/>
            </a:pPr>
            <a:r>
              <a:rPr lang="en-US" sz="1500" b="1" dirty="0">
                <a:solidFill>
                  <a:srgbClr val="B3181E"/>
                </a:solidFill>
                <a:latin typeface="Consolas" pitchFamily="34" charset="0"/>
                <a:ea typeface="Consolas" pitchFamily="34" charset="-122"/>
                <a:cs typeface="Consolas" pitchFamily="34" charset="-120"/>
              </a:rPr>
              <a:t>F</a:t>
            </a:r>
            <a:endParaRPr lang="en-US" sz="1500" dirty="0"/>
          </a:p>
        </p:txBody>
      </p:sp>
      <p:sp>
        <p:nvSpPr>
          <p:cNvPr id="57" name="Text 54"/>
          <p:cNvSpPr txBox="1"/>
          <p:nvPr/>
        </p:nvSpPr>
        <p:spPr>
          <a:xfrm>
            <a:off x="6565278" y="4279392"/>
            <a:ext cx="993610" cy="420624"/>
          </a:xfrm>
          <a:prstGeom prst="rect">
            <a:avLst/>
          </a:prstGeom>
          <a:noFill/>
          <a:ln/>
        </p:spPr>
        <p:txBody>
          <a:bodyPr wrap="square" lIns="0" tIns="0" rIns="0" bIns="0" rtlCol="0" anchor="ctr"/>
          <a:lstStyle/>
          <a:p>
            <a:pPr algn="ctr" indent="0" marL="0">
              <a:buNone/>
            </a:pPr>
            <a:r>
              <a:rPr lang="en-US" sz="1500" b="1" dirty="0">
                <a:solidFill>
                  <a:srgbClr val="B3181E"/>
                </a:solidFill>
                <a:latin typeface="Consolas" pitchFamily="34" charset="0"/>
                <a:ea typeface="Consolas" pitchFamily="34" charset="-122"/>
                <a:cs typeface="Consolas" pitchFamily="34" charset="-120"/>
              </a:rPr>
              <a:t>F</a:t>
            </a:r>
            <a:endParaRPr lang="en-US" sz="1500" dirty="0"/>
          </a:p>
        </p:txBody>
      </p:sp>
      <p:sp>
        <p:nvSpPr>
          <p:cNvPr id="58" name="Text 55"/>
          <p:cNvSpPr txBox="1"/>
          <p:nvPr/>
        </p:nvSpPr>
        <p:spPr>
          <a:xfrm>
            <a:off x="7558888" y="4279392"/>
            <a:ext cx="993610" cy="420624"/>
          </a:xfrm>
          <a:prstGeom prst="rect">
            <a:avLst/>
          </a:prstGeom>
          <a:noFill/>
          <a:ln/>
        </p:spPr>
        <p:txBody>
          <a:bodyPr wrap="square" lIns="0" tIns="0" rIns="0" bIns="0" rtlCol="0" anchor="ctr"/>
          <a:lstStyle/>
          <a:p>
            <a:pPr algn="ctr" indent="0" marL="0">
              <a:buNone/>
            </a:pPr>
            <a:r>
              <a:rPr lang="en-US" sz="1500" b="1" dirty="0">
                <a:solidFill>
                  <a:srgbClr val="B3181E"/>
                </a:solidFill>
                <a:latin typeface="Consolas" pitchFamily="34" charset="0"/>
                <a:ea typeface="Consolas" pitchFamily="34" charset="-122"/>
                <a:cs typeface="Consolas" pitchFamily="34" charset="-120"/>
              </a:rPr>
              <a:t>F</a:t>
            </a:r>
            <a:endParaRPr lang="en-US" sz="1500" dirty="0"/>
          </a:p>
        </p:txBody>
      </p:sp>
      <p:sp>
        <p:nvSpPr>
          <p:cNvPr id="59" name="Text 56"/>
          <p:cNvSpPr txBox="1"/>
          <p:nvPr/>
        </p:nvSpPr>
        <p:spPr>
          <a:xfrm>
            <a:off x="8552498" y="4279392"/>
            <a:ext cx="993610" cy="420624"/>
          </a:xfrm>
          <a:prstGeom prst="rect">
            <a:avLst/>
          </a:prstGeom>
          <a:noFill/>
          <a:ln/>
        </p:spPr>
        <p:txBody>
          <a:bodyPr wrap="square" lIns="0" tIns="0" rIns="0" bIns="0" rtlCol="0" anchor="ctr"/>
          <a:lstStyle/>
          <a:p>
            <a:pPr algn="ctr" indent="0" marL="0">
              <a:buNone/>
            </a:pPr>
            <a:r>
              <a:rPr lang="en-US" sz="1500" b="1" dirty="0">
                <a:solidFill>
                  <a:srgbClr val="B3181E"/>
                </a:solidFill>
                <a:latin typeface="Consolas" pitchFamily="34" charset="0"/>
                <a:ea typeface="Consolas" pitchFamily="34" charset="-122"/>
                <a:cs typeface="Consolas" pitchFamily="34" charset="-120"/>
              </a:rPr>
              <a:t>F</a:t>
            </a:r>
            <a:endParaRPr lang="en-US" sz="1500" dirty="0"/>
          </a:p>
        </p:txBody>
      </p:sp>
      <p:sp>
        <p:nvSpPr>
          <p:cNvPr id="60" name="Text 57"/>
          <p:cNvSpPr txBox="1"/>
          <p:nvPr/>
        </p:nvSpPr>
        <p:spPr>
          <a:xfrm>
            <a:off x="9546107" y="4279392"/>
            <a:ext cx="993610" cy="420624"/>
          </a:xfrm>
          <a:prstGeom prst="rect">
            <a:avLst/>
          </a:prstGeom>
          <a:noFill/>
          <a:ln/>
        </p:spPr>
        <p:txBody>
          <a:bodyPr wrap="square" lIns="0" tIns="0" rIns="0" bIns="0" rtlCol="0" anchor="ctr"/>
          <a:lstStyle/>
          <a:p>
            <a:pPr algn="ctr" indent="0" marL="0">
              <a:buNone/>
            </a:pPr>
            <a:r>
              <a:rPr lang="en-US" sz="1500" b="1" dirty="0">
                <a:solidFill>
                  <a:srgbClr val="B3181E"/>
                </a:solidFill>
                <a:latin typeface="Consolas" pitchFamily="34" charset="0"/>
                <a:ea typeface="Consolas" pitchFamily="34" charset="-122"/>
                <a:cs typeface="Consolas" pitchFamily="34" charset="-120"/>
              </a:rPr>
              <a:t>F</a:t>
            </a:r>
            <a:endParaRPr lang="en-US" sz="1500" dirty="0"/>
          </a:p>
        </p:txBody>
      </p:sp>
      <p:sp>
        <p:nvSpPr>
          <p:cNvPr id="61" name="Text 58"/>
          <p:cNvSpPr txBox="1"/>
          <p:nvPr/>
        </p:nvSpPr>
        <p:spPr>
          <a:xfrm>
            <a:off x="10539717" y="4279392"/>
            <a:ext cx="993610" cy="420624"/>
          </a:xfrm>
          <a:prstGeom prst="rect">
            <a:avLst/>
          </a:prstGeom>
          <a:noFill/>
          <a:ln/>
        </p:spPr>
        <p:txBody>
          <a:bodyPr wrap="square" lIns="0" tIns="0" rIns="0" bIns="0" rtlCol="0" anchor="ctr"/>
          <a:lstStyle/>
          <a:p>
            <a:pPr algn="ctr" indent="0" marL="0">
              <a:buNone/>
            </a:pPr>
            <a:r>
              <a:rPr lang="en-US" sz="1500" b="1" dirty="0">
                <a:solidFill>
                  <a:srgbClr val="B3181E"/>
                </a:solidFill>
                <a:latin typeface="Consolas" pitchFamily="34" charset="0"/>
                <a:ea typeface="Consolas" pitchFamily="34" charset="-122"/>
                <a:cs typeface="Consolas" pitchFamily="34" charset="-120"/>
              </a:rPr>
              <a:t>F</a:t>
            </a:r>
            <a:endParaRPr lang="en-US" sz="1500" dirty="0"/>
          </a:p>
        </p:txBody>
      </p:sp>
      <p:sp>
        <p:nvSpPr>
          <p:cNvPr id="62" name="Shape 59"/>
          <p:cNvSpPr/>
          <p:nvPr/>
        </p:nvSpPr>
        <p:spPr>
          <a:xfrm>
            <a:off x="658368" y="4901184"/>
            <a:ext cx="10874959" cy="859536"/>
          </a:xfrm>
          <a:prstGeom prst="rect">
            <a:avLst/>
          </a:prstGeom>
          <a:solidFill>
            <a:srgbClr val="FFFFFF"/>
          </a:solidFill>
          <a:ln w="12700">
            <a:solidFill>
              <a:srgbClr val="FFFFFF"/>
            </a:solidFill>
            <a:prstDash val="solid"/>
          </a:ln>
        </p:spPr>
      </p:sp>
      <p:sp>
        <p:nvSpPr>
          <p:cNvPr id="63" name="Shape 60"/>
          <p:cNvSpPr/>
          <p:nvPr/>
        </p:nvSpPr>
        <p:spPr>
          <a:xfrm>
            <a:off x="658368" y="4901184"/>
            <a:ext cx="64008" cy="859536"/>
          </a:xfrm>
          <a:prstGeom prst="rect">
            <a:avLst/>
          </a:prstGeom>
          <a:solidFill>
            <a:srgbClr val="102A43"/>
          </a:solidFill>
          <a:ln w="12700">
            <a:solidFill>
              <a:srgbClr val="102A43"/>
            </a:solidFill>
            <a:prstDash val="solid"/>
          </a:ln>
        </p:spPr>
      </p:sp>
      <p:sp>
        <p:nvSpPr>
          <p:cNvPr id="64" name="Text 61"/>
          <p:cNvSpPr txBox="1"/>
          <p:nvPr/>
        </p:nvSpPr>
        <p:spPr>
          <a:xfrm>
            <a:off x="987552" y="5047488"/>
            <a:ext cx="10216591" cy="566928"/>
          </a:xfrm>
          <a:prstGeom prst="rect">
            <a:avLst/>
          </a:prstGeom>
          <a:noFill/>
          <a:ln/>
        </p:spPr>
        <p:txBody>
          <a:bodyPr wrap="square" lIns="0" tIns="0" rIns="0" bIns="0" rtlCol="0" anchor="t"/>
          <a:lstStyle/>
          <a:p>
            <a:pPr algn="l" indent="0" marL="0">
              <a:lnSpc>
                <a:spcPct val="116000"/>
              </a:lnSpc>
              <a:buNone/>
            </a:pPr>
            <a:r>
              <a:rPr lang="en-US" sz="1260" dirty="0">
                <a:solidFill>
                  <a:srgbClr val="243B53"/>
                </a:solidFill>
                <a:latin typeface="Aptos" pitchFamily="34" charset="0"/>
                <a:ea typeface="Aptos" pitchFamily="34" charset="-122"/>
                <a:cs typeface="Aptos" pitchFamily="34" charset="-120"/>
              </a:rPr>
              <a:t>Solo T1 permite reservar: es la única columna donde las tres condiciones se cumplen.</a:t>
            </a:r>
            <a:endParaRPr lang="en-US" sz="1260" dirty="0"/>
          </a:p>
          <a:p>
            <a:pPr algn="l" indent="0" marL="0">
              <a:lnSpc>
                <a:spcPct val="116000"/>
              </a:lnSpc>
              <a:buNone/>
            </a:pPr>
            <a:r>
              <a:rPr lang="en-US" sz="1260" dirty="0">
                <a:solidFill>
                  <a:srgbClr val="243B53"/>
                </a:solidFill>
                <a:latin typeface="Aptos" pitchFamily="34" charset="0"/>
                <a:ea typeface="Aptos" pitchFamily="34" charset="-122"/>
                <a:cs typeface="Aptos" pitchFamily="34" charset="-120"/>
              </a:rPr>
              <a:t>Esta tabla modela entradas de la función, no ocho situaciones físicas distintas del laboratorio.</a:t>
            </a:r>
            <a:endParaRPr lang="en-US" sz="1260" dirty="0"/>
          </a:p>
        </p:txBody>
      </p:sp>
      <p:sp>
        <p:nvSpPr>
          <p:cNvPr id="65" name="Shape 62"/>
          <p:cNvSpPr/>
          <p:nvPr/>
        </p:nvSpPr>
        <p:spPr>
          <a:xfrm>
            <a:off x="658368" y="5943600"/>
            <a:ext cx="45720" cy="182880"/>
          </a:xfrm>
          <a:prstGeom prst="rect">
            <a:avLst/>
          </a:prstGeom>
          <a:solidFill>
            <a:srgbClr val="8A6A12"/>
          </a:solidFill>
          <a:ln w="12700">
            <a:solidFill>
              <a:srgbClr val="8A6A12"/>
            </a:solidFill>
            <a:prstDash val="solid"/>
          </a:ln>
        </p:spPr>
      </p:sp>
      <p:sp>
        <p:nvSpPr>
          <p:cNvPr id="66" name="Text 63"/>
          <p:cNvSpPr txBox="1"/>
          <p:nvPr/>
        </p:nvSpPr>
        <p:spPr>
          <a:xfrm>
            <a:off x="804672" y="5934456"/>
            <a:ext cx="1060704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ISO/IEC/IEEE 29119-4:2021 distingue la tabla, la regla y la técnica en sus cláusulas 3.22 a 3.24; el syllabus ISTQB CTFL desarrolla su construcción en la sección 4.2.3.</a:t>
            </a:r>
            <a:endParaRPr lang="en-US" sz="92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62</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REDUCIR SIN PERDER NADA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Cuatro reglas en vez de ocho columnas</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Si V es falsa, cambiar L o C no cambia el rechazo. Esas columnas se pueden agrupar.</a:t>
            </a:r>
            <a:endParaRPr lang="en-US" sz="1450" dirty="0"/>
          </a:p>
        </p:txBody>
      </p:sp>
      <p:sp>
        <p:nvSpPr>
          <p:cNvPr id="11" name="Shape 8"/>
          <p:cNvSpPr/>
          <p:nvPr/>
        </p:nvSpPr>
        <p:spPr>
          <a:xfrm>
            <a:off x="658368" y="2286000"/>
            <a:ext cx="10874959" cy="384048"/>
          </a:xfrm>
          <a:prstGeom prst="rect">
            <a:avLst/>
          </a:prstGeom>
          <a:solidFill>
            <a:srgbClr val="102A43"/>
          </a:solidFill>
          <a:ln w="12700">
            <a:solidFill>
              <a:srgbClr val="102A43"/>
            </a:solidFill>
            <a:prstDash val="solid"/>
          </a:ln>
        </p:spPr>
      </p:sp>
      <p:sp>
        <p:nvSpPr>
          <p:cNvPr id="12" name="Text 9"/>
          <p:cNvSpPr txBox="1"/>
          <p:nvPr/>
        </p:nvSpPr>
        <p:spPr>
          <a:xfrm>
            <a:off x="877824" y="2304288"/>
            <a:ext cx="2651760" cy="347472"/>
          </a:xfrm>
          <a:prstGeom prst="rect">
            <a:avLst/>
          </a:prstGeom>
          <a:noFill/>
          <a:ln/>
        </p:spPr>
        <p:txBody>
          <a:bodyPr wrap="square" lIns="0" tIns="0" rIns="0" bIns="0" rtlCol="0" anchor="ctr"/>
          <a:lstStyle/>
          <a:p>
            <a:pPr algn="l" indent="0" marL="0">
              <a:buNone/>
            </a:pPr>
            <a:r>
              <a:rPr lang="en-US" sz="920" b="1" spc="100" kern="0" dirty="0">
                <a:solidFill>
                  <a:srgbClr val="FFFFFF"/>
                </a:solidFill>
                <a:latin typeface="Aptos" pitchFamily="34" charset="0"/>
                <a:ea typeface="Aptos" pitchFamily="34" charset="-122"/>
                <a:cs typeface="Aptos" pitchFamily="34" charset="-120"/>
              </a:rPr>
              <a:t>CONDICIÓN / RESULTADO</a:t>
            </a:r>
            <a:endParaRPr lang="en-US" sz="920" dirty="0"/>
          </a:p>
        </p:txBody>
      </p:sp>
      <p:sp>
        <p:nvSpPr>
          <p:cNvPr id="13" name="Text 10"/>
          <p:cNvSpPr txBox="1"/>
          <p:nvPr/>
        </p:nvSpPr>
        <p:spPr>
          <a:xfrm>
            <a:off x="3584448" y="2304288"/>
            <a:ext cx="198722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R1</a:t>
            </a:r>
            <a:endParaRPr lang="en-US" sz="1200" dirty="0"/>
          </a:p>
        </p:txBody>
      </p:sp>
      <p:sp>
        <p:nvSpPr>
          <p:cNvPr id="14" name="Text 11"/>
          <p:cNvSpPr txBox="1"/>
          <p:nvPr/>
        </p:nvSpPr>
        <p:spPr>
          <a:xfrm>
            <a:off x="5571668" y="2304288"/>
            <a:ext cx="198722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R2</a:t>
            </a:r>
            <a:endParaRPr lang="en-US" sz="1200" dirty="0"/>
          </a:p>
        </p:txBody>
      </p:sp>
      <p:sp>
        <p:nvSpPr>
          <p:cNvPr id="15" name="Text 12"/>
          <p:cNvSpPr txBox="1"/>
          <p:nvPr/>
        </p:nvSpPr>
        <p:spPr>
          <a:xfrm>
            <a:off x="7558888" y="2304288"/>
            <a:ext cx="198722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R3</a:t>
            </a:r>
            <a:endParaRPr lang="en-US" sz="1200" dirty="0"/>
          </a:p>
        </p:txBody>
      </p:sp>
      <p:sp>
        <p:nvSpPr>
          <p:cNvPr id="16" name="Text 13"/>
          <p:cNvSpPr txBox="1"/>
          <p:nvPr/>
        </p:nvSpPr>
        <p:spPr>
          <a:xfrm>
            <a:off x="9546107" y="2304288"/>
            <a:ext cx="198722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R4</a:t>
            </a:r>
            <a:endParaRPr lang="en-US" sz="1200" dirty="0"/>
          </a:p>
        </p:txBody>
      </p:sp>
      <p:sp>
        <p:nvSpPr>
          <p:cNvPr id="17" name="Shape 14"/>
          <p:cNvSpPr/>
          <p:nvPr/>
        </p:nvSpPr>
        <p:spPr>
          <a:xfrm>
            <a:off x="658368" y="2724912"/>
            <a:ext cx="10874959" cy="402336"/>
          </a:xfrm>
          <a:prstGeom prst="rect">
            <a:avLst/>
          </a:prstGeom>
          <a:solidFill>
            <a:srgbClr val="FFFFFF"/>
          </a:solidFill>
          <a:ln w="12700">
            <a:solidFill>
              <a:srgbClr val="FFFFFF"/>
            </a:solidFill>
            <a:prstDash val="solid"/>
          </a:ln>
        </p:spPr>
      </p:sp>
      <p:sp>
        <p:nvSpPr>
          <p:cNvPr id="18" name="Text 15"/>
          <p:cNvSpPr txBox="1"/>
          <p:nvPr/>
        </p:nvSpPr>
        <p:spPr>
          <a:xfrm>
            <a:off x="877824" y="2743200"/>
            <a:ext cx="2651760" cy="365760"/>
          </a:xfrm>
          <a:prstGeom prst="rect">
            <a:avLst/>
          </a:prstGeom>
          <a:noFill/>
          <a:ln/>
        </p:spPr>
        <p:txBody>
          <a:bodyPr wrap="square" lIns="0" tIns="0" rIns="0" bIns="0" rtlCol="0" anchor="ctr"/>
          <a:lstStyle/>
          <a:p>
            <a:pPr algn="l" indent="0" marL="0">
              <a:buNone/>
            </a:pPr>
            <a:r>
              <a:rPr lang="en-US" sz="1220" dirty="0">
                <a:solidFill>
                  <a:srgbClr val="243B53"/>
                </a:solidFill>
                <a:latin typeface="Aptos" pitchFamily="34" charset="0"/>
                <a:ea typeface="Aptos" pitchFamily="34" charset="-122"/>
                <a:cs typeface="Aptos" pitchFamily="34" charset="-120"/>
              </a:rPr>
              <a:t>V: bloque válido</a:t>
            </a:r>
            <a:endParaRPr lang="en-US" sz="1220" dirty="0"/>
          </a:p>
        </p:txBody>
      </p:sp>
      <p:sp>
        <p:nvSpPr>
          <p:cNvPr id="19" name="Text 16"/>
          <p:cNvSpPr txBox="1"/>
          <p:nvPr/>
        </p:nvSpPr>
        <p:spPr>
          <a:xfrm>
            <a:off x="3584448" y="2743200"/>
            <a:ext cx="1987220" cy="365760"/>
          </a:xfrm>
          <a:prstGeom prst="rect">
            <a:avLst/>
          </a:prstGeom>
          <a:noFill/>
          <a:ln/>
        </p:spPr>
        <p:txBody>
          <a:bodyPr wrap="square" lIns="0" tIns="0" rIns="0" bIns="0" rtlCol="0" anchor="ctr"/>
          <a:lstStyle/>
          <a:p>
            <a:pPr algn="ctr" indent="0" marL="0">
              <a:buNone/>
            </a:pPr>
            <a:r>
              <a:rPr lang="en-US" sz="1400" b="1" dirty="0">
                <a:solidFill>
                  <a:srgbClr val="B3181E"/>
                </a:solidFill>
                <a:latin typeface="Consolas" pitchFamily="34" charset="0"/>
                <a:ea typeface="Consolas" pitchFamily="34" charset="-122"/>
                <a:cs typeface="Consolas" pitchFamily="34" charset="-120"/>
              </a:rPr>
              <a:t>F</a:t>
            </a:r>
            <a:endParaRPr lang="en-US" sz="1400" dirty="0"/>
          </a:p>
        </p:txBody>
      </p:sp>
      <p:sp>
        <p:nvSpPr>
          <p:cNvPr id="20" name="Text 17"/>
          <p:cNvSpPr txBox="1"/>
          <p:nvPr/>
        </p:nvSpPr>
        <p:spPr>
          <a:xfrm>
            <a:off x="5571668" y="2743200"/>
            <a:ext cx="1987220" cy="365760"/>
          </a:xfrm>
          <a:prstGeom prst="rect">
            <a:avLst/>
          </a:prstGeom>
          <a:noFill/>
          <a:ln/>
        </p:spPr>
        <p:txBody>
          <a:bodyPr wrap="square" lIns="0" tIns="0" rIns="0" bIns="0" rtlCol="0" anchor="ctr"/>
          <a:lstStyle/>
          <a:p>
            <a:pPr algn="ctr" indent="0" marL="0">
              <a:buNone/>
            </a:pPr>
            <a:r>
              <a:rPr lang="en-US" sz="1400" b="1" dirty="0">
                <a:solidFill>
                  <a:srgbClr val="2E7D4F"/>
                </a:solidFill>
                <a:latin typeface="Consolas" pitchFamily="34" charset="0"/>
                <a:ea typeface="Consolas" pitchFamily="34" charset="-122"/>
                <a:cs typeface="Consolas" pitchFamily="34" charset="-120"/>
              </a:rPr>
              <a:t>T</a:t>
            </a:r>
            <a:endParaRPr lang="en-US" sz="1400" dirty="0"/>
          </a:p>
        </p:txBody>
      </p:sp>
      <p:sp>
        <p:nvSpPr>
          <p:cNvPr id="21" name="Text 18"/>
          <p:cNvSpPr txBox="1"/>
          <p:nvPr/>
        </p:nvSpPr>
        <p:spPr>
          <a:xfrm>
            <a:off x="7558888" y="2743200"/>
            <a:ext cx="1987220" cy="365760"/>
          </a:xfrm>
          <a:prstGeom prst="rect">
            <a:avLst/>
          </a:prstGeom>
          <a:noFill/>
          <a:ln/>
        </p:spPr>
        <p:txBody>
          <a:bodyPr wrap="square" lIns="0" tIns="0" rIns="0" bIns="0" rtlCol="0" anchor="ctr"/>
          <a:lstStyle/>
          <a:p>
            <a:pPr algn="ctr" indent="0" marL="0">
              <a:buNone/>
            </a:pPr>
            <a:r>
              <a:rPr lang="en-US" sz="1400" b="1" dirty="0">
                <a:solidFill>
                  <a:srgbClr val="2E7D4F"/>
                </a:solidFill>
                <a:latin typeface="Consolas" pitchFamily="34" charset="0"/>
                <a:ea typeface="Consolas" pitchFamily="34" charset="-122"/>
                <a:cs typeface="Consolas" pitchFamily="34" charset="-120"/>
              </a:rPr>
              <a:t>T</a:t>
            </a:r>
            <a:endParaRPr lang="en-US" sz="1400" dirty="0"/>
          </a:p>
        </p:txBody>
      </p:sp>
      <p:sp>
        <p:nvSpPr>
          <p:cNvPr id="22" name="Text 19"/>
          <p:cNvSpPr txBox="1"/>
          <p:nvPr/>
        </p:nvSpPr>
        <p:spPr>
          <a:xfrm>
            <a:off x="9546107" y="2743200"/>
            <a:ext cx="1987220" cy="365760"/>
          </a:xfrm>
          <a:prstGeom prst="rect">
            <a:avLst/>
          </a:prstGeom>
          <a:noFill/>
          <a:ln/>
        </p:spPr>
        <p:txBody>
          <a:bodyPr wrap="square" lIns="0" tIns="0" rIns="0" bIns="0" rtlCol="0" anchor="ctr"/>
          <a:lstStyle/>
          <a:p>
            <a:pPr algn="ctr" indent="0" marL="0">
              <a:buNone/>
            </a:pPr>
            <a:r>
              <a:rPr lang="en-US" sz="1400" b="1" dirty="0">
                <a:solidFill>
                  <a:srgbClr val="2E7D4F"/>
                </a:solidFill>
                <a:latin typeface="Consolas" pitchFamily="34" charset="0"/>
                <a:ea typeface="Consolas" pitchFamily="34" charset="-122"/>
                <a:cs typeface="Consolas" pitchFamily="34" charset="-120"/>
              </a:rPr>
              <a:t>T</a:t>
            </a:r>
            <a:endParaRPr lang="en-US" sz="1400" dirty="0"/>
          </a:p>
        </p:txBody>
      </p:sp>
      <p:sp>
        <p:nvSpPr>
          <p:cNvPr id="23" name="Shape 20"/>
          <p:cNvSpPr/>
          <p:nvPr/>
        </p:nvSpPr>
        <p:spPr>
          <a:xfrm>
            <a:off x="658368" y="3182112"/>
            <a:ext cx="10874959" cy="402336"/>
          </a:xfrm>
          <a:prstGeom prst="rect">
            <a:avLst/>
          </a:prstGeom>
          <a:solidFill>
            <a:srgbClr val="EDE6DA"/>
          </a:solidFill>
          <a:ln w="12700">
            <a:solidFill>
              <a:srgbClr val="EDE6DA"/>
            </a:solidFill>
            <a:prstDash val="solid"/>
          </a:ln>
        </p:spPr>
      </p:sp>
      <p:sp>
        <p:nvSpPr>
          <p:cNvPr id="24" name="Text 21"/>
          <p:cNvSpPr txBox="1"/>
          <p:nvPr/>
        </p:nvSpPr>
        <p:spPr>
          <a:xfrm>
            <a:off x="877824" y="3200400"/>
            <a:ext cx="2651760" cy="365760"/>
          </a:xfrm>
          <a:prstGeom prst="rect">
            <a:avLst/>
          </a:prstGeom>
          <a:noFill/>
          <a:ln/>
        </p:spPr>
        <p:txBody>
          <a:bodyPr wrap="square" lIns="0" tIns="0" rIns="0" bIns="0" rtlCol="0" anchor="ctr"/>
          <a:lstStyle/>
          <a:p>
            <a:pPr algn="l" indent="0" marL="0">
              <a:buNone/>
            </a:pPr>
            <a:r>
              <a:rPr lang="en-US" sz="1220" dirty="0">
                <a:solidFill>
                  <a:srgbClr val="243B53"/>
                </a:solidFill>
                <a:latin typeface="Aptos" pitchFamily="34" charset="0"/>
                <a:ea typeface="Aptos" pitchFamily="34" charset="-122"/>
                <a:cs typeface="Aptos" pitchFamily="34" charset="-120"/>
              </a:rPr>
              <a:t>L: bloque libre</a:t>
            </a:r>
            <a:endParaRPr lang="en-US" sz="1220" dirty="0"/>
          </a:p>
        </p:txBody>
      </p:sp>
      <p:sp>
        <p:nvSpPr>
          <p:cNvPr id="25" name="Text 22"/>
          <p:cNvSpPr txBox="1"/>
          <p:nvPr/>
        </p:nvSpPr>
        <p:spPr>
          <a:xfrm>
            <a:off x="3584448" y="3200400"/>
            <a:ext cx="1987220" cy="365760"/>
          </a:xfrm>
          <a:prstGeom prst="rect">
            <a:avLst/>
          </a:prstGeom>
          <a:noFill/>
          <a:ln/>
        </p:spPr>
        <p:txBody>
          <a:bodyPr wrap="square" lIns="0" tIns="0" rIns="0" bIns="0" rtlCol="0" anchor="ctr"/>
          <a:lstStyle/>
          <a:p>
            <a:pPr algn="ctr" indent="0" marL="0">
              <a:buNone/>
            </a:pPr>
            <a:r>
              <a:rPr lang="en-US" sz="1400" b="1" dirty="0">
                <a:solidFill>
                  <a:srgbClr val="8A6A12"/>
                </a:solidFill>
                <a:latin typeface="Consolas" pitchFamily="34" charset="0"/>
                <a:ea typeface="Consolas" pitchFamily="34" charset="-122"/>
                <a:cs typeface="Consolas" pitchFamily="34" charset="-120"/>
              </a:rPr>
              <a:t>—</a:t>
            </a:r>
            <a:endParaRPr lang="en-US" sz="1400" dirty="0"/>
          </a:p>
        </p:txBody>
      </p:sp>
      <p:sp>
        <p:nvSpPr>
          <p:cNvPr id="26" name="Text 23"/>
          <p:cNvSpPr txBox="1"/>
          <p:nvPr/>
        </p:nvSpPr>
        <p:spPr>
          <a:xfrm>
            <a:off x="5571668" y="3200400"/>
            <a:ext cx="1987220" cy="365760"/>
          </a:xfrm>
          <a:prstGeom prst="rect">
            <a:avLst/>
          </a:prstGeom>
          <a:noFill/>
          <a:ln/>
        </p:spPr>
        <p:txBody>
          <a:bodyPr wrap="square" lIns="0" tIns="0" rIns="0" bIns="0" rtlCol="0" anchor="ctr"/>
          <a:lstStyle/>
          <a:p>
            <a:pPr algn="ctr" indent="0" marL="0">
              <a:buNone/>
            </a:pPr>
            <a:r>
              <a:rPr lang="en-US" sz="1400" b="1" dirty="0">
                <a:solidFill>
                  <a:srgbClr val="B3181E"/>
                </a:solidFill>
                <a:latin typeface="Consolas" pitchFamily="34" charset="0"/>
                <a:ea typeface="Consolas" pitchFamily="34" charset="-122"/>
                <a:cs typeface="Consolas" pitchFamily="34" charset="-120"/>
              </a:rPr>
              <a:t>F</a:t>
            </a:r>
            <a:endParaRPr lang="en-US" sz="1400" dirty="0"/>
          </a:p>
        </p:txBody>
      </p:sp>
      <p:sp>
        <p:nvSpPr>
          <p:cNvPr id="27" name="Text 24"/>
          <p:cNvSpPr txBox="1"/>
          <p:nvPr/>
        </p:nvSpPr>
        <p:spPr>
          <a:xfrm>
            <a:off x="7558888" y="3200400"/>
            <a:ext cx="1987220" cy="365760"/>
          </a:xfrm>
          <a:prstGeom prst="rect">
            <a:avLst/>
          </a:prstGeom>
          <a:noFill/>
          <a:ln/>
        </p:spPr>
        <p:txBody>
          <a:bodyPr wrap="square" lIns="0" tIns="0" rIns="0" bIns="0" rtlCol="0" anchor="ctr"/>
          <a:lstStyle/>
          <a:p>
            <a:pPr algn="ctr" indent="0" marL="0">
              <a:buNone/>
            </a:pPr>
            <a:r>
              <a:rPr lang="en-US" sz="1400" b="1" dirty="0">
                <a:solidFill>
                  <a:srgbClr val="2E7D4F"/>
                </a:solidFill>
                <a:latin typeface="Consolas" pitchFamily="34" charset="0"/>
                <a:ea typeface="Consolas" pitchFamily="34" charset="-122"/>
                <a:cs typeface="Consolas" pitchFamily="34" charset="-120"/>
              </a:rPr>
              <a:t>T</a:t>
            </a:r>
            <a:endParaRPr lang="en-US" sz="1400" dirty="0"/>
          </a:p>
        </p:txBody>
      </p:sp>
      <p:sp>
        <p:nvSpPr>
          <p:cNvPr id="28" name="Text 25"/>
          <p:cNvSpPr txBox="1"/>
          <p:nvPr/>
        </p:nvSpPr>
        <p:spPr>
          <a:xfrm>
            <a:off x="9546107" y="3200400"/>
            <a:ext cx="1987220" cy="365760"/>
          </a:xfrm>
          <a:prstGeom prst="rect">
            <a:avLst/>
          </a:prstGeom>
          <a:noFill/>
          <a:ln/>
        </p:spPr>
        <p:txBody>
          <a:bodyPr wrap="square" lIns="0" tIns="0" rIns="0" bIns="0" rtlCol="0" anchor="ctr"/>
          <a:lstStyle/>
          <a:p>
            <a:pPr algn="ctr" indent="0" marL="0">
              <a:buNone/>
            </a:pPr>
            <a:r>
              <a:rPr lang="en-US" sz="1400" b="1" dirty="0">
                <a:solidFill>
                  <a:srgbClr val="2E7D4F"/>
                </a:solidFill>
                <a:latin typeface="Consolas" pitchFamily="34" charset="0"/>
                <a:ea typeface="Consolas" pitchFamily="34" charset="-122"/>
                <a:cs typeface="Consolas" pitchFamily="34" charset="-120"/>
              </a:rPr>
              <a:t>T</a:t>
            </a:r>
            <a:endParaRPr lang="en-US" sz="1400" dirty="0"/>
          </a:p>
        </p:txBody>
      </p:sp>
      <p:sp>
        <p:nvSpPr>
          <p:cNvPr id="29" name="Shape 26"/>
          <p:cNvSpPr/>
          <p:nvPr/>
        </p:nvSpPr>
        <p:spPr>
          <a:xfrm>
            <a:off x="658368" y="3639312"/>
            <a:ext cx="10874959" cy="402336"/>
          </a:xfrm>
          <a:prstGeom prst="rect">
            <a:avLst/>
          </a:prstGeom>
          <a:solidFill>
            <a:srgbClr val="FFFFFF"/>
          </a:solidFill>
          <a:ln w="12700">
            <a:solidFill>
              <a:srgbClr val="FFFFFF"/>
            </a:solidFill>
            <a:prstDash val="solid"/>
          </a:ln>
        </p:spPr>
      </p:sp>
      <p:sp>
        <p:nvSpPr>
          <p:cNvPr id="30" name="Text 27"/>
          <p:cNvSpPr txBox="1"/>
          <p:nvPr/>
        </p:nvSpPr>
        <p:spPr>
          <a:xfrm>
            <a:off x="877824" y="3657600"/>
            <a:ext cx="2651760" cy="365760"/>
          </a:xfrm>
          <a:prstGeom prst="rect">
            <a:avLst/>
          </a:prstGeom>
          <a:noFill/>
          <a:ln/>
        </p:spPr>
        <p:txBody>
          <a:bodyPr wrap="square" lIns="0" tIns="0" rIns="0" bIns="0" rtlCol="0" anchor="ctr"/>
          <a:lstStyle/>
          <a:p>
            <a:pPr algn="l" indent="0" marL="0">
              <a:buNone/>
            </a:pPr>
            <a:r>
              <a:rPr lang="en-US" sz="1220" dirty="0">
                <a:solidFill>
                  <a:srgbClr val="243B53"/>
                </a:solidFill>
                <a:latin typeface="Aptos" pitchFamily="34" charset="0"/>
                <a:ea typeface="Aptos" pitchFamily="34" charset="-122"/>
                <a:cs typeface="Aptos" pitchFamily="34" charset="-120"/>
              </a:rPr>
              <a:t>C: cupo semanal</a:t>
            </a:r>
            <a:endParaRPr lang="en-US" sz="1220" dirty="0"/>
          </a:p>
        </p:txBody>
      </p:sp>
      <p:sp>
        <p:nvSpPr>
          <p:cNvPr id="31" name="Text 28"/>
          <p:cNvSpPr txBox="1"/>
          <p:nvPr/>
        </p:nvSpPr>
        <p:spPr>
          <a:xfrm>
            <a:off x="3584448" y="3657600"/>
            <a:ext cx="1987220" cy="365760"/>
          </a:xfrm>
          <a:prstGeom prst="rect">
            <a:avLst/>
          </a:prstGeom>
          <a:noFill/>
          <a:ln/>
        </p:spPr>
        <p:txBody>
          <a:bodyPr wrap="square" lIns="0" tIns="0" rIns="0" bIns="0" rtlCol="0" anchor="ctr"/>
          <a:lstStyle/>
          <a:p>
            <a:pPr algn="ctr" indent="0" marL="0">
              <a:buNone/>
            </a:pPr>
            <a:r>
              <a:rPr lang="en-US" sz="1400" b="1" dirty="0">
                <a:solidFill>
                  <a:srgbClr val="8A6A12"/>
                </a:solidFill>
                <a:latin typeface="Consolas" pitchFamily="34" charset="0"/>
                <a:ea typeface="Consolas" pitchFamily="34" charset="-122"/>
                <a:cs typeface="Consolas" pitchFamily="34" charset="-120"/>
              </a:rPr>
              <a:t>—</a:t>
            </a:r>
            <a:endParaRPr lang="en-US" sz="1400" dirty="0"/>
          </a:p>
        </p:txBody>
      </p:sp>
      <p:sp>
        <p:nvSpPr>
          <p:cNvPr id="32" name="Text 29"/>
          <p:cNvSpPr txBox="1"/>
          <p:nvPr/>
        </p:nvSpPr>
        <p:spPr>
          <a:xfrm>
            <a:off x="5571668" y="3657600"/>
            <a:ext cx="1987220" cy="365760"/>
          </a:xfrm>
          <a:prstGeom prst="rect">
            <a:avLst/>
          </a:prstGeom>
          <a:noFill/>
          <a:ln/>
        </p:spPr>
        <p:txBody>
          <a:bodyPr wrap="square" lIns="0" tIns="0" rIns="0" bIns="0" rtlCol="0" anchor="ctr"/>
          <a:lstStyle/>
          <a:p>
            <a:pPr algn="ctr" indent="0" marL="0">
              <a:buNone/>
            </a:pPr>
            <a:r>
              <a:rPr lang="en-US" sz="1400" b="1" dirty="0">
                <a:solidFill>
                  <a:srgbClr val="8A6A12"/>
                </a:solidFill>
                <a:latin typeface="Consolas" pitchFamily="34" charset="0"/>
                <a:ea typeface="Consolas" pitchFamily="34" charset="-122"/>
                <a:cs typeface="Consolas" pitchFamily="34" charset="-120"/>
              </a:rPr>
              <a:t>—</a:t>
            </a:r>
            <a:endParaRPr lang="en-US" sz="1400" dirty="0"/>
          </a:p>
        </p:txBody>
      </p:sp>
      <p:sp>
        <p:nvSpPr>
          <p:cNvPr id="33" name="Text 30"/>
          <p:cNvSpPr txBox="1"/>
          <p:nvPr/>
        </p:nvSpPr>
        <p:spPr>
          <a:xfrm>
            <a:off x="7558888" y="3657600"/>
            <a:ext cx="1987220" cy="365760"/>
          </a:xfrm>
          <a:prstGeom prst="rect">
            <a:avLst/>
          </a:prstGeom>
          <a:noFill/>
          <a:ln/>
        </p:spPr>
        <p:txBody>
          <a:bodyPr wrap="square" lIns="0" tIns="0" rIns="0" bIns="0" rtlCol="0" anchor="ctr"/>
          <a:lstStyle/>
          <a:p>
            <a:pPr algn="ctr" indent="0" marL="0">
              <a:buNone/>
            </a:pPr>
            <a:r>
              <a:rPr lang="en-US" sz="1400" b="1" dirty="0">
                <a:solidFill>
                  <a:srgbClr val="B3181E"/>
                </a:solidFill>
                <a:latin typeface="Consolas" pitchFamily="34" charset="0"/>
                <a:ea typeface="Consolas" pitchFamily="34" charset="-122"/>
                <a:cs typeface="Consolas" pitchFamily="34" charset="-120"/>
              </a:rPr>
              <a:t>F</a:t>
            </a:r>
            <a:endParaRPr lang="en-US" sz="1400" dirty="0"/>
          </a:p>
        </p:txBody>
      </p:sp>
      <p:sp>
        <p:nvSpPr>
          <p:cNvPr id="34" name="Text 31"/>
          <p:cNvSpPr txBox="1"/>
          <p:nvPr/>
        </p:nvSpPr>
        <p:spPr>
          <a:xfrm>
            <a:off x="9546107" y="3657600"/>
            <a:ext cx="1987220" cy="365760"/>
          </a:xfrm>
          <a:prstGeom prst="rect">
            <a:avLst/>
          </a:prstGeom>
          <a:noFill/>
          <a:ln/>
        </p:spPr>
        <p:txBody>
          <a:bodyPr wrap="square" lIns="0" tIns="0" rIns="0" bIns="0" rtlCol="0" anchor="ctr"/>
          <a:lstStyle/>
          <a:p>
            <a:pPr algn="ctr" indent="0" marL="0">
              <a:buNone/>
            </a:pPr>
            <a:r>
              <a:rPr lang="en-US" sz="1400" b="1" dirty="0">
                <a:solidFill>
                  <a:srgbClr val="2E7D4F"/>
                </a:solidFill>
                <a:latin typeface="Consolas" pitchFamily="34" charset="0"/>
                <a:ea typeface="Consolas" pitchFamily="34" charset="-122"/>
                <a:cs typeface="Consolas" pitchFamily="34" charset="-120"/>
              </a:rPr>
              <a:t>T</a:t>
            </a:r>
            <a:endParaRPr lang="en-US" sz="1400" dirty="0"/>
          </a:p>
        </p:txBody>
      </p:sp>
      <p:sp>
        <p:nvSpPr>
          <p:cNvPr id="35" name="Shape 32"/>
          <p:cNvSpPr/>
          <p:nvPr/>
        </p:nvSpPr>
        <p:spPr>
          <a:xfrm>
            <a:off x="658368" y="4096512"/>
            <a:ext cx="10874959" cy="438912"/>
          </a:xfrm>
          <a:prstGeom prst="rect">
            <a:avLst/>
          </a:prstGeom>
          <a:solidFill>
            <a:srgbClr val="F2E7D9"/>
          </a:solidFill>
          <a:ln w="12700">
            <a:solidFill>
              <a:srgbClr val="F2E7D9"/>
            </a:solidFill>
            <a:prstDash val="solid"/>
          </a:ln>
        </p:spPr>
      </p:sp>
      <p:sp>
        <p:nvSpPr>
          <p:cNvPr id="36" name="Shape 33"/>
          <p:cNvSpPr/>
          <p:nvPr/>
        </p:nvSpPr>
        <p:spPr>
          <a:xfrm>
            <a:off x="658368" y="4096512"/>
            <a:ext cx="54864" cy="438912"/>
          </a:xfrm>
          <a:prstGeom prst="rect">
            <a:avLst/>
          </a:prstGeom>
          <a:solidFill>
            <a:srgbClr val="8A6A12"/>
          </a:solidFill>
          <a:ln w="12700">
            <a:solidFill>
              <a:srgbClr val="8A6A12"/>
            </a:solidFill>
            <a:prstDash val="solid"/>
          </a:ln>
        </p:spPr>
      </p:sp>
      <p:sp>
        <p:nvSpPr>
          <p:cNvPr id="37" name="Text 34"/>
          <p:cNvSpPr txBox="1"/>
          <p:nvPr/>
        </p:nvSpPr>
        <p:spPr>
          <a:xfrm>
            <a:off x="877824" y="4114800"/>
            <a:ext cx="2651760" cy="402336"/>
          </a:xfrm>
          <a:prstGeom prst="rect">
            <a:avLst/>
          </a:prstGeom>
          <a:noFill/>
          <a:ln/>
        </p:spPr>
        <p:txBody>
          <a:bodyPr wrap="square" lIns="0" tIns="0" rIns="0" bIns="0" rtlCol="0" anchor="ctr"/>
          <a:lstStyle/>
          <a:p>
            <a:pPr algn="l" indent="0" marL="0">
              <a:buNone/>
            </a:pPr>
            <a:r>
              <a:rPr lang="en-US" sz="1260" b="1" dirty="0">
                <a:solidFill>
                  <a:srgbClr val="243B53"/>
                </a:solidFill>
                <a:latin typeface="Aptos" pitchFamily="34" charset="0"/>
                <a:ea typeface="Aptos" pitchFamily="34" charset="-122"/>
                <a:cs typeface="Aptos" pitchFamily="34" charset="-120"/>
              </a:rPr>
              <a:t>Permitir reserva</a:t>
            </a:r>
            <a:endParaRPr lang="en-US" sz="1260" dirty="0"/>
          </a:p>
        </p:txBody>
      </p:sp>
      <p:sp>
        <p:nvSpPr>
          <p:cNvPr id="38" name="Text 35"/>
          <p:cNvSpPr txBox="1"/>
          <p:nvPr/>
        </p:nvSpPr>
        <p:spPr>
          <a:xfrm>
            <a:off x="3584448" y="4114800"/>
            <a:ext cx="1987220" cy="402336"/>
          </a:xfrm>
          <a:prstGeom prst="rect">
            <a:avLst/>
          </a:prstGeom>
          <a:noFill/>
          <a:ln/>
        </p:spPr>
        <p:txBody>
          <a:bodyPr wrap="square" lIns="0" tIns="0" rIns="0" bIns="0" rtlCol="0" anchor="ctr"/>
          <a:lstStyle/>
          <a:p>
            <a:pPr algn="ctr" indent="0" marL="0">
              <a:buNone/>
            </a:pPr>
            <a:r>
              <a:rPr lang="en-US" sz="1500" b="1" dirty="0">
                <a:solidFill>
                  <a:srgbClr val="B3181E"/>
                </a:solidFill>
                <a:latin typeface="Consolas" pitchFamily="34" charset="0"/>
                <a:ea typeface="Consolas" pitchFamily="34" charset="-122"/>
                <a:cs typeface="Consolas" pitchFamily="34" charset="-120"/>
              </a:rPr>
              <a:t>F</a:t>
            </a:r>
            <a:endParaRPr lang="en-US" sz="1500" dirty="0"/>
          </a:p>
        </p:txBody>
      </p:sp>
      <p:sp>
        <p:nvSpPr>
          <p:cNvPr id="39" name="Text 36"/>
          <p:cNvSpPr txBox="1"/>
          <p:nvPr/>
        </p:nvSpPr>
        <p:spPr>
          <a:xfrm>
            <a:off x="5571668" y="4114800"/>
            <a:ext cx="1987220" cy="402336"/>
          </a:xfrm>
          <a:prstGeom prst="rect">
            <a:avLst/>
          </a:prstGeom>
          <a:noFill/>
          <a:ln/>
        </p:spPr>
        <p:txBody>
          <a:bodyPr wrap="square" lIns="0" tIns="0" rIns="0" bIns="0" rtlCol="0" anchor="ctr"/>
          <a:lstStyle/>
          <a:p>
            <a:pPr algn="ctr" indent="0" marL="0">
              <a:buNone/>
            </a:pPr>
            <a:r>
              <a:rPr lang="en-US" sz="1500" b="1" dirty="0">
                <a:solidFill>
                  <a:srgbClr val="B3181E"/>
                </a:solidFill>
                <a:latin typeface="Consolas" pitchFamily="34" charset="0"/>
                <a:ea typeface="Consolas" pitchFamily="34" charset="-122"/>
                <a:cs typeface="Consolas" pitchFamily="34" charset="-120"/>
              </a:rPr>
              <a:t>F</a:t>
            </a:r>
            <a:endParaRPr lang="en-US" sz="1500" dirty="0"/>
          </a:p>
        </p:txBody>
      </p:sp>
      <p:sp>
        <p:nvSpPr>
          <p:cNvPr id="40" name="Text 37"/>
          <p:cNvSpPr txBox="1"/>
          <p:nvPr/>
        </p:nvSpPr>
        <p:spPr>
          <a:xfrm>
            <a:off x="7558888" y="4114800"/>
            <a:ext cx="1987220" cy="402336"/>
          </a:xfrm>
          <a:prstGeom prst="rect">
            <a:avLst/>
          </a:prstGeom>
          <a:noFill/>
          <a:ln/>
        </p:spPr>
        <p:txBody>
          <a:bodyPr wrap="square" lIns="0" tIns="0" rIns="0" bIns="0" rtlCol="0" anchor="ctr"/>
          <a:lstStyle/>
          <a:p>
            <a:pPr algn="ctr" indent="0" marL="0">
              <a:buNone/>
            </a:pPr>
            <a:r>
              <a:rPr lang="en-US" sz="1500" b="1" dirty="0">
                <a:solidFill>
                  <a:srgbClr val="B3181E"/>
                </a:solidFill>
                <a:latin typeface="Consolas" pitchFamily="34" charset="0"/>
                <a:ea typeface="Consolas" pitchFamily="34" charset="-122"/>
                <a:cs typeface="Consolas" pitchFamily="34" charset="-120"/>
              </a:rPr>
              <a:t>F</a:t>
            </a:r>
            <a:endParaRPr lang="en-US" sz="1500" dirty="0"/>
          </a:p>
        </p:txBody>
      </p:sp>
      <p:sp>
        <p:nvSpPr>
          <p:cNvPr id="41" name="Text 38"/>
          <p:cNvSpPr txBox="1"/>
          <p:nvPr/>
        </p:nvSpPr>
        <p:spPr>
          <a:xfrm>
            <a:off x="9546107" y="4114800"/>
            <a:ext cx="1987220" cy="402336"/>
          </a:xfrm>
          <a:prstGeom prst="rect">
            <a:avLst/>
          </a:prstGeom>
          <a:noFill/>
          <a:ln/>
        </p:spPr>
        <p:txBody>
          <a:bodyPr wrap="square" lIns="0" tIns="0" rIns="0" bIns="0" rtlCol="0" anchor="ctr"/>
          <a:lstStyle/>
          <a:p>
            <a:pPr algn="ctr" indent="0" marL="0">
              <a:buNone/>
            </a:pPr>
            <a:r>
              <a:rPr lang="en-US" sz="1500" b="1" dirty="0">
                <a:solidFill>
                  <a:srgbClr val="2E7D4F"/>
                </a:solidFill>
                <a:latin typeface="Consolas" pitchFamily="34" charset="0"/>
                <a:ea typeface="Consolas" pitchFamily="34" charset="-122"/>
                <a:cs typeface="Consolas" pitchFamily="34" charset="-120"/>
              </a:rPr>
              <a:t>T</a:t>
            </a:r>
            <a:endParaRPr lang="en-US" sz="1500" dirty="0"/>
          </a:p>
        </p:txBody>
      </p:sp>
      <p:sp>
        <p:nvSpPr>
          <p:cNvPr id="42" name="Text 39"/>
          <p:cNvSpPr txBox="1"/>
          <p:nvPr/>
        </p:nvSpPr>
        <p:spPr>
          <a:xfrm>
            <a:off x="877824" y="4590288"/>
            <a:ext cx="2651760" cy="219456"/>
          </a:xfrm>
          <a:prstGeom prst="rect">
            <a:avLst/>
          </a:prstGeom>
          <a:noFill/>
          <a:ln/>
        </p:spPr>
        <p:txBody>
          <a:bodyPr wrap="square" lIns="0" tIns="0" rIns="0" bIns="0" rtlCol="0" anchor="t"/>
          <a:lstStyle/>
          <a:p>
            <a:pPr algn="l" indent="0" marL="0">
              <a:buNone/>
            </a:pPr>
            <a:r>
              <a:rPr lang="en-US" sz="1040" i="1" dirty="0">
                <a:solidFill>
                  <a:srgbClr val="52606D"/>
                </a:solidFill>
                <a:latin typeface="Aptos" pitchFamily="34" charset="0"/>
                <a:ea typeface="Aptos" pitchFamily="34" charset="-122"/>
                <a:cs typeface="Aptos" pitchFamily="34" charset="-120"/>
              </a:rPr>
              <a:t>Columnas que representa</a:t>
            </a:r>
            <a:endParaRPr lang="en-US" sz="1040" dirty="0"/>
          </a:p>
        </p:txBody>
      </p:sp>
      <p:sp>
        <p:nvSpPr>
          <p:cNvPr id="43" name="Text 40"/>
          <p:cNvSpPr txBox="1"/>
          <p:nvPr/>
        </p:nvSpPr>
        <p:spPr>
          <a:xfrm>
            <a:off x="3584448" y="4590288"/>
            <a:ext cx="1987220" cy="219456"/>
          </a:xfrm>
          <a:prstGeom prst="rect">
            <a:avLst/>
          </a:prstGeom>
          <a:noFill/>
          <a:ln/>
        </p:spPr>
        <p:txBody>
          <a:bodyPr wrap="square" lIns="0" tIns="0" rIns="0" bIns="0" rtlCol="0" anchor="t"/>
          <a:lstStyle/>
          <a:p>
            <a:pPr algn="ctr" indent="0" marL="0">
              <a:buNone/>
            </a:pPr>
            <a:r>
              <a:rPr lang="en-US" sz="1040" dirty="0">
                <a:solidFill>
                  <a:srgbClr val="52606D"/>
                </a:solidFill>
                <a:latin typeface="Aptos" pitchFamily="34" charset="0"/>
                <a:ea typeface="Aptos" pitchFamily="34" charset="-122"/>
                <a:cs typeface="Aptos" pitchFamily="34" charset="-120"/>
              </a:rPr>
              <a:t>T5–T8  (4)</a:t>
            </a:r>
            <a:endParaRPr lang="en-US" sz="1040" dirty="0"/>
          </a:p>
        </p:txBody>
      </p:sp>
      <p:sp>
        <p:nvSpPr>
          <p:cNvPr id="44" name="Text 41"/>
          <p:cNvSpPr txBox="1"/>
          <p:nvPr/>
        </p:nvSpPr>
        <p:spPr>
          <a:xfrm>
            <a:off x="5571668" y="4590288"/>
            <a:ext cx="1987220" cy="219456"/>
          </a:xfrm>
          <a:prstGeom prst="rect">
            <a:avLst/>
          </a:prstGeom>
          <a:noFill/>
          <a:ln/>
        </p:spPr>
        <p:txBody>
          <a:bodyPr wrap="square" lIns="0" tIns="0" rIns="0" bIns="0" rtlCol="0" anchor="t"/>
          <a:lstStyle/>
          <a:p>
            <a:pPr algn="ctr" indent="0" marL="0">
              <a:buNone/>
            </a:pPr>
            <a:r>
              <a:rPr lang="en-US" sz="1040" dirty="0">
                <a:solidFill>
                  <a:srgbClr val="52606D"/>
                </a:solidFill>
                <a:latin typeface="Aptos" pitchFamily="34" charset="0"/>
                <a:ea typeface="Aptos" pitchFamily="34" charset="-122"/>
                <a:cs typeface="Aptos" pitchFamily="34" charset="-120"/>
              </a:rPr>
              <a:t>T3–T4  (2)</a:t>
            </a:r>
            <a:endParaRPr lang="en-US" sz="1040" dirty="0"/>
          </a:p>
        </p:txBody>
      </p:sp>
      <p:sp>
        <p:nvSpPr>
          <p:cNvPr id="45" name="Text 42"/>
          <p:cNvSpPr txBox="1"/>
          <p:nvPr/>
        </p:nvSpPr>
        <p:spPr>
          <a:xfrm>
            <a:off x="7558888" y="4590288"/>
            <a:ext cx="1987220" cy="219456"/>
          </a:xfrm>
          <a:prstGeom prst="rect">
            <a:avLst/>
          </a:prstGeom>
          <a:noFill/>
          <a:ln/>
        </p:spPr>
        <p:txBody>
          <a:bodyPr wrap="square" lIns="0" tIns="0" rIns="0" bIns="0" rtlCol="0" anchor="t"/>
          <a:lstStyle/>
          <a:p>
            <a:pPr algn="ctr" indent="0" marL="0">
              <a:buNone/>
            </a:pPr>
            <a:r>
              <a:rPr lang="en-US" sz="1040" dirty="0">
                <a:solidFill>
                  <a:srgbClr val="52606D"/>
                </a:solidFill>
                <a:latin typeface="Aptos" pitchFamily="34" charset="0"/>
                <a:ea typeface="Aptos" pitchFamily="34" charset="-122"/>
                <a:cs typeface="Aptos" pitchFamily="34" charset="-120"/>
              </a:rPr>
              <a:t>T2  (1)</a:t>
            </a:r>
            <a:endParaRPr lang="en-US" sz="1040" dirty="0"/>
          </a:p>
        </p:txBody>
      </p:sp>
      <p:sp>
        <p:nvSpPr>
          <p:cNvPr id="46" name="Text 43"/>
          <p:cNvSpPr txBox="1"/>
          <p:nvPr/>
        </p:nvSpPr>
        <p:spPr>
          <a:xfrm>
            <a:off x="9546107" y="4590288"/>
            <a:ext cx="1987220" cy="219456"/>
          </a:xfrm>
          <a:prstGeom prst="rect">
            <a:avLst/>
          </a:prstGeom>
          <a:noFill/>
          <a:ln/>
        </p:spPr>
        <p:txBody>
          <a:bodyPr wrap="square" lIns="0" tIns="0" rIns="0" bIns="0" rtlCol="0" anchor="t"/>
          <a:lstStyle/>
          <a:p>
            <a:pPr algn="ctr" indent="0" marL="0">
              <a:buNone/>
            </a:pPr>
            <a:r>
              <a:rPr lang="en-US" sz="1040" dirty="0">
                <a:solidFill>
                  <a:srgbClr val="52606D"/>
                </a:solidFill>
                <a:latin typeface="Aptos" pitchFamily="34" charset="0"/>
                <a:ea typeface="Aptos" pitchFamily="34" charset="-122"/>
                <a:cs typeface="Aptos" pitchFamily="34" charset="-120"/>
              </a:rPr>
              <a:t>T1  (1)</a:t>
            </a:r>
            <a:endParaRPr lang="en-US" sz="1040" dirty="0"/>
          </a:p>
        </p:txBody>
      </p:sp>
      <p:sp>
        <p:nvSpPr>
          <p:cNvPr id="47" name="Shape 44"/>
          <p:cNvSpPr/>
          <p:nvPr/>
        </p:nvSpPr>
        <p:spPr>
          <a:xfrm>
            <a:off x="658368" y="4956048"/>
            <a:ext cx="10874959" cy="841248"/>
          </a:xfrm>
          <a:prstGeom prst="rect">
            <a:avLst/>
          </a:prstGeom>
          <a:solidFill>
            <a:srgbClr val="F8E4E5"/>
          </a:solidFill>
          <a:ln w="12700">
            <a:solidFill>
              <a:srgbClr val="F8E4E5"/>
            </a:solidFill>
            <a:prstDash val="solid"/>
          </a:ln>
        </p:spPr>
      </p:sp>
      <p:sp>
        <p:nvSpPr>
          <p:cNvPr id="48" name="Shape 45"/>
          <p:cNvSpPr/>
          <p:nvPr/>
        </p:nvSpPr>
        <p:spPr>
          <a:xfrm>
            <a:off x="658368" y="4956048"/>
            <a:ext cx="64008" cy="841248"/>
          </a:xfrm>
          <a:prstGeom prst="rect">
            <a:avLst/>
          </a:prstGeom>
          <a:solidFill>
            <a:srgbClr val="B3181E"/>
          </a:solidFill>
          <a:ln w="12700">
            <a:solidFill>
              <a:srgbClr val="B3181E"/>
            </a:solidFill>
            <a:prstDash val="solid"/>
          </a:ln>
        </p:spPr>
      </p:sp>
      <p:sp>
        <p:nvSpPr>
          <p:cNvPr id="49" name="Text 46"/>
          <p:cNvSpPr txBox="1"/>
          <p:nvPr/>
        </p:nvSpPr>
        <p:spPr>
          <a:xfrm>
            <a:off x="987552" y="5102352"/>
            <a:ext cx="54864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QUÉ SIGNIFICA EL GUION, Y QUÉ NO</a:t>
            </a:r>
            <a:endParaRPr lang="en-US" sz="960" dirty="0"/>
          </a:p>
        </p:txBody>
      </p:sp>
      <p:sp>
        <p:nvSpPr>
          <p:cNvPr id="50" name="Text 47"/>
          <p:cNvSpPr txBox="1"/>
          <p:nvPr/>
        </p:nvSpPr>
        <p:spPr>
          <a:xfrm>
            <a:off x="987552" y="5321808"/>
            <a:ext cx="10216591" cy="420624"/>
          </a:xfrm>
          <a:prstGeom prst="rect">
            <a:avLst/>
          </a:prstGeom>
          <a:noFill/>
          <a:ln/>
        </p:spPr>
        <p:txBody>
          <a:bodyPr wrap="square" lIns="0" tIns="0" rIns="0" bIns="0" rtlCol="0" anchor="t"/>
          <a:lstStyle/>
          <a:p>
            <a:pPr algn="l" indent="0" marL="0">
              <a:lnSpc>
                <a:spcPct val="114000"/>
              </a:lnSpc>
              <a:buNone/>
            </a:pPr>
            <a:r>
              <a:rPr lang="en-US" sz="1240" dirty="0">
                <a:solidFill>
                  <a:srgbClr val="243B53"/>
                </a:solidFill>
                <a:latin typeface="Aptos" pitchFamily="34" charset="0"/>
                <a:ea typeface="Aptos" pitchFamily="34" charset="-122"/>
                <a:cs typeface="Aptos" pitchFamily="34" charset="-120"/>
              </a:rPr>
              <a:t>El «—» significa que ambos valores conducen al mismo resultado en esa regla. NO significa desconocido, ni sin</a:t>
            </a:r>
            <a:endParaRPr lang="en-US" sz="1240" dirty="0"/>
          </a:p>
          <a:p>
            <a:pPr algn="l" indent="0" marL="0">
              <a:lnSpc>
                <a:spcPct val="114000"/>
              </a:lnSpc>
              <a:buNone/>
            </a:pPr>
            <a:r>
              <a:rPr lang="en-US" sz="1240" dirty="0">
                <a:solidFill>
                  <a:srgbClr val="243B53"/>
                </a:solidFill>
                <a:latin typeface="Aptos" pitchFamily="34" charset="0"/>
                <a:ea typeface="Aptos" pitchFamily="34" charset="-122"/>
                <a:cs typeface="Aptos" pitchFamily="34" charset="-120"/>
              </a:rPr>
              <a:t>especificar, ni «no se probó». No sirve para esconder una decisión pendiente.</a:t>
            </a:r>
            <a:endParaRPr lang="en-US" sz="1240" dirty="0"/>
          </a:p>
        </p:txBody>
      </p:sp>
      <p:sp>
        <p:nvSpPr>
          <p:cNvPr id="51" name="Shape 48"/>
          <p:cNvSpPr/>
          <p:nvPr/>
        </p:nvSpPr>
        <p:spPr>
          <a:xfrm>
            <a:off x="658368" y="5943600"/>
            <a:ext cx="10874959" cy="457200"/>
          </a:xfrm>
          <a:prstGeom prst="rect">
            <a:avLst/>
          </a:prstGeom>
          <a:solidFill>
            <a:srgbClr val="102A43"/>
          </a:solidFill>
          <a:ln w="12700">
            <a:solidFill>
              <a:srgbClr val="102A43"/>
            </a:solidFill>
            <a:prstDash val="solid"/>
          </a:ln>
        </p:spPr>
      </p:sp>
      <p:sp>
        <p:nvSpPr>
          <p:cNvPr id="52" name="Text 49"/>
          <p:cNvSpPr txBox="1"/>
          <p:nvPr/>
        </p:nvSpPr>
        <p:spPr>
          <a:xfrm>
            <a:off x="969264" y="5980176"/>
            <a:ext cx="10253167" cy="384048"/>
          </a:xfrm>
          <a:prstGeom prst="rect">
            <a:avLst/>
          </a:prstGeom>
          <a:noFill/>
          <a:ln/>
        </p:spPr>
        <p:txBody>
          <a:bodyPr wrap="square" lIns="0" tIns="0" rIns="0" bIns="0" rtlCol="0" anchor="ctr"/>
          <a:lstStyle/>
          <a:p>
            <a:pPr algn="ctr" indent="0" marL="0">
              <a:lnSpc>
                <a:spcPct val="110000"/>
              </a:lnSpc>
              <a:buNone/>
            </a:pPr>
            <a:r>
              <a:rPr lang="en-US" sz="1320" b="1" dirty="0">
                <a:solidFill>
                  <a:srgbClr val="FFFFFF"/>
                </a:solidFill>
                <a:latin typeface="Aptos" pitchFamily="34" charset="0"/>
                <a:ea typeface="Aptos" pitchFamily="34" charset="-122"/>
                <a:cs typeface="Aptos" pitchFamily="34" charset="-120"/>
              </a:rPr>
              <a:t>No se eliminaron requisitos: se comprimió su representación.</a:t>
            </a:r>
            <a:endParaRPr lang="en-US" sz="132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63</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COMPROBAR</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La reducción se verifica expandiéndola otra vez</a:t>
            </a:r>
            <a:endParaRPr lang="en-US" sz="3000" dirty="0"/>
          </a:p>
        </p:txBody>
      </p:sp>
      <p:sp>
        <p:nvSpPr>
          <p:cNvPr id="10" name="Text 7"/>
          <p:cNvSpPr txBox="1"/>
          <p:nvPr/>
        </p:nvSpPr>
        <p:spPr>
          <a:xfrm>
            <a:off x="658368" y="1773936"/>
            <a:ext cx="72237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Para cada una de las ocho combinaciones tiene que existir una regla reducida que produzca el mismo resultado.</a:t>
            </a:r>
            <a:endParaRPr lang="en-US" sz="1450" dirty="0"/>
          </a:p>
        </p:txBody>
      </p:sp>
      <p:sp>
        <p:nvSpPr>
          <p:cNvPr id="11" name="Shape 8"/>
          <p:cNvSpPr/>
          <p:nvPr/>
        </p:nvSpPr>
        <p:spPr>
          <a:xfrm>
            <a:off x="8165592" y="1883664"/>
            <a:ext cx="1060704" cy="274320"/>
          </a:xfrm>
          <a:prstGeom prst="rect">
            <a:avLst/>
          </a:prstGeom>
          <a:solidFill>
            <a:srgbClr val="EDE6DA"/>
          </a:solidFill>
          <a:ln w="12700">
            <a:solidFill>
              <a:srgbClr val="EDE6DA"/>
            </a:solidFill>
            <a:prstDash val="solid"/>
          </a:ln>
        </p:spPr>
      </p:sp>
      <p:sp>
        <p:nvSpPr>
          <p:cNvPr id="12" name="Text 9"/>
          <p:cNvSpPr txBox="1"/>
          <p:nvPr/>
        </p:nvSpPr>
        <p:spPr>
          <a:xfrm>
            <a:off x="8165592"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Leer</a:t>
            </a:r>
            <a:endParaRPr lang="en-US" sz="940" dirty="0"/>
          </a:p>
        </p:txBody>
      </p:sp>
      <p:sp>
        <p:nvSpPr>
          <p:cNvPr id="13" name="Shape 10"/>
          <p:cNvSpPr/>
          <p:nvPr/>
        </p:nvSpPr>
        <p:spPr>
          <a:xfrm>
            <a:off x="9317736" y="1883664"/>
            <a:ext cx="1060704" cy="274320"/>
          </a:xfrm>
          <a:prstGeom prst="rect">
            <a:avLst/>
          </a:prstGeom>
          <a:solidFill>
            <a:srgbClr val="EDE6DA"/>
          </a:solidFill>
          <a:ln w="12700">
            <a:solidFill>
              <a:srgbClr val="EDE6DA"/>
            </a:solidFill>
            <a:prstDash val="solid"/>
          </a:ln>
        </p:spPr>
      </p:sp>
      <p:sp>
        <p:nvSpPr>
          <p:cNvPr id="14" name="Text 11"/>
          <p:cNvSpPr txBox="1"/>
          <p:nvPr/>
        </p:nvSpPr>
        <p:spPr>
          <a:xfrm>
            <a:off x="9317736"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Predecir</a:t>
            </a:r>
            <a:endParaRPr lang="en-US" sz="940" dirty="0"/>
          </a:p>
        </p:txBody>
      </p:sp>
      <p:sp>
        <p:nvSpPr>
          <p:cNvPr id="15" name="Shape 12"/>
          <p:cNvSpPr/>
          <p:nvPr/>
        </p:nvSpPr>
        <p:spPr>
          <a:xfrm>
            <a:off x="10469880" y="1883664"/>
            <a:ext cx="1060704" cy="274320"/>
          </a:xfrm>
          <a:prstGeom prst="rect">
            <a:avLst/>
          </a:prstGeom>
          <a:solidFill>
            <a:srgbClr val="102A43"/>
          </a:solidFill>
          <a:ln w="12700">
            <a:solidFill>
              <a:srgbClr val="102A43"/>
            </a:solidFill>
            <a:prstDash val="solid"/>
          </a:ln>
        </p:spPr>
      </p:sp>
      <p:sp>
        <p:nvSpPr>
          <p:cNvPr id="16" name="Text 13"/>
          <p:cNvSpPr txBox="1"/>
          <p:nvPr/>
        </p:nvSpPr>
        <p:spPr>
          <a:xfrm>
            <a:off x="10469880"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FFFFFF"/>
                </a:solidFill>
                <a:latin typeface="Aptos" pitchFamily="34" charset="0"/>
                <a:ea typeface="Aptos" pitchFamily="34" charset="-122"/>
                <a:cs typeface="Aptos" pitchFamily="34" charset="-120"/>
              </a:rPr>
              <a:t>Comprobar</a:t>
            </a:r>
            <a:endParaRPr lang="en-US" sz="940" dirty="0"/>
          </a:p>
        </p:txBody>
      </p:sp>
      <p:sp>
        <p:nvSpPr>
          <p:cNvPr id="17" name="Shape 14"/>
          <p:cNvSpPr/>
          <p:nvPr/>
        </p:nvSpPr>
        <p:spPr>
          <a:xfrm>
            <a:off x="658368" y="2286000"/>
            <a:ext cx="10874959" cy="1737360"/>
          </a:xfrm>
          <a:prstGeom prst="roundRect">
            <a:avLst>
              <a:gd name="adj" fmla="val 2105"/>
            </a:avLst>
          </a:prstGeom>
          <a:solidFill>
            <a:srgbClr val="0F1720"/>
          </a:solidFill>
          <a:ln w="12700">
            <a:solidFill>
              <a:srgbClr val="0F1720"/>
            </a:solidFill>
            <a:prstDash val="solid"/>
          </a:ln>
        </p:spPr>
      </p:sp>
      <p:sp>
        <p:nvSpPr>
          <p:cNvPr id="18" name="Shape 15"/>
          <p:cNvSpPr/>
          <p:nvPr/>
        </p:nvSpPr>
        <p:spPr>
          <a:xfrm>
            <a:off x="786384" y="2395728"/>
            <a:ext cx="10618927" cy="310896"/>
          </a:xfrm>
          <a:prstGeom prst="roundRect">
            <a:avLst>
              <a:gd name="adj" fmla="val 8824"/>
            </a:avLst>
          </a:prstGeom>
          <a:solidFill>
            <a:srgbClr val="1E2937"/>
          </a:solidFill>
          <a:ln w="12700">
            <a:solidFill>
              <a:srgbClr val="1E2937"/>
            </a:solidFill>
            <a:prstDash val="solid"/>
          </a:ln>
        </p:spPr>
      </p:sp>
      <p:sp>
        <p:nvSpPr>
          <p:cNvPr id="19" name="Text 16"/>
          <p:cNvSpPr/>
          <p:nvPr/>
        </p:nvSpPr>
        <p:spPr>
          <a:xfrm>
            <a:off x="914400" y="2468880"/>
            <a:ext cx="10362895"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Las ocho combinaciones, contrastadas contra la tabla reducida</a:t>
            </a:r>
            <a:endParaRPr lang="en-US" sz="1000" dirty="0"/>
          </a:p>
        </p:txBody>
      </p:sp>
      <p:sp>
        <p:nvSpPr>
          <p:cNvPr id="20" name="Text 17"/>
          <p:cNvSpPr/>
          <p:nvPr/>
        </p:nvSpPr>
        <p:spPr>
          <a:xfrm>
            <a:off x="877824" y="2852928"/>
            <a:ext cx="10125151"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combinaciones: 8</a:t>
            </a:r>
            <a:endParaRPr lang="en-US" sz="1040" dirty="0"/>
          </a:p>
        </p:txBody>
      </p:sp>
      <p:sp>
        <p:nvSpPr>
          <p:cNvPr id="21" name="Text 18"/>
          <p:cNvSpPr/>
          <p:nvPr/>
        </p:nvSpPr>
        <p:spPr>
          <a:xfrm>
            <a:off x="877824" y="3108960"/>
            <a:ext cx="10125151"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combinaciones por regla: {'R1': 4, 'R2': 2, 'R3': 1, 'R4': 1}</a:t>
            </a:r>
            <a:endParaRPr lang="en-US" sz="1040" dirty="0"/>
          </a:p>
        </p:txBody>
      </p:sp>
      <p:sp>
        <p:nvSpPr>
          <p:cNvPr id="22" name="Text 19"/>
          <p:cNvSpPr/>
          <p:nvPr/>
        </p:nvSpPr>
        <p:spPr>
          <a:xfrm>
            <a:off x="877824" y="3364992"/>
            <a:ext cx="10125151"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huecos: 0; solapamientos: 0; desacuerdos con la tabla completa: 0</a:t>
            </a:r>
            <a:endParaRPr lang="en-US" sz="1040" dirty="0"/>
          </a:p>
        </p:txBody>
      </p:sp>
      <p:sp>
        <p:nvSpPr>
          <p:cNvPr id="23" name="Shape 20"/>
          <p:cNvSpPr/>
          <p:nvPr/>
        </p:nvSpPr>
        <p:spPr>
          <a:xfrm>
            <a:off x="658368" y="4187952"/>
            <a:ext cx="3465576" cy="749808"/>
          </a:xfrm>
          <a:prstGeom prst="rect">
            <a:avLst/>
          </a:prstGeom>
          <a:solidFill>
            <a:srgbClr val="E9F6EE"/>
          </a:solidFill>
          <a:ln w="12700">
            <a:solidFill>
              <a:srgbClr val="E9F6EE"/>
            </a:solidFill>
            <a:prstDash val="solid"/>
          </a:ln>
        </p:spPr>
      </p:sp>
      <p:sp>
        <p:nvSpPr>
          <p:cNvPr id="24" name="Shape 21"/>
          <p:cNvSpPr/>
          <p:nvPr/>
        </p:nvSpPr>
        <p:spPr>
          <a:xfrm>
            <a:off x="658368" y="4187952"/>
            <a:ext cx="3465576" cy="54864"/>
          </a:xfrm>
          <a:prstGeom prst="rect">
            <a:avLst/>
          </a:prstGeom>
          <a:solidFill>
            <a:srgbClr val="2E7D4F"/>
          </a:solidFill>
          <a:ln w="12700">
            <a:solidFill>
              <a:srgbClr val="2E7D4F"/>
            </a:solidFill>
            <a:prstDash val="solid"/>
          </a:ln>
        </p:spPr>
      </p:sp>
      <p:sp>
        <p:nvSpPr>
          <p:cNvPr id="25" name="Text 22"/>
          <p:cNvSpPr txBox="1"/>
          <p:nvPr/>
        </p:nvSpPr>
        <p:spPr>
          <a:xfrm>
            <a:off x="914400" y="4297680"/>
            <a:ext cx="2962656" cy="237744"/>
          </a:xfrm>
          <a:prstGeom prst="rect">
            <a:avLst/>
          </a:prstGeom>
          <a:noFill/>
          <a:ln/>
        </p:spPr>
        <p:txBody>
          <a:bodyPr wrap="square" lIns="0" tIns="0" rIns="0" bIns="0" rtlCol="0" anchor="t"/>
          <a:lstStyle/>
          <a:p>
            <a:pPr algn="l" indent="0" marL="0">
              <a:buNone/>
            </a:pPr>
            <a:r>
              <a:rPr lang="en-US" sz="1300" b="1" dirty="0">
                <a:solidFill>
                  <a:srgbClr val="2E7D4F"/>
                </a:solidFill>
                <a:latin typeface="Aptos" pitchFamily="34" charset="0"/>
                <a:ea typeface="Aptos" pitchFamily="34" charset="-122"/>
                <a:cs typeface="Aptos" pitchFamily="34" charset="-120"/>
              </a:rPr>
              <a:t>Sin huecos</a:t>
            </a:r>
            <a:endParaRPr lang="en-US" sz="1300" dirty="0"/>
          </a:p>
        </p:txBody>
      </p:sp>
      <p:sp>
        <p:nvSpPr>
          <p:cNvPr id="26" name="Text 23"/>
          <p:cNvSpPr txBox="1"/>
          <p:nvPr/>
        </p:nvSpPr>
        <p:spPr>
          <a:xfrm>
            <a:off x="914400" y="4553712"/>
            <a:ext cx="2962656" cy="310896"/>
          </a:xfrm>
          <a:prstGeom prst="rect">
            <a:avLst/>
          </a:prstGeom>
          <a:noFill/>
          <a:ln/>
        </p:spPr>
        <p:txBody>
          <a:bodyPr wrap="square" lIns="0" tIns="0" rIns="0" bIns="0" rtlCol="0" anchor="t"/>
          <a:lstStyle/>
          <a:p>
            <a:pPr algn="l" indent="0" marL="0">
              <a:lnSpc>
                <a:spcPct val="112000"/>
              </a:lnSpc>
              <a:buNone/>
            </a:pPr>
            <a:r>
              <a:rPr lang="en-US" sz="1160" dirty="0">
                <a:solidFill>
                  <a:srgbClr val="243B53"/>
                </a:solidFill>
                <a:latin typeface="Aptos" pitchFamily="34" charset="0"/>
                <a:ea typeface="Aptos" pitchFamily="34" charset="-122"/>
                <a:cs typeface="Aptos" pitchFamily="34" charset="-120"/>
              </a:rPr>
              <a:t>Cada combinación encuentra una regla.</a:t>
            </a:r>
            <a:endParaRPr lang="en-US" sz="1160" dirty="0"/>
          </a:p>
        </p:txBody>
      </p:sp>
      <p:sp>
        <p:nvSpPr>
          <p:cNvPr id="27" name="Shape 24"/>
          <p:cNvSpPr/>
          <p:nvPr/>
        </p:nvSpPr>
        <p:spPr>
          <a:xfrm>
            <a:off x="4379976" y="4187952"/>
            <a:ext cx="3465576" cy="749808"/>
          </a:xfrm>
          <a:prstGeom prst="rect">
            <a:avLst/>
          </a:prstGeom>
          <a:solidFill>
            <a:srgbClr val="E9F6EE"/>
          </a:solidFill>
          <a:ln w="12700">
            <a:solidFill>
              <a:srgbClr val="E9F6EE"/>
            </a:solidFill>
            <a:prstDash val="solid"/>
          </a:ln>
        </p:spPr>
      </p:sp>
      <p:sp>
        <p:nvSpPr>
          <p:cNvPr id="28" name="Shape 25"/>
          <p:cNvSpPr/>
          <p:nvPr/>
        </p:nvSpPr>
        <p:spPr>
          <a:xfrm>
            <a:off x="4379976" y="4187952"/>
            <a:ext cx="3465576" cy="54864"/>
          </a:xfrm>
          <a:prstGeom prst="rect">
            <a:avLst/>
          </a:prstGeom>
          <a:solidFill>
            <a:srgbClr val="2E7D4F"/>
          </a:solidFill>
          <a:ln w="12700">
            <a:solidFill>
              <a:srgbClr val="2E7D4F"/>
            </a:solidFill>
            <a:prstDash val="solid"/>
          </a:ln>
        </p:spPr>
      </p:sp>
      <p:sp>
        <p:nvSpPr>
          <p:cNvPr id="29" name="Text 26"/>
          <p:cNvSpPr txBox="1"/>
          <p:nvPr/>
        </p:nvSpPr>
        <p:spPr>
          <a:xfrm>
            <a:off x="4636008" y="4297680"/>
            <a:ext cx="2962656" cy="237744"/>
          </a:xfrm>
          <a:prstGeom prst="rect">
            <a:avLst/>
          </a:prstGeom>
          <a:noFill/>
          <a:ln/>
        </p:spPr>
        <p:txBody>
          <a:bodyPr wrap="square" lIns="0" tIns="0" rIns="0" bIns="0" rtlCol="0" anchor="t"/>
          <a:lstStyle/>
          <a:p>
            <a:pPr algn="l" indent="0" marL="0">
              <a:buNone/>
            </a:pPr>
            <a:r>
              <a:rPr lang="en-US" sz="1300" b="1" dirty="0">
                <a:solidFill>
                  <a:srgbClr val="2E7D4F"/>
                </a:solidFill>
                <a:latin typeface="Aptos" pitchFamily="34" charset="0"/>
                <a:ea typeface="Aptos" pitchFamily="34" charset="-122"/>
                <a:cs typeface="Aptos" pitchFamily="34" charset="-120"/>
              </a:rPr>
              <a:t>Sin solapamientos</a:t>
            </a:r>
            <a:endParaRPr lang="en-US" sz="1300" dirty="0"/>
          </a:p>
        </p:txBody>
      </p:sp>
      <p:sp>
        <p:nvSpPr>
          <p:cNvPr id="30" name="Text 27"/>
          <p:cNvSpPr txBox="1"/>
          <p:nvPr/>
        </p:nvSpPr>
        <p:spPr>
          <a:xfrm>
            <a:off x="4636008" y="4553712"/>
            <a:ext cx="2962656" cy="310896"/>
          </a:xfrm>
          <a:prstGeom prst="rect">
            <a:avLst/>
          </a:prstGeom>
          <a:noFill/>
          <a:ln/>
        </p:spPr>
        <p:txBody>
          <a:bodyPr wrap="square" lIns="0" tIns="0" rIns="0" bIns="0" rtlCol="0" anchor="t"/>
          <a:lstStyle/>
          <a:p>
            <a:pPr algn="l" indent="0" marL="0">
              <a:lnSpc>
                <a:spcPct val="112000"/>
              </a:lnSpc>
              <a:buNone/>
            </a:pPr>
            <a:r>
              <a:rPr lang="en-US" sz="1160" dirty="0">
                <a:solidFill>
                  <a:srgbClr val="243B53"/>
                </a:solidFill>
                <a:latin typeface="Aptos" pitchFamily="34" charset="0"/>
                <a:ea typeface="Aptos" pitchFamily="34" charset="-122"/>
                <a:cs typeface="Aptos" pitchFamily="34" charset="-120"/>
              </a:rPr>
              <a:t>Ninguna coincide con dos reglas a la vez.</a:t>
            </a:r>
            <a:endParaRPr lang="en-US" sz="1160" dirty="0"/>
          </a:p>
        </p:txBody>
      </p:sp>
      <p:sp>
        <p:nvSpPr>
          <p:cNvPr id="31" name="Shape 28"/>
          <p:cNvSpPr/>
          <p:nvPr/>
        </p:nvSpPr>
        <p:spPr>
          <a:xfrm>
            <a:off x="8101584" y="4187952"/>
            <a:ext cx="3465576" cy="749808"/>
          </a:xfrm>
          <a:prstGeom prst="rect">
            <a:avLst/>
          </a:prstGeom>
          <a:solidFill>
            <a:srgbClr val="E9F6EE"/>
          </a:solidFill>
          <a:ln w="12700">
            <a:solidFill>
              <a:srgbClr val="E9F6EE"/>
            </a:solidFill>
            <a:prstDash val="solid"/>
          </a:ln>
        </p:spPr>
      </p:sp>
      <p:sp>
        <p:nvSpPr>
          <p:cNvPr id="32" name="Shape 29"/>
          <p:cNvSpPr/>
          <p:nvPr/>
        </p:nvSpPr>
        <p:spPr>
          <a:xfrm>
            <a:off x="8101584" y="4187952"/>
            <a:ext cx="3465576" cy="54864"/>
          </a:xfrm>
          <a:prstGeom prst="rect">
            <a:avLst/>
          </a:prstGeom>
          <a:solidFill>
            <a:srgbClr val="2E7D4F"/>
          </a:solidFill>
          <a:ln w="12700">
            <a:solidFill>
              <a:srgbClr val="2E7D4F"/>
            </a:solidFill>
            <a:prstDash val="solid"/>
          </a:ln>
        </p:spPr>
      </p:sp>
      <p:sp>
        <p:nvSpPr>
          <p:cNvPr id="33" name="Text 30"/>
          <p:cNvSpPr txBox="1"/>
          <p:nvPr/>
        </p:nvSpPr>
        <p:spPr>
          <a:xfrm>
            <a:off x="8357616" y="4297680"/>
            <a:ext cx="2962656" cy="237744"/>
          </a:xfrm>
          <a:prstGeom prst="rect">
            <a:avLst/>
          </a:prstGeom>
          <a:noFill/>
          <a:ln/>
        </p:spPr>
        <p:txBody>
          <a:bodyPr wrap="square" lIns="0" tIns="0" rIns="0" bIns="0" rtlCol="0" anchor="t"/>
          <a:lstStyle/>
          <a:p>
            <a:pPr algn="l" indent="0" marL="0">
              <a:buNone/>
            </a:pPr>
            <a:r>
              <a:rPr lang="en-US" sz="1300" b="1" dirty="0">
                <a:solidFill>
                  <a:srgbClr val="2E7D4F"/>
                </a:solidFill>
                <a:latin typeface="Aptos" pitchFamily="34" charset="0"/>
                <a:ea typeface="Aptos" pitchFamily="34" charset="-122"/>
                <a:cs typeface="Aptos" pitchFamily="34" charset="-120"/>
              </a:rPr>
              <a:t>Sin desacuerdos</a:t>
            </a:r>
            <a:endParaRPr lang="en-US" sz="1300" dirty="0"/>
          </a:p>
        </p:txBody>
      </p:sp>
      <p:sp>
        <p:nvSpPr>
          <p:cNvPr id="34" name="Text 31"/>
          <p:cNvSpPr txBox="1"/>
          <p:nvPr/>
        </p:nvSpPr>
        <p:spPr>
          <a:xfrm>
            <a:off x="8357616" y="4553712"/>
            <a:ext cx="2962656" cy="310896"/>
          </a:xfrm>
          <a:prstGeom prst="rect">
            <a:avLst/>
          </a:prstGeom>
          <a:noFill/>
          <a:ln/>
        </p:spPr>
        <p:txBody>
          <a:bodyPr wrap="square" lIns="0" tIns="0" rIns="0" bIns="0" rtlCol="0" anchor="t"/>
          <a:lstStyle/>
          <a:p>
            <a:pPr algn="l" indent="0" marL="0">
              <a:lnSpc>
                <a:spcPct val="112000"/>
              </a:lnSpc>
              <a:buNone/>
            </a:pPr>
            <a:r>
              <a:rPr lang="en-US" sz="1160" dirty="0">
                <a:solidFill>
                  <a:srgbClr val="243B53"/>
                </a:solidFill>
                <a:latin typeface="Aptos" pitchFamily="34" charset="0"/>
                <a:ea typeface="Aptos" pitchFamily="34" charset="-122"/>
                <a:cs typeface="Aptos" pitchFamily="34" charset="-120"/>
              </a:rPr>
              <a:t>El resultado reducido coincide con el completo.</a:t>
            </a:r>
            <a:endParaRPr lang="en-US" sz="1160" dirty="0"/>
          </a:p>
        </p:txBody>
      </p:sp>
      <p:sp>
        <p:nvSpPr>
          <p:cNvPr id="35" name="Shape 32"/>
          <p:cNvSpPr/>
          <p:nvPr/>
        </p:nvSpPr>
        <p:spPr>
          <a:xfrm>
            <a:off x="658368" y="5138928"/>
            <a:ext cx="10874959" cy="877824"/>
          </a:xfrm>
          <a:prstGeom prst="rect">
            <a:avLst/>
          </a:prstGeom>
          <a:solidFill>
            <a:srgbClr val="FFFFFF"/>
          </a:solidFill>
          <a:ln w="12700">
            <a:solidFill>
              <a:srgbClr val="FFFFFF"/>
            </a:solidFill>
            <a:prstDash val="solid"/>
          </a:ln>
        </p:spPr>
      </p:sp>
      <p:sp>
        <p:nvSpPr>
          <p:cNvPr id="36" name="Shape 33"/>
          <p:cNvSpPr/>
          <p:nvPr/>
        </p:nvSpPr>
        <p:spPr>
          <a:xfrm>
            <a:off x="658368" y="5138928"/>
            <a:ext cx="64008" cy="877824"/>
          </a:xfrm>
          <a:prstGeom prst="rect">
            <a:avLst/>
          </a:prstGeom>
          <a:solidFill>
            <a:srgbClr val="102A43"/>
          </a:solidFill>
          <a:ln w="12700">
            <a:solidFill>
              <a:srgbClr val="102A43"/>
            </a:solidFill>
            <a:prstDash val="solid"/>
          </a:ln>
        </p:spPr>
      </p:sp>
      <p:sp>
        <p:nvSpPr>
          <p:cNvPr id="37" name="Text 34"/>
          <p:cNvSpPr txBox="1"/>
          <p:nvPr/>
        </p:nvSpPr>
        <p:spPr>
          <a:xfrm>
            <a:off x="987552" y="5303520"/>
            <a:ext cx="10216591" cy="566928"/>
          </a:xfrm>
          <a:prstGeom prst="rect">
            <a:avLst/>
          </a:prstGeom>
          <a:noFill/>
          <a:ln/>
        </p:spPr>
        <p:txBody>
          <a:bodyPr wrap="square" lIns="0" tIns="0" rIns="0" bIns="0" rtlCol="0" anchor="t"/>
          <a:lstStyle/>
          <a:p>
            <a:pPr algn="l" indent="0" marL="0">
              <a:lnSpc>
                <a:spcPct val="116000"/>
              </a:lnSpc>
              <a:buNone/>
            </a:pPr>
            <a:r>
              <a:rPr lang="en-US" sz="1260" dirty="0">
                <a:solidFill>
                  <a:srgbClr val="243B53"/>
                </a:solidFill>
                <a:latin typeface="Aptos" pitchFamily="34" charset="0"/>
                <a:ea typeface="Aptos" pitchFamily="34" charset="-122"/>
                <a:cs typeface="Aptos" pitchFamily="34" charset="-120"/>
              </a:rPr>
              <a:t>Esto no demuestra que ejecutar un caso por columna compruebe todas sus combinaciones en la implementación.</a:t>
            </a:r>
            <a:endParaRPr lang="en-US" sz="1260" dirty="0"/>
          </a:p>
          <a:p>
            <a:pPr algn="l" indent="0" marL="0">
              <a:lnSpc>
                <a:spcPct val="116000"/>
              </a:lnSpc>
              <a:buNone/>
            </a:pPr>
            <a:r>
              <a:rPr lang="en-US" sz="1260" dirty="0">
                <a:solidFill>
                  <a:srgbClr val="243B53"/>
                </a:solidFill>
                <a:latin typeface="Aptos" pitchFamily="34" charset="0"/>
                <a:ea typeface="Aptos" pitchFamily="34" charset="-122"/>
                <a:cs typeface="Aptos" pitchFamily="34" charset="-120"/>
              </a:rPr>
              <a:t>La equivalencia entre tablas es una propiedad del modelo; la conformidad del programa exige evidencia aparte.</a:t>
            </a:r>
            <a:endParaRPr lang="en-US" sz="126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64</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DE LA TABLA AL CÓDIGO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Cada regla necesita valores concretos para ejecutarse</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Una columna lógica no se puede ejecutar. Hay que elegir un representante para cada condición.</a:t>
            </a:r>
            <a:endParaRPr lang="en-US" sz="1450" dirty="0"/>
          </a:p>
        </p:txBody>
      </p:sp>
      <p:sp>
        <p:nvSpPr>
          <p:cNvPr id="11" name="Shape 8"/>
          <p:cNvSpPr/>
          <p:nvPr/>
        </p:nvSpPr>
        <p:spPr>
          <a:xfrm>
            <a:off x="658368" y="2286000"/>
            <a:ext cx="10874959" cy="365760"/>
          </a:xfrm>
          <a:prstGeom prst="rect">
            <a:avLst/>
          </a:prstGeom>
          <a:solidFill>
            <a:srgbClr val="102A43"/>
          </a:solidFill>
          <a:ln w="12700">
            <a:solidFill>
              <a:srgbClr val="102A43"/>
            </a:solidFill>
            <a:prstDash val="solid"/>
          </a:ln>
        </p:spPr>
      </p:sp>
      <p:sp>
        <p:nvSpPr>
          <p:cNvPr id="12" name="Text 9"/>
          <p:cNvSpPr txBox="1"/>
          <p:nvPr/>
        </p:nvSpPr>
        <p:spPr>
          <a:xfrm>
            <a:off x="804672" y="2304288"/>
            <a:ext cx="1005840" cy="329184"/>
          </a:xfrm>
          <a:prstGeom prst="rect">
            <a:avLst/>
          </a:prstGeom>
          <a:noFill/>
          <a:ln/>
        </p:spPr>
        <p:txBody>
          <a:bodyPr wrap="square" lIns="0" tIns="0" rIns="0" bIns="0" rtlCol="0" anchor="ctr"/>
          <a:lstStyle/>
          <a:p>
            <a:pPr algn="l" indent="0" marL="0">
              <a:buNone/>
            </a:pPr>
            <a:r>
              <a:rPr lang="en-US" sz="880" b="1" spc="90" kern="0" dirty="0">
                <a:solidFill>
                  <a:srgbClr val="FFFFFF"/>
                </a:solidFill>
                <a:latin typeface="Aptos" pitchFamily="34" charset="0"/>
                <a:ea typeface="Aptos" pitchFamily="34" charset="-122"/>
                <a:cs typeface="Aptos" pitchFamily="34" charset="-120"/>
              </a:rPr>
              <a:t>REGLA</a:t>
            </a:r>
            <a:endParaRPr lang="en-US" sz="880" dirty="0"/>
          </a:p>
        </p:txBody>
      </p:sp>
      <p:sp>
        <p:nvSpPr>
          <p:cNvPr id="13" name="Text 10"/>
          <p:cNvSpPr txBox="1"/>
          <p:nvPr/>
        </p:nvSpPr>
        <p:spPr>
          <a:xfrm>
            <a:off x="1993392" y="2304288"/>
            <a:ext cx="1188720" cy="329184"/>
          </a:xfrm>
          <a:prstGeom prst="rect">
            <a:avLst/>
          </a:prstGeom>
          <a:noFill/>
          <a:ln/>
        </p:spPr>
        <p:txBody>
          <a:bodyPr wrap="square" lIns="0" tIns="0" rIns="0" bIns="0" rtlCol="0" anchor="ctr"/>
          <a:lstStyle/>
          <a:p>
            <a:pPr algn="l" indent="0" marL="0">
              <a:buNone/>
            </a:pPr>
            <a:r>
              <a:rPr lang="en-US" sz="880" b="1" spc="90" kern="0" dirty="0">
                <a:solidFill>
                  <a:srgbClr val="FFFFFF"/>
                </a:solidFill>
                <a:latin typeface="Aptos" pitchFamily="34" charset="0"/>
                <a:ea typeface="Aptos" pitchFamily="34" charset="-122"/>
                <a:cs typeface="Aptos" pitchFamily="34" charset="-120"/>
              </a:rPr>
              <a:t>RESERVAS</a:t>
            </a:r>
            <a:endParaRPr lang="en-US" sz="880" dirty="0"/>
          </a:p>
        </p:txBody>
      </p:sp>
      <p:sp>
        <p:nvSpPr>
          <p:cNvPr id="14" name="Text 11"/>
          <p:cNvSpPr txBox="1"/>
          <p:nvPr/>
        </p:nvSpPr>
        <p:spPr>
          <a:xfrm>
            <a:off x="3364992" y="2304288"/>
            <a:ext cx="1005840" cy="329184"/>
          </a:xfrm>
          <a:prstGeom prst="rect">
            <a:avLst/>
          </a:prstGeom>
          <a:noFill/>
          <a:ln/>
        </p:spPr>
        <p:txBody>
          <a:bodyPr wrap="square" lIns="0" tIns="0" rIns="0" bIns="0" rtlCol="0" anchor="ctr"/>
          <a:lstStyle/>
          <a:p>
            <a:pPr algn="l" indent="0" marL="0">
              <a:buNone/>
            </a:pPr>
            <a:r>
              <a:rPr lang="en-US" sz="880" b="1" spc="90" kern="0" dirty="0">
                <a:solidFill>
                  <a:srgbClr val="FFFFFF"/>
                </a:solidFill>
                <a:latin typeface="Aptos" pitchFamily="34" charset="0"/>
                <a:ea typeface="Aptos" pitchFamily="34" charset="-122"/>
                <a:cs typeface="Aptos" pitchFamily="34" charset="-120"/>
              </a:rPr>
              <a:t>BLOQUE</a:t>
            </a:r>
            <a:endParaRPr lang="en-US" sz="880" dirty="0"/>
          </a:p>
        </p:txBody>
      </p:sp>
      <p:sp>
        <p:nvSpPr>
          <p:cNvPr id="15" name="Text 12"/>
          <p:cNvSpPr txBox="1"/>
          <p:nvPr/>
        </p:nvSpPr>
        <p:spPr>
          <a:xfrm>
            <a:off x="4553712" y="2304288"/>
            <a:ext cx="1097280" cy="329184"/>
          </a:xfrm>
          <a:prstGeom prst="rect">
            <a:avLst/>
          </a:prstGeom>
          <a:noFill/>
          <a:ln/>
        </p:spPr>
        <p:txBody>
          <a:bodyPr wrap="square" lIns="0" tIns="0" rIns="0" bIns="0" rtlCol="0" anchor="ctr"/>
          <a:lstStyle/>
          <a:p>
            <a:pPr algn="l" indent="0" marL="0">
              <a:buNone/>
            </a:pPr>
            <a:r>
              <a:rPr lang="en-US" sz="880" b="1" spc="90" kern="0" dirty="0">
                <a:solidFill>
                  <a:srgbClr val="FFFFFF"/>
                </a:solidFill>
                <a:latin typeface="Aptos" pitchFamily="34" charset="0"/>
                <a:ea typeface="Aptos" pitchFamily="34" charset="-122"/>
                <a:cs typeface="Aptos" pitchFamily="34" charset="-120"/>
              </a:rPr>
              <a:t>TOMADO</a:t>
            </a:r>
            <a:endParaRPr lang="en-US" sz="880" dirty="0"/>
          </a:p>
        </p:txBody>
      </p:sp>
      <p:sp>
        <p:nvSpPr>
          <p:cNvPr id="16" name="Text 13"/>
          <p:cNvSpPr txBox="1"/>
          <p:nvPr/>
        </p:nvSpPr>
        <p:spPr>
          <a:xfrm>
            <a:off x="5833872" y="2304288"/>
            <a:ext cx="1188720" cy="329184"/>
          </a:xfrm>
          <a:prstGeom prst="rect">
            <a:avLst/>
          </a:prstGeom>
          <a:noFill/>
          <a:ln/>
        </p:spPr>
        <p:txBody>
          <a:bodyPr wrap="square" lIns="0" tIns="0" rIns="0" bIns="0" rtlCol="0" anchor="ctr"/>
          <a:lstStyle/>
          <a:p>
            <a:pPr algn="l" indent="0" marL="0">
              <a:buNone/>
            </a:pPr>
            <a:r>
              <a:rPr lang="en-US" sz="880" b="1" spc="90" kern="0" dirty="0">
                <a:solidFill>
                  <a:srgbClr val="FFFFFF"/>
                </a:solidFill>
                <a:latin typeface="Aptos" pitchFamily="34" charset="0"/>
                <a:ea typeface="Aptos" pitchFamily="34" charset="-122"/>
                <a:cs typeface="Aptos" pitchFamily="34" charset="-120"/>
              </a:rPr>
              <a:t>ESPERADO</a:t>
            </a:r>
            <a:endParaRPr lang="en-US" sz="880" dirty="0"/>
          </a:p>
        </p:txBody>
      </p:sp>
      <p:sp>
        <p:nvSpPr>
          <p:cNvPr id="17" name="Text 14"/>
          <p:cNvSpPr txBox="1"/>
          <p:nvPr/>
        </p:nvSpPr>
        <p:spPr>
          <a:xfrm>
            <a:off x="7205472" y="2304288"/>
            <a:ext cx="4288536" cy="329184"/>
          </a:xfrm>
          <a:prstGeom prst="rect">
            <a:avLst/>
          </a:prstGeom>
          <a:noFill/>
          <a:ln/>
        </p:spPr>
        <p:txBody>
          <a:bodyPr wrap="square" lIns="0" tIns="0" rIns="0" bIns="0" rtlCol="0" anchor="ctr"/>
          <a:lstStyle/>
          <a:p>
            <a:pPr algn="l" indent="0" marL="0">
              <a:buNone/>
            </a:pPr>
            <a:r>
              <a:rPr lang="en-US" sz="880" b="1" spc="90" kern="0" dirty="0">
                <a:solidFill>
                  <a:srgbClr val="FFFFFF"/>
                </a:solidFill>
                <a:latin typeface="Aptos" pitchFamily="34" charset="0"/>
                <a:ea typeface="Aptos" pitchFamily="34" charset="-122"/>
                <a:cs typeface="Aptos" pitchFamily="34" charset="-120"/>
              </a:rPr>
              <a:t>QUÉ REPRESENTA</a:t>
            </a:r>
            <a:endParaRPr lang="en-US" sz="880" dirty="0"/>
          </a:p>
        </p:txBody>
      </p:sp>
      <p:sp>
        <p:nvSpPr>
          <p:cNvPr id="18" name="Shape 15"/>
          <p:cNvSpPr/>
          <p:nvPr/>
        </p:nvSpPr>
        <p:spPr>
          <a:xfrm>
            <a:off x="658368" y="2706624"/>
            <a:ext cx="10874959" cy="402336"/>
          </a:xfrm>
          <a:prstGeom prst="rect">
            <a:avLst/>
          </a:prstGeom>
          <a:solidFill>
            <a:srgbClr val="FFFFFF"/>
          </a:solidFill>
          <a:ln w="12700">
            <a:solidFill>
              <a:srgbClr val="FFFFFF"/>
            </a:solidFill>
            <a:prstDash val="solid"/>
          </a:ln>
        </p:spPr>
      </p:sp>
      <p:sp>
        <p:nvSpPr>
          <p:cNvPr id="19" name="Shape 16"/>
          <p:cNvSpPr/>
          <p:nvPr/>
        </p:nvSpPr>
        <p:spPr>
          <a:xfrm>
            <a:off x="658368" y="2706624"/>
            <a:ext cx="45720" cy="402336"/>
          </a:xfrm>
          <a:prstGeom prst="rect">
            <a:avLst/>
          </a:prstGeom>
          <a:solidFill>
            <a:srgbClr val="B3181E"/>
          </a:solidFill>
          <a:ln w="12700">
            <a:solidFill>
              <a:srgbClr val="B3181E"/>
            </a:solidFill>
            <a:prstDash val="solid"/>
          </a:ln>
        </p:spPr>
      </p:sp>
      <p:sp>
        <p:nvSpPr>
          <p:cNvPr id="20" name="Text 17"/>
          <p:cNvSpPr txBox="1"/>
          <p:nvPr/>
        </p:nvSpPr>
        <p:spPr>
          <a:xfrm>
            <a:off x="804672" y="2724912"/>
            <a:ext cx="1005840" cy="365760"/>
          </a:xfrm>
          <a:prstGeom prst="rect">
            <a:avLst/>
          </a:prstGeom>
          <a:noFill/>
          <a:ln/>
        </p:spPr>
        <p:txBody>
          <a:bodyPr wrap="square" lIns="0" tIns="0" rIns="0" bIns="0" rtlCol="0" anchor="ctr"/>
          <a:lstStyle/>
          <a:p>
            <a:pPr algn="l" indent="0" marL="0">
              <a:buNone/>
            </a:pPr>
            <a:r>
              <a:rPr lang="en-US" sz="1160" b="1" dirty="0">
                <a:solidFill>
                  <a:srgbClr val="243B53"/>
                </a:solidFill>
                <a:latin typeface="Aptos" pitchFamily="34" charset="0"/>
                <a:ea typeface="Aptos" pitchFamily="34" charset="-122"/>
                <a:cs typeface="Aptos" pitchFamily="34" charset="-120"/>
              </a:rPr>
              <a:t>R1</a:t>
            </a:r>
            <a:endParaRPr lang="en-US" sz="1160" dirty="0"/>
          </a:p>
        </p:txBody>
      </p:sp>
      <p:sp>
        <p:nvSpPr>
          <p:cNvPr id="21" name="Text 18"/>
          <p:cNvSpPr txBox="1"/>
          <p:nvPr/>
        </p:nvSpPr>
        <p:spPr>
          <a:xfrm>
            <a:off x="1993392" y="2724912"/>
            <a:ext cx="1188720" cy="365760"/>
          </a:xfrm>
          <a:prstGeom prst="rect">
            <a:avLst/>
          </a:prstGeom>
          <a:noFill/>
          <a:ln/>
        </p:spPr>
        <p:txBody>
          <a:bodyPr wrap="square" lIns="0" tIns="0" rIns="0" bIns="0" rtlCol="0" anchor="ctr"/>
          <a:lstStyle/>
          <a:p>
            <a:pPr algn="l" indent="0" marL="0">
              <a:buNone/>
            </a:pPr>
            <a:r>
              <a:rPr lang="en-US" sz="1160" dirty="0">
                <a:solidFill>
                  <a:srgbClr val="243B53"/>
                </a:solidFill>
                <a:latin typeface="Consolas" pitchFamily="34" charset="0"/>
                <a:ea typeface="Consolas" pitchFamily="34" charset="-122"/>
                <a:cs typeface="Consolas" pitchFamily="34" charset="-120"/>
              </a:rPr>
              <a:t>1</a:t>
            </a:r>
            <a:endParaRPr lang="en-US" sz="1160" dirty="0"/>
          </a:p>
        </p:txBody>
      </p:sp>
      <p:sp>
        <p:nvSpPr>
          <p:cNvPr id="22" name="Text 19"/>
          <p:cNvSpPr txBox="1"/>
          <p:nvPr/>
        </p:nvSpPr>
        <p:spPr>
          <a:xfrm>
            <a:off x="3364992" y="2724912"/>
            <a:ext cx="1005840" cy="365760"/>
          </a:xfrm>
          <a:prstGeom prst="rect">
            <a:avLst/>
          </a:prstGeom>
          <a:noFill/>
          <a:ln/>
        </p:spPr>
        <p:txBody>
          <a:bodyPr wrap="square" lIns="0" tIns="0" rIns="0" bIns="0" rtlCol="0" anchor="ctr"/>
          <a:lstStyle/>
          <a:p>
            <a:pPr algn="l" indent="0" marL="0">
              <a:buNone/>
            </a:pPr>
            <a:r>
              <a:rPr lang="en-US" sz="1160" dirty="0">
                <a:solidFill>
                  <a:srgbClr val="243B53"/>
                </a:solidFill>
                <a:latin typeface="Consolas" pitchFamily="34" charset="0"/>
                <a:ea typeface="Consolas" pitchFamily="34" charset="-122"/>
                <a:cs typeface="Consolas" pitchFamily="34" charset="-120"/>
              </a:rPr>
              <a:t>0</a:t>
            </a:r>
            <a:endParaRPr lang="en-US" sz="1160" dirty="0"/>
          </a:p>
        </p:txBody>
      </p:sp>
      <p:sp>
        <p:nvSpPr>
          <p:cNvPr id="23" name="Text 20"/>
          <p:cNvSpPr txBox="1"/>
          <p:nvPr/>
        </p:nvSpPr>
        <p:spPr>
          <a:xfrm>
            <a:off x="4553712" y="2724912"/>
            <a:ext cx="1097280" cy="365760"/>
          </a:xfrm>
          <a:prstGeom prst="rect">
            <a:avLst/>
          </a:prstGeom>
          <a:noFill/>
          <a:ln/>
        </p:spPr>
        <p:txBody>
          <a:bodyPr wrap="square" lIns="0" tIns="0" rIns="0" bIns="0" rtlCol="0" anchor="ctr"/>
          <a:lstStyle/>
          <a:p>
            <a:pPr algn="l" indent="0" marL="0">
              <a:buNone/>
            </a:pPr>
            <a:r>
              <a:rPr lang="en-US" sz="1160" dirty="0">
                <a:solidFill>
                  <a:srgbClr val="243B53"/>
                </a:solidFill>
                <a:latin typeface="Consolas" pitchFamily="34" charset="0"/>
                <a:ea typeface="Consolas" pitchFamily="34" charset="-122"/>
                <a:cs typeface="Consolas" pitchFamily="34" charset="-120"/>
              </a:rPr>
              <a:t>False</a:t>
            </a:r>
            <a:endParaRPr lang="en-US" sz="1160" dirty="0"/>
          </a:p>
        </p:txBody>
      </p:sp>
      <p:sp>
        <p:nvSpPr>
          <p:cNvPr id="24" name="Text 21"/>
          <p:cNvSpPr txBox="1"/>
          <p:nvPr/>
        </p:nvSpPr>
        <p:spPr>
          <a:xfrm>
            <a:off x="5833872" y="2724912"/>
            <a:ext cx="1188720" cy="365760"/>
          </a:xfrm>
          <a:prstGeom prst="rect">
            <a:avLst/>
          </a:prstGeom>
          <a:noFill/>
          <a:ln/>
        </p:spPr>
        <p:txBody>
          <a:bodyPr wrap="square" lIns="0" tIns="0" rIns="0" bIns="0" rtlCol="0" anchor="ctr"/>
          <a:lstStyle/>
          <a:p>
            <a:pPr algn="l" indent="0" marL="0">
              <a:buNone/>
            </a:pPr>
            <a:r>
              <a:rPr lang="en-US" sz="1160" b="1" dirty="0">
                <a:solidFill>
                  <a:srgbClr val="B3181E"/>
                </a:solidFill>
                <a:latin typeface="Consolas" pitchFamily="34" charset="0"/>
                <a:ea typeface="Consolas" pitchFamily="34" charset="-122"/>
                <a:cs typeface="Consolas" pitchFamily="34" charset="-120"/>
              </a:rPr>
              <a:t>False</a:t>
            </a:r>
            <a:endParaRPr lang="en-US" sz="1160" dirty="0"/>
          </a:p>
        </p:txBody>
      </p:sp>
      <p:sp>
        <p:nvSpPr>
          <p:cNvPr id="25" name="Text 22"/>
          <p:cNvSpPr txBox="1"/>
          <p:nvPr/>
        </p:nvSpPr>
        <p:spPr>
          <a:xfrm>
            <a:off x="7205472" y="2724912"/>
            <a:ext cx="4288536" cy="365760"/>
          </a:xfrm>
          <a:prstGeom prst="rect">
            <a:avLst/>
          </a:prstGeom>
          <a:noFill/>
          <a:ln/>
        </p:spPr>
        <p:txBody>
          <a:bodyPr wrap="square" lIns="0" tIns="0" rIns="0" bIns="0" rtlCol="0" anchor="ctr"/>
          <a:lstStyle/>
          <a:p>
            <a:pPr algn="l" indent="0" marL="0">
              <a:buNone/>
            </a:pPr>
            <a:r>
              <a:rPr lang="en-US" sz="1140" dirty="0">
                <a:solidFill>
                  <a:srgbClr val="243B53"/>
                </a:solidFill>
                <a:latin typeface="Aptos" pitchFamily="34" charset="0"/>
                <a:ea typeface="Aptos" pitchFamily="34" charset="-122"/>
                <a:cs typeface="Aptos" pitchFamily="34" charset="-120"/>
              </a:rPr>
              <a:t>Fuera de la jornada.</a:t>
            </a:r>
            <a:endParaRPr lang="en-US" sz="1140" dirty="0"/>
          </a:p>
        </p:txBody>
      </p:sp>
      <p:sp>
        <p:nvSpPr>
          <p:cNvPr id="26" name="Shape 23"/>
          <p:cNvSpPr/>
          <p:nvPr/>
        </p:nvSpPr>
        <p:spPr>
          <a:xfrm>
            <a:off x="658368" y="3163824"/>
            <a:ext cx="10874959" cy="402336"/>
          </a:xfrm>
          <a:prstGeom prst="rect">
            <a:avLst/>
          </a:prstGeom>
          <a:solidFill>
            <a:srgbClr val="EDE6DA"/>
          </a:solidFill>
          <a:ln w="12700">
            <a:solidFill>
              <a:srgbClr val="EDE6DA"/>
            </a:solidFill>
            <a:prstDash val="solid"/>
          </a:ln>
        </p:spPr>
      </p:sp>
      <p:sp>
        <p:nvSpPr>
          <p:cNvPr id="27" name="Shape 24"/>
          <p:cNvSpPr/>
          <p:nvPr/>
        </p:nvSpPr>
        <p:spPr>
          <a:xfrm>
            <a:off x="658368" y="3163824"/>
            <a:ext cx="45720" cy="402336"/>
          </a:xfrm>
          <a:prstGeom prst="rect">
            <a:avLst/>
          </a:prstGeom>
          <a:solidFill>
            <a:srgbClr val="B3181E"/>
          </a:solidFill>
          <a:ln w="12700">
            <a:solidFill>
              <a:srgbClr val="B3181E"/>
            </a:solidFill>
            <a:prstDash val="solid"/>
          </a:ln>
        </p:spPr>
      </p:sp>
      <p:sp>
        <p:nvSpPr>
          <p:cNvPr id="28" name="Text 25"/>
          <p:cNvSpPr txBox="1"/>
          <p:nvPr/>
        </p:nvSpPr>
        <p:spPr>
          <a:xfrm>
            <a:off x="804672" y="3182112"/>
            <a:ext cx="1005840" cy="365760"/>
          </a:xfrm>
          <a:prstGeom prst="rect">
            <a:avLst/>
          </a:prstGeom>
          <a:noFill/>
          <a:ln/>
        </p:spPr>
        <p:txBody>
          <a:bodyPr wrap="square" lIns="0" tIns="0" rIns="0" bIns="0" rtlCol="0" anchor="ctr"/>
          <a:lstStyle/>
          <a:p>
            <a:pPr algn="l" indent="0" marL="0">
              <a:buNone/>
            </a:pPr>
            <a:r>
              <a:rPr lang="en-US" sz="1160" b="1" dirty="0">
                <a:solidFill>
                  <a:srgbClr val="243B53"/>
                </a:solidFill>
                <a:latin typeface="Aptos" pitchFamily="34" charset="0"/>
                <a:ea typeface="Aptos" pitchFamily="34" charset="-122"/>
                <a:cs typeface="Aptos" pitchFamily="34" charset="-120"/>
              </a:rPr>
              <a:t>R2</a:t>
            </a:r>
            <a:endParaRPr lang="en-US" sz="1160" dirty="0"/>
          </a:p>
        </p:txBody>
      </p:sp>
      <p:sp>
        <p:nvSpPr>
          <p:cNvPr id="29" name="Text 26"/>
          <p:cNvSpPr txBox="1"/>
          <p:nvPr/>
        </p:nvSpPr>
        <p:spPr>
          <a:xfrm>
            <a:off x="1993392" y="3182112"/>
            <a:ext cx="1188720" cy="365760"/>
          </a:xfrm>
          <a:prstGeom prst="rect">
            <a:avLst/>
          </a:prstGeom>
          <a:noFill/>
          <a:ln/>
        </p:spPr>
        <p:txBody>
          <a:bodyPr wrap="square" lIns="0" tIns="0" rIns="0" bIns="0" rtlCol="0" anchor="ctr"/>
          <a:lstStyle/>
          <a:p>
            <a:pPr algn="l" indent="0" marL="0">
              <a:buNone/>
            </a:pPr>
            <a:r>
              <a:rPr lang="en-US" sz="1160" dirty="0">
                <a:solidFill>
                  <a:srgbClr val="243B53"/>
                </a:solidFill>
                <a:latin typeface="Consolas" pitchFamily="34" charset="0"/>
                <a:ea typeface="Consolas" pitchFamily="34" charset="-122"/>
                <a:cs typeface="Consolas" pitchFamily="34" charset="-120"/>
              </a:rPr>
              <a:t>1</a:t>
            </a:r>
            <a:endParaRPr lang="en-US" sz="1160" dirty="0"/>
          </a:p>
        </p:txBody>
      </p:sp>
      <p:sp>
        <p:nvSpPr>
          <p:cNvPr id="30" name="Text 27"/>
          <p:cNvSpPr txBox="1"/>
          <p:nvPr/>
        </p:nvSpPr>
        <p:spPr>
          <a:xfrm>
            <a:off x="3364992" y="3182112"/>
            <a:ext cx="1005840" cy="365760"/>
          </a:xfrm>
          <a:prstGeom prst="rect">
            <a:avLst/>
          </a:prstGeom>
          <a:noFill/>
          <a:ln/>
        </p:spPr>
        <p:txBody>
          <a:bodyPr wrap="square" lIns="0" tIns="0" rIns="0" bIns="0" rtlCol="0" anchor="ctr"/>
          <a:lstStyle/>
          <a:p>
            <a:pPr algn="l" indent="0" marL="0">
              <a:buNone/>
            </a:pPr>
            <a:r>
              <a:rPr lang="en-US" sz="1160" dirty="0">
                <a:solidFill>
                  <a:srgbClr val="243B53"/>
                </a:solidFill>
                <a:latin typeface="Consolas" pitchFamily="34" charset="0"/>
                <a:ea typeface="Consolas" pitchFamily="34" charset="-122"/>
                <a:cs typeface="Consolas" pitchFamily="34" charset="-120"/>
              </a:rPr>
              <a:t>4</a:t>
            </a:r>
            <a:endParaRPr lang="en-US" sz="1160" dirty="0"/>
          </a:p>
        </p:txBody>
      </p:sp>
      <p:sp>
        <p:nvSpPr>
          <p:cNvPr id="31" name="Text 28"/>
          <p:cNvSpPr txBox="1"/>
          <p:nvPr/>
        </p:nvSpPr>
        <p:spPr>
          <a:xfrm>
            <a:off x="4553712" y="3182112"/>
            <a:ext cx="1097280" cy="365760"/>
          </a:xfrm>
          <a:prstGeom prst="rect">
            <a:avLst/>
          </a:prstGeom>
          <a:noFill/>
          <a:ln/>
        </p:spPr>
        <p:txBody>
          <a:bodyPr wrap="square" lIns="0" tIns="0" rIns="0" bIns="0" rtlCol="0" anchor="ctr"/>
          <a:lstStyle/>
          <a:p>
            <a:pPr algn="l" indent="0" marL="0">
              <a:buNone/>
            </a:pPr>
            <a:r>
              <a:rPr lang="en-US" sz="1160" dirty="0">
                <a:solidFill>
                  <a:srgbClr val="243B53"/>
                </a:solidFill>
                <a:latin typeface="Consolas" pitchFamily="34" charset="0"/>
                <a:ea typeface="Consolas" pitchFamily="34" charset="-122"/>
                <a:cs typeface="Consolas" pitchFamily="34" charset="-120"/>
              </a:rPr>
              <a:t>True</a:t>
            </a:r>
            <a:endParaRPr lang="en-US" sz="1160" dirty="0"/>
          </a:p>
        </p:txBody>
      </p:sp>
      <p:sp>
        <p:nvSpPr>
          <p:cNvPr id="32" name="Text 29"/>
          <p:cNvSpPr txBox="1"/>
          <p:nvPr/>
        </p:nvSpPr>
        <p:spPr>
          <a:xfrm>
            <a:off x="5833872" y="3182112"/>
            <a:ext cx="1188720" cy="365760"/>
          </a:xfrm>
          <a:prstGeom prst="rect">
            <a:avLst/>
          </a:prstGeom>
          <a:noFill/>
          <a:ln/>
        </p:spPr>
        <p:txBody>
          <a:bodyPr wrap="square" lIns="0" tIns="0" rIns="0" bIns="0" rtlCol="0" anchor="ctr"/>
          <a:lstStyle/>
          <a:p>
            <a:pPr algn="l" indent="0" marL="0">
              <a:buNone/>
            </a:pPr>
            <a:r>
              <a:rPr lang="en-US" sz="1160" b="1" dirty="0">
                <a:solidFill>
                  <a:srgbClr val="B3181E"/>
                </a:solidFill>
                <a:latin typeface="Consolas" pitchFamily="34" charset="0"/>
                <a:ea typeface="Consolas" pitchFamily="34" charset="-122"/>
                <a:cs typeface="Consolas" pitchFamily="34" charset="-120"/>
              </a:rPr>
              <a:t>False</a:t>
            </a:r>
            <a:endParaRPr lang="en-US" sz="1160" dirty="0"/>
          </a:p>
        </p:txBody>
      </p:sp>
      <p:sp>
        <p:nvSpPr>
          <p:cNvPr id="33" name="Text 30"/>
          <p:cNvSpPr txBox="1"/>
          <p:nvPr/>
        </p:nvSpPr>
        <p:spPr>
          <a:xfrm>
            <a:off x="7205472" y="3182112"/>
            <a:ext cx="4288536" cy="365760"/>
          </a:xfrm>
          <a:prstGeom prst="rect">
            <a:avLst/>
          </a:prstGeom>
          <a:noFill/>
          <a:ln/>
        </p:spPr>
        <p:txBody>
          <a:bodyPr wrap="square" lIns="0" tIns="0" rIns="0" bIns="0" rtlCol="0" anchor="ctr"/>
          <a:lstStyle/>
          <a:p>
            <a:pPr algn="l" indent="0" marL="0">
              <a:buNone/>
            </a:pPr>
            <a:r>
              <a:rPr lang="en-US" sz="1140" dirty="0">
                <a:solidFill>
                  <a:srgbClr val="243B53"/>
                </a:solidFill>
                <a:latin typeface="Aptos" pitchFamily="34" charset="0"/>
                <a:ea typeface="Aptos" pitchFamily="34" charset="-122"/>
                <a:cs typeface="Aptos" pitchFamily="34" charset="-120"/>
              </a:rPr>
              <a:t>Dentro, pero ocupado.</a:t>
            </a:r>
            <a:endParaRPr lang="en-US" sz="1140" dirty="0"/>
          </a:p>
        </p:txBody>
      </p:sp>
      <p:sp>
        <p:nvSpPr>
          <p:cNvPr id="34" name="Shape 31"/>
          <p:cNvSpPr/>
          <p:nvPr/>
        </p:nvSpPr>
        <p:spPr>
          <a:xfrm>
            <a:off x="658368" y="3621024"/>
            <a:ext cx="10874959" cy="402336"/>
          </a:xfrm>
          <a:prstGeom prst="rect">
            <a:avLst/>
          </a:prstGeom>
          <a:solidFill>
            <a:srgbClr val="FFFFFF"/>
          </a:solidFill>
          <a:ln w="12700">
            <a:solidFill>
              <a:srgbClr val="FFFFFF"/>
            </a:solidFill>
            <a:prstDash val="solid"/>
          </a:ln>
        </p:spPr>
      </p:sp>
      <p:sp>
        <p:nvSpPr>
          <p:cNvPr id="35" name="Shape 32"/>
          <p:cNvSpPr/>
          <p:nvPr/>
        </p:nvSpPr>
        <p:spPr>
          <a:xfrm>
            <a:off x="658368" y="3621024"/>
            <a:ext cx="45720" cy="402336"/>
          </a:xfrm>
          <a:prstGeom prst="rect">
            <a:avLst/>
          </a:prstGeom>
          <a:solidFill>
            <a:srgbClr val="B3181E"/>
          </a:solidFill>
          <a:ln w="12700">
            <a:solidFill>
              <a:srgbClr val="B3181E"/>
            </a:solidFill>
            <a:prstDash val="solid"/>
          </a:ln>
        </p:spPr>
      </p:sp>
      <p:sp>
        <p:nvSpPr>
          <p:cNvPr id="36" name="Text 33"/>
          <p:cNvSpPr txBox="1"/>
          <p:nvPr/>
        </p:nvSpPr>
        <p:spPr>
          <a:xfrm>
            <a:off x="804672" y="3639312"/>
            <a:ext cx="1005840" cy="365760"/>
          </a:xfrm>
          <a:prstGeom prst="rect">
            <a:avLst/>
          </a:prstGeom>
          <a:noFill/>
          <a:ln/>
        </p:spPr>
        <p:txBody>
          <a:bodyPr wrap="square" lIns="0" tIns="0" rIns="0" bIns="0" rtlCol="0" anchor="ctr"/>
          <a:lstStyle/>
          <a:p>
            <a:pPr algn="l" indent="0" marL="0">
              <a:buNone/>
            </a:pPr>
            <a:r>
              <a:rPr lang="en-US" sz="1160" b="1" dirty="0">
                <a:solidFill>
                  <a:srgbClr val="243B53"/>
                </a:solidFill>
                <a:latin typeface="Aptos" pitchFamily="34" charset="0"/>
                <a:ea typeface="Aptos" pitchFamily="34" charset="-122"/>
                <a:cs typeface="Aptos" pitchFamily="34" charset="-120"/>
              </a:rPr>
              <a:t>R3</a:t>
            </a:r>
            <a:endParaRPr lang="en-US" sz="1160" dirty="0"/>
          </a:p>
        </p:txBody>
      </p:sp>
      <p:sp>
        <p:nvSpPr>
          <p:cNvPr id="37" name="Text 34"/>
          <p:cNvSpPr txBox="1"/>
          <p:nvPr/>
        </p:nvSpPr>
        <p:spPr>
          <a:xfrm>
            <a:off x="1993392" y="3639312"/>
            <a:ext cx="1188720" cy="365760"/>
          </a:xfrm>
          <a:prstGeom prst="rect">
            <a:avLst/>
          </a:prstGeom>
          <a:noFill/>
          <a:ln/>
        </p:spPr>
        <p:txBody>
          <a:bodyPr wrap="square" lIns="0" tIns="0" rIns="0" bIns="0" rtlCol="0" anchor="ctr"/>
          <a:lstStyle/>
          <a:p>
            <a:pPr algn="l" indent="0" marL="0">
              <a:buNone/>
            </a:pPr>
            <a:r>
              <a:rPr lang="en-US" sz="1160" dirty="0">
                <a:solidFill>
                  <a:srgbClr val="243B53"/>
                </a:solidFill>
                <a:latin typeface="Consolas" pitchFamily="34" charset="0"/>
                <a:ea typeface="Consolas" pitchFamily="34" charset="-122"/>
                <a:cs typeface="Consolas" pitchFamily="34" charset="-120"/>
              </a:rPr>
              <a:t>3</a:t>
            </a:r>
            <a:endParaRPr lang="en-US" sz="1160" dirty="0"/>
          </a:p>
        </p:txBody>
      </p:sp>
      <p:sp>
        <p:nvSpPr>
          <p:cNvPr id="38" name="Text 35"/>
          <p:cNvSpPr txBox="1"/>
          <p:nvPr/>
        </p:nvSpPr>
        <p:spPr>
          <a:xfrm>
            <a:off x="3364992" y="3639312"/>
            <a:ext cx="1005840" cy="365760"/>
          </a:xfrm>
          <a:prstGeom prst="rect">
            <a:avLst/>
          </a:prstGeom>
          <a:noFill/>
          <a:ln/>
        </p:spPr>
        <p:txBody>
          <a:bodyPr wrap="square" lIns="0" tIns="0" rIns="0" bIns="0" rtlCol="0" anchor="ctr"/>
          <a:lstStyle/>
          <a:p>
            <a:pPr algn="l" indent="0" marL="0">
              <a:buNone/>
            </a:pPr>
            <a:r>
              <a:rPr lang="en-US" sz="1160" dirty="0">
                <a:solidFill>
                  <a:srgbClr val="243B53"/>
                </a:solidFill>
                <a:latin typeface="Consolas" pitchFamily="34" charset="0"/>
                <a:ea typeface="Consolas" pitchFamily="34" charset="-122"/>
                <a:cs typeface="Consolas" pitchFamily="34" charset="-120"/>
              </a:rPr>
              <a:t>4</a:t>
            </a:r>
            <a:endParaRPr lang="en-US" sz="1160" dirty="0"/>
          </a:p>
        </p:txBody>
      </p:sp>
      <p:sp>
        <p:nvSpPr>
          <p:cNvPr id="39" name="Text 36"/>
          <p:cNvSpPr txBox="1"/>
          <p:nvPr/>
        </p:nvSpPr>
        <p:spPr>
          <a:xfrm>
            <a:off x="4553712" y="3639312"/>
            <a:ext cx="1097280" cy="365760"/>
          </a:xfrm>
          <a:prstGeom prst="rect">
            <a:avLst/>
          </a:prstGeom>
          <a:noFill/>
          <a:ln/>
        </p:spPr>
        <p:txBody>
          <a:bodyPr wrap="square" lIns="0" tIns="0" rIns="0" bIns="0" rtlCol="0" anchor="ctr"/>
          <a:lstStyle/>
          <a:p>
            <a:pPr algn="l" indent="0" marL="0">
              <a:buNone/>
            </a:pPr>
            <a:r>
              <a:rPr lang="en-US" sz="1160" dirty="0">
                <a:solidFill>
                  <a:srgbClr val="243B53"/>
                </a:solidFill>
                <a:latin typeface="Consolas" pitchFamily="34" charset="0"/>
                <a:ea typeface="Consolas" pitchFamily="34" charset="-122"/>
                <a:cs typeface="Consolas" pitchFamily="34" charset="-120"/>
              </a:rPr>
              <a:t>False</a:t>
            </a:r>
            <a:endParaRPr lang="en-US" sz="1160" dirty="0"/>
          </a:p>
        </p:txBody>
      </p:sp>
      <p:sp>
        <p:nvSpPr>
          <p:cNvPr id="40" name="Text 37"/>
          <p:cNvSpPr txBox="1"/>
          <p:nvPr/>
        </p:nvSpPr>
        <p:spPr>
          <a:xfrm>
            <a:off x="5833872" y="3639312"/>
            <a:ext cx="1188720" cy="365760"/>
          </a:xfrm>
          <a:prstGeom prst="rect">
            <a:avLst/>
          </a:prstGeom>
          <a:noFill/>
          <a:ln/>
        </p:spPr>
        <p:txBody>
          <a:bodyPr wrap="square" lIns="0" tIns="0" rIns="0" bIns="0" rtlCol="0" anchor="ctr"/>
          <a:lstStyle/>
          <a:p>
            <a:pPr algn="l" indent="0" marL="0">
              <a:buNone/>
            </a:pPr>
            <a:r>
              <a:rPr lang="en-US" sz="1160" b="1" dirty="0">
                <a:solidFill>
                  <a:srgbClr val="B3181E"/>
                </a:solidFill>
                <a:latin typeface="Consolas" pitchFamily="34" charset="0"/>
                <a:ea typeface="Consolas" pitchFamily="34" charset="-122"/>
                <a:cs typeface="Consolas" pitchFamily="34" charset="-120"/>
              </a:rPr>
              <a:t>False</a:t>
            </a:r>
            <a:endParaRPr lang="en-US" sz="1160" dirty="0"/>
          </a:p>
        </p:txBody>
      </p:sp>
      <p:sp>
        <p:nvSpPr>
          <p:cNvPr id="41" name="Text 38"/>
          <p:cNvSpPr txBox="1"/>
          <p:nvPr/>
        </p:nvSpPr>
        <p:spPr>
          <a:xfrm>
            <a:off x="7205472" y="3639312"/>
            <a:ext cx="4288536" cy="365760"/>
          </a:xfrm>
          <a:prstGeom prst="rect">
            <a:avLst/>
          </a:prstGeom>
          <a:noFill/>
          <a:ln/>
        </p:spPr>
        <p:txBody>
          <a:bodyPr wrap="square" lIns="0" tIns="0" rIns="0" bIns="0" rtlCol="0" anchor="ctr"/>
          <a:lstStyle/>
          <a:p>
            <a:pPr algn="l" indent="0" marL="0">
              <a:buNone/>
            </a:pPr>
            <a:r>
              <a:rPr lang="en-US" sz="1140" dirty="0">
                <a:solidFill>
                  <a:srgbClr val="243B53"/>
                </a:solidFill>
                <a:latin typeface="Aptos" pitchFamily="34" charset="0"/>
                <a:ea typeface="Aptos" pitchFamily="34" charset="-122"/>
                <a:cs typeface="Aptos" pitchFamily="34" charset="-120"/>
              </a:rPr>
              <a:t>Dentro y libre, sin cupo semanal.</a:t>
            </a:r>
            <a:endParaRPr lang="en-US" sz="1140" dirty="0"/>
          </a:p>
        </p:txBody>
      </p:sp>
      <p:sp>
        <p:nvSpPr>
          <p:cNvPr id="42" name="Shape 39"/>
          <p:cNvSpPr/>
          <p:nvPr/>
        </p:nvSpPr>
        <p:spPr>
          <a:xfrm>
            <a:off x="658368" y="4078224"/>
            <a:ext cx="10874959" cy="402336"/>
          </a:xfrm>
          <a:prstGeom prst="rect">
            <a:avLst/>
          </a:prstGeom>
          <a:solidFill>
            <a:srgbClr val="EDE6DA"/>
          </a:solidFill>
          <a:ln w="12700">
            <a:solidFill>
              <a:srgbClr val="EDE6DA"/>
            </a:solidFill>
            <a:prstDash val="solid"/>
          </a:ln>
        </p:spPr>
      </p:sp>
      <p:sp>
        <p:nvSpPr>
          <p:cNvPr id="43" name="Shape 40"/>
          <p:cNvSpPr/>
          <p:nvPr/>
        </p:nvSpPr>
        <p:spPr>
          <a:xfrm>
            <a:off x="658368" y="4078224"/>
            <a:ext cx="45720" cy="402336"/>
          </a:xfrm>
          <a:prstGeom prst="rect">
            <a:avLst/>
          </a:prstGeom>
          <a:solidFill>
            <a:srgbClr val="2E7D4F"/>
          </a:solidFill>
          <a:ln w="12700">
            <a:solidFill>
              <a:srgbClr val="2E7D4F"/>
            </a:solidFill>
            <a:prstDash val="solid"/>
          </a:ln>
        </p:spPr>
      </p:sp>
      <p:sp>
        <p:nvSpPr>
          <p:cNvPr id="44" name="Text 41"/>
          <p:cNvSpPr txBox="1"/>
          <p:nvPr/>
        </p:nvSpPr>
        <p:spPr>
          <a:xfrm>
            <a:off x="804672" y="4096512"/>
            <a:ext cx="1005840" cy="365760"/>
          </a:xfrm>
          <a:prstGeom prst="rect">
            <a:avLst/>
          </a:prstGeom>
          <a:noFill/>
          <a:ln/>
        </p:spPr>
        <p:txBody>
          <a:bodyPr wrap="square" lIns="0" tIns="0" rIns="0" bIns="0" rtlCol="0" anchor="ctr"/>
          <a:lstStyle/>
          <a:p>
            <a:pPr algn="l" indent="0" marL="0">
              <a:buNone/>
            </a:pPr>
            <a:r>
              <a:rPr lang="en-US" sz="1160" b="1" dirty="0">
                <a:solidFill>
                  <a:srgbClr val="243B53"/>
                </a:solidFill>
                <a:latin typeface="Aptos" pitchFamily="34" charset="0"/>
                <a:ea typeface="Aptos" pitchFamily="34" charset="-122"/>
                <a:cs typeface="Aptos" pitchFamily="34" charset="-120"/>
              </a:rPr>
              <a:t>R4</a:t>
            </a:r>
            <a:endParaRPr lang="en-US" sz="1160" dirty="0"/>
          </a:p>
        </p:txBody>
      </p:sp>
      <p:sp>
        <p:nvSpPr>
          <p:cNvPr id="45" name="Text 42"/>
          <p:cNvSpPr txBox="1"/>
          <p:nvPr/>
        </p:nvSpPr>
        <p:spPr>
          <a:xfrm>
            <a:off x="1993392" y="4096512"/>
            <a:ext cx="1188720" cy="365760"/>
          </a:xfrm>
          <a:prstGeom prst="rect">
            <a:avLst/>
          </a:prstGeom>
          <a:noFill/>
          <a:ln/>
        </p:spPr>
        <p:txBody>
          <a:bodyPr wrap="square" lIns="0" tIns="0" rIns="0" bIns="0" rtlCol="0" anchor="ctr"/>
          <a:lstStyle/>
          <a:p>
            <a:pPr algn="l" indent="0" marL="0">
              <a:buNone/>
            </a:pPr>
            <a:r>
              <a:rPr lang="en-US" sz="1160" dirty="0">
                <a:solidFill>
                  <a:srgbClr val="243B53"/>
                </a:solidFill>
                <a:latin typeface="Consolas" pitchFamily="34" charset="0"/>
                <a:ea typeface="Consolas" pitchFamily="34" charset="-122"/>
                <a:cs typeface="Consolas" pitchFamily="34" charset="-120"/>
              </a:rPr>
              <a:t>1</a:t>
            </a:r>
            <a:endParaRPr lang="en-US" sz="1160" dirty="0"/>
          </a:p>
        </p:txBody>
      </p:sp>
      <p:sp>
        <p:nvSpPr>
          <p:cNvPr id="46" name="Text 43"/>
          <p:cNvSpPr txBox="1"/>
          <p:nvPr/>
        </p:nvSpPr>
        <p:spPr>
          <a:xfrm>
            <a:off x="3364992" y="4096512"/>
            <a:ext cx="1005840" cy="365760"/>
          </a:xfrm>
          <a:prstGeom prst="rect">
            <a:avLst/>
          </a:prstGeom>
          <a:noFill/>
          <a:ln/>
        </p:spPr>
        <p:txBody>
          <a:bodyPr wrap="square" lIns="0" tIns="0" rIns="0" bIns="0" rtlCol="0" anchor="ctr"/>
          <a:lstStyle/>
          <a:p>
            <a:pPr algn="l" indent="0" marL="0">
              <a:buNone/>
            </a:pPr>
            <a:r>
              <a:rPr lang="en-US" sz="1160" dirty="0">
                <a:solidFill>
                  <a:srgbClr val="243B53"/>
                </a:solidFill>
                <a:latin typeface="Consolas" pitchFamily="34" charset="0"/>
                <a:ea typeface="Consolas" pitchFamily="34" charset="-122"/>
                <a:cs typeface="Consolas" pitchFamily="34" charset="-120"/>
              </a:rPr>
              <a:t>4</a:t>
            </a:r>
            <a:endParaRPr lang="en-US" sz="1160" dirty="0"/>
          </a:p>
        </p:txBody>
      </p:sp>
      <p:sp>
        <p:nvSpPr>
          <p:cNvPr id="47" name="Text 44"/>
          <p:cNvSpPr txBox="1"/>
          <p:nvPr/>
        </p:nvSpPr>
        <p:spPr>
          <a:xfrm>
            <a:off x="4553712" y="4096512"/>
            <a:ext cx="1097280" cy="365760"/>
          </a:xfrm>
          <a:prstGeom prst="rect">
            <a:avLst/>
          </a:prstGeom>
          <a:noFill/>
          <a:ln/>
        </p:spPr>
        <p:txBody>
          <a:bodyPr wrap="square" lIns="0" tIns="0" rIns="0" bIns="0" rtlCol="0" anchor="ctr"/>
          <a:lstStyle/>
          <a:p>
            <a:pPr algn="l" indent="0" marL="0">
              <a:buNone/>
            </a:pPr>
            <a:r>
              <a:rPr lang="en-US" sz="1160" dirty="0">
                <a:solidFill>
                  <a:srgbClr val="243B53"/>
                </a:solidFill>
                <a:latin typeface="Consolas" pitchFamily="34" charset="0"/>
                <a:ea typeface="Consolas" pitchFamily="34" charset="-122"/>
                <a:cs typeface="Consolas" pitchFamily="34" charset="-120"/>
              </a:rPr>
              <a:t>False</a:t>
            </a:r>
            <a:endParaRPr lang="en-US" sz="1160" dirty="0"/>
          </a:p>
        </p:txBody>
      </p:sp>
      <p:sp>
        <p:nvSpPr>
          <p:cNvPr id="48" name="Text 45"/>
          <p:cNvSpPr txBox="1"/>
          <p:nvPr/>
        </p:nvSpPr>
        <p:spPr>
          <a:xfrm>
            <a:off x="5833872" y="4096512"/>
            <a:ext cx="1188720" cy="365760"/>
          </a:xfrm>
          <a:prstGeom prst="rect">
            <a:avLst/>
          </a:prstGeom>
          <a:noFill/>
          <a:ln/>
        </p:spPr>
        <p:txBody>
          <a:bodyPr wrap="square" lIns="0" tIns="0" rIns="0" bIns="0" rtlCol="0" anchor="ctr"/>
          <a:lstStyle/>
          <a:p>
            <a:pPr algn="l" indent="0" marL="0">
              <a:buNone/>
            </a:pPr>
            <a:r>
              <a:rPr lang="en-US" sz="1160" b="1" dirty="0">
                <a:solidFill>
                  <a:srgbClr val="2E7D4F"/>
                </a:solidFill>
                <a:latin typeface="Consolas" pitchFamily="34" charset="0"/>
                <a:ea typeface="Consolas" pitchFamily="34" charset="-122"/>
                <a:cs typeface="Consolas" pitchFamily="34" charset="-120"/>
              </a:rPr>
              <a:t>True</a:t>
            </a:r>
            <a:endParaRPr lang="en-US" sz="1160" dirty="0"/>
          </a:p>
        </p:txBody>
      </p:sp>
      <p:sp>
        <p:nvSpPr>
          <p:cNvPr id="49" name="Text 46"/>
          <p:cNvSpPr txBox="1"/>
          <p:nvPr/>
        </p:nvSpPr>
        <p:spPr>
          <a:xfrm>
            <a:off x="7205472" y="4096512"/>
            <a:ext cx="4288536" cy="365760"/>
          </a:xfrm>
          <a:prstGeom prst="rect">
            <a:avLst/>
          </a:prstGeom>
          <a:noFill/>
          <a:ln/>
        </p:spPr>
        <p:txBody>
          <a:bodyPr wrap="square" lIns="0" tIns="0" rIns="0" bIns="0" rtlCol="0" anchor="ctr"/>
          <a:lstStyle/>
          <a:p>
            <a:pPr algn="l" indent="0" marL="0">
              <a:buNone/>
            </a:pPr>
            <a:r>
              <a:rPr lang="en-US" sz="1140" dirty="0">
                <a:solidFill>
                  <a:srgbClr val="243B53"/>
                </a:solidFill>
                <a:latin typeface="Aptos" pitchFamily="34" charset="0"/>
                <a:ea typeface="Aptos" pitchFamily="34" charset="-122"/>
                <a:cs typeface="Aptos" pitchFamily="34" charset="-120"/>
              </a:rPr>
              <a:t>Las tres condiciones permiten reservar.</a:t>
            </a:r>
            <a:endParaRPr lang="en-US" sz="1140" dirty="0"/>
          </a:p>
        </p:txBody>
      </p:sp>
      <p:sp>
        <p:nvSpPr>
          <p:cNvPr id="50" name="Shape 47"/>
          <p:cNvSpPr/>
          <p:nvPr/>
        </p:nvSpPr>
        <p:spPr>
          <a:xfrm>
            <a:off x="658368" y="4626864"/>
            <a:ext cx="10874959" cy="859536"/>
          </a:xfrm>
          <a:prstGeom prst="rect">
            <a:avLst/>
          </a:prstGeom>
          <a:solidFill>
            <a:srgbClr val="F2E7D9"/>
          </a:solidFill>
          <a:ln w="12700">
            <a:solidFill>
              <a:srgbClr val="F2E7D9"/>
            </a:solidFill>
            <a:prstDash val="solid"/>
          </a:ln>
        </p:spPr>
      </p:sp>
      <p:sp>
        <p:nvSpPr>
          <p:cNvPr id="51" name="Shape 48"/>
          <p:cNvSpPr/>
          <p:nvPr/>
        </p:nvSpPr>
        <p:spPr>
          <a:xfrm>
            <a:off x="658368" y="4626864"/>
            <a:ext cx="64008" cy="859536"/>
          </a:xfrm>
          <a:prstGeom prst="rect">
            <a:avLst/>
          </a:prstGeom>
          <a:solidFill>
            <a:srgbClr val="8A6A12"/>
          </a:solidFill>
          <a:ln w="12700">
            <a:solidFill>
              <a:srgbClr val="8A6A12"/>
            </a:solidFill>
            <a:prstDash val="solid"/>
          </a:ln>
        </p:spPr>
      </p:sp>
      <p:sp>
        <p:nvSpPr>
          <p:cNvPr id="52" name="Text 49"/>
          <p:cNvSpPr txBox="1"/>
          <p:nvPr/>
        </p:nvSpPr>
        <p:spPr>
          <a:xfrm>
            <a:off x="987552" y="4773168"/>
            <a:ext cx="6400800" cy="201168"/>
          </a:xfrm>
          <a:prstGeom prst="rect">
            <a:avLst/>
          </a:prstGeom>
          <a:noFill/>
          <a:ln/>
        </p:spPr>
        <p:txBody>
          <a:bodyPr wrap="square" lIns="0" tIns="0" rIns="0" bIns="0" rtlCol="0" anchor="t"/>
          <a:lstStyle/>
          <a:p>
            <a:pPr algn="l" indent="0" marL="0">
              <a:buNone/>
            </a:pPr>
            <a:r>
              <a:rPr lang="en-US" sz="960" b="1" spc="130" kern="0" dirty="0">
                <a:solidFill>
                  <a:srgbClr val="8A6A12"/>
                </a:solidFill>
                <a:latin typeface="Aptos" pitchFamily="34" charset="0"/>
                <a:ea typeface="Aptos" pitchFamily="34" charset="-122"/>
                <a:cs typeface="Aptos" pitchFamily="34" charset="-120"/>
              </a:rPr>
              <a:t>EN R1 LA TABLA DECÍA «—» Y AQUÍ APARECEN VALORES</a:t>
            </a:r>
            <a:endParaRPr lang="en-US" sz="960" dirty="0"/>
          </a:p>
        </p:txBody>
      </p:sp>
      <p:sp>
        <p:nvSpPr>
          <p:cNvPr id="53" name="Text 50"/>
          <p:cNvSpPr txBox="1"/>
          <p:nvPr/>
        </p:nvSpPr>
        <p:spPr>
          <a:xfrm>
            <a:off x="987552" y="4992624"/>
            <a:ext cx="10216591" cy="420624"/>
          </a:xfrm>
          <a:prstGeom prst="rect">
            <a:avLst/>
          </a:prstGeom>
          <a:noFill/>
          <a:ln/>
        </p:spPr>
        <p:txBody>
          <a:bodyPr wrap="square" lIns="0" tIns="0" rIns="0" bIns="0" rtlCol="0" anchor="t"/>
          <a:lstStyle/>
          <a:p>
            <a:pPr algn="l" indent="0" marL="0">
              <a:lnSpc>
                <a:spcPct val="114000"/>
              </a:lnSpc>
              <a:buNone/>
            </a:pPr>
            <a:r>
              <a:rPr lang="en-US" sz="1240" dirty="0">
                <a:solidFill>
                  <a:srgbClr val="243B53"/>
                </a:solidFill>
                <a:latin typeface="Aptos" pitchFamily="34" charset="0"/>
                <a:ea typeface="Aptos" pitchFamily="34" charset="-122"/>
                <a:cs typeface="Aptos" pitchFamily="34" charset="-120"/>
              </a:rPr>
              <a:t>La función necesita argumentos concretos para ejecutarse. Lo indiferente es su efecto esperado sobre la decisión,</a:t>
            </a:r>
            <a:endParaRPr lang="en-US" sz="1240" dirty="0"/>
          </a:p>
          <a:p>
            <a:pPr algn="l" indent="0" marL="0">
              <a:lnSpc>
                <a:spcPct val="114000"/>
              </a:lnSpc>
              <a:buNone/>
            </a:pPr>
            <a:r>
              <a:rPr lang="en-US" sz="1240" dirty="0">
                <a:solidFill>
                  <a:srgbClr val="243B53"/>
                </a:solidFill>
                <a:latin typeface="Aptos" pitchFamily="34" charset="0"/>
                <a:ea typeface="Aptos" pitchFamily="34" charset="-122"/>
                <a:cs typeface="Aptos" pitchFamily="34" charset="-120"/>
              </a:rPr>
              <a:t>no la necesidad de proporcionar un valor.</a:t>
            </a:r>
            <a:endParaRPr lang="en-US" sz="1240" dirty="0"/>
          </a:p>
        </p:txBody>
      </p:sp>
      <p:sp>
        <p:nvSpPr>
          <p:cNvPr id="54" name="Shape 51"/>
          <p:cNvSpPr/>
          <p:nvPr/>
        </p:nvSpPr>
        <p:spPr>
          <a:xfrm>
            <a:off x="658368" y="5632704"/>
            <a:ext cx="10874959" cy="512064"/>
          </a:xfrm>
          <a:prstGeom prst="rect">
            <a:avLst/>
          </a:prstGeom>
          <a:solidFill>
            <a:srgbClr val="102A43"/>
          </a:solidFill>
          <a:ln w="12700">
            <a:solidFill>
              <a:srgbClr val="102A43"/>
            </a:solidFill>
            <a:prstDash val="solid"/>
          </a:ln>
        </p:spPr>
      </p:sp>
      <p:sp>
        <p:nvSpPr>
          <p:cNvPr id="55" name="Text 52"/>
          <p:cNvSpPr txBox="1"/>
          <p:nvPr/>
        </p:nvSpPr>
        <p:spPr>
          <a:xfrm>
            <a:off x="969264" y="5669280"/>
            <a:ext cx="10253167" cy="438912"/>
          </a:xfrm>
          <a:prstGeom prst="rect">
            <a:avLst/>
          </a:prstGeom>
          <a:noFill/>
          <a:ln/>
        </p:spPr>
        <p:txBody>
          <a:bodyPr wrap="square" lIns="0" tIns="0" rIns="0" bIns="0" rtlCol="0" anchor="ctr"/>
          <a:lstStyle/>
          <a:p>
            <a:pPr algn="ctr" indent="0" marL="0">
              <a:lnSpc>
                <a:spcPct val="110000"/>
              </a:lnSpc>
              <a:buNone/>
            </a:pPr>
            <a:r>
              <a:rPr lang="en-US" sz="1320" b="1" dirty="0">
                <a:solidFill>
                  <a:srgbClr val="FFFFFF"/>
                </a:solidFill>
                <a:latin typeface="Aptos" pitchFamily="34" charset="0"/>
                <a:ea typeface="Aptos" pitchFamily="34" charset="-122"/>
                <a:cs typeface="Aptos" pitchFamily="34" charset="-120"/>
              </a:rPr>
              <a:t>La tabla de decisión se convierte en la lista de casos de una parametrización, ahora con cuatro nombres.</a:t>
            </a:r>
            <a:endParaRPr lang="en-US" sz="132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65</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COMPROBAR</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Las cuatro reglas pasan, y aun así falta algo</a:t>
            </a:r>
            <a:endParaRPr lang="en-US" sz="3000" dirty="0"/>
          </a:p>
        </p:txBody>
      </p:sp>
      <p:sp>
        <p:nvSpPr>
          <p:cNvPr id="10" name="Text 7"/>
          <p:cNvSpPr txBox="1"/>
          <p:nvPr/>
        </p:nvSpPr>
        <p:spPr>
          <a:xfrm>
            <a:off x="658368" y="1773936"/>
            <a:ext cx="72237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Se agrega un quinto caso: la misma regla R4, pero con un representante del límite.</a:t>
            </a:r>
            <a:endParaRPr lang="en-US" sz="1450" dirty="0"/>
          </a:p>
        </p:txBody>
      </p:sp>
      <p:sp>
        <p:nvSpPr>
          <p:cNvPr id="11" name="Shape 8"/>
          <p:cNvSpPr/>
          <p:nvPr/>
        </p:nvSpPr>
        <p:spPr>
          <a:xfrm>
            <a:off x="8165592" y="1883664"/>
            <a:ext cx="1060704" cy="274320"/>
          </a:xfrm>
          <a:prstGeom prst="rect">
            <a:avLst/>
          </a:prstGeom>
          <a:solidFill>
            <a:srgbClr val="EDE6DA"/>
          </a:solidFill>
          <a:ln w="12700">
            <a:solidFill>
              <a:srgbClr val="EDE6DA"/>
            </a:solidFill>
            <a:prstDash val="solid"/>
          </a:ln>
        </p:spPr>
      </p:sp>
      <p:sp>
        <p:nvSpPr>
          <p:cNvPr id="12" name="Text 9"/>
          <p:cNvSpPr txBox="1"/>
          <p:nvPr/>
        </p:nvSpPr>
        <p:spPr>
          <a:xfrm>
            <a:off x="8165592"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Leer</a:t>
            </a:r>
            <a:endParaRPr lang="en-US" sz="940" dirty="0"/>
          </a:p>
        </p:txBody>
      </p:sp>
      <p:sp>
        <p:nvSpPr>
          <p:cNvPr id="13" name="Shape 10"/>
          <p:cNvSpPr/>
          <p:nvPr/>
        </p:nvSpPr>
        <p:spPr>
          <a:xfrm>
            <a:off x="9317736" y="1883664"/>
            <a:ext cx="1060704" cy="274320"/>
          </a:xfrm>
          <a:prstGeom prst="rect">
            <a:avLst/>
          </a:prstGeom>
          <a:solidFill>
            <a:srgbClr val="EDE6DA"/>
          </a:solidFill>
          <a:ln w="12700">
            <a:solidFill>
              <a:srgbClr val="EDE6DA"/>
            </a:solidFill>
            <a:prstDash val="solid"/>
          </a:ln>
        </p:spPr>
      </p:sp>
      <p:sp>
        <p:nvSpPr>
          <p:cNvPr id="14" name="Text 11"/>
          <p:cNvSpPr txBox="1"/>
          <p:nvPr/>
        </p:nvSpPr>
        <p:spPr>
          <a:xfrm>
            <a:off x="9317736"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Predecir</a:t>
            </a:r>
            <a:endParaRPr lang="en-US" sz="940" dirty="0"/>
          </a:p>
        </p:txBody>
      </p:sp>
      <p:sp>
        <p:nvSpPr>
          <p:cNvPr id="15" name="Shape 12"/>
          <p:cNvSpPr/>
          <p:nvPr/>
        </p:nvSpPr>
        <p:spPr>
          <a:xfrm>
            <a:off x="10469880" y="1883664"/>
            <a:ext cx="1060704" cy="274320"/>
          </a:xfrm>
          <a:prstGeom prst="rect">
            <a:avLst/>
          </a:prstGeom>
          <a:solidFill>
            <a:srgbClr val="102A43"/>
          </a:solidFill>
          <a:ln w="12700">
            <a:solidFill>
              <a:srgbClr val="102A43"/>
            </a:solidFill>
            <a:prstDash val="solid"/>
          </a:ln>
        </p:spPr>
      </p:sp>
      <p:sp>
        <p:nvSpPr>
          <p:cNvPr id="16" name="Text 13"/>
          <p:cNvSpPr txBox="1"/>
          <p:nvPr/>
        </p:nvSpPr>
        <p:spPr>
          <a:xfrm>
            <a:off x="10469880"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FFFFFF"/>
                </a:solidFill>
                <a:latin typeface="Aptos" pitchFamily="34" charset="0"/>
                <a:ea typeface="Aptos" pitchFamily="34" charset="-122"/>
                <a:cs typeface="Aptos" pitchFamily="34" charset="-120"/>
              </a:rPr>
              <a:t>Comprobar</a:t>
            </a:r>
            <a:endParaRPr lang="en-US" sz="940" dirty="0"/>
          </a:p>
        </p:txBody>
      </p:sp>
      <p:sp>
        <p:nvSpPr>
          <p:cNvPr id="17" name="Shape 14"/>
          <p:cNvSpPr/>
          <p:nvPr/>
        </p:nvSpPr>
        <p:spPr>
          <a:xfrm>
            <a:off x="658368" y="2286000"/>
            <a:ext cx="5532120" cy="1700784"/>
          </a:xfrm>
          <a:prstGeom prst="roundRect">
            <a:avLst>
              <a:gd name="adj" fmla="val 2151"/>
            </a:avLst>
          </a:prstGeom>
          <a:solidFill>
            <a:srgbClr val="102A43"/>
          </a:solidFill>
          <a:ln w="12700">
            <a:solidFill>
              <a:srgbClr val="102A43"/>
            </a:solidFill>
            <a:prstDash val="solid"/>
          </a:ln>
        </p:spPr>
      </p:sp>
      <p:sp>
        <p:nvSpPr>
          <p:cNvPr id="18" name="Shape 15"/>
          <p:cNvSpPr/>
          <p:nvPr/>
        </p:nvSpPr>
        <p:spPr>
          <a:xfrm>
            <a:off x="786384" y="2395728"/>
            <a:ext cx="5276088" cy="310896"/>
          </a:xfrm>
          <a:prstGeom prst="roundRect">
            <a:avLst>
              <a:gd name="adj" fmla="val 8824"/>
            </a:avLst>
          </a:prstGeom>
          <a:solidFill>
            <a:srgbClr val="284B75"/>
          </a:solidFill>
          <a:ln w="12700">
            <a:solidFill>
              <a:srgbClr val="284B75"/>
            </a:solidFill>
            <a:prstDash val="solid"/>
          </a:ln>
        </p:spPr>
      </p:sp>
      <p:sp>
        <p:nvSpPr>
          <p:cNvPr id="19" name="Text 16"/>
          <p:cNvSpPr/>
          <p:nvPr/>
        </p:nvSpPr>
        <p:spPr>
          <a:xfrm>
            <a:off x="896112" y="2468880"/>
            <a:ext cx="505663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El quinto caso</a:t>
            </a:r>
            <a:endParaRPr lang="en-US" sz="100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5111496" cy="950976"/>
          </a:xfrm>
          <a:prstGeom prst="rect">
            <a:avLst/>
          </a:prstGeom>
        </p:spPr>
      </p:pic>
      <p:sp>
        <p:nvSpPr>
          <p:cNvPr id="21" name="Shape 17"/>
          <p:cNvSpPr/>
          <p:nvPr/>
        </p:nvSpPr>
        <p:spPr>
          <a:xfrm>
            <a:off x="6382512" y="2286000"/>
            <a:ext cx="5148072" cy="1700784"/>
          </a:xfrm>
          <a:prstGeom prst="roundRect">
            <a:avLst>
              <a:gd name="adj" fmla="val 2151"/>
            </a:avLst>
          </a:prstGeom>
          <a:solidFill>
            <a:srgbClr val="0F1720"/>
          </a:solidFill>
          <a:ln w="12700">
            <a:solidFill>
              <a:srgbClr val="0F1720"/>
            </a:solidFill>
            <a:prstDash val="solid"/>
          </a:ln>
        </p:spPr>
      </p:sp>
      <p:sp>
        <p:nvSpPr>
          <p:cNvPr id="22" name="Shape 18"/>
          <p:cNvSpPr/>
          <p:nvPr/>
        </p:nvSpPr>
        <p:spPr>
          <a:xfrm>
            <a:off x="6510528" y="2395728"/>
            <a:ext cx="4892040" cy="310896"/>
          </a:xfrm>
          <a:prstGeom prst="roundRect">
            <a:avLst>
              <a:gd name="adj" fmla="val 8824"/>
            </a:avLst>
          </a:prstGeom>
          <a:solidFill>
            <a:srgbClr val="1E2937"/>
          </a:solidFill>
          <a:ln w="12700">
            <a:solidFill>
              <a:srgbClr val="1E2937"/>
            </a:solidFill>
            <a:prstDash val="solid"/>
          </a:ln>
        </p:spPr>
      </p:sp>
      <p:sp>
        <p:nvSpPr>
          <p:cNvPr id="23" name="Text 19"/>
          <p:cNvSpPr/>
          <p:nvPr/>
        </p:nvSpPr>
        <p:spPr>
          <a:xfrm>
            <a:off x="6638544" y="2468880"/>
            <a:ext cx="4636008"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Las cinco pruebas juntas</a:t>
            </a:r>
            <a:endParaRPr lang="en-US" sz="1000" dirty="0"/>
          </a:p>
        </p:txBody>
      </p:sp>
      <p:sp>
        <p:nvSpPr>
          <p:cNvPr id="24" name="Text 20"/>
          <p:cNvSpPr/>
          <p:nvPr/>
        </p:nvSpPr>
        <p:spPr>
          <a:xfrm>
            <a:off x="6601968" y="2852928"/>
            <a:ext cx="4398264" cy="164592"/>
          </a:xfrm>
          <a:prstGeom prst="rect">
            <a:avLst/>
          </a:prstGeom>
          <a:noFill/>
          <a:ln/>
        </p:spPr>
        <p:txBody>
          <a:bodyPr wrap="square" lIns="0" tIns="0" rIns="0" bIns="0" rtlCol="0" anchor="ctr"/>
          <a:lstStyle/>
          <a:p>
            <a:pPr indent="0" marL="0">
              <a:buNone/>
            </a:pPr>
            <a:r>
              <a:rPr lang="en-US" sz="860" dirty="0">
                <a:solidFill>
                  <a:srgbClr val="E6EEF7"/>
                </a:solidFill>
                <a:latin typeface="Consolas" pitchFamily="34" charset="0"/>
                <a:ea typeface="Consolas" pitchFamily="34" charset="-122"/>
                <a:cs typeface="Consolas" pitchFamily="34" charset="-120"/>
              </a:rPr>
              <a:t>E   assert False is True</a:t>
            </a:r>
            <a:endParaRPr lang="en-US" sz="860" dirty="0"/>
          </a:p>
        </p:txBody>
      </p:sp>
      <p:sp>
        <p:nvSpPr>
          <p:cNvPr id="25" name="Text 21"/>
          <p:cNvSpPr/>
          <p:nvPr/>
        </p:nvSpPr>
        <p:spPr>
          <a:xfrm>
            <a:off x="6601968" y="3108960"/>
            <a:ext cx="4398264" cy="164592"/>
          </a:xfrm>
          <a:prstGeom prst="rect">
            <a:avLst/>
          </a:prstGeom>
          <a:noFill/>
          <a:ln/>
        </p:spPr>
        <p:txBody>
          <a:bodyPr wrap="square" lIns="0" tIns="0" rIns="0" bIns="0" rtlCol="0" anchor="ctr"/>
          <a:lstStyle/>
          <a:p>
            <a:pPr indent="0" marL="0">
              <a:buNone/>
            </a:pPr>
            <a:r>
              <a:rPr lang="en-US" sz="860" dirty="0">
                <a:solidFill>
                  <a:srgbClr val="E6EEF7"/>
                </a:solidFill>
                <a:latin typeface="Consolas" pitchFamily="34" charset="0"/>
                <a:ea typeface="Consolas" pitchFamily="34" charset="-122"/>
                <a:cs typeface="Consolas" pitchFamily="34" charset="-120"/>
              </a:rPr>
              <a:t>E    +  where False = puede_reservar(1, 8, ...)</a:t>
            </a:r>
            <a:endParaRPr lang="en-US" sz="860" dirty="0"/>
          </a:p>
        </p:txBody>
      </p:sp>
      <p:sp>
        <p:nvSpPr>
          <p:cNvPr id="26" name="Text 22"/>
          <p:cNvSpPr/>
          <p:nvPr/>
        </p:nvSpPr>
        <p:spPr>
          <a:xfrm>
            <a:off x="6601968" y="3364992"/>
            <a:ext cx="4398264" cy="164592"/>
          </a:xfrm>
          <a:prstGeom prst="rect">
            <a:avLst/>
          </a:prstGeom>
          <a:noFill/>
          <a:ln/>
        </p:spPr>
        <p:txBody>
          <a:bodyPr wrap="square" lIns="0" tIns="0" rIns="0" bIns="0" rtlCol="0" anchor="ctr"/>
          <a:lstStyle/>
          <a:p>
            <a:pPr indent="0" marL="0">
              <a:buNone/>
            </a:pPr>
            <a:r>
              <a:rPr lang="en-US" sz="860" dirty="0">
                <a:solidFill>
                  <a:srgbClr val="E6EEF7"/>
                </a:solidFill>
                <a:latin typeface="Consolas" pitchFamily="34" charset="0"/>
                <a:ea typeface="Consolas" pitchFamily="34" charset="-122"/>
                <a:cs typeface="Consolas" pitchFamily="34" charset="-120"/>
              </a:rPr>
              <a:t>1 failed, 4 passed in 0.10s</a:t>
            </a:r>
            <a:endParaRPr lang="en-US" sz="860" dirty="0"/>
          </a:p>
        </p:txBody>
      </p:sp>
      <p:sp>
        <p:nvSpPr>
          <p:cNvPr id="27" name="Shape 23"/>
          <p:cNvSpPr/>
          <p:nvPr/>
        </p:nvSpPr>
        <p:spPr>
          <a:xfrm>
            <a:off x="658368" y="4151376"/>
            <a:ext cx="10874959" cy="1042416"/>
          </a:xfrm>
          <a:prstGeom prst="rect">
            <a:avLst/>
          </a:prstGeom>
          <a:solidFill>
            <a:srgbClr val="E6EEF7"/>
          </a:solidFill>
          <a:ln w="12700">
            <a:solidFill>
              <a:srgbClr val="E6EEF7"/>
            </a:solidFill>
            <a:prstDash val="solid"/>
          </a:ln>
        </p:spPr>
      </p:sp>
      <p:sp>
        <p:nvSpPr>
          <p:cNvPr id="28" name="Shape 24"/>
          <p:cNvSpPr/>
          <p:nvPr/>
        </p:nvSpPr>
        <p:spPr>
          <a:xfrm>
            <a:off x="658368" y="4151376"/>
            <a:ext cx="64008" cy="1042416"/>
          </a:xfrm>
          <a:prstGeom prst="rect">
            <a:avLst/>
          </a:prstGeom>
          <a:solidFill>
            <a:srgbClr val="102A43"/>
          </a:solidFill>
          <a:ln w="12700">
            <a:solidFill>
              <a:srgbClr val="102A43"/>
            </a:solidFill>
            <a:prstDash val="solid"/>
          </a:ln>
        </p:spPr>
      </p:sp>
      <p:sp>
        <p:nvSpPr>
          <p:cNvPr id="29" name="Text 25"/>
          <p:cNvSpPr txBox="1"/>
          <p:nvPr/>
        </p:nvSpPr>
        <p:spPr>
          <a:xfrm>
            <a:off x="987552" y="4315968"/>
            <a:ext cx="640080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LAS TRES TÉCNICAS DE HOY, TRABAJANDO JUNTAS</a:t>
            </a:r>
            <a:endParaRPr lang="en-US" sz="960" dirty="0"/>
          </a:p>
        </p:txBody>
      </p:sp>
      <p:sp>
        <p:nvSpPr>
          <p:cNvPr id="30" name="Text 26"/>
          <p:cNvSpPr txBox="1"/>
          <p:nvPr/>
        </p:nvSpPr>
        <p:spPr>
          <a:xfrm>
            <a:off x="987552" y="4535424"/>
            <a:ext cx="10216591" cy="603504"/>
          </a:xfrm>
          <a:prstGeom prst="rect">
            <a:avLst/>
          </a:prstGeom>
          <a:noFill/>
          <a:ln/>
        </p:spPr>
        <p:txBody>
          <a:bodyPr wrap="square" lIns="0" tIns="0" rIns="0" bIns="0" rtlCol="0" anchor="t"/>
          <a:lstStyle/>
          <a:p>
            <a:pPr algn="l" indent="0" marL="0">
              <a:lnSpc>
                <a:spcPct val="116000"/>
              </a:lnSpc>
              <a:buNone/>
            </a:pPr>
            <a:r>
              <a:rPr lang="en-US" sz="1240" dirty="0">
                <a:solidFill>
                  <a:srgbClr val="243B53"/>
                </a:solidFill>
                <a:latin typeface="Aptos" pitchFamily="34" charset="0"/>
                <a:ea typeface="Aptos" pitchFamily="34" charset="-122"/>
                <a:cs typeface="Aptos" pitchFamily="34" charset="-120"/>
              </a:rPr>
              <a:t>El quinto caso no descubre una quinta regla: comprueba R4 con un valor que la implementación trata mal.</a:t>
            </a:r>
            <a:endParaRPr lang="en-US" sz="1240" dirty="0"/>
          </a:p>
          <a:p>
            <a:pPr algn="l" indent="0" marL="0">
              <a:lnSpc>
                <a:spcPct val="116000"/>
              </a:lnSpc>
              <a:buNone/>
            </a:pPr>
            <a:r>
              <a:rPr lang="en-US" sz="1240" dirty="0">
                <a:solidFill>
                  <a:srgbClr val="243B53"/>
                </a:solidFill>
                <a:latin typeface="Aptos" pitchFamily="34" charset="0"/>
                <a:ea typeface="Aptos" pitchFamily="34" charset="-122"/>
                <a:cs typeface="Aptos" pitchFamily="34" charset="-120"/>
              </a:rPr>
              <a:t>La TABLA selecciona la combinación de condiciones, la PARTICIÓN identifica sus clases, y los LÍMITES</a:t>
            </a:r>
            <a:endParaRPr lang="en-US" sz="1240" dirty="0"/>
          </a:p>
          <a:p>
            <a:pPr algn="l" indent="0" marL="0">
              <a:lnSpc>
                <a:spcPct val="116000"/>
              </a:lnSpc>
              <a:buNone/>
            </a:pPr>
            <a:r>
              <a:rPr lang="en-US" sz="1240" dirty="0">
                <a:solidFill>
                  <a:srgbClr val="243B53"/>
                </a:solidFill>
                <a:latin typeface="Aptos" pitchFamily="34" charset="0"/>
                <a:ea typeface="Aptos" pitchFamily="34" charset="-122"/>
                <a:cs typeface="Aptos" pitchFamily="34" charset="-120"/>
              </a:rPr>
              <a:t>ayudan a elegir un representante sensible al defecto.</a:t>
            </a:r>
            <a:endParaRPr lang="en-US" sz="1240" dirty="0"/>
          </a:p>
        </p:txBody>
      </p:sp>
      <p:sp>
        <p:nvSpPr>
          <p:cNvPr id="31" name="Shape 27"/>
          <p:cNvSpPr/>
          <p:nvPr/>
        </p:nvSpPr>
        <p:spPr>
          <a:xfrm>
            <a:off x="658368" y="5358384"/>
            <a:ext cx="10874959" cy="585216"/>
          </a:xfrm>
          <a:prstGeom prst="rect">
            <a:avLst/>
          </a:prstGeom>
          <a:solidFill>
            <a:srgbClr val="102A43"/>
          </a:solidFill>
          <a:ln w="12700">
            <a:solidFill>
              <a:srgbClr val="102A43"/>
            </a:solidFill>
            <a:prstDash val="solid"/>
          </a:ln>
        </p:spPr>
      </p:sp>
      <p:sp>
        <p:nvSpPr>
          <p:cNvPr id="32" name="Text 28"/>
          <p:cNvSpPr txBox="1"/>
          <p:nvPr/>
        </p:nvSpPr>
        <p:spPr>
          <a:xfrm>
            <a:off x="969264" y="5394960"/>
            <a:ext cx="10253167" cy="512064"/>
          </a:xfrm>
          <a:prstGeom prst="rect">
            <a:avLst/>
          </a:prstGeom>
          <a:noFill/>
          <a:ln/>
        </p:spPr>
        <p:txBody>
          <a:bodyPr wrap="square" lIns="0" tIns="0" rIns="0" bIns="0" rtlCol="0" anchor="ctr"/>
          <a:lstStyle/>
          <a:p>
            <a:pPr algn="ctr" indent="0" marL="0">
              <a:lnSpc>
                <a:spcPct val="110000"/>
              </a:lnSpc>
              <a:buNone/>
            </a:pPr>
            <a:r>
              <a:rPr lang="en-US" sz="1260" b="1" dirty="0">
                <a:solidFill>
                  <a:srgbClr val="FFFFFF"/>
                </a:solidFill>
                <a:latin typeface="Aptos" pitchFamily="34" charset="0"/>
                <a:ea typeface="Aptos" pitchFamily="34" charset="-122"/>
                <a:cs typeface="Aptos" pitchFamily="34" charset="-120"/>
              </a:rPr>
              <a:t>«Cuatro reglas representadas» no equivale a «todas las entradas verificadas». Quedan fuera otros valores dentro de las clases, tipos inesperados y efectos concurrentes.</a:t>
            </a:r>
            <a:endParaRPr lang="en-US" sz="126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66</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OTRO CONTRATO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Cuando lo esperado es que la función lance un error</a:t>
            </a:r>
            <a:endParaRPr lang="en-US" sz="3000" dirty="0"/>
          </a:p>
        </p:txBody>
      </p:sp>
      <p:sp>
        <p:nvSpPr>
          <p:cNvPr id="10" name="Text 7"/>
          <p:cNvSpPr txBox="1"/>
          <p:nvPr/>
        </p:nvSpPr>
        <p:spPr>
          <a:xfrm>
            <a:off x="658368" y="1773936"/>
            <a:ext cx="72237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Devolver un booleano y lanzar una excepción son contratos distintos. Hace falta una función con el segundo.</a:t>
            </a:r>
            <a:endParaRPr lang="en-US" sz="1450" dirty="0"/>
          </a:p>
        </p:txBody>
      </p:sp>
      <p:sp>
        <p:nvSpPr>
          <p:cNvPr id="11" name="Shape 8"/>
          <p:cNvSpPr/>
          <p:nvPr/>
        </p:nvSpPr>
        <p:spPr>
          <a:xfrm>
            <a:off x="8165592" y="1883664"/>
            <a:ext cx="1060704" cy="274320"/>
          </a:xfrm>
          <a:prstGeom prst="rect">
            <a:avLst/>
          </a:prstGeom>
          <a:solidFill>
            <a:srgbClr val="102A43"/>
          </a:solidFill>
          <a:ln w="12700">
            <a:solidFill>
              <a:srgbClr val="102A43"/>
            </a:solidFill>
            <a:prstDash val="solid"/>
          </a:ln>
        </p:spPr>
      </p:sp>
      <p:sp>
        <p:nvSpPr>
          <p:cNvPr id="12" name="Text 9"/>
          <p:cNvSpPr txBox="1"/>
          <p:nvPr/>
        </p:nvSpPr>
        <p:spPr>
          <a:xfrm>
            <a:off x="8165592"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FFFFFF"/>
                </a:solidFill>
                <a:latin typeface="Aptos" pitchFamily="34" charset="0"/>
                <a:ea typeface="Aptos" pitchFamily="34" charset="-122"/>
                <a:cs typeface="Aptos" pitchFamily="34" charset="-120"/>
              </a:rPr>
              <a:t>Leer</a:t>
            </a:r>
            <a:endParaRPr lang="en-US" sz="940" dirty="0"/>
          </a:p>
        </p:txBody>
      </p:sp>
      <p:sp>
        <p:nvSpPr>
          <p:cNvPr id="13" name="Shape 10"/>
          <p:cNvSpPr/>
          <p:nvPr/>
        </p:nvSpPr>
        <p:spPr>
          <a:xfrm>
            <a:off x="9317736" y="1883664"/>
            <a:ext cx="1060704" cy="274320"/>
          </a:xfrm>
          <a:prstGeom prst="rect">
            <a:avLst/>
          </a:prstGeom>
          <a:solidFill>
            <a:srgbClr val="EDE6DA"/>
          </a:solidFill>
          <a:ln w="12700">
            <a:solidFill>
              <a:srgbClr val="EDE6DA"/>
            </a:solidFill>
            <a:prstDash val="solid"/>
          </a:ln>
        </p:spPr>
      </p:sp>
      <p:sp>
        <p:nvSpPr>
          <p:cNvPr id="14" name="Text 11"/>
          <p:cNvSpPr txBox="1"/>
          <p:nvPr/>
        </p:nvSpPr>
        <p:spPr>
          <a:xfrm>
            <a:off x="9317736"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Predecir</a:t>
            </a:r>
            <a:endParaRPr lang="en-US" sz="940" dirty="0"/>
          </a:p>
        </p:txBody>
      </p:sp>
      <p:sp>
        <p:nvSpPr>
          <p:cNvPr id="15" name="Shape 12"/>
          <p:cNvSpPr/>
          <p:nvPr/>
        </p:nvSpPr>
        <p:spPr>
          <a:xfrm>
            <a:off x="10469880" y="1883664"/>
            <a:ext cx="1060704" cy="274320"/>
          </a:xfrm>
          <a:prstGeom prst="rect">
            <a:avLst/>
          </a:prstGeom>
          <a:solidFill>
            <a:srgbClr val="EDE6DA"/>
          </a:solidFill>
          <a:ln w="12700">
            <a:solidFill>
              <a:srgbClr val="EDE6DA"/>
            </a:solidFill>
            <a:prstDash val="solid"/>
          </a:ln>
        </p:spPr>
      </p:sp>
      <p:sp>
        <p:nvSpPr>
          <p:cNvPr id="16" name="Text 13"/>
          <p:cNvSpPr txBox="1"/>
          <p:nvPr/>
        </p:nvSpPr>
        <p:spPr>
          <a:xfrm>
            <a:off x="10469880"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Comprobar</a:t>
            </a:r>
            <a:endParaRPr lang="en-US" sz="940" dirty="0"/>
          </a:p>
        </p:txBody>
      </p:sp>
      <p:sp>
        <p:nvSpPr>
          <p:cNvPr id="17" name="Shape 14"/>
          <p:cNvSpPr/>
          <p:nvPr/>
        </p:nvSpPr>
        <p:spPr>
          <a:xfrm>
            <a:off x="658368" y="2286000"/>
            <a:ext cx="5532120" cy="1700784"/>
          </a:xfrm>
          <a:prstGeom prst="roundRect">
            <a:avLst>
              <a:gd name="adj" fmla="val 2151"/>
            </a:avLst>
          </a:prstGeom>
          <a:solidFill>
            <a:srgbClr val="102A43"/>
          </a:solidFill>
          <a:ln w="12700">
            <a:solidFill>
              <a:srgbClr val="102A43"/>
            </a:solidFill>
            <a:prstDash val="solid"/>
          </a:ln>
        </p:spPr>
      </p:sp>
      <p:sp>
        <p:nvSpPr>
          <p:cNvPr id="18" name="Shape 15"/>
          <p:cNvSpPr/>
          <p:nvPr/>
        </p:nvSpPr>
        <p:spPr>
          <a:xfrm>
            <a:off x="786384" y="2395728"/>
            <a:ext cx="5276088" cy="310896"/>
          </a:xfrm>
          <a:prstGeom prst="roundRect">
            <a:avLst>
              <a:gd name="adj" fmla="val 8824"/>
            </a:avLst>
          </a:prstGeom>
          <a:solidFill>
            <a:srgbClr val="284B75"/>
          </a:solidFill>
          <a:ln w="12700">
            <a:solidFill>
              <a:srgbClr val="284B75"/>
            </a:solidFill>
            <a:prstDash val="solid"/>
          </a:ln>
        </p:spPr>
      </p:sp>
      <p:sp>
        <p:nvSpPr>
          <p:cNvPr id="19" name="Text 16"/>
          <p:cNvSpPr/>
          <p:nvPr/>
        </p:nvSpPr>
        <p:spPr>
          <a:xfrm>
            <a:off x="896112" y="2468880"/>
            <a:ext cx="505663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Una función auxiliar, con contrato explícito</a:t>
            </a:r>
            <a:endParaRPr lang="en-US" sz="100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5111496" cy="950976"/>
          </a:xfrm>
          <a:prstGeom prst="rect">
            <a:avLst/>
          </a:prstGeom>
        </p:spPr>
      </p:pic>
      <p:sp>
        <p:nvSpPr>
          <p:cNvPr id="21" name="Shape 17"/>
          <p:cNvSpPr/>
          <p:nvPr/>
        </p:nvSpPr>
        <p:spPr>
          <a:xfrm>
            <a:off x="6382512" y="2286000"/>
            <a:ext cx="5148072" cy="1700784"/>
          </a:xfrm>
          <a:prstGeom prst="rect">
            <a:avLst/>
          </a:prstGeom>
          <a:solidFill>
            <a:srgbClr val="F2E7D9"/>
          </a:solidFill>
          <a:ln w="12700">
            <a:solidFill>
              <a:srgbClr val="F2E7D9"/>
            </a:solidFill>
            <a:prstDash val="solid"/>
          </a:ln>
        </p:spPr>
      </p:sp>
      <p:sp>
        <p:nvSpPr>
          <p:cNvPr id="22" name="Shape 18"/>
          <p:cNvSpPr/>
          <p:nvPr/>
        </p:nvSpPr>
        <p:spPr>
          <a:xfrm>
            <a:off x="6382512" y="2286000"/>
            <a:ext cx="64008" cy="1700784"/>
          </a:xfrm>
          <a:prstGeom prst="rect">
            <a:avLst/>
          </a:prstGeom>
          <a:solidFill>
            <a:srgbClr val="8A6A12"/>
          </a:solidFill>
          <a:ln w="12700">
            <a:solidFill>
              <a:srgbClr val="8A6A12"/>
            </a:solidFill>
            <a:prstDash val="solid"/>
          </a:ln>
        </p:spPr>
      </p:sp>
      <p:sp>
        <p:nvSpPr>
          <p:cNvPr id="23" name="Text 19"/>
          <p:cNvSpPr txBox="1"/>
          <p:nvPr/>
        </p:nvSpPr>
        <p:spPr>
          <a:xfrm>
            <a:off x="6693408" y="2450592"/>
            <a:ext cx="4023360" cy="201168"/>
          </a:xfrm>
          <a:prstGeom prst="rect">
            <a:avLst/>
          </a:prstGeom>
          <a:noFill/>
          <a:ln/>
        </p:spPr>
        <p:txBody>
          <a:bodyPr wrap="square" lIns="0" tIns="0" rIns="0" bIns="0" rtlCol="0" anchor="t"/>
          <a:lstStyle/>
          <a:p>
            <a:pPr algn="l" indent="0" marL="0">
              <a:buNone/>
            </a:pPr>
            <a:r>
              <a:rPr lang="en-US" sz="960" b="1" spc="130" kern="0" dirty="0">
                <a:solidFill>
                  <a:srgbClr val="8A6A12"/>
                </a:solidFill>
                <a:latin typeface="Aptos" pitchFamily="34" charset="0"/>
                <a:ea typeface="Aptos" pitchFamily="34" charset="-122"/>
                <a:cs typeface="Aptos" pitchFamily="34" charset="-120"/>
              </a:rPr>
              <a:t>QUÉ HACE RAISE</a:t>
            </a:r>
            <a:endParaRPr lang="en-US" sz="960" dirty="0"/>
          </a:p>
        </p:txBody>
      </p:sp>
      <p:sp>
        <p:nvSpPr>
          <p:cNvPr id="24" name="Text 20"/>
          <p:cNvSpPr txBox="1"/>
          <p:nvPr/>
        </p:nvSpPr>
        <p:spPr>
          <a:xfrm>
            <a:off x="6693408" y="2706624"/>
            <a:ext cx="4572000" cy="1097280"/>
          </a:xfrm>
          <a:prstGeom prst="rect">
            <a:avLst/>
          </a:prstGeom>
          <a:noFill/>
          <a:ln/>
        </p:spPr>
        <p:txBody>
          <a:bodyPr wrap="square" lIns="0" tIns="0" rIns="0" bIns="0" rtlCol="0" anchor="t"/>
          <a:lstStyle/>
          <a:p>
            <a:pPr algn="l" indent="0" marL="0">
              <a:lnSpc>
                <a:spcPct val="120000"/>
              </a:lnSpc>
              <a:buNone/>
            </a:pPr>
            <a:r>
              <a:rPr lang="en-US" sz="1240" dirty="0">
                <a:solidFill>
                  <a:srgbClr val="243B53"/>
                </a:solidFill>
                <a:latin typeface="Aptos" pitchFamily="34" charset="0"/>
                <a:ea typeface="Aptos" pitchFamily="34" charset="-122"/>
                <a:cs typeface="Aptos" pitchFamily="34" charset="-120"/>
              </a:rPr>
              <a:t>Interrumpe la ejecución normal y lanza la excepción. En ese recorrido nunca se alcanza el «return»: la función no devuelve nada.</a:t>
            </a:r>
            <a:endParaRPr lang="en-US" sz="1240" dirty="0"/>
          </a:p>
        </p:txBody>
      </p:sp>
      <p:sp>
        <p:nvSpPr>
          <p:cNvPr id="25" name="Shape 21"/>
          <p:cNvSpPr/>
          <p:nvPr/>
        </p:nvSpPr>
        <p:spPr>
          <a:xfrm>
            <a:off x="658368" y="4151376"/>
            <a:ext cx="10874959" cy="1700784"/>
          </a:xfrm>
          <a:prstGeom prst="roundRect">
            <a:avLst>
              <a:gd name="adj" fmla="val 2151"/>
            </a:avLst>
          </a:prstGeom>
          <a:solidFill>
            <a:srgbClr val="102A43"/>
          </a:solidFill>
          <a:ln w="12700">
            <a:solidFill>
              <a:srgbClr val="102A43"/>
            </a:solidFill>
            <a:prstDash val="solid"/>
          </a:ln>
        </p:spPr>
      </p:sp>
      <p:sp>
        <p:nvSpPr>
          <p:cNvPr id="26" name="Shape 22"/>
          <p:cNvSpPr/>
          <p:nvPr/>
        </p:nvSpPr>
        <p:spPr>
          <a:xfrm>
            <a:off x="786384" y="4261104"/>
            <a:ext cx="10618927" cy="310896"/>
          </a:xfrm>
          <a:prstGeom prst="roundRect">
            <a:avLst>
              <a:gd name="adj" fmla="val 8824"/>
            </a:avLst>
          </a:prstGeom>
          <a:solidFill>
            <a:srgbClr val="284B75"/>
          </a:solidFill>
          <a:ln w="12700">
            <a:solidFill>
              <a:srgbClr val="284B75"/>
            </a:solidFill>
            <a:prstDash val="solid"/>
          </a:ln>
        </p:spPr>
      </p:sp>
      <p:sp>
        <p:nvSpPr>
          <p:cNvPr id="27" name="Text 23"/>
          <p:cNvSpPr/>
          <p:nvPr/>
        </p:nvSpPr>
        <p:spPr>
          <a:xfrm>
            <a:off x="896112" y="4334256"/>
            <a:ext cx="10399471"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 prueba tiene que exigir ese desenlace, no un valor de retorno</a:t>
            </a:r>
            <a:endParaRPr lang="en-US" sz="1000" dirty="0"/>
          </a:p>
        </p:txBody>
      </p:sp>
      <p:pic>
        <p:nvPicPr>
          <p:cNvPr id="2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7824" y="4718304"/>
            <a:ext cx="10454335" cy="950976"/>
          </a:xfrm>
          <a:prstGeom prst="rect">
            <a:avLst/>
          </a:prstGeom>
        </p:spPr>
      </p:pic>
      <p:sp>
        <p:nvSpPr>
          <p:cNvPr id="29" name="Shape 24"/>
          <p:cNvSpPr/>
          <p:nvPr/>
        </p:nvSpPr>
        <p:spPr>
          <a:xfrm>
            <a:off x="658368" y="5943600"/>
            <a:ext cx="10874959" cy="475488"/>
          </a:xfrm>
          <a:prstGeom prst="rect">
            <a:avLst/>
          </a:prstGeom>
          <a:solidFill>
            <a:srgbClr val="B3181E"/>
          </a:solidFill>
          <a:ln w="12700">
            <a:solidFill>
              <a:srgbClr val="B3181E"/>
            </a:solidFill>
            <a:prstDash val="solid"/>
          </a:ln>
        </p:spPr>
      </p:sp>
      <p:sp>
        <p:nvSpPr>
          <p:cNvPr id="30" name="Text 25"/>
          <p:cNvSpPr txBox="1"/>
          <p:nvPr/>
        </p:nvSpPr>
        <p:spPr>
          <a:xfrm>
            <a:off x="969264" y="5980176"/>
            <a:ext cx="10253167" cy="402336"/>
          </a:xfrm>
          <a:prstGeom prst="rect">
            <a:avLst/>
          </a:prstGeom>
          <a:noFill/>
          <a:ln/>
        </p:spPr>
        <p:txBody>
          <a:bodyPr wrap="square" lIns="0" tIns="0" rIns="0" bIns="0" rtlCol="0" anchor="ctr"/>
          <a:lstStyle/>
          <a:p>
            <a:pPr algn="ctr" indent="0" marL="0">
              <a:lnSpc>
                <a:spcPct val="110000"/>
              </a:lnSpc>
              <a:buNone/>
            </a:pPr>
            <a:r>
              <a:rPr lang="en-US" sz="1240" b="1" dirty="0">
                <a:solidFill>
                  <a:srgbClr val="FFFFFF"/>
                </a:solidFill>
                <a:latin typeface="Aptos" pitchFamily="34" charset="0"/>
                <a:ea typeface="Aptos" pitchFamily="34" charset="-122"/>
                <a:cs typeface="Aptos" pitchFamily="34" charset="-120"/>
              </a:rPr>
              <a:t>No corresponde envolver puede_reservar() en raises solo porque el caso use una entrada inválida: esa función devuelve False, no lanza nada.</a:t>
            </a:r>
            <a:endParaRPr lang="en-US" sz="124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67</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LEER LA SINTAXIS</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pytest.raises, pieza por pieza</a:t>
            </a:r>
            <a:endParaRPr lang="en-US" sz="3000" dirty="0"/>
          </a:p>
        </p:txBody>
      </p:sp>
      <p:sp>
        <p:nvSpPr>
          <p:cNvPr id="10" name="Text 7"/>
          <p:cNvSpPr txBox="1"/>
          <p:nvPr/>
        </p:nvSpPr>
        <p:spPr>
          <a:xfrm>
            <a:off x="658368" y="1773936"/>
            <a:ext cx="72237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Aunque no aparezca la palabra assert, sí hay una comprobación: el gestor exige la excepción.</a:t>
            </a:r>
            <a:endParaRPr lang="en-US" sz="1450" dirty="0"/>
          </a:p>
        </p:txBody>
      </p:sp>
      <p:sp>
        <p:nvSpPr>
          <p:cNvPr id="11" name="Shape 8"/>
          <p:cNvSpPr/>
          <p:nvPr/>
        </p:nvSpPr>
        <p:spPr>
          <a:xfrm>
            <a:off x="8165592" y="1883664"/>
            <a:ext cx="1060704" cy="274320"/>
          </a:xfrm>
          <a:prstGeom prst="rect">
            <a:avLst/>
          </a:prstGeom>
          <a:solidFill>
            <a:srgbClr val="EDE6DA"/>
          </a:solidFill>
          <a:ln w="12700">
            <a:solidFill>
              <a:srgbClr val="EDE6DA"/>
            </a:solidFill>
            <a:prstDash val="solid"/>
          </a:ln>
        </p:spPr>
      </p:sp>
      <p:sp>
        <p:nvSpPr>
          <p:cNvPr id="12" name="Text 9"/>
          <p:cNvSpPr txBox="1"/>
          <p:nvPr/>
        </p:nvSpPr>
        <p:spPr>
          <a:xfrm>
            <a:off x="8165592"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Leer</a:t>
            </a:r>
            <a:endParaRPr lang="en-US" sz="940" dirty="0"/>
          </a:p>
        </p:txBody>
      </p:sp>
      <p:sp>
        <p:nvSpPr>
          <p:cNvPr id="13" name="Shape 10"/>
          <p:cNvSpPr/>
          <p:nvPr/>
        </p:nvSpPr>
        <p:spPr>
          <a:xfrm>
            <a:off x="9317736" y="1883664"/>
            <a:ext cx="1060704" cy="274320"/>
          </a:xfrm>
          <a:prstGeom prst="rect">
            <a:avLst/>
          </a:prstGeom>
          <a:solidFill>
            <a:srgbClr val="EDE6DA"/>
          </a:solidFill>
          <a:ln w="12700">
            <a:solidFill>
              <a:srgbClr val="EDE6DA"/>
            </a:solidFill>
            <a:prstDash val="solid"/>
          </a:ln>
        </p:spPr>
      </p:sp>
      <p:sp>
        <p:nvSpPr>
          <p:cNvPr id="14" name="Text 11"/>
          <p:cNvSpPr txBox="1"/>
          <p:nvPr/>
        </p:nvSpPr>
        <p:spPr>
          <a:xfrm>
            <a:off x="9317736"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Predecir</a:t>
            </a:r>
            <a:endParaRPr lang="en-US" sz="940" dirty="0"/>
          </a:p>
        </p:txBody>
      </p:sp>
      <p:sp>
        <p:nvSpPr>
          <p:cNvPr id="15" name="Shape 12"/>
          <p:cNvSpPr/>
          <p:nvPr/>
        </p:nvSpPr>
        <p:spPr>
          <a:xfrm>
            <a:off x="10469880" y="1883664"/>
            <a:ext cx="1060704" cy="274320"/>
          </a:xfrm>
          <a:prstGeom prst="rect">
            <a:avLst/>
          </a:prstGeom>
          <a:solidFill>
            <a:srgbClr val="102A43"/>
          </a:solidFill>
          <a:ln w="12700">
            <a:solidFill>
              <a:srgbClr val="102A43"/>
            </a:solidFill>
            <a:prstDash val="solid"/>
          </a:ln>
        </p:spPr>
      </p:sp>
      <p:sp>
        <p:nvSpPr>
          <p:cNvPr id="16" name="Text 13"/>
          <p:cNvSpPr txBox="1"/>
          <p:nvPr/>
        </p:nvSpPr>
        <p:spPr>
          <a:xfrm>
            <a:off x="10469880"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FFFFFF"/>
                </a:solidFill>
                <a:latin typeface="Aptos" pitchFamily="34" charset="0"/>
                <a:ea typeface="Aptos" pitchFamily="34" charset="-122"/>
                <a:cs typeface="Aptos" pitchFamily="34" charset="-120"/>
              </a:rPr>
              <a:t>Comprobar</a:t>
            </a:r>
            <a:endParaRPr lang="en-US" sz="940" dirty="0"/>
          </a:p>
        </p:txBody>
      </p:sp>
      <p:sp>
        <p:nvSpPr>
          <p:cNvPr id="17" name="Shape 14"/>
          <p:cNvSpPr/>
          <p:nvPr/>
        </p:nvSpPr>
        <p:spPr>
          <a:xfrm>
            <a:off x="658368" y="2286000"/>
            <a:ext cx="10874959" cy="457200"/>
          </a:xfrm>
          <a:prstGeom prst="rect">
            <a:avLst/>
          </a:prstGeom>
          <a:solidFill>
            <a:srgbClr val="FFFFFF"/>
          </a:solidFill>
          <a:ln w="12700">
            <a:solidFill>
              <a:srgbClr val="FFFFFF"/>
            </a:solidFill>
            <a:prstDash val="solid"/>
          </a:ln>
        </p:spPr>
      </p:sp>
      <p:sp>
        <p:nvSpPr>
          <p:cNvPr id="18" name="Shape 15"/>
          <p:cNvSpPr/>
          <p:nvPr/>
        </p:nvSpPr>
        <p:spPr>
          <a:xfrm>
            <a:off x="658368" y="2286000"/>
            <a:ext cx="45720" cy="457200"/>
          </a:xfrm>
          <a:prstGeom prst="rect">
            <a:avLst/>
          </a:prstGeom>
          <a:solidFill>
            <a:srgbClr val="102A43"/>
          </a:solidFill>
          <a:ln w="12700">
            <a:solidFill>
              <a:srgbClr val="102A43"/>
            </a:solidFill>
            <a:prstDash val="solid"/>
          </a:ln>
        </p:spPr>
      </p:sp>
      <p:sp>
        <p:nvSpPr>
          <p:cNvPr id="19" name="Text 16"/>
          <p:cNvSpPr txBox="1"/>
          <p:nvPr/>
        </p:nvSpPr>
        <p:spPr>
          <a:xfrm>
            <a:off x="914400" y="2304288"/>
            <a:ext cx="3200400" cy="420624"/>
          </a:xfrm>
          <a:prstGeom prst="rect">
            <a:avLst/>
          </a:prstGeom>
          <a:noFill/>
          <a:ln/>
        </p:spPr>
        <p:txBody>
          <a:bodyPr wrap="square" lIns="0" tIns="0" rIns="0" bIns="0" rtlCol="0" anchor="ctr"/>
          <a:lstStyle/>
          <a:p>
            <a:pPr algn="l" indent="0" marL="0">
              <a:buNone/>
            </a:pPr>
            <a:r>
              <a:rPr lang="en-US" sz="1020" b="1" dirty="0">
                <a:solidFill>
                  <a:srgbClr val="102A43"/>
                </a:solidFill>
                <a:latin typeface="Consolas" pitchFamily="34" charset="0"/>
                <a:ea typeface="Consolas" pitchFamily="34" charset="-122"/>
                <a:cs typeface="Consolas" pitchFamily="34" charset="-120"/>
              </a:rPr>
              <a:t>with</a:t>
            </a:r>
            <a:endParaRPr lang="en-US" sz="1020" dirty="0"/>
          </a:p>
        </p:txBody>
      </p:sp>
      <p:sp>
        <p:nvSpPr>
          <p:cNvPr id="20" name="Text 17"/>
          <p:cNvSpPr txBox="1"/>
          <p:nvPr/>
        </p:nvSpPr>
        <p:spPr>
          <a:xfrm>
            <a:off x="4315968" y="2304288"/>
            <a:ext cx="6888175" cy="420624"/>
          </a:xfrm>
          <a:prstGeom prst="rect">
            <a:avLst/>
          </a:prstGeom>
          <a:noFill/>
          <a:ln/>
        </p:spPr>
        <p:txBody>
          <a:bodyPr wrap="square" lIns="0" tIns="0" rIns="0" bIns="0" rtlCol="0" anchor="ctr"/>
          <a:lstStyle/>
          <a:p>
            <a:pPr algn="l" indent="0" marL="0">
              <a:buNone/>
            </a:pPr>
            <a:r>
              <a:rPr lang="en-US" sz="1160" dirty="0">
                <a:solidFill>
                  <a:srgbClr val="243B53"/>
                </a:solidFill>
                <a:latin typeface="Aptos" pitchFamily="34" charset="0"/>
                <a:ea typeface="Aptos" pitchFamily="34" charset="-122"/>
                <a:cs typeface="Aptos" pitchFamily="34" charset="-120"/>
              </a:rPr>
              <a:t>Delimita un bloque cuya entrada y salida administra un gestor de contexto. Aquí ese gestor es pytest.raises.</a:t>
            </a:r>
            <a:endParaRPr lang="en-US" sz="1160" dirty="0"/>
          </a:p>
        </p:txBody>
      </p:sp>
      <p:sp>
        <p:nvSpPr>
          <p:cNvPr id="21" name="Shape 18"/>
          <p:cNvSpPr/>
          <p:nvPr/>
        </p:nvSpPr>
        <p:spPr>
          <a:xfrm>
            <a:off x="658368" y="2798064"/>
            <a:ext cx="10874959" cy="457200"/>
          </a:xfrm>
          <a:prstGeom prst="rect">
            <a:avLst/>
          </a:prstGeom>
          <a:solidFill>
            <a:srgbClr val="EDE6DA"/>
          </a:solidFill>
          <a:ln w="12700">
            <a:solidFill>
              <a:srgbClr val="EDE6DA"/>
            </a:solidFill>
            <a:prstDash val="solid"/>
          </a:ln>
        </p:spPr>
      </p:sp>
      <p:sp>
        <p:nvSpPr>
          <p:cNvPr id="22" name="Shape 19"/>
          <p:cNvSpPr/>
          <p:nvPr/>
        </p:nvSpPr>
        <p:spPr>
          <a:xfrm>
            <a:off x="658368" y="2798064"/>
            <a:ext cx="45720" cy="457200"/>
          </a:xfrm>
          <a:prstGeom prst="rect">
            <a:avLst/>
          </a:prstGeom>
          <a:solidFill>
            <a:srgbClr val="8A6A12"/>
          </a:solidFill>
          <a:ln w="12700">
            <a:solidFill>
              <a:srgbClr val="8A6A12"/>
            </a:solidFill>
            <a:prstDash val="solid"/>
          </a:ln>
        </p:spPr>
      </p:sp>
      <p:sp>
        <p:nvSpPr>
          <p:cNvPr id="23" name="Text 20"/>
          <p:cNvSpPr txBox="1"/>
          <p:nvPr/>
        </p:nvSpPr>
        <p:spPr>
          <a:xfrm>
            <a:off x="914400" y="2816352"/>
            <a:ext cx="3200400" cy="420624"/>
          </a:xfrm>
          <a:prstGeom prst="rect">
            <a:avLst/>
          </a:prstGeom>
          <a:noFill/>
          <a:ln/>
        </p:spPr>
        <p:txBody>
          <a:bodyPr wrap="square" lIns="0" tIns="0" rIns="0" bIns="0" rtlCol="0" anchor="ctr"/>
          <a:lstStyle/>
          <a:p>
            <a:pPr algn="l" indent="0" marL="0">
              <a:buNone/>
            </a:pPr>
            <a:r>
              <a:rPr lang="en-US" sz="1020" b="1" dirty="0">
                <a:solidFill>
                  <a:srgbClr val="8A6A12"/>
                </a:solidFill>
                <a:latin typeface="Consolas" pitchFamily="34" charset="0"/>
                <a:ea typeface="Consolas" pitchFamily="34" charset="-122"/>
                <a:cs typeface="Consolas" pitchFamily="34" charset="-120"/>
              </a:rPr>
              <a:t>pytest.raises(ValueError, ...)</a:t>
            </a:r>
            <a:endParaRPr lang="en-US" sz="1020" dirty="0"/>
          </a:p>
        </p:txBody>
      </p:sp>
      <p:sp>
        <p:nvSpPr>
          <p:cNvPr id="24" name="Text 21"/>
          <p:cNvSpPr txBox="1"/>
          <p:nvPr/>
        </p:nvSpPr>
        <p:spPr>
          <a:xfrm>
            <a:off x="4315968" y="2816352"/>
            <a:ext cx="6888175" cy="420624"/>
          </a:xfrm>
          <a:prstGeom prst="rect">
            <a:avLst/>
          </a:prstGeom>
          <a:noFill/>
          <a:ln/>
        </p:spPr>
        <p:txBody>
          <a:bodyPr wrap="square" lIns="0" tIns="0" rIns="0" bIns="0" rtlCol="0" anchor="ctr"/>
          <a:lstStyle/>
          <a:p>
            <a:pPr algn="l" indent="0" marL="0">
              <a:buNone/>
            </a:pPr>
            <a:r>
              <a:rPr lang="en-US" sz="1160" dirty="0">
                <a:solidFill>
                  <a:srgbClr val="243B53"/>
                </a:solidFill>
                <a:latin typeface="Aptos" pitchFamily="34" charset="0"/>
                <a:ea typeface="Aptos" pitchFamily="34" charset="-122"/>
                <a:cs typeface="Aptos" pitchFamily="34" charset="-120"/>
              </a:rPr>
              <a:t>Exige que el bloque lance ValueError o una subclase. Si no ocurre, la prueba falla.</a:t>
            </a:r>
            <a:endParaRPr lang="en-US" sz="1160" dirty="0"/>
          </a:p>
        </p:txBody>
      </p:sp>
      <p:sp>
        <p:nvSpPr>
          <p:cNvPr id="25" name="Shape 22"/>
          <p:cNvSpPr/>
          <p:nvPr/>
        </p:nvSpPr>
        <p:spPr>
          <a:xfrm>
            <a:off x="658368" y="3310128"/>
            <a:ext cx="10874959" cy="457200"/>
          </a:xfrm>
          <a:prstGeom prst="rect">
            <a:avLst/>
          </a:prstGeom>
          <a:solidFill>
            <a:srgbClr val="FFFFFF"/>
          </a:solidFill>
          <a:ln w="12700">
            <a:solidFill>
              <a:srgbClr val="FFFFFF"/>
            </a:solidFill>
            <a:prstDash val="solid"/>
          </a:ln>
        </p:spPr>
      </p:sp>
      <p:sp>
        <p:nvSpPr>
          <p:cNvPr id="26" name="Shape 23"/>
          <p:cNvSpPr/>
          <p:nvPr/>
        </p:nvSpPr>
        <p:spPr>
          <a:xfrm>
            <a:off x="658368" y="3310128"/>
            <a:ext cx="45720" cy="457200"/>
          </a:xfrm>
          <a:prstGeom prst="rect">
            <a:avLst/>
          </a:prstGeom>
          <a:solidFill>
            <a:srgbClr val="8A6A12"/>
          </a:solidFill>
          <a:ln w="12700">
            <a:solidFill>
              <a:srgbClr val="8A6A12"/>
            </a:solidFill>
            <a:prstDash val="solid"/>
          </a:ln>
        </p:spPr>
      </p:sp>
      <p:sp>
        <p:nvSpPr>
          <p:cNvPr id="27" name="Text 24"/>
          <p:cNvSpPr txBox="1"/>
          <p:nvPr/>
        </p:nvSpPr>
        <p:spPr>
          <a:xfrm>
            <a:off x="914400" y="3328416"/>
            <a:ext cx="3200400" cy="420624"/>
          </a:xfrm>
          <a:prstGeom prst="rect">
            <a:avLst/>
          </a:prstGeom>
          <a:noFill/>
          <a:ln/>
        </p:spPr>
        <p:txBody>
          <a:bodyPr wrap="square" lIns="0" tIns="0" rIns="0" bIns="0" rtlCol="0" anchor="ctr"/>
          <a:lstStyle/>
          <a:p>
            <a:pPr algn="l" indent="0" marL="0">
              <a:buNone/>
            </a:pPr>
            <a:r>
              <a:rPr lang="en-US" sz="1020" b="1" dirty="0">
                <a:solidFill>
                  <a:srgbClr val="8A6A12"/>
                </a:solidFill>
                <a:latin typeface="Consolas" pitchFamily="34" charset="0"/>
                <a:ea typeface="Consolas" pitchFamily="34" charset="-122"/>
                <a:cs typeface="Consolas" pitchFamily="34" charset="-120"/>
              </a:rPr>
              <a:t>la llamada indentada</a:t>
            </a:r>
            <a:endParaRPr lang="en-US" sz="1020" dirty="0"/>
          </a:p>
        </p:txBody>
      </p:sp>
      <p:sp>
        <p:nvSpPr>
          <p:cNvPr id="28" name="Text 25"/>
          <p:cNvSpPr txBox="1"/>
          <p:nvPr/>
        </p:nvSpPr>
        <p:spPr>
          <a:xfrm>
            <a:off x="4315968" y="3328416"/>
            <a:ext cx="6888175" cy="420624"/>
          </a:xfrm>
          <a:prstGeom prst="rect">
            <a:avLst/>
          </a:prstGeom>
          <a:noFill/>
          <a:ln/>
        </p:spPr>
        <p:txBody>
          <a:bodyPr wrap="square" lIns="0" tIns="0" rIns="0" bIns="0" rtlCol="0" anchor="ctr"/>
          <a:lstStyle/>
          <a:p>
            <a:pPr algn="l" indent="0" marL="0">
              <a:buNone/>
            </a:pPr>
            <a:r>
              <a:rPr lang="en-US" sz="1160" dirty="0">
                <a:solidFill>
                  <a:srgbClr val="243B53"/>
                </a:solidFill>
                <a:latin typeface="Aptos" pitchFamily="34" charset="0"/>
                <a:ea typeface="Aptos" pitchFamily="34" charset="-122"/>
                <a:cs typeface="Aptos" pitchFamily="34" charset="-120"/>
              </a:rPr>
              <a:t>Es la operación vigilada. Tiene que ejecutarse dentro del with, y solo ella.</a:t>
            </a:r>
            <a:endParaRPr lang="en-US" sz="1160" dirty="0"/>
          </a:p>
        </p:txBody>
      </p:sp>
      <p:sp>
        <p:nvSpPr>
          <p:cNvPr id="29" name="Shape 26"/>
          <p:cNvSpPr/>
          <p:nvPr/>
        </p:nvSpPr>
        <p:spPr>
          <a:xfrm>
            <a:off x="658368" y="3822192"/>
            <a:ext cx="10874959" cy="457200"/>
          </a:xfrm>
          <a:prstGeom prst="rect">
            <a:avLst/>
          </a:prstGeom>
          <a:solidFill>
            <a:srgbClr val="EDE6DA"/>
          </a:solidFill>
          <a:ln w="12700">
            <a:solidFill>
              <a:srgbClr val="EDE6DA"/>
            </a:solidFill>
            <a:prstDash val="solid"/>
          </a:ln>
        </p:spPr>
      </p:sp>
      <p:sp>
        <p:nvSpPr>
          <p:cNvPr id="30" name="Shape 27"/>
          <p:cNvSpPr/>
          <p:nvPr/>
        </p:nvSpPr>
        <p:spPr>
          <a:xfrm>
            <a:off x="658368" y="3822192"/>
            <a:ext cx="45720" cy="457200"/>
          </a:xfrm>
          <a:prstGeom prst="rect">
            <a:avLst/>
          </a:prstGeom>
          <a:solidFill>
            <a:srgbClr val="8A6A12"/>
          </a:solidFill>
          <a:ln w="12700">
            <a:solidFill>
              <a:srgbClr val="8A6A12"/>
            </a:solidFill>
            <a:prstDash val="solid"/>
          </a:ln>
        </p:spPr>
      </p:sp>
      <p:sp>
        <p:nvSpPr>
          <p:cNvPr id="31" name="Text 28"/>
          <p:cNvSpPr txBox="1"/>
          <p:nvPr/>
        </p:nvSpPr>
        <p:spPr>
          <a:xfrm>
            <a:off x="914400" y="3840480"/>
            <a:ext cx="3200400" cy="420624"/>
          </a:xfrm>
          <a:prstGeom prst="rect">
            <a:avLst/>
          </a:prstGeom>
          <a:noFill/>
          <a:ln/>
        </p:spPr>
        <p:txBody>
          <a:bodyPr wrap="square" lIns="0" tIns="0" rIns="0" bIns="0" rtlCol="0" anchor="ctr"/>
          <a:lstStyle/>
          <a:p>
            <a:pPr algn="l" indent="0" marL="0">
              <a:buNone/>
            </a:pPr>
            <a:r>
              <a:rPr lang="en-US" sz="1020" b="1" dirty="0">
                <a:solidFill>
                  <a:srgbClr val="8A6A12"/>
                </a:solidFill>
                <a:latin typeface="Consolas" pitchFamily="34" charset="0"/>
                <a:ea typeface="Consolas" pitchFamily="34" charset="-122"/>
                <a:cs typeface="Consolas" pitchFamily="34" charset="-120"/>
              </a:rPr>
              <a:t>match="^bloque fuera de jornada$"</a:t>
            </a:r>
            <a:endParaRPr lang="en-US" sz="1020" dirty="0"/>
          </a:p>
        </p:txBody>
      </p:sp>
      <p:sp>
        <p:nvSpPr>
          <p:cNvPr id="32" name="Text 29"/>
          <p:cNvSpPr txBox="1"/>
          <p:nvPr/>
        </p:nvSpPr>
        <p:spPr>
          <a:xfrm>
            <a:off x="4315968" y="3840480"/>
            <a:ext cx="6888175" cy="420624"/>
          </a:xfrm>
          <a:prstGeom prst="rect">
            <a:avLst/>
          </a:prstGeom>
          <a:noFill/>
          <a:ln/>
        </p:spPr>
        <p:txBody>
          <a:bodyPr wrap="square" lIns="0" tIns="0" rIns="0" bIns="0" rtlCol="0" anchor="ctr"/>
          <a:lstStyle/>
          <a:p>
            <a:pPr algn="l" indent="0" marL="0">
              <a:buNone/>
            </a:pPr>
            <a:r>
              <a:rPr lang="en-US" sz="1160" dirty="0">
                <a:solidFill>
                  <a:srgbClr val="243B53"/>
                </a:solidFill>
                <a:latin typeface="Aptos" pitchFamily="34" charset="0"/>
                <a:ea typeface="Aptos" pitchFamily="34" charset="-122"/>
                <a:cs typeface="Aptos" pitchFamily="34" charset="-120"/>
              </a:rPr>
              <a:t>Comprueba el mensaje con una expresión regular. El ^ y el $ delimitan el texto exacto.</a:t>
            </a:r>
            <a:endParaRPr lang="en-US" sz="1160" dirty="0"/>
          </a:p>
        </p:txBody>
      </p:sp>
      <p:sp>
        <p:nvSpPr>
          <p:cNvPr id="33" name="Shape 30"/>
          <p:cNvSpPr/>
          <p:nvPr/>
        </p:nvSpPr>
        <p:spPr>
          <a:xfrm>
            <a:off x="658368" y="4334256"/>
            <a:ext cx="10874959" cy="457200"/>
          </a:xfrm>
          <a:prstGeom prst="rect">
            <a:avLst/>
          </a:prstGeom>
          <a:solidFill>
            <a:srgbClr val="FFFFFF"/>
          </a:solidFill>
          <a:ln w="12700">
            <a:solidFill>
              <a:srgbClr val="FFFFFF"/>
            </a:solidFill>
            <a:prstDash val="solid"/>
          </a:ln>
        </p:spPr>
      </p:sp>
      <p:sp>
        <p:nvSpPr>
          <p:cNvPr id="34" name="Shape 31"/>
          <p:cNvSpPr/>
          <p:nvPr/>
        </p:nvSpPr>
        <p:spPr>
          <a:xfrm>
            <a:off x="658368" y="4334256"/>
            <a:ext cx="45720" cy="457200"/>
          </a:xfrm>
          <a:prstGeom prst="rect">
            <a:avLst/>
          </a:prstGeom>
          <a:solidFill>
            <a:srgbClr val="2E7D4F"/>
          </a:solidFill>
          <a:ln w="12700">
            <a:solidFill>
              <a:srgbClr val="2E7D4F"/>
            </a:solidFill>
            <a:prstDash val="solid"/>
          </a:ln>
        </p:spPr>
      </p:sp>
      <p:sp>
        <p:nvSpPr>
          <p:cNvPr id="35" name="Text 32"/>
          <p:cNvSpPr txBox="1"/>
          <p:nvPr/>
        </p:nvSpPr>
        <p:spPr>
          <a:xfrm>
            <a:off x="914400" y="4352544"/>
            <a:ext cx="3200400" cy="420624"/>
          </a:xfrm>
          <a:prstGeom prst="rect">
            <a:avLst/>
          </a:prstGeom>
          <a:noFill/>
          <a:ln/>
        </p:spPr>
        <p:txBody>
          <a:bodyPr wrap="square" lIns="0" tIns="0" rIns="0" bIns="0" rtlCol="0" anchor="ctr"/>
          <a:lstStyle/>
          <a:p>
            <a:pPr algn="l" indent="0" marL="0">
              <a:buNone/>
            </a:pPr>
            <a:r>
              <a:rPr lang="en-US" sz="1020" b="1" dirty="0">
                <a:solidFill>
                  <a:srgbClr val="2E7D4F"/>
                </a:solidFill>
                <a:latin typeface="Consolas" pitchFamily="34" charset="0"/>
                <a:ea typeface="Consolas" pitchFamily="34" charset="-122"/>
                <a:cs typeface="Consolas" pitchFamily="34" charset="-120"/>
              </a:rPr>
              <a:t>salir del with</a:t>
            </a:r>
            <a:endParaRPr lang="en-US" sz="1020" dirty="0"/>
          </a:p>
        </p:txBody>
      </p:sp>
      <p:sp>
        <p:nvSpPr>
          <p:cNvPr id="36" name="Text 33"/>
          <p:cNvSpPr txBox="1"/>
          <p:nvPr/>
        </p:nvSpPr>
        <p:spPr>
          <a:xfrm>
            <a:off x="4315968" y="4352544"/>
            <a:ext cx="6888175" cy="420624"/>
          </a:xfrm>
          <a:prstGeom prst="rect">
            <a:avLst/>
          </a:prstGeom>
          <a:noFill/>
          <a:ln/>
        </p:spPr>
        <p:txBody>
          <a:bodyPr wrap="square" lIns="0" tIns="0" rIns="0" bIns="0" rtlCol="0" anchor="ctr"/>
          <a:lstStyle/>
          <a:p>
            <a:pPr algn="l" indent="0" marL="0">
              <a:buNone/>
            </a:pPr>
            <a:r>
              <a:rPr lang="en-US" sz="1160" dirty="0">
                <a:solidFill>
                  <a:srgbClr val="243B53"/>
                </a:solidFill>
                <a:latin typeface="Aptos" pitchFamily="34" charset="0"/>
                <a:ea typeface="Aptos" pitchFamily="34" charset="-122"/>
                <a:cs typeface="Aptos" pitchFamily="34" charset="-120"/>
              </a:rPr>
              <a:t>Si ocurrió la excepción esperada y el mensaje coincide, la prueba continúa.</a:t>
            </a:r>
            <a:endParaRPr lang="en-US" sz="1160" dirty="0"/>
          </a:p>
        </p:txBody>
      </p:sp>
      <p:sp>
        <p:nvSpPr>
          <p:cNvPr id="37" name="Shape 34"/>
          <p:cNvSpPr/>
          <p:nvPr/>
        </p:nvSpPr>
        <p:spPr>
          <a:xfrm>
            <a:off x="658368" y="4956048"/>
            <a:ext cx="5029200" cy="1280160"/>
          </a:xfrm>
          <a:prstGeom prst="roundRect">
            <a:avLst>
              <a:gd name="adj" fmla="val 2857"/>
            </a:avLst>
          </a:prstGeom>
          <a:solidFill>
            <a:srgbClr val="0F1720"/>
          </a:solidFill>
          <a:ln w="12700">
            <a:solidFill>
              <a:srgbClr val="0F1720"/>
            </a:solidFill>
            <a:prstDash val="solid"/>
          </a:ln>
        </p:spPr>
      </p:sp>
      <p:sp>
        <p:nvSpPr>
          <p:cNvPr id="38" name="Shape 35"/>
          <p:cNvSpPr/>
          <p:nvPr/>
        </p:nvSpPr>
        <p:spPr>
          <a:xfrm>
            <a:off x="786384" y="5065776"/>
            <a:ext cx="4773168" cy="310896"/>
          </a:xfrm>
          <a:prstGeom prst="roundRect">
            <a:avLst>
              <a:gd name="adj" fmla="val 8824"/>
            </a:avLst>
          </a:prstGeom>
          <a:solidFill>
            <a:srgbClr val="1E2937"/>
          </a:solidFill>
          <a:ln w="12700">
            <a:solidFill>
              <a:srgbClr val="1E2937"/>
            </a:solidFill>
            <a:prstDash val="solid"/>
          </a:ln>
        </p:spPr>
      </p:sp>
      <p:sp>
        <p:nvSpPr>
          <p:cNvPr id="39" name="Text 36"/>
          <p:cNvSpPr/>
          <p:nvPr/>
        </p:nvSpPr>
        <p:spPr>
          <a:xfrm>
            <a:off x="914400" y="5138928"/>
            <a:ext cx="4517136"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Los dos casos, sobre la función correcta</a:t>
            </a:r>
            <a:endParaRPr lang="en-US" sz="1000" dirty="0"/>
          </a:p>
        </p:txBody>
      </p:sp>
      <p:sp>
        <p:nvSpPr>
          <p:cNvPr id="40" name="Text 37"/>
          <p:cNvSpPr/>
          <p:nvPr/>
        </p:nvSpPr>
        <p:spPr>
          <a:xfrm>
            <a:off x="877824" y="5522976"/>
            <a:ext cx="4279392" cy="164592"/>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2 passed, 1 deselected in 0.02s</a:t>
            </a:r>
            <a:endParaRPr lang="en-US" sz="980" dirty="0"/>
          </a:p>
        </p:txBody>
      </p:sp>
      <p:sp>
        <p:nvSpPr>
          <p:cNvPr id="41" name="Shape 38"/>
          <p:cNvSpPr/>
          <p:nvPr/>
        </p:nvSpPr>
        <p:spPr>
          <a:xfrm>
            <a:off x="5870448" y="4956048"/>
            <a:ext cx="5660136" cy="1280160"/>
          </a:xfrm>
          <a:prstGeom prst="roundRect">
            <a:avLst>
              <a:gd name="adj" fmla="val 2857"/>
            </a:avLst>
          </a:prstGeom>
          <a:solidFill>
            <a:srgbClr val="0F1720"/>
          </a:solidFill>
          <a:ln w="12700">
            <a:solidFill>
              <a:srgbClr val="0F1720"/>
            </a:solidFill>
            <a:prstDash val="solid"/>
          </a:ln>
        </p:spPr>
      </p:sp>
      <p:sp>
        <p:nvSpPr>
          <p:cNvPr id="42" name="Shape 39"/>
          <p:cNvSpPr/>
          <p:nvPr/>
        </p:nvSpPr>
        <p:spPr>
          <a:xfrm>
            <a:off x="5998464" y="5065776"/>
            <a:ext cx="5404104" cy="310896"/>
          </a:xfrm>
          <a:prstGeom prst="roundRect">
            <a:avLst>
              <a:gd name="adj" fmla="val 8824"/>
            </a:avLst>
          </a:prstGeom>
          <a:solidFill>
            <a:srgbClr val="1E2937"/>
          </a:solidFill>
          <a:ln w="12700">
            <a:solidFill>
              <a:srgbClr val="1E2937"/>
            </a:solidFill>
            <a:prstDash val="solid"/>
          </a:ln>
        </p:spPr>
      </p:sp>
      <p:sp>
        <p:nvSpPr>
          <p:cNvPr id="43" name="Text 40"/>
          <p:cNvSpPr/>
          <p:nvPr/>
        </p:nvSpPr>
        <p:spPr>
          <a:xfrm>
            <a:off x="6126480" y="5138928"/>
            <a:ext cx="5148072"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Y con el raise sustituido por return, en una copia</a:t>
            </a:r>
            <a:endParaRPr lang="en-US" sz="1000" dirty="0"/>
          </a:p>
        </p:txBody>
      </p:sp>
      <p:sp>
        <p:nvSpPr>
          <p:cNvPr id="44" name="Text 41"/>
          <p:cNvSpPr/>
          <p:nvPr/>
        </p:nvSpPr>
        <p:spPr>
          <a:xfrm>
            <a:off x="6089904" y="5522976"/>
            <a:ext cx="4910328" cy="164592"/>
          </a:xfrm>
          <a:prstGeom prst="rect">
            <a:avLst/>
          </a:prstGeom>
          <a:noFill/>
          <a:ln/>
        </p:spPr>
        <p:txBody>
          <a:bodyPr wrap="square" lIns="0" tIns="0" rIns="0" bIns="0" rtlCol="0" anchor="ctr"/>
          <a:lstStyle/>
          <a:p>
            <a:pPr indent="0" marL="0">
              <a:buNone/>
            </a:pPr>
            <a:r>
              <a:rPr lang="en-US" sz="920" dirty="0">
                <a:solidFill>
                  <a:srgbClr val="E6EEF7"/>
                </a:solidFill>
                <a:latin typeface="Consolas" pitchFamily="34" charset="0"/>
                <a:ea typeface="Consolas" pitchFamily="34" charset="-122"/>
                <a:cs typeface="Consolas" pitchFamily="34" charset="-120"/>
              </a:rPr>
              <a:t>E   Failed: DID NOT RAISE ValueError</a:t>
            </a:r>
            <a:endParaRPr lang="en-US" sz="920" dirty="0"/>
          </a:p>
        </p:txBody>
      </p:sp>
      <p:sp>
        <p:nvSpPr>
          <p:cNvPr id="45" name="Text 42"/>
          <p:cNvSpPr/>
          <p:nvPr/>
        </p:nvSpPr>
        <p:spPr>
          <a:xfrm>
            <a:off x="6089904" y="5779008"/>
            <a:ext cx="4910328" cy="164592"/>
          </a:xfrm>
          <a:prstGeom prst="rect">
            <a:avLst/>
          </a:prstGeom>
          <a:noFill/>
          <a:ln/>
        </p:spPr>
        <p:txBody>
          <a:bodyPr wrap="square" lIns="0" tIns="0" rIns="0" bIns="0" rtlCol="0" anchor="ctr"/>
          <a:lstStyle/>
          <a:p>
            <a:pPr indent="0" marL="0">
              <a:buNone/>
            </a:pPr>
            <a:r>
              <a:rPr lang="en-US" sz="920" dirty="0">
                <a:solidFill>
                  <a:srgbClr val="E6EEF7"/>
                </a:solidFill>
                <a:latin typeface="Consolas" pitchFamily="34" charset="0"/>
                <a:ea typeface="Consolas" pitchFamily="34" charset="-122"/>
                <a:cs typeface="Consolas" pitchFamily="34" charset="-120"/>
              </a:rPr>
              <a:t>2 failed, 1 deselected in 0.03s</a:t>
            </a:r>
            <a:endParaRPr lang="en-US" sz="92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68</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LA PRUEBA QUE ENGAÑA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Una prueba verde que captura su propio fracaso</a:t>
            </a:r>
            <a:endParaRPr lang="en-US" sz="3000" dirty="0"/>
          </a:p>
        </p:txBody>
      </p:sp>
      <p:sp>
        <p:nvSpPr>
          <p:cNvPr id="10" name="Text 7"/>
          <p:cNvSpPr txBox="1"/>
          <p:nvPr/>
        </p:nvSpPr>
        <p:spPr>
          <a:xfrm>
            <a:off x="658368" y="1773936"/>
            <a:ext cx="72237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Este código parece comprobar el bloque 8. Su exigencia real es otra, y termina en verde sobre el defecto.</a:t>
            </a:r>
            <a:endParaRPr lang="en-US" sz="1450" dirty="0"/>
          </a:p>
        </p:txBody>
      </p:sp>
      <p:sp>
        <p:nvSpPr>
          <p:cNvPr id="11" name="Shape 8"/>
          <p:cNvSpPr/>
          <p:nvPr/>
        </p:nvSpPr>
        <p:spPr>
          <a:xfrm>
            <a:off x="8165592" y="1883664"/>
            <a:ext cx="1060704" cy="274320"/>
          </a:xfrm>
          <a:prstGeom prst="rect">
            <a:avLst/>
          </a:prstGeom>
          <a:solidFill>
            <a:srgbClr val="EDE6DA"/>
          </a:solidFill>
          <a:ln w="12700">
            <a:solidFill>
              <a:srgbClr val="EDE6DA"/>
            </a:solidFill>
            <a:prstDash val="solid"/>
          </a:ln>
        </p:spPr>
      </p:sp>
      <p:sp>
        <p:nvSpPr>
          <p:cNvPr id="12" name="Text 9"/>
          <p:cNvSpPr txBox="1"/>
          <p:nvPr/>
        </p:nvSpPr>
        <p:spPr>
          <a:xfrm>
            <a:off x="8165592"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Leer</a:t>
            </a:r>
            <a:endParaRPr lang="en-US" sz="940" dirty="0"/>
          </a:p>
        </p:txBody>
      </p:sp>
      <p:sp>
        <p:nvSpPr>
          <p:cNvPr id="13" name="Shape 10"/>
          <p:cNvSpPr/>
          <p:nvPr/>
        </p:nvSpPr>
        <p:spPr>
          <a:xfrm>
            <a:off x="9317736" y="1883664"/>
            <a:ext cx="1060704" cy="274320"/>
          </a:xfrm>
          <a:prstGeom prst="rect">
            <a:avLst/>
          </a:prstGeom>
          <a:solidFill>
            <a:srgbClr val="102A43"/>
          </a:solidFill>
          <a:ln w="12700">
            <a:solidFill>
              <a:srgbClr val="102A43"/>
            </a:solidFill>
            <a:prstDash val="solid"/>
          </a:ln>
        </p:spPr>
      </p:sp>
      <p:sp>
        <p:nvSpPr>
          <p:cNvPr id="14" name="Text 11"/>
          <p:cNvSpPr txBox="1"/>
          <p:nvPr/>
        </p:nvSpPr>
        <p:spPr>
          <a:xfrm>
            <a:off x="9317736"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FFFFFF"/>
                </a:solidFill>
                <a:latin typeface="Aptos" pitchFamily="34" charset="0"/>
                <a:ea typeface="Aptos" pitchFamily="34" charset="-122"/>
                <a:cs typeface="Aptos" pitchFamily="34" charset="-120"/>
              </a:rPr>
              <a:t>Predecir</a:t>
            </a:r>
            <a:endParaRPr lang="en-US" sz="940" dirty="0"/>
          </a:p>
        </p:txBody>
      </p:sp>
      <p:sp>
        <p:nvSpPr>
          <p:cNvPr id="15" name="Shape 12"/>
          <p:cNvSpPr/>
          <p:nvPr/>
        </p:nvSpPr>
        <p:spPr>
          <a:xfrm>
            <a:off x="10469880" y="1883664"/>
            <a:ext cx="1060704" cy="274320"/>
          </a:xfrm>
          <a:prstGeom prst="rect">
            <a:avLst/>
          </a:prstGeom>
          <a:solidFill>
            <a:srgbClr val="EDE6DA"/>
          </a:solidFill>
          <a:ln w="12700">
            <a:solidFill>
              <a:srgbClr val="EDE6DA"/>
            </a:solidFill>
            <a:prstDash val="solid"/>
          </a:ln>
        </p:spPr>
      </p:sp>
      <p:sp>
        <p:nvSpPr>
          <p:cNvPr id="16" name="Text 13"/>
          <p:cNvSpPr txBox="1"/>
          <p:nvPr/>
        </p:nvSpPr>
        <p:spPr>
          <a:xfrm>
            <a:off x="10469880"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Comprobar</a:t>
            </a:r>
            <a:endParaRPr lang="en-US" sz="940" dirty="0"/>
          </a:p>
        </p:txBody>
      </p:sp>
      <p:sp>
        <p:nvSpPr>
          <p:cNvPr id="17" name="Shape 14"/>
          <p:cNvSpPr/>
          <p:nvPr/>
        </p:nvSpPr>
        <p:spPr>
          <a:xfrm>
            <a:off x="658368" y="2286000"/>
            <a:ext cx="6035040" cy="1700784"/>
          </a:xfrm>
          <a:prstGeom prst="roundRect">
            <a:avLst>
              <a:gd name="adj" fmla="val 2151"/>
            </a:avLst>
          </a:prstGeom>
          <a:solidFill>
            <a:srgbClr val="102A43"/>
          </a:solidFill>
          <a:ln w="12700">
            <a:solidFill>
              <a:srgbClr val="102A43"/>
            </a:solidFill>
            <a:prstDash val="solid"/>
          </a:ln>
        </p:spPr>
      </p:sp>
      <p:sp>
        <p:nvSpPr>
          <p:cNvPr id="18" name="Shape 15"/>
          <p:cNvSpPr/>
          <p:nvPr/>
        </p:nvSpPr>
        <p:spPr>
          <a:xfrm>
            <a:off x="786384" y="2395728"/>
            <a:ext cx="5779008" cy="310896"/>
          </a:xfrm>
          <a:prstGeom prst="roundRect">
            <a:avLst>
              <a:gd name="adj" fmla="val 8824"/>
            </a:avLst>
          </a:prstGeom>
          <a:solidFill>
            <a:srgbClr val="284B75"/>
          </a:solidFill>
          <a:ln w="12700">
            <a:solidFill>
              <a:srgbClr val="284B75"/>
            </a:solidFill>
            <a:prstDash val="solid"/>
          </a:ln>
        </p:spPr>
      </p:sp>
      <p:sp>
        <p:nvSpPr>
          <p:cNvPr id="19" name="Text 16"/>
          <p:cNvSpPr/>
          <p:nvPr/>
        </p:nvSpPr>
        <p:spPr>
          <a:xfrm>
            <a:off x="896112" y="2468880"/>
            <a:ext cx="555955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Bien formateada, con un nombre convincente</a:t>
            </a:r>
            <a:endParaRPr lang="en-US" sz="100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5614416" cy="950976"/>
          </a:xfrm>
          <a:prstGeom prst="rect">
            <a:avLst/>
          </a:prstGeom>
        </p:spPr>
      </p:pic>
      <p:sp>
        <p:nvSpPr>
          <p:cNvPr id="21" name="Shape 17"/>
          <p:cNvSpPr/>
          <p:nvPr/>
        </p:nvSpPr>
        <p:spPr>
          <a:xfrm>
            <a:off x="6876288" y="2286000"/>
            <a:ext cx="4654296" cy="1280160"/>
          </a:xfrm>
          <a:prstGeom prst="roundRect">
            <a:avLst>
              <a:gd name="adj" fmla="val 2857"/>
            </a:avLst>
          </a:prstGeom>
          <a:solidFill>
            <a:srgbClr val="0F1720"/>
          </a:solidFill>
          <a:ln w="12700">
            <a:solidFill>
              <a:srgbClr val="0F1720"/>
            </a:solidFill>
            <a:prstDash val="solid"/>
          </a:ln>
        </p:spPr>
      </p:sp>
      <p:sp>
        <p:nvSpPr>
          <p:cNvPr id="22" name="Shape 18"/>
          <p:cNvSpPr/>
          <p:nvPr/>
        </p:nvSpPr>
        <p:spPr>
          <a:xfrm>
            <a:off x="7004304" y="2395728"/>
            <a:ext cx="4398264" cy="310896"/>
          </a:xfrm>
          <a:prstGeom prst="roundRect">
            <a:avLst>
              <a:gd name="adj" fmla="val 8824"/>
            </a:avLst>
          </a:prstGeom>
          <a:solidFill>
            <a:srgbClr val="1E2937"/>
          </a:solidFill>
          <a:ln w="12700">
            <a:solidFill>
              <a:srgbClr val="1E2937"/>
            </a:solidFill>
            <a:prstDash val="solid"/>
          </a:ln>
        </p:spPr>
      </p:sp>
      <p:sp>
        <p:nvSpPr>
          <p:cNvPr id="23" name="Text 19"/>
          <p:cNvSpPr/>
          <p:nvPr/>
        </p:nvSpPr>
        <p:spPr>
          <a:xfrm>
            <a:off x="7132320" y="2468880"/>
            <a:ext cx="4142232"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Sobre la implementación defectuosa</a:t>
            </a:r>
            <a:endParaRPr lang="en-US" sz="1000" dirty="0"/>
          </a:p>
        </p:txBody>
      </p:sp>
      <p:sp>
        <p:nvSpPr>
          <p:cNvPr id="24" name="Text 20"/>
          <p:cNvSpPr/>
          <p:nvPr/>
        </p:nvSpPr>
        <p:spPr>
          <a:xfrm>
            <a:off x="7095744" y="2852928"/>
            <a:ext cx="3904488" cy="164592"/>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1 passed, 2 deselected in 0.02s</a:t>
            </a:r>
            <a:endParaRPr lang="en-US" sz="980" dirty="0"/>
          </a:p>
        </p:txBody>
      </p:sp>
      <p:sp>
        <p:nvSpPr>
          <p:cNvPr id="25" name="Shape 21"/>
          <p:cNvSpPr/>
          <p:nvPr/>
        </p:nvSpPr>
        <p:spPr>
          <a:xfrm>
            <a:off x="658368" y="4114800"/>
            <a:ext cx="10874959" cy="493776"/>
          </a:xfrm>
          <a:prstGeom prst="rect">
            <a:avLst/>
          </a:prstGeom>
          <a:solidFill>
            <a:srgbClr val="F8E4E5"/>
          </a:solidFill>
          <a:ln w="12700">
            <a:solidFill>
              <a:srgbClr val="F8E4E5"/>
            </a:solidFill>
            <a:prstDash val="solid"/>
          </a:ln>
        </p:spPr>
      </p:sp>
      <p:sp>
        <p:nvSpPr>
          <p:cNvPr id="26" name="Shape 22"/>
          <p:cNvSpPr/>
          <p:nvPr/>
        </p:nvSpPr>
        <p:spPr>
          <a:xfrm>
            <a:off x="658368" y="4114800"/>
            <a:ext cx="45720" cy="493776"/>
          </a:xfrm>
          <a:prstGeom prst="rect">
            <a:avLst/>
          </a:prstGeom>
          <a:solidFill>
            <a:srgbClr val="B3181E"/>
          </a:solidFill>
          <a:ln w="12700">
            <a:solidFill>
              <a:srgbClr val="B3181E"/>
            </a:solidFill>
            <a:prstDash val="solid"/>
          </a:ln>
        </p:spPr>
      </p:sp>
      <p:sp>
        <p:nvSpPr>
          <p:cNvPr id="27" name="Text 23"/>
          <p:cNvSpPr txBox="1"/>
          <p:nvPr/>
        </p:nvSpPr>
        <p:spPr>
          <a:xfrm>
            <a:off x="914400" y="4133088"/>
            <a:ext cx="3840480" cy="457200"/>
          </a:xfrm>
          <a:prstGeom prst="rect">
            <a:avLst/>
          </a:prstGeom>
          <a:noFill/>
          <a:ln/>
        </p:spPr>
        <p:txBody>
          <a:bodyPr wrap="square" lIns="0" tIns="0" rIns="0" bIns="0" rtlCol="0" anchor="ctr"/>
          <a:lstStyle/>
          <a:p>
            <a:pPr algn="l" indent="0" marL="0">
              <a:buNone/>
            </a:pPr>
            <a:r>
              <a:rPr lang="en-US" sz="1240" b="1" dirty="0">
                <a:solidFill>
                  <a:srgbClr val="B3181E"/>
                </a:solidFill>
                <a:latin typeface="Aptos" pitchFamily="34" charset="0"/>
                <a:ea typeface="Aptos" pitchFamily="34" charset="-122"/>
                <a:cs typeface="Aptos" pitchFamily="34" charset="-120"/>
              </a:rPr>
              <a:t>1. La función devuelve False</a:t>
            </a:r>
            <a:endParaRPr lang="en-US" sz="1240" dirty="0"/>
          </a:p>
        </p:txBody>
      </p:sp>
      <p:sp>
        <p:nvSpPr>
          <p:cNvPr id="28" name="Text 24"/>
          <p:cNvSpPr txBox="1"/>
          <p:nvPr/>
        </p:nvSpPr>
        <p:spPr>
          <a:xfrm>
            <a:off x="4956048" y="4133088"/>
            <a:ext cx="6248095" cy="457200"/>
          </a:xfrm>
          <a:prstGeom prst="rect">
            <a:avLst/>
          </a:prstGeom>
          <a:noFill/>
          <a:ln/>
        </p:spPr>
        <p:txBody>
          <a:bodyPr wrap="square" lIns="0" tIns="0" rIns="0" bIns="0" rtlCol="0" anchor="ctr"/>
          <a:lstStyle/>
          <a:p>
            <a:pPr algn="l" indent="0" marL="0">
              <a:buNone/>
            </a:pPr>
            <a:r>
              <a:rPr lang="en-US" sz="1200" dirty="0">
                <a:solidFill>
                  <a:srgbClr val="243B53"/>
                </a:solidFill>
                <a:latin typeface="Aptos" pitchFamily="34" charset="0"/>
                <a:ea typeface="Aptos" pitchFamily="34" charset="-122"/>
                <a:cs typeface="Aptos" pitchFamily="34" charset="-120"/>
              </a:rPr>
              <a:t>El bloque 8 está rechazado por el defecto.</a:t>
            </a:r>
            <a:endParaRPr lang="en-US" sz="1200" dirty="0"/>
          </a:p>
        </p:txBody>
      </p:sp>
      <p:sp>
        <p:nvSpPr>
          <p:cNvPr id="29" name="Shape 25"/>
          <p:cNvSpPr/>
          <p:nvPr/>
        </p:nvSpPr>
        <p:spPr>
          <a:xfrm>
            <a:off x="658368" y="4663440"/>
            <a:ext cx="10874959" cy="493776"/>
          </a:xfrm>
          <a:prstGeom prst="rect">
            <a:avLst/>
          </a:prstGeom>
          <a:solidFill>
            <a:srgbClr val="F8E4E5"/>
          </a:solidFill>
          <a:ln w="12700">
            <a:solidFill>
              <a:srgbClr val="F8E4E5"/>
            </a:solidFill>
            <a:prstDash val="solid"/>
          </a:ln>
        </p:spPr>
      </p:sp>
      <p:sp>
        <p:nvSpPr>
          <p:cNvPr id="30" name="Shape 26"/>
          <p:cNvSpPr/>
          <p:nvPr/>
        </p:nvSpPr>
        <p:spPr>
          <a:xfrm>
            <a:off x="658368" y="4663440"/>
            <a:ext cx="45720" cy="493776"/>
          </a:xfrm>
          <a:prstGeom prst="rect">
            <a:avLst/>
          </a:prstGeom>
          <a:solidFill>
            <a:srgbClr val="B3181E"/>
          </a:solidFill>
          <a:ln w="12700">
            <a:solidFill>
              <a:srgbClr val="B3181E"/>
            </a:solidFill>
            <a:prstDash val="solid"/>
          </a:ln>
        </p:spPr>
      </p:sp>
      <p:sp>
        <p:nvSpPr>
          <p:cNvPr id="31" name="Text 27"/>
          <p:cNvSpPr txBox="1"/>
          <p:nvPr/>
        </p:nvSpPr>
        <p:spPr>
          <a:xfrm>
            <a:off x="914400" y="4681728"/>
            <a:ext cx="3840480" cy="457200"/>
          </a:xfrm>
          <a:prstGeom prst="rect">
            <a:avLst/>
          </a:prstGeom>
          <a:noFill/>
          <a:ln/>
        </p:spPr>
        <p:txBody>
          <a:bodyPr wrap="square" lIns="0" tIns="0" rIns="0" bIns="0" rtlCol="0" anchor="ctr"/>
          <a:lstStyle/>
          <a:p>
            <a:pPr algn="l" indent="0" marL="0">
              <a:buNone/>
            </a:pPr>
            <a:r>
              <a:rPr lang="en-US" sz="1240" b="1" dirty="0">
                <a:solidFill>
                  <a:srgbClr val="B3181E"/>
                </a:solidFill>
                <a:latin typeface="Aptos" pitchFamily="34" charset="0"/>
                <a:ea typeface="Aptos" pitchFamily="34" charset="-122"/>
                <a:cs typeface="Aptos" pitchFamily="34" charset="-120"/>
              </a:rPr>
              <a:t>2. El assert lanza AssertionError</a:t>
            </a:r>
            <a:endParaRPr lang="en-US" sz="1240" dirty="0"/>
          </a:p>
        </p:txBody>
      </p:sp>
      <p:sp>
        <p:nvSpPr>
          <p:cNvPr id="32" name="Text 28"/>
          <p:cNvSpPr txBox="1"/>
          <p:nvPr/>
        </p:nvSpPr>
        <p:spPr>
          <a:xfrm>
            <a:off x="4956048" y="4681728"/>
            <a:ext cx="6248095" cy="457200"/>
          </a:xfrm>
          <a:prstGeom prst="rect">
            <a:avLst/>
          </a:prstGeom>
          <a:noFill/>
          <a:ln/>
        </p:spPr>
        <p:txBody>
          <a:bodyPr wrap="square" lIns="0" tIns="0" rIns="0" bIns="0" rtlCol="0" anchor="ctr"/>
          <a:lstStyle/>
          <a:p>
            <a:pPr algn="l" indent="0" marL="0">
              <a:buNone/>
            </a:pPr>
            <a:r>
              <a:rPr lang="en-US" sz="1200" dirty="0">
                <a:solidFill>
                  <a:srgbClr val="243B53"/>
                </a:solidFill>
                <a:latin typeface="Aptos" pitchFamily="34" charset="0"/>
                <a:ea typeface="Aptos" pitchFamily="34" charset="-122"/>
                <a:cs typeface="Aptos" pitchFamily="34" charset="-120"/>
              </a:rPr>
              <a:t>Porque False no es True.</a:t>
            </a:r>
            <a:endParaRPr lang="en-US" sz="1200" dirty="0"/>
          </a:p>
        </p:txBody>
      </p:sp>
      <p:sp>
        <p:nvSpPr>
          <p:cNvPr id="33" name="Shape 29"/>
          <p:cNvSpPr/>
          <p:nvPr/>
        </p:nvSpPr>
        <p:spPr>
          <a:xfrm>
            <a:off x="658368" y="5212080"/>
            <a:ext cx="10874959" cy="493776"/>
          </a:xfrm>
          <a:prstGeom prst="rect">
            <a:avLst/>
          </a:prstGeom>
          <a:solidFill>
            <a:srgbClr val="F8E4E5"/>
          </a:solidFill>
          <a:ln w="12700">
            <a:solidFill>
              <a:srgbClr val="F8E4E5"/>
            </a:solidFill>
            <a:prstDash val="solid"/>
          </a:ln>
        </p:spPr>
      </p:sp>
      <p:sp>
        <p:nvSpPr>
          <p:cNvPr id="34" name="Shape 30"/>
          <p:cNvSpPr/>
          <p:nvPr/>
        </p:nvSpPr>
        <p:spPr>
          <a:xfrm>
            <a:off x="658368" y="5212080"/>
            <a:ext cx="45720" cy="493776"/>
          </a:xfrm>
          <a:prstGeom prst="rect">
            <a:avLst/>
          </a:prstGeom>
          <a:solidFill>
            <a:srgbClr val="B3181E"/>
          </a:solidFill>
          <a:ln w="12700">
            <a:solidFill>
              <a:srgbClr val="B3181E"/>
            </a:solidFill>
            <a:prstDash val="solid"/>
          </a:ln>
        </p:spPr>
      </p:sp>
      <p:sp>
        <p:nvSpPr>
          <p:cNvPr id="35" name="Text 31"/>
          <p:cNvSpPr txBox="1"/>
          <p:nvPr/>
        </p:nvSpPr>
        <p:spPr>
          <a:xfrm>
            <a:off x="914400" y="5230368"/>
            <a:ext cx="3840480" cy="457200"/>
          </a:xfrm>
          <a:prstGeom prst="rect">
            <a:avLst/>
          </a:prstGeom>
          <a:noFill/>
          <a:ln/>
        </p:spPr>
        <p:txBody>
          <a:bodyPr wrap="square" lIns="0" tIns="0" rIns="0" bIns="0" rtlCol="0" anchor="ctr"/>
          <a:lstStyle/>
          <a:p>
            <a:pPr algn="l" indent="0" marL="0">
              <a:buNone/>
            </a:pPr>
            <a:r>
              <a:rPr lang="en-US" sz="1240" b="1" dirty="0">
                <a:solidFill>
                  <a:srgbClr val="B3181E"/>
                </a:solidFill>
                <a:latin typeface="Aptos" pitchFamily="34" charset="0"/>
                <a:ea typeface="Aptos" pitchFamily="34" charset="-122"/>
                <a:cs typeface="Aptos" pitchFamily="34" charset="-120"/>
              </a:rPr>
              <a:t>3. raises(Exception) lo acepta</a:t>
            </a:r>
            <a:endParaRPr lang="en-US" sz="1240" dirty="0"/>
          </a:p>
        </p:txBody>
      </p:sp>
      <p:sp>
        <p:nvSpPr>
          <p:cNvPr id="36" name="Text 32"/>
          <p:cNvSpPr txBox="1"/>
          <p:nvPr/>
        </p:nvSpPr>
        <p:spPr>
          <a:xfrm>
            <a:off x="4956048" y="5230368"/>
            <a:ext cx="6248095" cy="457200"/>
          </a:xfrm>
          <a:prstGeom prst="rect">
            <a:avLst/>
          </a:prstGeom>
          <a:noFill/>
          <a:ln/>
        </p:spPr>
        <p:txBody>
          <a:bodyPr wrap="square" lIns="0" tIns="0" rIns="0" bIns="0" rtlCol="0" anchor="ctr"/>
          <a:lstStyle/>
          <a:p>
            <a:pPr algn="l" indent="0" marL="0">
              <a:buNone/>
            </a:pPr>
            <a:r>
              <a:rPr lang="en-US" sz="1200" dirty="0">
                <a:solidFill>
                  <a:srgbClr val="243B53"/>
                </a:solidFill>
                <a:latin typeface="Aptos" pitchFamily="34" charset="0"/>
                <a:ea typeface="Aptos" pitchFamily="34" charset="-122"/>
                <a:cs typeface="Aptos" pitchFamily="34" charset="-120"/>
              </a:rPr>
              <a:t>AssertionError es una subclase de Exception.</a:t>
            </a:r>
            <a:endParaRPr lang="en-US" sz="1200" dirty="0"/>
          </a:p>
        </p:txBody>
      </p:sp>
      <p:sp>
        <p:nvSpPr>
          <p:cNvPr id="37" name="Shape 33"/>
          <p:cNvSpPr/>
          <p:nvPr/>
        </p:nvSpPr>
        <p:spPr>
          <a:xfrm>
            <a:off x="658368" y="5797296"/>
            <a:ext cx="10874959" cy="548640"/>
          </a:xfrm>
          <a:prstGeom prst="rect">
            <a:avLst/>
          </a:prstGeom>
          <a:solidFill>
            <a:srgbClr val="102A43"/>
          </a:solidFill>
          <a:ln w="12700">
            <a:solidFill>
              <a:srgbClr val="102A43"/>
            </a:solidFill>
            <a:prstDash val="solid"/>
          </a:ln>
        </p:spPr>
      </p:sp>
      <p:sp>
        <p:nvSpPr>
          <p:cNvPr id="38" name="Text 34"/>
          <p:cNvSpPr txBox="1"/>
          <p:nvPr/>
        </p:nvSpPr>
        <p:spPr>
          <a:xfrm>
            <a:off x="969264" y="5833872"/>
            <a:ext cx="10253167" cy="475488"/>
          </a:xfrm>
          <a:prstGeom prst="rect">
            <a:avLst/>
          </a:prstGeom>
          <a:noFill/>
          <a:ln/>
        </p:spPr>
        <p:txBody>
          <a:bodyPr wrap="square" lIns="0" tIns="0" rIns="0" bIns="0" rtlCol="0" anchor="ctr"/>
          <a:lstStyle/>
          <a:p>
            <a:pPr algn="ctr" indent="0" marL="0">
              <a:lnSpc>
                <a:spcPct val="110000"/>
              </a:lnSpc>
              <a:buNone/>
            </a:pPr>
            <a:r>
              <a:rPr lang="en-US" sz="1260" b="1" dirty="0">
                <a:solidFill>
                  <a:srgbClr val="FFFFFF"/>
                </a:solidFill>
                <a:latin typeface="Aptos" pitchFamily="34" charset="0"/>
                <a:ea typeface="Aptos" pitchFamily="34" charset="-122"/>
                <a:cs typeface="Aptos" pitchFamily="34" charset="-120"/>
              </a:rPr>
              <a:t>La prueba exigía que se produjera alguna excepción, incluida la de su propia aserción. La corrección es quitar el raises: el contrato de puede_reservar() no exige ninguna.</a:t>
            </a:r>
            <a:endParaRPr lang="en-US" sz="126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69</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EL MÉTODO DE LECTURA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Tres preguntas para leer cualquier prueba</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Sirven sin importar quién la escribió: una persona, un compañero o un agente.</a:t>
            </a:r>
            <a:endParaRPr lang="en-US" sz="1450" dirty="0"/>
          </a:p>
        </p:txBody>
      </p:sp>
      <p:sp>
        <p:nvSpPr>
          <p:cNvPr id="11" name="Shape 8"/>
          <p:cNvSpPr/>
          <p:nvPr/>
        </p:nvSpPr>
        <p:spPr>
          <a:xfrm>
            <a:off x="658368" y="2322576"/>
            <a:ext cx="3465576" cy="1920240"/>
          </a:xfrm>
          <a:prstGeom prst="rect">
            <a:avLst/>
          </a:prstGeom>
          <a:solidFill>
            <a:srgbClr val="E6EEF7"/>
          </a:solidFill>
          <a:ln w="12700">
            <a:solidFill>
              <a:srgbClr val="E6EEF7"/>
            </a:solidFill>
            <a:prstDash val="solid"/>
          </a:ln>
        </p:spPr>
      </p:sp>
      <p:sp>
        <p:nvSpPr>
          <p:cNvPr id="12" name="Shape 9"/>
          <p:cNvSpPr/>
          <p:nvPr/>
        </p:nvSpPr>
        <p:spPr>
          <a:xfrm>
            <a:off x="658368" y="2322576"/>
            <a:ext cx="3465576" cy="64008"/>
          </a:xfrm>
          <a:prstGeom prst="rect">
            <a:avLst/>
          </a:prstGeom>
          <a:solidFill>
            <a:srgbClr val="102A43"/>
          </a:solidFill>
          <a:ln w="12700">
            <a:solidFill>
              <a:srgbClr val="102A43"/>
            </a:solidFill>
            <a:prstDash val="solid"/>
          </a:ln>
        </p:spPr>
      </p:sp>
      <p:sp>
        <p:nvSpPr>
          <p:cNvPr id="13" name="Text 10"/>
          <p:cNvSpPr txBox="1"/>
          <p:nvPr/>
        </p:nvSpPr>
        <p:spPr>
          <a:xfrm>
            <a:off x="914400" y="2505456"/>
            <a:ext cx="1783080" cy="310896"/>
          </a:xfrm>
          <a:prstGeom prst="rect">
            <a:avLst/>
          </a:prstGeom>
          <a:noFill/>
          <a:ln/>
        </p:spPr>
        <p:txBody>
          <a:bodyPr wrap="square" lIns="0" tIns="0" rIns="0" bIns="0" rtlCol="0" anchor="t"/>
          <a:lstStyle/>
          <a:p>
            <a:pPr algn="l" indent="0" marL="0">
              <a:buNone/>
            </a:pPr>
            <a:r>
              <a:rPr lang="en-US" sz="2000" b="1" dirty="0">
                <a:solidFill>
                  <a:srgbClr val="102A43"/>
                </a:solidFill>
                <a:latin typeface="Aptos Display" pitchFamily="34" charset="0"/>
                <a:ea typeface="Aptos Display" pitchFamily="34" charset="-122"/>
                <a:cs typeface="Aptos Display" pitchFamily="34" charset="-120"/>
              </a:rPr>
              <a:t>Preparar</a:t>
            </a:r>
            <a:endParaRPr lang="en-US" sz="2000" dirty="0"/>
          </a:p>
        </p:txBody>
      </p:sp>
      <p:sp>
        <p:nvSpPr>
          <p:cNvPr id="14" name="Text 11"/>
          <p:cNvSpPr txBox="1"/>
          <p:nvPr/>
        </p:nvSpPr>
        <p:spPr>
          <a:xfrm>
            <a:off x="2871216" y="2578608"/>
            <a:ext cx="1005840" cy="237744"/>
          </a:xfrm>
          <a:prstGeom prst="rect">
            <a:avLst/>
          </a:prstGeom>
          <a:noFill/>
          <a:ln/>
        </p:spPr>
        <p:txBody>
          <a:bodyPr wrap="square" lIns="0" tIns="0" rIns="0" bIns="0" rtlCol="0" anchor="t"/>
          <a:lstStyle/>
          <a:p>
            <a:pPr algn="r" indent="0" marL="0">
              <a:buNone/>
            </a:pPr>
            <a:r>
              <a:rPr lang="en-US" sz="1100" i="1" dirty="0">
                <a:solidFill>
                  <a:srgbClr val="52606D"/>
                </a:solidFill>
                <a:latin typeface="Aptos" pitchFamily="34" charset="0"/>
                <a:ea typeface="Aptos" pitchFamily="34" charset="-122"/>
                <a:cs typeface="Aptos" pitchFamily="34" charset="-120"/>
              </a:rPr>
              <a:t>Arrange</a:t>
            </a:r>
            <a:endParaRPr lang="en-US" sz="1100" dirty="0"/>
          </a:p>
        </p:txBody>
      </p:sp>
      <p:sp>
        <p:nvSpPr>
          <p:cNvPr id="15" name="Text 12"/>
          <p:cNvSpPr txBox="1"/>
          <p:nvPr/>
        </p:nvSpPr>
        <p:spPr>
          <a:xfrm>
            <a:off x="914400" y="2926080"/>
            <a:ext cx="2962656" cy="512064"/>
          </a:xfrm>
          <a:prstGeom prst="rect">
            <a:avLst/>
          </a:prstGeom>
          <a:noFill/>
          <a:ln/>
        </p:spPr>
        <p:txBody>
          <a:bodyPr wrap="square" lIns="0" tIns="0" rIns="0" bIns="0" rtlCol="0" anchor="t"/>
          <a:lstStyle/>
          <a:p>
            <a:pPr algn="l" indent="0" marL="0">
              <a:lnSpc>
                <a:spcPct val="114000"/>
              </a:lnSpc>
              <a:buNone/>
            </a:pPr>
            <a:r>
              <a:rPr lang="en-US" sz="1240" b="1" dirty="0">
                <a:solidFill>
                  <a:srgbClr val="243B53"/>
                </a:solidFill>
                <a:latin typeface="Aptos" pitchFamily="34" charset="0"/>
                <a:ea typeface="Aptos" pitchFamily="34" charset="-122"/>
                <a:cs typeface="Aptos" pitchFamily="34" charset="-120"/>
              </a:rPr>
              <a:t>¿Qué datos y qué estado se fijaron?</a:t>
            </a:r>
            <a:endParaRPr lang="en-US" sz="1240" dirty="0"/>
          </a:p>
        </p:txBody>
      </p:sp>
      <p:sp>
        <p:nvSpPr>
          <p:cNvPr id="16" name="Text 13"/>
          <p:cNvSpPr txBox="1"/>
          <p:nvPr/>
        </p:nvSpPr>
        <p:spPr>
          <a:xfrm>
            <a:off x="914400" y="3529584"/>
            <a:ext cx="2962656" cy="603504"/>
          </a:xfrm>
          <a:prstGeom prst="rect">
            <a:avLst/>
          </a:prstGeom>
          <a:noFill/>
          <a:ln/>
        </p:spPr>
        <p:txBody>
          <a:bodyPr wrap="square" lIns="0" tIns="0" rIns="0" bIns="0" rtlCol="0" anchor="t"/>
          <a:lstStyle/>
          <a:p>
            <a:pPr algn="l" indent="0" marL="0">
              <a:lnSpc>
                <a:spcPct val="116000"/>
              </a:lnSpc>
              <a:buNone/>
            </a:pPr>
            <a:r>
              <a:rPr lang="en-US" sz="1160" dirty="0">
                <a:solidFill>
                  <a:srgbClr val="243B53"/>
                </a:solidFill>
                <a:latin typeface="Aptos" pitchFamily="34" charset="0"/>
                <a:ea typeface="Aptos" pitchFamily="34" charset="-122"/>
                <a:cs typeface="Aptos" pitchFamily="34" charset="-120"/>
              </a:rPr>
              <a:t>La fila entrega reservas, bloque, ocupación y esperado.</a:t>
            </a:r>
            <a:endParaRPr lang="en-US" sz="1160" dirty="0"/>
          </a:p>
        </p:txBody>
      </p:sp>
      <p:sp>
        <p:nvSpPr>
          <p:cNvPr id="17" name="Shape 14"/>
          <p:cNvSpPr/>
          <p:nvPr/>
        </p:nvSpPr>
        <p:spPr>
          <a:xfrm>
            <a:off x="4379976" y="2322576"/>
            <a:ext cx="3465576" cy="1920240"/>
          </a:xfrm>
          <a:prstGeom prst="rect">
            <a:avLst/>
          </a:prstGeom>
          <a:solidFill>
            <a:srgbClr val="F2E7D9"/>
          </a:solidFill>
          <a:ln w="12700">
            <a:solidFill>
              <a:srgbClr val="F2E7D9"/>
            </a:solidFill>
            <a:prstDash val="solid"/>
          </a:ln>
        </p:spPr>
      </p:sp>
      <p:sp>
        <p:nvSpPr>
          <p:cNvPr id="18" name="Shape 15"/>
          <p:cNvSpPr/>
          <p:nvPr/>
        </p:nvSpPr>
        <p:spPr>
          <a:xfrm>
            <a:off x="4379976" y="2322576"/>
            <a:ext cx="3465576" cy="64008"/>
          </a:xfrm>
          <a:prstGeom prst="rect">
            <a:avLst/>
          </a:prstGeom>
          <a:solidFill>
            <a:srgbClr val="8A6A12"/>
          </a:solidFill>
          <a:ln w="12700">
            <a:solidFill>
              <a:srgbClr val="8A6A12"/>
            </a:solidFill>
            <a:prstDash val="solid"/>
          </a:ln>
        </p:spPr>
      </p:sp>
      <p:sp>
        <p:nvSpPr>
          <p:cNvPr id="19" name="Text 16"/>
          <p:cNvSpPr txBox="1"/>
          <p:nvPr/>
        </p:nvSpPr>
        <p:spPr>
          <a:xfrm>
            <a:off x="4636008" y="2505456"/>
            <a:ext cx="1783080" cy="310896"/>
          </a:xfrm>
          <a:prstGeom prst="rect">
            <a:avLst/>
          </a:prstGeom>
          <a:noFill/>
          <a:ln/>
        </p:spPr>
        <p:txBody>
          <a:bodyPr wrap="square" lIns="0" tIns="0" rIns="0" bIns="0" rtlCol="0" anchor="t"/>
          <a:lstStyle/>
          <a:p>
            <a:pPr algn="l" indent="0" marL="0">
              <a:buNone/>
            </a:pPr>
            <a:r>
              <a:rPr lang="en-US" sz="2000" b="1" dirty="0">
                <a:solidFill>
                  <a:srgbClr val="8A6A12"/>
                </a:solidFill>
                <a:latin typeface="Aptos Display" pitchFamily="34" charset="0"/>
                <a:ea typeface="Aptos Display" pitchFamily="34" charset="-122"/>
                <a:cs typeface="Aptos Display" pitchFamily="34" charset="-120"/>
              </a:rPr>
              <a:t>Ejecutar</a:t>
            </a:r>
            <a:endParaRPr lang="en-US" sz="2000" dirty="0"/>
          </a:p>
        </p:txBody>
      </p:sp>
      <p:sp>
        <p:nvSpPr>
          <p:cNvPr id="20" name="Text 17"/>
          <p:cNvSpPr txBox="1"/>
          <p:nvPr/>
        </p:nvSpPr>
        <p:spPr>
          <a:xfrm>
            <a:off x="6592824" y="2578608"/>
            <a:ext cx="1005840" cy="237744"/>
          </a:xfrm>
          <a:prstGeom prst="rect">
            <a:avLst/>
          </a:prstGeom>
          <a:noFill/>
          <a:ln/>
        </p:spPr>
        <p:txBody>
          <a:bodyPr wrap="square" lIns="0" tIns="0" rIns="0" bIns="0" rtlCol="0" anchor="t"/>
          <a:lstStyle/>
          <a:p>
            <a:pPr algn="r" indent="0" marL="0">
              <a:buNone/>
            </a:pPr>
            <a:r>
              <a:rPr lang="en-US" sz="1100" i="1" dirty="0">
                <a:solidFill>
                  <a:srgbClr val="52606D"/>
                </a:solidFill>
                <a:latin typeface="Aptos" pitchFamily="34" charset="0"/>
                <a:ea typeface="Aptos" pitchFamily="34" charset="-122"/>
                <a:cs typeface="Aptos" pitchFamily="34" charset="-120"/>
              </a:rPr>
              <a:t>Act</a:t>
            </a:r>
            <a:endParaRPr lang="en-US" sz="1100" dirty="0"/>
          </a:p>
        </p:txBody>
      </p:sp>
      <p:sp>
        <p:nvSpPr>
          <p:cNvPr id="21" name="Text 18"/>
          <p:cNvSpPr txBox="1"/>
          <p:nvPr/>
        </p:nvSpPr>
        <p:spPr>
          <a:xfrm>
            <a:off x="4636008" y="2926080"/>
            <a:ext cx="2962656" cy="512064"/>
          </a:xfrm>
          <a:prstGeom prst="rect">
            <a:avLst/>
          </a:prstGeom>
          <a:noFill/>
          <a:ln/>
        </p:spPr>
        <p:txBody>
          <a:bodyPr wrap="square" lIns="0" tIns="0" rIns="0" bIns="0" rtlCol="0" anchor="t"/>
          <a:lstStyle/>
          <a:p>
            <a:pPr algn="l" indent="0" marL="0">
              <a:lnSpc>
                <a:spcPct val="114000"/>
              </a:lnSpc>
              <a:buNone/>
            </a:pPr>
            <a:r>
              <a:rPr lang="en-US" sz="1240" b="1" dirty="0">
                <a:solidFill>
                  <a:srgbClr val="243B53"/>
                </a:solidFill>
                <a:latin typeface="Aptos" pitchFamily="34" charset="0"/>
                <a:ea typeface="Aptos" pitchFamily="34" charset="-122"/>
                <a:cs typeface="Aptos" pitchFamily="34" charset="-120"/>
              </a:rPr>
              <a:t>¿Qué operación del sistema se puso a prueba?</a:t>
            </a:r>
            <a:endParaRPr lang="en-US" sz="1240" dirty="0"/>
          </a:p>
        </p:txBody>
      </p:sp>
      <p:sp>
        <p:nvSpPr>
          <p:cNvPr id="22" name="Text 19"/>
          <p:cNvSpPr txBox="1"/>
          <p:nvPr/>
        </p:nvSpPr>
        <p:spPr>
          <a:xfrm>
            <a:off x="4636008" y="3529584"/>
            <a:ext cx="2962656" cy="603504"/>
          </a:xfrm>
          <a:prstGeom prst="rect">
            <a:avLst/>
          </a:prstGeom>
          <a:noFill/>
          <a:ln/>
        </p:spPr>
        <p:txBody>
          <a:bodyPr wrap="square" lIns="0" tIns="0" rIns="0" bIns="0" rtlCol="0" anchor="t"/>
          <a:lstStyle/>
          <a:p>
            <a:pPr algn="l" indent="0" marL="0">
              <a:lnSpc>
                <a:spcPct val="116000"/>
              </a:lnSpc>
              <a:buNone/>
            </a:pPr>
            <a:r>
              <a:rPr lang="en-US" sz="1160" dirty="0">
                <a:solidFill>
                  <a:srgbClr val="243B53"/>
                </a:solidFill>
                <a:latin typeface="Aptos" pitchFamily="34" charset="0"/>
                <a:ea typeface="Aptos" pitchFamily="34" charset="-122"/>
                <a:cs typeface="Aptos" pitchFamily="34" charset="-120"/>
              </a:rPr>
              <a:t>La llamada a puede_reservar().</a:t>
            </a:r>
            <a:endParaRPr lang="en-US" sz="1160" dirty="0"/>
          </a:p>
        </p:txBody>
      </p:sp>
      <p:sp>
        <p:nvSpPr>
          <p:cNvPr id="23" name="Shape 20"/>
          <p:cNvSpPr/>
          <p:nvPr/>
        </p:nvSpPr>
        <p:spPr>
          <a:xfrm>
            <a:off x="8101584" y="2322576"/>
            <a:ext cx="3465576" cy="1920240"/>
          </a:xfrm>
          <a:prstGeom prst="rect">
            <a:avLst/>
          </a:prstGeom>
          <a:solidFill>
            <a:srgbClr val="E9F6EE"/>
          </a:solidFill>
          <a:ln w="12700">
            <a:solidFill>
              <a:srgbClr val="E9F6EE"/>
            </a:solidFill>
            <a:prstDash val="solid"/>
          </a:ln>
        </p:spPr>
      </p:sp>
      <p:sp>
        <p:nvSpPr>
          <p:cNvPr id="24" name="Shape 21"/>
          <p:cNvSpPr/>
          <p:nvPr/>
        </p:nvSpPr>
        <p:spPr>
          <a:xfrm>
            <a:off x="8101584" y="2322576"/>
            <a:ext cx="3465576" cy="64008"/>
          </a:xfrm>
          <a:prstGeom prst="rect">
            <a:avLst/>
          </a:prstGeom>
          <a:solidFill>
            <a:srgbClr val="2E7D4F"/>
          </a:solidFill>
          <a:ln w="12700">
            <a:solidFill>
              <a:srgbClr val="2E7D4F"/>
            </a:solidFill>
            <a:prstDash val="solid"/>
          </a:ln>
        </p:spPr>
      </p:sp>
      <p:sp>
        <p:nvSpPr>
          <p:cNvPr id="25" name="Text 22"/>
          <p:cNvSpPr txBox="1"/>
          <p:nvPr/>
        </p:nvSpPr>
        <p:spPr>
          <a:xfrm>
            <a:off x="8357616" y="2505456"/>
            <a:ext cx="1783080" cy="310896"/>
          </a:xfrm>
          <a:prstGeom prst="rect">
            <a:avLst/>
          </a:prstGeom>
          <a:noFill/>
          <a:ln/>
        </p:spPr>
        <p:txBody>
          <a:bodyPr wrap="square" lIns="0" tIns="0" rIns="0" bIns="0" rtlCol="0" anchor="t"/>
          <a:lstStyle/>
          <a:p>
            <a:pPr algn="l" indent="0" marL="0">
              <a:buNone/>
            </a:pPr>
            <a:r>
              <a:rPr lang="en-US" sz="2000" b="1" dirty="0">
                <a:solidFill>
                  <a:srgbClr val="2E7D4F"/>
                </a:solidFill>
                <a:latin typeface="Aptos Display" pitchFamily="34" charset="0"/>
                <a:ea typeface="Aptos Display" pitchFamily="34" charset="-122"/>
                <a:cs typeface="Aptos Display" pitchFamily="34" charset="-120"/>
              </a:rPr>
              <a:t>Afirmar</a:t>
            </a:r>
            <a:endParaRPr lang="en-US" sz="2000" dirty="0"/>
          </a:p>
        </p:txBody>
      </p:sp>
      <p:sp>
        <p:nvSpPr>
          <p:cNvPr id="26" name="Text 23"/>
          <p:cNvSpPr txBox="1"/>
          <p:nvPr/>
        </p:nvSpPr>
        <p:spPr>
          <a:xfrm>
            <a:off x="10314432" y="2578608"/>
            <a:ext cx="1005840" cy="237744"/>
          </a:xfrm>
          <a:prstGeom prst="rect">
            <a:avLst/>
          </a:prstGeom>
          <a:noFill/>
          <a:ln/>
        </p:spPr>
        <p:txBody>
          <a:bodyPr wrap="square" lIns="0" tIns="0" rIns="0" bIns="0" rtlCol="0" anchor="t"/>
          <a:lstStyle/>
          <a:p>
            <a:pPr algn="r" indent="0" marL="0">
              <a:buNone/>
            </a:pPr>
            <a:r>
              <a:rPr lang="en-US" sz="1100" i="1" dirty="0">
                <a:solidFill>
                  <a:srgbClr val="52606D"/>
                </a:solidFill>
                <a:latin typeface="Aptos" pitchFamily="34" charset="0"/>
                <a:ea typeface="Aptos" pitchFamily="34" charset="-122"/>
                <a:cs typeface="Aptos" pitchFamily="34" charset="-120"/>
              </a:rPr>
              <a:t>Assert</a:t>
            </a:r>
            <a:endParaRPr lang="en-US" sz="1100" dirty="0"/>
          </a:p>
        </p:txBody>
      </p:sp>
      <p:sp>
        <p:nvSpPr>
          <p:cNvPr id="27" name="Text 24"/>
          <p:cNvSpPr txBox="1"/>
          <p:nvPr/>
        </p:nvSpPr>
        <p:spPr>
          <a:xfrm>
            <a:off x="8357616" y="2926080"/>
            <a:ext cx="2962656" cy="512064"/>
          </a:xfrm>
          <a:prstGeom prst="rect">
            <a:avLst/>
          </a:prstGeom>
          <a:noFill/>
          <a:ln/>
        </p:spPr>
        <p:txBody>
          <a:bodyPr wrap="square" lIns="0" tIns="0" rIns="0" bIns="0" rtlCol="0" anchor="t"/>
          <a:lstStyle/>
          <a:p>
            <a:pPr algn="l" indent="0" marL="0">
              <a:lnSpc>
                <a:spcPct val="114000"/>
              </a:lnSpc>
              <a:buNone/>
            </a:pPr>
            <a:r>
              <a:rPr lang="en-US" sz="1240" b="1" dirty="0">
                <a:solidFill>
                  <a:srgbClr val="243B53"/>
                </a:solidFill>
                <a:latin typeface="Aptos" pitchFamily="34" charset="0"/>
                <a:ea typeface="Aptos" pitchFamily="34" charset="-122"/>
                <a:cs typeface="Aptos" pitchFamily="34" charset="-120"/>
              </a:rPr>
              <a:t>¿Qué discrepancia haría fallar la prueba?</a:t>
            </a:r>
            <a:endParaRPr lang="en-US" sz="1240" dirty="0"/>
          </a:p>
        </p:txBody>
      </p:sp>
      <p:sp>
        <p:nvSpPr>
          <p:cNvPr id="28" name="Text 25"/>
          <p:cNvSpPr txBox="1"/>
          <p:nvPr/>
        </p:nvSpPr>
        <p:spPr>
          <a:xfrm>
            <a:off x="8357616" y="3529584"/>
            <a:ext cx="2962656" cy="603504"/>
          </a:xfrm>
          <a:prstGeom prst="rect">
            <a:avLst/>
          </a:prstGeom>
          <a:noFill/>
          <a:ln/>
        </p:spPr>
        <p:txBody>
          <a:bodyPr wrap="square" lIns="0" tIns="0" rIns="0" bIns="0" rtlCol="0" anchor="t"/>
          <a:lstStyle/>
          <a:p>
            <a:pPr algn="l" indent="0" marL="0">
              <a:lnSpc>
                <a:spcPct val="116000"/>
              </a:lnSpc>
              <a:buNone/>
            </a:pPr>
            <a:r>
              <a:rPr lang="en-US" sz="1160" dirty="0">
                <a:solidFill>
                  <a:srgbClr val="243B53"/>
                </a:solidFill>
                <a:latin typeface="Aptos" pitchFamily="34" charset="0"/>
                <a:ea typeface="Aptos" pitchFamily="34" charset="-122"/>
                <a:cs typeface="Aptos" pitchFamily="34" charset="-120"/>
              </a:rPr>
              <a:t>Que el booleano obtenido no sea el esperado.</a:t>
            </a:r>
            <a:endParaRPr lang="en-US" sz="1160" dirty="0"/>
          </a:p>
        </p:txBody>
      </p:sp>
      <p:sp>
        <p:nvSpPr>
          <p:cNvPr id="29" name="Shape 26"/>
          <p:cNvSpPr/>
          <p:nvPr/>
        </p:nvSpPr>
        <p:spPr>
          <a:xfrm>
            <a:off x="658368" y="4443984"/>
            <a:ext cx="10874959" cy="914400"/>
          </a:xfrm>
          <a:prstGeom prst="rect">
            <a:avLst/>
          </a:prstGeom>
          <a:solidFill>
            <a:srgbClr val="FFFFFF"/>
          </a:solidFill>
          <a:ln w="12700">
            <a:solidFill>
              <a:srgbClr val="FFFFFF"/>
            </a:solidFill>
            <a:prstDash val="solid"/>
          </a:ln>
        </p:spPr>
      </p:sp>
      <p:sp>
        <p:nvSpPr>
          <p:cNvPr id="30" name="Shape 27"/>
          <p:cNvSpPr/>
          <p:nvPr/>
        </p:nvSpPr>
        <p:spPr>
          <a:xfrm>
            <a:off x="658368" y="4443984"/>
            <a:ext cx="64008" cy="914400"/>
          </a:xfrm>
          <a:prstGeom prst="rect">
            <a:avLst/>
          </a:prstGeom>
          <a:solidFill>
            <a:srgbClr val="B3181E"/>
          </a:solidFill>
          <a:ln w="12700">
            <a:solidFill>
              <a:srgbClr val="B3181E"/>
            </a:solidFill>
            <a:prstDash val="solid"/>
          </a:ln>
        </p:spPr>
      </p:sp>
      <p:sp>
        <p:nvSpPr>
          <p:cNvPr id="31" name="Text 28"/>
          <p:cNvSpPr txBox="1"/>
          <p:nvPr/>
        </p:nvSpPr>
        <p:spPr>
          <a:xfrm>
            <a:off x="987552" y="4608576"/>
            <a:ext cx="64008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SON RESPONSABILIDADES, NO TRES PÁRRAFOS DE CÓDIGO</a:t>
            </a:r>
            <a:endParaRPr lang="en-US" sz="960" dirty="0"/>
          </a:p>
        </p:txBody>
      </p:sp>
      <p:sp>
        <p:nvSpPr>
          <p:cNvPr id="32" name="Text 29"/>
          <p:cNvSpPr txBox="1"/>
          <p:nvPr/>
        </p:nvSpPr>
        <p:spPr>
          <a:xfrm>
            <a:off x="987552" y="4828032"/>
            <a:ext cx="10216591" cy="457200"/>
          </a:xfrm>
          <a:prstGeom prst="rect">
            <a:avLst/>
          </a:prstGeom>
          <a:noFill/>
          <a:ln/>
        </p:spPr>
        <p:txBody>
          <a:bodyPr wrap="square" lIns="0" tIns="0" rIns="0" bIns="0" rtlCol="0" anchor="t"/>
          <a:lstStyle/>
          <a:p>
            <a:pPr algn="l" indent="0" marL="0">
              <a:lnSpc>
                <a:spcPct val="114000"/>
              </a:lnSpc>
              <a:buNone/>
            </a:pPr>
            <a:r>
              <a:rPr lang="en-US" sz="1240" dirty="0">
                <a:solidFill>
                  <a:srgbClr val="243B53"/>
                </a:solidFill>
                <a:latin typeface="Aptos" pitchFamily="34" charset="0"/>
                <a:ea typeface="Aptos" pitchFamily="34" charset="-122"/>
                <a:cs typeface="Aptos" pitchFamily="34" charset="-120"/>
              </a:rPr>
              <a:t>En la prueba con «raises», la expectativa se declara ANTES de ejecutar la operación vigilada, y aun así están las</a:t>
            </a:r>
            <a:endParaRPr lang="en-US" sz="1240" dirty="0"/>
          </a:p>
          <a:p>
            <a:pPr algn="l" indent="0" marL="0">
              <a:lnSpc>
                <a:spcPct val="114000"/>
              </a:lnSpc>
              <a:buNone/>
            </a:pPr>
            <a:r>
              <a:rPr lang="en-US" sz="1240" dirty="0">
                <a:solidFill>
                  <a:srgbClr val="243B53"/>
                </a:solidFill>
                <a:latin typeface="Aptos" pitchFamily="34" charset="0"/>
                <a:ea typeface="Aptos" pitchFamily="34" charset="-122"/>
                <a:cs typeface="Aptos" pitchFamily="34" charset="-120"/>
              </a:rPr>
              <a:t>tres partes. Por eso una prueba se lee por lo que afirma, no contando cuántas veces aparece la palabra assert.</a:t>
            </a:r>
            <a:endParaRPr lang="en-US" sz="1240" dirty="0"/>
          </a:p>
        </p:txBody>
      </p:sp>
      <p:sp>
        <p:nvSpPr>
          <p:cNvPr id="33" name="Shape 30"/>
          <p:cNvSpPr/>
          <p:nvPr/>
        </p:nvSpPr>
        <p:spPr>
          <a:xfrm>
            <a:off x="658368" y="5522976"/>
            <a:ext cx="10874959" cy="493776"/>
          </a:xfrm>
          <a:prstGeom prst="rect">
            <a:avLst/>
          </a:prstGeom>
          <a:solidFill>
            <a:srgbClr val="102A43"/>
          </a:solidFill>
          <a:ln w="12700">
            <a:solidFill>
              <a:srgbClr val="102A43"/>
            </a:solidFill>
            <a:prstDash val="solid"/>
          </a:ln>
        </p:spPr>
      </p:sp>
      <p:sp>
        <p:nvSpPr>
          <p:cNvPr id="34" name="Text 31"/>
          <p:cNvSpPr txBox="1"/>
          <p:nvPr/>
        </p:nvSpPr>
        <p:spPr>
          <a:xfrm>
            <a:off x="969264" y="5559552"/>
            <a:ext cx="10253167" cy="420624"/>
          </a:xfrm>
          <a:prstGeom prst="rect">
            <a:avLst/>
          </a:prstGeom>
          <a:noFill/>
          <a:ln/>
        </p:spPr>
        <p:txBody>
          <a:bodyPr wrap="square" lIns="0" tIns="0" rIns="0" bIns="0" rtlCol="0" anchor="ctr"/>
          <a:lstStyle/>
          <a:p>
            <a:pPr algn="ctr" indent="0" marL="0">
              <a:lnSpc>
                <a:spcPct val="110000"/>
              </a:lnSpc>
              <a:buNone/>
            </a:pPr>
            <a:r>
              <a:rPr lang="en-US" sz="1320" b="1" dirty="0">
                <a:solidFill>
                  <a:srgbClr val="FFFFFF"/>
                </a:solidFill>
                <a:latin typeface="Aptos" pitchFamily="34" charset="0"/>
                <a:ea typeface="Aptos" pitchFamily="34" charset="-122"/>
                <a:cs typeface="Aptos" pitchFamily="34" charset="-120"/>
              </a:rPr>
              <a:t>En sistemas que crean archivos, datos o conexiones puede haber además una fase de limpieza posterior.</a:t>
            </a:r>
            <a:endParaRPr lang="en-US" sz="132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70</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LEER FUERA DE PYTHON</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La misma exigencia, con otras palabras</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El vocabulario cambia entre herramientas. La exigencia de un booleano verdadero se reconoce igual.</a:t>
            </a:r>
            <a:endParaRPr lang="en-US" sz="1450" dirty="0"/>
          </a:p>
        </p:txBody>
      </p:sp>
      <p:sp>
        <p:nvSpPr>
          <p:cNvPr id="11" name="Shape 8"/>
          <p:cNvSpPr/>
          <p:nvPr/>
        </p:nvSpPr>
        <p:spPr>
          <a:xfrm>
            <a:off x="658368" y="2286000"/>
            <a:ext cx="10874959" cy="365760"/>
          </a:xfrm>
          <a:prstGeom prst="rect">
            <a:avLst/>
          </a:prstGeom>
          <a:solidFill>
            <a:srgbClr val="102A43"/>
          </a:solidFill>
          <a:ln w="12700">
            <a:solidFill>
              <a:srgbClr val="102A43"/>
            </a:solidFill>
            <a:prstDash val="solid"/>
          </a:ln>
        </p:spPr>
      </p:sp>
      <p:sp>
        <p:nvSpPr>
          <p:cNvPr id="12" name="Text 9"/>
          <p:cNvSpPr txBox="1"/>
          <p:nvPr/>
        </p:nvSpPr>
        <p:spPr>
          <a:xfrm>
            <a:off x="841248" y="2304288"/>
            <a:ext cx="2505456" cy="329184"/>
          </a:xfrm>
          <a:prstGeom prst="rect">
            <a:avLst/>
          </a:prstGeom>
          <a:noFill/>
          <a:ln/>
        </p:spPr>
        <p:txBody>
          <a:bodyPr wrap="square" lIns="0" tIns="0" rIns="0" bIns="0" rtlCol="0" anchor="ctr"/>
          <a:lstStyle/>
          <a:p>
            <a:pPr algn="l" indent="0" marL="0">
              <a:buNone/>
            </a:pPr>
            <a:r>
              <a:rPr lang="en-US" sz="920" b="1" spc="100" kern="0" dirty="0">
                <a:solidFill>
                  <a:srgbClr val="FFFFFF"/>
                </a:solidFill>
                <a:latin typeface="Aptos" pitchFamily="34" charset="0"/>
                <a:ea typeface="Aptos" pitchFamily="34" charset="-122"/>
                <a:cs typeface="Aptos" pitchFamily="34" charset="-120"/>
              </a:rPr>
              <a:t>ENTORNO</a:t>
            </a:r>
            <a:endParaRPr lang="en-US" sz="920" dirty="0"/>
          </a:p>
        </p:txBody>
      </p:sp>
      <p:sp>
        <p:nvSpPr>
          <p:cNvPr id="13" name="Text 10"/>
          <p:cNvSpPr txBox="1"/>
          <p:nvPr/>
        </p:nvSpPr>
        <p:spPr>
          <a:xfrm>
            <a:off x="3584448" y="2304288"/>
            <a:ext cx="3785616" cy="329184"/>
          </a:xfrm>
          <a:prstGeom prst="rect">
            <a:avLst/>
          </a:prstGeom>
          <a:noFill/>
          <a:ln/>
        </p:spPr>
        <p:txBody>
          <a:bodyPr wrap="square" lIns="0" tIns="0" rIns="0" bIns="0" rtlCol="0" anchor="ctr"/>
          <a:lstStyle/>
          <a:p>
            <a:pPr algn="l" indent="0" marL="0">
              <a:buNone/>
            </a:pPr>
            <a:r>
              <a:rPr lang="en-US" sz="920" b="1" spc="100" kern="0" dirty="0">
                <a:solidFill>
                  <a:srgbClr val="FFFFFF"/>
                </a:solidFill>
                <a:latin typeface="Aptos" pitchFamily="34" charset="0"/>
                <a:ea typeface="Aptos" pitchFamily="34" charset="-122"/>
                <a:cs typeface="Aptos" pitchFamily="34" charset="-120"/>
              </a:rPr>
              <a:t>FRAGMENTO</a:t>
            </a:r>
            <a:endParaRPr lang="en-US" sz="920" dirty="0"/>
          </a:p>
        </p:txBody>
      </p:sp>
      <p:sp>
        <p:nvSpPr>
          <p:cNvPr id="14" name="Text 11"/>
          <p:cNvSpPr txBox="1"/>
          <p:nvPr/>
        </p:nvSpPr>
        <p:spPr>
          <a:xfrm>
            <a:off x="7607808" y="2304288"/>
            <a:ext cx="3867912" cy="329184"/>
          </a:xfrm>
          <a:prstGeom prst="rect">
            <a:avLst/>
          </a:prstGeom>
          <a:noFill/>
          <a:ln/>
        </p:spPr>
        <p:txBody>
          <a:bodyPr wrap="square" lIns="0" tIns="0" rIns="0" bIns="0" rtlCol="0" anchor="ctr"/>
          <a:lstStyle/>
          <a:p>
            <a:pPr algn="l" indent="0" marL="0">
              <a:buNone/>
            </a:pPr>
            <a:r>
              <a:rPr lang="en-US" sz="920" b="1" spc="100" kern="0" dirty="0">
                <a:solidFill>
                  <a:srgbClr val="FFFFFF"/>
                </a:solidFill>
                <a:latin typeface="Aptos" pitchFamily="34" charset="0"/>
                <a:ea typeface="Aptos" pitchFamily="34" charset="-122"/>
                <a:cs typeface="Aptos" pitchFamily="34" charset="-120"/>
              </a:rPr>
              <a:t>CÓMO SE LEE</a:t>
            </a:r>
            <a:endParaRPr lang="en-US" sz="920" dirty="0"/>
          </a:p>
        </p:txBody>
      </p:sp>
      <p:sp>
        <p:nvSpPr>
          <p:cNvPr id="15" name="Shape 12"/>
          <p:cNvSpPr/>
          <p:nvPr/>
        </p:nvSpPr>
        <p:spPr>
          <a:xfrm>
            <a:off x="658368" y="2706624"/>
            <a:ext cx="10874959" cy="420624"/>
          </a:xfrm>
          <a:prstGeom prst="rect">
            <a:avLst/>
          </a:prstGeom>
          <a:solidFill>
            <a:srgbClr val="FFFFFF"/>
          </a:solidFill>
          <a:ln w="12700">
            <a:solidFill>
              <a:srgbClr val="FFFFFF"/>
            </a:solidFill>
            <a:prstDash val="solid"/>
          </a:ln>
        </p:spPr>
      </p:sp>
      <p:sp>
        <p:nvSpPr>
          <p:cNvPr id="16" name="Shape 13"/>
          <p:cNvSpPr/>
          <p:nvPr/>
        </p:nvSpPr>
        <p:spPr>
          <a:xfrm>
            <a:off x="658368" y="2706624"/>
            <a:ext cx="45720" cy="420624"/>
          </a:xfrm>
          <a:prstGeom prst="rect">
            <a:avLst/>
          </a:prstGeom>
          <a:solidFill>
            <a:srgbClr val="2E7D4F"/>
          </a:solidFill>
          <a:ln w="12700">
            <a:solidFill>
              <a:srgbClr val="2E7D4F"/>
            </a:solidFill>
            <a:prstDash val="solid"/>
          </a:ln>
        </p:spPr>
      </p:sp>
      <p:sp>
        <p:nvSpPr>
          <p:cNvPr id="17" name="Text 14"/>
          <p:cNvSpPr txBox="1"/>
          <p:nvPr/>
        </p:nvSpPr>
        <p:spPr>
          <a:xfrm>
            <a:off x="841248" y="2724912"/>
            <a:ext cx="2505456" cy="384048"/>
          </a:xfrm>
          <a:prstGeom prst="rect">
            <a:avLst/>
          </a:prstGeom>
          <a:noFill/>
          <a:ln/>
        </p:spPr>
        <p:txBody>
          <a:bodyPr wrap="square" lIns="0" tIns="0" rIns="0" bIns="0" rtlCol="0" anchor="ctr"/>
          <a:lstStyle/>
          <a:p>
            <a:pPr algn="l" indent="0" marL="0">
              <a:buNone/>
            </a:pPr>
            <a:r>
              <a:rPr lang="en-US" sz="1180" b="1" dirty="0">
                <a:solidFill>
                  <a:srgbClr val="243B53"/>
                </a:solidFill>
                <a:latin typeface="Aptos" pitchFamily="34" charset="0"/>
                <a:ea typeface="Aptos" pitchFamily="34" charset="-122"/>
                <a:cs typeface="Aptos" pitchFamily="34" charset="-120"/>
              </a:rPr>
              <a:t>Python / pytest</a:t>
            </a:r>
            <a:endParaRPr lang="en-US" sz="1180" dirty="0"/>
          </a:p>
        </p:txBody>
      </p:sp>
      <p:sp>
        <p:nvSpPr>
          <p:cNvPr id="18" name="Text 15"/>
          <p:cNvSpPr txBox="1"/>
          <p:nvPr/>
        </p:nvSpPr>
        <p:spPr>
          <a:xfrm>
            <a:off x="3584448" y="2724912"/>
            <a:ext cx="3785616" cy="384048"/>
          </a:xfrm>
          <a:prstGeom prst="rect">
            <a:avLst/>
          </a:prstGeom>
          <a:noFill/>
          <a:ln/>
        </p:spPr>
        <p:txBody>
          <a:bodyPr wrap="square" lIns="0" tIns="0" rIns="0" bIns="0" rtlCol="0" anchor="ctr"/>
          <a:lstStyle/>
          <a:p>
            <a:pPr algn="l" indent="0" marL="0">
              <a:buNone/>
            </a:pPr>
            <a:r>
              <a:rPr lang="en-US" sz="1060" dirty="0">
                <a:solidFill>
                  <a:srgbClr val="2E7D4F"/>
                </a:solidFill>
                <a:latin typeface="Consolas" pitchFamily="34" charset="0"/>
                <a:ea typeface="Consolas" pitchFamily="34" charset="-122"/>
                <a:cs typeface="Consolas" pitchFamily="34" charset="-120"/>
              </a:rPr>
              <a:t>assert obtenido is True</a:t>
            </a:r>
            <a:endParaRPr lang="en-US" sz="1060" dirty="0"/>
          </a:p>
        </p:txBody>
      </p:sp>
      <p:sp>
        <p:nvSpPr>
          <p:cNvPr id="19" name="Text 16"/>
          <p:cNvSpPr txBox="1"/>
          <p:nvPr/>
        </p:nvSpPr>
        <p:spPr>
          <a:xfrm>
            <a:off x="7607808" y="2724912"/>
            <a:ext cx="3867912" cy="384048"/>
          </a:xfrm>
          <a:prstGeom prst="rect">
            <a:avLst/>
          </a:prstGeom>
          <a:noFill/>
          <a:ln/>
        </p:spPr>
        <p:txBody>
          <a:bodyPr wrap="square" lIns="0" tIns="0" rIns="0" bIns="0" rtlCol="0" anchor="ctr"/>
          <a:lstStyle/>
          <a:p>
            <a:pPr algn="l" indent="0" marL="0">
              <a:buNone/>
            </a:pPr>
            <a:r>
              <a:rPr lang="en-US" sz="1140" dirty="0">
                <a:solidFill>
                  <a:srgbClr val="243B53"/>
                </a:solidFill>
                <a:latin typeface="Aptos" pitchFamily="34" charset="0"/>
                <a:ea typeface="Aptos" pitchFamily="34" charset="-122"/>
                <a:cs typeface="Aptos" pitchFamily="34" charset="-120"/>
              </a:rPr>
              <a:t>Exige el booleano True.</a:t>
            </a:r>
            <a:endParaRPr lang="en-US" sz="1140" dirty="0"/>
          </a:p>
        </p:txBody>
      </p:sp>
      <p:sp>
        <p:nvSpPr>
          <p:cNvPr id="20" name="Shape 17"/>
          <p:cNvSpPr/>
          <p:nvPr/>
        </p:nvSpPr>
        <p:spPr>
          <a:xfrm>
            <a:off x="658368" y="3182112"/>
            <a:ext cx="10874959" cy="420624"/>
          </a:xfrm>
          <a:prstGeom prst="rect">
            <a:avLst/>
          </a:prstGeom>
          <a:solidFill>
            <a:srgbClr val="EDE6DA"/>
          </a:solidFill>
          <a:ln w="12700">
            <a:solidFill>
              <a:srgbClr val="EDE6DA"/>
            </a:solidFill>
            <a:prstDash val="solid"/>
          </a:ln>
        </p:spPr>
      </p:sp>
      <p:sp>
        <p:nvSpPr>
          <p:cNvPr id="21" name="Shape 18"/>
          <p:cNvSpPr/>
          <p:nvPr/>
        </p:nvSpPr>
        <p:spPr>
          <a:xfrm>
            <a:off x="658368" y="3182112"/>
            <a:ext cx="45720" cy="420624"/>
          </a:xfrm>
          <a:prstGeom prst="rect">
            <a:avLst/>
          </a:prstGeom>
          <a:solidFill>
            <a:srgbClr val="102A43"/>
          </a:solidFill>
          <a:ln w="12700">
            <a:solidFill>
              <a:srgbClr val="102A43"/>
            </a:solidFill>
            <a:prstDash val="solid"/>
          </a:ln>
        </p:spPr>
      </p:sp>
      <p:sp>
        <p:nvSpPr>
          <p:cNvPr id="22" name="Text 19"/>
          <p:cNvSpPr txBox="1"/>
          <p:nvPr/>
        </p:nvSpPr>
        <p:spPr>
          <a:xfrm>
            <a:off x="841248" y="3200400"/>
            <a:ext cx="2505456" cy="384048"/>
          </a:xfrm>
          <a:prstGeom prst="rect">
            <a:avLst/>
          </a:prstGeom>
          <a:noFill/>
          <a:ln/>
        </p:spPr>
        <p:txBody>
          <a:bodyPr wrap="square" lIns="0" tIns="0" rIns="0" bIns="0" rtlCol="0" anchor="ctr"/>
          <a:lstStyle/>
          <a:p>
            <a:pPr algn="l" indent="0" marL="0">
              <a:buNone/>
            </a:pPr>
            <a:r>
              <a:rPr lang="en-US" sz="1180" b="1" dirty="0">
                <a:solidFill>
                  <a:srgbClr val="243B53"/>
                </a:solidFill>
                <a:latin typeface="Aptos" pitchFamily="34" charset="0"/>
                <a:ea typeface="Aptos" pitchFamily="34" charset="-122"/>
                <a:cs typeface="Aptos" pitchFamily="34" charset="-120"/>
              </a:rPr>
              <a:t>TypeScript / Vitest</a:t>
            </a:r>
            <a:endParaRPr lang="en-US" sz="1180" dirty="0"/>
          </a:p>
        </p:txBody>
      </p:sp>
      <p:sp>
        <p:nvSpPr>
          <p:cNvPr id="23" name="Text 20"/>
          <p:cNvSpPr txBox="1"/>
          <p:nvPr/>
        </p:nvSpPr>
        <p:spPr>
          <a:xfrm>
            <a:off x="3584448" y="3200400"/>
            <a:ext cx="3785616" cy="384048"/>
          </a:xfrm>
          <a:prstGeom prst="rect">
            <a:avLst/>
          </a:prstGeom>
          <a:noFill/>
          <a:ln/>
        </p:spPr>
        <p:txBody>
          <a:bodyPr wrap="square" lIns="0" tIns="0" rIns="0" bIns="0" rtlCol="0" anchor="ctr"/>
          <a:lstStyle/>
          <a:p>
            <a:pPr algn="l" indent="0" marL="0">
              <a:buNone/>
            </a:pPr>
            <a:r>
              <a:rPr lang="en-US" sz="1060" dirty="0">
                <a:solidFill>
                  <a:srgbClr val="102A43"/>
                </a:solidFill>
                <a:latin typeface="Consolas" pitchFamily="34" charset="0"/>
                <a:ea typeface="Consolas" pitchFamily="34" charset="-122"/>
                <a:cs typeface="Consolas" pitchFamily="34" charset="-120"/>
              </a:rPr>
              <a:t>expect(obtenido).toBe(true)</a:t>
            </a:r>
            <a:endParaRPr lang="en-US" sz="1060" dirty="0"/>
          </a:p>
        </p:txBody>
      </p:sp>
      <p:sp>
        <p:nvSpPr>
          <p:cNvPr id="24" name="Text 21"/>
          <p:cNvSpPr txBox="1"/>
          <p:nvPr/>
        </p:nvSpPr>
        <p:spPr>
          <a:xfrm>
            <a:off x="7607808" y="3200400"/>
            <a:ext cx="3867912" cy="384048"/>
          </a:xfrm>
          <a:prstGeom prst="rect">
            <a:avLst/>
          </a:prstGeom>
          <a:noFill/>
          <a:ln/>
        </p:spPr>
        <p:txBody>
          <a:bodyPr wrap="square" lIns="0" tIns="0" rIns="0" bIns="0" rtlCol="0" anchor="ctr"/>
          <a:lstStyle/>
          <a:p>
            <a:pPr algn="l" indent="0" marL="0">
              <a:buNone/>
            </a:pPr>
            <a:r>
              <a:rPr lang="en-US" sz="1140" dirty="0">
                <a:solidFill>
                  <a:srgbClr val="243B53"/>
                </a:solidFill>
                <a:latin typeface="Aptos" pitchFamily="34" charset="0"/>
                <a:ea typeface="Aptos" pitchFamily="34" charset="-122"/>
                <a:cs typeface="Aptos" pitchFamily="34" charset="-120"/>
              </a:rPr>
              <a:t>«expect» recibe el obtenido; «toBe» aplica la comparación.</a:t>
            </a:r>
            <a:endParaRPr lang="en-US" sz="1140" dirty="0"/>
          </a:p>
        </p:txBody>
      </p:sp>
      <p:sp>
        <p:nvSpPr>
          <p:cNvPr id="25" name="Shape 22"/>
          <p:cNvSpPr/>
          <p:nvPr/>
        </p:nvSpPr>
        <p:spPr>
          <a:xfrm>
            <a:off x="658368" y="3657600"/>
            <a:ext cx="10874959" cy="420624"/>
          </a:xfrm>
          <a:prstGeom prst="rect">
            <a:avLst/>
          </a:prstGeom>
          <a:solidFill>
            <a:srgbClr val="FFFFFF"/>
          </a:solidFill>
          <a:ln w="12700">
            <a:solidFill>
              <a:srgbClr val="FFFFFF"/>
            </a:solidFill>
            <a:prstDash val="solid"/>
          </a:ln>
        </p:spPr>
      </p:sp>
      <p:sp>
        <p:nvSpPr>
          <p:cNvPr id="26" name="Shape 23"/>
          <p:cNvSpPr/>
          <p:nvPr/>
        </p:nvSpPr>
        <p:spPr>
          <a:xfrm>
            <a:off x="658368" y="3657600"/>
            <a:ext cx="45720" cy="420624"/>
          </a:xfrm>
          <a:prstGeom prst="rect">
            <a:avLst/>
          </a:prstGeom>
          <a:solidFill>
            <a:srgbClr val="102A43"/>
          </a:solidFill>
          <a:ln w="12700">
            <a:solidFill>
              <a:srgbClr val="102A43"/>
            </a:solidFill>
            <a:prstDash val="solid"/>
          </a:ln>
        </p:spPr>
      </p:sp>
      <p:sp>
        <p:nvSpPr>
          <p:cNvPr id="27" name="Text 24"/>
          <p:cNvSpPr txBox="1"/>
          <p:nvPr/>
        </p:nvSpPr>
        <p:spPr>
          <a:xfrm>
            <a:off x="841248" y="3675888"/>
            <a:ext cx="2505456" cy="384048"/>
          </a:xfrm>
          <a:prstGeom prst="rect">
            <a:avLst/>
          </a:prstGeom>
          <a:noFill/>
          <a:ln/>
        </p:spPr>
        <p:txBody>
          <a:bodyPr wrap="square" lIns="0" tIns="0" rIns="0" bIns="0" rtlCol="0" anchor="ctr"/>
          <a:lstStyle/>
          <a:p>
            <a:pPr algn="l" indent="0" marL="0">
              <a:buNone/>
            </a:pPr>
            <a:r>
              <a:rPr lang="en-US" sz="1180" b="1" dirty="0">
                <a:solidFill>
                  <a:srgbClr val="243B53"/>
                </a:solidFill>
                <a:latin typeface="Aptos" pitchFamily="34" charset="0"/>
                <a:ea typeface="Aptos" pitchFamily="34" charset="-122"/>
                <a:cs typeface="Aptos" pitchFamily="34" charset="-120"/>
              </a:rPr>
              <a:t>Java / AssertJ</a:t>
            </a:r>
            <a:endParaRPr lang="en-US" sz="1180" dirty="0"/>
          </a:p>
        </p:txBody>
      </p:sp>
      <p:sp>
        <p:nvSpPr>
          <p:cNvPr id="28" name="Text 25"/>
          <p:cNvSpPr txBox="1"/>
          <p:nvPr/>
        </p:nvSpPr>
        <p:spPr>
          <a:xfrm>
            <a:off x="3584448" y="3675888"/>
            <a:ext cx="3785616" cy="384048"/>
          </a:xfrm>
          <a:prstGeom prst="rect">
            <a:avLst/>
          </a:prstGeom>
          <a:noFill/>
          <a:ln/>
        </p:spPr>
        <p:txBody>
          <a:bodyPr wrap="square" lIns="0" tIns="0" rIns="0" bIns="0" rtlCol="0" anchor="ctr"/>
          <a:lstStyle/>
          <a:p>
            <a:pPr algn="l" indent="0" marL="0">
              <a:buNone/>
            </a:pPr>
            <a:r>
              <a:rPr lang="en-US" sz="1060" dirty="0">
                <a:solidFill>
                  <a:srgbClr val="102A43"/>
                </a:solidFill>
                <a:latin typeface="Consolas" pitchFamily="34" charset="0"/>
                <a:ea typeface="Consolas" pitchFamily="34" charset="-122"/>
                <a:cs typeface="Consolas" pitchFamily="34" charset="-120"/>
              </a:rPr>
              <a:t>assertThat(obtenido).isTrue()</a:t>
            </a:r>
            <a:endParaRPr lang="en-US" sz="1060" dirty="0"/>
          </a:p>
        </p:txBody>
      </p:sp>
      <p:sp>
        <p:nvSpPr>
          <p:cNvPr id="29" name="Text 26"/>
          <p:cNvSpPr txBox="1"/>
          <p:nvPr/>
        </p:nvSpPr>
        <p:spPr>
          <a:xfrm>
            <a:off x="7607808" y="3675888"/>
            <a:ext cx="3867912" cy="384048"/>
          </a:xfrm>
          <a:prstGeom prst="rect">
            <a:avLst/>
          </a:prstGeom>
          <a:noFill/>
          <a:ln/>
        </p:spPr>
        <p:txBody>
          <a:bodyPr wrap="square" lIns="0" tIns="0" rIns="0" bIns="0" rtlCol="0" anchor="ctr"/>
          <a:lstStyle/>
          <a:p>
            <a:pPr algn="l" indent="0" marL="0">
              <a:buNone/>
            </a:pPr>
            <a:r>
              <a:rPr lang="en-US" sz="1140" dirty="0">
                <a:solidFill>
                  <a:srgbClr val="243B53"/>
                </a:solidFill>
                <a:latin typeface="Aptos" pitchFamily="34" charset="0"/>
                <a:ea typeface="Aptos" pitchFamily="34" charset="-122"/>
                <a:cs typeface="Aptos" pitchFamily="34" charset="-120"/>
              </a:rPr>
              <a:t>«assertThat» inicia la afirmación; «isTrue» exige verdadero.</a:t>
            </a:r>
            <a:endParaRPr lang="en-US" sz="1140" dirty="0"/>
          </a:p>
        </p:txBody>
      </p:sp>
      <p:sp>
        <p:nvSpPr>
          <p:cNvPr id="30" name="Shape 27"/>
          <p:cNvSpPr/>
          <p:nvPr/>
        </p:nvSpPr>
        <p:spPr>
          <a:xfrm>
            <a:off x="658368" y="4133088"/>
            <a:ext cx="10874959" cy="420624"/>
          </a:xfrm>
          <a:prstGeom prst="rect">
            <a:avLst/>
          </a:prstGeom>
          <a:solidFill>
            <a:srgbClr val="EDE6DA"/>
          </a:solidFill>
          <a:ln w="12700">
            <a:solidFill>
              <a:srgbClr val="EDE6DA"/>
            </a:solidFill>
            <a:prstDash val="solid"/>
          </a:ln>
        </p:spPr>
      </p:sp>
      <p:sp>
        <p:nvSpPr>
          <p:cNvPr id="31" name="Shape 28"/>
          <p:cNvSpPr/>
          <p:nvPr/>
        </p:nvSpPr>
        <p:spPr>
          <a:xfrm>
            <a:off x="658368" y="4133088"/>
            <a:ext cx="45720" cy="420624"/>
          </a:xfrm>
          <a:prstGeom prst="rect">
            <a:avLst/>
          </a:prstGeom>
          <a:solidFill>
            <a:srgbClr val="102A43"/>
          </a:solidFill>
          <a:ln w="12700">
            <a:solidFill>
              <a:srgbClr val="102A43"/>
            </a:solidFill>
            <a:prstDash val="solid"/>
          </a:ln>
        </p:spPr>
      </p:sp>
      <p:sp>
        <p:nvSpPr>
          <p:cNvPr id="32" name="Text 29"/>
          <p:cNvSpPr txBox="1"/>
          <p:nvPr/>
        </p:nvSpPr>
        <p:spPr>
          <a:xfrm>
            <a:off x="841248" y="4151376"/>
            <a:ext cx="2505456" cy="384048"/>
          </a:xfrm>
          <a:prstGeom prst="rect">
            <a:avLst/>
          </a:prstGeom>
          <a:noFill/>
          <a:ln/>
        </p:spPr>
        <p:txBody>
          <a:bodyPr wrap="square" lIns="0" tIns="0" rIns="0" bIns="0" rtlCol="0" anchor="ctr"/>
          <a:lstStyle/>
          <a:p>
            <a:pPr algn="l" indent="0" marL="0">
              <a:buNone/>
            </a:pPr>
            <a:r>
              <a:rPr lang="en-US" sz="1180" b="1" dirty="0">
                <a:solidFill>
                  <a:srgbClr val="243B53"/>
                </a:solidFill>
                <a:latin typeface="Aptos" pitchFamily="34" charset="0"/>
                <a:ea typeface="Aptos" pitchFamily="34" charset="-122"/>
                <a:cs typeface="Aptos" pitchFamily="34" charset="-120"/>
              </a:rPr>
              <a:t>JavaScript / Chai</a:t>
            </a:r>
            <a:endParaRPr lang="en-US" sz="1180" dirty="0"/>
          </a:p>
        </p:txBody>
      </p:sp>
      <p:sp>
        <p:nvSpPr>
          <p:cNvPr id="33" name="Text 30"/>
          <p:cNvSpPr txBox="1"/>
          <p:nvPr/>
        </p:nvSpPr>
        <p:spPr>
          <a:xfrm>
            <a:off x="3584448" y="4151376"/>
            <a:ext cx="3785616" cy="384048"/>
          </a:xfrm>
          <a:prstGeom prst="rect">
            <a:avLst/>
          </a:prstGeom>
          <a:noFill/>
          <a:ln/>
        </p:spPr>
        <p:txBody>
          <a:bodyPr wrap="square" lIns="0" tIns="0" rIns="0" bIns="0" rtlCol="0" anchor="ctr"/>
          <a:lstStyle/>
          <a:p>
            <a:pPr algn="l" indent="0" marL="0">
              <a:buNone/>
            </a:pPr>
            <a:r>
              <a:rPr lang="en-US" sz="1060" dirty="0">
                <a:solidFill>
                  <a:srgbClr val="102A43"/>
                </a:solidFill>
                <a:latin typeface="Consolas" pitchFamily="34" charset="0"/>
                <a:ea typeface="Consolas" pitchFamily="34" charset="-122"/>
                <a:cs typeface="Consolas" pitchFamily="34" charset="-120"/>
              </a:rPr>
              <a:t>obtenido.should.equal(true)</a:t>
            </a:r>
            <a:endParaRPr lang="en-US" sz="1060" dirty="0"/>
          </a:p>
        </p:txBody>
      </p:sp>
      <p:sp>
        <p:nvSpPr>
          <p:cNvPr id="34" name="Text 31"/>
          <p:cNvSpPr txBox="1"/>
          <p:nvPr/>
        </p:nvSpPr>
        <p:spPr>
          <a:xfrm>
            <a:off x="7607808" y="4151376"/>
            <a:ext cx="3867912" cy="384048"/>
          </a:xfrm>
          <a:prstGeom prst="rect">
            <a:avLst/>
          </a:prstGeom>
          <a:noFill/>
          <a:ln/>
        </p:spPr>
        <p:txBody>
          <a:bodyPr wrap="square" lIns="0" tIns="0" rIns="0" bIns="0" rtlCol="0" anchor="ctr"/>
          <a:lstStyle/>
          <a:p>
            <a:pPr algn="l" indent="0" marL="0">
              <a:buNone/>
            </a:pPr>
            <a:r>
              <a:rPr lang="en-US" sz="1140" dirty="0">
                <a:solidFill>
                  <a:srgbClr val="243B53"/>
                </a:solidFill>
                <a:latin typeface="Aptos" pitchFamily="34" charset="0"/>
                <a:ea typeface="Aptos" pitchFamily="34" charset="-122"/>
                <a:cs typeface="Aptos" pitchFamily="34" charset="-120"/>
              </a:rPr>
              <a:t>Encadena la expectativa mediante «should».</a:t>
            </a:r>
            <a:endParaRPr lang="en-US" sz="1140" dirty="0"/>
          </a:p>
        </p:txBody>
      </p:sp>
      <p:sp>
        <p:nvSpPr>
          <p:cNvPr id="35" name="Shape 32"/>
          <p:cNvSpPr/>
          <p:nvPr/>
        </p:nvSpPr>
        <p:spPr>
          <a:xfrm>
            <a:off x="658368" y="4663440"/>
            <a:ext cx="10874959" cy="768096"/>
          </a:xfrm>
          <a:prstGeom prst="rect">
            <a:avLst/>
          </a:prstGeom>
          <a:solidFill>
            <a:srgbClr val="F8E4E5"/>
          </a:solidFill>
          <a:ln w="12700">
            <a:solidFill>
              <a:srgbClr val="F8E4E5"/>
            </a:solidFill>
            <a:prstDash val="solid"/>
          </a:ln>
        </p:spPr>
      </p:sp>
      <p:sp>
        <p:nvSpPr>
          <p:cNvPr id="36" name="Shape 33"/>
          <p:cNvSpPr/>
          <p:nvPr/>
        </p:nvSpPr>
        <p:spPr>
          <a:xfrm>
            <a:off x="658368" y="4663440"/>
            <a:ext cx="64008" cy="768096"/>
          </a:xfrm>
          <a:prstGeom prst="rect">
            <a:avLst/>
          </a:prstGeom>
          <a:solidFill>
            <a:srgbClr val="B3181E"/>
          </a:solidFill>
          <a:ln w="12700">
            <a:solidFill>
              <a:srgbClr val="B3181E"/>
            </a:solidFill>
            <a:prstDash val="solid"/>
          </a:ln>
        </p:spPr>
      </p:sp>
      <p:sp>
        <p:nvSpPr>
          <p:cNvPr id="37" name="Text 34"/>
          <p:cNvSpPr txBox="1"/>
          <p:nvPr/>
        </p:nvSpPr>
        <p:spPr>
          <a:xfrm>
            <a:off x="987552" y="4809744"/>
            <a:ext cx="10216591" cy="493776"/>
          </a:xfrm>
          <a:prstGeom prst="rect">
            <a:avLst/>
          </a:prstGeom>
          <a:noFill/>
          <a:ln/>
        </p:spPr>
        <p:txBody>
          <a:bodyPr wrap="square" lIns="0" tIns="0" rIns="0" bIns="0" rtlCol="0" anchor="t"/>
          <a:lstStyle/>
          <a:p>
            <a:pPr algn="l" indent="0" marL="0">
              <a:lnSpc>
                <a:spcPct val="114000"/>
              </a:lnSpc>
              <a:buNone/>
            </a:pPr>
            <a:r>
              <a:rPr lang="en-US" sz="1240" dirty="0">
                <a:solidFill>
                  <a:srgbClr val="243B53"/>
                </a:solidFill>
                <a:latin typeface="Aptos" pitchFamily="34" charset="0"/>
                <a:ea typeface="Aptos" pitchFamily="34" charset="-122"/>
                <a:cs typeface="Aptos" pitchFamily="34" charset="-120"/>
              </a:rPr>
              <a:t>«expect», «assertThat» y «should» no son palabras del lenguaje ni significan «ejecutar un test»: son entradas a APIs</a:t>
            </a:r>
            <a:endParaRPr lang="en-US" sz="1240" dirty="0"/>
          </a:p>
          <a:p>
            <a:pPr algn="l" indent="0" marL="0">
              <a:lnSpc>
                <a:spcPct val="114000"/>
              </a:lnSpc>
              <a:buNone/>
            </a:pPr>
            <a:r>
              <a:rPr lang="en-US" sz="1240" dirty="0">
                <a:solidFill>
                  <a:srgbClr val="243B53"/>
                </a:solidFill>
                <a:latin typeface="Aptos" pitchFamily="34" charset="0"/>
                <a:ea typeface="Aptos" pitchFamily="34" charset="-122"/>
                <a:cs typeface="Aptos" pitchFamily="34" charset="-120"/>
              </a:rPr>
              <a:t>de aserciones. El método que sigue —el matcher— es el que determina qué comparación se hace.</a:t>
            </a:r>
            <a:endParaRPr lang="en-US" sz="1240" dirty="0"/>
          </a:p>
        </p:txBody>
      </p:sp>
      <p:sp>
        <p:nvSpPr>
          <p:cNvPr id="38" name="Shape 35"/>
          <p:cNvSpPr/>
          <p:nvPr/>
        </p:nvSpPr>
        <p:spPr>
          <a:xfrm>
            <a:off x="658368" y="5504688"/>
            <a:ext cx="9784080" cy="877824"/>
          </a:xfrm>
          <a:prstGeom prst="roundRect">
            <a:avLst>
              <a:gd name="adj" fmla="val 4167"/>
            </a:avLst>
          </a:prstGeom>
          <a:solidFill>
            <a:srgbClr val="102A43"/>
          </a:solidFill>
          <a:ln w="12700">
            <a:solidFill>
              <a:srgbClr val="102A43"/>
            </a:solidFill>
            <a:prstDash val="solid"/>
          </a:ln>
        </p:spPr>
      </p:sp>
      <p:sp>
        <p:nvSpPr>
          <p:cNvPr id="39" name="Shape 36"/>
          <p:cNvSpPr/>
          <p:nvPr/>
        </p:nvSpPr>
        <p:spPr>
          <a:xfrm>
            <a:off x="786384" y="5614416"/>
            <a:ext cx="9528048" cy="310896"/>
          </a:xfrm>
          <a:prstGeom prst="roundRect">
            <a:avLst>
              <a:gd name="adj" fmla="val 8824"/>
            </a:avLst>
          </a:prstGeom>
          <a:solidFill>
            <a:srgbClr val="284B75"/>
          </a:solidFill>
          <a:ln w="12700">
            <a:solidFill>
              <a:srgbClr val="284B75"/>
            </a:solidFill>
            <a:prstDash val="solid"/>
          </a:ln>
        </p:spPr>
      </p:sp>
      <p:sp>
        <p:nvSpPr>
          <p:cNvPr id="40" name="Text 37"/>
          <p:cNvSpPr/>
          <p:nvPr/>
        </p:nvSpPr>
        <p:spPr>
          <a:xfrm>
            <a:off x="896112" y="5687568"/>
            <a:ext cx="930859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Con excepciones cambia además quién ejecuta la operación</a:t>
            </a:r>
            <a:endParaRPr lang="en-US" sz="1000" dirty="0"/>
          </a:p>
        </p:txBody>
      </p:sp>
      <p:pic>
        <p:nvPicPr>
          <p:cNvPr id="4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6071616"/>
            <a:ext cx="9363456" cy="18288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71</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CIERRE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Preguntas para llevarse del Bloque 4</a:t>
            </a:r>
            <a:endParaRPr lang="en-US" sz="3000" dirty="0"/>
          </a:p>
        </p:txBody>
      </p:sp>
      <p:sp>
        <p:nvSpPr>
          <p:cNvPr id="10" name="Shape 7"/>
          <p:cNvSpPr/>
          <p:nvPr/>
        </p:nvSpPr>
        <p:spPr>
          <a:xfrm>
            <a:off x="658368" y="1956816"/>
            <a:ext cx="10874959" cy="1188720"/>
          </a:xfrm>
          <a:prstGeom prst="rect">
            <a:avLst/>
          </a:prstGeom>
          <a:solidFill>
            <a:srgbClr val="F2E7D9"/>
          </a:solidFill>
          <a:ln w="12700">
            <a:solidFill>
              <a:srgbClr val="F2E7D9"/>
            </a:solidFill>
            <a:prstDash val="solid"/>
          </a:ln>
        </p:spPr>
      </p:sp>
      <p:sp>
        <p:nvSpPr>
          <p:cNvPr id="11" name="Shape 8"/>
          <p:cNvSpPr/>
          <p:nvPr/>
        </p:nvSpPr>
        <p:spPr>
          <a:xfrm>
            <a:off x="658368" y="1956816"/>
            <a:ext cx="54864" cy="1188720"/>
          </a:xfrm>
          <a:prstGeom prst="rect">
            <a:avLst/>
          </a:prstGeom>
          <a:solidFill>
            <a:srgbClr val="B3181E"/>
          </a:solidFill>
          <a:ln w="12700">
            <a:solidFill>
              <a:srgbClr val="B3181E"/>
            </a:solidFill>
            <a:prstDash val="solid"/>
          </a:ln>
        </p:spPr>
      </p:sp>
      <p:sp>
        <p:nvSpPr>
          <p:cNvPr id="12" name="Text 9"/>
          <p:cNvSpPr txBox="1"/>
          <p:nvPr/>
        </p:nvSpPr>
        <p:spPr>
          <a:xfrm>
            <a:off x="932688" y="2103120"/>
            <a:ext cx="475488" cy="457200"/>
          </a:xfrm>
          <a:prstGeom prst="rect">
            <a:avLst/>
          </a:prstGeom>
          <a:noFill/>
          <a:ln/>
        </p:spPr>
        <p:txBody>
          <a:bodyPr wrap="square" lIns="0" tIns="0" rIns="0" bIns="0" rtlCol="0" anchor="t"/>
          <a:lstStyle/>
          <a:p>
            <a:pPr algn="l"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3" name="Text 10"/>
          <p:cNvSpPr txBox="1"/>
          <p:nvPr/>
        </p:nvSpPr>
        <p:spPr>
          <a:xfrm>
            <a:off x="1572768" y="2093976"/>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La tabla reducida tiene cuatro reglas y la completa ocho columnas, y se comprobó que no hay huecos ni desacuerdos. ¿Qué queda demostrado sobre el modelo, y qué sigue sin demostrarse sobre el programa?</a:t>
            </a:r>
            <a:endParaRPr lang="en-US" sz="1400" dirty="0"/>
          </a:p>
        </p:txBody>
      </p:sp>
      <p:sp>
        <p:nvSpPr>
          <p:cNvPr id="14" name="Shape 11"/>
          <p:cNvSpPr/>
          <p:nvPr/>
        </p:nvSpPr>
        <p:spPr>
          <a:xfrm>
            <a:off x="1572768" y="2724912"/>
            <a:ext cx="9631375" cy="0"/>
          </a:xfrm>
          <a:prstGeom prst="line">
            <a:avLst/>
          </a:prstGeom>
          <a:noFill/>
          <a:ln w="12700">
            <a:solidFill>
              <a:srgbClr val="D8CFC4"/>
            </a:solidFill>
            <a:prstDash val="solid"/>
            <a:headEnd type="none"/>
            <a:tailEnd type="none"/>
          </a:ln>
        </p:spPr>
      </p:sp>
      <p:sp>
        <p:nvSpPr>
          <p:cNvPr id="15" name="Text 12"/>
          <p:cNvSpPr txBox="1"/>
          <p:nvPr/>
        </p:nvSpPr>
        <p:spPr>
          <a:xfrm>
            <a:off x="1572768" y="2816352"/>
            <a:ext cx="640080" cy="182880"/>
          </a:xfrm>
          <a:prstGeom prst="rect">
            <a:avLst/>
          </a:prstGeom>
          <a:noFill/>
          <a:ln/>
        </p:spPr>
        <p:txBody>
          <a:bodyPr wrap="square" lIns="0" tIns="0" rIns="0" bIns="0" rtlCol="0" anchor="t"/>
          <a:lstStyle/>
          <a:p>
            <a:pPr algn="l" indent="0" marL="0">
              <a:buNone/>
            </a:pPr>
            <a:r>
              <a:rPr lang="en-US" sz="860" b="1" spc="110" kern="0" dirty="0">
                <a:solidFill>
                  <a:srgbClr val="B3181E"/>
                </a:solidFill>
                <a:latin typeface="Aptos" pitchFamily="34" charset="0"/>
                <a:ea typeface="Aptos" pitchFamily="34" charset="-122"/>
                <a:cs typeface="Aptos" pitchFamily="34" charset="-120"/>
              </a:rPr>
              <a:t>PISTA</a:t>
            </a:r>
            <a:endParaRPr lang="en-US" sz="860" dirty="0"/>
          </a:p>
        </p:txBody>
      </p:sp>
      <p:sp>
        <p:nvSpPr>
          <p:cNvPr id="16" name="Text 13"/>
          <p:cNvSpPr txBox="1"/>
          <p:nvPr/>
        </p:nvSpPr>
        <p:spPr>
          <a:xfrm>
            <a:off x="2286000" y="2798064"/>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Una cosa es que dos tablas describan lo mismo; otra es que el código haga lo que la tabla dice.</a:t>
            </a:r>
            <a:endParaRPr lang="en-US" sz="1200" dirty="0"/>
          </a:p>
        </p:txBody>
      </p:sp>
      <p:sp>
        <p:nvSpPr>
          <p:cNvPr id="17" name="Shape 14"/>
          <p:cNvSpPr/>
          <p:nvPr/>
        </p:nvSpPr>
        <p:spPr>
          <a:xfrm>
            <a:off x="658368" y="3273552"/>
            <a:ext cx="10874959" cy="1188720"/>
          </a:xfrm>
          <a:prstGeom prst="rect">
            <a:avLst/>
          </a:prstGeom>
          <a:solidFill>
            <a:srgbClr val="EDE6DA"/>
          </a:solidFill>
          <a:ln w="12700">
            <a:solidFill>
              <a:srgbClr val="EDE6DA"/>
            </a:solidFill>
            <a:prstDash val="solid"/>
          </a:ln>
        </p:spPr>
      </p:sp>
      <p:sp>
        <p:nvSpPr>
          <p:cNvPr id="18" name="Shape 15"/>
          <p:cNvSpPr/>
          <p:nvPr/>
        </p:nvSpPr>
        <p:spPr>
          <a:xfrm>
            <a:off x="658368" y="3273552"/>
            <a:ext cx="54864" cy="1188720"/>
          </a:xfrm>
          <a:prstGeom prst="rect">
            <a:avLst/>
          </a:prstGeom>
          <a:solidFill>
            <a:srgbClr val="102A43"/>
          </a:solidFill>
          <a:ln w="12700">
            <a:solidFill>
              <a:srgbClr val="102A43"/>
            </a:solidFill>
            <a:prstDash val="solid"/>
          </a:ln>
        </p:spPr>
      </p:sp>
      <p:sp>
        <p:nvSpPr>
          <p:cNvPr id="19" name="Text 16"/>
          <p:cNvSpPr txBox="1"/>
          <p:nvPr/>
        </p:nvSpPr>
        <p:spPr>
          <a:xfrm>
            <a:off x="932688" y="3419856"/>
            <a:ext cx="475488" cy="457200"/>
          </a:xfrm>
          <a:prstGeom prst="rect">
            <a:avLst/>
          </a:prstGeom>
          <a:noFill/>
          <a:ln/>
        </p:spPr>
        <p:txBody>
          <a:bodyPr wrap="square" lIns="0" tIns="0" rIns="0" bIns="0" rtlCol="0" anchor="t"/>
          <a:lstStyle/>
          <a:p>
            <a:pPr algn="l"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0" name="Text 17"/>
          <p:cNvSpPr txBox="1"/>
          <p:nvPr/>
        </p:nvSpPr>
        <p:spPr>
          <a:xfrm>
            <a:off x="1572768" y="3410712"/>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En la prueba que termina en verde ocultando el defecto, ¿quién lanza la excepción que «raises» captura: la función del sistema o la aserción?</a:t>
            </a:r>
            <a:endParaRPr lang="en-US" sz="1400" dirty="0"/>
          </a:p>
        </p:txBody>
      </p:sp>
      <p:sp>
        <p:nvSpPr>
          <p:cNvPr id="21" name="Shape 18"/>
          <p:cNvSpPr/>
          <p:nvPr/>
        </p:nvSpPr>
        <p:spPr>
          <a:xfrm>
            <a:off x="1572768" y="4041648"/>
            <a:ext cx="9631375" cy="0"/>
          </a:xfrm>
          <a:prstGeom prst="line">
            <a:avLst/>
          </a:prstGeom>
          <a:noFill/>
          <a:ln w="12700">
            <a:solidFill>
              <a:srgbClr val="D8CFC4"/>
            </a:solidFill>
            <a:prstDash val="solid"/>
            <a:headEnd type="none"/>
            <a:tailEnd type="none"/>
          </a:ln>
        </p:spPr>
      </p:sp>
      <p:sp>
        <p:nvSpPr>
          <p:cNvPr id="22" name="Text 19"/>
          <p:cNvSpPr txBox="1"/>
          <p:nvPr/>
        </p:nvSpPr>
        <p:spPr>
          <a:xfrm>
            <a:off x="1572768" y="4133088"/>
            <a:ext cx="640080" cy="182880"/>
          </a:xfrm>
          <a:prstGeom prst="rect">
            <a:avLst/>
          </a:prstGeom>
          <a:noFill/>
          <a:ln/>
        </p:spPr>
        <p:txBody>
          <a:bodyPr wrap="square" lIns="0" tIns="0" rIns="0" bIns="0" rtlCol="0" anchor="t"/>
          <a:lstStyle/>
          <a:p>
            <a:pPr algn="l" indent="0" marL="0">
              <a:buNone/>
            </a:pPr>
            <a:r>
              <a:rPr lang="en-US" sz="860" b="1" spc="110" kern="0" dirty="0">
                <a:solidFill>
                  <a:srgbClr val="102A43"/>
                </a:solidFill>
                <a:latin typeface="Aptos" pitchFamily="34" charset="0"/>
                <a:ea typeface="Aptos" pitchFamily="34" charset="-122"/>
                <a:cs typeface="Aptos" pitchFamily="34" charset="-120"/>
              </a:rPr>
              <a:t>PISTA</a:t>
            </a:r>
            <a:endParaRPr lang="en-US" sz="860" dirty="0"/>
          </a:p>
        </p:txBody>
      </p:sp>
      <p:sp>
        <p:nvSpPr>
          <p:cNvPr id="23" name="Text 20"/>
          <p:cNvSpPr txBox="1"/>
          <p:nvPr/>
        </p:nvSpPr>
        <p:spPr>
          <a:xfrm>
            <a:off x="2286000" y="4114800"/>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Sigue el recorrido: qué devuelve la función, qué hace el assert con ese valor, y de qué clase es ese error.</a:t>
            </a:r>
            <a:endParaRPr lang="en-US" sz="1200" dirty="0"/>
          </a:p>
        </p:txBody>
      </p:sp>
      <p:sp>
        <p:nvSpPr>
          <p:cNvPr id="24" name="Shape 21"/>
          <p:cNvSpPr/>
          <p:nvPr/>
        </p:nvSpPr>
        <p:spPr>
          <a:xfrm>
            <a:off x="658368" y="4590288"/>
            <a:ext cx="10874959" cy="1188720"/>
          </a:xfrm>
          <a:prstGeom prst="rect">
            <a:avLst/>
          </a:prstGeom>
          <a:solidFill>
            <a:srgbClr val="F2E7D9"/>
          </a:solidFill>
          <a:ln w="12700">
            <a:solidFill>
              <a:srgbClr val="F2E7D9"/>
            </a:solidFill>
            <a:prstDash val="solid"/>
          </a:ln>
        </p:spPr>
      </p:sp>
      <p:sp>
        <p:nvSpPr>
          <p:cNvPr id="25" name="Shape 22"/>
          <p:cNvSpPr/>
          <p:nvPr/>
        </p:nvSpPr>
        <p:spPr>
          <a:xfrm>
            <a:off x="658368" y="4590288"/>
            <a:ext cx="54864" cy="1188720"/>
          </a:xfrm>
          <a:prstGeom prst="rect">
            <a:avLst/>
          </a:prstGeom>
          <a:solidFill>
            <a:srgbClr val="8A6A12"/>
          </a:solidFill>
          <a:ln w="12700">
            <a:solidFill>
              <a:srgbClr val="8A6A12"/>
            </a:solidFill>
            <a:prstDash val="solid"/>
          </a:ln>
        </p:spPr>
      </p:sp>
      <p:sp>
        <p:nvSpPr>
          <p:cNvPr id="26" name="Text 23"/>
          <p:cNvSpPr txBox="1"/>
          <p:nvPr/>
        </p:nvSpPr>
        <p:spPr>
          <a:xfrm>
            <a:off x="932688" y="4736592"/>
            <a:ext cx="475488" cy="457200"/>
          </a:xfrm>
          <a:prstGeom prst="rect">
            <a:avLst/>
          </a:prstGeom>
          <a:noFill/>
          <a:ln/>
        </p:spPr>
        <p:txBody>
          <a:bodyPr wrap="square" lIns="0" tIns="0" rIns="0" bIns="0" rtlCol="0" anchor="t"/>
          <a:lstStyle/>
          <a:p>
            <a:pPr algn="l"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7" name="Text 24"/>
          <p:cNvSpPr txBox="1"/>
          <p:nvPr/>
        </p:nvSpPr>
        <p:spPr>
          <a:xfrm>
            <a:off x="1572768" y="4727448"/>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Un agente cambia el esperado de una fila de rechazo de False a True porque la prueba fallaba. ¿Qué referencia necesitaría para justificar ese cambio, y qué le faltaría si solo mostrara una ejecución en verde?</a:t>
            </a:r>
            <a:endParaRPr lang="en-US" sz="1400" dirty="0"/>
          </a:p>
        </p:txBody>
      </p:sp>
      <p:sp>
        <p:nvSpPr>
          <p:cNvPr id="28" name="Shape 25"/>
          <p:cNvSpPr/>
          <p:nvPr/>
        </p:nvSpPr>
        <p:spPr>
          <a:xfrm>
            <a:off x="1572768" y="5358384"/>
            <a:ext cx="9631375" cy="0"/>
          </a:xfrm>
          <a:prstGeom prst="line">
            <a:avLst/>
          </a:prstGeom>
          <a:noFill/>
          <a:ln w="12700">
            <a:solidFill>
              <a:srgbClr val="D8CFC4"/>
            </a:solidFill>
            <a:prstDash val="solid"/>
            <a:headEnd type="none"/>
            <a:tailEnd type="none"/>
          </a:ln>
        </p:spPr>
      </p:sp>
      <p:sp>
        <p:nvSpPr>
          <p:cNvPr id="29" name="Text 26"/>
          <p:cNvSpPr txBox="1"/>
          <p:nvPr/>
        </p:nvSpPr>
        <p:spPr>
          <a:xfrm>
            <a:off x="1572768" y="5449824"/>
            <a:ext cx="640080" cy="182880"/>
          </a:xfrm>
          <a:prstGeom prst="rect">
            <a:avLst/>
          </a:prstGeom>
          <a:noFill/>
          <a:ln/>
        </p:spPr>
        <p:txBody>
          <a:bodyPr wrap="square" lIns="0" tIns="0" rIns="0" bIns="0" rtlCol="0" anchor="t"/>
          <a:lstStyle/>
          <a:p>
            <a:pPr algn="l" indent="0" marL="0">
              <a:buNone/>
            </a:pPr>
            <a:r>
              <a:rPr lang="en-US" sz="860" b="1" spc="110" kern="0" dirty="0">
                <a:solidFill>
                  <a:srgbClr val="8A6A12"/>
                </a:solidFill>
                <a:latin typeface="Aptos" pitchFamily="34" charset="0"/>
                <a:ea typeface="Aptos" pitchFamily="34" charset="-122"/>
                <a:cs typeface="Aptos" pitchFamily="34" charset="-120"/>
              </a:rPr>
              <a:t>PISTA</a:t>
            </a:r>
            <a:endParaRPr lang="en-US" sz="860" dirty="0"/>
          </a:p>
        </p:txBody>
      </p:sp>
      <p:sp>
        <p:nvSpPr>
          <p:cNvPr id="30" name="Text 27"/>
          <p:cNvSpPr txBox="1"/>
          <p:nvPr/>
        </p:nvSpPr>
        <p:spPr>
          <a:xfrm>
            <a:off x="2286000" y="5431536"/>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El verde es una observación. Lo que decide un esperado está en otro documento.</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72</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CONTRASTE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Lo que tenía que aparecer en tu respuesta</a:t>
            </a:r>
            <a:endParaRPr lang="en-US" sz="3000" dirty="0"/>
          </a:p>
        </p:txBody>
      </p:sp>
      <p:sp>
        <p:nvSpPr>
          <p:cNvPr id="10" name="Shape 7"/>
          <p:cNvSpPr/>
          <p:nvPr/>
        </p:nvSpPr>
        <p:spPr>
          <a:xfrm>
            <a:off x="658368" y="1828800"/>
            <a:ext cx="10874959" cy="1371600"/>
          </a:xfrm>
          <a:prstGeom prst="rect">
            <a:avLst/>
          </a:prstGeom>
          <a:solidFill>
            <a:srgbClr val="FFFFFF"/>
          </a:solidFill>
          <a:ln w="12700">
            <a:solidFill>
              <a:srgbClr val="FFFFFF"/>
            </a:solidFill>
            <a:prstDash val="solid"/>
          </a:ln>
        </p:spPr>
      </p:sp>
      <p:sp>
        <p:nvSpPr>
          <p:cNvPr id="11" name="Shape 8"/>
          <p:cNvSpPr/>
          <p:nvPr/>
        </p:nvSpPr>
        <p:spPr>
          <a:xfrm>
            <a:off x="658368" y="1828800"/>
            <a:ext cx="54864" cy="1371600"/>
          </a:xfrm>
          <a:prstGeom prst="rect">
            <a:avLst/>
          </a:prstGeom>
          <a:solidFill>
            <a:srgbClr val="B3181E"/>
          </a:solidFill>
          <a:ln w="12700">
            <a:solidFill>
              <a:srgbClr val="B3181E"/>
            </a:solidFill>
            <a:prstDash val="solid"/>
          </a:ln>
        </p:spPr>
      </p:sp>
      <p:sp>
        <p:nvSpPr>
          <p:cNvPr id="12" name="Text 9"/>
          <p:cNvSpPr txBox="1"/>
          <p:nvPr/>
        </p:nvSpPr>
        <p:spPr>
          <a:xfrm>
            <a:off x="932688" y="1975104"/>
            <a:ext cx="475488" cy="457200"/>
          </a:xfrm>
          <a:prstGeom prst="rect">
            <a:avLst/>
          </a:prstGeom>
          <a:noFill/>
          <a:ln/>
        </p:spPr>
        <p:txBody>
          <a:bodyPr wrap="square" lIns="0" tIns="0" rIns="0" bIns="0" rtlCol="0" anchor="t"/>
          <a:lstStyle/>
          <a:p>
            <a:pPr algn="l"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3" name="Text 10"/>
          <p:cNvSpPr txBox="1"/>
          <p:nvPr/>
        </p:nvSpPr>
        <p:spPr>
          <a:xfrm>
            <a:off x="1572768" y="1956816"/>
            <a:ext cx="9631375" cy="182880"/>
          </a:xfrm>
          <a:prstGeom prst="rect">
            <a:avLst/>
          </a:prstGeom>
          <a:noFill/>
          <a:ln/>
        </p:spPr>
        <p:txBody>
          <a:bodyPr wrap="square" lIns="0" tIns="0" rIns="0" bIns="0" rtlCol="0" anchor="t"/>
          <a:lstStyle/>
          <a:p>
            <a:pPr algn="l" indent="0" marL="0">
              <a:buNone/>
            </a:pPr>
            <a:r>
              <a:rPr lang="en-US" sz="900" b="1" spc="120" kern="0" dirty="0">
                <a:solidFill>
                  <a:srgbClr val="B3181E"/>
                </a:solidFill>
                <a:latin typeface="Aptos" pitchFamily="34" charset="0"/>
                <a:ea typeface="Aptos" pitchFamily="34" charset="-122"/>
                <a:cs typeface="Aptos" pitchFamily="34" charset="-120"/>
              </a:rPr>
              <a:t>EQUIVALENCIA DEL MODELO CONTRA CONFORMIDAD DEL PROGRAMA</a:t>
            </a:r>
            <a:endParaRPr lang="en-US" sz="900" dirty="0"/>
          </a:p>
        </p:txBody>
      </p:sp>
      <p:sp>
        <p:nvSpPr>
          <p:cNvPr id="14" name="Text 11"/>
          <p:cNvSpPr txBox="1"/>
          <p:nvPr/>
        </p:nvSpPr>
        <p:spPr>
          <a:xfrm>
            <a:off x="1572768" y="2194560"/>
            <a:ext cx="9631375" cy="475488"/>
          </a:xfrm>
          <a:prstGeom prst="rect">
            <a:avLst/>
          </a:prstGeom>
          <a:noFill/>
          <a:ln/>
        </p:spPr>
        <p:txBody>
          <a:bodyPr wrap="square" lIns="0" tIns="0" rIns="0" bIns="0" rtlCol="0" anchor="t"/>
          <a:lstStyle/>
          <a:p>
            <a:pPr algn="l" indent="0" marL="0">
              <a:lnSpc>
                <a:spcPct val="114000"/>
              </a:lnSpc>
              <a:buNone/>
            </a:pPr>
            <a:r>
              <a:rPr lang="en-US" sz="1450" b="1" dirty="0">
                <a:solidFill>
                  <a:srgbClr val="243B53"/>
                </a:solidFill>
                <a:latin typeface="Aptos" pitchFamily="34" charset="0"/>
                <a:ea typeface="Aptos" pitchFamily="34" charset="-122"/>
                <a:cs typeface="Aptos" pitchFamily="34" charset="-120"/>
              </a:rPr>
              <a:t>Queda demostrado que la tabla reducida representa las ocho combinaciones. No que ejecutar un caso por regla compruebe todas las entradas.</a:t>
            </a:r>
            <a:endParaRPr lang="en-US" sz="1450" dirty="0"/>
          </a:p>
        </p:txBody>
      </p:sp>
      <p:sp>
        <p:nvSpPr>
          <p:cNvPr id="15" name="Shape 12"/>
          <p:cNvSpPr/>
          <p:nvPr/>
        </p:nvSpPr>
        <p:spPr>
          <a:xfrm>
            <a:off x="1572768" y="2743200"/>
            <a:ext cx="9631375" cy="0"/>
          </a:xfrm>
          <a:prstGeom prst="line">
            <a:avLst/>
          </a:prstGeom>
          <a:noFill/>
          <a:ln w="12700">
            <a:solidFill>
              <a:srgbClr val="D8CFC4"/>
            </a:solidFill>
            <a:prstDash val="solid"/>
            <a:headEnd type="none"/>
            <a:tailEnd type="none"/>
          </a:ln>
        </p:spPr>
      </p:sp>
      <p:sp>
        <p:nvSpPr>
          <p:cNvPr id="16" name="Text 13"/>
          <p:cNvSpPr txBox="1"/>
          <p:nvPr/>
        </p:nvSpPr>
        <p:spPr>
          <a:xfrm>
            <a:off x="1572768" y="2834640"/>
            <a:ext cx="1645920" cy="182880"/>
          </a:xfrm>
          <a:prstGeom prst="rect">
            <a:avLst/>
          </a:prstGeom>
          <a:noFill/>
          <a:ln/>
        </p:spPr>
        <p:txBody>
          <a:bodyPr wrap="square" lIns="0" tIns="0" rIns="0" bIns="0" rtlCol="0" anchor="t"/>
          <a:lstStyle/>
          <a:p>
            <a:pPr algn="l" indent="0" marL="0">
              <a:buNone/>
            </a:pPr>
            <a:r>
              <a:rPr lang="en-US" sz="860" b="1" spc="110" kern="0" dirty="0">
                <a:solidFill>
                  <a:srgbClr val="B3181E"/>
                </a:solidFill>
                <a:latin typeface="Aptos" pitchFamily="34" charset="0"/>
                <a:ea typeface="Aptos" pitchFamily="34" charset="-122"/>
                <a:cs typeface="Aptos" pitchFamily="34" charset="-120"/>
              </a:rPr>
              <a:t>LO QUE REVELA</a:t>
            </a:r>
            <a:endParaRPr lang="en-US" sz="860" dirty="0"/>
          </a:p>
        </p:txBody>
      </p:sp>
      <p:sp>
        <p:nvSpPr>
          <p:cNvPr id="17" name="Text 14"/>
          <p:cNvSpPr txBox="1"/>
          <p:nvPr/>
        </p:nvSpPr>
        <p:spPr>
          <a:xfrm>
            <a:off x="3346704" y="2816352"/>
            <a:ext cx="7144207" cy="256032"/>
          </a:xfrm>
          <a:prstGeom prst="rect">
            <a:avLst/>
          </a:prstGeom>
          <a:noFill/>
          <a:ln/>
        </p:spPr>
        <p:txBody>
          <a:bodyPr wrap="square" lIns="0" tIns="0" rIns="0" bIns="0" rtlCol="0" anchor="t"/>
          <a:lstStyle/>
          <a:p>
            <a:pPr algn="l" indent="0" marL="0">
              <a:buNone/>
            </a:pPr>
            <a:r>
              <a:rPr lang="en-US" sz="1200" i="1" dirty="0">
                <a:solidFill>
                  <a:srgbClr val="243B53"/>
                </a:solidFill>
                <a:latin typeface="Aptos" pitchFamily="34" charset="0"/>
                <a:ea typeface="Aptos" pitchFamily="34" charset="-122"/>
                <a:cs typeface="Aptos" pitchFamily="34" charset="-120"/>
              </a:rPr>
              <a:t>Por eso el quinto caso, con el bloque 8 dentro de R4, encontró un defecto que las cuatro reglas no veían.</a:t>
            </a:r>
            <a:endParaRPr lang="en-US" sz="1200" dirty="0"/>
          </a:p>
        </p:txBody>
      </p:sp>
      <p:sp>
        <p:nvSpPr>
          <p:cNvPr id="18" name="Shape 15"/>
          <p:cNvSpPr/>
          <p:nvPr/>
        </p:nvSpPr>
        <p:spPr>
          <a:xfrm>
            <a:off x="658368" y="3310128"/>
            <a:ext cx="10874959" cy="1371600"/>
          </a:xfrm>
          <a:prstGeom prst="rect">
            <a:avLst/>
          </a:prstGeom>
          <a:solidFill>
            <a:srgbClr val="FFFFFF"/>
          </a:solidFill>
          <a:ln w="12700">
            <a:solidFill>
              <a:srgbClr val="FFFFFF"/>
            </a:solidFill>
            <a:prstDash val="solid"/>
          </a:ln>
        </p:spPr>
      </p:sp>
      <p:sp>
        <p:nvSpPr>
          <p:cNvPr id="19" name="Shape 16"/>
          <p:cNvSpPr/>
          <p:nvPr/>
        </p:nvSpPr>
        <p:spPr>
          <a:xfrm>
            <a:off x="658368" y="3310128"/>
            <a:ext cx="54864" cy="1371600"/>
          </a:xfrm>
          <a:prstGeom prst="rect">
            <a:avLst/>
          </a:prstGeom>
          <a:solidFill>
            <a:srgbClr val="102A43"/>
          </a:solidFill>
          <a:ln w="12700">
            <a:solidFill>
              <a:srgbClr val="102A43"/>
            </a:solidFill>
            <a:prstDash val="solid"/>
          </a:ln>
        </p:spPr>
      </p:sp>
      <p:sp>
        <p:nvSpPr>
          <p:cNvPr id="20" name="Text 17"/>
          <p:cNvSpPr txBox="1"/>
          <p:nvPr/>
        </p:nvSpPr>
        <p:spPr>
          <a:xfrm>
            <a:off x="932688" y="3456432"/>
            <a:ext cx="475488" cy="457200"/>
          </a:xfrm>
          <a:prstGeom prst="rect">
            <a:avLst/>
          </a:prstGeom>
          <a:noFill/>
          <a:ln/>
        </p:spPr>
        <p:txBody>
          <a:bodyPr wrap="square" lIns="0" tIns="0" rIns="0" bIns="0" rtlCol="0" anchor="t"/>
          <a:lstStyle/>
          <a:p>
            <a:pPr algn="l"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1" name="Text 18"/>
          <p:cNvSpPr txBox="1"/>
          <p:nvPr/>
        </p:nvSpPr>
        <p:spPr>
          <a:xfrm>
            <a:off x="1572768" y="3438144"/>
            <a:ext cx="9631375" cy="182880"/>
          </a:xfrm>
          <a:prstGeom prst="rect">
            <a:avLst/>
          </a:prstGeom>
          <a:noFill/>
          <a:ln/>
        </p:spPr>
        <p:txBody>
          <a:bodyPr wrap="square" lIns="0" tIns="0" rIns="0" bIns="0" rtlCol="0" anchor="t"/>
          <a:lstStyle/>
          <a:p>
            <a:pPr algn="l" indent="0" marL="0">
              <a:buNone/>
            </a:pPr>
            <a:r>
              <a:rPr lang="en-US" sz="900" b="1" spc="120" kern="0" dirty="0">
                <a:solidFill>
                  <a:srgbClr val="102A43"/>
                </a:solidFill>
                <a:latin typeface="Aptos" pitchFamily="34" charset="0"/>
                <a:ea typeface="Aptos" pitchFamily="34" charset="-122"/>
                <a:cs typeface="Aptos" pitchFamily="34" charset="-120"/>
              </a:rPr>
              <a:t>QUIÉN LANZA LA EXCEPCIÓN</a:t>
            </a:r>
            <a:endParaRPr lang="en-US" sz="900" dirty="0"/>
          </a:p>
        </p:txBody>
      </p:sp>
      <p:sp>
        <p:nvSpPr>
          <p:cNvPr id="22" name="Text 19"/>
          <p:cNvSpPr txBox="1"/>
          <p:nvPr/>
        </p:nvSpPr>
        <p:spPr>
          <a:xfrm>
            <a:off x="1572768" y="3675888"/>
            <a:ext cx="9631375" cy="475488"/>
          </a:xfrm>
          <a:prstGeom prst="rect">
            <a:avLst/>
          </a:prstGeom>
          <a:noFill/>
          <a:ln/>
        </p:spPr>
        <p:txBody>
          <a:bodyPr wrap="square" lIns="0" tIns="0" rIns="0" bIns="0" rtlCol="0" anchor="t"/>
          <a:lstStyle/>
          <a:p>
            <a:pPr algn="l" indent="0" marL="0">
              <a:lnSpc>
                <a:spcPct val="114000"/>
              </a:lnSpc>
              <a:buNone/>
            </a:pPr>
            <a:r>
              <a:rPr lang="en-US" sz="1450" b="1" dirty="0">
                <a:solidFill>
                  <a:srgbClr val="243B53"/>
                </a:solidFill>
                <a:latin typeface="Aptos" pitchFamily="34" charset="0"/>
                <a:ea typeface="Aptos" pitchFamily="34" charset="-122"/>
                <a:cs typeface="Aptos" pitchFamily="34" charset="-120"/>
              </a:rPr>
              <a:t>La aserción. La función devuelve False, el assert lanza AssertionError, y como es subclase de Exception, el raises lo acepta.</a:t>
            </a:r>
            <a:endParaRPr lang="en-US" sz="1450" dirty="0"/>
          </a:p>
        </p:txBody>
      </p:sp>
      <p:sp>
        <p:nvSpPr>
          <p:cNvPr id="23" name="Shape 20"/>
          <p:cNvSpPr/>
          <p:nvPr/>
        </p:nvSpPr>
        <p:spPr>
          <a:xfrm>
            <a:off x="1572768" y="4224528"/>
            <a:ext cx="9631375" cy="0"/>
          </a:xfrm>
          <a:prstGeom prst="line">
            <a:avLst/>
          </a:prstGeom>
          <a:noFill/>
          <a:ln w="12700">
            <a:solidFill>
              <a:srgbClr val="D8CFC4"/>
            </a:solidFill>
            <a:prstDash val="solid"/>
            <a:headEnd type="none"/>
            <a:tailEnd type="none"/>
          </a:ln>
        </p:spPr>
      </p:sp>
      <p:sp>
        <p:nvSpPr>
          <p:cNvPr id="24" name="Text 21"/>
          <p:cNvSpPr txBox="1"/>
          <p:nvPr/>
        </p:nvSpPr>
        <p:spPr>
          <a:xfrm>
            <a:off x="1572768" y="4315968"/>
            <a:ext cx="1645920" cy="182880"/>
          </a:xfrm>
          <a:prstGeom prst="rect">
            <a:avLst/>
          </a:prstGeom>
          <a:noFill/>
          <a:ln/>
        </p:spPr>
        <p:txBody>
          <a:bodyPr wrap="square" lIns="0" tIns="0" rIns="0" bIns="0" rtlCol="0" anchor="t"/>
          <a:lstStyle/>
          <a:p>
            <a:pPr algn="l" indent="0" marL="0">
              <a:buNone/>
            </a:pPr>
            <a:r>
              <a:rPr lang="en-US" sz="860" b="1" spc="110" kern="0" dirty="0">
                <a:solidFill>
                  <a:srgbClr val="102A43"/>
                </a:solidFill>
                <a:latin typeface="Aptos" pitchFamily="34" charset="0"/>
                <a:ea typeface="Aptos" pitchFamily="34" charset="-122"/>
                <a:cs typeface="Aptos" pitchFamily="34" charset="-120"/>
              </a:rPr>
              <a:t>LO QUE REVELA</a:t>
            </a:r>
            <a:endParaRPr lang="en-US" sz="860" dirty="0"/>
          </a:p>
        </p:txBody>
      </p:sp>
      <p:sp>
        <p:nvSpPr>
          <p:cNvPr id="25" name="Text 22"/>
          <p:cNvSpPr txBox="1"/>
          <p:nvPr/>
        </p:nvSpPr>
        <p:spPr>
          <a:xfrm>
            <a:off x="3346704" y="4297680"/>
            <a:ext cx="7144207" cy="256032"/>
          </a:xfrm>
          <a:prstGeom prst="rect">
            <a:avLst/>
          </a:prstGeom>
          <a:noFill/>
          <a:ln/>
        </p:spPr>
        <p:txBody>
          <a:bodyPr wrap="square" lIns="0" tIns="0" rIns="0" bIns="0" rtlCol="0" anchor="t"/>
          <a:lstStyle/>
          <a:p>
            <a:pPr algn="l" indent="0" marL="0">
              <a:buNone/>
            </a:pPr>
            <a:r>
              <a:rPr lang="en-US" sz="1200" i="1" dirty="0">
                <a:solidFill>
                  <a:srgbClr val="243B53"/>
                </a:solidFill>
                <a:latin typeface="Aptos" pitchFamily="34" charset="0"/>
                <a:ea typeface="Aptos" pitchFamily="34" charset="-122"/>
                <a:cs typeface="Aptos" pitchFamily="34" charset="-120"/>
              </a:rPr>
              <a:t>La prueba exigía que ocurriera alguna excepción, incluida la de su propio fracaso: nunca pudo fallar.</a:t>
            </a:r>
            <a:endParaRPr lang="en-US" sz="1200" dirty="0"/>
          </a:p>
        </p:txBody>
      </p:sp>
      <p:sp>
        <p:nvSpPr>
          <p:cNvPr id="26" name="Shape 23"/>
          <p:cNvSpPr/>
          <p:nvPr/>
        </p:nvSpPr>
        <p:spPr>
          <a:xfrm>
            <a:off x="658368" y="4791456"/>
            <a:ext cx="10874959" cy="1371600"/>
          </a:xfrm>
          <a:prstGeom prst="rect">
            <a:avLst/>
          </a:prstGeom>
          <a:solidFill>
            <a:srgbClr val="FFFFFF"/>
          </a:solidFill>
          <a:ln w="12700">
            <a:solidFill>
              <a:srgbClr val="FFFFFF"/>
            </a:solidFill>
            <a:prstDash val="solid"/>
          </a:ln>
        </p:spPr>
      </p:sp>
      <p:sp>
        <p:nvSpPr>
          <p:cNvPr id="27" name="Shape 24"/>
          <p:cNvSpPr/>
          <p:nvPr/>
        </p:nvSpPr>
        <p:spPr>
          <a:xfrm>
            <a:off x="658368" y="4791456"/>
            <a:ext cx="54864" cy="1371600"/>
          </a:xfrm>
          <a:prstGeom prst="rect">
            <a:avLst/>
          </a:prstGeom>
          <a:solidFill>
            <a:srgbClr val="8A6A12"/>
          </a:solidFill>
          <a:ln w="12700">
            <a:solidFill>
              <a:srgbClr val="8A6A12"/>
            </a:solidFill>
            <a:prstDash val="solid"/>
          </a:ln>
        </p:spPr>
      </p:sp>
      <p:sp>
        <p:nvSpPr>
          <p:cNvPr id="28" name="Text 25"/>
          <p:cNvSpPr txBox="1"/>
          <p:nvPr/>
        </p:nvSpPr>
        <p:spPr>
          <a:xfrm>
            <a:off x="932688" y="4937760"/>
            <a:ext cx="475488" cy="457200"/>
          </a:xfrm>
          <a:prstGeom prst="rect">
            <a:avLst/>
          </a:prstGeom>
          <a:noFill/>
          <a:ln/>
        </p:spPr>
        <p:txBody>
          <a:bodyPr wrap="square" lIns="0" tIns="0" rIns="0" bIns="0" rtlCol="0" anchor="t"/>
          <a:lstStyle/>
          <a:p>
            <a:pPr algn="l"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9" name="Text 26"/>
          <p:cNvSpPr txBox="1"/>
          <p:nvPr/>
        </p:nvSpPr>
        <p:spPr>
          <a:xfrm>
            <a:off x="1572768" y="4919472"/>
            <a:ext cx="9631375" cy="182880"/>
          </a:xfrm>
          <a:prstGeom prst="rect">
            <a:avLst/>
          </a:prstGeom>
          <a:noFill/>
          <a:ln/>
        </p:spPr>
        <p:txBody>
          <a:bodyPr wrap="square" lIns="0" tIns="0" rIns="0" bIns="0" rtlCol="0" anchor="t"/>
          <a:lstStyle/>
          <a:p>
            <a:pPr algn="l" indent="0" marL="0">
              <a:buNone/>
            </a:pPr>
            <a:r>
              <a:rPr lang="en-US" sz="900" b="1" spc="120" kern="0" dirty="0">
                <a:solidFill>
                  <a:srgbClr val="8A6A12"/>
                </a:solidFill>
                <a:latin typeface="Aptos" pitchFamily="34" charset="0"/>
                <a:ea typeface="Aptos" pitchFamily="34" charset="-122"/>
                <a:cs typeface="Aptos" pitchFamily="34" charset="-120"/>
              </a:rPr>
              <a:t>QUÉ JUSTIFICA CAMBIAR UN RESULTADO ESPERADO</a:t>
            </a:r>
            <a:endParaRPr lang="en-US" sz="900" dirty="0"/>
          </a:p>
        </p:txBody>
      </p:sp>
      <p:sp>
        <p:nvSpPr>
          <p:cNvPr id="30" name="Text 27"/>
          <p:cNvSpPr txBox="1"/>
          <p:nvPr/>
        </p:nvSpPr>
        <p:spPr>
          <a:xfrm>
            <a:off x="1572768" y="5157216"/>
            <a:ext cx="9631375" cy="475488"/>
          </a:xfrm>
          <a:prstGeom prst="rect">
            <a:avLst/>
          </a:prstGeom>
          <a:noFill/>
          <a:ln/>
        </p:spPr>
        <p:txBody>
          <a:bodyPr wrap="square" lIns="0" tIns="0" rIns="0" bIns="0" rtlCol="0" anchor="t"/>
          <a:lstStyle/>
          <a:p>
            <a:pPr algn="l" indent="0" marL="0">
              <a:lnSpc>
                <a:spcPct val="114000"/>
              </a:lnSpc>
              <a:buNone/>
            </a:pPr>
            <a:r>
              <a:rPr lang="en-US" sz="1450" b="1" dirty="0">
                <a:solidFill>
                  <a:srgbClr val="243B53"/>
                </a:solidFill>
                <a:latin typeface="Aptos" pitchFamily="34" charset="0"/>
                <a:ea typeface="Aptos" pitchFamily="34" charset="-122"/>
                <a:cs typeface="Aptos" pitchFamily="34" charset="-120"/>
              </a:rPr>
              <a:t>El requisito, o una decisión registrada de quien puede tomarla. Nunca la ejecución que falló.</a:t>
            </a:r>
            <a:endParaRPr lang="en-US" sz="1450" dirty="0"/>
          </a:p>
        </p:txBody>
      </p:sp>
      <p:sp>
        <p:nvSpPr>
          <p:cNvPr id="31" name="Shape 28"/>
          <p:cNvSpPr/>
          <p:nvPr/>
        </p:nvSpPr>
        <p:spPr>
          <a:xfrm>
            <a:off x="1572768" y="5705856"/>
            <a:ext cx="9631375" cy="0"/>
          </a:xfrm>
          <a:prstGeom prst="line">
            <a:avLst/>
          </a:prstGeom>
          <a:noFill/>
          <a:ln w="12700">
            <a:solidFill>
              <a:srgbClr val="D8CFC4"/>
            </a:solidFill>
            <a:prstDash val="solid"/>
            <a:headEnd type="none"/>
            <a:tailEnd type="none"/>
          </a:ln>
        </p:spPr>
      </p:sp>
      <p:sp>
        <p:nvSpPr>
          <p:cNvPr id="32" name="Text 29"/>
          <p:cNvSpPr txBox="1"/>
          <p:nvPr/>
        </p:nvSpPr>
        <p:spPr>
          <a:xfrm>
            <a:off x="1572768" y="5797296"/>
            <a:ext cx="1645920" cy="182880"/>
          </a:xfrm>
          <a:prstGeom prst="rect">
            <a:avLst/>
          </a:prstGeom>
          <a:noFill/>
          <a:ln/>
        </p:spPr>
        <p:txBody>
          <a:bodyPr wrap="square" lIns="0" tIns="0" rIns="0" bIns="0" rtlCol="0" anchor="t"/>
          <a:lstStyle/>
          <a:p>
            <a:pPr algn="l" indent="0" marL="0">
              <a:buNone/>
            </a:pPr>
            <a:r>
              <a:rPr lang="en-US" sz="860" b="1" spc="110" kern="0" dirty="0">
                <a:solidFill>
                  <a:srgbClr val="8A6A12"/>
                </a:solidFill>
                <a:latin typeface="Aptos" pitchFamily="34" charset="0"/>
                <a:ea typeface="Aptos" pitchFamily="34" charset="-122"/>
                <a:cs typeface="Aptos" pitchFamily="34" charset="-120"/>
              </a:rPr>
              <a:t>LO QUE REVELA</a:t>
            </a:r>
            <a:endParaRPr lang="en-US" sz="860" dirty="0"/>
          </a:p>
        </p:txBody>
      </p:sp>
      <p:sp>
        <p:nvSpPr>
          <p:cNvPr id="33" name="Text 30"/>
          <p:cNvSpPr txBox="1"/>
          <p:nvPr/>
        </p:nvSpPr>
        <p:spPr>
          <a:xfrm>
            <a:off x="3346704" y="5779008"/>
            <a:ext cx="7144207" cy="256032"/>
          </a:xfrm>
          <a:prstGeom prst="rect">
            <a:avLst/>
          </a:prstGeom>
          <a:noFill/>
          <a:ln/>
        </p:spPr>
        <p:txBody>
          <a:bodyPr wrap="square" lIns="0" tIns="0" rIns="0" bIns="0" rtlCol="0" anchor="t"/>
          <a:lstStyle/>
          <a:p>
            <a:pPr algn="l" indent="0" marL="0">
              <a:buNone/>
            </a:pPr>
            <a:r>
              <a:rPr lang="en-US" sz="1200" i="1" dirty="0">
                <a:solidFill>
                  <a:srgbClr val="243B53"/>
                </a:solidFill>
                <a:latin typeface="Aptos" pitchFamily="34" charset="0"/>
                <a:ea typeface="Aptos" pitchFamily="34" charset="-122"/>
                <a:cs typeface="Aptos" pitchFamily="34" charset="-120"/>
              </a:rPr>
              <a:t>Un verde obtenido cambiando el esperado no prueba que el sistema mejore: prueba que se bajó la exigencia.</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73</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CIERRE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Tres técnicas, tres preguntas que se complementan</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Las tres parten de una expectativa externa a la implementación. Ninguna mira el código.</a:t>
            </a:r>
            <a:endParaRPr lang="en-US" sz="1450" dirty="0"/>
          </a:p>
        </p:txBody>
      </p:sp>
      <p:sp>
        <p:nvSpPr>
          <p:cNvPr id="11" name="Shape 8"/>
          <p:cNvSpPr/>
          <p:nvPr/>
        </p:nvSpPr>
        <p:spPr>
          <a:xfrm>
            <a:off x="658368" y="2286000"/>
            <a:ext cx="10874959" cy="365760"/>
          </a:xfrm>
          <a:prstGeom prst="rect">
            <a:avLst/>
          </a:prstGeom>
          <a:solidFill>
            <a:srgbClr val="102A43"/>
          </a:solidFill>
          <a:ln w="12700">
            <a:solidFill>
              <a:srgbClr val="102A43"/>
            </a:solidFill>
            <a:prstDash val="solid"/>
          </a:ln>
        </p:spPr>
      </p:sp>
      <p:sp>
        <p:nvSpPr>
          <p:cNvPr id="12" name="Text 9"/>
          <p:cNvSpPr txBox="1"/>
          <p:nvPr/>
        </p:nvSpPr>
        <p:spPr>
          <a:xfrm>
            <a:off x="841248" y="2304288"/>
            <a:ext cx="2688336" cy="329184"/>
          </a:xfrm>
          <a:prstGeom prst="rect">
            <a:avLst/>
          </a:prstGeom>
          <a:noFill/>
          <a:ln/>
        </p:spPr>
        <p:txBody>
          <a:bodyPr wrap="square" lIns="0" tIns="0" rIns="0" bIns="0" rtlCol="0" anchor="ctr"/>
          <a:lstStyle/>
          <a:p>
            <a:pPr algn="l" indent="0" marL="0">
              <a:buNone/>
            </a:pPr>
            <a:r>
              <a:rPr lang="en-US" sz="920" b="1" spc="100" kern="0" dirty="0">
                <a:solidFill>
                  <a:srgbClr val="FFFFFF"/>
                </a:solidFill>
                <a:latin typeface="Aptos" pitchFamily="34" charset="0"/>
                <a:ea typeface="Aptos" pitchFamily="34" charset="-122"/>
                <a:cs typeface="Aptos" pitchFamily="34" charset="-120"/>
              </a:rPr>
              <a:t>TÉCNICA</a:t>
            </a:r>
            <a:endParaRPr lang="en-US" sz="920" dirty="0"/>
          </a:p>
        </p:txBody>
      </p:sp>
      <p:sp>
        <p:nvSpPr>
          <p:cNvPr id="13" name="Text 10"/>
          <p:cNvSpPr txBox="1"/>
          <p:nvPr/>
        </p:nvSpPr>
        <p:spPr>
          <a:xfrm>
            <a:off x="3767328" y="2304288"/>
            <a:ext cx="3968496" cy="329184"/>
          </a:xfrm>
          <a:prstGeom prst="rect">
            <a:avLst/>
          </a:prstGeom>
          <a:noFill/>
          <a:ln/>
        </p:spPr>
        <p:txBody>
          <a:bodyPr wrap="square" lIns="0" tIns="0" rIns="0" bIns="0" rtlCol="0" anchor="ctr"/>
          <a:lstStyle/>
          <a:p>
            <a:pPr algn="l" indent="0" marL="0">
              <a:buNone/>
            </a:pPr>
            <a:r>
              <a:rPr lang="en-US" sz="920" b="1" spc="100" kern="0" dirty="0">
                <a:solidFill>
                  <a:srgbClr val="FFFFFF"/>
                </a:solidFill>
                <a:latin typeface="Aptos" pitchFamily="34" charset="0"/>
                <a:ea typeface="Aptos" pitchFamily="34" charset="-122"/>
                <a:cs typeface="Aptos" pitchFamily="34" charset="-120"/>
              </a:rPr>
              <a:t>PREGUNTA QUE RESPONDE</a:t>
            </a:r>
            <a:endParaRPr lang="en-US" sz="920" dirty="0"/>
          </a:p>
        </p:txBody>
      </p:sp>
      <p:sp>
        <p:nvSpPr>
          <p:cNvPr id="14" name="Text 11"/>
          <p:cNvSpPr txBox="1"/>
          <p:nvPr/>
        </p:nvSpPr>
        <p:spPr>
          <a:xfrm>
            <a:off x="7973568" y="2304288"/>
            <a:ext cx="3502152" cy="329184"/>
          </a:xfrm>
          <a:prstGeom prst="rect">
            <a:avLst/>
          </a:prstGeom>
          <a:noFill/>
          <a:ln/>
        </p:spPr>
        <p:txBody>
          <a:bodyPr wrap="square" lIns="0" tIns="0" rIns="0" bIns="0" rtlCol="0" anchor="ctr"/>
          <a:lstStyle/>
          <a:p>
            <a:pPr algn="l" indent="0" marL="0">
              <a:buNone/>
            </a:pPr>
            <a:r>
              <a:rPr lang="en-US" sz="920" b="1" spc="100" kern="0" dirty="0">
                <a:solidFill>
                  <a:srgbClr val="FFFFFF"/>
                </a:solidFill>
                <a:latin typeface="Aptos" pitchFamily="34" charset="0"/>
                <a:ea typeface="Aptos" pitchFamily="34" charset="-122"/>
                <a:cs typeface="Aptos" pitchFamily="34" charset="-120"/>
              </a:rPr>
              <a:t>LO QUE NO GARANTIZA</a:t>
            </a:r>
            <a:endParaRPr lang="en-US" sz="920" dirty="0"/>
          </a:p>
        </p:txBody>
      </p:sp>
      <p:sp>
        <p:nvSpPr>
          <p:cNvPr id="15" name="Shape 12"/>
          <p:cNvSpPr/>
          <p:nvPr/>
        </p:nvSpPr>
        <p:spPr>
          <a:xfrm>
            <a:off x="658368" y="2706624"/>
            <a:ext cx="10874959" cy="603504"/>
          </a:xfrm>
          <a:prstGeom prst="rect">
            <a:avLst/>
          </a:prstGeom>
          <a:solidFill>
            <a:srgbClr val="FFFFFF"/>
          </a:solidFill>
          <a:ln w="12700">
            <a:solidFill>
              <a:srgbClr val="FFFFFF"/>
            </a:solidFill>
            <a:prstDash val="solid"/>
          </a:ln>
        </p:spPr>
      </p:sp>
      <p:sp>
        <p:nvSpPr>
          <p:cNvPr id="16" name="Shape 13"/>
          <p:cNvSpPr/>
          <p:nvPr/>
        </p:nvSpPr>
        <p:spPr>
          <a:xfrm>
            <a:off x="658368" y="2706624"/>
            <a:ext cx="54864" cy="603504"/>
          </a:xfrm>
          <a:prstGeom prst="rect">
            <a:avLst/>
          </a:prstGeom>
          <a:solidFill>
            <a:srgbClr val="8A6A12"/>
          </a:solidFill>
          <a:ln w="12700">
            <a:solidFill>
              <a:srgbClr val="8A6A12"/>
            </a:solidFill>
            <a:prstDash val="solid"/>
          </a:ln>
        </p:spPr>
      </p:sp>
      <p:sp>
        <p:nvSpPr>
          <p:cNvPr id="17" name="Text 14"/>
          <p:cNvSpPr txBox="1"/>
          <p:nvPr/>
        </p:nvSpPr>
        <p:spPr>
          <a:xfrm>
            <a:off x="841248" y="2724912"/>
            <a:ext cx="2688336" cy="566928"/>
          </a:xfrm>
          <a:prstGeom prst="rect">
            <a:avLst/>
          </a:prstGeom>
          <a:noFill/>
          <a:ln/>
        </p:spPr>
        <p:txBody>
          <a:bodyPr wrap="square" lIns="0" tIns="0" rIns="0" bIns="0" rtlCol="0" anchor="ctr"/>
          <a:lstStyle/>
          <a:p>
            <a:pPr algn="l" indent="0" marL="0">
              <a:buNone/>
            </a:pPr>
            <a:r>
              <a:rPr lang="en-US" sz="1260" b="1" dirty="0">
                <a:solidFill>
                  <a:srgbClr val="8A6A12"/>
                </a:solidFill>
                <a:latin typeface="Aptos" pitchFamily="34" charset="0"/>
                <a:ea typeface="Aptos" pitchFamily="34" charset="-122"/>
                <a:cs typeface="Aptos" pitchFamily="34" charset="-120"/>
              </a:rPr>
              <a:t>Partición de equivalencia</a:t>
            </a:r>
            <a:endParaRPr lang="en-US" sz="1260" dirty="0"/>
          </a:p>
        </p:txBody>
      </p:sp>
      <p:sp>
        <p:nvSpPr>
          <p:cNvPr id="18" name="Text 15"/>
          <p:cNvSpPr txBox="1"/>
          <p:nvPr/>
        </p:nvSpPr>
        <p:spPr>
          <a:xfrm>
            <a:off x="3767328" y="2724912"/>
            <a:ext cx="3968496" cy="566928"/>
          </a:xfrm>
          <a:prstGeom prst="rect">
            <a:avLst/>
          </a:prstGeom>
          <a:noFill/>
          <a:ln/>
        </p:spPr>
        <p:txBody>
          <a:bodyPr wrap="square" lIns="0" tIns="0" rIns="0" bIns="0" rtlCol="0" anchor="ctr"/>
          <a:lstStyle/>
          <a:p>
            <a:pPr algn="l" indent="0" marL="0">
              <a:buNone/>
            </a:pPr>
            <a:r>
              <a:rPr lang="en-US" sz="1180" dirty="0">
                <a:solidFill>
                  <a:srgbClr val="243B53"/>
                </a:solidFill>
                <a:latin typeface="Aptos" pitchFamily="34" charset="0"/>
                <a:ea typeface="Aptos" pitchFamily="34" charset="-122"/>
                <a:cs typeface="Aptos" pitchFamily="34" charset="-120"/>
              </a:rPr>
              <a:t>¿Qué valores se espera que reciban un trato similar?</a:t>
            </a:r>
            <a:endParaRPr lang="en-US" sz="1180" dirty="0"/>
          </a:p>
        </p:txBody>
      </p:sp>
      <p:sp>
        <p:nvSpPr>
          <p:cNvPr id="19" name="Text 16"/>
          <p:cNvSpPr txBox="1"/>
          <p:nvPr/>
        </p:nvSpPr>
        <p:spPr>
          <a:xfrm>
            <a:off x="7973568" y="2724912"/>
            <a:ext cx="3502152" cy="566928"/>
          </a:xfrm>
          <a:prstGeom prst="rect">
            <a:avLst/>
          </a:prstGeom>
          <a:noFill/>
          <a:ln/>
        </p:spPr>
        <p:txBody>
          <a:bodyPr wrap="square" lIns="0" tIns="0" rIns="0" bIns="0" rtlCol="0" anchor="ctr"/>
          <a:lstStyle/>
          <a:p>
            <a:pPr algn="l" indent="0" marL="0">
              <a:buNone/>
            </a:pPr>
            <a:r>
              <a:rPr lang="en-US" sz="1140" dirty="0">
                <a:solidFill>
                  <a:srgbClr val="243B53"/>
                </a:solidFill>
                <a:latin typeface="Aptos" pitchFamily="34" charset="0"/>
                <a:ea typeface="Aptos" pitchFamily="34" charset="-122"/>
                <a:cs typeface="Aptos" pitchFamily="34" charset="-120"/>
              </a:rPr>
              <a:t>Que todos los miembros se comporten como su representante.</a:t>
            </a:r>
            <a:endParaRPr lang="en-US" sz="1140" dirty="0"/>
          </a:p>
        </p:txBody>
      </p:sp>
      <p:sp>
        <p:nvSpPr>
          <p:cNvPr id="20" name="Shape 17"/>
          <p:cNvSpPr/>
          <p:nvPr/>
        </p:nvSpPr>
        <p:spPr>
          <a:xfrm>
            <a:off x="658368" y="3364992"/>
            <a:ext cx="10874959" cy="603504"/>
          </a:xfrm>
          <a:prstGeom prst="rect">
            <a:avLst/>
          </a:prstGeom>
          <a:solidFill>
            <a:srgbClr val="EDE6DA"/>
          </a:solidFill>
          <a:ln w="12700">
            <a:solidFill>
              <a:srgbClr val="EDE6DA"/>
            </a:solidFill>
            <a:prstDash val="solid"/>
          </a:ln>
        </p:spPr>
      </p:sp>
      <p:sp>
        <p:nvSpPr>
          <p:cNvPr id="21" name="Shape 18"/>
          <p:cNvSpPr/>
          <p:nvPr/>
        </p:nvSpPr>
        <p:spPr>
          <a:xfrm>
            <a:off x="658368" y="3364992"/>
            <a:ext cx="54864" cy="603504"/>
          </a:xfrm>
          <a:prstGeom prst="rect">
            <a:avLst/>
          </a:prstGeom>
          <a:solidFill>
            <a:srgbClr val="B3181E"/>
          </a:solidFill>
          <a:ln w="12700">
            <a:solidFill>
              <a:srgbClr val="B3181E"/>
            </a:solidFill>
            <a:prstDash val="solid"/>
          </a:ln>
        </p:spPr>
      </p:sp>
      <p:sp>
        <p:nvSpPr>
          <p:cNvPr id="22" name="Text 19"/>
          <p:cNvSpPr txBox="1"/>
          <p:nvPr/>
        </p:nvSpPr>
        <p:spPr>
          <a:xfrm>
            <a:off x="841248" y="3383280"/>
            <a:ext cx="2688336" cy="566928"/>
          </a:xfrm>
          <a:prstGeom prst="rect">
            <a:avLst/>
          </a:prstGeom>
          <a:noFill/>
          <a:ln/>
        </p:spPr>
        <p:txBody>
          <a:bodyPr wrap="square" lIns="0" tIns="0" rIns="0" bIns="0" rtlCol="0" anchor="ctr"/>
          <a:lstStyle/>
          <a:p>
            <a:pPr algn="l" indent="0" marL="0">
              <a:buNone/>
            </a:pPr>
            <a:r>
              <a:rPr lang="en-US" sz="1260" b="1" dirty="0">
                <a:solidFill>
                  <a:srgbClr val="B3181E"/>
                </a:solidFill>
                <a:latin typeface="Aptos" pitchFamily="34" charset="0"/>
                <a:ea typeface="Aptos" pitchFamily="34" charset="-122"/>
                <a:cs typeface="Aptos" pitchFamily="34" charset="-120"/>
              </a:rPr>
              <a:t>Valores límite</a:t>
            </a:r>
            <a:endParaRPr lang="en-US" sz="1260" dirty="0"/>
          </a:p>
        </p:txBody>
      </p:sp>
      <p:sp>
        <p:nvSpPr>
          <p:cNvPr id="23" name="Text 20"/>
          <p:cNvSpPr txBox="1"/>
          <p:nvPr/>
        </p:nvSpPr>
        <p:spPr>
          <a:xfrm>
            <a:off x="3767328" y="3383280"/>
            <a:ext cx="3968496" cy="566928"/>
          </a:xfrm>
          <a:prstGeom prst="rect">
            <a:avLst/>
          </a:prstGeom>
          <a:noFill/>
          <a:ln/>
        </p:spPr>
        <p:txBody>
          <a:bodyPr wrap="square" lIns="0" tIns="0" rIns="0" bIns="0" rtlCol="0" anchor="ctr"/>
          <a:lstStyle/>
          <a:p>
            <a:pPr algn="l" indent="0" marL="0">
              <a:buNone/>
            </a:pPr>
            <a:r>
              <a:rPr lang="en-US" sz="1180" dirty="0">
                <a:solidFill>
                  <a:srgbClr val="243B53"/>
                </a:solidFill>
                <a:latin typeface="Aptos" pitchFamily="34" charset="0"/>
                <a:ea typeface="Aptos" pitchFamily="34" charset="-122"/>
                <a:cs typeface="Aptos" pitchFamily="34" charset="-120"/>
              </a:rPr>
              <a:t>¿Qué ocurre donde cambia la pertenencia a una clase?</a:t>
            </a:r>
            <a:endParaRPr lang="en-US" sz="1180" dirty="0"/>
          </a:p>
        </p:txBody>
      </p:sp>
      <p:sp>
        <p:nvSpPr>
          <p:cNvPr id="24" name="Text 21"/>
          <p:cNvSpPr txBox="1"/>
          <p:nvPr/>
        </p:nvSpPr>
        <p:spPr>
          <a:xfrm>
            <a:off x="7973568" y="3383280"/>
            <a:ext cx="3502152" cy="566928"/>
          </a:xfrm>
          <a:prstGeom prst="rect">
            <a:avLst/>
          </a:prstGeom>
          <a:noFill/>
          <a:ln/>
        </p:spPr>
        <p:txBody>
          <a:bodyPr wrap="square" lIns="0" tIns="0" rIns="0" bIns="0" rtlCol="0" anchor="ctr"/>
          <a:lstStyle/>
          <a:p>
            <a:pPr algn="l" indent="0" marL="0">
              <a:buNone/>
            </a:pPr>
            <a:r>
              <a:rPr lang="en-US" sz="1140" dirty="0">
                <a:solidFill>
                  <a:srgbClr val="243B53"/>
                </a:solidFill>
                <a:latin typeface="Aptos" pitchFamily="34" charset="0"/>
                <a:ea typeface="Aptos" pitchFamily="34" charset="-122"/>
                <a:cs typeface="Aptos" pitchFamily="34" charset="-120"/>
              </a:rPr>
              <a:t>Que el interior no tenga defectos, ni que un umbral ambiguo se resuelva solo.</a:t>
            </a:r>
            <a:endParaRPr lang="en-US" sz="1140" dirty="0"/>
          </a:p>
        </p:txBody>
      </p:sp>
      <p:sp>
        <p:nvSpPr>
          <p:cNvPr id="25" name="Shape 22"/>
          <p:cNvSpPr/>
          <p:nvPr/>
        </p:nvSpPr>
        <p:spPr>
          <a:xfrm>
            <a:off x="658368" y="4023360"/>
            <a:ext cx="10874959" cy="603504"/>
          </a:xfrm>
          <a:prstGeom prst="rect">
            <a:avLst/>
          </a:prstGeom>
          <a:solidFill>
            <a:srgbClr val="FFFFFF"/>
          </a:solidFill>
          <a:ln w="12700">
            <a:solidFill>
              <a:srgbClr val="FFFFFF"/>
            </a:solidFill>
            <a:prstDash val="solid"/>
          </a:ln>
        </p:spPr>
      </p:sp>
      <p:sp>
        <p:nvSpPr>
          <p:cNvPr id="26" name="Shape 23"/>
          <p:cNvSpPr/>
          <p:nvPr/>
        </p:nvSpPr>
        <p:spPr>
          <a:xfrm>
            <a:off x="658368" y="4023360"/>
            <a:ext cx="54864" cy="603504"/>
          </a:xfrm>
          <a:prstGeom prst="rect">
            <a:avLst/>
          </a:prstGeom>
          <a:solidFill>
            <a:srgbClr val="2E7D4F"/>
          </a:solidFill>
          <a:ln w="12700">
            <a:solidFill>
              <a:srgbClr val="2E7D4F"/>
            </a:solidFill>
            <a:prstDash val="solid"/>
          </a:ln>
        </p:spPr>
      </p:sp>
      <p:sp>
        <p:nvSpPr>
          <p:cNvPr id="27" name="Text 24"/>
          <p:cNvSpPr txBox="1"/>
          <p:nvPr/>
        </p:nvSpPr>
        <p:spPr>
          <a:xfrm>
            <a:off x="841248" y="4041648"/>
            <a:ext cx="2688336" cy="566928"/>
          </a:xfrm>
          <a:prstGeom prst="rect">
            <a:avLst/>
          </a:prstGeom>
          <a:noFill/>
          <a:ln/>
        </p:spPr>
        <p:txBody>
          <a:bodyPr wrap="square" lIns="0" tIns="0" rIns="0" bIns="0" rtlCol="0" anchor="ctr"/>
          <a:lstStyle/>
          <a:p>
            <a:pPr algn="l" indent="0" marL="0">
              <a:buNone/>
            </a:pPr>
            <a:r>
              <a:rPr lang="en-US" sz="1260" b="1" dirty="0">
                <a:solidFill>
                  <a:srgbClr val="2E7D4F"/>
                </a:solidFill>
                <a:latin typeface="Aptos" pitchFamily="34" charset="0"/>
                <a:ea typeface="Aptos" pitchFamily="34" charset="-122"/>
                <a:cs typeface="Aptos" pitchFamily="34" charset="-120"/>
              </a:rPr>
              <a:t>Tabla de decisión</a:t>
            </a:r>
            <a:endParaRPr lang="en-US" sz="1260" dirty="0"/>
          </a:p>
        </p:txBody>
      </p:sp>
      <p:sp>
        <p:nvSpPr>
          <p:cNvPr id="28" name="Text 25"/>
          <p:cNvSpPr txBox="1"/>
          <p:nvPr/>
        </p:nvSpPr>
        <p:spPr>
          <a:xfrm>
            <a:off x="3767328" y="4041648"/>
            <a:ext cx="3968496" cy="566928"/>
          </a:xfrm>
          <a:prstGeom prst="rect">
            <a:avLst/>
          </a:prstGeom>
          <a:noFill/>
          <a:ln/>
        </p:spPr>
        <p:txBody>
          <a:bodyPr wrap="square" lIns="0" tIns="0" rIns="0" bIns="0" rtlCol="0" anchor="ctr"/>
          <a:lstStyle/>
          <a:p>
            <a:pPr algn="l" indent="0" marL="0">
              <a:buNone/>
            </a:pPr>
            <a:r>
              <a:rPr lang="en-US" sz="1180" dirty="0">
                <a:solidFill>
                  <a:srgbClr val="243B53"/>
                </a:solidFill>
                <a:latin typeface="Aptos" pitchFamily="34" charset="0"/>
                <a:ea typeface="Aptos" pitchFamily="34" charset="-122"/>
                <a:cs typeface="Aptos" pitchFamily="34" charset="-120"/>
              </a:rPr>
              <a:t>¿Qué debe ocurrir cuando coinciden varias condiciones?</a:t>
            </a:r>
            <a:endParaRPr lang="en-US" sz="1180" dirty="0"/>
          </a:p>
        </p:txBody>
      </p:sp>
      <p:sp>
        <p:nvSpPr>
          <p:cNvPr id="29" name="Text 26"/>
          <p:cNvSpPr txBox="1"/>
          <p:nvPr/>
        </p:nvSpPr>
        <p:spPr>
          <a:xfrm>
            <a:off x="7973568" y="4041648"/>
            <a:ext cx="3502152" cy="566928"/>
          </a:xfrm>
          <a:prstGeom prst="rect">
            <a:avLst/>
          </a:prstGeom>
          <a:noFill/>
          <a:ln/>
        </p:spPr>
        <p:txBody>
          <a:bodyPr wrap="square" lIns="0" tIns="0" rIns="0" bIns="0" rtlCol="0" anchor="ctr"/>
          <a:lstStyle/>
          <a:p>
            <a:pPr algn="l" indent="0" marL="0">
              <a:buNone/>
            </a:pPr>
            <a:r>
              <a:rPr lang="en-US" sz="1140" dirty="0">
                <a:solidFill>
                  <a:srgbClr val="243B53"/>
                </a:solidFill>
                <a:latin typeface="Aptos" pitchFamily="34" charset="0"/>
                <a:ea typeface="Aptos" pitchFamily="34" charset="-122"/>
                <a:cs typeface="Aptos" pitchFamily="34" charset="-120"/>
              </a:rPr>
              <a:t>Que un representante por regla compruebe todas sus entradas.</a:t>
            </a:r>
            <a:endParaRPr lang="en-US" sz="1140" dirty="0"/>
          </a:p>
        </p:txBody>
      </p:sp>
      <p:sp>
        <p:nvSpPr>
          <p:cNvPr id="30" name="Text 27"/>
          <p:cNvSpPr txBox="1"/>
          <p:nvPr/>
        </p:nvSpPr>
        <p:spPr>
          <a:xfrm>
            <a:off x="658368" y="4809744"/>
            <a:ext cx="7315200" cy="201168"/>
          </a:xfrm>
          <a:prstGeom prst="rect">
            <a:avLst/>
          </a:prstGeom>
          <a:noFill/>
          <a:ln/>
        </p:spPr>
        <p:txBody>
          <a:bodyPr wrap="square" lIns="0" tIns="0" rIns="0" bIns="0" rtlCol="0" anchor="t"/>
          <a:lstStyle/>
          <a:p>
            <a:pPr algn="l" indent="0" marL="0">
              <a:buNone/>
            </a:pPr>
            <a:r>
              <a:rPr lang="en-US" sz="960" b="1" spc="130" kern="0" dirty="0">
                <a:solidFill>
                  <a:srgbClr val="243B53"/>
                </a:solidFill>
                <a:latin typeface="Aptos" pitchFamily="34" charset="0"/>
                <a:ea typeface="Aptos" pitchFamily="34" charset="-122"/>
                <a:cs typeface="Aptos" pitchFamily="34" charset="-120"/>
              </a:rPr>
              <a:t>Y LA SINTAXIS CONVIERTE ESA DECISIÓN EN EVIDENCIA EJECUTABLE</a:t>
            </a:r>
            <a:endParaRPr lang="en-US" sz="960" dirty="0"/>
          </a:p>
        </p:txBody>
      </p:sp>
      <p:sp>
        <p:nvSpPr>
          <p:cNvPr id="31" name="Shape 28"/>
          <p:cNvSpPr/>
          <p:nvPr/>
        </p:nvSpPr>
        <p:spPr>
          <a:xfrm>
            <a:off x="658368" y="5102352"/>
            <a:ext cx="5358384" cy="402336"/>
          </a:xfrm>
          <a:prstGeom prst="rect">
            <a:avLst/>
          </a:prstGeom>
          <a:solidFill>
            <a:srgbClr val="F2E7D9"/>
          </a:solidFill>
          <a:ln w="12700">
            <a:solidFill>
              <a:srgbClr val="F2E7D9"/>
            </a:solidFill>
            <a:prstDash val="solid"/>
          </a:ln>
        </p:spPr>
      </p:sp>
      <p:sp>
        <p:nvSpPr>
          <p:cNvPr id="32" name="Shape 29"/>
          <p:cNvSpPr/>
          <p:nvPr/>
        </p:nvSpPr>
        <p:spPr>
          <a:xfrm>
            <a:off x="658368" y="5102352"/>
            <a:ext cx="45720" cy="402336"/>
          </a:xfrm>
          <a:prstGeom prst="rect">
            <a:avLst/>
          </a:prstGeom>
          <a:solidFill>
            <a:srgbClr val="8A6A12"/>
          </a:solidFill>
          <a:ln w="12700">
            <a:solidFill>
              <a:srgbClr val="8A6A12"/>
            </a:solidFill>
            <a:prstDash val="solid"/>
          </a:ln>
        </p:spPr>
      </p:sp>
      <p:sp>
        <p:nvSpPr>
          <p:cNvPr id="33" name="Text 30"/>
          <p:cNvSpPr txBox="1"/>
          <p:nvPr/>
        </p:nvSpPr>
        <p:spPr>
          <a:xfrm>
            <a:off x="896112" y="5120640"/>
            <a:ext cx="2651760" cy="365760"/>
          </a:xfrm>
          <a:prstGeom prst="rect">
            <a:avLst/>
          </a:prstGeom>
          <a:noFill/>
          <a:ln/>
        </p:spPr>
        <p:txBody>
          <a:bodyPr wrap="square" lIns="0" tIns="0" rIns="0" bIns="0" rtlCol="0" anchor="ctr"/>
          <a:lstStyle/>
          <a:p>
            <a:pPr algn="l" indent="0" marL="0">
              <a:buNone/>
            </a:pPr>
            <a:r>
              <a:rPr lang="en-US" sz="1080" dirty="0">
                <a:solidFill>
                  <a:srgbClr val="243B53"/>
                </a:solidFill>
                <a:latin typeface="Aptos" pitchFamily="34" charset="0"/>
                <a:ea typeface="Aptos" pitchFamily="34" charset="-122"/>
                <a:cs typeface="Aptos" pitchFamily="34" charset="-120"/>
              </a:rPr>
              <a:t>Exigir un booleano exacto</a:t>
            </a:r>
            <a:endParaRPr lang="en-US" sz="1080" dirty="0"/>
          </a:p>
        </p:txBody>
      </p:sp>
      <p:sp>
        <p:nvSpPr>
          <p:cNvPr id="34" name="Text 31"/>
          <p:cNvSpPr txBox="1"/>
          <p:nvPr/>
        </p:nvSpPr>
        <p:spPr>
          <a:xfrm>
            <a:off x="3584448" y="5120640"/>
            <a:ext cx="2286000" cy="365760"/>
          </a:xfrm>
          <a:prstGeom prst="rect">
            <a:avLst/>
          </a:prstGeom>
          <a:noFill/>
          <a:ln/>
        </p:spPr>
        <p:txBody>
          <a:bodyPr wrap="square" lIns="0" tIns="0" rIns="0" bIns="0" rtlCol="0" anchor="ctr"/>
          <a:lstStyle/>
          <a:p>
            <a:pPr algn="l" indent="0" marL="0">
              <a:buNone/>
            </a:pPr>
            <a:r>
              <a:rPr lang="en-US" sz="940" b="1" dirty="0">
                <a:solidFill>
                  <a:srgbClr val="8A6A12"/>
                </a:solidFill>
                <a:latin typeface="Consolas" pitchFamily="34" charset="0"/>
                <a:ea typeface="Consolas" pitchFamily="34" charset="-122"/>
                <a:cs typeface="Consolas" pitchFamily="34" charset="-120"/>
              </a:rPr>
              <a:t>assert obtenido is esperado</a:t>
            </a:r>
            <a:endParaRPr lang="en-US" sz="940" dirty="0"/>
          </a:p>
        </p:txBody>
      </p:sp>
      <p:sp>
        <p:nvSpPr>
          <p:cNvPr id="35" name="Shape 32"/>
          <p:cNvSpPr/>
          <p:nvPr/>
        </p:nvSpPr>
        <p:spPr>
          <a:xfrm>
            <a:off x="6172200" y="5102352"/>
            <a:ext cx="5358384" cy="402336"/>
          </a:xfrm>
          <a:prstGeom prst="rect">
            <a:avLst/>
          </a:prstGeom>
          <a:solidFill>
            <a:srgbClr val="F2E7D9"/>
          </a:solidFill>
          <a:ln w="12700">
            <a:solidFill>
              <a:srgbClr val="F2E7D9"/>
            </a:solidFill>
            <a:prstDash val="solid"/>
          </a:ln>
        </p:spPr>
      </p:sp>
      <p:sp>
        <p:nvSpPr>
          <p:cNvPr id="36" name="Shape 33"/>
          <p:cNvSpPr/>
          <p:nvPr/>
        </p:nvSpPr>
        <p:spPr>
          <a:xfrm>
            <a:off x="6172200" y="5102352"/>
            <a:ext cx="45720" cy="402336"/>
          </a:xfrm>
          <a:prstGeom prst="rect">
            <a:avLst/>
          </a:prstGeom>
          <a:solidFill>
            <a:srgbClr val="8A6A12"/>
          </a:solidFill>
          <a:ln w="12700">
            <a:solidFill>
              <a:srgbClr val="8A6A12"/>
            </a:solidFill>
            <a:prstDash val="solid"/>
          </a:ln>
        </p:spPr>
      </p:sp>
      <p:sp>
        <p:nvSpPr>
          <p:cNvPr id="37" name="Text 34"/>
          <p:cNvSpPr txBox="1"/>
          <p:nvPr/>
        </p:nvSpPr>
        <p:spPr>
          <a:xfrm>
            <a:off x="6409944" y="5120640"/>
            <a:ext cx="2651760" cy="365760"/>
          </a:xfrm>
          <a:prstGeom prst="rect">
            <a:avLst/>
          </a:prstGeom>
          <a:noFill/>
          <a:ln/>
        </p:spPr>
        <p:txBody>
          <a:bodyPr wrap="square" lIns="0" tIns="0" rIns="0" bIns="0" rtlCol="0" anchor="ctr"/>
          <a:lstStyle/>
          <a:p>
            <a:pPr algn="l" indent="0" marL="0">
              <a:buNone/>
            </a:pPr>
            <a:r>
              <a:rPr lang="en-US" sz="1080" dirty="0">
                <a:solidFill>
                  <a:srgbClr val="243B53"/>
                </a:solidFill>
                <a:latin typeface="Aptos" pitchFamily="34" charset="0"/>
                <a:ea typeface="Aptos" pitchFamily="34" charset="-122"/>
                <a:cs typeface="Aptos" pitchFamily="34" charset="-120"/>
              </a:rPr>
              <a:t>Repetir la comprobación por filas</a:t>
            </a:r>
            <a:endParaRPr lang="en-US" sz="1080" dirty="0"/>
          </a:p>
        </p:txBody>
      </p:sp>
      <p:sp>
        <p:nvSpPr>
          <p:cNvPr id="38" name="Text 35"/>
          <p:cNvSpPr txBox="1"/>
          <p:nvPr/>
        </p:nvSpPr>
        <p:spPr>
          <a:xfrm>
            <a:off x="9098280" y="5120640"/>
            <a:ext cx="2286000" cy="365760"/>
          </a:xfrm>
          <a:prstGeom prst="rect">
            <a:avLst/>
          </a:prstGeom>
          <a:noFill/>
          <a:ln/>
        </p:spPr>
        <p:txBody>
          <a:bodyPr wrap="square" lIns="0" tIns="0" rIns="0" bIns="0" rtlCol="0" anchor="ctr"/>
          <a:lstStyle/>
          <a:p>
            <a:pPr algn="l" indent="0" marL="0">
              <a:buNone/>
            </a:pPr>
            <a:r>
              <a:rPr lang="en-US" sz="940" b="1" dirty="0">
                <a:solidFill>
                  <a:srgbClr val="8A6A12"/>
                </a:solidFill>
                <a:latin typeface="Consolas" pitchFamily="34" charset="0"/>
                <a:ea typeface="Consolas" pitchFamily="34" charset="-122"/>
                <a:cs typeface="Consolas" pitchFamily="34" charset="-120"/>
              </a:rPr>
              <a:t>@pytest.mark.parametrize(...)</a:t>
            </a:r>
            <a:endParaRPr lang="en-US" sz="940" dirty="0"/>
          </a:p>
        </p:txBody>
      </p:sp>
      <p:sp>
        <p:nvSpPr>
          <p:cNvPr id="39" name="Shape 36"/>
          <p:cNvSpPr/>
          <p:nvPr/>
        </p:nvSpPr>
        <p:spPr>
          <a:xfrm>
            <a:off x="658368" y="5577840"/>
            <a:ext cx="5358384" cy="402336"/>
          </a:xfrm>
          <a:prstGeom prst="rect">
            <a:avLst/>
          </a:prstGeom>
          <a:solidFill>
            <a:srgbClr val="F2E7D9"/>
          </a:solidFill>
          <a:ln w="12700">
            <a:solidFill>
              <a:srgbClr val="F2E7D9"/>
            </a:solidFill>
            <a:prstDash val="solid"/>
          </a:ln>
        </p:spPr>
      </p:sp>
      <p:sp>
        <p:nvSpPr>
          <p:cNvPr id="40" name="Shape 37"/>
          <p:cNvSpPr/>
          <p:nvPr/>
        </p:nvSpPr>
        <p:spPr>
          <a:xfrm>
            <a:off x="658368" y="5577840"/>
            <a:ext cx="45720" cy="402336"/>
          </a:xfrm>
          <a:prstGeom prst="rect">
            <a:avLst/>
          </a:prstGeom>
          <a:solidFill>
            <a:srgbClr val="8A6A12"/>
          </a:solidFill>
          <a:ln w="12700">
            <a:solidFill>
              <a:srgbClr val="8A6A12"/>
            </a:solidFill>
            <a:prstDash val="solid"/>
          </a:ln>
        </p:spPr>
      </p:sp>
      <p:sp>
        <p:nvSpPr>
          <p:cNvPr id="41" name="Text 38"/>
          <p:cNvSpPr txBox="1"/>
          <p:nvPr/>
        </p:nvSpPr>
        <p:spPr>
          <a:xfrm>
            <a:off x="896112" y="5596128"/>
            <a:ext cx="2651760" cy="365760"/>
          </a:xfrm>
          <a:prstGeom prst="rect">
            <a:avLst/>
          </a:prstGeom>
          <a:noFill/>
          <a:ln/>
        </p:spPr>
        <p:txBody>
          <a:bodyPr wrap="square" lIns="0" tIns="0" rIns="0" bIns="0" rtlCol="0" anchor="ctr"/>
          <a:lstStyle/>
          <a:p>
            <a:pPr algn="l" indent="0" marL="0">
              <a:buNone/>
            </a:pPr>
            <a:r>
              <a:rPr lang="en-US" sz="1080" dirty="0">
                <a:solidFill>
                  <a:srgbClr val="243B53"/>
                </a:solidFill>
                <a:latin typeface="Aptos" pitchFamily="34" charset="0"/>
                <a:ea typeface="Aptos" pitchFamily="34" charset="-122"/>
                <a:cs typeface="Aptos" pitchFamily="34" charset="-120"/>
              </a:rPr>
              <a:t>Admitir un error numérico justificado</a:t>
            </a:r>
            <a:endParaRPr lang="en-US" sz="1080" dirty="0"/>
          </a:p>
        </p:txBody>
      </p:sp>
      <p:sp>
        <p:nvSpPr>
          <p:cNvPr id="42" name="Text 39"/>
          <p:cNvSpPr txBox="1"/>
          <p:nvPr/>
        </p:nvSpPr>
        <p:spPr>
          <a:xfrm>
            <a:off x="3584448" y="5596128"/>
            <a:ext cx="2286000" cy="365760"/>
          </a:xfrm>
          <a:prstGeom prst="rect">
            <a:avLst/>
          </a:prstGeom>
          <a:noFill/>
          <a:ln/>
        </p:spPr>
        <p:txBody>
          <a:bodyPr wrap="square" lIns="0" tIns="0" rIns="0" bIns="0" rtlCol="0" anchor="ctr"/>
          <a:lstStyle/>
          <a:p>
            <a:pPr algn="l" indent="0" marL="0">
              <a:buNone/>
            </a:pPr>
            <a:r>
              <a:rPr lang="en-US" sz="940" b="1" dirty="0">
                <a:solidFill>
                  <a:srgbClr val="8A6A12"/>
                </a:solidFill>
                <a:latin typeface="Consolas" pitchFamily="34" charset="0"/>
                <a:ea typeface="Consolas" pitchFamily="34" charset="-122"/>
                <a:cs typeface="Consolas" pitchFamily="34" charset="-120"/>
              </a:rPr>
              <a:t>== pytest.approx(..., rel=0, abs=...)</a:t>
            </a:r>
            <a:endParaRPr lang="en-US" sz="940" dirty="0"/>
          </a:p>
        </p:txBody>
      </p:sp>
      <p:sp>
        <p:nvSpPr>
          <p:cNvPr id="43" name="Shape 40"/>
          <p:cNvSpPr/>
          <p:nvPr/>
        </p:nvSpPr>
        <p:spPr>
          <a:xfrm>
            <a:off x="6172200" y="5577840"/>
            <a:ext cx="5358384" cy="402336"/>
          </a:xfrm>
          <a:prstGeom prst="rect">
            <a:avLst/>
          </a:prstGeom>
          <a:solidFill>
            <a:srgbClr val="F2E7D9"/>
          </a:solidFill>
          <a:ln w="12700">
            <a:solidFill>
              <a:srgbClr val="F2E7D9"/>
            </a:solidFill>
            <a:prstDash val="solid"/>
          </a:ln>
        </p:spPr>
      </p:sp>
      <p:sp>
        <p:nvSpPr>
          <p:cNvPr id="44" name="Shape 41"/>
          <p:cNvSpPr/>
          <p:nvPr/>
        </p:nvSpPr>
        <p:spPr>
          <a:xfrm>
            <a:off x="6172200" y="5577840"/>
            <a:ext cx="45720" cy="402336"/>
          </a:xfrm>
          <a:prstGeom prst="rect">
            <a:avLst/>
          </a:prstGeom>
          <a:solidFill>
            <a:srgbClr val="8A6A12"/>
          </a:solidFill>
          <a:ln w="12700">
            <a:solidFill>
              <a:srgbClr val="8A6A12"/>
            </a:solidFill>
            <a:prstDash val="solid"/>
          </a:ln>
        </p:spPr>
      </p:sp>
      <p:sp>
        <p:nvSpPr>
          <p:cNvPr id="45" name="Text 42"/>
          <p:cNvSpPr txBox="1"/>
          <p:nvPr/>
        </p:nvSpPr>
        <p:spPr>
          <a:xfrm>
            <a:off x="6409944" y="5596128"/>
            <a:ext cx="2651760" cy="365760"/>
          </a:xfrm>
          <a:prstGeom prst="rect">
            <a:avLst/>
          </a:prstGeom>
          <a:noFill/>
          <a:ln/>
        </p:spPr>
        <p:txBody>
          <a:bodyPr wrap="square" lIns="0" tIns="0" rIns="0" bIns="0" rtlCol="0" anchor="ctr"/>
          <a:lstStyle/>
          <a:p>
            <a:pPr algn="l" indent="0" marL="0">
              <a:buNone/>
            </a:pPr>
            <a:r>
              <a:rPr lang="en-US" sz="1080" dirty="0">
                <a:solidFill>
                  <a:srgbClr val="243B53"/>
                </a:solidFill>
                <a:latin typeface="Aptos" pitchFamily="34" charset="0"/>
                <a:ea typeface="Aptos" pitchFamily="34" charset="-122"/>
                <a:cs typeface="Aptos" pitchFamily="34" charset="-120"/>
              </a:rPr>
              <a:t>Exigir una excepción del sistema</a:t>
            </a:r>
            <a:endParaRPr lang="en-US" sz="1080" dirty="0"/>
          </a:p>
        </p:txBody>
      </p:sp>
      <p:sp>
        <p:nvSpPr>
          <p:cNvPr id="46" name="Text 43"/>
          <p:cNvSpPr txBox="1"/>
          <p:nvPr/>
        </p:nvSpPr>
        <p:spPr>
          <a:xfrm>
            <a:off x="9098280" y="5596128"/>
            <a:ext cx="2286000" cy="365760"/>
          </a:xfrm>
          <a:prstGeom prst="rect">
            <a:avLst/>
          </a:prstGeom>
          <a:noFill/>
          <a:ln/>
        </p:spPr>
        <p:txBody>
          <a:bodyPr wrap="square" lIns="0" tIns="0" rIns="0" bIns="0" rtlCol="0" anchor="ctr"/>
          <a:lstStyle/>
          <a:p>
            <a:pPr algn="l" indent="0" marL="0">
              <a:buNone/>
            </a:pPr>
            <a:r>
              <a:rPr lang="en-US" sz="940" b="1" dirty="0">
                <a:solidFill>
                  <a:srgbClr val="8A6A12"/>
                </a:solidFill>
                <a:latin typeface="Consolas" pitchFamily="34" charset="0"/>
                <a:ea typeface="Consolas" pitchFamily="34" charset="-122"/>
                <a:cs typeface="Consolas" pitchFamily="34" charset="-120"/>
              </a:rPr>
              <a:t>with pytest.raises(...)</a:t>
            </a:r>
            <a:endParaRPr lang="en-US" sz="940" dirty="0"/>
          </a:p>
        </p:txBody>
      </p:sp>
      <p:sp>
        <p:nvSpPr>
          <p:cNvPr id="47" name="Shape 44"/>
          <p:cNvSpPr/>
          <p:nvPr/>
        </p:nvSpPr>
        <p:spPr>
          <a:xfrm>
            <a:off x="658368" y="6126480"/>
            <a:ext cx="45720" cy="182880"/>
          </a:xfrm>
          <a:prstGeom prst="rect">
            <a:avLst/>
          </a:prstGeom>
          <a:solidFill>
            <a:srgbClr val="8A6A12"/>
          </a:solidFill>
          <a:ln w="12700">
            <a:solidFill>
              <a:srgbClr val="8A6A12"/>
            </a:solidFill>
            <a:prstDash val="solid"/>
          </a:ln>
        </p:spPr>
      </p:sp>
      <p:sp>
        <p:nvSpPr>
          <p:cNvPr id="48" name="Text 45"/>
          <p:cNvSpPr txBox="1"/>
          <p:nvPr/>
        </p:nvSpPr>
        <p:spPr>
          <a:xfrm>
            <a:off x="804672" y="6117336"/>
            <a:ext cx="1060704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Ninguna de esas formas reemplaza la lectura del contrato: una aserción puede estar bien escrita y exigir lo equivocado.</a:t>
            </a:r>
            <a:endParaRPr lang="en-US" sz="92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74</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CIERRE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Qué se puede afirmar al terminar, y qué no</a:t>
            </a:r>
            <a:endParaRPr lang="en-US" sz="3000" dirty="0"/>
          </a:p>
        </p:txBody>
      </p:sp>
      <p:sp>
        <p:nvSpPr>
          <p:cNvPr id="10" name="Shape 7"/>
          <p:cNvSpPr/>
          <p:nvPr/>
        </p:nvSpPr>
        <p:spPr>
          <a:xfrm>
            <a:off x="658368" y="1956816"/>
            <a:ext cx="10874959" cy="1298448"/>
          </a:xfrm>
          <a:prstGeom prst="roundRect">
            <a:avLst>
              <a:gd name="adj" fmla="val 2817"/>
            </a:avLst>
          </a:prstGeom>
          <a:solidFill>
            <a:srgbClr val="102A43"/>
          </a:solidFill>
          <a:ln w="12700">
            <a:solidFill>
              <a:srgbClr val="102A43"/>
            </a:solidFill>
            <a:prstDash val="solid"/>
          </a:ln>
        </p:spPr>
      </p:sp>
      <p:sp>
        <p:nvSpPr>
          <p:cNvPr id="11" name="Shape 8"/>
          <p:cNvSpPr/>
          <p:nvPr/>
        </p:nvSpPr>
        <p:spPr>
          <a:xfrm>
            <a:off x="786384" y="2066544"/>
            <a:ext cx="10618927" cy="310896"/>
          </a:xfrm>
          <a:prstGeom prst="roundRect">
            <a:avLst>
              <a:gd name="adj" fmla="val 8824"/>
            </a:avLst>
          </a:prstGeom>
          <a:solidFill>
            <a:srgbClr val="284B75"/>
          </a:solidFill>
          <a:ln w="12700">
            <a:solidFill>
              <a:srgbClr val="284B75"/>
            </a:solidFill>
            <a:prstDash val="solid"/>
          </a:ln>
        </p:spPr>
      </p:sp>
      <p:sp>
        <p:nvSpPr>
          <p:cNvPr id="12" name="Text 9"/>
          <p:cNvSpPr/>
          <p:nvPr/>
        </p:nvSpPr>
        <p:spPr>
          <a:xfrm>
            <a:off x="896112" y="2139696"/>
            <a:ext cx="10399471"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Lo que la sesión anterior permitió afirmar</a:t>
            </a:r>
            <a:endParaRPr lang="en-US" sz="1000" dirty="0"/>
          </a:p>
        </p:txBody>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523744"/>
            <a:ext cx="10454335" cy="548640"/>
          </a:xfrm>
          <a:prstGeom prst="rect">
            <a:avLst/>
          </a:prstGeom>
        </p:spPr>
      </p:pic>
      <p:sp>
        <p:nvSpPr>
          <p:cNvPr id="14" name="Shape 10"/>
          <p:cNvSpPr/>
          <p:nvPr/>
        </p:nvSpPr>
        <p:spPr>
          <a:xfrm>
            <a:off x="658368" y="3383280"/>
            <a:ext cx="10874959" cy="1298448"/>
          </a:xfrm>
          <a:prstGeom prst="roundRect">
            <a:avLst>
              <a:gd name="adj" fmla="val 2817"/>
            </a:avLst>
          </a:prstGeom>
          <a:solidFill>
            <a:srgbClr val="102A43"/>
          </a:solidFill>
          <a:ln w="12700">
            <a:solidFill>
              <a:srgbClr val="102A43"/>
            </a:solidFill>
            <a:prstDash val="solid"/>
          </a:ln>
        </p:spPr>
      </p:sp>
      <p:sp>
        <p:nvSpPr>
          <p:cNvPr id="15" name="Shape 11"/>
          <p:cNvSpPr/>
          <p:nvPr/>
        </p:nvSpPr>
        <p:spPr>
          <a:xfrm>
            <a:off x="786384" y="3493008"/>
            <a:ext cx="10618927" cy="310896"/>
          </a:xfrm>
          <a:prstGeom prst="roundRect">
            <a:avLst>
              <a:gd name="adj" fmla="val 8824"/>
            </a:avLst>
          </a:prstGeom>
          <a:solidFill>
            <a:srgbClr val="284B75"/>
          </a:solidFill>
          <a:ln w="12700">
            <a:solidFill>
              <a:srgbClr val="284B75"/>
            </a:solidFill>
            <a:prstDash val="solid"/>
          </a:ln>
        </p:spPr>
      </p:sp>
      <p:sp>
        <p:nvSpPr>
          <p:cNvPr id="16" name="Text 12"/>
          <p:cNvSpPr/>
          <p:nvPr/>
        </p:nvSpPr>
        <p:spPr>
          <a:xfrm>
            <a:off x="896112" y="3566160"/>
            <a:ext cx="10399471"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Lo que agrega el diseño de casos</a:t>
            </a:r>
            <a:endParaRPr lang="en-US" sz="1000" dirty="0"/>
          </a:p>
        </p:txBody>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7824" y="3950208"/>
            <a:ext cx="10454335" cy="548640"/>
          </a:xfrm>
          <a:prstGeom prst="rect">
            <a:avLst/>
          </a:prstGeom>
        </p:spPr>
      </p:pic>
      <p:sp>
        <p:nvSpPr>
          <p:cNvPr id="18" name="Shape 13"/>
          <p:cNvSpPr/>
          <p:nvPr/>
        </p:nvSpPr>
        <p:spPr>
          <a:xfrm>
            <a:off x="658368" y="4809744"/>
            <a:ext cx="10874959" cy="786384"/>
          </a:xfrm>
          <a:prstGeom prst="rect">
            <a:avLst/>
          </a:prstGeom>
          <a:solidFill>
            <a:srgbClr val="F8E4E5"/>
          </a:solidFill>
          <a:ln w="12700">
            <a:solidFill>
              <a:srgbClr val="F8E4E5"/>
            </a:solidFill>
            <a:prstDash val="solid"/>
          </a:ln>
        </p:spPr>
      </p:sp>
      <p:sp>
        <p:nvSpPr>
          <p:cNvPr id="19" name="Shape 14"/>
          <p:cNvSpPr/>
          <p:nvPr/>
        </p:nvSpPr>
        <p:spPr>
          <a:xfrm>
            <a:off x="658368" y="4809744"/>
            <a:ext cx="64008" cy="786384"/>
          </a:xfrm>
          <a:prstGeom prst="rect">
            <a:avLst/>
          </a:prstGeom>
          <a:solidFill>
            <a:srgbClr val="B3181E"/>
          </a:solidFill>
          <a:ln w="12700">
            <a:solidFill>
              <a:srgbClr val="B3181E"/>
            </a:solidFill>
            <a:prstDash val="solid"/>
          </a:ln>
        </p:spPr>
      </p:sp>
      <p:sp>
        <p:nvSpPr>
          <p:cNvPr id="20" name="Text 15"/>
          <p:cNvSpPr txBox="1"/>
          <p:nvPr/>
        </p:nvSpPr>
        <p:spPr>
          <a:xfrm>
            <a:off x="987552" y="4956048"/>
            <a:ext cx="54864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LO QUE SIGUE SIN PODER AFIRMARSE</a:t>
            </a:r>
            <a:endParaRPr lang="en-US" sz="960" dirty="0"/>
          </a:p>
        </p:txBody>
      </p:sp>
      <p:sp>
        <p:nvSpPr>
          <p:cNvPr id="21" name="Text 16"/>
          <p:cNvSpPr txBox="1"/>
          <p:nvPr/>
        </p:nvSpPr>
        <p:spPr>
          <a:xfrm>
            <a:off x="987552" y="5175504"/>
            <a:ext cx="10216591" cy="329184"/>
          </a:xfrm>
          <a:prstGeom prst="rect">
            <a:avLst/>
          </a:prstGeom>
          <a:noFill/>
          <a:ln/>
        </p:spPr>
        <p:txBody>
          <a:bodyPr wrap="square" lIns="0" tIns="0" rIns="0" bIns="0" rtlCol="0" anchor="t"/>
          <a:lstStyle/>
          <a:p>
            <a:pPr algn="l" indent="0" marL="0">
              <a:buNone/>
            </a:pPr>
            <a:r>
              <a:rPr lang="en-US" sz="1500" b="1" dirty="0">
                <a:solidFill>
                  <a:srgbClr val="B3181E"/>
                </a:solidFill>
                <a:latin typeface="Aptos" pitchFamily="34" charset="0"/>
                <a:ea typeface="Aptos" pitchFamily="34" charset="-122"/>
                <a:cs typeface="Aptos" pitchFamily="34" charset="-120"/>
              </a:rPr>
              <a:t>El sistema funciona para todas las entradas y no tiene más defectos.</a:t>
            </a:r>
            <a:endParaRPr lang="en-US" sz="1500" dirty="0"/>
          </a:p>
        </p:txBody>
      </p:sp>
      <p:sp>
        <p:nvSpPr>
          <p:cNvPr id="22" name="Shape 17"/>
          <p:cNvSpPr/>
          <p:nvPr/>
        </p:nvSpPr>
        <p:spPr>
          <a:xfrm>
            <a:off x="658368" y="5724144"/>
            <a:ext cx="10874959" cy="603504"/>
          </a:xfrm>
          <a:prstGeom prst="rect">
            <a:avLst/>
          </a:prstGeom>
          <a:solidFill>
            <a:srgbClr val="102A43"/>
          </a:solidFill>
          <a:ln w="12700">
            <a:solidFill>
              <a:srgbClr val="102A43"/>
            </a:solidFill>
            <a:prstDash val="solid"/>
          </a:ln>
        </p:spPr>
      </p:sp>
      <p:sp>
        <p:nvSpPr>
          <p:cNvPr id="23" name="Text 18"/>
          <p:cNvSpPr txBox="1"/>
          <p:nvPr/>
        </p:nvSpPr>
        <p:spPr>
          <a:xfrm>
            <a:off x="969264" y="5760720"/>
            <a:ext cx="10253167" cy="530352"/>
          </a:xfrm>
          <a:prstGeom prst="rect">
            <a:avLst/>
          </a:prstGeom>
          <a:noFill/>
          <a:ln/>
        </p:spPr>
        <p:txBody>
          <a:bodyPr wrap="square" lIns="0" tIns="0" rIns="0" bIns="0" rtlCol="0" anchor="ctr"/>
          <a:lstStyle/>
          <a:p>
            <a:pPr algn="ctr" indent="0" marL="0">
              <a:lnSpc>
                <a:spcPct val="110000"/>
              </a:lnSpc>
              <a:buNone/>
            </a:pPr>
            <a:r>
              <a:rPr lang="en-US" sz="1240" b="1" dirty="0">
                <a:solidFill>
                  <a:srgbClr val="FFFFFF"/>
                </a:solidFill>
                <a:latin typeface="Aptos" pitchFamily="34" charset="0"/>
                <a:ea typeface="Aptos" pitchFamily="34" charset="-122"/>
                <a:cs typeface="Aptos" pitchFamily="34" charset="-120"/>
              </a:rPr>
              <a:t>Quedó evidencia concreta de ese límite: representantes en verde que omiten el bloque 8, un esperado copiado del código, y una prueba que captura su propio fallo. Las dos horas exactas siguen sin decidirse.</a:t>
            </a:r>
            <a:endParaRPr lang="en-US" sz="124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3\03\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75</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E0BC5A"/>
                </a:solidFill>
                <a:latin typeface="Aptos" pitchFamily="34" charset="0"/>
                <a:ea typeface="Aptos" pitchFamily="34" charset="-122"/>
                <a:cs typeface="Aptos" pitchFamily="34" charset="-120"/>
              </a:rPr>
              <a:t>CIERRE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FFFFFF"/>
                </a:solidFill>
                <a:latin typeface="Aptos Display" pitchFamily="34" charset="0"/>
                <a:ea typeface="Aptos Display" pitchFamily="34" charset="-122"/>
                <a:cs typeface="Aptos Display" pitchFamily="34" charset="-120"/>
              </a:rPr>
              <a:t>Lo que se aprende mirando hacia adentro</a:t>
            </a:r>
            <a:endParaRPr lang="en-US" sz="3000" dirty="0"/>
          </a:p>
        </p:txBody>
      </p:sp>
      <p:sp>
        <p:nvSpPr>
          <p:cNvPr id="10" name="Text 7"/>
          <p:cNvSpPr txBox="1"/>
          <p:nvPr/>
        </p:nvSpPr>
        <p:spPr>
          <a:xfrm>
            <a:off x="658368" y="1938528"/>
            <a:ext cx="10874959" cy="731520"/>
          </a:xfrm>
          <a:prstGeom prst="rect">
            <a:avLst/>
          </a:prstGeom>
          <a:noFill/>
          <a:ln/>
        </p:spPr>
        <p:txBody>
          <a:bodyPr wrap="square" lIns="0" tIns="0" rIns="0" bIns="0" rtlCol="0" anchor="t"/>
          <a:lstStyle/>
          <a:p>
            <a:pPr algn="l" indent="0" marL="0">
              <a:lnSpc>
                <a:spcPct val="120000"/>
              </a:lnSpc>
              <a:buNone/>
            </a:pPr>
            <a:r>
              <a:rPr lang="en-US" sz="1600" dirty="0">
                <a:solidFill>
                  <a:srgbClr val="E6EEF7"/>
                </a:solidFill>
                <a:latin typeface="Aptos" pitchFamily="34" charset="0"/>
                <a:ea typeface="Aptos" pitchFamily="34" charset="-122"/>
                <a:cs typeface="Aptos" pitchFamily="34" charset="-120"/>
              </a:rPr>
              <a:t>Las tres técnicas de hoy organizan lo que el sistema debe hacer. Ninguna mira el código.</a:t>
            </a:r>
            <a:endParaRPr lang="en-US" sz="1600" dirty="0"/>
          </a:p>
          <a:p>
            <a:pPr algn="l" indent="0" marL="0">
              <a:lnSpc>
                <a:spcPct val="120000"/>
              </a:lnSpc>
              <a:buNone/>
            </a:pPr>
            <a:r>
              <a:rPr lang="en-US" sz="1600" dirty="0">
                <a:solidFill>
                  <a:srgbClr val="E6EEF7"/>
                </a:solidFill>
                <a:latin typeface="Aptos" pitchFamily="34" charset="0"/>
                <a:ea typeface="Aptos" pitchFamily="34" charset="-122"/>
                <a:cs typeface="Aptos" pitchFamily="34" charset="-120"/>
              </a:rPr>
              <a:t>Falta relacionar esas pruebas con lo que realmente recorren dentro del programa.</a:t>
            </a:r>
            <a:endParaRPr lang="en-US" sz="1600" dirty="0"/>
          </a:p>
        </p:txBody>
      </p:sp>
      <p:sp>
        <p:nvSpPr>
          <p:cNvPr id="11" name="Shape 8"/>
          <p:cNvSpPr/>
          <p:nvPr/>
        </p:nvSpPr>
        <p:spPr>
          <a:xfrm>
            <a:off x="658368" y="2871216"/>
            <a:ext cx="3465576" cy="1371600"/>
          </a:xfrm>
          <a:prstGeom prst="rect">
            <a:avLst/>
          </a:prstGeom>
          <a:solidFill>
            <a:srgbClr val="1D3A57"/>
          </a:solidFill>
          <a:ln w="12700">
            <a:solidFill>
              <a:srgbClr val="1D3A57"/>
            </a:solidFill>
            <a:prstDash val="solid"/>
          </a:ln>
        </p:spPr>
      </p:sp>
      <p:sp>
        <p:nvSpPr>
          <p:cNvPr id="12" name="Shape 9"/>
          <p:cNvSpPr/>
          <p:nvPr/>
        </p:nvSpPr>
        <p:spPr>
          <a:xfrm>
            <a:off x="658368" y="2871216"/>
            <a:ext cx="3465576" cy="54864"/>
          </a:xfrm>
          <a:prstGeom prst="rect">
            <a:avLst/>
          </a:prstGeom>
          <a:solidFill>
            <a:srgbClr val="E0BC5A"/>
          </a:solidFill>
          <a:ln w="12700">
            <a:solidFill>
              <a:srgbClr val="E0BC5A"/>
            </a:solidFill>
            <a:prstDash val="solid"/>
          </a:ln>
        </p:spPr>
      </p:sp>
      <p:sp>
        <p:nvSpPr>
          <p:cNvPr id="13" name="Text 10"/>
          <p:cNvSpPr txBox="1"/>
          <p:nvPr/>
        </p:nvSpPr>
        <p:spPr>
          <a:xfrm>
            <a:off x="914400" y="3054096"/>
            <a:ext cx="2962656" cy="274320"/>
          </a:xfrm>
          <a:prstGeom prst="rect">
            <a:avLst/>
          </a:prstGeom>
          <a:noFill/>
          <a:ln/>
        </p:spPr>
        <p:txBody>
          <a:bodyPr wrap="square" lIns="0" tIns="0" rIns="0" bIns="0" rtlCol="0" anchor="t"/>
          <a:lstStyle/>
          <a:p>
            <a:pPr algn="l" indent="0" marL="0">
              <a:buNone/>
            </a:pPr>
            <a:r>
              <a:rPr lang="en-US" sz="1400" b="1" dirty="0">
                <a:solidFill>
                  <a:srgbClr val="E0BC5A"/>
                </a:solidFill>
                <a:latin typeface="Aptos" pitchFamily="34" charset="0"/>
                <a:ea typeface="Aptos" pitchFamily="34" charset="-122"/>
                <a:cs typeface="Aptos" pitchFamily="34" charset="-120"/>
              </a:rPr>
              <a:t>Caja negra y caja blanca</a:t>
            </a:r>
            <a:endParaRPr lang="en-US" sz="1400" dirty="0"/>
          </a:p>
        </p:txBody>
      </p:sp>
      <p:sp>
        <p:nvSpPr>
          <p:cNvPr id="14" name="Text 11"/>
          <p:cNvSpPr txBox="1"/>
          <p:nvPr/>
        </p:nvSpPr>
        <p:spPr>
          <a:xfrm>
            <a:off x="914400" y="3383280"/>
            <a:ext cx="2962656" cy="749808"/>
          </a:xfrm>
          <a:prstGeom prst="rect">
            <a:avLst/>
          </a:prstGeom>
          <a:noFill/>
          <a:ln/>
        </p:spPr>
        <p:txBody>
          <a:bodyPr wrap="square" lIns="0" tIns="0" rIns="0" bIns="0" rtlCol="0" anchor="t"/>
          <a:lstStyle/>
          <a:p>
            <a:pPr algn="l" indent="0" marL="0">
              <a:lnSpc>
                <a:spcPct val="118000"/>
              </a:lnSpc>
              <a:buNone/>
            </a:pPr>
            <a:r>
              <a:rPr lang="en-US" sz="1180" dirty="0">
                <a:solidFill>
                  <a:srgbClr val="FFFFFF"/>
                </a:solidFill>
                <a:latin typeface="Aptos" pitchFamily="34" charset="0"/>
                <a:ea typeface="Aptos" pitchFamily="34" charset="-122"/>
                <a:cs typeface="Aptos" pitchFamily="34" charset="-120"/>
              </a:rPr>
              <a:t>La tensión que dejó abierta Dijkstra, con las dos posiciones sobre la mesa.</a:t>
            </a:r>
            <a:endParaRPr lang="en-US" sz="1180" dirty="0"/>
          </a:p>
        </p:txBody>
      </p:sp>
      <p:sp>
        <p:nvSpPr>
          <p:cNvPr id="15" name="Shape 12"/>
          <p:cNvSpPr/>
          <p:nvPr/>
        </p:nvSpPr>
        <p:spPr>
          <a:xfrm>
            <a:off x="4379976" y="2871216"/>
            <a:ext cx="3465576" cy="1371600"/>
          </a:xfrm>
          <a:prstGeom prst="rect">
            <a:avLst/>
          </a:prstGeom>
          <a:solidFill>
            <a:srgbClr val="1D3A57"/>
          </a:solidFill>
          <a:ln w="12700">
            <a:solidFill>
              <a:srgbClr val="1D3A57"/>
            </a:solidFill>
            <a:prstDash val="solid"/>
          </a:ln>
        </p:spPr>
      </p:sp>
      <p:sp>
        <p:nvSpPr>
          <p:cNvPr id="16" name="Shape 13"/>
          <p:cNvSpPr/>
          <p:nvPr/>
        </p:nvSpPr>
        <p:spPr>
          <a:xfrm>
            <a:off x="4379976" y="2871216"/>
            <a:ext cx="3465576" cy="54864"/>
          </a:xfrm>
          <a:prstGeom prst="rect">
            <a:avLst/>
          </a:prstGeom>
          <a:solidFill>
            <a:srgbClr val="E6EEF7"/>
          </a:solidFill>
          <a:ln w="12700">
            <a:solidFill>
              <a:srgbClr val="E6EEF7"/>
            </a:solidFill>
            <a:prstDash val="solid"/>
          </a:ln>
        </p:spPr>
      </p:sp>
      <p:sp>
        <p:nvSpPr>
          <p:cNvPr id="17" name="Text 14"/>
          <p:cNvSpPr txBox="1"/>
          <p:nvPr/>
        </p:nvSpPr>
        <p:spPr>
          <a:xfrm>
            <a:off x="4636008" y="3054096"/>
            <a:ext cx="2962656" cy="274320"/>
          </a:xfrm>
          <a:prstGeom prst="rect">
            <a:avLst/>
          </a:prstGeom>
          <a:noFill/>
          <a:ln/>
        </p:spPr>
        <p:txBody>
          <a:bodyPr wrap="square" lIns="0" tIns="0" rIns="0" bIns="0" rtlCol="0" anchor="t"/>
          <a:lstStyle/>
          <a:p>
            <a:pPr algn="l" indent="0" marL="0">
              <a:buNone/>
            </a:pPr>
            <a:r>
              <a:rPr lang="en-US" sz="1400" b="1" dirty="0">
                <a:solidFill>
                  <a:srgbClr val="E6EEF7"/>
                </a:solidFill>
                <a:latin typeface="Aptos" pitchFamily="34" charset="0"/>
                <a:ea typeface="Aptos" pitchFamily="34" charset="-122"/>
                <a:cs typeface="Aptos" pitchFamily="34" charset="-120"/>
              </a:rPr>
              <a:t>Cobertura</a:t>
            </a:r>
            <a:endParaRPr lang="en-US" sz="1400" dirty="0"/>
          </a:p>
        </p:txBody>
      </p:sp>
      <p:sp>
        <p:nvSpPr>
          <p:cNvPr id="18" name="Text 15"/>
          <p:cNvSpPr txBox="1"/>
          <p:nvPr/>
        </p:nvSpPr>
        <p:spPr>
          <a:xfrm>
            <a:off x="4636008" y="3383280"/>
            <a:ext cx="2962656" cy="749808"/>
          </a:xfrm>
          <a:prstGeom prst="rect">
            <a:avLst/>
          </a:prstGeom>
          <a:noFill/>
          <a:ln/>
        </p:spPr>
        <p:txBody>
          <a:bodyPr wrap="square" lIns="0" tIns="0" rIns="0" bIns="0" rtlCol="0" anchor="t"/>
          <a:lstStyle/>
          <a:p>
            <a:pPr algn="l" indent="0" marL="0">
              <a:lnSpc>
                <a:spcPct val="118000"/>
              </a:lnSpc>
              <a:buNone/>
            </a:pPr>
            <a:r>
              <a:rPr lang="en-US" sz="1180" dirty="0">
                <a:solidFill>
                  <a:srgbClr val="FFFFFF"/>
                </a:solidFill>
                <a:latin typeface="Aptos" pitchFamily="34" charset="0"/>
                <a:ea typeface="Aptos" pitchFamily="34" charset="-122"/>
                <a:cs typeface="Aptos" pitchFamily="34" charset="-120"/>
              </a:rPr>
              <a:t>Permite observar parte de ese recorrido. Habrá que preguntar qué se comprobó al recorrerlo.</a:t>
            </a:r>
            <a:endParaRPr lang="en-US" sz="1180" dirty="0"/>
          </a:p>
        </p:txBody>
      </p:sp>
      <p:sp>
        <p:nvSpPr>
          <p:cNvPr id="19" name="Shape 16"/>
          <p:cNvSpPr/>
          <p:nvPr/>
        </p:nvSpPr>
        <p:spPr>
          <a:xfrm>
            <a:off x="8101584" y="2871216"/>
            <a:ext cx="3465576" cy="1371600"/>
          </a:xfrm>
          <a:prstGeom prst="rect">
            <a:avLst/>
          </a:prstGeom>
          <a:solidFill>
            <a:srgbClr val="1D3A57"/>
          </a:solidFill>
          <a:ln w="12700">
            <a:solidFill>
              <a:srgbClr val="1D3A57"/>
            </a:solidFill>
            <a:prstDash val="solid"/>
          </a:ln>
        </p:spPr>
      </p:sp>
      <p:sp>
        <p:nvSpPr>
          <p:cNvPr id="20" name="Shape 17"/>
          <p:cNvSpPr/>
          <p:nvPr/>
        </p:nvSpPr>
        <p:spPr>
          <a:xfrm>
            <a:off x="8101584" y="2871216"/>
            <a:ext cx="3465576" cy="54864"/>
          </a:xfrm>
          <a:prstGeom prst="rect">
            <a:avLst/>
          </a:prstGeom>
          <a:solidFill>
            <a:srgbClr val="FFFFFF"/>
          </a:solidFill>
          <a:ln w="12700">
            <a:solidFill>
              <a:srgbClr val="FFFFFF"/>
            </a:solidFill>
            <a:prstDash val="solid"/>
          </a:ln>
        </p:spPr>
      </p:sp>
      <p:sp>
        <p:nvSpPr>
          <p:cNvPr id="21" name="Text 18"/>
          <p:cNvSpPr txBox="1"/>
          <p:nvPr/>
        </p:nvSpPr>
        <p:spPr>
          <a:xfrm>
            <a:off x="8357616" y="3054096"/>
            <a:ext cx="2962656" cy="274320"/>
          </a:xfrm>
          <a:prstGeom prst="rect">
            <a:avLst/>
          </a:prstGeom>
          <a:noFill/>
          <a:ln/>
        </p:spPr>
        <p:txBody>
          <a:bodyPr wrap="square" lIns="0" tIns="0" rIns="0" bIns="0" rtlCol="0" anchor="t"/>
          <a:lstStyle/>
          <a:p>
            <a:pPr algn="l" indent="0" marL="0">
              <a:buNone/>
            </a:pPr>
            <a:r>
              <a:rPr lang="en-US" sz="1400" b="1" dirty="0">
                <a:solidFill>
                  <a:srgbClr val="FFFFFF"/>
                </a:solidFill>
                <a:latin typeface="Aptos" pitchFamily="34" charset="0"/>
                <a:ea typeface="Aptos" pitchFamily="34" charset="-122"/>
                <a:cs typeface="Aptos" pitchFamily="34" charset="-120"/>
              </a:rPr>
              <a:t>Dobles de prueba</a:t>
            </a:r>
            <a:endParaRPr lang="en-US" sz="1400" dirty="0"/>
          </a:p>
        </p:txBody>
      </p:sp>
      <p:sp>
        <p:nvSpPr>
          <p:cNvPr id="22" name="Text 19"/>
          <p:cNvSpPr txBox="1"/>
          <p:nvPr/>
        </p:nvSpPr>
        <p:spPr>
          <a:xfrm>
            <a:off x="8357616" y="3383280"/>
            <a:ext cx="2962656" cy="749808"/>
          </a:xfrm>
          <a:prstGeom prst="rect">
            <a:avLst/>
          </a:prstGeom>
          <a:noFill/>
          <a:ln/>
        </p:spPr>
        <p:txBody>
          <a:bodyPr wrap="square" lIns="0" tIns="0" rIns="0" bIns="0" rtlCol="0" anchor="t"/>
          <a:lstStyle/>
          <a:p>
            <a:pPr algn="l" indent="0" marL="0">
              <a:lnSpc>
                <a:spcPct val="118000"/>
              </a:lnSpc>
              <a:buNone/>
            </a:pPr>
            <a:r>
              <a:rPr lang="en-US" sz="1180" dirty="0">
                <a:solidFill>
                  <a:srgbClr val="FFFFFF"/>
                </a:solidFill>
                <a:latin typeface="Aptos" pitchFamily="34" charset="0"/>
                <a:ea typeface="Aptos" pitchFamily="34" charset="-122"/>
                <a:cs typeface="Aptos" pitchFamily="34" charset="-120"/>
              </a:rPr>
              <a:t>Sustitutos de dependencias que aíslan un comportamiento, y pueden dejar fuera justo la interacción que interesaba.</a:t>
            </a:r>
            <a:endParaRPr lang="en-US" sz="1180" dirty="0"/>
          </a:p>
        </p:txBody>
      </p:sp>
      <p:sp>
        <p:nvSpPr>
          <p:cNvPr id="23" name="Shape 20"/>
          <p:cNvSpPr/>
          <p:nvPr/>
        </p:nvSpPr>
        <p:spPr>
          <a:xfrm>
            <a:off x="658368" y="4572000"/>
            <a:ext cx="10874959" cy="1371600"/>
          </a:xfrm>
          <a:prstGeom prst="rect">
            <a:avLst/>
          </a:prstGeom>
          <a:solidFill>
            <a:srgbClr val="1D3A57"/>
          </a:solidFill>
          <a:ln w="12700">
            <a:solidFill>
              <a:srgbClr val="1D3A57"/>
            </a:solidFill>
            <a:prstDash val="solid"/>
          </a:ln>
        </p:spPr>
      </p:sp>
      <p:sp>
        <p:nvSpPr>
          <p:cNvPr id="24" name="Shape 21"/>
          <p:cNvSpPr/>
          <p:nvPr/>
        </p:nvSpPr>
        <p:spPr>
          <a:xfrm>
            <a:off x="658368" y="4572000"/>
            <a:ext cx="64008" cy="1371600"/>
          </a:xfrm>
          <a:prstGeom prst="rect">
            <a:avLst/>
          </a:prstGeom>
          <a:solidFill>
            <a:srgbClr val="E0BC5A"/>
          </a:solidFill>
          <a:ln w="12700">
            <a:solidFill>
              <a:srgbClr val="E0BC5A"/>
            </a:solidFill>
            <a:prstDash val="solid"/>
          </a:ln>
        </p:spPr>
      </p:sp>
      <p:sp>
        <p:nvSpPr>
          <p:cNvPr id="25" name="Text 22"/>
          <p:cNvSpPr txBox="1"/>
          <p:nvPr/>
        </p:nvSpPr>
        <p:spPr>
          <a:xfrm>
            <a:off x="1024128" y="4736592"/>
            <a:ext cx="10143439" cy="1060704"/>
          </a:xfrm>
          <a:prstGeom prst="rect">
            <a:avLst/>
          </a:prstGeom>
          <a:noFill/>
          <a:ln/>
        </p:spPr>
        <p:txBody>
          <a:bodyPr wrap="square" lIns="0" tIns="0" rIns="0" bIns="0" rtlCol="0" anchor="t"/>
          <a:lstStyle/>
          <a:p>
            <a:pPr algn="l" indent="0" marL="0">
              <a:lnSpc>
                <a:spcPct val="120000"/>
              </a:lnSpc>
              <a:buNone/>
            </a:pPr>
            <a:r>
              <a:rPr lang="en-US" sz="1400" i="1" dirty="0">
                <a:solidFill>
                  <a:srgbClr val="FFFFFF"/>
                </a:solidFill>
                <a:latin typeface="Aptos" pitchFamily="34" charset="0"/>
                <a:ea typeface="Aptos" pitchFamily="34" charset="-122"/>
                <a:cs typeface="Aptos" pitchFamily="34" charset="-120"/>
              </a:rPr>
              <a:t>«Elegir casos es decidir qué evidencia se va a buscar y qué quedará fuera. Escribir una prueba es volver esa</a:t>
            </a:r>
            <a:endParaRPr lang="en-US" sz="1400" dirty="0"/>
          </a:p>
          <a:p>
            <a:pPr algn="l" indent="0" marL="0">
              <a:lnSpc>
                <a:spcPct val="120000"/>
              </a:lnSpc>
              <a:buNone/>
            </a:pPr>
            <a:r>
              <a:rPr lang="en-US" sz="1400" i="1" dirty="0">
                <a:solidFill>
                  <a:srgbClr val="FFFFFF"/>
                </a:solidFill>
                <a:latin typeface="Aptos" pitchFamily="34" charset="0"/>
                <a:ea typeface="Aptos" pitchFamily="34" charset="-122"/>
                <a:cs typeface="Aptos" pitchFamily="34" charset="-120"/>
              </a:rPr>
              <a:t>decisión comprobable. Un agente puede ayudar en ambas tareas; el criterio se conserva cuando se puede</a:t>
            </a:r>
            <a:endParaRPr lang="en-US" sz="1400" dirty="0"/>
          </a:p>
          <a:p>
            <a:pPr algn="l" indent="0" marL="0">
              <a:lnSpc>
                <a:spcPct val="120000"/>
              </a:lnSpc>
              <a:buNone/>
            </a:pPr>
            <a:r>
              <a:rPr lang="en-US" sz="1400" i="1" dirty="0">
                <a:solidFill>
                  <a:srgbClr val="FFFFFF"/>
                </a:solidFill>
                <a:latin typeface="Aptos" pitchFamily="34" charset="0"/>
                <a:ea typeface="Aptos" pitchFamily="34" charset="-122"/>
                <a:cs typeface="Aptos" pitchFamily="34" charset="-120"/>
              </a:rPr>
              <a:t>explicar de dónde salió cada esperado, qué haría fallar la prueba y qué no se podrá concluir aunque</a:t>
            </a:r>
            <a:endParaRPr lang="en-US" sz="1400" dirty="0"/>
          </a:p>
          <a:p>
            <a:pPr algn="l" indent="0" marL="0">
              <a:lnSpc>
                <a:spcPct val="120000"/>
              </a:lnSpc>
              <a:buNone/>
            </a:pPr>
            <a:r>
              <a:rPr lang="en-US" sz="1400" i="1" dirty="0">
                <a:solidFill>
                  <a:srgbClr val="FFFFFF"/>
                </a:solidFill>
                <a:latin typeface="Aptos" pitchFamily="34" charset="0"/>
                <a:ea typeface="Aptos" pitchFamily="34" charset="-122"/>
                <a:cs typeface="Aptos" pitchFamily="34" charset="-120"/>
              </a:rPr>
              <a:t>termine en verde.»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75</Slides>
  <Notes>75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75</vt:i4>
      </vt:variant>
    </vt:vector>
  </HeadingPairs>
  <TitlesOfParts>
    <vt:vector size="7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vector>
  </TitlesOfParts>
  <Company>AIEP Osorno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Elegir los casos. Escribir la prueba.</dc:title>
  <dc:subject>PRO402 · Clase 09</dc:subject>
  <dc:creator>Diego Obando</dc:creator>
  <cp:lastModifiedBy>Diego Obando</cp:lastModifiedBy>
  <cp:revision>1</cp:revision>
  <dcterms:created xsi:type="dcterms:W3CDTF">2026-09-21T00:36:25Z</dcterms:created>
  <dcterms:modified xsi:type="dcterms:W3CDTF">2026-09-21T00:36:25Z</dcterms:modified>
</cp:coreProperties>
</file>