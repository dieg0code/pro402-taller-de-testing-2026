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image" Target="../media/image-18-3.png"/><Relationship Id="rId4" Type="http://schemas.openxmlformats.org/officeDocument/2006/relationships/image" Target="../media/image-18-4.svg"/><Relationship Id="rId5" Type="http://schemas.openxmlformats.org/officeDocument/2006/relationships/image" Target="../media/image-18-5.png"/><Relationship Id="rId6" Type="http://schemas.openxmlformats.org/officeDocument/2006/relationships/image" Target="../media/image-18-6.sv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image" Target="../media/image-19-3.png"/><Relationship Id="rId4" Type="http://schemas.openxmlformats.org/officeDocument/2006/relationships/image" Target="../media/image-19-4.sv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image" Target="../media/image-20-3.png"/><Relationship Id="rId4" Type="http://schemas.openxmlformats.org/officeDocument/2006/relationships/image" Target="../media/image-20-4.sv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sv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sv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sv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sv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sv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svg"/><Relationship Id="rId3" Type="http://schemas.openxmlformats.org/officeDocument/2006/relationships/image" Target="../media/image-28-3.png"/><Relationship Id="rId4" Type="http://schemas.openxmlformats.org/officeDocument/2006/relationships/image" Target="../media/image-28-4.sv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sv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sv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sv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sv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sv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sv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svg"/><Relationship Id="rId3" Type="http://schemas.openxmlformats.org/officeDocument/2006/relationships/image" Target="../media/image-36-3.png"/><Relationship Id="rId4" Type="http://schemas.openxmlformats.org/officeDocument/2006/relationships/image" Target="../media/image-36-4.svg"/><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svg"/><Relationship Id="rId3" Type="http://schemas.openxmlformats.org/officeDocument/2006/relationships/image" Target="../media/image-37-3.png"/><Relationship Id="rId4" Type="http://schemas.openxmlformats.org/officeDocument/2006/relationships/image" Target="../media/image-37-4.svg"/><Relationship Id="rId5" Type="http://schemas.openxmlformats.org/officeDocument/2006/relationships/slideLayout" Target="../slideLayouts/slideLayout1.xml"/><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sv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sv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3\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01</a:t>
            </a:r>
            <a:endParaRPr lang="en-US" sz="1400" dirty="0"/>
          </a:p>
        </p:txBody>
      </p:sp>
      <p:sp>
        <p:nvSpPr>
          <p:cNvPr id="8" name="Text 5"/>
          <p:cNvSpPr txBox="1"/>
          <p:nvPr/>
        </p:nvSpPr>
        <p:spPr>
          <a:xfrm>
            <a:off x="658368" y="1371600"/>
            <a:ext cx="7680960" cy="237744"/>
          </a:xfrm>
          <a:prstGeom prst="rect">
            <a:avLst/>
          </a:prstGeom>
          <a:noFill/>
          <a:ln/>
        </p:spPr>
        <p:txBody>
          <a:bodyPr wrap="square" lIns="0" tIns="0" rIns="0" bIns="0" rtlCol="0" anchor="t"/>
          <a:lstStyle/>
          <a:p>
            <a:pPr algn="l" indent="0" marL="0">
              <a:buNone/>
            </a:pPr>
            <a:r>
              <a:rPr lang="en-US" sz="1160" b="1" spc="210" kern="0" dirty="0">
                <a:solidFill>
                  <a:srgbClr val="E0BC5A"/>
                </a:solidFill>
                <a:latin typeface="Aptos" pitchFamily="34" charset="0"/>
                <a:ea typeface="Aptos" pitchFamily="34" charset="-122"/>
                <a:cs typeface="Aptos" pitchFamily="34" charset="-120"/>
              </a:rPr>
              <a:t>PRO402 · CLASE 07 · UNIDAD 01</a:t>
            </a:r>
            <a:endParaRPr lang="en-US" sz="1160" dirty="0"/>
          </a:p>
        </p:txBody>
      </p:sp>
      <p:sp>
        <p:nvSpPr>
          <p:cNvPr id="9" name="Text 6"/>
          <p:cNvSpPr txBox="1"/>
          <p:nvPr/>
        </p:nvSpPr>
        <p:spPr>
          <a:xfrm>
            <a:off x="658368" y="1773936"/>
            <a:ext cx="10424160" cy="1792224"/>
          </a:xfrm>
          <a:prstGeom prst="rect">
            <a:avLst/>
          </a:prstGeom>
          <a:noFill/>
          <a:ln/>
        </p:spPr>
        <p:txBody>
          <a:bodyPr wrap="square" lIns="0" tIns="0" rIns="0" bIns="0" rtlCol="0" anchor="t"/>
          <a:lstStyle/>
          <a:p>
            <a:pPr algn="l" indent="0" marL="0">
              <a:lnSpc>
                <a:spcPct val="102000"/>
              </a:lnSpc>
              <a:buNone/>
            </a:pPr>
            <a:r>
              <a:rPr lang="en-US" sz="5000" b="1" dirty="0">
                <a:solidFill>
                  <a:srgbClr val="FFFFFF"/>
                </a:solidFill>
                <a:latin typeface="Aptos Display" pitchFamily="34" charset="0"/>
                <a:ea typeface="Aptos Display" pitchFamily="34" charset="-122"/>
                <a:cs typeface="Aptos Display" pitchFamily="34" charset="-120"/>
              </a:rPr>
              <a:t>Lo que no está escrito</a:t>
            </a:r>
            <a:endParaRPr lang="en-US" sz="5000" dirty="0"/>
          </a:p>
          <a:p>
            <a:pPr algn="l" indent="0" marL="0">
              <a:lnSpc>
                <a:spcPct val="102000"/>
              </a:lnSpc>
              <a:buNone/>
            </a:pPr>
            <a:r>
              <a:rPr lang="en-US" sz="5000" b="1" dirty="0">
                <a:solidFill>
                  <a:srgbClr val="FFFFFF"/>
                </a:solidFill>
                <a:latin typeface="Aptos Display" pitchFamily="34" charset="0"/>
                <a:ea typeface="Aptos Display" pitchFamily="34" charset="-122"/>
                <a:cs typeface="Aptos Display" pitchFamily="34" charset="-120"/>
              </a:rPr>
              <a:t>no se puede probar</a:t>
            </a:r>
            <a:endParaRPr lang="en-US" sz="5000" dirty="0"/>
          </a:p>
        </p:txBody>
      </p:sp>
      <p:sp>
        <p:nvSpPr>
          <p:cNvPr id="10" name="Shape 7"/>
          <p:cNvSpPr/>
          <p:nvPr/>
        </p:nvSpPr>
        <p:spPr>
          <a:xfrm>
            <a:off x="658368" y="3694176"/>
            <a:ext cx="2377440" cy="82296"/>
          </a:xfrm>
          <a:prstGeom prst="rect">
            <a:avLst/>
          </a:prstGeom>
          <a:solidFill>
            <a:srgbClr val="D62027"/>
          </a:solidFill>
          <a:ln w="12700">
            <a:solidFill>
              <a:srgbClr val="D62027"/>
            </a:solidFill>
            <a:prstDash val="solid"/>
          </a:ln>
        </p:spPr>
      </p:sp>
      <p:sp>
        <p:nvSpPr>
          <p:cNvPr id="11" name="Text 8"/>
          <p:cNvSpPr txBox="1"/>
          <p:nvPr/>
        </p:nvSpPr>
        <p:spPr>
          <a:xfrm>
            <a:off x="658368" y="3986784"/>
            <a:ext cx="9326880" cy="420624"/>
          </a:xfrm>
          <a:prstGeom prst="rect">
            <a:avLst/>
          </a:prstGeom>
          <a:noFill/>
          <a:ln/>
        </p:spPr>
        <p:txBody>
          <a:bodyPr wrap="square" lIns="0" tIns="0" rIns="0" bIns="0" rtlCol="0" anchor="t"/>
          <a:lstStyle/>
          <a:p>
            <a:pPr algn="l" indent="0" marL="0">
              <a:buNone/>
            </a:pPr>
            <a:r>
              <a:rPr lang="en-US" sz="2000" dirty="0">
                <a:solidFill>
                  <a:srgbClr val="E6EEF7"/>
                </a:solidFill>
                <a:latin typeface="Aptos" pitchFamily="34" charset="0"/>
                <a:ea typeface="Aptos" pitchFamily="34" charset="-122"/>
                <a:cs typeface="Aptos" pitchFamily="34" charset="-120"/>
              </a:rPr>
              <a:t>El ciclo de vida, la base de prueba y la documentación que la sostiene</a:t>
            </a:r>
            <a:endParaRPr lang="en-US" sz="2000" dirty="0"/>
          </a:p>
        </p:txBody>
      </p:sp>
      <p:sp>
        <p:nvSpPr>
          <p:cNvPr id="12" name="Shape 9"/>
          <p:cNvSpPr/>
          <p:nvPr/>
        </p:nvSpPr>
        <p:spPr>
          <a:xfrm>
            <a:off x="658368" y="4718304"/>
            <a:ext cx="10874959" cy="0"/>
          </a:xfrm>
          <a:prstGeom prst="line">
            <a:avLst/>
          </a:prstGeom>
          <a:noFill/>
          <a:ln w="12700">
            <a:solidFill>
              <a:srgbClr val="2C4A66"/>
            </a:solidFill>
            <a:prstDash val="solid"/>
            <a:headEnd type="none"/>
            <a:tailEnd type="none"/>
          </a:ln>
        </p:spPr>
      </p:sp>
      <p:sp>
        <p:nvSpPr>
          <p:cNvPr id="13" name="Text 10"/>
          <p:cNvSpPr txBox="1"/>
          <p:nvPr/>
        </p:nvSpPr>
        <p:spPr>
          <a:xfrm>
            <a:off x="658368" y="4919472"/>
            <a:ext cx="3108960" cy="182880"/>
          </a:xfrm>
          <a:prstGeom prst="rect">
            <a:avLst/>
          </a:prstGeom>
          <a:noFill/>
          <a:ln/>
        </p:spPr>
        <p:txBody>
          <a:bodyPr wrap="square" lIns="0" tIns="0" rIns="0" bIns="0" rtlCol="0" anchor="t"/>
          <a:lstStyle/>
          <a:p>
            <a:pPr algn="l" indent="0" marL="0">
              <a:buNone/>
            </a:pPr>
            <a:r>
              <a:rPr lang="en-US" sz="940" b="1" spc="150" kern="0" dirty="0">
                <a:solidFill>
                  <a:srgbClr val="8AA0B6"/>
                </a:solidFill>
                <a:latin typeface="Aptos" pitchFamily="34" charset="0"/>
                <a:ea typeface="Aptos" pitchFamily="34" charset="-122"/>
                <a:cs typeface="Aptos" pitchFamily="34" charset="-120"/>
              </a:rPr>
              <a:t>FECHA</a:t>
            </a:r>
            <a:endParaRPr lang="en-US" sz="940" dirty="0"/>
          </a:p>
        </p:txBody>
      </p:sp>
      <p:sp>
        <p:nvSpPr>
          <p:cNvPr id="14" name="Text 11"/>
          <p:cNvSpPr txBox="1"/>
          <p:nvPr/>
        </p:nvSpPr>
        <p:spPr>
          <a:xfrm>
            <a:off x="658368" y="5157216"/>
            <a:ext cx="3291840" cy="310896"/>
          </a:xfrm>
          <a:prstGeom prst="rect">
            <a:avLst/>
          </a:prstGeom>
          <a:noFill/>
          <a:ln/>
        </p:spPr>
        <p:txBody>
          <a:bodyPr wrap="square" lIns="0" tIns="0" rIns="0" bIns="0" rtlCol="0" anchor="t"/>
          <a:lstStyle/>
          <a:p>
            <a:pPr algn="l" indent="0" marL="0">
              <a:buNone/>
            </a:pPr>
            <a:r>
              <a:rPr lang="en-US" sz="1450" b="1" dirty="0">
                <a:solidFill>
                  <a:srgbClr val="FFFFFF"/>
                </a:solidFill>
                <a:latin typeface="Aptos" pitchFamily="34" charset="0"/>
                <a:ea typeface="Aptos" pitchFamily="34" charset="-122"/>
                <a:cs typeface="Aptos" pitchFamily="34" charset="-120"/>
              </a:rPr>
              <a:t>Lunes 7 de septiembre de 2026</a:t>
            </a:r>
            <a:endParaRPr lang="en-US" sz="1450" dirty="0"/>
          </a:p>
        </p:txBody>
      </p:sp>
      <p:sp>
        <p:nvSpPr>
          <p:cNvPr id="15" name="Shape 12"/>
          <p:cNvSpPr/>
          <p:nvPr/>
        </p:nvSpPr>
        <p:spPr>
          <a:xfrm>
            <a:off x="3968496" y="4882896"/>
            <a:ext cx="0" cy="603504"/>
          </a:xfrm>
          <a:prstGeom prst="line">
            <a:avLst/>
          </a:prstGeom>
          <a:noFill/>
          <a:ln w="12700">
            <a:solidFill>
              <a:srgbClr val="2C4A66"/>
            </a:solidFill>
            <a:prstDash val="solid"/>
            <a:headEnd type="none"/>
            <a:tailEnd type="none"/>
          </a:ln>
        </p:spPr>
      </p:sp>
      <p:sp>
        <p:nvSpPr>
          <p:cNvPr id="16" name="Text 13"/>
          <p:cNvSpPr txBox="1"/>
          <p:nvPr/>
        </p:nvSpPr>
        <p:spPr>
          <a:xfrm>
            <a:off x="4224528" y="4919472"/>
            <a:ext cx="3108960" cy="182880"/>
          </a:xfrm>
          <a:prstGeom prst="rect">
            <a:avLst/>
          </a:prstGeom>
          <a:noFill/>
          <a:ln/>
        </p:spPr>
        <p:txBody>
          <a:bodyPr wrap="square" lIns="0" tIns="0" rIns="0" bIns="0" rtlCol="0" anchor="t"/>
          <a:lstStyle/>
          <a:p>
            <a:pPr algn="l" indent="0" marL="0">
              <a:buNone/>
            </a:pPr>
            <a:r>
              <a:rPr lang="en-US" sz="940" b="1" spc="150" kern="0" dirty="0">
                <a:solidFill>
                  <a:srgbClr val="8AA0B6"/>
                </a:solidFill>
                <a:latin typeface="Aptos" pitchFamily="34" charset="0"/>
                <a:ea typeface="Aptos" pitchFamily="34" charset="-122"/>
                <a:cs typeface="Aptos" pitchFamily="34" charset="-120"/>
              </a:rPr>
              <a:t>HORARIO</a:t>
            </a:r>
            <a:endParaRPr lang="en-US" sz="940" dirty="0"/>
          </a:p>
        </p:txBody>
      </p:sp>
      <p:sp>
        <p:nvSpPr>
          <p:cNvPr id="17" name="Text 14"/>
          <p:cNvSpPr txBox="1"/>
          <p:nvPr/>
        </p:nvSpPr>
        <p:spPr>
          <a:xfrm>
            <a:off x="4224528" y="5157216"/>
            <a:ext cx="3291840" cy="310896"/>
          </a:xfrm>
          <a:prstGeom prst="rect">
            <a:avLst/>
          </a:prstGeom>
          <a:noFill/>
          <a:ln/>
        </p:spPr>
        <p:txBody>
          <a:bodyPr wrap="square" lIns="0" tIns="0" rIns="0" bIns="0" rtlCol="0" anchor="t"/>
          <a:lstStyle/>
          <a:p>
            <a:pPr algn="l" indent="0" marL="0">
              <a:buNone/>
            </a:pPr>
            <a:r>
              <a:rPr lang="en-US" sz="1450" b="1" dirty="0">
                <a:solidFill>
                  <a:srgbClr val="FFFFFF"/>
                </a:solidFill>
                <a:latin typeface="Aptos" pitchFamily="34" charset="0"/>
                <a:ea typeface="Aptos" pitchFamily="34" charset="-122"/>
                <a:cs typeface="Aptos" pitchFamily="34" charset="-120"/>
              </a:rPr>
              <a:t>08:30 – 10:50 · 140 minutos</a:t>
            </a:r>
            <a:endParaRPr lang="en-US" sz="1450" dirty="0"/>
          </a:p>
        </p:txBody>
      </p:sp>
      <p:sp>
        <p:nvSpPr>
          <p:cNvPr id="18" name="Shape 15"/>
          <p:cNvSpPr/>
          <p:nvPr/>
        </p:nvSpPr>
        <p:spPr>
          <a:xfrm>
            <a:off x="7534656" y="4882896"/>
            <a:ext cx="0" cy="603504"/>
          </a:xfrm>
          <a:prstGeom prst="line">
            <a:avLst/>
          </a:prstGeom>
          <a:noFill/>
          <a:ln w="12700">
            <a:solidFill>
              <a:srgbClr val="2C4A66"/>
            </a:solidFill>
            <a:prstDash val="solid"/>
            <a:headEnd type="none"/>
            <a:tailEnd type="none"/>
          </a:ln>
        </p:spPr>
      </p:sp>
      <p:sp>
        <p:nvSpPr>
          <p:cNvPr id="19" name="Text 16"/>
          <p:cNvSpPr txBox="1"/>
          <p:nvPr/>
        </p:nvSpPr>
        <p:spPr>
          <a:xfrm>
            <a:off x="7790688" y="4919472"/>
            <a:ext cx="3108960" cy="182880"/>
          </a:xfrm>
          <a:prstGeom prst="rect">
            <a:avLst/>
          </a:prstGeom>
          <a:noFill/>
          <a:ln/>
        </p:spPr>
        <p:txBody>
          <a:bodyPr wrap="square" lIns="0" tIns="0" rIns="0" bIns="0" rtlCol="0" anchor="t"/>
          <a:lstStyle/>
          <a:p>
            <a:pPr algn="l" indent="0" marL="0">
              <a:buNone/>
            </a:pPr>
            <a:r>
              <a:rPr lang="en-US" sz="940" b="1" spc="150" kern="0" dirty="0">
                <a:solidFill>
                  <a:srgbClr val="8AA0B6"/>
                </a:solidFill>
                <a:latin typeface="Aptos" pitchFamily="34" charset="0"/>
                <a:ea typeface="Aptos" pitchFamily="34" charset="-122"/>
                <a:cs typeface="Aptos" pitchFamily="34" charset="-120"/>
              </a:rPr>
              <a:t>DOCENTE</a:t>
            </a:r>
            <a:endParaRPr lang="en-US" sz="940" dirty="0"/>
          </a:p>
        </p:txBody>
      </p:sp>
      <p:sp>
        <p:nvSpPr>
          <p:cNvPr id="20" name="Text 17"/>
          <p:cNvSpPr txBox="1"/>
          <p:nvPr/>
        </p:nvSpPr>
        <p:spPr>
          <a:xfrm>
            <a:off x="7790688" y="5157216"/>
            <a:ext cx="3291840" cy="310896"/>
          </a:xfrm>
          <a:prstGeom prst="rect">
            <a:avLst/>
          </a:prstGeom>
          <a:noFill/>
          <a:ln/>
        </p:spPr>
        <p:txBody>
          <a:bodyPr wrap="square" lIns="0" tIns="0" rIns="0" bIns="0" rtlCol="0" anchor="t"/>
          <a:lstStyle/>
          <a:p>
            <a:pPr algn="l" indent="0" marL="0">
              <a:buNone/>
            </a:pPr>
            <a:r>
              <a:rPr lang="en-US" sz="1450" b="1" dirty="0">
                <a:solidFill>
                  <a:srgbClr val="FFFFFF"/>
                </a:solidFill>
                <a:latin typeface="Aptos" pitchFamily="34" charset="0"/>
                <a:ea typeface="Aptos" pitchFamily="34" charset="-122"/>
                <a:cs typeface="Aptos" pitchFamily="34" charset="-120"/>
              </a:rPr>
              <a:t>Diego Obando</a:t>
            </a:r>
            <a:endParaRPr lang="en-US" sz="1450" dirty="0"/>
          </a:p>
        </p:txBody>
      </p:sp>
      <p:sp>
        <p:nvSpPr>
          <p:cNvPr id="21" name="Text 18"/>
          <p:cNvSpPr txBox="1"/>
          <p:nvPr/>
        </p:nvSpPr>
        <p:spPr>
          <a:xfrm>
            <a:off x="658368" y="5870448"/>
            <a:ext cx="10424160" cy="237744"/>
          </a:xfrm>
          <a:prstGeom prst="rect">
            <a:avLst/>
          </a:prstGeom>
          <a:noFill/>
          <a:ln/>
        </p:spPr>
        <p:txBody>
          <a:bodyPr wrap="square" lIns="0" tIns="0" rIns="0" bIns="0" rtlCol="0" anchor="t"/>
          <a:lstStyle/>
          <a:p>
            <a:pPr algn="l" indent="0" marL="0">
              <a:buNone/>
            </a:pPr>
            <a:r>
              <a:rPr lang="en-US" sz="1200" dirty="0">
                <a:solidFill>
                  <a:srgbClr val="7FC9B4"/>
                </a:solidFill>
                <a:latin typeface="Aptos" pitchFamily="34" charset="0"/>
                <a:ea typeface="Aptos" pitchFamily="34" charset="-122"/>
                <a:cs typeface="Aptos" pitchFamily="34" charset="-120"/>
              </a:rPr>
              <a:t>Marco de referencia:  ISO/IEC/IEEE 29119-2 y 29119-3:2021  ·  ISO/IEC 25010:2023  ·  Ley 21.719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02</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PUNTO DE PARTIDA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El hallazgo que atravesó todas las barreras</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La sesión anterior terminó con un dato personal expuesto en la salida del sistema. Estaba en la línea más corta del archivo y nadie lo marcó.</a:t>
            </a:r>
            <a:endParaRPr lang="en-US" sz="1450" dirty="0"/>
          </a:p>
        </p:txBody>
      </p:sp>
      <p:sp>
        <p:nvSpPr>
          <p:cNvPr id="11" name="Shape 8"/>
          <p:cNvSpPr/>
          <p:nvPr/>
        </p:nvSpPr>
        <p:spPr>
          <a:xfrm>
            <a:off x="658368" y="2286000"/>
            <a:ext cx="5943600" cy="1060704"/>
          </a:xfrm>
          <a:prstGeom prst="roundRect">
            <a:avLst>
              <a:gd name="adj" fmla="val 3448"/>
            </a:avLst>
          </a:prstGeom>
          <a:solidFill>
            <a:srgbClr val="102A43"/>
          </a:solidFill>
          <a:ln w="12700">
            <a:solidFill>
              <a:srgbClr val="102A43"/>
            </a:solidFill>
            <a:prstDash val="solid"/>
          </a:ln>
        </p:spPr>
      </p:sp>
      <p:sp>
        <p:nvSpPr>
          <p:cNvPr id="12" name="Shape 9"/>
          <p:cNvSpPr/>
          <p:nvPr/>
        </p:nvSpPr>
        <p:spPr>
          <a:xfrm>
            <a:off x="786384" y="2395728"/>
            <a:ext cx="568756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468880"/>
            <a:ext cx="546811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src/curso.py · la línea en cuestión</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5522976" cy="310896"/>
          </a:xfrm>
          <a:prstGeom prst="rect">
            <a:avLst/>
          </a:prstGeom>
        </p:spPr>
      </p:pic>
      <p:sp>
        <p:nvSpPr>
          <p:cNvPr id="15" name="Text 11"/>
          <p:cNvSpPr txBox="1"/>
          <p:nvPr/>
        </p:nvSpPr>
        <p:spPr>
          <a:xfrm>
            <a:off x="6693408" y="2286000"/>
            <a:ext cx="4937760" cy="201168"/>
          </a:xfrm>
          <a:prstGeom prst="rect">
            <a:avLst/>
          </a:prstGeom>
          <a:noFill/>
          <a:ln/>
        </p:spPr>
        <p:txBody>
          <a:bodyPr wrap="square" lIns="0" tIns="0" rIns="0" bIns="0" rtlCol="0" anchor="t"/>
          <a:lstStyle/>
          <a:p>
            <a:pPr algn="l" indent="0" marL="0">
              <a:buNone/>
            </a:pPr>
            <a:r>
              <a:rPr lang="en-US" sz="960" b="1" spc="130" kern="0" dirty="0">
                <a:solidFill>
                  <a:srgbClr val="52606D"/>
                </a:solidFill>
                <a:latin typeface="Aptos" pitchFamily="34" charset="0"/>
                <a:ea typeface="Aptos" pitchFamily="34" charset="-122"/>
                <a:cs typeface="Aptos" pitchFamily="34" charset="-120"/>
              </a:rPr>
              <a:t>POR DÓNDE PASÓ SIN QUE NADIE LO VIERA</a:t>
            </a:r>
            <a:endParaRPr lang="en-US" sz="960" dirty="0"/>
          </a:p>
        </p:txBody>
      </p:sp>
      <p:sp>
        <p:nvSpPr>
          <p:cNvPr id="16" name="Text 12"/>
          <p:cNvSpPr txBox="1"/>
          <p:nvPr/>
        </p:nvSpPr>
        <p:spPr>
          <a:xfrm>
            <a:off x="6693408" y="2615184"/>
            <a:ext cx="274320" cy="274320"/>
          </a:xfrm>
          <a:prstGeom prst="rect">
            <a:avLst/>
          </a:prstGeom>
          <a:noFill/>
          <a:ln/>
        </p:spPr>
        <p:txBody>
          <a:bodyPr wrap="square" lIns="0" tIns="0" rIns="0" bIns="0" rtlCol="0" anchor="t"/>
          <a:lstStyle/>
          <a:p>
            <a:pPr algn="l" indent="0" marL="0">
              <a:buNone/>
            </a:pPr>
            <a:r>
              <a:rPr lang="en-US" sz="1400" b="1" dirty="0">
                <a:solidFill>
                  <a:srgbClr val="B3181E"/>
                </a:solidFill>
                <a:latin typeface="Aptos" pitchFamily="34" charset="0"/>
                <a:ea typeface="Aptos" pitchFamily="34" charset="-122"/>
                <a:cs typeface="Aptos" pitchFamily="34" charset="-120"/>
              </a:rPr>
              <a:t>✕</a:t>
            </a:r>
            <a:endParaRPr lang="en-US" sz="1400" dirty="0"/>
          </a:p>
        </p:txBody>
      </p:sp>
      <p:sp>
        <p:nvSpPr>
          <p:cNvPr id="17" name="Text 13"/>
          <p:cNvSpPr txBox="1"/>
          <p:nvPr/>
        </p:nvSpPr>
        <p:spPr>
          <a:xfrm>
            <a:off x="7022592" y="2615184"/>
            <a:ext cx="1371600" cy="274320"/>
          </a:xfrm>
          <a:prstGeom prst="rect">
            <a:avLst/>
          </a:prstGeom>
          <a:noFill/>
          <a:ln/>
        </p:spPr>
        <p:txBody>
          <a:bodyPr wrap="square" lIns="0" tIns="0" rIns="0" bIns="0" rtlCol="0" anchor="t"/>
          <a:lstStyle/>
          <a:p>
            <a:pPr algn="l" indent="0" marL="0">
              <a:buNone/>
            </a:pPr>
            <a:r>
              <a:rPr lang="en-US" sz="1300" b="1" dirty="0">
                <a:solidFill>
                  <a:srgbClr val="243B53"/>
                </a:solidFill>
                <a:latin typeface="Aptos" pitchFamily="34" charset="0"/>
                <a:ea typeface="Aptos" pitchFamily="34" charset="-122"/>
                <a:cs typeface="Aptos" pitchFamily="34" charset="-120"/>
              </a:rPr>
              <a:t>Tipado</a:t>
            </a:r>
            <a:endParaRPr lang="en-US" sz="1300" dirty="0"/>
          </a:p>
        </p:txBody>
      </p:sp>
      <p:sp>
        <p:nvSpPr>
          <p:cNvPr id="18" name="Text 14"/>
          <p:cNvSpPr txBox="1"/>
          <p:nvPr/>
        </p:nvSpPr>
        <p:spPr>
          <a:xfrm>
            <a:off x="8375904" y="2633472"/>
            <a:ext cx="3108960" cy="274320"/>
          </a:xfrm>
          <a:prstGeom prst="rect">
            <a:avLst/>
          </a:prstGeom>
          <a:noFill/>
          <a:ln/>
        </p:spPr>
        <p:txBody>
          <a:bodyPr wrap="square" lIns="0" tIns="0" rIns="0" bIns="0" rtlCol="0" anchor="t"/>
          <a:lstStyle/>
          <a:p>
            <a:pPr algn="l" indent="0" marL="0">
              <a:buNone/>
            </a:pPr>
            <a:r>
              <a:rPr lang="en-US" sz="1180" dirty="0">
                <a:solidFill>
                  <a:srgbClr val="52606D"/>
                </a:solidFill>
                <a:latin typeface="Aptos" pitchFamily="34" charset="0"/>
                <a:ea typeface="Aptos" pitchFamily="34" charset="-122"/>
                <a:cs typeface="Aptos" pitchFamily="34" charset="-120"/>
              </a:rPr>
              <a:t>pyrefly: el tipo str es correcto</a:t>
            </a:r>
            <a:endParaRPr lang="en-US" sz="1180" dirty="0"/>
          </a:p>
        </p:txBody>
      </p:sp>
      <p:sp>
        <p:nvSpPr>
          <p:cNvPr id="19" name="Text 15"/>
          <p:cNvSpPr txBox="1"/>
          <p:nvPr/>
        </p:nvSpPr>
        <p:spPr>
          <a:xfrm>
            <a:off x="6693408" y="3017520"/>
            <a:ext cx="274320" cy="274320"/>
          </a:xfrm>
          <a:prstGeom prst="rect">
            <a:avLst/>
          </a:prstGeom>
          <a:noFill/>
          <a:ln/>
        </p:spPr>
        <p:txBody>
          <a:bodyPr wrap="square" lIns="0" tIns="0" rIns="0" bIns="0" rtlCol="0" anchor="t"/>
          <a:lstStyle/>
          <a:p>
            <a:pPr algn="l" indent="0" marL="0">
              <a:buNone/>
            </a:pPr>
            <a:r>
              <a:rPr lang="en-US" sz="1400" b="1" dirty="0">
                <a:solidFill>
                  <a:srgbClr val="B3181E"/>
                </a:solidFill>
                <a:latin typeface="Aptos" pitchFamily="34" charset="0"/>
                <a:ea typeface="Aptos" pitchFamily="34" charset="-122"/>
                <a:cs typeface="Aptos" pitchFamily="34" charset="-120"/>
              </a:rPr>
              <a:t>✕</a:t>
            </a:r>
            <a:endParaRPr lang="en-US" sz="1400" dirty="0"/>
          </a:p>
        </p:txBody>
      </p:sp>
      <p:sp>
        <p:nvSpPr>
          <p:cNvPr id="20" name="Text 16"/>
          <p:cNvSpPr txBox="1"/>
          <p:nvPr/>
        </p:nvSpPr>
        <p:spPr>
          <a:xfrm>
            <a:off x="7022592" y="3017520"/>
            <a:ext cx="1371600" cy="274320"/>
          </a:xfrm>
          <a:prstGeom prst="rect">
            <a:avLst/>
          </a:prstGeom>
          <a:noFill/>
          <a:ln/>
        </p:spPr>
        <p:txBody>
          <a:bodyPr wrap="square" lIns="0" tIns="0" rIns="0" bIns="0" rtlCol="0" anchor="t"/>
          <a:lstStyle/>
          <a:p>
            <a:pPr algn="l" indent="0" marL="0">
              <a:buNone/>
            </a:pPr>
            <a:r>
              <a:rPr lang="en-US" sz="1300" b="1" dirty="0">
                <a:solidFill>
                  <a:srgbClr val="243B53"/>
                </a:solidFill>
                <a:latin typeface="Aptos" pitchFamily="34" charset="0"/>
                <a:ea typeface="Aptos" pitchFamily="34" charset="-122"/>
                <a:cs typeface="Aptos" pitchFamily="34" charset="-120"/>
              </a:rPr>
              <a:t>Linter</a:t>
            </a:r>
            <a:endParaRPr lang="en-US" sz="1300" dirty="0"/>
          </a:p>
        </p:txBody>
      </p:sp>
      <p:sp>
        <p:nvSpPr>
          <p:cNvPr id="21" name="Text 17"/>
          <p:cNvSpPr txBox="1"/>
          <p:nvPr/>
        </p:nvSpPr>
        <p:spPr>
          <a:xfrm>
            <a:off x="8375904" y="3035808"/>
            <a:ext cx="3108960" cy="274320"/>
          </a:xfrm>
          <a:prstGeom prst="rect">
            <a:avLst/>
          </a:prstGeom>
          <a:noFill/>
          <a:ln/>
        </p:spPr>
        <p:txBody>
          <a:bodyPr wrap="square" lIns="0" tIns="0" rIns="0" bIns="0" rtlCol="0" anchor="t"/>
          <a:lstStyle/>
          <a:p>
            <a:pPr algn="l" indent="0" marL="0">
              <a:buNone/>
            </a:pPr>
            <a:r>
              <a:rPr lang="en-US" sz="1180" dirty="0">
                <a:solidFill>
                  <a:srgbClr val="52606D"/>
                </a:solidFill>
                <a:latin typeface="Aptos" pitchFamily="34" charset="0"/>
                <a:ea typeface="Aptos" pitchFamily="34" charset="-122"/>
                <a:cs typeface="Aptos" pitchFamily="34" charset="-120"/>
              </a:rPr>
              <a:t>ruff: ningún patrón coincide</a:t>
            </a:r>
            <a:endParaRPr lang="en-US" sz="1180" dirty="0"/>
          </a:p>
        </p:txBody>
      </p:sp>
      <p:sp>
        <p:nvSpPr>
          <p:cNvPr id="22" name="Text 18"/>
          <p:cNvSpPr txBox="1"/>
          <p:nvPr/>
        </p:nvSpPr>
        <p:spPr>
          <a:xfrm>
            <a:off x="6693408" y="3419856"/>
            <a:ext cx="274320" cy="274320"/>
          </a:xfrm>
          <a:prstGeom prst="rect">
            <a:avLst/>
          </a:prstGeom>
          <a:noFill/>
          <a:ln/>
        </p:spPr>
        <p:txBody>
          <a:bodyPr wrap="square" lIns="0" tIns="0" rIns="0" bIns="0" rtlCol="0" anchor="t"/>
          <a:lstStyle/>
          <a:p>
            <a:pPr algn="l" indent="0" marL="0">
              <a:buNone/>
            </a:pPr>
            <a:r>
              <a:rPr lang="en-US" sz="1400" b="1" dirty="0">
                <a:solidFill>
                  <a:srgbClr val="B3181E"/>
                </a:solidFill>
                <a:latin typeface="Aptos" pitchFamily="34" charset="0"/>
                <a:ea typeface="Aptos" pitchFamily="34" charset="-122"/>
                <a:cs typeface="Aptos" pitchFamily="34" charset="-120"/>
              </a:rPr>
              <a:t>✕</a:t>
            </a:r>
            <a:endParaRPr lang="en-US" sz="1400" dirty="0"/>
          </a:p>
        </p:txBody>
      </p:sp>
      <p:sp>
        <p:nvSpPr>
          <p:cNvPr id="23" name="Text 19"/>
          <p:cNvSpPr txBox="1"/>
          <p:nvPr/>
        </p:nvSpPr>
        <p:spPr>
          <a:xfrm>
            <a:off x="7022592" y="3419856"/>
            <a:ext cx="1371600" cy="274320"/>
          </a:xfrm>
          <a:prstGeom prst="rect">
            <a:avLst/>
          </a:prstGeom>
          <a:noFill/>
          <a:ln/>
        </p:spPr>
        <p:txBody>
          <a:bodyPr wrap="square" lIns="0" tIns="0" rIns="0" bIns="0" rtlCol="0" anchor="t"/>
          <a:lstStyle/>
          <a:p>
            <a:pPr algn="l" indent="0" marL="0">
              <a:buNone/>
            </a:pPr>
            <a:r>
              <a:rPr lang="en-US" sz="1300" b="1" dirty="0">
                <a:solidFill>
                  <a:srgbClr val="243B53"/>
                </a:solidFill>
                <a:latin typeface="Aptos" pitchFamily="34" charset="0"/>
                <a:ea typeface="Aptos" pitchFamily="34" charset="-122"/>
                <a:cs typeface="Aptos" pitchFamily="34" charset="-120"/>
              </a:rPr>
              <a:t>Revisión</a:t>
            </a:r>
            <a:endParaRPr lang="en-US" sz="1300" dirty="0"/>
          </a:p>
        </p:txBody>
      </p:sp>
      <p:sp>
        <p:nvSpPr>
          <p:cNvPr id="24" name="Text 20"/>
          <p:cNvSpPr txBox="1"/>
          <p:nvPr/>
        </p:nvSpPr>
        <p:spPr>
          <a:xfrm>
            <a:off x="8375904" y="3438144"/>
            <a:ext cx="3108960" cy="274320"/>
          </a:xfrm>
          <a:prstGeom prst="rect">
            <a:avLst/>
          </a:prstGeom>
          <a:noFill/>
          <a:ln/>
        </p:spPr>
        <p:txBody>
          <a:bodyPr wrap="square" lIns="0" tIns="0" rIns="0" bIns="0" rtlCol="0" anchor="t"/>
          <a:lstStyle/>
          <a:p>
            <a:pPr algn="l" indent="0" marL="0">
              <a:buNone/>
            </a:pPr>
            <a:r>
              <a:rPr lang="en-US" sz="1180" dirty="0">
                <a:solidFill>
                  <a:srgbClr val="52606D"/>
                </a:solidFill>
                <a:latin typeface="Aptos" pitchFamily="34" charset="0"/>
                <a:ea typeface="Aptos" pitchFamily="34" charset="-122"/>
                <a:cs typeface="Aptos" pitchFamily="34" charset="-120"/>
              </a:rPr>
              <a:t>tres auditorías, dos herramientas</a:t>
            </a:r>
            <a:endParaRPr lang="en-US" sz="1180" dirty="0"/>
          </a:p>
        </p:txBody>
      </p:sp>
      <p:sp>
        <p:nvSpPr>
          <p:cNvPr id="25" name="Shape 21"/>
          <p:cNvSpPr/>
          <p:nvPr/>
        </p:nvSpPr>
        <p:spPr>
          <a:xfrm>
            <a:off x="658368" y="3822192"/>
            <a:ext cx="10874959" cy="1572768"/>
          </a:xfrm>
          <a:prstGeom prst="rect">
            <a:avLst/>
          </a:prstGeom>
          <a:solidFill>
            <a:srgbClr val="F2E7D9"/>
          </a:solidFill>
          <a:ln w="12700">
            <a:solidFill>
              <a:srgbClr val="F2E7D9"/>
            </a:solidFill>
            <a:prstDash val="solid"/>
          </a:ln>
        </p:spPr>
      </p:sp>
      <p:sp>
        <p:nvSpPr>
          <p:cNvPr id="26" name="Shape 22"/>
          <p:cNvSpPr/>
          <p:nvPr/>
        </p:nvSpPr>
        <p:spPr>
          <a:xfrm>
            <a:off x="658368" y="3822192"/>
            <a:ext cx="64008" cy="1572768"/>
          </a:xfrm>
          <a:prstGeom prst="rect">
            <a:avLst/>
          </a:prstGeom>
          <a:solidFill>
            <a:srgbClr val="B3181E"/>
          </a:solidFill>
          <a:ln w="12700">
            <a:solidFill>
              <a:srgbClr val="B3181E"/>
            </a:solidFill>
            <a:prstDash val="solid"/>
          </a:ln>
        </p:spPr>
      </p:sp>
      <p:sp>
        <p:nvSpPr>
          <p:cNvPr id="27" name="Text 23"/>
          <p:cNvSpPr txBox="1"/>
          <p:nvPr/>
        </p:nvSpPr>
        <p:spPr>
          <a:xfrm>
            <a:off x="987552" y="4023360"/>
            <a:ext cx="54864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LA EXPLICACIÓN, Y LA PREGUNTA QUE ABRE</a:t>
            </a:r>
            <a:endParaRPr lang="en-US" sz="960" dirty="0"/>
          </a:p>
        </p:txBody>
      </p:sp>
      <p:sp>
        <p:nvSpPr>
          <p:cNvPr id="28" name="Text 24"/>
          <p:cNvSpPr txBox="1"/>
          <p:nvPr/>
        </p:nvSpPr>
        <p:spPr>
          <a:xfrm>
            <a:off x="987552" y="4315968"/>
            <a:ext cx="6766560" cy="914400"/>
          </a:xfrm>
          <a:prstGeom prst="rect">
            <a:avLst/>
          </a:prstGeom>
          <a:noFill/>
          <a:ln/>
        </p:spPr>
        <p:txBody>
          <a:bodyPr wrap="square" lIns="0" tIns="0" rIns="0" bIns="0" rtlCol="0" anchor="t"/>
          <a:lstStyle/>
          <a:p>
            <a:pPr algn="l" indent="0" marL="0">
              <a:lnSpc>
                <a:spcPct val="120000"/>
              </a:lnSpc>
              <a:buNone/>
            </a:pPr>
            <a:r>
              <a:rPr lang="en-US" sz="1360" dirty="0">
                <a:solidFill>
                  <a:srgbClr val="243B53"/>
                </a:solidFill>
                <a:latin typeface="Aptos" pitchFamily="34" charset="0"/>
                <a:ea typeface="Aptos" pitchFamily="34" charset="-122"/>
                <a:cs typeface="Aptos" pitchFamily="34" charset="-120"/>
              </a:rPr>
              <a:t>Ninguna barrera falló por incompetencia. Las tres hicieron lo único que podían hacer:</a:t>
            </a:r>
            <a:endParaRPr lang="en-US" sz="1360" dirty="0"/>
          </a:p>
          <a:p>
            <a:pPr algn="l" indent="0" marL="0">
              <a:lnSpc>
                <a:spcPct val="120000"/>
              </a:lnSpc>
              <a:buNone/>
            </a:pPr>
            <a:r>
              <a:rPr lang="en-US" sz="1360" dirty="0">
                <a:solidFill>
                  <a:srgbClr val="243B53"/>
                </a:solidFill>
                <a:latin typeface="Aptos" pitchFamily="34" charset="0"/>
                <a:ea typeface="Aptos" pitchFamily="34" charset="-122"/>
                <a:cs typeface="Aptos" pitchFamily="34" charset="-120"/>
              </a:rPr>
              <a:t>comparar el código contra lo que estaba escrito. El problema es que sobre este dato</a:t>
            </a:r>
            <a:endParaRPr lang="en-US" sz="1360" dirty="0"/>
          </a:p>
          <a:p>
            <a:pPr algn="l" indent="0" marL="0">
              <a:lnSpc>
                <a:spcPct val="120000"/>
              </a:lnSpc>
              <a:buNone/>
            </a:pPr>
            <a:r>
              <a:rPr lang="en-US" sz="1360" dirty="0">
                <a:solidFill>
                  <a:srgbClr val="243B53"/>
                </a:solidFill>
                <a:latin typeface="Aptos" pitchFamily="34" charset="0"/>
                <a:ea typeface="Aptos" pitchFamily="34" charset="-122"/>
                <a:cs typeface="Aptos" pitchFamily="34" charset="-120"/>
              </a:rPr>
              <a:t>no había nada escrito, en ningún documento del proyecto.</a:t>
            </a:r>
            <a:endParaRPr lang="en-US" sz="1360" dirty="0"/>
          </a:p>
        </p:txBody>
      </p:sp>
      <p:sp>
        <p:nvSpPr>
          <p:cNvPr id="29" name="Shape 25"/>
          <p:cNvSpPr/>
          <p:nvPr/>
        </p:nvSpPr>
        <p:spPr>
          <a:xfrm>
            <a:off x="7772400" y="4041648"/>
            <a:ext cx="0" cy="1152144"/>
          </a:xfrm>
          <a:prstGeom prst="line">
            <a:avLst/>
          </a:prstGeom>
          <a:noFill/>
          <a:ln w="12700">
            <a:solidFill>
              <a:srgbClr val="D8CFC4"/>
            </a:solidFill>
            <a:prstDash val="solid"/>
            <a:headEnd type="none"/>
            <a:tailEnd type="none"/>
          </a:ln>
        </p:spPr>
      </p:sp>
      <p:sp>
        <p:nvSpPr>
          <p:cNvPr id="30" name="Text 26"/>
          <p:cNvSpPr txBox="1"/>
          <p:nvPr/>
        </p:nvSpPr>
        <p:spPr>
          <a:xfrm>
            <a:off x="8101584" y="4114800"/>
            <a:ext cx="3108960" cy="1042416"/>
          </a:xfrm>
          <a:prstGeom prst="rect">
            <a:avLst/>
          </a:prstGeom>
          <a:noFill/>
          <a:ln/>
        </p:spPr>
        <p:txBody>
          <a:bodyPr wrap="square" lIns="0" tIns="0" rIns="0" bIns="0" rtlCol="0" anchor="t"/>
          <a:lstStyle/>
          <a:p>
            <a:pPr algn="l" indent="0" marL="0">
              <a:lnSpc>
                <a:spcPct val="108000"/>
              </a:lnSpc>
              <a:buNone/>
            </a:pPr>
            <a:r>
              <a:rPr lang="en-US" sz="2100" b="1" dirty="0">
                <a:solidFill>
                  <a:srgbClr val="B3181E"/>
                </a:solidFill>
                <a:latin typeface="Aptos Display" pitchFamily="34" charset="0"/>
                <a:ea typeface="Aptos Display" pitchFamily="34" charset="-122"/>
                <a:cs typeface="Aptos Display" pitchFamily="34" charset="-120"/>
              </a:rPr>
              <a:t>¿Dónde y cuándo</a:t>
            </a:r>
            <a:endParaRPr lang="en-US" sz="2100" dirty="0"/>
          </a:p>
          <a:p>
            <a:pPr algn="l" indent="0" marL="0">
              <a:lnSpc>
                <a:spcPct val="108000"/>
              </a:lnSpc>
              <a:buNone/>
            </a:pPr>
            <a:r>
              <a:rPr lang="en-US" sz="2100" b="1" dirty="0">
                <a:solidFill>
                  <a:srgbClr val="B3181E"/>
                </a:solidFill>
                <a:latin typeface="Aptos Display" pitchFamily="34" charset="0"/>
                <a:ea typeface="Aptos Display" pitchFamily="34" charset="-122"/>
                <a:cs typeface="Aptos Display" pitchFamily="34" charset="-120"/>
              </a:rPr>
              <a:t>se escribe</a:t>
            </a:r>
            <a:endParaRPr lang="en-US" sz="2100" dirty="0"/>
          </a:p>
          <a:p>
            <a:pPr algn="l" indent="0" marL="0">
              <a:lnSpc>
                <a:spcPct val="108000"/>
              </a:lnSpc>
              <a:buNone/>
            </a:pPr>
            <a:r>
              <a:rPr lang="en-US" sz="2100" b="1" dirty="0">
                <a:solidFill>
                  <a:srgbClr val="B3181E"/>
                </a:solidFill>
                <a:latin typeface="Aptos Display" pitchFamily="34" charset="0"/>
                <a:ea typeface="Aptos Display" pitchFamily="34" charset="-122"/>
                <a:cs typeface="Aptos Display" pitchFamily="34" charset="-120"/>
              </a:rPr>
              <a:t>ese documento?</a:t>
            </a:r>
            <a:endParaRPr lang="en-US" sz="2100" dirty="0"/>
          </a:p>
        </p:txBody>
      </p:sp>
      <p:sp>
        <p:nvSpPr>
          <p:cNvPr id="31" name="Shape 27"/>
          <p:cNvSpPr/>
          <p:nvPr/>
        </p:nvSpPr>
        <p:spPr>
          <a:xfrm>
            <a:off x="658368" y="5614416"/>
            <a:ext cx="10874959" cy="658368"/>
          </a:xfrm>
          <a:prstGeom prst="rect">
            <a:avLst/>
          </a:prstGeom>
          <a:solidFill>
            <a:srgbClr val="102A43"/>
          </a:solidFill>
          <a:ln w="12700">
            <a:solidFill>
              <a:srgbClr val="102A43"/>
            </a:solidFill>
            <a:prstDash val="solid"/>
          </a:ln>
        </p:spPr>
      </p:sp>
      <p:sp>
        <p:nvSpPr>
          <p:cNvPr id="32" name="Text 28"/>
          <p:cNvSpPr txBox="1"/>
          <p:nvPr/>
        </p:nvSpPr>
        <p:spPr>
          <a:xfrm>
            <a:off x="969264" y="5660136"/>
            <a:ext cx="10253167" cy="566928"/>
          </a:xfrm>
          <a:prstGeom prst="rect">
            <a:avLst/>
          </a:prstGeom>
          <a:noFill/>
          <a:ln/>
        </p:spPr>
        <p:txBody>
          <a:bodyPr wrap="square" lIns="0" tIns="0" rIns="0" bIns="0" rtlCol="0" anchor="ctr"/>
          <a:lstStyle/>
          <a:p>
            <a:pPr algn="ctr" indent="0" marL="0">
              <a:lnSpc>
                <a:spcPct val="112000"/>
              </a:lnSpc>
              <a:buNone/>
            </a:pPr>
            <a:r>
              <a:rPr lang="en-US" sz="1440" b="1" dirty="0">
                <a:solidFill>
                  <a:srgbClr val="FFFFFF"/>
                </a:solidFill>
                <a:latin typeface="Aptos" pitchFamily="34" charset="0"/>
                <a:ea typeface="Aptos" pitchFamily="34" charset="-122"/>
                <a:cs typeface="Aptos" pitchFamily="34" charset="-120"/>
              </a:rPr>
              <a:t>Esa es la pregunta de hoy, y la respuesta llega antes de que exista una sola línea de código.</a:t>
            </a:r>
            <a:endParaRPr lang="en-US" sz="14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03</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MAPA DE LA SESIÓN</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Cuatro pasos que terminan en un requisito escrito</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Cada bloque produce lo que el siguiente necesita. Al final de la sesión, el dato personal que quedó expuesto está corregido y protegido por una prueba.</a:t>
            </a:r>
            <a:endParaRPr lang="en-US" sz="1450" dirty="0"/>
          </a:p>
        </p:txBody>
      </p:sp>
      <p:sp>
        <p:nvSpPr>
          <p:cNvPr id="11" name="Shape 8"/>
          <p:cNvSpPr/>
          <p:nvPr/>
        </p:nvSpPr>
        <p:spPr>
          <a:xfrm>
            <a:off x="658368" y="2286000"/>
            <a:ext cx="2523744" cy="2761488"/>
          </a:xfrm>
          <a:prstGeom prst="rect">
            <a:avLst/>
          </a:prstGeom>
          <a:solidFill>
            <a:srgbClr val="FFFFFF"/>
          </a:solidFill>
          <a:ln w="12700">
            <a:solidFill>
              <a:srgbClr val="FFFFFF"/>
            </a:solidFill>
            <a:prstDash val="solid"/>
          </a:ln>
        </p:spPr>
      </p:sp>
      <p:sp>
        <p:nvSpPr>
          <p:cNvPr id="12" name="Shape 9"/>
          <p:cNvSpPr/>
          <p:nvPr/>
        </p:nvSpPr>
        <p:spPr>
          <a:xfrm>
            <a:off x="658368" y="2286000"/>
            <a:ext cx="2523744" cy="73152"/>
          </a:xfrm>
          <a:prstGeom prst="rect">
            <a:avLst/>
          </a:prstGeom>
          <a:solidFill>
            <a:srgbClr val="102A43"/>
          </a:solidFill>
          <a:ln w="12700">
            <a:solidFill>
              <a:srgbClr val="102A43"/>
            </a:solidFill>
            <a:prstDash val="solid"/>
          </a:ln>
        </p:spPr>
      </p:sp>
      <p:sp>
        <p:nvSpPr>
          <p:cNvPr id="13" name="Shape 10"/>
          <p:cNvSpPr/>
          <p:nvPr/>
        </p:nvSpPr>
        <p:spPr>
          <a:xfrm>
            <a:off x="877824" y="2505456"/>
            <a:ext cx="402336" cy="402336"/>
          </a:xfrm>
          <a:prstGeom prst="ellipse">
            <a:avLst/>
          </a:prstGeom>
          <a:solidFill>
            <a:srgbClr val="102A43"/>
          </a:solidFill>
          <a:ln w="12700">
            <a:solidFill>
              <a:srgbClr val="102A43"/>
            </a:solidFill>
            <a:prstDash val="solid"/>
          </a:ln>
        </p:spPr>
      </p:sp>
      <p:sp>
        <p:nvSpPr>
          <p:cNvPr id="14" name="Text 11"/>
          <p:cNvSpPr txBox="1"/>
          <p:nvPr/>
        </p:nvSpPr>
        <p:spPr>
          <a:xfrm>
            <a:off x="877824" y="250545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5" name="Text 12"/>
          <p:cNvSpPr txBox="1"/>
          <p:nvPr/>
        </p:nvSpPr>
        <p:spPr>
          <a:xfrm>
            <a:off x="877824" y="3035808"/>
            <a:ext cx="2084832" cy="310896"/>
          </a:xfrm>
          <a:prstGeom prst="rect">
            <a:avLst/>
          </a:prstGeom>
          <a:noFill/>
          <a:ln/>
        </p:spPr>
        <p:txBody>
          <a:bodyPr wrap="square" lIns="0" tIns="0" rIns="0" bIns="0" rtlCol="0" anchor="t"/>
          <a:lstStyle/>
          <a:p>
            <a:pPr algn="l" indent="0" marL="0">
              <a:buNone/>
            </a:pPr>
            <a:r>
              <a:rPr lang="en-US" sz="1600" b="1" dirty="0">
                <a:solidFill>
                  <a:srgbClr val="243B53"/>
                </a:solidFill>
                <a:latin typeface="Aptos" pitchFamily="34" charset="0"/>
                <a:ea typeface="Aptos" pitchFamily="34" charset="-122"/>
                <a:cs typeface="Aptos" pitchFamily="34" charset="-120"/>
              </a:rPr>
              <a:t>El ciclo de vida</a:t>
            </a:r>
            <a:endParaRPr lang="en-US" sz="1600" dirty="0"/>
          </a:p>
        </p:txBody>
      </p:sp>
      <p:sp>
        <p:nvSpPr>
          <p:cNvPr id="16" name="Text 13"/>
          <p:cNvSpPr txBox="1"/>
          <p:nvPr/>
        </p:nvSpPr>
        <p:spPr>
          <a:xfrm>
            <a:off x="877824" y="3383280"/>
            <a:ext cx="2084832" cy="201168"/>
          </a:xfrm>
          <a:prstGeom prst="rect">
            <a:avLst/>
          </a:prstGeom>
          <a:noFill/>
          <a:ln/>
        </p:spPr>
        <p:txBody>
          <a:bodyPr wrap="square" lIns="0" tIns="0" rIns="0" bIns="0" rtlCol="0" anchor="t"/>
          <a:lstStyle/>
          <a:p>
            <a:pPr algn="l" indent="0" marL="0">
              <a:buNone/>
            </a:pPr>
            <a:r>
              <a:rPr lang="en-US" sz="1040" b="1" spc="80" kern="0" dirty="0">
                <a:solidFill>
                  <a:srgbClr val="52606D"/>
                </a:solidFill>
                <a:latin typeface="Aptos" pitchFamily="34" charset="0"/>
                <a:ea typeface="Aptos" pitchFamily="34" charset="-122"/>
                <a:cs typeface="Aptos" pitchFamily="34" charset="-120"/>
              </a:rPr>
              <a:t>08:40 · 25 min</a:t>
            </a:r>
            <a:endParaRPr lang="en-US" sz="1040" dirty="0"/>
          </a:p>
        </p:txBody>
      </p:sp>
      <p:sp>
        <p:nvSpPr>
          <p:cNvPr id="17" name="Shape 14"/>
          <p:cNvSpPr/>
          <p:nvPr/>
        </p:nvSpPr>
        <p:spPr>
          <a:xfrm>
            <a:off x="877824" y="3657600"/>
            <a:ext cx="2084832" cy="0"/>
          </a:xfrm>
          <a:prstGeom prst="line">
            <a:avLst/>
          </a:prstGeom>
          <a:noFill/>
          <a:ln w="12700">
            <a:solidFill>
              <a:srgbClr val="D8CFC4"/>
            </a:solidFill>
            <a:prstDash val="solid"/>
            <a:headEnd type="none"/>
            <a:tailEnd type="none"/>
          </a:ln>
        </p:spPr>
      </p:sp>
      <p:sp>
        <p:nvSpPr>
          <p:cNvPr id="18" name="Text 15"/>
          <p:cNvSpPr txBox="1"/>
          <p:nvPr/>
        </p:nvSpPr>
        <p:spPr>
          <a:xfrm>
            <a:off x="877824" y="3785616"/>
            <a:ext cx="2084832" cy="1133856"/>
          </a:xfrm>
          <a:prstGeom prst="rect">
            <a:avLst/>
          </a:prstGeom>
          <a:noFill/>
          <a:ln/>
        </p:spPr>
        <p:txBody>
          <a:bodyPr wrap="square" lIns="0" tIns="0" rIns="0" bIns="0" rtlCol="0" anchor="t"/>
          <a:lstStyle/>
          <a:p>
            <a:pPr algn="l" indent="0" marL="0">
              <a:lnSpc>
                <a:spcPct val="116000"/>
              </a:lnSpc>
              <a:buNone/>
            </a:pPr>
            <a:r>
              <a:rPr lang="en-US" sz="1160" dirty="0">
                <a:solidFill>
                  <a:srgbClr val="52606D"/>
                </a:solidFill>
                <a:latin typeface="Aptos" pitchFamily="34" charset="0"/>
                <a:ea typeface="Aptos" pitchFamily="34" charset="-122"/>
                <a:cs typeface="Aptos" pitchFamily="34" charset="-120"/>
              </a:rPr>
              <a:t>Qué prueba admite cada etapa, y por qué un error en el requisito no lo detecta ninguna prueba posterior.</a:t>
            </a:r>
            <a:endParaRPr lang="en-US" sz="1160" dirty="0"/>
          </a:p>
        </p:txBody>
      </p:sp>
      <p:sp>
        <p:nvSpPr>
          <p:cNvPr id="19" name="Shape 16"/>
          <p:cNvSpPr/>
          <p:nvPr/>
        </p:nvSpPr>
        <p:spPr>
          <a:xfrm>
            <a:off x="3209544" y="3657600"/>
            <a:ext cx="201168" cy="0"/>
          </a:xfrm>
          <a:prstGeom prst="line">
            <a:avLst/>
          </a:prstGeom>
          <a:noFill/>
          <a:ln w="12700">
            <a:solidFill>
              <a:srgbClr val="52606D"/>
            </a:solidFill>
            <a:prstDash val="solid"/>
            <a:headEnd type="none"/>
            <a:tailEnd type="triangle"/>
          </a:ln>
        </p:spPr>
      </p:sp>
      <p:sp>
        <p:nvSpPr>
          <p:cNvPr id="20" name="Shape 17"/>
          <p:cNvSpPr/>
          <p:nvPr/>
        </p:nvSpPr>
        <p:spPr>
          <a:xfrm>
            <a:off x="3438144" y="2286000"/>
            <a:ext cx="2523744" cy="2761488"/>
          </a:xfrm>
          <a:prstGeom prst="rect">
            <a:avLst/>
          </a:prstGeom>
          <a:solidFill>
            <a:srgbClr val="FFFFFF"/>
          </a:solidFill>
          <a:ln w="12700">
            <a:solidFill>
              <a:srgbClr val="FFFFFF"/>
            </a:solidFill>
            <a:prstDash val="solid"/>
          </a:ln>
        </p:spPr>
      </p:sp>
      <p:sp>
        <p:nvSpPr>
          <p:cNvPr id="21" name="Shape 18"/>
          <p:cNvSpPr/>
          <p:nvPr/>
        </p:nvSpPr>
        <p:spPr>
          <a:xfrm>
            <a:off x="3438144" y="2286000"/>
            <a:ext cx="2523744" cy="73152"/>
          </a:xfrm>
          <a:prstGeom prst="rect">
            <a:avLst/>
          </a:prstGeom>
          <a:solidFill>
            <a:srgbClr val="255A4C"/>
          </a:solidFill>
          <a:ln w="12700">
            <a:solidFill>
              <a:srgbClr val="255A4C"/>
            </a:solidFill>
            <a:prstDash val="solid"/>
          </a:ln>
        </p:spPr>
      </p:sp>
      <p:sp>
        <p:nvSpPr>
          <p:cNvPr id="22" name="Shape 19"/>
          <p:cNvSpPr/>
          <p:nvPr/>
        </p:nvSpPr>
        <p:spPr>
          <a:xfrm>
            <a:off x="3657600" y="2505456"/>
            <a:ext cx="402336" cy="402336"/>
          </a:xfrm>
          <a:prstGeom prst="ellipse">
            <a:avLst/>
          </a:prstGeom>
          <a:solidFill>
            <a:srgbClr val="255A4C"/>
          </a:solidFill>
          <a:ln w="12700">
            <a:solidFill>
              <a:srgbClr val="255A4C"/>
            </a:solidFill>
            <a:prstDash val="solid"/>
          </a:ln>
        </p:spPr>
      </p:sp>
      <p:sp>
        <p:nvSpPr>
          <p:cNvPr id="23" name="Text 20"/>
          <p:cNvSpPr txBox="1"/>
          <p:nvPr/>
        </p:nvSpPr>
        <p:spPr>
          <a:xfrm>
            <a:off x="3657600" y="250545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24" name="Text 21"/>
          <p:cNvSpPr txBox="1"/>
          <p:nvPr/>
        </p:nvSpPr>
        <p:spPr>
          <a:xfrm>
            <a:off x="3657600" y="3035808"/>
            <a:ext cx="2084832" cy="310896"/>
          </a:xfrm>
          <a:prstGeom prst="rect">
            <a:avLst/>
          </a:prstGeom>
          <a:noFill/>
          <a:ln/>
        </p:spPr>
        <p:txBody>
          <a:bodyPr wrap="square" lIns="0" tIns="0" rIns="0" bIns="0" rtlCol="0" anchor="t"/>
          <a:lstStyle/>
          <a:p>
            <a:pPr algn="l" indent="0" marL="0">
              <a:buNone/>
            </a:pPr>
            <a:r>
              <a:rPr lang="en-US" sz="1600" b="1" dirty="0">
                <a:solidFill>
                  <a:srgbClr val="243B53"/>
                </a:solidFill>
                <a:latin typeface="Aptos" pitchFamily="34" charset="0"/>
                <a:ea typeface="Aptos" pitchFamily="34" charset="-122"/>
                <a:cs typeface="Aptos" pitchFamily="34" charset="-120"/>
              </a:rPr>
              <a:t>La base de prueba</a:t>
            </a:r>
            <a:endParaRPr lang="en-US" sz="1600" dirty="0"/>
          </a:p>
        </p:txBody>
      </p:sp>
      <p:sp>
        <p:nvSpPr>
          <p:cNvPr id="25" name="Text 22"/>
          <p:cNvSpPr txBox="1"/>
          <p:nvPr/>
        </p:nvSpPr>
        <p:spPr>
          <a:xfrm>
            <a:off x="3657600" y="3383280"/>
            <a:ext cx="2084832" cy="201168"/>
          </a:xfrm>
          <a:prstGeom prst="rect">
            <a:avLst/>
          </a:prstGeom>
          <a:noFill/>
          <a:ln/>
        </p:spPr>
        <p:txBody>
          <a:bodyPr wrap="square" lIns="0" tIns="0" rIns="0" bIns="0" rtlCol="0" anchor="t"/>
          <a:lstStyle/>
          <a:p>
            <a:pPr algn="l" indent="0" marL="0">
              <a:buNone/>
            </a:pPr>
            <a:r>
              <a:rPr lang="en-US" sz="1040" b="1" spc="80" kern="0" dirty="0">
                <a:solidFill>
                  <a:srgbClr val="52606D"/>
                </a:solidFill>
                <a:latin typeface="Aptos" pitchFamily="34" charset="0"/>
                <a:ea typeface="Aptos" pitchFamily="34" charset="-122"/>
                <a:cs typeface="Aptos" pitchFamily="34" charset="-120"/>
              </a:rPr>
              <a:t>09:05 · 30 min</a:t>
            </a:r>
            <a:endParaRPr lang="en-US" sz="1040" dirty="0"/>
          </a:p>
        </p:txBody>
      </p:sp>
      <p:sp>
        <p:nvSpPr>
          <p:cNvPr id="26" name="Shape 23"/>
          <p:cNvSpPr/>
          <p:nvPr/>
        </p:nvSpPr>
        <p:spPr>
          <a:xfrm>
            <a:off x="3657600" y="3657600"/>
            <a:ext cx="2084832" cy="0"/>
          </a:xfrm>
          <a:prstGeom prst="line">
            <a:avLst/>
          </a:prstGeom>
          <a:noFill/>
          <a:ln w="12700">
            <a:solidFill>
              <a:srgbClr val="D8CFC4"/>
            </a:solidFill>
            <a:prstDash val="solid"/>
            <a:headEnd type="none"/>
            <a:tailEnd type="none"/>
          </a:ln>
        </p:spPr>
      </p:sp>
      <p:sp>
        <p:nvSpPr>
          <p:cNvPr id="27" name="Text 24"/>
          <p:cNvSpPr txBox="1"/>
          <p:nvPr/>
        </p:nvSpPr>
        <p:spPr>
          <a:xfrm>
            <a:off x="3657600" y="3785616"/>
            <a:ext cx="2084832" cy="1133856"/>
          </a:xfrm>
          <a:prstGeom prst="rect">
            <a:avLst/>
          </a:prstGeom>
          <a:noFill/>
          <a:ln/>
        </p:spPr>
        <p:txBody>
          <a:bodyPr wrap="square" lIns="0" tIns="0" rIns="0" bIns="0" rtlCol="0" anchor="t"/>
          <a:lstStyle/>
          <a:p>
            <a:pPr algn="l" indent="0" marL="0">
              <a:lnSpc>
                <a:spcPct val="116000"/>
              </a:lnSpc>
              <a:buNone/>
            </a:pPr>
            <a:r>
              <a:rPr lang="en-US" sz="1160" dirty="0">
                <a:solidFill>
                  <a:srgbClr val="52606D"/>
                </a:solidFill>
                <a:latin typeface="Aptos" pitchFamily="34" charset="0"/>
                <a:ea typeface="Aptos" pitchFamily="34" charset="-122"/>
                <a:cs typeface="Aptos" pitchFamily="34" charset="-120"/>
              </a:rPr>
              <a:t>El nombre de lo que faltaba, los documentos que define la norma, y qué le pasa a una suite sin ellos.</a:t>
            </a:r>
            <a:endParaRPr lang="en-US" sz="1160" dirty="0"/>
          </a:p>
        </p:txBody>
      </p:sp>
      <p:sp>
        <p:nvSpPr>
          <p:cNvPr id="28" name="Shape 25"/>
          <p:cNvSpPr/>
          <p:nvPr/>
        </p:nvSpPr>
        <p:spPr>
          <a:xfrm>
            <a:off x="5989320" y="3657600"/>
            <a:ext cx="201168" cy="0"/>
          </a:xfrm>
          <a:prstGeom prst="line">
            <a:avLst/>
          </a:prstGeom>
          <a:noFill/>
          <a:ln w="12700">
            <a:solidFill>
              <a:srgbClr val="52606D"/>
            </a:solidFill>
            <a:prstDash val="solid"/>
            <a:headEnd type="none"/>
            <a:tailEnd type="triangle"/>
          </a:ln>
        </p:spPr>
      </p:sp>
      <p:sp>
        <p:nvSpPr>
          <p:cNvPr id="29" name="Shape 26"/>
          <p:cNvSpPr/>
          <p:nvPr/>
        </p:nvSpPr>
        <p:spPr>
          <a:xfrm>
            <a:off x="6217920" y="2286000"/>
            <a:ext cx="2523744" cy="2761488"/>
          </a:xfrm>
          <a:prstGeom prst="rect">
            <a:avLst/>
          </a:prstGeom>
          <a:solidFill>
            <a:srgbClr val="FFFFFF"/>
          </a:solidFill>
          <a:ln w="12700">
            <a:solidFill>
              <a:srgbClr val="FFFFFF"/>
            </a:solidFill>
            <a:prstDash val="solid"/>
          </a:ln>
        </p:spPr>
      </p:sp>
      <p:sp>
        <p:nvSpPr>
          <p:cNvPr id="30" name="Shape 27"/>
          <p:cNvSpPr/>
          <p:nvPr/>
        </p:nvSpPr>
        <p:spPr>
          <a:xfrm>
            <a:off x="6217920" y="2286000"/>
            <a:ext cx="2523744" cy="73152"/>
          </a:xfrm>
          <a:prstGeom prst="rect">
            <a:avLst/>
          </a:prstGeom>
          <a:solidFill>
            <a:srgbClr val="8A6A12"/>
          </a:solidFill>
          <a:ln w="12700">
            <a:solidFill>
              <a:srgbClr val="8A6A12"/>
            </a:solidFill>
            <a:prstDash val="solid"/>
          </a:ln>
        </p:spPr>
      </p:sp>
      <p:sp>
        <p:nvSpPr>
          <p:cNvPr id="31" name="Shape 28"/>
          <p:cNvSpPr/>
          <p:nvPr/>
        </p:nvSpPr>
        <p:spPr>
          <a:xfrm>
            <a:off x="6437376" y="2505456"/>
            <a:ext cx="402336" cy="402336"/>
          </a:xfrm>
          <a:prstGeom prst="ellipse">
            <a:avLst/>
          </a:prstGeom>
          <a:solidFill>
            <a:srgbClr val="8A6A12"/>
          </a:solidFill>
          <a:ln w="12700">
            <a:solidFill>
              <a:srgbClr val="8A6A12"/>
            </a:solidFill>
            <a:prstDash val="solid"/>
          </a:ln>
        </p:spPr>
      </p:sp>
      <p:sp>
        <p:nvSpPr>
          <p:cNvPr id="32" name="Text 29"/>
          <p:cNvSpPr txBox="1"/>
          <p:nvPr/>
        </p:nvSpPr>
        <p:spPr>
          <a:xfrm>
            <a:off x="6437376" y="250545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33" name="Text 30"/>
          <p:cNvSpPr txBox="1"/>
          <p:nvPr/>
        </p:nvSpPr>
        <p:spPr>
          <a:xfrm>
            <a:off x="6437376" y="3035808"/>
            <a:ext cx="2084832" cy="310896"/>
          </a:xfrm>
          <a:prstGeom prst="rect">
            <a:avLst/>
          </a:prstGeom>
          <a:noFill/>
          <a:ln/>
        </p:spPr>
        <p:txBody>
          <a:bodyPr wrap="square" lIns="0" tIns="0" rIns="0" bIns="0" rtlCol="0" anchor="t"/>
          <a:lstStyle/>
          <a:p>
            <a:pPr algn="l" indent="0" marL="0">
              <a:buNone/>
            </a:pPr>
            <a:r>
              <a:rPr lang="en-US" sz="1600" b="1" dirty="0">
                <a:solidFill>
                  <a:srgbClr val="243B53"/>
                </a:solidFill>
                <a:latin typeface="Aptos" pitchFamily="34" charset="0"/>
                <a:ea typeface="Aptos" pitchFamily="34" charset="-122"/>
                <a:cs typeface="Aptos" pitchFamily="34" charset="-120"/>
              </a:rPr>
              <a:t>El umbral</a:t>
            </a:r>
            <a:endParaRPr lang="en-US" sz="1600" dirty="0"/>
          </a:p>
        </p:txBody>
      </p:sp>
      <p:sp>
        <p:nvSpPr>
          <p:cNvPr id="34" name="Text 31"/>
          <p:cNvSpPr txBox="1"/>
          <p:nvPr/>
        </p:nvSpPr>
        <p:spPr>
          <a:xfrm>
            <a:off x="6437376" y="3383280"/>
            <a:ext cx="2084832" cy="201168"/>
          </a:xfrm>
          <a:prstGeom prst="rect">
            <a:avLst/>
          </a:prstGeom>
          <a:noFill/>
          <a:ln/>
        </p:spPr>
        <p:txBody>
          <a:bodyPr wrap="square" lIns="0" tIns="0" rIns="0" bIns="0" rtlCol="0" anchor="t"/>
          <a:lstStyle/>
          <a:p>
            <a:pPr algn="l" indent="0" marL="0">
              <a:buNone/>
            </a:pPr>
            <a:r>
              <a:rPr lang="en-US" sz="1040" b="1" spc="80" kern="0" dirty="0">
                <a:solidFill>
                  <a:srgbClr val="52606D"/>
                </a:solidFill>
                <a:latin typeface="Aptos" pitchFamily="34" charset="0"/>
                <a:ea typeface="Aptos" pitchFamily="34" charset="-122"/>
                <a:cs typeface="Aptos" pitchFamily="34" charset="-120"/>
              </a:rPr>
              <a:t>09:45 · 30 min</a:t>
            </a:r>
            <a:endParaRPr lang="en-US" sz="1040" dirty="0"/>
          </a:p>
        </p:txBody>
      </p:sp>
      <p:sp>
        <p:nvSpPr>
          <p:cNvPr id="35" name="Shape 32"/>
          <p:cNvSpPr/>
          <p:nvPr/>
        </p:nvSpPr>
        <p:spPr>
          <a:xfrm>
            <a:off x="6437376" y="3657600"/>
            <a:ext cx="2084832" cy="0"/>
          </a:xfrm>
          <a:prstGeom prst="line">
            <a:avLst/>
          </a:prstGeom>
          <a:noFill/>
          <a:ln w="12700">
            <a:solidFill>
              <a:srgbClr val="D8CFC4"/>
            </a:solidFill>
            <a:prstDash val="solid"/>
            <a:headEnd type="none"/>
            <a:tailEnd type="none"/>
          </a:ln>
        </p:spPr>
      </p:sp>
      <p:sp>
        <p:nvSpPr>
          <p:cNvPr id="36" name="Text 33"/>
          <p:cNvSpPr txBox="1"/>
          <p:nvPr/>
        </p:nvSpPr>
        <p:spPr>
          <a:xfrm>
            <a:off x="6437376" y="3785616"/>
            <a:ext cx="2084832" cy="1133856"/>
          </a:xfrm>
          <a:prstGeom prst="rect">
            <a:avLst/>
          </a:prstGeom>
          <a:noFill/>
          <a:ln/>
        </p:spPr>
        <p:txBody>
          <a:bodyPr wrap="square" lIns="0" tIns="0" rIns="0" bIns="0" rtlCol="0" anchor="t"/>
          <a:lstStyle/>
          <a:p>
            <a:pPr algn="l" indent="0" marL="0">
              <a:lnSpc>
                <a:spcPct val="116000"/>
              </a:lnSpc>
              <a:buNone/>
            </a:pPr>
            <a:r>
              <a:rPr lang="en-US" sz="1160" dirty="0">
                <a:solidFill>
                  <a:srgbClr val="52606D"/>
                </a:solidFill>
                <a:latin typeface="Aptos" pitchFamily="34" charset="0"/>
                <a:ea typeface="Aptos" pitchFamily="34" charset="-122"/>
                <a:cs typeface="Aptos" pitchFamily="34" charset="-120"/>
              </a:rPr>
              <a:t>De una característica de calidad a un criterio con magnitud, método y umbral que sí se puede probar.</a:t>
            </a:r>
            <a:endParaRPr lang="en-US" sz="1160" dirty="0"/>
          </a:p>
        </p:txBody>
      </p:sp>
      <p:sp>
        <p:nvSpPr>
          <p:cNvPr id="37" name="Shape 34"/>
          <p:cNvSpPr/>
          <p:nvPr/>
        </p:nvSpPr>
        <p:spPr>
          <a:xfrm>
            <a:off x="8769096" y="3657600"/>
            <a:ext cx="201168" cy="0"/>
          </a:xfrm>
          <a:prstGeom prst="line">
            <a:avLst/>
          </a:prstGeom>
          <a:noFill/>
          <a:ln w="12700">
            <a:solidFill>
              <a:srgbClr val="52606D"/>
            </a:solidFill>
            <a:prstDash val="solid"/>
            <a:headEnd type="none"/>
            <a:tailEnd type="triangle"/>
          </a:ln>
        </p:spPr>
      </p:sp>
      <p:sp>
        <p:nvSpPr>
          <p:cNvPr id="38" name="Shape 35"/>
          <p:cNvSpPr/>
          <p:nvPr/>
        </p:nvSpPr>
        <p:spPr>
          <a:xfrm>
            <a:off x="8997696" y="2286000"/>
            <a:ext cx="2523744" cy="2761488"/>
          </a:xfrm>
          <a:prstGeom prst="rect">
            <a:avLst/>
          </a:prstGeom>
          <a:solidFill>
            <a:srgbClr val="FFFFFF"/>
          </a:solidFill>
          <a:ln w="12700">
            <a:solidFill>
              <a:srgbClr val="FFFFFF"/>
            </a:solidFill>
            <a:prstDash val="solid"/>
          </a:ln>
        </p:spPr>
      </p:sp>
      <p:sp>
        <p:nvSpPr>
          <p:cNvPr id="39" name="Shape 36"/>
          <p:cNvSpPr/>
          <p:nvPr/>
        </p:nvSpPr>
        <p:spPr>
          <a:xfrm>
            <a:off x="8997696" y="2286000"/>
            <a:ext cx="2523744" cy="73152"/>
          </a:xfrm>
          <a:prstGeom prst="rect">
            <a:avLst/>
          </a:prstGeom>
          <a:solidFill>
            <a:srgbClr val="B3181E"/>
          </a:solidFill>
          <a:ln w="12700">
            <a:solidFill>
              <a:srgbClr val="B3181E"/>
            </a:solidFill>
            <a:prstDash val="solid"/>
          </a:ln>
        </p:spPr>
      </p:sp>
      <p:sp>
        <p:nvSpPr>
          <p:cNvPr id="40" name="Shape 37"/>
          <p:cNvSpPr/>
          <p:nvPr/>
        </p:nvSpPr>
        <p:spPr>
          <a:xfrm>
            <a:off x="9217152" y="2505456"/>
            <a:ext cx="402336" cy="402336"/>
          </a:xfrm>
          <a:prstGeom prst="ellipse">
            <a:avLst/>
          </a:prstGeom>
          <a:solidFill>
            <a:srgbClr val="B3181E"/>
          </a:solidFill>
          <a:ln w="12700">
            <a:solidFill>
              <a:srgbClr val="B3181E"/>
            </a:solidFill>
            <a:prstDash val="solid"/>
          </a:ln>
        </p:spPr>
      </p:sp>
      <p:sp>
        <p:nvSpPr>
          <p:cNvPr id="41" name="Text 38"/>
          <p:cNvSpPr txBox="1"/>
          <p:nvPr/>
        </p:nvSpPr>
        <p:spPr>
          <a:xfrm>
            <a:off x="9217152" y="250545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42" name="Text 39"/>
          <p:cNvSpPr txBox="1"/>
          <p:nvPr/>
        </p:nvSpPr>
        <p:spPr>
          <a:xfrm>
            <a:off x="9217152" y="3035808"/>
            <a:ext cx="2084832" cy="310896"/>
          </a:xfrm>
          <a:prstGeom prst="rect">
            <a:avLst/>
          </a:prstGeom>
          <a:noFill/>
          <a:ln/>
        </p:spPr>
        <p:txBody>
          <a:bodyPr wrap="square" lIns="0" tIns="0" rIns="0" bIns="0" rtlCol="0" anchor="t"/>
          <a:lstStyle/>
          <a:p>
            <a:pPr algn="l" indent="0" marL="0">
              <a:buNone/>
            </a:pPr>
            <a:r>
              <a:rPr lang="en-US" sz="1600" b="1" dirty="0">
                <a:solidFill>
                  <a:srgbClr val="243B53"/>
                </a:solidFill>
                <a:latin typeface="Aptos" pitchFamily="34" charset="0"/>
                <a:ea typeface="Aptos" pitchFamily="34" charset="-122"/>
                <a:cs typeface="Aptos" pitchFamily="34" charset="-120"/>
              </a:rPr>
              <a:t>La finalidad</a:t>
            </a:r>
            <a:endParaRPr lang="en-US" sz="1600" dirty="0"/>
          </a:p>
        </p:txBody>
      </p:sp>
      <p:sp>
        <p:nvSpPr>
          <p:cNvPr id="43" name="Text 40"/>
          <p:cNvSpPr txBox="1"/>
          <p:nvPr/>
        </p:nvSpPr>
        <p:spPr>
          <a:xfrm>
            <a:off x="9217152" y="3383280"/>
            <a:ext cx="2084832" cy="201168"/>
          </a:xfrm>
          <a:prstGeom prst="rect">
            <a:avLst/>
          </a:prstGeom>
          <a:noFill/>
          <a:ln/>
        </p:spPr>
        <p:txBody>
          <a:bodyPr wrap="square" lIns="0" tIns="0" rIns="0" bIns="0" rtlCol="0" anchor="t"/>
          <a:lstStyle/>
          <a:p>
            <a:pPr algn="l" indent="0" marL="0">
              <a:buNone/>
            </a:pPr>
            <a:r>
              <a:rPr lang="en-US" sz="1040" b="1" spc="80" kern="0" dirty="0">
                <a:solidFill>
                  <a:srgbClr val="52606D"/>
                </a:solidFill>
                <a:latin typeface="Aptos" pitchFamily="34" charset="0"/>
                <a:ea typeface="Aptos" pitchFamily="34" charset="-122"/>
                <a:cs typeface="Aptos" pitchFamily="34" charset="-120"/>
              </a:rPr>
              <a:t>10:15 · 25 min</a:t>
            </a:r>
            <a:endParaRPr lang="en-US" sz="1040" dirty="0"/>
          </a:p>
        </p:txBody>
      </p:sp>
      <p:sp>
        <p:nvSpPr>
          <p:cNvPr id="44" name="Shape 41"/>
          <p:cNvSpPr/>
          <p:nvPr/>
        </p:nvSpPr>
        <p:spPr>
          <a:xfrm>
            <a:off x="9217152" y="3657600"/>
            <a:ext cx="2084832" cy="0"/>
          </a:xfrm>
          <a:prstGeom prst="line">
            <a:avLst/>
          </a:prstGeom>
          <a:noFill/>
          <a:ln w="12700">
            <a:solidFill>
              <a:srgbClr val="D8CFC4"/>
            </a:solidFill>
            <a:prstDash val="solid"/>
            <a:headEnd type="none"/>
            <a:tailEnd type="none"/>
          </a:ln>
        </p:spPr>
      </p:sp>
      <p:sp>
        <p:nvSpPr>
          <p:cNvPr id="45" name="Text 42"/>
          <p:cNvSpPr txBox="1"/>
          <p:nvPr/>
        </p:nvSpPr>
        <p:spPr>
          <a:xfrm>
            <a:off x="9217152" y="3785616"/>
            <a:ext cx="2084832" cy="1133856"/>
          </a:xfrm>
          <a:prstGeom prst="rect">
            <a:avLst/>
          </a:prstGeom>
          <a:noFill/>
          <a:ln/>
        </p:spPr>
        <p:txBody>
          <a:bodyPr wrap="square" lIns="0" tIns="0" rIns="0" bIns="0" rtlCol="0" anchor="t"/>
          <a:lstStyle/>
          <a:p>
            <a:pPr algn="l" indent="0" marL="0">
              <a:lnSpc>
                <a:spcPct val="116000"/>
              </a:lnSpc>
              <a:buNone/>
            </a:pPr>
            <a:r>
              <a:rPr lang="en-US" sz="1160" dirty="0">
                <a:solidFill>
                  <a:srgbClr val="52606D"/>
                </a:solidFill>
                <a:latin typeface="Aptos" pitchFamily="34" charset="0"/>
                <a:ea typeface="Aptos" pitchFamily="34" charset="-122"/>
                <a:cs typeface="Aptos" pitchFamily="34" charset="-120"/>
              </a:rPr>
              <a:t>Quién fijó ese umbral: la ley, y por qué exige decidirlo antes de que el sistema exista.</a:t>
            </a:r>
            <a:endParaRPr lang="en-US" sz="1160" dirty="0"/>
          </a:p>
        </p:txBody>
      </p:sp>
      <p:sp>
        <p:nvSpPr>
          <p:cNvPr id="46" name="Text 43"/>
          <p:cNvSpPr txBox="1"/>
          <p:nvPr/>
        </p:nvSpPr>
        <p:spPr>
          <a:xfrm>
            <a:off x="658368" y="5175504"/>
            <a:ext cx="3657600" cy="219456"/>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Pausa 09:35 – 09:45</a:t>
            </a:r>
            <a:endParaRPr lang="en-US" sz="1140" dirty="0"/>
          </a:p>
        </p:txBody>
      </p:sp>
      <p:sp>
        <p:nvSpPr>
          <p:cNvPr id="47" name="Shape 44"/>
          <p:cNvSpPr/>
          <p:nvPr/>
        </p:nvSpPr>
        <p:spPr>
          <a:xfrm>
            <a:off x="658368" y="5614416"/>
            <a:ext cx="10874959" cy="658368"/>
          </a:xfrm>
          <a:prstGeom prst="rect">
            <a:avLst/>
          </a:prstGeom>
          <a:solidFill>
            <a:srgbClr val="102A43"/>
          </a:solidFill>
          <a:ln w="12700">
            <a:solidFill>
              <a:srgbClr val="102A43"/>
            </a:solidFill>
            <a:prstDash val="solid"/>
          </a:ln>
        </p:spPr>
      </p:sp>
      <p:sp>
        <p:nvSpPr>
          <p:cNvPr id="48" name="Text 45"/>
          <p:cNvSpPr txBox="1"/>
          <p:nvPr/>
        </p:nvSpPr>
        <p:spPr>
          <a:xfrm>
            <a:off x="969264" y="5660136"/>
            <a:ext cx="10253167" cy="566928"/>
          </a:xfrm>
          <a:prstGeom prst="rect">
            <a:avLst/>
          </a:prstGeom>
          <a:noFill/>
          <a:ln/>
        </p:spPr>
        <p:txBody>
          <a:bodyPr wrap="square" lIns="0" tIns="0" rIns="0" bIns="0" rtlCol="0" anchor="ctr"/>
          <a:lstStyle/>
          <a:p>
            <a:pPr algn="ctr" indent="0" marL="0">
              <a:lnSpc>
                <a:spcPct val="112000"/>
              </a:lnSpc>
              <a:buNone/>
            </a:pPr>
            <a:r>
              <a:rPr lang="en-US" sz="1440" b="1" dirty="0">
                <a:solidFill>
                  <a:srgbClr val="FFFFFF"/>
                </a:solidFill>
                <a:latin typeface="Aptos" pitchFamily="34" charset="0"/>
                <a:ea typeface="Aptos" pitchFamily="34" charset="-122"/>
                <a:cs typeface="Aptos" pitchFamily="34" charset="-120"/>
              </a:rPr>
              <a:t>Sales con un documento escrito en tu repositorio, y con la prueba que ese documento hizo posible.</a:t>
            </a:r>
            <a:endParaRPr lang="en-US" sz="14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3\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04</a:t>
            </a:r>
            <a:endParaRPr lang="en-US" sz="1400" dirty="0"/>
          </a:p>
        </p:txBody>
      </p:sp>
      <p:sp>
        <p:nvSpPr>
          <p:cNvPr id="8" name="Text 5"/>
          <p:cNvSpPr txBox="1"/>
          <p:nvPr/>
        </p:nvSpPr>
        <p:spPr>
          <a:xfrm>
            <a:off x="658368" y="1517904"/>
            <a:ext cx="3657600" cy="237744"/>
          </a:xfrm>
          <a:prstGeom prst="rect">
            <a:avLst/>
          </a:prstGeom>
          <a:noFill/>
          <a:ln/>
        </p:spPr>
        <p:txBody>
          <a:bodyPr wrap="square" lIns="0" tIns="0" rIns="0" bIns="0" rtlCol="0" anchor="t"/>
          <a:lstStyle/>
          <a:p>
            <a:pPr algn="l" indent="0" marL="0">
              <a:buNone/>
            </a:pPr>
            <a:r>
              <a:rPr lang="en-US" sz="1140" b="1" spc="210" kern="0" dirty="0">
                <a:solidFill>
                  <a:srgbClr val="E0BC5A"/>
                </a:solidFill>
                <a:latin typeface="Aptos" pitchFamily="34" charset="0"/>
                <a:ea typeface="Aptos" pitchFamily="34" charset="-122"/>
                <a:cs typeface="Aptos" pitchFamily="34" charset="-120"/>
              </a:rPr>
              <a:t>BLOQUE 1</a:t>
            </a:r>
            <a:endParaRPr lang="en-US" sz="1140" dirty="0"/>
          </a:p>
        </p:txBody>
      </p:sp>
      <p:sp>
        <p:nvSpPr>
          <p:cNvPr id="9" name="Text 6"/>
          <p:cNvSpPr txBox="1"/>
          <p:nvPr/>
        </p:nvSpPr>
        <p:spPr>
          <a:xfrm>
            <a:off x="658368" y="1828800"/>
            <a:ext cx="7772400" cy="1700784"/>
          </a:xfrm>
          <a:prstGeom prst="rect">
            <a:avLst/>
          </a:prstGeom>
          <a:noFill/>
          <a:ln/>
        </p:spPr>
        <p:txBody>
          <a:bodyPr wrap="square" lIns="0" tIns="0" rIns="0" bIns="0" rtlCol="0" anchor="t"/>
          <a:lstStyle/>
          <a:p>
            <a:pPr algn="l" indent="0" marL="0">
              <a:lnSpc>
                <a:spcPct val="106000"/>
              </a:lnSpc>
              <a:buNone/>
            </a:pPr>
            <a:r>
              <a:rPr lang="en-US" sz="3800" b="1" dirty="0">
                <a:solidFill>
                  <a:srgbClr val="FFFFFF"/>
                </a:solidFill>
                <a:latin typeface="Aptos Display" pitchFamily="34" charset="0"/>
                <a:ea typeface="Aptos Display" pitchFamily="34" charset="-122"/>
                <a:cs typeface="Aptos Display" pitchFamily="34" charset="-120"/>
              </a:rPr>
              <a:t>Cada etapa admite</a:t>
            </a:r>
            <a:endParaRPr lang="en-US" sz="3800" dirty="0"/>
          </a:p>
          <a:p>
            <a:pPr algn="l" indent="0" marL="0">
              <a:lnSpc>
                <a:spcPct val="106000"/>
              </a:lnSpc>
              <a:buNone/>
            </a:pPr>
            <a:r>
              <a:rPr lang="en-US" sz="3800" b="1" dirty="0">
                <a:solidFill>
                  <a:srgbClr val="FFFFFF"/>
                </a:solidFill>
                <a:latin typeface="Aptos Display" pitchFamily="34" charset="0"/>
                <a:ea typeface="Aptos Display" pitchFamily="34" charset="-122"/>
                <a:cs typeface="Aptos Display" pitchFamily="34" charset="-120"/>
              </a:rPr>
              <a:t>la prueba que su</a:t>
            </a:r>
            <a:endParaRPr lang="en-US" sz="3800" dirty="0"/>
          </a:p>
          <a:p>
            <a:pPr algn="l" indent="0" marL="0">
              <a:lnSpc>
                <a:spcPct val="106000"/>
              </a:lnSpc>
              <a:buNone/>
            </a:pPr>
            <a:r>
              <a:rPr lang="en-US" sz="3800" b="1" dirty="0">
                <a:solidFill>
                  <a:srgbClr val="FFFFFF"/>
                </a:solidFill>
                <a:latin typeface="Aptos Display" pitchFamily="34" charset="0"/>
                <a:ea typeface="Aptos Display" pitchFamily="34" charset="-122"/>
                <a:cs typeface="Aptos Display" pitchFamily="34" charset="-120"/>
              </a:rPr>
              <a:t>material permite</a:t>
            </a:r>
            <a:endParaRPr lang="en-US" sz="3800" dirty="0"/>
          </a:p>
        </p:txBody>
      </p:sp>
      <p:sp>
        <p:nvSpPr>
          <p:cNvPr id="10" name="Shape 7"/>
          <p:cNvSpPr/>
          <p:nvPr/>
        </p:nvSpPr>
        <p:spPr>
          <a:xfrm>
            <a:off x="658368" y="3675888"/>
            <a:ext cx="2011680" cy="73152"/>
          </a:xfrm>
          <a:prstGeom prst="rect">
            <a:avLst/>
          </a:prstGeom>
          <a:solidFill>
            <a:srgbClr val="D62027"/>
          </a:solidFill>
          <a:ln w="12700">
            <a:solidFill>
              <a:srgbClr val="D62027"/>
            </a:solidFill>
            <a:prstDash val="solid"/>
          </a:ln>
        </p:spPr>
      </p:sp>
      <p:sp>
        <p:nvSpPr>
          <p:cNvPr id="11" name="Text 8"/>
          <p:cNvSpPr txBox="1"/>
          <p:nvPr/>
        </p:nvSpPr>
        <p:spPr>
          <a:xfrm>
            <a:off x="658368" y="4005072"/>
            <a:ext cx="4572000" cy="201168"/>
          </a:xfrm>
          <a:prstGeom prst="rect">
            <a:avLst/>
          </a:prstGeom>
          <a:noFill/>
          <a:ln/>
        </p:spPr>
        <p:txBody>
          <a:bodyPr wrap="square" lIns="0" tIns="0" rIns="0" bIns="0" rtlCol="0" anchor="t"/>
          <a:lstStyle/>
          <a:p>
            <a:pPr algn="l" indent="0" marL="0">
              <a:buNone/>
            </a:pPr>
            <a:r>
              <a:rPr lang="en-US" sz="960" b="1" spc="130" kern="0" dirty="0">
                <a:solidFill>
                  <a:srgbClr val="7FC9B4"/>
                </a:solidFill>
                <a:latin typeface="Aptos" pitchFamily="34" charset="0"/>
                <a:ea typeface="Aptos" pitchFamily="34" charset="-122"/>
                <a:cs typeface="Aptos" pitchFamily="34" charset="-120"/>
              </a:rPr>
              <a:t>LA PREGUNTA DEL BLOQUE</a:t>
            </a:r>
            <a:endParaRPr lang="en-US" sz="960" dirty="0"/>
          </a:p>
        </p:txBody>
      </p:sp>
      <p:sp>
        <p:nvSpPr>
          <p:cNvPr id="12" name="Text 9"/>
          <p:cNvSpPr txBox="1"/>
          <p:nvPr/>
        </p:nvSpPr>
        <p:spPr>
          <a:xfrm>
            <a:off x="658368" y="4279392"/>
            <a:ext cx="6766560" cy="896112"/>
          </a:xfrm>
          <a:prstGeom prst="rect">
            <a:avLst/>
          </a:prstGeom>
          <a:noFill/>
          <a:ln/>
        </p:spPr>
        <p:txBody>
          <a:bodyPr wrap="square" lIns="0" tIns="0" rIns="0" bIns="0" rtlCol="0" anchor="t"/>
          <a:lstStyle/>
          <a:p>
            <a:pPr algn="l" indent="0" marL="0">
              <a:lnSpc>
                <a:spcPct val="118000"/>
              </a:lnSpc>
              <a:buNone/>
            </a:pPr>
            <a:r>
              <a:rPr lang="en-US" sz="1900" dirty="0">
                <a:solidFill>
                  <a:srgbClr val="FFFFFF"/>
                </a:solidFill>
                <a:latin typeface="Aptos" pitchFamily="34" charset="0"/>
                <a:ea typeface="Aptos" pitchFamily="34" charset="-122"/>
                <a:cs typeface="Aptos" pitchFamily="34" charset="-120"/>
              </a:rPr>
              <a:t>¿Por qué la revisión fue la única prueba posible sobre ese hallazgo, y por qué la razón que da el oficio para probar temprano no se sostiene?</a:t>
            </a:r>
            <a:endParaRPr lang="en-US" sz="1900" dirty="0"/>
          </a:p>
        </p:txBody>
      </p:sp>
      <p:sp>
        <p:nvSpPr>
          <p:cNvPr id="13" name="Shape 10"/>
          <p:cNvSpPr/>
          <p:nvPr/>
        </p:nvSpPr>
        <p:spPr>
          <a:xfrm>
            <a:off x="8321040" y="1572768"/>
            <a:ext cx="0" cy="3566160"/>
          </a:xfrm>
          <a:prstGeom prst="line">
            <a:avLst/>
          </a:prstGeom>
          <a:noFill/>
          <a:ln w="12700">
            <a:solidFill>
              <a:srgbClr val="2C4A66"/>
            </a:solidFill>
            <a:prstDash val="solid"/>
            <a:headEnd type="none"/>
            <a:tailEnd type="none"/>
          </a:ln>
        </p:spPr>
      </p:sp>
      <p:sp>
        <p:nvSpPr>
          <p:cNvPr id="14" name="Text 11"/>
          <p:cNvSpPr txBox="1"/>
          <p:nvPr/>
        </p:nvSpPr>
        <p:spPr>
          <a:xfrm>
            <a:off x="8686800" y="1572768"/>
            <a:ext cx="310896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CON QUÉ SALES</a:t>
            </a:r>
            <a:endParaRPr lang="en-US" sz="960" dirty="0"/>
          </a:p>
        </p:txBody>
      </p:sp>
      <p:sp>
        <p:nvSpPr>
          <p:cNvPr id="15" name="Shape 12"/>
          <p:cNvSpPr/>
          <p:nvPr/>
        </p:nvSpPr>
        <p:spPr>
          <a:xfrm>
            <a:off x="8686800" y="1920240"/>
            <a:ext cx="274320" cy="274320"/>
          </a:xfrm>
          <a:prstGeom prst="ellipse">
            <a:avLst/>
          </a:prstGeom>
          <a:solidFill>
            <a:srgbClr val="1D3A57"/>
          </a:solidFill>
          <a:ln w="12700">
            <a:solidFill>
              <a:srgbClr val="1D3A57"/>
            </a:solidFill>
            <a:prstDash val="solid"/>
          </a:ln>
        </p:spPr>
      </p:sp>
      <p:sp>
        <p:nvSpPr>
          <p:cNvPr id="16" name="Text 13"/>
          <p:cNvSpPr txBox="1"/>
          <p:nvPr/>
        </p:nvSpPr>
        <p:spPr>
          <a:xfrm>
            <a:off x="8686800" y="1920240"/>
            <a:ext cx="274320" cy="274320"/>
          </a:xfrm>
          <a:prstGeom prst="rect">
            <a:avLst/>
          </a:prstGeom>
          <a:noFill/>
          <a:ln/>
        </p:spPr>
        <p:txBody>
          <a:bodyPr wrap="square" lIns="0" tIns="0" rIns="0" bIns="0" rtlCol="0" anchor="ctr"/>
          <a:lstStyle/>
          <a:p>
            <a:pPr algn="ctr" indent="0" marL="0">
              <a:buNone/>
            </a:pPr>
            <a:r>
              <a:rPr lang="en-US" sz="1050" b="1" dirty="0">
                <a:solidFill>
                  <a:srgbClr val="7FC9B4"/>
                </a:solidFill>
                <a:latin typeface="Aptos" pitchFamily="34" charset="0"/>
                <a:ea typeface="Aptos" pitchFamily="34" charset="-122"/>
                <a:cs typeface="Aptos" pitchFamily="34" charset="-120"/>
              </a:rPr>
              <a:t>1</a:t>
            </a:r>
            <a:endParaRPr lang="en-US" sz="1050" dirty="0"/>
          </a:p>
        </p:txBody>
      </p:sp>
      <p:sp>
        <p:nvSpPr>
          <p:cNvPr id="17" name="Text 14"/>
          <p:cNvSpPr txBox="1"/>
          <p:nvPr/>
        </p:nvSpPr>
        <p:spPr>
          <a:xfrm>
            <a:off x="9089136" y="1901952"/>
            <a:ext cx="2651760" cy="603504"/>
          </a:xfrm>
          <a:prstGeom prst="rect">
            <a:avLst/>
          </a:prstGeom>
          <a:noFill/>
          <a:ln/>
        </p:spPr>
        <p:txBody>
          <a:bodyPr wrap="square" lIns="0" tIns="0" rIns="0" bIns="0" rtlCol="0" anchor="t"/>
          <a:lstStyle/>
          <a:p>
            <a:pPr algn="l" indent="0" marL="0">
              <a:lnSpc>
                <a:spcPct val="114000"/>
              </a:lnSpc>
              <a:buNone/>
            </a:pPr>
            <a:r>
              <a:rPr lang="en-US" sz="1220" dirty="0">
                <a:solidFill>
                  <a:srgbClr val="E6EEF7"/>
                </a:solidFill>
                <a:latin typeface="Aptos" pitchFamily="34" charset="0"/>
                <a:ea typeface="Aptos" pitchFamily="34" charset="-122"/>
                <a:cs typeface="Aptos" pitchFamily="34" charset="-120"/>
              </a:rPr>
              <a:t>El mapa de qué prueba admite cada etapa del ciclo de vida</a:t>
            </a:r>
            <a:endParaRPr lang="en-US" sz="1220" dirty="0"/>
          </a:p>
        </p:txBody>
      </p:sp>
      <p:sp>
        <p:nvSpPr>
          <p:cNvPr id="18" name="Shape 15"/>
          <p:cNvSpPr/>
          <p:nvPr/>
        </p:nvSpPr>
        <p:spPr>
          <a:xfrm>
            <a:off x="8686800" y="2633472"/>
            <a:ext cx="274320" cy="274320"/>
          </a:xfrm>
          <a:prstGeom prst="ellipse">
            <a:avLst/>
          </a:prstGeom>
          <a:solidFill>
            <a:srgbClr val="1D3A57"/>
          </a:solidFill>
          <a:ln w="12700">
            <a:solidFill>
              <a:srgbClr val="1D3A57"/>
            </a:solidFill>
            <a:prstDash val="solid"/>
          </a:ln>
        </p:spPr>
      </p:sp>
      <p:sp>
        <p:nvSpPr>
          <p:cNvPr id="19" name="Text 16"/>
          <p:cNvSpPr txBox="1"/>
          <p:nvPr/>
        </p:nvSpPr>
        <p:spPr>
          <a:xfrm>
            <a:off x="8686800" y="2633472"/>
            <a:ext cx="274320" cy="274320"/>
          </a:xfrm>
          <a:prstGeom prst="rect">
            <a:avLst/>
          </a:prstGeom>
          <a:noFill/>
          <a:ln/>
        </p:spPr>
        <p:txBody>
          <a:bodyPr wrap="square" lIns="0" tIns="0" rIns="0" bIns="0" rtlCol="0" anchor="ctr"/>
          <a:lstStyle/>
          <a:p>
            <a:pPr algn="ctr" indent="0" marL="0">
              <a:buNone/>
            </a:pPr>
            <a:r>
              <a:rPr lang="en-US" sz="1050" b="1" dirty="0">
                <a:solidFill>
                  <a:srgbClr val="7FC9B4"/>
                </a:solidFill>
                <a:latin typeface="Aptos" pitchFamily="34" charset="0"/>
                <a:ea typeface="Aptos" pitchFamily="34" charset="-122"/>
                <a:cs typeface="Aptos" pitchFamily="34" charset="-120"/>
              </a:rPr>
              <a:t>2</a:t>
            </a:r>
            <a:endParaRPr lang="en-US" sz="1050" dirty="0"/>
          </a:p>
        </p:txBody>
      </p:sp>
      <p:sp>
        <p:nvSpPr>
          <p:cNvPr id="20" name="Text 17"/>
          <p:cNvSpPr txBox="1"/>
          <p:nvPr/>
        </p:nvSpPr>
        <p:spPr>
          <a:xfrm>
            <a:off x="9089136" y="2615184"/>
            <a:ext cx="2651760" cy="603504"/>
          </a:xfrm>
          <a:prstGeom prst="rect">
            <a:avLst/>
          </a:prstGeom>
          <a:noFill/>
          <a:ln/>
        </p:spPr>
        <p:txBody>
          <a:bodyPr wrap="square" lIns="0" tIns="0" rIns="0" bIns="0" rtlCol="0" anchor="t"/>
          <a:lstStyle/>
          <a:p>
            <a:pPr algn="l" indent="0" marL="0">
              <a:lnSpc>
                <a:spcPct val="114000"/>
              </a:lnSpc>
              <a:buNone/>
            </a:pPr>
            <a:r>
              <a:rPr lang="en-US" sz="1220" dirty="0">
                <a:solidFill>
                  <a:srgbClr val="E6EEF7"/>
                </a:solidFill>
                <a:latin typeface="Aptos" pitchFamily="34" charset="0"/>
                <a:ea typeface="Aptos" pitchFamily="34" charset="-122"/>
                <a:cs typeface="Aptos" pitchFamily="34" charset="-120"/>
              </a:rPr>
              <a:t>Un argumento propio para escribir el requisito temprano</a:t>
            </a:r>
            <a:endParaRPr lang="en-US" sz="1220" dirty="0"/>
          </a:p>
        </p:txBody>
      </p:sp>
      <p:sp>
        <p:nvSpPr>
          <p:cNvPr id="21" name="Shape 18"/>
          <p:cNvSpPr/>
          <p:nvPr/>
        </p:nvSpPr>
        <p:spPr>
          <a:xfrm>
            <a:off x="8686800" y="3346704"/>
            <a:ext cx="274320" cy="274320"/>
          </a:xfrm>
          <a:prstGeom prst="ellipse">
            <a:avLst/>
          </a:prstGeom>
          <a:solidFill>
            <a:srgbClr val="1D3A57"/>
          </a:solidFill>
          <a:ln w="12700">
            <a:solidFill>
              <a:srgbClr val="1D3A57"/>
            </a:solidFill>
            <a:prstDash val="solid"/>
          </a:ln>
        </p:spPr>
      </p:sp>
      <p:sp>
        <p:nvSpPr>
          <p:cNvPr id="22" name="Text 19"/>
          <p:cNvSpPr txBox="1"/>
          <p:nvPr/>
        </p:nvSpPr>
        <p:spPr>
          <a:xfrm>
            <a:off x="8686800" y="3346704"/>
            <a:ext cx="274320" cy="274320"/>
          </a:xfrm>
          <a:prstGeom prst="rect">
            <a:avLst/>
          </a:prstGeom>
          <a:noFill/>
          <a:ln/>
        </p:spPr>
        <p:txBody>
          <a:bodyPr wrap="square" lIns="0" tIns="0" rIns="0" bIns="0" rtlCol="0" anchor="ctr"/>
          <a:lstStyle/>
          <a:p>
            <a:pPr algn="ctr" indent="0" marL="0">
              <a:buNone/>
            </a:pPr>
            <a:r>
              <a:rPr lang="en-US" sz="1050" b="1" dirty="0">
                <a:solidFill>
                  <a:srgbClr val="7FC9B4"/>
                </a:solidFill>
                <a:latin typeface="Aptos" pitchFamily="34" charset="0"/>
                <a:ea typeface="Aptos" pitchFamily="34" charset="-122"/>
                <a:cs typeface="Aptos" pitchFamily="34" charset="-120"/>
              </a:rPr>
              <a:t>3</a:t>
            </a:r>
            <a:endParaRPr lang="en-US" sz="1050" dirty="0"/>
          </a:p>
        </p:txBody>
      </p:sp>
      <p:sp>
        <p:nvSpPr>
          <p:cNvPr id="23" name="Text 20"/>
          <p:cNvSpPr txBox="1"/>
          <p:nvPr/>
        </p:nvSpPr>
        <p:spPr>
          <a:xfrm>
            <a:off x="9089136" y="3328416"/>
            <a:ext cx="2651760" cy="603504"/>
          </a:xfrm>
          <a:prstGeom prst="rect">
            <a:avLst/>
          </a:prstGeom>
          <a:noFill/>
          <a:ln/>
        </p:spPr>
        <p:txBody>
          <a:bodyPr wrap="square" lIns="0" tIns="0" rIns="0" bIns="0" rtlCol="0" anchor="t"/>
          <a:lstStyle/>
          <a:p>
            <a:pPr algn="l" indent="0" marL="0">
              <a:lnSpc>
                <a:spcPct val="114000"/>
              </a:lnSpc>
              <a:buNone/>
            </a:pPr>
            <a:r>
              <a:rPr lang="en-US" sz="1220" dirty="0">
                <a:solidFill>
                  <a:srgbClr val="E6EEF7"/>
                </a:solidFill>
                <a:latin typeface="Aptos" pitchFamily="34" charset="0"/>
                <a:ea typeface="Aptos" pitchFamily="34" charset="-122"/>
                <a:cs typeface="Aptos" pitchFamily="34" charset="-120"/>
              </a:rPr>
              <a:t>La discusión que la industria tiene abierta hoy</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05</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LA IDEA DE PARTIDA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2800" b="1" dirty="0">
                <a:solidFill>
                  <a:srgbClr val="243B53"/>
                </a:solidFill>
                <a:latin typeface="Aptos Display" pitchFamily="34" charset="0"/>
                <a:ea typeface="Aptos Display" pitchFamily="34" charset="-122"/>
                <a:cs typeface="Aptos Display" pitchFamily="34" charset="-120"/>
              </a:rPr>
              <a:t>No eliges la prueba: la elige lo que ya está construido</a:t>
            </a:r>
            <a:endParaRPr lang="en-US" sz="28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Antes de ver el mapa completo, dos casos donde se ve a simple vista.</a:t>
            </a:r>
            <a:endParaRPr lang="en-US" sz="1450" dirty="0"/>
          </a:p>
        </p:txBody>
      </p:sp>
      <p:sp>
        <p:nvSpPr>
          <p:cNvPr id="11" name="Shape 8"/>
          <p:cNvSpPr/>
          <p:nvPr/>
        </p:nvSpPr>
        <p:spPr>
          <a:xfrm>
            <a:off x="658368" y="2286000"/>
            <a:ext cx="5266944" cy="1572768"/>
          </a:xfrm>
          <a:prstGeom prst="rect">
            <a:avLst/>
          </a:prstGeom>
          <a:solidFill>
            <a:srgbClr val="FFFFFF"/>
          </a:solidFill>
          <a:ln w="12700">
            <a:solidFill>
              <a:srgbClr val="FFFFFF"/>
            </a:solidFill>
            <a:prstDash val="solid"/>
          </a:ln>
        </p:spPr>
      </p:sp>
      <p:sp>
        <p:nvSpPr>
          <p:cNvPr id="12" name="Shape 9"/>
          <p:cNvSpPr/>
          <p:nvPr/>
        </p:nvSpPr>
        <p:spPr>
          <a:xfrm>
            <a:off x="658368" y="2286000"/>
            <a:ext cx="64008" cy="1572768"/>
          </a:xfrm>
          <a:prstGeom prst="rect">
            <a:avLst/>
          </a:prstGeom>
          <a:solidFill>
            <a:srgbClr val="102A43"/>
          </a:solidFill>
          <a:ln w="12700">
            <a:solidFill>
              <a:srgbClr val="102A43"/>
            </a:solidFill>
            <a:prstDash val="solid"/>
          </a:ln>
        </p:spPr>
      </p:sp>
      <p:sp>
        <p:nvSpPr>
          <p:cNvPr id="13" name="Text 10"/>
          <p:cNvSpPr txBox="1"/>
          <p:nvPr/>
        </p:nvSpPr>
        <p:spPr>
          <a:xfrm>
            <a:off x="987552" y="2505456"/>
            <a:ext cx="4663440" cy="292608"/>
          </a:xfrm>
          <a:prstGeom prst="rect">
            <a:avLst/>
          </a:prstGeom>
          <a:noFill/>
          <a:ln/>
        </p:spPr>
        <p:txBody>
          <a:bodyPr wrap="square" lIns="0" tIns="0" rIns="0" bIns="0" rtlCol="0" anchor="t"/>
          <a:lstStyle/>
          <a:p>
            <a:pPr algn="l" indent="0" marL="0">
              <a:buNone/>
            </a:pPr>
            <a:r>
              <a:rPr lang="en-US" sz="1500" b="1" dirty="0">
                <a:solidFill>
                  <a:srgbClr val="243B53"/>
                </a:solidFill>
                <a:latin typeface="Aptos" pitchFamily="34" charset="0"/>
                <a:ea typeface="Aptos" pitchFamily="34" charset="-122"/>
                <a:cs typeface="Aptos" pitchFamily="34" charset="-120"/>
              </a:rPr>
              <a:t>No puedes ejecutar una prueba unitaria…</a:t>
            </a:r>
            <a:endParaRPr lang="en-US" sz="1500" dirty="0"/>
          </a:p>
        </p:txBody>
      </p:sp>
      <p:sp>
        <p:nvSpPr>
          <p:cNvPr id="14" name="Text 11"/>
          <p:cNvSpPr txBox="1"/>
          <p:nvPr/>
        </p:nvSpPr>
        <p:spPr>
          <a:xfrm>
            <a:off x="987552" y="2871216"/>
            <a:ext cx="4663440" cy="512064"/>
          </a:xfrm>
          <a:prstGeom prst="rect">
            <a:avLst/>
          </a:prstGeom>
          <a:noFill/>
          <a:ln/>
        </p:spPr>
        <p:txBody>
          <a:bodyPr wrap="square" lIns="0" tIns="0" rIns="0" bIns="0" rtlCol="0" anchor="t"/>
          <a:lstStyle/>
          <a:p>
            <a:pPr algn="l" indent="0" marL="0">
              <a:lnSpc>
                <a:spcPct val="116000"/>
              </a:lnSpc>
              <a:buNone/>
            </a:pPr>
            <a:r>
              <a:rPr lang="en-US" sz="1300" dirty="0">
                <a:solidFill>
                  <a:srgbClr val="52606D"/>
                </a:solidFill>
                <a:latin typeface="Aptos" pitchFamily="34" charset="0"/>
                <a:ea typeface="Aptos" pitchFamily="34" charset="-122"/>
                <a:cs typeface="Aptos" pitchFamily="34" charset="-120"/>
              </a:rPr>
              <a:t>…de una función que todavía no existe. No hay nada que llamar.</a:t>
            </a:r>
            <a:endParaRPr lang="en-US" sz="1300" dirty="0"/>
          </a:p>
        </p:txBody>
      </p:sp>
      <p:sp>
        <p:nvSpPr>
          <p:cNvPr id="15" name="Text 12"/>
          <p:cNvSpPr txBox="1"/>
          <p:nvPr/>
        </p:nvSpPr>
        <p:spPr>
          <a:xfrm>
            <a:off x="987552" y="3493008"/>
            <a:ext cx="4663440" cy="201168"/>
          </a:xfrm>
          <a:prstGeom prst="rect">
            <a:avLst/>
          </a:prstGeom>
          <a:noFill/>
          <a:ln/>
        </p:spPr>
        <p:txBody>
          <a:bodyPr wrap="square" lIns="0" tIns="0" rIns="0" bIns="0" rtlCol="0" anchor="t"/>
          <a:lstStyle/>
          <a:p>
            <a:pPr algn="l" indent="0" marL="0">
              <a:buNone/>
            </a:pPr>
            <a:r>
              <a:rPr lang="en-US" sz="960" b="1" spc="120" kern="0" dirty="0">
                <a:solidFill>
                  <a:srgbClr val="102A43"/>
                </a:solidFill>
                <a:latin typeface="Aptos" pitchFamily="34" charset="0"/>
                <a:ea typeface="Aptos" pitchFamily="34" charset="-122"/>
                <a:cs typeface="Aptos" pitchFamily="34" charset="-120"/>
              </a:rPr>
              <a:t>FALTA EL CÓDIGO</a:t>
            </a:r>
            <a:endParaRPr lang="en-US" sz="960" dirty="0"/>
          </a:p>
        </p:txBody>
      </p:sp>
      <p:sp>
        <p:nvSpPr>
          <p:cNvPr id="16" name="Shape 13"/>
          <p:cNvSpPr/>
          <p:nvPr/>
        </p:nvSpPr>
        <p:spPr>
          <a:xfrm>
            <a:off x="6291072" y="2286000"/>
            <a:ext cx="5266944" cy="1572768"/>
          </a:xfrm>
          <a:prstGeom prst="rect">
            <a:avLst/>
          </a:prstGeom>
          <a:solidFill>
            <a:srgbClr val="FFFFFF"/>
          </a:solidFill>
          <a:ln w="12700">
            <a:solidFill>
              <a:srgbClr val="FFFFFF"/>
            </a:solidFill>
            <a:prstDash val="solid"/>
          </a:ln>
        </p:spPr>
      </p:sp>
      <p:sp>
        <p:nvSpPr>
          <p:cNvPr id="17" name="Shape 14"/>
          <p:cNvSpPr/>
          <p:nvPr/>
        </p:nvSpPr>
        <p:spPr>
          <a:xfrm>
            <a:off x="6291072" y="2286000"/>
            <a:ext cx="64008" cy="1572768"/>
          </a:xfrm>
          <a:prstGeom prst="rect">
            <a:avLst/>
          </a:prstGeom>
          <a:solidFill>
            <a:srgbClr val="B3181E"/>
          </a:solidFill>
          <a:ln w="12700">
            <a:solidFill>
              <a:srgbClr val="B3181E"/>
            </a:solidFill>
            <a:prstDash val="solid"/>
          </a:ln>
        </p:spPr>
      </p:sp>
      <p:sp>
        <p:nvSpPr>
          <p:cNvPr id="18" name="Text 15"/>
          <p:cNvSpPr txBox="1"/>
          <p:nvPr/>
        </p:nvSpPr>
        <p:spPr>
          <a:xfrm>
            <a:off x="6620256" y="2505456"/>
            <a:ext cx="4663440" cy="292608"/>
          </a:xfrm>
          <a:prstGeom prst="rect">
            <a:avLst/>
          </a:prstGeom>
          <a:noFill/>
          <a:ln/>
        </p:spPr>
        <p:txBody>
          <a:bodyPr wrap="square" lIns="0" tIns="0" rIns="0" bIns="0" rtlCol="0" anchor="t"/>
          <a:lstStyle/>
          <a:p>
            <a:pPr algn="l" indent="0" marL="0">
              <a:buNone/>
            </a:pPr>
            <a:r>
              <a:rPr lang="en-US" sz="1500" b="1" dirty="0">
                <a:solidFill>
                  <a:srgbClr val="243B53"/>
                </a:solidFill>
                <a:latin typeface="Aptos" pitchFamily="34" charset="0"/>
                <a:ea typeface="Aptos" pitchFamily="34" charset="-122"/>
                <a:cs typeface="Aptos" pitchFamily="34" charset="-120"/>
              </a:rPr>
              <a:t>No puedes medir el tiempo de respuesta…</a:t>
            </a:r>
            <a:endParaRPr lang="en-US" sz="1500" dirty="0"/>
          </a:p>
        </p:txBody>
      </p:sp>
      <p:sp>
        <p:nvSpPr>
          <p:cNvPr id="19" name="Text 16"/>
          <p:cNvSpPr txBox="1"/>
          <p:nvPr/>
        </p:nvSpPr>
        <p:spPr>
          <a:xfrm>
            <a:off x="6620256" y="2871216"/>
            <a:ext cx="4663440" cy="512064"/>
          </a:xfrm>
          <a:prstGeom prst="rect">
            <a:avLst/>
          </a:prstGeom>
          <a:noFill/>
          <a:ln/>
        </p:spPr>
        <p:txBody>
          <a:bodyPr wrap="square" lIns="0" tIns="0" rIns="0" bIns="0" rtlCol="0" anchor="t"/>
          <a:lstStyle/>
          <a:p>
            <a:pPr algn="l" indent="0" marL="0">
              <a:lnSpc>
                <a:spcPct val="116000"/>
              </a:lnSpc>
              <a:buNone/>
            </a:pPr>
            <a:r>
              <a:rPr lang="en-US" sz="1300" dirty="0">
                <a:solidFill>
                  <a:srgbClr val="52606D"/>
                </a:solidFill>
                <a:latin typeface="Aptos" pitchFamily="34" charset="0"/>
                <a:ea typeface="Aptos" pitchFamily="34" charset="-122"/>
                <a:cs typeface="Aptos" pitchFamily="34" charset="-120"/>
              </a:rPr>
              <a:t>…de un sistema que todavía no está desplegado. No hay a qué cronometrar.</a:t>
            </a:r>
            <a:endParaRPr lang="en-US" sz="1300" dirty="0"/>
          </a:p>
        </p:txBody>
      </p:sp>
      <p:sp>
        <p:nvSpPr>
          <p:cNvPr id="20" name="Text 17"/>
          <p:cNvSpPr txBox="1"/>
          <p:nvPr/>
        </p:nvSpPr>
        <p:spPr>
          <a:xfrm>
            <a:off x="6620256" y="3493008"/>
            <a:ext cx="4663440" cy="201168"/>
          </a:xfrm>
          <a:prstGeom prst="rect">
            <a:avLst/>
          </a:prstGeom>
          <a:noFill/>
          <a:ln/>
        </p:spPr>
        <p:txBody>
          <a:bodyPr wrap="square" lIns="0" tIns="0" rIns="0" bIns="0" rtlCol="0" anchor="t"/>
          <a:lstStyle/>
          <a:p>
            <a:pPr algn="l" indent="0" marL="0">
              <a:buNone/>
            </a:pPr>
            <a:r>
              <a:rPr lang="en-US" sz="960" b="1" spc="120" kern="0" dirty="0">
                <a:solidFill>
                  <a:srgbClr val="B3181E"/>
                </a:solidFill>
                <a:latin typeface="Aptos" pitchFamily="34" charset="0"/>
                <a:ea typeface="Aptos" pitchFamily="34" charset="-122"/>
                <a:cs typeface="Aptos" pitchFamily="34" charset="-120"/>
              </a:rPr>
              <a:t>FALTA EL DESPLIEGUE</a:t>
            </a:r>
            <a:endParaRPr lang="en-US" sz="960" dirty="0"/>
          </a:p>
        </p:txBody>
      </p:sp>
      <p:sp>
        <p:nvSpPr>
          <p:cNvPr id="21" name="Shape 18"/>
          <p:cNvSpPr/>
          <p:nvPr/>
        </p:nvSpPr>
        <p:spPr>
          <a:xfrm>
            <a:off x="658368" y="4133088"/>
            <a:ext cx="10874959" cy="1152144"/>
          </a:xfrm>
          <a:prstGeom prst="rect">
            <a:avLst/>
          </a:prstGeom>
          <a:solidFill>
            <a:srgbClr val="F2E7D9"/>
          </a:solidFill>
          <a:ln w="12700">
            <a:solidFill>
              <a:srgbClr val="F2E7D9"/>
            </a:solidFill>
            <a:prstDash val="solid"/>
          </a:ln>
        </p:spPr>
      </p:sp>
      <p:sp>
        <p:nvSpPr>
          <p:cNvPr id="22" name="Text 19"/>
          <p:cNvSpPr txBox="1"/>
          <p:nvPr/>
        </p:nvSpPr>
        <p:spPr>
          <a:xfrm>
            <a:off x="1024128" y="4334256"/>
            <a:ext cx="10143439" cy="256032"/>
          </a:xfrm>
          <a:prstGeom prst="rect">
            <a:avLst/>
          </a:prstGeom>
          <a:noFill/>
          <a:ln/>
        </p:spPr>
        <p:txBody>
          <a:bodyPr wrap="square" lIns="0" tIns="0" rIns="0" bIns="0" rtlCol="0" anchor="t"/>
          <a:lstStyle/>
          <a:p>
            <a:pPr algn="l" indent="0" marL="0">
              <a:buNone/>
            </a:pPr>
            <a:r>
              <a:rPr lang="en-US" sz="1320" dirty="0">
                <a:solidFill>
                  <a:srgbClr val="52606D"/>
                </a:solidFill>
                <a:latin typeface="Aptos" pitchFamily="34" charset="0"/>
                <a:ea typeface="Aptos" pitchFamily="34" charset="-122"/>
                <a:cs typeface="Aptos" pitchFamily="34" charset="-120"/>
              </a:rPr>
              <a:t>Los dos casos son obvios. Lo que no es obvio es la generalización, y es la que organiza el resto del bloque:</a:t>
            </a:r>
            <a:endParaRPr lang="en-US" sz="1320" dirty="0"/>
          </a:p>
        </p:txBody>
      </p:sp>
      <p:sp>
        <p:nvSpPr>
          <p:cNvPr id="23" name="Text 20"/>
          <p:cNvSpPr txBox="1"/>
          <p:nvPr/>
        </p:nvSpPr>
        <p:spPr>
          <a:xfrm>
            <a:off x="1024128" y="4645152"/>
            <a:ext cx="10143439" cy="457200"/>
          </a:xfrm>
          <a:prstGeom prst="rect">
            <a:avLst/>
          </a:prstGeom>
          <a:noFill/>
          <a:ln/>
        </p:spPr>
        <p:txBody>
          <a:bodyPr wrap="square" lIns="0" tIns="0" rIns="0" bIns="0" rtlCol="0" anchor="t"/>
          <a:lstStyle/>
          <a:p>
            <a:pPr algn="l" indent="0" marL="0">
              <a:buNone/>
            </a:pPr>
            <a:r>
              <a:rPr lang="en-US" sz="1900" b="1" dirty="0">
                <a:solidFill>
                  <a:srgbClr val="243B53"/>
                </a:solidFill>
                <a:latin typeface="Aptos Display" pitchFamily="34" charset="0"/>
                <a:ea typeface="Aptos Display" pitchFamily="34" charset="-122"/>
                <a:cs typeface="Aptos Display" pitchFamily="34" charset="-120"/>
              </a:rPr>
              <a:t>en cada etapa del ciclo de vida existe un material distinto, y ese material decide qué prueba es posible.</a:t>
            </a:r>
            <a:endParaRPr lang="en-US" sz="1900" dirty="0"/>
          </a:p>
        </p:txBody>
      </p:sp>
      <p:sp>
        <p:nvSpPr>
          <p:cNvPr id="24" name="Shape 21"/>
          <p:cNvSpPr/>
          <p:nvPr/>
        </p:nvSpPr>
        <p:spPr>
          <a:xfrm>
            <a:off x="658368" y="5614416"/>
            <a:ext cx="10874959" cy="658368"/>
          </a:xfrm>
          <a:prstGeom prst="rect">
            <a:avLst/>
          </a:prstGeom>
          <a:solidFill>
            <a:srgbClr val="102A43"/>
          </a:solidFill>
          <a:ln w="12700">
            <a:solidFill>
              <a:srgbClr val="102A43"/>
            </a:solidFill>
            <a:prstDash val="solid"/>
          </a:ln>
        </p:spPr>
      </p:sp>
      <p:sp>
        <p:nvSpPr>
          <p:cNvPr id="25" name="Text 22"/>
          <p:cNvSpPr txBox="1"/>
          <p:nvPr/>
        </p:nvSpPr>
        <p:spPr>
          <a:xfrm>
            <a:off x="969264" y="5660136"/>
            <a:ext cx="10253167" cy="566928"/>
          </a:xfrm>
          <a:prstGeom prst="rect">
            <a:avLst/>
          </a:prstGeom>
          <a:noFill/>
          <a:ln/>
        </p:spPr>
        <p:txBody>
          <a:bodyPr wrap="square" lIns="0" tIns="0" rIns="0" bIns="0" rtlCol="0" anchor="ctr"/>
          <a:lstStyle/>
          <a:p>
            <a:pPr algn="ctr" indent="0" marL="0">
              <a:lnSpc>
                <a:spcPct val="112000"/>
              </a:lnSpc>
              <a:buNone/>
            </a:pPr>
            <a:r>
              <a:rPr lang="en-US" sz="1440" b="1" dirty="0">
                <a:solidFill>
                  <a:srgbClr val="FFFFFF"/>
                </a:solidFill>
                <a:latin typeface="Aptos" pitchFamily="34" charset="0"/>
                <a:ea typeface="Aptos" pitchFamily="34" charset="-122"/>
                <a:cs typeface="Aptos" pitchFamily="34" charset="-120"/>
              </a:rPr>
              <a:t>La disciplina de quien prueba no cambia esto. Lo que no está construido no se puede ejecutar.</a:t>
            </a:r>
            <a:endParaRPr lang="en-US" sz="14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06</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EL MAPA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2800" b="1" dirty="0">
                <a:solidFill>
                  <a:srgbClr val="243B53"/>
                </a:solidFill>
                <a:latin typeface="Aptos Display" pitchFamily="34" charset="0"/>
                <a:ea typeface="Aptos Display" pitchFamily="34" charset="-122"/>
                <a:cs typeface="Aptos Display" pitchFamily="34" charset="-120"/>
              </a:rPr>
              <a:t>Qué existe en cada etapa, y qué prueba se vuelve posible</a:t>
            </a:r>
            <a:endParaRPr lang="en-US" sz="2800" dirty="0"/>
          </a:p>
        </p:txBody>
      </p:sp>
      <p:sp>
        <p:nvSpPr>
          <p:cNvPr id="10" name="Text 7"/>
          <p:cNvSpPr txBox="1"/>
          <p:nvPr/>
        </p:nvSpPr>
        <p:spPr>
          <a:xfrm>
            <a:off x="658368" y="2121408"/>
            <a:ext cx="1700784" cy="201168"/>
          </a:xfrm>
          <a:prstGeom prst="rect">
            <a:avLst/>
          </a:prstGeom>
          <a:noFill/>
          <a:ln/>
        </p:spPr>
        <p:txBody>
          <a:bodyPr wrap="square" lIns="0" tIns="0" rIns="0" bIns="0" rtlCol="0" anchor="t"/>
          <a:lstStyle/>
          <a:p>
            <a:pPr algn="l" indent="0" marL="0">
              <a:buNone/>
            </a:pPr>
            <a:r>
              <a:rPr lang="en-US" sz="930" b="1" spc="120" kern="0" dirty="0">
                <a:solidFill>
                  <a:srgbClr val="52606D"/>
                </a:solidFill>
                <a:latin typeface="Aptos" pitchFamily="34" charset="0"/>
                <a:ea typeface="Aptos" pitchFamily="34" charset="-122"/>
                <a:cs typeface="Aptos" pitchFamily="34" charset="-120"/>
              </a:rPr>
              <a:t>ETAPA</a:t>
            </a:r>
            <a:endParaRPr lang="en-US" sz="930" dirty="0"/>
          </a:p>
        </p:txBody>
      </p:sp>
      <p:sp>
        <p:nvSpPr>
          <p:cNvPr id="11" name="Text 8"/>
          <p:cNvSpPr txBox="1"/>
          <p:nvPr/>
        </p:nvSpPr>
        <p:spPr>
          <a:xfrm>
            <a:off x="2487168" y="2121408"/>
            <a:ext cx="2962656" cy="201168"/>
          </a:xfrm>
          <a:prstGeom prst="rect">
            <a:avLst/>
          </a:prstGeom>
          <a:noFill/>
          <a:ln/>
        </p:spPr>
        <p:txBody>
          <a:bodyPr wrap="square" lIns="0" tIns="0" rIns="0" bIns="0" rtlCol="0" anchor="t"/>
          <a:lstStyle/>
          <a:p>
            <a:pPr algn="l" indent="0" marL="0">
              <a:buNone/>
            </a:pPr>
            <a:r>
              <a:rPr lang="en-US" sz="930" b="1" spc="120" kern="0" dirty="0">
                <a:solidFill>
                  <a:srgbClr val="52606D"/>
                </a:solidFill>
                <a:latin typeface="Aptos" pitchFamily="34" charset="0"/>
                <a:ea typeface="Aptos" pitchFamily="34" charset="-122"/>
                <a:cs typeface="Aptos" pitchFamily="34" charset="-120"/>
              </a:rPr>
              <a:t>YA EXISTE</a:t>
            </a:r>
            <a:endParaRPr lang="en-US" sz="930" dirty="0"/>
          </a:p>
        </p:txBody>
      </p:sp>
      <p:sp>
        <p:nvSpPr>
          <p:cNvPr id="12" name="Text 9"/>
          <p:cNvSpPr txBox="1"/>
          <p:nvPr/>
        </p:nvSpPr>
        <p:spPr>
          <a:xfrm>
            <a:off x="5596128" y="2121408"/>
            <a:ext cx="2834640" cy="201168"/>
          </a:xfrm>
          <a:prstGeom prst="rect">
            <a:avLst/>
          </a:prstGeom>
          <a:noFill/>
          <a:ln/>
        </p:spPr>
        <p:txBody>
          <a:bodyPr wrap="square" lIns="0" tIns="0" rIns="0" bIns="0" rtlCol="0" anchor="t"/>
          <a:lstStyle/>
          <a:p>
            <a:pPr algn="l" indent="0" marL="0">
              <a:buNone/>
            </a:pPr>
            <a:r>
              <a:rPr lang="en-US" sz="930" b="1" spc="120" kern="0" dirty="0">
                <a:solidFill>
                  <a:srgbClr val="52606D"/>
                </a:solidFill>
                <a:latin typeface="Aptos" pitchFamily="34" charset="0"/>
                <a:ea typeface="Aptos" pitchFamily="34" charset="-122"/>
                <a:cs typeface="Aptos" pitchFamily="34" charset="-120"/>
              </a:rPr>
              <a:t>PRUEBA QUE ADMITE</a:t>
            </a:r>
            <a:endParaRPr lang="en-US" sz="930" dirty="0"/>
          </a:p>
        </p:txBody>
      </p:sp>
      <p:sp>
        <p:nvSpPr>
          <p:cNvPr id="13" name="Text 10"/>
          <p:cNvSpPr txBox="1"/>
          <p:nvPr/>
        </p:nvSpPr>
        <p:spPr>
          <a:xfrm>
            <a:off x="8650224" y="2121408"/>
            <a:ext cx="2880360" cy="201168"/>
          </a:xfrm>
          <a:prstGeom prst="rect">
            <a:avLst/>
          </a:prstGeom>
          <a:noFill/>
          <a:ln/>
        </p:spPr>
        <p:txBody>
          <a:bodyPr wrap="square" lIns="0" tIns="0" rIns="0" bIns="0" rtlCol="0" anchor="t"/>
          <a:lstStyle/>
          <a:p>
            <a:pPr algn="l" indent="0" marL="0">
              <a:buNone/>
            </a:pPr>
            <a:r>
              <a:rPr lang="en-US" sz="930" b="1" spc="120" kern="0" dirty="0">
                <a:solidFill>
                  <a:srgbClr val="255A4C"/>
                </a:solidFill>
                <a:latin typeface="Aptos" pitchFamily="34" charset="0"/>
                <a:ea typeface="Aptos" pitchFamily="34" charset="-122"/>
                <a:cs typeface="Aptos" pitchFamily="34" charset="-120"/>
              </a:rPr>
              <a:t>CONTRA QUÉ COMPARA</a:t>
            </a:r>
            <a:endParaRPr lang="en-US" sz="930" dirty="0"/>
          </a:p>
        </p:txBody>
      </p:sp>
      <p:sp>
        <p:nvSpPr>
          <p:cNvPr id="14" name="Shape 11"/>
          <p:cNvSpPr/>
          <p:nvPr/>
        </p:nvSpPr>
        <p:spPr>
          <a:xfrm>
            <a:off x="658368" y="2377440"/>
            <a:ext cx="10874959" cy="0"/>
          </a:xfrm>
          <a:prstGeom prst="line">
            <a:avLst/>
          </a:prstGeom>
          <a:noFill/>
          <a:ln w="12700">
            <a:solidFill>
              <a:srgbClr val="102A43"/>
            </a:solidFill>
            <a:prstDash val="solid"/>
            <a:headEnd type="none"/>
            <a:tailEnd type="none"/>
          </a:ln>
        </p:spPr>
      </p:sp>
      <p:sp>
        <p:nvSpPr>
          <p:cNvPr id="15" name="Shape 12"/>
          <p:cNvSpPr/>
          <p:nvPr/>
        </p:nvSpPr>
        <p:spPr>
          <a:xfrm>
            <a:off x="658368" y="2450592"/>
            <a:ext cx="10874959" cy="438912"/>
          </a:xfrm>
          <a:prstGeom prst="rect">
            <a:avLst/>
          </a:prstGeom>
          <a:solidFill>
            <a:srgbClr val="F8E4E5"/>
          </a:solidFill>
          <a:ln w="12700">
            <a:solidFill>
              <a:srgbClr val="F8E4E5"/>
            </a:solidFill>
            <a:prstDash val="solid"/>
          </a:ln>
        </p:spPr>
      </p:sp>
      <p:sp>
        <p:nvSpPr>
          <p:cNvPr id="16" name="Shape 13"/>
          <p:cNvSpPr/>
          <p:nvPr/>
        </p:nvSpPr>
        <p:spPr>
          <a:xfrm>
            <a:off x="658368" y="2450592"/>
            <a:ext cx="45720" cy="438912"/>
          </a:xfrm>
          <a:prstGeom prst="rect">
            <a:avLst/>
          </a:prstGeom>
          <a:solidFill>
            <a:srgbClr val="B3181E"/>
          </a:solidFill>
          <a:ln w="12700">
            <a:solidFill>
              <a:srgbClr val="B3181E"/>
            </a:solidFill>
            <a:prstDash val="solid"/>
          </a:ln>
        </p:spPr>
      </p:sp>
      <p:sp>
        <p:nvSpPr>
          <p:cNvPr id="17" name="Text 14"/>
          <p:cNvSpPr txBox="1"/>
          <p:nvPr/>
        </p:nvSpPr>
        <p:spPr>
          <a:xfrm>
            <a:off x="841248" y="2569464"/>
            <a:ext cx="1554480" cy="256032"/>
          </a:xfrm>
          <a:prstGeom prst="rect">
            <a:avLst/>
          </a:prstGeom>
          <a:noFill/>
          <a:ln/>
        </p:spPr>
        <p:txBody>
          <a:bodyPr wrap="square" lIns="0" tIns="0" rIns="0" bIns="0" rtlCol="0" anchor="t"/>
          <a:lstStyle/>
          <a:p>
            <a:pPr algn="l" indent="0" marL="0">
              <a:buNone/>
            </a:pPr>
            <a:r>
              <a:rPr lang="en-US" sz="1300" b="1" dirty="0">
                <a:solidFill>
                  <a:srgbClr val="B3181E"/>
                </a:solidFill>
                <a:latin typeface="Aptos" pitchFamily="34" charset="0"/>
                <a:ea typeface="Aptos" pitchFamily="34" charset="-122"/>
                <a:cs typeface="Aptos" pitchFamily="34" charset="-120"/>
              </a:rPr>
              <a:t>Requisitos</a:t>
            </a:r>
            <a:endParaRPr lang="en-US" sz="1300" dirty="0"/>
          </a:p>
        </p:txBody>
      </p:sp>
      <p:sp>
        <p:nvSpPr>
          <p:cNvPr id="18" name="Text 15"/>
          <p:cNvSpPr txBox="1"/>
          <p:nvPr/>
        </p:nvSpPr>
        <p:spPr>
          <a:xfrm>
            <a:off x="2487168" y="2532888"/>
            <a:ext cx="2962656" cy="347472"/>
          </a:xfrm>
          <a:prstGeom prst="rect">
            <a:avLst/>
          </a:prstGeom>
          <a:noFill/>
          <a:ln/>
        </p:spPr>
        <p:txBody>
          <a:bodyPr wrap="square" lIns="0" tIns="0" rIns="0" bIns="0" rtlCol="0" anchor="ctr"/>
          <a:lstStyle/>
          <a:p>
            <a:pPr algn="l" indent="0" marL="0">
              <a:lnSpc>
                <a:spcPct val="108000"/>
              </a:lnSpc>
              <a:buNone/>
            </a:pPr>
            <a:r>
              <a:rPr lang="en-US" sz="1060" dirty="0">
                <a:solidFill>
                  <a:srgbClr val="52606D"/>
                </a:solidFill>
                <a:latin typeface="Aptos" pitchFamily="34" charset="0"/>
                <a:ea typeface="Aptos" pitchFamily="34" charset="-122"/>
                <a:cs typeface="Aptos" pitchFamily="34" charset="-120"/>
              </a:rPr>
              <a:t>Una descripción de lo que el producto debe hacer</a:t>
            </a:r>
            <a:endParaRPr lang="en-US" sz="1060" dirty="0"/>
          </a:p>
        </p:txBody>
      </p:sp>
      <p:sp>
        <p:nvSpPr>
          <p:cNvPr id="19" name="Text 16"/>
          <p:cNvSpPr txBox="1"/>
          <p:nvPr/>
        </p:nvSpPr>
        <p:spPr>
          <a:xfrm>
            <a:off x="5596128" y="2532888"/>
            <a:ext cx="2834640" cy="347472"/>
          </a:xfrm>
          <a:prstGeom prst="rect">
            <a:avLst/>
          </a:prstGeom>
          <a:noFill/>
          <a:ln/>
        </p:spPr>
        <p:txBody>
          <a:bodyPr wrap="square" lIns="0" tIns="0" rIns="0" bIns="0" rtlCol="0" anchor="ctr"/>
          <a:lstStyle/>
          <a:p>
            <a:pPr algn="l" indent="0" marL="0">
              <a:lnSpc>
                <a:spcPct val="108000"/>
              </a:lnSpc>
              <a:buNone/>
            </a:pPr>
            <a:r>
              <a:rPr lang="en-US" sz="1060" b="1" dirty="0">
                <a:solidFill>
                  <a:srgbClr val="B3181E"/>
                </a:solidFill>
                <a:latin typeface="Aptos" pitchFamily="34" charset="0"/>
                <a:ea typeface="Aptos" pitchFamily="34" charset="-122"/>
                <a:cs typeface="Aptos" pitchFamily="34" charset="-120"/>
              </a:rPr>
              <a:t>Ninguna ejecutable. Solo leerla: ¿completa? ¿verificable?</a:t>
            </a:r>
            <a:endParaRPr lang="en-US" sz="1060" dirty="0"/>
          </a:p>
        </p:txBody>
      </p:sp>
      <p:sp>
        <p:nvSpPr>
          <p:cNvPr id="20" name="Text 17"/>
          <p:cNvSpPr txBox="1"/>
          <p:nvPr/>
        </p:nvSpPr>
        <p:spPr>
          <a:xfrm>
            <a:off x="8924544" y="2532888"/>
            <a:ext cx="2606040" cy="347472"/>
          </a:xfrm>
          <a:prstGeom prst="rect">
            <a:avLst/>
          </a:prstGeom>
          <a:noFill/>
          <a:ln/>
        </p:spPr>
        <p:txBody>
          <a:bodyPr wrap="square" lIns="0" tIns="0" rIns="0" bIns="0" rtlCol="0" anchor="ctr"/>
          <a:lstStyle/>
          <a:p>
            <a:pPr algn="l" indent="0" marL="0">
              <a:lnSpc>
                <a:spcPct val="108000"/>
              </a:lnSpc>
              <a:buNone/>
            </a:pPr>
            <a:r>
              <a:rPr lang="en-US" sz="1060" b="1" dirty="0">
                <a:solidFill>
                  <a:srgbClr val="B3181E"/>
                </a:solidFill>
                <a:latin typeface="Aptos" pitchFamily="34" charset="0"/>
                <a:ea typeface="Aptos" pitchFamily="34" charset="-122"/>
                <a:cs typeface="Aptos" pitchFamily="34" charset="-120"/>
              </a:rPr>
              <a:t>El dominio y el usuario</a:t>
            </a:r>
            <a:endParaRPr lang="en-US" sz="1060" dirty="0"/>
          </a:p>
        </p:txBody>
      </p:sp>
      <p:sp>
        <p:nvSpPr>
          <p:cNvPr id="21" name="Shape 18"/>
          <p:cNvSpPr/>
          <p:nvPr/>
        </p:nvSpPr>
        <p:spPr>
          <a:xfrm>
            <a:off x="658368" y="2926080"/>
            <a:ext cx="10874959" cy="438912"/>
          </a:xfrm>
          <a:prstGeom prst="rect">
            <a:avLst/>
          </a:prstGeom>
          <a:solidFill>
            <a:srgbClr val="FFFFFF"/>
          </a:solidFill>
          <a:ln w="12700">
            <a:solidFill>
              <a:srgbClr val="FFFFFF"/>
            </a:solidFill>
            <a:prstDash val="solid"/>
          </a:ln>
        </p:spPr>
      </p:sp>
      <p:sp>
        <p:nvSpPr>
          <p:cNvPr id="22" name="Shape 19"/>
          <p:cNvSpPr/>
          <p:nvPr/>
        </p:nvSpPr>
        <p:spPr>
          <a:xfrm>
            <a:off x="658368" y="2926080"/>
            <a:ext cx="45720" cy="438912"/>
          </a:xfrm>
          <a:prstGeom prst="rect">
            <a:avLst/>
          </a:prstGeom>
          <a:solidFill>
            <a:srgbClr val="D8CFC4"/>
          </a:solidFill>
          <a:ln w="12700">
            <a:solidFill>
              <a:srgbClr val="D8CFC4"/>
            </a:solidFill>
            <a:prstDash val="solid"/>
          </a:ln>
        </p:spPr>
      </p:sp>
      <p:sp>
        <p:nvSpPr>
          <p:cNvPr id="23" name="Text 20"/>
          <p:cNvSpPr txBox="1"/>
          <p:nvPr/>
        </p:nvSpPr>
        <p:spPr>
          <a:xfrm>
            <a:off x="841248" y="3044952"/>
            <a:ext cx="1554480" cy="256032"/>
          </a:xfrm>
          <a:prstGeom prst="rect">
            <a:avLst/>
          </a:prstGeom>
          <a:noFill/>
          <a:ln/>
        </p:spPr>
        <p:txBody>
          <a:bodyPr wrap="square" lIns="0" tIns="0" rIns="0" bIns="0" rtlCol="0" anchor="t"/>
          <a:lstStyle/>
          <a:p>
            <a:pPr algn="l" indent="0" marL="0">
              <a:buNone/>
            </a:pPr>
            <a:r>
              <a:rPr lang="en-US" sz="1300" b="1" dirty="0">
                <a:solidFill>
                  <a:srgbClr val="243B53"/>
                </a:solidFill>
                <a:latin typeface="Aptos" pitchFamily="34" charset="0"/>
                <a:ea typeface="Aptos" pitchFamily="34" charset="-122"/>
                <a:cs typeface="Aptos" pitchFamily="34" charset="-120"/>
              </a:rPr>
              <a:t>Diseño</a:t>
            </a:r>
            <a:endParaRPr lang="en-US" sz="1300" dirty="0"/>
          </a:p>
        </p:txBody>
      </p:sp>
      <p:sp>
        <p:nvSpPr>
          <p:cNvPr id="24" name="Text 21"/>
          <p:cNvSpPr txBox="1"/>
          <p:nvPr/>
        </p:nvSpPr>
        <p:spPr>
          <a:xfrm>
            <a:off x="2487168" y="3008376"/>
            <a:ext cx="2962656" cy="347472"/>
          </a:xfrm>
          <a:prstGeom prst="rect">
            <a:avLst/>
          </a:prstGeom>
          <a:noFill/>
          <a:ln/>
        </p:spPr>
        <p:txBody>
          <a:bodyPr wrap="square" lIns="0" tIns="0" rIns="0" bIns="0" rtlCol="0" anchor="ctr"/>
          <a:lstStyle/>
          <a:p>
            <a:pPr algn="l" indent="0" marL="0">
              <a:lnSpc>
                <a:spcPct val="108000"/>
              </a:lnSpc>
              <a:buNone/>
            </a:pPr>
            <a:r>
              <a:rPr lang="en-US" sz="1060" dirty="0">
                <a:solidFill>
                  <a:srgbClr val="52606D"/>
                </a:solidFill>
                <a:latin typeface="Aptos" pitchFamily="34" charset="0"/>
                <a:ea typeface="Aptos" pitchFamily="34" charset="-122"/>
                <a:cs typeface="Aptos" pitchFamily="34" charset="-120"/>
              </a:rPr>
              <a:t>Módulos, contratos e interfaces decididos</a:t>
            </a:r>
            <a:endParaRPr lang="en-US" sz="1060" dirty="0"/>
          </a:p>
        </p:txBody>
      </p:sp>
      <p:sp>
        <p:nvSpPr>
          <p:cNvPr id="25" name="Text 22"/>
          <p:cNvSpPr txBox="1"/>
          <p:nvPr/>
        </p:nvSpPr>
        <p:spPr>
          <a:xfrm>
            <a:off x="5596128" y="3008376"/>
            <a:ext cx="2834640" cy="347472"/>
          </a:xfrm>
          <a:prstGeom prst="rect">
            <a:avLst/>
          </a:prstGeom>
          <a:noFill/>
          <a:ln/>
        </p:spPr>
        <p:txBody>
          <a:bodyPr wrap="square" lIns="0" tIns="0" rIns="0" bIns="0" rtlCol="0" anchor="ctr"/>
          <a:lstStyle/>
          <a:p>
            <a:pPr algn="l" indent="0" marL="0">
              <a:lnSpc>
                <a:spcPct val="108000"/>
              </a:lnSpc>
              <a:buNone/>
            </a:pPr>
            <a:r>
              <a:rPr lang="en-US" sz="1060" dirty="0">
                <a:solidFill>
                  <a:srgbClr val="243B53"/>
                </a:solidFill>
                <a:latin typeface="Aptos" pitchFamily="34" charset="0"/>
                <a:ea typeface="Aptos" pitchFamily="34" charset="-122"/>
                <a:cs typeface="Aptos" pitchFamily="34" charset="-120"/>
              </a:rPr>
              <a:t>Revisión del diseño</a:t>
            </a:r>
            <a:endParaRPr lang="en-US" sz="1060" dirty="0"/>
          </a:p>
        </p:txBody>
      </p:sp>
      <p:sp>
        <p:nvSpPr>
          <p:cNvPr id="26" name="Text 23"/>
          <p:cNvSpPr txBox="1"/>
          <p:nvPr/>
        </p:nvSpPr>
        <p:spPr>
          <a:xfrm>
            <a:off x="8924544" y="3008376"/>
            <a:ext cx="2606040" cy="347472"/>
          </a:xfrm>
          <a:prstGeom prst="rect">
            <a:avLst/>
          </a:prstGeom>
          <a:noFill/>
          <a:ln/>
        </p:spPr>
        <p:txBody>
          <a:bodyPr wrap="square" lIns="0" tIns="0" rIns="0" bIns="0" rtlCol="0" anchor="ctr"/>
          <a:lstStyle/>
          <a:p>
            <a:pPr algn="l" indent="0" marL="0">
              <a:lnSpc>
                <a:spcPct val="108000"/>
              </a:lnSpc>
              <a:buNone/>
            </a:pPr>
            <a:r>
              <a:rPr lang="en-US" sz="1060" b="1" dirty="0">
                <a:solidFill>
                  <a:srgbClr val="255A4C"/>
                </a:solidFill>
                <a:latin typeface="Aptos" pitchFamily="34" charset="0"/>
                <a:ea typeface="Aptos" pitchFamily="34" charset="-122"/>
                <a:cs typeface="Aptos" pitchFamily="34" charset="-120"/>
              </a:rPr>
              <a:t>El requisito escrito</a:t>
            </a:r>
            <a:endParaRPr lang="en-US" sz="1060" dirty="0"/>
          </a:p>
        </p:txBody>
      </p:sp>
      <p:sp>
        <p:nvSpPr>
          <p:cNvPr id="27" name="Shape 24"/>
          <p:cNvSpPr/>
          <p:nvPr/>
        </p:nvSpPr>
        <p:spPr>
          <a:xfrm>
            <a:off x="8686800" y="2980944"/>
            <a:ext cx="0" cy="384048"/>
          </a:xfrm>
          <a:prstGeom prst="line">
            <a:avLst/>
          </a:prstGeom>
          <a:noFill/>
          <a:ln w="12700">
            <a:solidFill>
              <a:srgbClr val="255A4C"/>
            </a:solidFill>
            <a:prstDash val="solid"/>
            <a:headEnd type="triangle"/>
            <a:tailEnd type="none"/>
          </a:ln>
        </p:spPr>
      </p:sp>
      <p:sp>
        <p:nvSpPr>
          <p:cNvPr id="28" name="Shape 25"/>
          <p:cNvSpPr/>
          <p:nvPr/>
        </p:nvSpPr>
        <p:spPr>
          <a:xfrm>
            <a:off x="658368" y="3401568"/>
            <a:ext cx="45720" cy="438912"/>
          </a:xfrm>
          <a:prstGeom prst="rect">
            <a:avLst/>
          </a:prstGeom>
          <a:solidFill>
            <a:srgbClr val="D8CFC4"/>
          </a:solidFill>
          <a:ln w="12700">
            <a:solidFill>
              <a:srgbClr val="D8CFC4"/>
            </a:solidFill>
            <a:prstDash val="solid"/>
          </a:ln>
        </p:spPr>
      </p:sp>
      <p:sp>
        <p:nvSpPr>
          <p:cNvPr id="29" name="Text 26"/>
          <p:cNvSpPr txBox="1"/>
          <p:nvPr/>
        </p:nvSpPr>
        <p:spPr>
          <a:xfrm>
            <a:off x="841248" y="3520440"/>
            <a:ext cx="1554480" cy="256032"/>
          </a:xfrm>
          <a:prstGeom prst="rect">
            <a:avLst/>
          </a:prstGeom>
          <a:noFill/>
          <a:ln/>
        </p:spPr>
        <p:txBody>
          <a:bodyPr wrap="square" lIns="0" tIns="0" rIns="0" bIns="0" rtlCol="0" anchor="t"/>
          <a:lstStyle/>
          <a:p>
            <a:pPr algn="l" indent="0" marL="0">
              <a:buNone/>
            </a:pPr>
            <a:r>
              <a:rPr lang="en-US" sz="1300" b="1" dirty="0">
                <a:solidFill>
                  <a:srgbClr val="243B53"/>
                </a:solidFill>
                <a:latin typeface="Aptos" pitchFamily="34" charset="0"/>
                <a:ea typeface="Aptos" pitchFamily="34" charset="-122"/>
                <a:cs typeface="Aptos" pitchFamily="34" charset="-120"/>
              </a:rPr>
              <a:t>Código</a:t>
            </a:r>
            <a:endParaRPr lang="en-US" sz="1300" dirty="0"/>
          </a:p>
        </p:txBody>
      </p:sp>
      <p:sp>
        <p:nvSpPr>
          <p:cNvPr id="30" name="Text 27"/>
          <p:cNvSpPr txBox="1"/>
          <p:nvPr/>
        </p:nvSpPr>
        <p:spPr>
          <a:xfrm>
            <a:off x="2487168" y="3483864"/>
            <a:ext cx="2962656" cy="347472"/>
          </a:xfrm>
          <a:prstGeom prst="rect">
            <a:avLst/>
          </a:prstGeom>
          <a:noFill/>
          <a:ln/>
        </p:spPr>
        <p:txBody>
          <a:bodyPr wrap="square" lIns="0" tIns="0" rIns="0" bIns="0" rtlCol="0" anchor="ctr"/>
          <a:lstStyle/>
          <a:p>
            <a:pPr algn="l" indent="0" marL="0">
              <a:lnSpc>
                <a:spcPct val="108000"/>
              </a:lnSpc>
              <a:buNone/>
            </a:pPr>
            <a:r>
              <a:rPr lang="en-US" sz="1060" dirty="0">
                <a:solidFill>
                  <a:srgbClr val="52606D"/>
                </a:solidFill>
                <a:latin typeface="Aptos" pitchFamily="34" charset="0"/>
                <a:ea typeface="Aptos" pitchFamily="34" charset="-122"/>
                <a:cs typeface="Aptos" pitchFamily="34" charset="-120"/>
              </a:rPr>
              <a:t>Funciones, tipos y firmas escritas</a:t>
            </a:r>
            <a:endParaRPr lang="en-US" sz="1060" dirty="0"/>
          </a:p>
        </p:txBody>
      </p:sp>
      <p:sp>
        <p:nvSpPr>
          <p:cNvPr id="31" name="Text 28"/>
          <p:cNvSpPr txBox="1"/>
          <p:nvPr/>
        </p:nvSpPr>
        <p:spPr>
          <a:xfrm>
            <a:off x="5596128" y="3483864"/>
            <a:ext cx="2834640" cy="347472"/>
          </a:xfrm>
          <a:prstGeom prst="rect">
            <a:avLst/>
          </a:prstGeom>
          <a:noFill/>
          <a:ln/>
        </p:spPr>
        <p:txBody>
          <a:bodyPr wrap="square" lIns="0" tIns="0" rIns="0" bIns="0" rtlCol="0" anchor="ctr"/>
          <a:lstStyle/>
          <a:p>
            <a:pPr algn="l" indent="0" marL="0">
              <a:lnSpc>
                <a:spcPct val="108000"/>
              </a:lnSpc>
              <a:buNone/>
            </a:pPr>
            <a:r>
              <a:rPr lang="en-US" sz="1060" dirty="0">
                <a:solidFill>
                  <a:srgbClr val="243B53"/>
                </a:solidFill>
                <a:latin typeface="Aptos" pitchFamily="34" charset="0"/>
                <a:ea typeface="Aptos" pitchFamily="34" charset="-122"/>
                <a:cs typeface="Aptos" pitchFamily="34" charset="-120"/>
              </a:rPr>
              <a:t>Tipado, linter, revisión y prueba unitaria</a:t>
            </a:r>
            <a:endParaRPr lang="en-US" sz="1060" dirty="0"/>
          </a:p>
        </p:txBody>
      </p:sp>
      <p:sp>
        <p:nvSpPr>
          <p:cNvPr id="32" name="Text 29"/>
          <p:cNvSpPr txBox="1"/>
          <p:nvPr/>
        </p:nvSpPr>
        <p:spPr>
          <a:xfrm>
            <a:off x="8924544" y="3483864"/>
            <a:ext cx="2606040" cy="347472"/>
          </a:xfrm>
          <a:prstGeom prst="rect">
            <a:avLst/>
          </a:prstGeom>
          <a:noFill/>
          <a:ln/>
        </p:spPr>
        <p:txBody>
          <a:bodyPr wrap="square" lIns="0" tIns="0" rIns="0" bIns="0" rtlCol="0" anchor="ctr"/>
          <a:lstStyle/>
          <a:p>
            <a:pPr algn="l" indent="0" marL="0">
              <a:lnSpc>
                <a:spcPct val="108000"/>
              </a:lnSpc>
              <a:buNone/>
            </a:pPr>
            <a:r>
              <a:rPr lang="en-US" sz="1060" b="1" dirty="0">
                <a:solidFill>
                  <a:srgbClr val="255A4C"/>
                </a:solidFill>
                <a:latin typeface="Aptos" pitchFamily="34" charset="0"/>
                <a:ea typeface="Aptos" pitchFamily="34" charset="-122"/>
                <a:cs typeface="Aptos" pitchFamily="34" charset="-120"/>
              </a:rPr>
              <a:t>El requisito y el diseño</a:t>
            </a:r>
            <a:endParaRPr lang="en-US" sz="1060" dirty="0"/>
          </a:p>
        </p:txBody>
      </p:sp>
      <p:sp>
        <p:nvSpPr>
          <p:cNvPr id="33" name="Shape 30"/>
          <p:cNvSpPr/>
          <p:nvPr/>
        </p:nvSpPr>
        <p:spPr>
          <a:xfrm>
            <a:off x="8686800" y="3456432"/>
            <a:ext cx="0" cy="384048"/>
          </a:xfrm>
          <a:prstGeom prst="line">
            <a:avLst/>
          </a:prstGeom>
          <a:noFill/>
          <a:ln w="12700">
            <a:solidFill>
              <a:srgbClr val="255A4C"/>
            </a:solidFill>
            <a:prstDash val="solid"/>
            <a:headEnd type="triangle"/>
            <a:tailEnd type="none"/>
          </a:ln>
        </p:spPr>
      </p:sp>
      <p:sp>
        <p:nvSpPr>
          <p:cNvPr id="34" name="Shape 31"/>
          <p:cNvSpPr/>
          <p:nvPr/>
        </p:nvSpPr>
        <p:spPr>
          <a:xfrm>
            <a:off x="658368" y="3877056"/>
            <a:ext cx="10874959" cy="438912"/>
          </a:xfrm>
          <a:prstGeom prst="rect">
            <a:avLst/>
          </a:prstGeom>
          <a:solidFill>
            <a:srgbClr val="FFFFFF"/>
          </a:solidFill>
          <a:ln w="12700">
            <a:solidFill>
              <a:srgbClr val="FFFFFF"/>
            </a:solidFill>
            <a:prstDash val="solid"/>
          </a:ln>
        </p:spPr>
      </p:sp>
      <p:sp>
        <p:nvSpPr>
          <p:cNvPr id="35" name="Shape 32"/>
          <p:cNvSpPr/>
          <p:nvPr/>
        </p:nvSpPr>
        <p:spPr>
          <a:xfrm>
            <a:off x="658368" y="3877056"/>
            <a:ext cx="45720" cy="438912"/>
          </a:xfrm>
          <a:prstGeom prst="rect">
            <a:avLst/>
          </a:prstGeom>
          <a:solidFill>
            <a:srgbClr val="D8CFC4"/>
          </a:solidFill>
          <a:ln w="12700">
            <a:solidFill>
              <a:srgbClr val="D8CFC4"/>
            </a:solidFill>
            <a:prstDash val="solid"/>
          </a:ln>
        </p:spPr>
      </p:sp>
      <p:sp>
        <p:nvSpPr>
          <p:cNvPr id="36" name="Text 33"/>
          <p:cNvSpPr txBox="1"/>
          <p:nvPr/>
        </p:nvSpPr>
        <p:spPr>
          <a:xfrm>
            <a:off x="841248" y="3995928"/>
            <a:ext cx="1554480" cy="256032"/>
          </a:xfrm>
          <a:prstGeom prst="rect">
            <a:avLst/>
          </a:prstGeom>
          <a:noFill/>
          <a:ln/>
        </p:spPr>
        <p:txBody>
          <a:bodyPr wrap="square" lIns="0" tIns="0" rIns="0" bIns="0" rtlCol="0" anchor="t"/>
          <a:lstStyle/>
          <a:p>
            <a:pPr algn="l" indent="0" marL="0">
              <a:buNone/>
            </a:pPr>
            <a:r>
              <a:rPr lang="en-US" sz="1300" b="1" dirty="0">
                <a:solidFill>
                  <a:srgbClr val="243B53"/>
                </a:solidFill>
                <a:latin typeface="Aptos" pitchFamily="34" charset="0"/>
                <a:ea typeface="Aptos" pitchFamily="34" charset="-122"/>
                <a:cs typeface="Aptos" pitchFamily="34" charset="-120"/>
              </a:rPr>
              <a:t>Integración</a:t>
            </a:r>
            <a:endParaRPr lang="en-US" sz="1300" dirty="0"/>
          </a:p>
        </p:txBody>
      </p:sp>
      <p:sp>
        <p:nvSpPr>
          <p:cNvPr id="37" name="Text 34"/>
          <p:cNvSpPr txBox="1"/>
          <p:nvPr/>
        </p:nvSpPr>
        <p:spPr>
          <a:xfrm>
            <a:off x="2487168" y="3959352"/>
            <a:ext cx="2962656" cy="347472"/>
          </a:xfrm>
          <a:prstGeom prst="rect">
            <a:avLst/>
          </a:prstGeom>
          <a:noFill/>
          <a:ln/>
        </p:spPr>
        <p:txBody>
          <a:bodyPr wrap="square" lIns="0" tIns="0" rIns="0" bIns="0" rtlCol="0" anchor="ctr"/>
          <a:lstStyle/>
          <a:p>
            <a:pPr algn="l" indent="0" marL="0">
              <a:lnSpc>
                <a:spcPct val="108000"/>
              </a:lnSpc>
              <a:buNone/>
            </a:pPr>
            <a:r>
              <a:rPr lang="en-US" sz="1060" dirty="0">
                <a:solidFill>
                  <a:srgbClr val="52606D"/>
                </a:solidFill>
                <a:latin typeface="Aptos" pitchFamily="34" charset="0"/>
                <a:ea typeface="Aptos" pitchFamily="34" charset="-122"/>
                <a:cs typeface="Aptos" pitchFamily="34" charset="-120"/>
              </a:rPr>
              <a:t>Componentes que se llaman entre sí</a:t>
            </a:r>
            <a:endParaRPr lang="en-US" sz="1060" dirty="0"/>
          </a:p>
        </p:txBody>
      </p:sp>
      <p:sp>
        <p:nvSpPr>
          <p:cNvPr id="38" name="Text 35"/>
          <p:cNvSpPr txBox="1"/>
          <p:nvPr/>
        </p:nvSpPr>
        <p:spPr>
          <a:xfrm>
            <a:off x="5596128" y="3959352"/>
            <a:ext cx="2834640" cy="347472"/>
          </a:xfrm>
          <a:prstGeom prst="rect">
            <a:avLst/>
          </a:prstGeom>
          <a:noFill/>
          <a:ln/>
        </p:spPr>
        <p:txBody>
          <a:bodyPr wrap="square" lIns="0" tIns="0" rIns="0" bIns="0" rtlCol="0" anchor="ctr"/>
          <a:lstStyle/>
          <a:p>
            <a:pPr algn="l" indent="0" marL="0">
              <a:lnSpc>
                <a:spcPct val="108000"/>
              </a:lnSpc>
              <a:buNone/>
            </a:pPr>
            <a:r>
              <a:rPr lang="en-US" sz="1060" dirty="0">
                <a:solidFill>
                  <a:srgbClr val="243B53"/>
                </a:solidFill>
                <a:latin typeface="Aptos" pitchFamily="34" charset="0"/>
                <a:ea typeface="Aptos" pitchFamily="34" charset="-122"/>
                <a:cs typeface="Aptos" pitchFamily="34" charset="-120"/>
              </a:rPr>
              <a:t>Prueba de integración</a:t>
            </a:r>
            <a:endParaRPr lang="en-US" sz="1060" dirty="0"/>
          </a:p>
        </p:txBody>
      </p:sp>
      <p:sp>
        <p:nvSpPr>
          <p:cNvPr id="39" name="Text 36"/>
          <p:cNvSpPr txBox="1"/>
          <p:nvPr/>
        </p:nvSpPr>
        <p:spPr>
          <a:xfrm>
            <a:off x="8924544" y="3959352"/>
            <a:ext cx="2606040" cy="347472"/>
          </a:xfrm>
          <a:prstGeom prst="rect">
            <a:avLst/>
          </a:prstGeom>
          <a:noFill/>
          <a:ln/>
        </p:spPr>
        <p:txBody>
          <a:bodyPr wrap="square" lIns="0" tIns="0" rIns="0" bIns="0" rtlCol="0" anchor="ctr"/>
          <a:lstStyle/>
          <a:p>
            <a:pPr algn="l" indent="0" marL="0">
              <a:lnSpc>
                <a:spcPct val="108000"/>
              </a:lnSpc>
              <a:buNone/>
            </a:pPr>
            <a:r>
              <a:rPr lang="en-US" sz="1060" b="1" dirty="0">
                <a:solidFill>
                  <a:srgbClr val="255A4C"/>
                </a:solidFill>
                <a:latin typeface="Aptos" pitchFamily="34" charset="0"/>
                <a:ea typeface="Aptos" pitchFamily="34" charset="-122"/>
                <a:cs typeface="Aptos" pitchFamily="34" charset="-120"/>
              </a:rPr>
              <a:t>Los contratos de interfaz</a:t>
            </a:r>
            <a:endParaRPr lang="en-US" sz="1060" dirty="0"/>
          </a:p>
        </p:txBody>
      </p:sp>
      <p:sp>
        <p:nvSpPr>
          <p:cNvPr id="40" name="Shape 37"/>
          <p:cNvSpPr/>
          <p:nvPr/>
        </p:nvSpPr>
        <p:spPr>
          <a:xfrm>
            <a:off x="8686800" y="3931920"/>
            <a:ext cx="0" cy="384048"/>
          </a:xfrm>
          <a:prstGeom prst="line">
            <a:avLst/>
          </a:prstGeom>
          <a:noFill/>
          <a:ln w="12700">
            <a:solidFill>
              <a:srgbClr val="255A4C"/>
            </a:solidFill>
            <a:prstDash val="solid"/>
            <a:headEnd type="triangle"/>
            <a:tailEnd type="none"/>
          </a:ln>
        </p:spPr>
      </p:sp>
      <p:sp>
        <p:nvSpPr>
          <p:cNvPr id="41" name="Shape 38"/>
          <p:cNvSpPr/>
          <p:nvPr/>
        </p:nvSpPr>
        <p:spPr>
          <a:xfrm>
            <a:off x="658368" y="4352544"/>
            <a:ext cx="45720" cy="438912"/>
          </a:xfrm>
          <a:prstGeom prst="rect">
            <a:avLst/>
          </a:prstGeom>
          <a:solidFill>
            <a:srgbClr val="D8CFC4"/>
          </a:solidFill>
          <a:ln w="12700">
            <a:solidFill>
              <a:srgbClr val="D8CFC4"/>
            </a:solidFill>
            <a:prstDash val="solid"/>
          </a:ln>
        </p:spPr>
      </p:sp>
      <p:sp>
        <p:nvSpPr>
          <p:cNvPr id="42" name="Text 39"/>
          <p:cNvSpPr txBox="1"/>
          <p:nvPr/>
        </p:nvSpPr>
        <p:spPr>
          <a:xfrm>
            <a:off x="841248" y="4471416"/>
            <a:ext cx="1554480" cy="256032"/>
          </a:xfrm>
          <a:prstGeom prst="rect">
            <a:avLst/>
          </a:prstGeom>
          <a:noFill/>
          <a:ln/>
        </p:spPr>
        <p:txBody>
          <a:bodyPr wrap="square" lIns="0" tIns="0" rIns="0" bIns="0" rtlCol="0" anchor="t"/>
          <a:lstStyle/>
          <a:p>
            <a:pPr algn="l" indent="0" marL="0">
              <a:buNone/>
            </a:pPr>
            <a:r>
              <a:rPr lang="en-US" sz="1300" b="1" dirty="0">
                <a:solidFill>
                  <a:srgbClr val="243B53"/>
                </a:solidFill>
                <a:latin typeface="Aptos" pitchFamily="34" charset="0"/>
                <a:ea typeface="Aptos" pitchFamily="34" charset="-122"/>
                <a:cs typeface="Aptos" pitchFamily="34" charset="-120"/>
              </a:rPr>
              <a:t>Sistema</a:t>
            </a:r>
            <a:endParaRPr lang="en-US" sz="1300" dirty="0"/>
          </a:p>
        </p:txBody>
      </p:sp>
      <p:sp>
        <p:nvSpPr>
          <p:cNvPr id="43" name="Text 40"/>
          <p:cNvSpPr txBox="1"/>
          <p:nvPr/>
        </p:nvSpPr>
        <p:spPr>
          <a:xfrm>
            <a:off x="2487168" y="4434840"/>
            <a:ext cx="2962656" cy="347472"/>
          </a:xfrm>
          <a:prstGeom prst="rect">
            <a:avLst/>
          </a:prstGeom>
          <a:noFill/>
          <a:ln/>
        </p:spPr>
        <p:txBody>
          <a:bodyPr wrap="square" lIns="0" tIns="0" rIns="0" bIns="0" rtlCol="0" anchor="ctr"/>
          <a:lstStyle/>
          <a:p>
            <a:pPr algn="l" indent="0" marL="0">
              <a:lnSpc>
                <a:spcPct val="108000"/>
              </a:lnSpc>
              <a:buNone/>
            </a:pPr>
            <a:r>
              <a:rPr lang="en-US" sz="1060" dirty="0">
                <a:solidFill>
                  <a:srgbClr val="52606D"/>
                </a:solidFill>
                <a:latin typeface="Aptos" pitchFamily="34" charset="0"/>
                <a:ea typeface="Aptos" pitchFamily="34" charset="-122"/>
                <a:cs typeface="Aptos" pitchFamily="34" charset="-120"/>
              </a:rPr>
              <a:t>El producto completo y desplegado</a:t>
            </a:r>
            <a:endParaRPr lang="en-US" sz="1060" dirty="0"/>
          </a:p>
        </p:txBody>
      </p:sp>
      <p:sp>
        <p:nvSpPr>
          <p:cNvPr id="44" name="Text 41"/>
          <p:cNvSpPr txBox="1"/>
          <p:nvPr/>
        </p:nvSpPr>
        <p:spPr>
          <a:xfrm>
            <a:off x="5596128" y="4434840"/>
            <a:ext cx="2834640" cy="347472"/>
          </a:xfrm>
          <a:prstGeom prst="rect">
            <a:avLst/>
          </a:prstGeom>
          <a:noFill/>
          <a:ln/>
        </p:spPr>
        <p:txBody>
          <a:bodyPr wrap="square" lIns="0" tIns="0" rIns="0" bIns="0" rtlCol="0" anchor="ctr"/>
          <a:lstStyle/>
          <a:p>
            <a:pPr algn="l" indent="0" marL="0">
              <a:lnSpc>
                <a:spcPct val="108000"/>
              </a:lnSpc>
              <a:buNone/>
            </a:pPr>
            <a:r>
              <a:rPr lang="en-US" sz="1060" dirty="0">
                <a:solidFill>
                  <a:srgbClr val="243B53"/>
                </a:solidFill>
                <a:latin typeface="Aptos" pitchFamily="34" charset="0"/>
                <a:ea typeface="Aptos" pitchFamily="34" charset="-122"/>
                <a:cs typeface="Aptos" pitchFamily="34" charset="-120"/>
              </a:rPr>
              <a:t>Prueba de sistema y extremo a extremo</a:t>
            </a:r>
            <a:endParaRPr lang="en-US" sz="1060" dirty="0"/>
          </a:p>
        </p:txBody>
      </p:sp>
      <p:sp>
        <p:nvSpPr>
          <p:cNvPr id="45" name="Text 42"/>
          <p:cNvSpPr txBox="1"/>
          <p:nvPr/>
        </p:nvSpPr>
        <p:spPr>
          <a:xfrm>
            <a:off x="8924544" y="4434840"/>
            <a:ext cx="2606040" cy="347472"/>
          </a:xfrm>
          <a:prstGeom prst="rect">
            <a:avLst/>
          </a:prstGeom>
          <a:noFill/>
          <a:ln/>
        </p:spPr>
        <p:txBody>
          <a:bodyPr wrap="square" lIns="0" tIns="0" rIns="0" bIns="0" rtlCol="0" anchor="ctr"/>
          <a:lstStyle/>
          <a:p>
            <a:pPr algn="l" indent="0" marL="0">
              <a:lnSpc>
                <a:spcPct val="108000"/>
              </a:lnSpc>
              <a:buNone/>
            </a:pPr>
            <a:r>
              <a:rPr lang="en-US" sz="1060" b="1" dirty="0">
                <a:solidFill>
                  <a:srgbClr val="255A4C"/>
                </a:solidFill>
                <a:latin typeface="Aptos" pitchFamily="34" charset="0"/>
                <a:ea typeface="Aptos" pitchFamily="34" charset="-122"/>
                <a:cs typeface="Aptos" pitchFamily="34" charset="-120"/>
              </a:rPr>
              <a:t>El requisito, completo</a:t>
            </a:r>
            <a:endParaRPr lang="en-US" sz="1060" dirty="0"/>
          </a:p>
        </p:txBody>
      </p:sp>
      <p:sp>
        <p:nvSpPr>
          <p:cNvPr id="46" name="Shape 43"/>
          <p:cNvSpPr/>
          <p:nvPr/>
        </p:nvSpPr>
        <p:spPr>
          <a:xfrm>
            <a:off x="8686800" y="4407408"/>
            <a:ext cx="0" cy="384048"/>
          </a:xfrm>
          <a:prstGeom prst="line">
            <a:avLst/>
          </a:prstGeom>
          <a:noFill/>
          <a:ln w="12700">
            <a:solidFill>
              <a:srgbClr val="255A4C"/>
            </a:solidFill>
            <a:prstDash val="solid"/>
            <a:headEnd type="triangle"/>
            <a:tailEnd type="none"/>
          </a:ln>
        </p:spPr>
      </p:sp>
      <p:sp>
        <p:nvSpPr>
          <p:cNvPr id="47" name="Shape 44"/>
          <p:cNvSpPr/>
          <p:nvPr/>
        </p:nvSpPr>
        <p:spPr>
          <a:xfrm>
            <a:off x="658368" y="4828032"/>
            <a:ext cx="10874959" cy="438912"/>
          </a:xfrm>
          <a:prstGeom prst="rect">
            <a:avLst/>
          </a:prstGeom>
          <a:solidFill>
            <a:srgbClr val="FFFFFF"/>
          </a:solidFill>
          <a:ln w="12700">
            <a:solidFill>
              <a:srgbClr val="FFFFFF"/>
            </a:solidFill>
            <a:prstDash val="solid"/>
          </a:ln>
        </p:spPr>
      </p:sp>
      <p:sp>
        <p:nvSpPr>
          <p:cNvPr id="48" name="Shape 45"/>
          <p:cNvSpPr/>
          <p:nvPr/>
        </p:nvSpPr>
        <p:spPr>
          <a:xfrm>
            <a:off x="658368" y="4828032"/>
            <a:ext cx="45720" cy="438912"/>
          </a:xfrm>
          <a:prstGeom prst="rect">
            <a:avLst/>
          </a:prstGeom>
          <a:solidFill>
            <a:srgbClr val="D8CFC4"/>
          </a:solidFill>
          <a:ln w="12700">
            <a:solidFill>
              <a:srgbClr val="D8CFC4"/>
            </a:solidFill>
            <a:prstDash val="solid"/>
          </a:ln>
        </p:spPr>
      </p:sp>
      <p:sp>
        <p:nvSpPr>
          <p:cNvPr id="49" name="Text 46"/>
          <p:cNvSpPr txBox="1"/>
          <p:nvPr/>
        </p:nvSpPr>
        <p:spPr>
          <a:xfrm>
            <a:off x="841248" y="4946904"/>
            <a:ext cx="1554480" cy="256032"/>
          </a:xfrm>
          <a:prstGeom prst="rect">
            <a:avLst/>
          </a:prstGeom>
          <a:noFill/>
          <a:ln/>
        </p:spPr>
        <p:txBody>
          <a:bodyPr wrap="square" lIns="0" tIns="0" rIns="0" bIns="0" rtlCol="0" anchor="t"/>
          <a:lstStyle/>
          <a:p>
            <a:pPr algn="l" indent="0" marL="0">
              <a:buNone/>
            </a:pPr>
            <a:r>
              <a:rPr lang="en-US" sz="1300" b="1" dirty="0">
                <a:solidFill>
                  <a:srgbClr val="243B53"/>
                </a:solidFill>
                <a:latin typeface="Aptos" pitchFamily="34" charset="0"/>
                <a:ea typeface="Aptos" pitchFamily="34" charset="-122"/>
                <a:cs typeface="Aptos" pitchFamily="34" charset="-120"/>
              </a:rPr>
              <a:t>Operación</a:t>
            </a:r>
            <a:endParaRPr lang="en-US" sz="1300" dirty="0"/>
          </a:p>
        </p:txBody>
      </p:sp>
      <p:sp>
        <p:nvSpPr>
          <p:cNvPr id="50" name="Text 47"/>
          <p:cNvSpPr txBox="1"/>
          <p:nvPr/>
        </p:nvSpPr>
        <p:spPr>
          <a:xfrm>
            <a:off x="2487168" y="4910328"/>
            <a:ext cx="2962656" cy="347472"/>
          </a:xfrm>
          <a:prstGeom prst="rect">
            <a:avLst/>
          </a:prstGeom>
          <a:noFill/>
          <a:ln/>
        </p:spPr>
        <p:txBody>
          <a:bodyPr wrap="square" lIns="0" tIns="0" rIns="0" bIns="0" rtlCol="0" anchor="ctr"/>
          <a:lstStyle/>
          <a:p>
            <a:pPr algn="l" indent="0" marL="0">
              <a:lnSpc>
                <a:spcPct val="108000"/>
              </a:lnSpc>
              <a:buNone/>
            </a:pPr>
            <a:r>
              <a:rPr lang="en-US" sz="1060" dirty="0">
                <a:solidFill>
                  <a:srgbClr val="52606D"/>
                </a:solidFill>
                <a:latin typeface="Aptos" pitchFamily="34" charset="0"/>
                <a:ea typeface="Aptos" pitchFamily="34" charset="-122"/>
                <a:cs typeface="Aptos" pitchFamily="34" charset="-120"/>
              </a:rPr>
              <a:t>El producto en uso, con usuarios reales</a:t>
            </a:r>
            <a:endParaRPr lang="en-US" sz="1060" dirty="0"/>
          </a:p>
        </p:txBody>
      </p:sp>
      <p:sp>
        <p:nvSpPr>
          <p:cNvPr id="51" name="Text 48"/>
          <p:cNvSpPr txBox="1"/>
          <p:nvPr/>
        </p:nvSpPr>
        <p:spPr>
          <a:xfrm>
            <a:off x="5596128" y="4910328"/>
            <a:ext cx="2834640" cy="347472"/>
          </a:xfrm>
          <a:prstGeom prst="rect">
            <a:avLst/>
          </a:prstGeom>
          <a:noFill/>
          <a:ln/>
        </p:spPr>
        <p:txBody>
          <a:bodyPr wrap="square" lIns="0" tIns="0" rIns="0" bIns="0" rtlCol="0" anchor="ctr"/>
          <a:lstStyle/>
          <a:p>
            <a:pPr algn="l" indent="0" marL="0">
              <a:lnSpc>
                <a:spcPct val="108000"/>
              </a:lnSpc>
              <a:buNone/>
            </a:pPr>
            <a:r>
              <a:rPr lang="en-US" sz="1060" dirty="0">
                <a:solidFill>
                  <a:srgbClr val="243B53"/>
                </a:solidFill>
                <a:latin typeface="Aptos" pitchFamily="34" charset="0"/>
                <a:ea typeface="Aptos" pitchFamily="34" charset="-122"/>
                <a:cs typeface="Aptos" pitchFamily="34" charset="-120"/>
              </a:rPr>
              <a:t>Validación, monitoreo e incidentes</a:t>
            </a:r>
            <a:endParaRPr lang="en-US" sz="1060" dirty="0"/>
          </a:p>
        </p:txBody>
      </p:sp>
      <p:sp>
        <p:nvSpPr>
          <p:cNvPr id="52" name="Text 49"/>
          <p:cNvSpPr txBox="1"/>
          <p:nvPr/>
        </p:nvSpPr>
        <p:spPr>
          <a:xfrm>
            <a:off x="8924544" y="4910328"/>
            <a:ext cx="2606040" cy="347472"/>
          </a:xfrm>
          <a:prstGeom prst="rect">
            <a:avLst/>
          </a:prstGeom>
          <a:noFill/>
          <a:ln/>
        </p:spPr>
        <p:txBody>
          <a:bodyPr wrap="square" lIns="0" tIns="0" rIns="0" bIns="0" rtlCol="0" anchor="ctr"/>
          <a:lstStyle/>
          <a:p>
            <a:pPr algn="l" indent="0" marL="0">
              <a:lnSpc>
                <a:spcPct val="108000"/>
              </a:lnSpc>
              <a:buNone/>
            </a:pPr>
            <a:r>
              <a:rPr lang="en-US" sz="1060" b="1" dirty="0">
                <a:solidFill>
                  <a:srgbClr val="255A4C"/>
                </a:solidFill>
                <a:latin typeface="Aptos" pitchFamily="34" charset="0"/>
                <a:ea typeface="Aptos" pitchFamily="34" charset="-122"/>
                <a:cs typeface="Aptos" pitchFamily="34" charset="-120"/>
              </a:rPr>
              <a:t>La necesidad real</a:t>
            </a:r>
            <a:endParaRPr lang="en-US" sz="1060" dirty="0"/>
          </a:p>
        </p:txBody>
      </p:sp>
      <p:sp>
        <p:nvSpPr>
          <p:cNvPr id="53" name="Shape 50"/>
          <p:cNvSpPr/>
          <p:nvPr/>
        </p:nvSpPr>
        <p:spPr>
          <a:xfrm>
            <a:off x="8686800" y="4882896"/>
            <a:ext cx="0" cy="384048"/>
          </a:xfrm>
          <a:prstGeom prst="line">
            <a:avLst/>
          </a:prstGeom>
          <a:noFill/>
          <a:ln w="12700">
            <a:solidFill>
              <a:srgbClr val="255A4C"/>
            </a:solidFill>
            <a:prstDash val="solid"/>
            <a:headEnd type="triangle"/>
            <a:tailEnd type="none"/>
          </a:ln>
        </p:spPr>
      </p:sp>
      <p:sp>
        <p:nvSpPr>
          <p:cNvPr id="54" name="Shape 51"/>
          <p:cNvSpPr/>
          <p:nvPr/>
        </p:nvSpPr>
        <p:spPr>
          <a:xfrm>
            <a:off x="658368" y="5321808"/>
            <a:ext cx="10874959" cy="0"/>
          </a:xfrm>
          <a:prstGeom prst="line">
            <a:avLst/>
          </a:prstGeom>
          <a:noFill/>
          <a:ln w="12700">
            <a:solidFill>
              <a:srgbClr val="D8CFC4"/>
            </a:solidFill>
            <a:prstDash val="solid"/>
            <a:headEnd type="none"/>
            <a:tailEnd type="none"/>
          </a:ln>
        </p:spPr>
      </p:sp>
      <p:sp>
        <p:nvSpPr>
          <p:cNvPr id="55" name="Text 52"/>
          <p:cNvSpPr txBox="1"/>
          <p:nvPr/>
        </p:nvSpPr>
        <p:spPr>
          <a:xfrm>
            <a:off x="658368" y="5413248"/>
            <a:ext cx="10874959" cy="237744"/>
          </a:xfrm>
          <a:prstGeom prst="rect">
            <a:avLst/>
          </a:prstGeom>
          <a:noFill/>
          <a:ln/>
        </p:spPr>
        <p:txBody>
          <a:bodyPr wrap="square" lIns="0" tIns="0" rIns="0" bIns="0" rtlCol="0" anchor="t"/>
          <a:lstStyle/>
          <a:p>
            <a:pPr algn="ctr" indent="0" marL="0">
              <a:buNone/>
            </a:pPr>
            <a:r>
              <a:rPr lang="en-US" sz="1220" i="1" dirty="0">
                <a:solidFill>
                  <a:srgbClr val="52606D"/>
                </a:solidFill>
                <a:latin typeface="Aptos" pitchFamily="34" charset="0"/>
                <a:ea typeface="Aptos" pitchFamily="34" charset="-122"/>
                <a:cs typeface="Aptos" pitchFamily="34" charset="-120"/>
              </a:rPr>
              <a:t>Las flechas de la última columna apuntan hacia arriba: la referencia de cada etapa es el producto de la etapa anterior.</a:t>
            </a:r>
            <a:endParaRPr lang="en-US" sz="1220" dirty="0"/>
          </a:p>
        </p:txBody>
      </p:sp>
      <p:sp>
        <p:nvSpPr>
          <p:cNvPr id="56" name="Shape 53"/>
          <p:cNvSpPr/>
          <p:nvPr/>
        </p:nvSpPr>
        <p:spPr>
          <a:xfrm>
            <a:off x="658368" y="5742432"/>
            <a:ext cx="10874959" cy="548640"/>
          </a:xfrm>
          <a:prstGeom prst="rect">
            <a:avLst/>
          </a:prstGeom>
          <a:solidFill>
            <a:srgbClr val="102A43"/>
          </a:solidFill>
          <a:ln w="12700">
            <a:solidFill>
              <a:srgbClr val="102A43"/>
            </a:solidFill>
            <a:prstDash val="solid"/>
          </a:ln>
        </p:spPr>
      </p:sp>
      <p:sp>
        <p:nvSpPr>
          <p:cNvPr id="57" name="Text 54"/>
          <p:cNvSpPr txBox="1"/>
          <p:nvPr/>
        </p:nvSpPr>
        <p:spPr>
          <a:xfrm>
            <a:off x="969264" y="5788152"/>
            <a:ext cx="10253167" cy="457200"/>
          </a:xfrm>
          <a:prstGeom prst="rect">
            <a:avLst/>
          </a:prstGeom>
          <a:noFill/>
          <a:ln/>
        </p:spPr>
        <p:txBody>
          <a:bodyPr wrap="square" lIns="0" tIns="0" rIns="0" bIns="0" rtlCol="0" anchor="ctr"/>
          <a:lstStyle/>
          <a:p>
            <a:pPr algn="ctr" indent="0" marL="0">
              <a:lnSpc>
                <a:spcPct val="112000"/>
              </a:lnSpc>
              <a:buNone/>
            </a:pPr>
            <a:r>
              <a:rPr lang="en-US" sz="1380" b="1" dirty="0">
                <a:solidFill>
                  <a:srgbClr val="FFFFFF"/>
                </a:solidFill>
                <a:latin typeface="Aptos" pitchFamily="34" charset="0"/>
                <a:ea typeface="Aptos" pitchFamily="34" charset="-122"/>
                <a:cs typeface="Aptos" pitchFamily="34" charset="-120"/>
              </a:rPr>
              <a:t>Requisitos es la única fila sin nada que ejecutar, y la única cuya referencia está fuera del proyecto.</a:t>
            </a:r>
            <a:endParaRPr lang="en-US" sz="13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07</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LA CONSECUENCIA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Por qué un error en el requisito es invisible</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Si cada etapa compara contra la anterior, la primera no tiene contra qué compararse. Y todo lo demás la usa de referencia.</a:t>
            </a:r>
            <a:endParaRPr lang="en-US" sz="1450" dirty="0"/>
          </a:p>
        </p:txBody>
      </p:sp>
      <p:sp>
        <p:nvSpPr>
          <p:cNvPr id="11" name="Shape 8"/>
          <p:cNvSpPr/>
          <p:nvPr/>
        </p:nvSpPr>
        <p:spPr>
          <a:xfrm>
            <a:off x="4114800" y="2340864"/>
            <a:ext cx="3968496" cy="603504"/>
          </a:xfrm>
          <a:prstGeom prst="rect">
            <a:avLst/>
          </a:prstGeom>
          <a:solidFill>
            <a:srgbClr val="B3181E"/>
          </a:solidFill>
          <a:ln w="12700">
            <a:solidFill>
              <a:srgbClr val="B3181E"/>
            </a:solidFill>
            <a:prstDash val="solid"/>
          </a:ln>
        </p:spPr>
      </p:sp>
      <p:sp>
        <p:nvSpPr>
          <p:cNvPr id="12" name="Text 9"/>
          <p:cNvSpPr txBox="1"/>
          <p:nvPr/>
        </p:nvSpPr>
        <p:spPr>
          <a:xfrm>
            <a:off x="4114800" y="2395728"/>
            <a:ext cx="3968496" cy="219456"/>
          </a:xfrm>
          <a:prstGeom prst="rect">
            <a:avLst/>
          </a:prstGeom>
          <a:noFill/>
          <a:ln/>
        </p:spPr>
        <p:txBody>
          <a:bodyPr wrap="square" lIns="0" tIns="0" rIns="0" bIns="0" rtlCol="0" anchor="t"/>
          <a:lstStyle/>
          <a:p>
            <a:pPr algn="ctr" indent="0" marL="0">
              <a:buNone/>
            </a:pPr>
            <a:r>
              <a:rPr lang="en-US" sz="1000" b="1" spc="140" kern="0" dirty="0">
                <a:solidFill>
                  <a:srgbClr val="FFFFFF"/>
                </a:solidFill>
                <a:latin typeface="Aptos" pitchFamily="34" charset="0"/>
                <a:ea typeface="Aptos" pitchFamily="34" charset="-122"/>
                <a:cs typeface="Aptos" pitchFamily="34" charset="-120"/>
              </a:rPr>
              <a:t>EL REQUISITO</a:t>
            </a:r>
            <a:endParaRPr lang="en-US" sz="1000" dirty="0"/>
          </a:p>
        </p:txBody>
      </p:sp>
      <p:sp>
        <p:nvSpPr>
          <p:cNvPr id="13" name="Text 10"/>
          <p:cNvSpPr txBox="1"/>
          <p:nvPr/>
        </p:nvSpPr>
        <p:spPr>
          <a:xfrm>
            <a:off x="4114800" y="2633472"/>
            <a:ext cx="3968496" cy="256032"/>
          </a:xfrm>
          <a:prstGeom prst="rect">
            <a:avLst/>
          </a:prstGeom>
          <a:noFill/>
          <a:ln/>
        </p:spPr>
        <p:txBody>
          <a:bodyPr wrap="square" lIns="0" tIns="0" rIns="0" bIns="0" rtlCol="0" anchor="t"/>
          <a:lstStyle/>
          <a:p>
            <a:pPr algn="ctr" indent="0" marL="0">
              <a:buNone/>
            </a:pPr>
            <a:r>
              <a:rPr lang="en-US" sz="1340" i="1" dirty="0">
                <a:solidFill>
                  <a:srgbClr val="FFFFFF"/>
                </a:solidFill>
                <a:latin typeface="Aptos" pitchFamily="34" charset="0"/>
                <a:ea typeface="Aptos" pitchFamily="34" charset="-122"/>
                <a:cs typeface="Aptos" pitchFamily="34" charset="-120"/>
              </a:rPr>
              <a:t>si aquí hay un error…</a:t>
            </a:r>
            <a:endParaRPr lang="en-US" sz="1340" dirty="0"/>
          </a:p>
        </p:txBody>
      </p:sp>
      <p:sp>
        <p:nvSpPr>
          <p:cNvPr id="14" name="Shape 11"/>
          <p:cNvSpPr/>
          <p:nvPr/>
        </p:nvSpPr>
        <p:spPr>
          <a:xfrm flipH="1">
            <a:off x="2386584" y="2944368"/>
            <a:ext cx="3709721" cy="475488"/>
          </a:xfrm>
          <a:prstGeom prst="line">
            <a:avLst/>
          </a:prstGeom>
          <a:noFill/>
          <a:ln w="12700">
            <a:solidFill>
              <a:srgbClr val="52606D"/>
            </a:solidFill>
            <a:prstDash val="solid"/>
            <a:tailEnd type="triangle"/>
          </a:ln>
        </p:spPr>
      </p:sp>
      <p:sp>
        <p:nvSpPr>
          <p:cNvPr id="15" name="Shape 12"/>
          <p:cNvSpPr/>
          <p:nvPr/>
        </p:nvSpPr>
        <p:spPr>
          <a:xfrm>
            <a:off x="658368" y="3493008"/>
            <a:ext cx="3456432" cy="859536"/>
          </a:xfrm>
          <a:prstGeom prst="rect">
            <a:avLst/>
          </a:prstGeom>
          <a:solidFill>
            <a:srgbClr val="FFFFFF"/>
          </a:solidFill>
          <a:ln w="12700">
            <a:solidFill>
              <a:srgbClr val="FFFFFF"/>
            </a:solidFill>
            <a:prstDash val="solid"/>
          </a:ln>
        </p:spPr>
      </p:sp>
      <p:sp>
        <p:nvSpPr>
          <p:cNvPr id="16" name="Text 13"/>
          <p:cNvSpPr txBox="1"/>
          <p:nvPr/>
        </p:nvSpPr>
        <p:spPr>
          <a:xfrm>
            <a:off x="877824" y="3639312"/>
            <a:ext cx="3017520" cy="256032"/>
          </a:xfrm>
          <a:prstGeom prst="rect">
            <a:avLst/>
          </a:prstGeom>
          <a:noFill/>
          <a:ln/>
        </p:spPr>
        <p:txBody>
          <a:bodyPr wrap="square" lIns="0" tIns="0" rIns="0" bIns="0" rtlCol="0" anchor="t"/>
          <a:lstStyle/>
          <a:p>
            <a:pPr algn="l" indent="0" marL="0">
              <a:buNone/>
            </a:pPr>
            <a:r>
              <a:rPr lang="en-US" sz="1340" b="1" dirty="0">
                <a:solidFill>
                  <a:srgbClr val="243B53"/>
                </a:solidFill>
                <a:latin typeface="Aptos" pitchFamily="34" charset="0"/>
                <a:ea typeface="Aptos" pitchFamily="34" charset="-122"/>
                <a:cs typeface="Aptos" pitchFamily="34" charset="-120"/>
              </a:rPr>
              <a:t>Prueba unitaria</a:t>
            </a:r>
            <a:endParaRPr lang="en-US" sz="1340" dirty="0"/>
          </a:p>
        </p:txBody>
      </p:sp>
      <p:sp>
        <p:nvSpPr>
          <p:cNvPr id="17" name="Text 14"/>
          <p:cNvSpPr txBox="1"/>
          <p:nvPr/>
        </p:nvSpPr>
        <p:spPr>
          <a:xfrm>
            <a:off x="877824" y="3931920"/>
            <a:ext cx="3017520" cy="256032"/>
          </a:xfrm>
          <a:prstGeom prst="rect">
            <a:avLst/>
          </a:prstGeom>
          <a:noFill/>
          <a:ln/>
        </p:spPr>
        <p:txBody>
          <a:bodyPr wrap="square" lIns="0" tIns="0" rIns="0" bIns="0" rtlCol="0" anchor="t"/>
          <a:lstStyle/>
          <a:p>
            <a:pPr algn="l" indent="0" marL="0">
              <a:buNone/>
            </a:pPr>
            <a:r>
              <a:rPr lang="en-US" sz="1160" dirty="0">
                <a:solidFill>
                  <a:srgbClr val="52606D"/>
                </a:solidFill>
                <a:latin typeface="Aptos" pitchFamily="34" charset="0"/>
                <a:ea typeface="Aptos" pitchFamily="34" charset="-122"/>
                <a:cs typeface="Aptos" pitchFamily="34" charset="-120"/>
              </a:rPr>
              <a:t>compara el código contra él</a:t>
            </a:r>
            <a:endParaRPr lang="en-US" sz="1160" dirty="0"/>
          </a:p>
        </p:txBody>
      </p:sp>
      <p:sp>
        <p:nvSpPr>
          <p:cNvPr id="18" name="Shape 15"/>
          <p:cNvSpPr/>
          <p:nvPr/>
        </p:nvSpPr>
        <p:spPr>
          <a:xfrm>
            <a:off x="658368" y="4352544"/>
            <a:ext cx="3456432" cy="365760"/>
          </a:xfrm>
          <a:prstGeom prst="rect">
            <a:avLst/>
          </a:prstGeom>
          <a:solidFill>
            <a:srgbClr val="E9F6EE"/>
          </a:solidFill>
          <a:ln w="12700">
            <a:solidFill>
              <a:srgbClr val="E9F6EE"/>
            </a:solidFill>
            <a:prstDash val="solid"/>
          </a:ln>
        </p:spPr>
      </p:sp>
      <p:sp>
        <p:nvSpPr>
          <p:cNvPr id="19" name="Text 16"/>
          <p:cNvSpPr txBox="1"/>
          <p:nvPr/>
        </p:nvSpPr>
        <p:spPr>
          <a:xfrm>
            <a:off x="877824" y="4416552"/>
            <a:ext cx="3017520" cy="237744"/>
          </a:xfrm>
          <a:prstGeom prst="rect">
            <a:avLst/>
          </a:prstGeom>
          <a:noFill/>
          <a:ln/>
        </p:spPr>
        <p:txBody>
          <a:bodyPr wrap="square" lIns="0" tIns="0" rIns="0" bIns="0" rtlCol="0" anchor="t"/>
          <a:lstStyle/>
          <a:p>
            <a:pPr algn="l" indent="0" marL="0">
              <a:buNone/>
            </a:pPr>
            <a:r>
              <a:rPr lang="en-US" sz="1200" b="1" dirty="0">
                <a:solidFill>
                  <a:srgbClr val="2E7D4F"/>
                </a:solidFill>
                <a:latin typeface="Aptos" pitchFamily="34" charset="0"/>
                <a:ea typeface="Aptos" pitchFamily="34" charset="-122"/>
                <a:cs typeface="Aptos" pitchFamily="34" charset="-120"/>
              </a:rPr>
              <a:t>→  verde</a:t>
            </a:r>
            <a:endParaRPr lang="en-US" sz="1200" dirty="0"/>
          </a:p>
        </p:txBody>
      </p:sp>
      <p:sp>
        <p:nvSpPr>
          <p:cNvPr id="20" name="Shape 17"/>
          <p:cNvSpPr/>
          <p:nvPr/>
        </p:nvSpPr>
        <p:spPr>
          <a:xfrm>
            <a:off x="6096305" y="2944368"/>
            <a:ext cx="2743" cy="475488"/>
          </a:xfrm>
          <a:prstGeom prst="line">
            <a:avLst/>
          </a:prstGeom>
          <a:noFill/>
          <a:ln w="12700">
            <a:solidFill>
              <a:srgbClr val="52606D"/>
            </a:solidFill>
            <a:prstDash val="solid"/>
            <a:tailEnd type="triangle"/>
          </a:ln>
        </p:spPr>
      </p:sp>
      <p:sp>
        <p:nvSpPr>
          <p:cNvPr id="21" name="Shape 18"/>
          <p:cNvSpPr/>
          <p:nvPr/>
        </p:nvSpPr>
        <p:spPr>
          <a:xfrm>
            <a:off x="4370832" y="3493008"/>
            <a:ext cx="3456432" cy="859536"/>
          </a:xfrm>
          <a:prstGeom prst="rect">
            <a:avLst/>
          </a:prstGeom>
          <a:solidFill>
            <a:srgbClr val="FFFFFF"/>
          </a:solidFill>
          <a:ln w="12700">
            <a:solidFill>
              <a:srgbClr val="FFFFFF"/>
            </a:solidFill>
            <a:prstDash val="solid"/>
          </a:ln>
        </p:spPr>
      </p:sp>
      <p:sp>
        <p:nvSpPr>
          <p:cNvPr id="22" name="Text 19"/>
          <p:cNvSpPr txBox="1"/>
          <p:nvPr/>
        </p:nvSpPr>
        <p:spPr>
          <a:xfrm>
            <a:off x="4590288" y="3639312"/>
            <a:ext cx="3017520" cy="256032"/>
          </a:xfrm>
          <a:prstGeom prst="rect">
            <a:avLst/>
          </a:prstGeom>
          <a:noFill/>
          <a:ln/>
        </p:spPr>
        <p:txBody>
          <a:bodyPr wrap="square" lIns="0" tIns="0" rIns="0" bIns="0" rtlCol="0" anchor="t"/>
          <a:lstStyle/>
          <a:p>
            <a:pPr algn="l" indent="0" marL="0">
              <a:buNone/>
            </a:pPr>
            <a:r>
              <a:rPr lang="en-US" sz="1340" b="1" dirty="0">
                <a:solidFill>
                  <a:srgbClr val="243B53"/>
                </a:solidFill>
                <a:latin typeface="Aptos" pitchFamily="34" charset="0"/>
                <a:ea typeface="Aptos" pitchFamily="34" charset="-122"/>
                <a:cs typeface="Aptos" pitchFamily="34" charset="-120"/>
              </a:rPr>
              <a:t>Prueba de integración</a:t>
            </a:r>
            <a:endParaRPr lang="en-US" sz="1340" dirty="0"/>
          </a:p>
        </p:txBody>
      </p:sp>
      <p:sp>
        <p:nvSpPr>
          <p:cNvPr id="23" name="Text 20"/>
          <p:cNvSpPr txBox="1"/>
          <p:nvPr/>
        </p:nvSpPr>
        <p:spPr>
          <a:xfrm>
            <a:off x="4590288" y="3931920"/>
            <a:ext cx="3017520" cy="256032"/>
          </a:xfrm>
          <a:prstGeom prst="rect">
            <a:avLst/>
          </a:prstGeom>
          <a:noFill/>
          <a:ln/>
        </p:spPr>
        <p:txBody>
          <a:bodyPr wrap="square" lIns="0" tIns="0" rIns="0" bIns="0" rtlCol="0" anchor="t"/>
          <a:lstStyle/>
          <a:p>
            <a:pPr algn="l" indent="0" marL="0">
              <a:buNone/>
            </a:pPr>
            <a:r>
              <a:rPr lang="en-US" sz="1160" dirty="0">
                <a:solidFill>
                  <a:srgbClr val="52606D"/>
                </a:solidFill>
                <a:latin typeface="Aptos" pitchFamily="34" charset="0"/>
                <a:ea typeface="Aptos" pitchFamily="34" charset="-122"/>
                <a:cs typeface="Aptos" pitchFamily="34" charset="-120"/>
              </a:rPr>
              <a:t>compara el código contra él</a:t>
            </a:r>
            <a:endParaRPr lang="en-US" sz="1160" dirty="0"/>
          </a:p>
        </p:txBody>
      </p:sp>
      <p:sp>
        <p:nvSpPr>
          <p:cNvPr id="24" name="Shape 21"/>
          <p:cNvSpPr/>
          <p:nvPr/>
        </p:nvSpPr>
        <p:spPr>
          <a:xfrm>
            <a:off x="4370832" y="4352544"/>
            <a:ext cx="3456432" cy="365760"/>
          </a:xfrm>
          <a:prstGeom prst="rect">
            <a:avLst/>
          </a:prstGeom>
          <a:solidFill>
            <a:srgbClr val="E9F6EE"/>
          </a:solidFill>
          <a:ln w="12700">
            <a:solidFill>
              <a:srgbClr val="E9F6EE"/>
            </a:solidFill>
            <a:prstDash val="solid"/>
          </a:ln>
        </p:spPr>
      </p:sp>
      <p:sp>
        <p:nvSpPr>
          <p:cNvPr id="25" name="Text 22"/>
          <p:cNvSpPr txBox="1"/>
          <p:nvPr/>
        </p:nvSpPr>
        <p:spPr>
          <a:xfrm>
            <a:off x="4590288" y="4416552"/>
            <a:ext cx="3017520" cy="237744"/>
          </a:xfrm>
          <a:prstGeom prst="rect">
            <a:avLst/>
          </a:prstGeom>
          <a:noFill/>
          <a:ln/>
        </p:spPr>
        <p:txBody>
          <a:bodyPr wrap="square" lIns="0" tIns="0" rIns="0" bIns="0" rtlCol="0" anchor="t"/>
          <a:lstStyle/>
          <a:p>
            <a:pPr algn="l" indent="0" marL="0">
              <a:buNone/>
            </a:pPr>
            <a:r>
              <a:rPr lang="en-US" sz="1200" b="1" dirty="0">
                <a:solidFill>
                  <a:srgbClr val="2E7D4F"/>
                </a:solidFill>
                <a:latin typeface="Aptos" pitchFamily="34" charset="0"/>
                <a:ea typeface="Aptos" pitchFamily="34" charset="-122"/>
                <a:cs typeface="Aptos" pitchFamily="34" charset="-120"/>
              </a:rPr>
              <a:t>→  verde</a:t>
            </a:r>
            <a:endParaRPr lang="en-US" sz="1200" dirty="0"/>
          </a:p>
        </p:txBody>
      </p:sp>
      <p:sp>
        <p:nvSpPr>
          <p:cNvPr id="26" name="Shape 23"/>
          <p:cNvSpPr/>
          <p:nvPr/>
        </p:nvSpPr>
        <p:spPr>
          <a:xfrm>
            <a:off x="6096305" y="2944368"/>
            <a:ext cx="3715207" cy="475488"/>
          </a:xfrm>
          <a:prstGeom prst="line">
            <a:avLst/>
          </a:prstGeom>
          <a:noFill/>
          <a:ln w="12700">
            <a:solidFill>
              <a:srgbClr val="52606D"/>
            </a:solidFill>
            <a:prstDash val="solid"/>
            <a:tailEnd type="triangle"/>
          </a:ln>
        </p:spPr>
      </p:sp>
      <p:sp>
        <p:nvSpPr>
          <p:cNvPr id="27" name="Shape 24"/>
          <p:cNvSpPr/>
          <p:nvPr/>
        </p:nvSpPr>
        <p:spPr>
          <a:xfrm>
            <a:off x="8083296" y="3493008"/>
            <a:ext cx="3456432" cy="859536"/>
          </a:xfrm>
          <a:prstGeom prst="rect">
            <a:avLst/>
          </a:prstGeom>
          <a:solidFill>
            <a:srgbClr val="FFFFFF"/>
          </a:solidFill>
          <a:ln w="12700">
            <a:solidFill>
              <a:srgbClr val="FFFFFF"/>
            </a:solidFill>
            <a:prstDash val="solid"/>
          </a:ln>
        </p:spPr>
      </p:sp>
      <p:sp>
        <p:nvSpPr>
          <p:cNvPr id="28" name="Text 25"/>
          <p:cNvSpPr txBox="1"/>
          <p:nvPr/>
        </p:nvSpPr>
        <p:spPr>
          <a:xfrm>
            <a:off x="8302752" y="3639312"/>
            <a:ext cx="3017520" cy="256032"/>
          </a:xfrm>
          <a:prstGeom prst="rect">
            <a:avLst/>
          </a:prstGeom>
          <a:noFill/>
          <a:ln/>
        </p:spPr>
        <p:txBody>
          <a:bodyPr wrap="square" lIns="0" tIns="0" rIns="0" bIns="0" rtlCol="0" anchor="t"/>
          <a:lstStyle/>
          <a:p>
            <a:pPr algn="l" indent="0" marL="0">
              <a:buNone/>
            </a:pPr>
            <a:r>
              <a:rPr lang="en-US" sz="1340" b="1" dirty="0">
                <a:solidFill>
                  <a:srgbClr val="243B53"/>
                </a:solidFill>
                <a:latin typeface="Aptos" pitchFamily="34" charset="0"/>
                <a:ea typeface="Aptos" pitchFamily="34" charset="-122"/>
                <a:cs typeface="Aptos" pitchFamily="34" charset="-120"/>
              </a:rPr>
              <a:t>Prueba de sistema</a:t>
            </a:r>
            <a:endParaRPr lang="en-US" sz="1340" dirty="0"/>
          </a:p>
        </p:txBody>
      </p:sp>
      <p:sp>
        <p:nvSpPr>
          <p:cNvPr id="29" name="Text 26"/>
          <p:cNvSpPr txBox="1"/>
          <p:nvPr/>
        </p:nvSpPr>
        <p:spPr>
          <a:xfrm>
            <a:off x="8302752" y="3931920"/>
            <a:ext cx="3017520" cy="256032"/>
          </a:xfrm>
          <a:prstGeom prst="rect">
            <a:avLst/>
          </a:prstGeom>
          <a:noFill/>
          <a:ln/>
        </p:spPr>
        <p:txBody>
          <a:bodyPr wrap="square" lIns="0" tIns="0" rIns="0" bIns="0" rtlCol="0" anchor="t"/>
          <a:lstStyle/>
          <a:p>
            <a:pPr algn="l" indent="0" marL="0">
              <a:buNone/>
            </a:pPr>
            <a:r>
              <a:rPr lang="en-US" sz="1160" dirty="0">
                <a:solidFill>
                  <a:srgbClr val="52606D"/>
                </a:solidFill>
                <a:latin typeface="Aptos" pitchFamily="34" charset="0"/>
                <a:ea typeface="Aptos" pitchFamily="34" charset="-122"/>
                <a:cs typeface="Aptos" pitchFamily="34" charset="-120"/>
              </a:rPr>
              <a:t>compara el código contra él</a:t>
            </a:r>
            <a:endParaRPr lang="en-US" sz="1160" dirty="0"/>
          </a:p>
        </p:txBody>
      </p:sp>
      <p:sp>
        <p:nvSpPr>
          <p:cNvPr id="30" name="Shape 27"/>
          <p:cNvSpPr/>
          <p:nvPr/>
        </p:nvSpPr>
        <p:spPr>
          <a:xfrm>
            <a:off x="8083296" y="4352544"/>
            <a:ext cx="3456432" cy="365760"/>
          </a:xfrm>
          <a:prstGeom prst="rect">
            <a:avLst/>
          </a:prstGeom>
          <a:solidFill>
            <a:srgbClr val="E9F6EE"/>
          </a:solidFill>
          <a:ln w="12700">
            <a:solidFill>
              <a:srgbClr val="E9F6EE"/>
            </a:solidFill>
            <a:prstDash val="solid"/>
          </a:ln>
        </p:spPr>
      </p:sp>
      <p:sp>
        <p:nvSpPr>
          <p:cNvPr id="31" name="Text 28"/>
          <p:cNvSpPr txBox="1"/>
          <p:nvPr/>
        </p:nvSpPr>
        <p:spPr>
          <a:xfrm>
            <a:off x="8302752" y="4416552"/>
            <a:ext cx="3017520" cy="237744"/>
          </a:xfrm>
          <a:prstGeom prst="rect">
            <a:avLst/>
          </a:prstGeom>
          <a:noFill/>
          <a:ln/>
        </p:spPr>
        <p:txBody>
          <a:bodyPr wrap="square" lIns="0" tIns="0" rIns="0" bIns="0" rtlCol="0" anchor="t"/>
          <a:lstStyle/>
          <a:p>
            <a:pPr algn="l" indent="0" marL="0">
              <a:buNone/>
            </a:pPr>
            <a:r>
              <a:rPr lang="en-US" sz="1200" b="1" dirty="0">
                <a:solidFill>
                  <a:srgbClr val="2E7D4F"/>
                </a:solidFill>
                <a:latin typeface="Aptos" pitchFamily="34" charset="0"/>
                <a:ea typeface="Aptos" pitchFamily="34" charset="-122"/>
                <a:cs typeface="Aptos" pitchFamily="34" charset="-120"/>
              </a:rPr>
              <a:t>→  verde</a:t>
            </a:r>
            <a:endParaRPr lang="en-US" sz="1200" dirty="0"/>
          </a:p>
        </p:txBody>
      </p:sp>
      <p:sp>
        <p:nvSpPr>
          <p:cNvPr id="32" name="Shape 29"/>
          <p:cNvSpPr/>
          <p:nvPr/>
        </p:nvSpPr>
        <p:spPr>
          <a:xfrm>
            <a:off x="658368" y="4901184"/>
            <a:ext cx="10874959" cy="585216"/>
          </a:xfrm>
          <a:prstGeom prst="rect">
            <a:avLst/>
          </a:prstGeom>
          <a:solidFill>
            <a:srgbClr val="F2E7D9"/>
          </a:solidFill>
          <a:ln w="12700">
            <a:solidFill>
              <a:srgbClr val="F2E7D9"/>
            </a:solidFill>
            <a:prstDash val="solid"/>
          </a:ln>
        </p:spPr>
      </p:sp>
      <p:sp>
        <p:nvSpPr>
          <p:cNvPr id="33" name="Text 30"/>
          <p:cNvSpPr txBox="1"/>
          <p:nvPr/>
        </p:nvSpPr>
        <p:spPr>
          <a:xfrm>
            <a:off x="969264" y="4992624"/>
            <a:ext cx="10253167" cy="402336"/>
          </a:xfrm>
          <a:prstGeom prst="rect">
            <a:avLst/>
          </a:prstGeom>
          <a:noFill/>
          <a:ln/>
        </p:spPr>
        <p:txBody>
          <a:bodyPr wrap="square" lIns="0" tIns="0" rIns="0" bIns="0" rtlCol="0" anchor="t"/>
          <a:lstStyle/>
          <a:p>
            <a:pPr algn="ctr" indent="0" marL="0">
              <a:buNone/>
            </a:pPr>
            <a:r>
              <a:rPr lang="en-US" sz="1400" b="1" dirty="0">
                <a:solidFill>
                  <a:srgbClr val="243B53"/>
                </a:solidFill>
                <a:latin typeface="Aptos" pitchFamily="34" charset="0"/>
                <a:ea typeface="Aptos" pitchFamily="34" charset="-122"/>
                <a:cs typeface="Aptos" pitchFamily="34" charset="-120"/>
              </a:rPr>
              <a:t>Las tres pasan. Ninguna puede detectar el error, porque las tres lo están usando como referencia.</a:t>
            </a:r>
            <a:endParaRPr lang="en-US" sz="1400" dirty="0"/>
          </a:p>
        </p:txBody>
      </p:sp>
      <p:sp>
        <p:nvSpPr>
          <p:cNvPr id="34" name="Shape 31"/>
          <p:cNvSpPr/>
          <p:nvPr/>
        </p:nvSpPr>
        <p:spPr>
          <a:xfrm>
            <a:off x="658368" y="5614416"/>
            <a:ext cx="10874959" cy="658368"/>
          </a:xfrm>
          <a:prstGeom prst="rect">
            <a:avLst/>
          </a:prstGeom>
          <a:solidFill>
            <a:srgbClr val="102A43"/>
          </a:solidFill>
          <a:ln w="12700">
            <a:solidFill>
              <a:srgbClr val="102A43"/>
            </a:solidFill>
            <a:prstDash val="solid"/>
          </a:ln>
        </p:spPr>
      </p:sp>
      <p:sp>
        <p:nvSpPr>
          <p:cNvPr id="35" name="Text 32"/>
          <p:cNvSpPr txBox="1"/>
          <p:nvPr/>
        </p:nvSpPr>
        <p:spPr>
          <a:xfrm>
            <a:off x="969264" y="5660136"/>
            <a:ext cx="10253167" cy="566928"/>
          </a:xfrm>
          <a:prstGeom prst="rect">
            <a:avLst/>
          </a:prstGeom>
          <a:noFill/>
          <a:ln/>
        </p:spPr>
        <p:txBody>
          <a:bodyPr wrap="square" lIns="0" tIns="0" rIns="0" bIns="0" rtlCol="0" anchor="ctr"/>
          <a:lstStyle/>
          <a:p>
            <a:pPr algn="ctr" indent="0" marL="0">
              <a:lnSpc>
                <a:spcPct val="112000"/>
              </a:lnSpc>
              <a:buNone/>
            </a:pPr>
            <a:r>
              <a:rPr lang="en-US" sz="1440" b="1" dirty="0">
                <a:solidFill>
                  <a:srgbClr val="FFFFFF"/>
                </a:solidFill>
                <a:latin typeface="Aptos" pitchFamily="34" charset="0"/>
                <a:ea typeface="Aptos" pitchFamily="34" charset="-122"/>
                <a:cs typeface="Aptos" pitchFamily="34" charset="-120"/>
              </a:rPr>
              <a:t>Una prueba en verde no dice que el requisito sea correcto: dice que el código coincide con él.</a:t>
            </a:r>
            <a:endParaRPr lang="en-US" sz="14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08</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LA EVIDENCIA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2800" b="1" dirty="0">
                <a:solidFill>
                  <a:srgbClr val="243B53"/>
                </a:solidFill>
                <a:latin typeface="Aptos Display" pitchFamily="34" charset="0"/>
                <a:ea typeface="Aptos Display" pitchFamily="34" charset="-122"/>
                <a:cs typeface="Aptos Display" pitchFamily="34" charset="-120"/>
              </a:rPr>
              <a:t>La razón que da el oficio para escribir el requisito temprano</a:t>
            </a:r>
            <a:endParaRPr lang="en-US" sz="28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Existe una respuesta estándar a esta pregunta, y la vas a escuchar en tu primer trabajo. Conviene conocerla bien antes de usarla.</a:t>
            </a:r>
            <a:endParaRPr lang="en-US" sz="1450" dirty="0"/>
          </a:p>
        </p:txBody>
      </p:sp>
      <p:sp>
        <p:nvSpPr>
          <p:cNvPr id="11" name="Shape 8"/>
          <p:cNvSpPr/>
          <p:nvPr/>
        </p:nvSpPr>
        <p:spPr>
          <a:xfrm>
            <a:off x="658368" y="2359152"/>
            <a:ext cx="6711696" cy="1737360"/>
          </a:xfrm>
          <a:prstGeom prst="rect">
            <a:avLst/>
          </a:prstGeom>
          <a:solidFill>
            <a:srgbClr val="102A43"/>
          </a:solidFill>
          <a:ln w="12700">
            <a:solidFill>
              <a:srgbClr val="102A43"/>
            </a:solidFill>
            <a:prstDash val="solid"/>
          </a:ln>
        </p:spPr>
      </p:sp>
      <p:sp>
        <p:nvSpPr>
          <p:cNvPr id="12" name="Text 9"/>
          <p:cNvSpPr txBox="1"/>
          <p:nvPr/>
        </p:nvSpPr>
        <p:spPr>
          <a:xfrm>
            <a:off x="1024128" y="2542032"/>
            <a:ext cx="3657600" cy="201168"/>
          </a:xfrm>
          <a:prstGeom prst="rect">
            <a:avLst/>
          </a:prstGeom>
          <a:noFill/>
          <a:ln/>
        </p:spPr>
        <p:txBody>
          <a:bodyPr wrap="square" lIns="0" tIns="0" rIns="0" bIns="0" rtlCol="0" anchor="t"/>
          <a:lstStyle/>
          <a:p>
            <a:pPr algn="l" indent="0" marL="0">
              <a:buNone/>
            </a:pPr>
            <a:r>
              <a:rPr lang="en-US" sz="960" b="1" spc="140" kern="0" dirty="0">
                <a:solidFill>
                  <a:srgbClr val="E0BC5A"/>
                </a:solidFill>
                <a:latin typeface="Aptos" pitchFamily="34" charset="0"/>
                <a:ea typeface="Aptos" pitchFamily="34" charset="-122"/>
                <a:cs typeface="Aptos" pitchFamily="34" charset="-120"/>
              </a:rPr>
              <a:t>LO QUE SE CITA</a:t>
            </a:r>
            <a:endParaRPr lang="en-US" sz="960" dirty="0"/>
          </a:p>
        </p:txBody>
      </p:sp>
      <p:sp>
        <p:nvSpPr>
          <p:cNvPr id="13" name="Text 10"/>
          <p:cNvSpPr txBox="1"/>
          <p:nvPr/>
        </p:nvSpPr>
        <p:spPr>
          <a:xfrm>
            <a:off x="1024128" y="2834640"/>
            <a:ext cx="5980176" cy="1042416"/>
          </a:xfrm>
          <a:prstGeom prst="rect">
            <a:avLst/>
          </a:prstGeom>
          <a:noFill/>
          <a:ln/>
        </p:spPr>
        <p:txBody>
          <a:bodyPr wrap="square" lIns="0" tIns="0" rIns="0" bIns="0" rtlCol="0" anchor="t"/>
          <a:lstStyle/>
          <a:p>
            <a:pPr algn="l" indent="0" marL="0">
              <a:lnSpc>
                <a:spcPct val="120000"/>
              </a:lnSpc>
              <a:buNone/>
            </a:pPr>
            <a:r>
              <a:rPr lang="en-US" sz="1460" i="1" dirty="0">
                <a:solidFill>
                  <a:srgbClr val="FFFFFF"/>
                </a:solidFill>
                <a:latin typeface="Aptos" pitchFamily="34" charset="0"/>
                <a:ea typeface="Aptos" pitchFamily="34" charset="-122"/>
                <a:cs typeface="Aptos" pitchFamily="34" charset="-120"/>
              </a:rPr>
              <a:t>«Encontrar y corregir un problema de software después de la entrega suele ser 100 veces más caro que encontrarlo y corregirlo durante la etapa de requisitos y diseño.»</a:t>
            </a:r>
            <a:endParaRPr lang="en-US" sz="1460" dirty="0"/>
          </a:p>
        </p:txBody>
      </p:sp>
      <p:sp>
        <p:nvSpPr>
          <p:cNvPr id="14" name="Shape 11"/>
          <p:cNvSpPr/>
          <p:nvPr/>
        </p:nvSpPr>
        <p:spPr>
          <a:xfrm>
            <a:off x="7699248" y="2359152"/>
            <a:ext cx="3831336" cy="1737360"/>
          </a:xfrm>
          <a:prstGeom prst="rect">
            <a:avLst/>
          </a:prstGeom>
          <a:solidFill>
            <a:srgbClr val="F2E7D9"/>
          </a:solidFill>
          <a:ln w="12700">
            <a:solidFill>
              <a:srgbClr val="F2E7D9"/>
            </a:solidFill>
            <a:prstDash val="solid"/>
          </a:ln>
        </p:spPr>
      </p:sp>
      <p:sp>
        <p:nvSpPr>
          <p:cNvPr id="15" name="Text 12"/>
          <p:cNvSpPr txBox="1"/>
          <p:nvPr/>
        </p:nvSpPr>
        <p:spPr>
          <a:xfrm>
            <a:off x="8028432" y="2542032"/>
            <a:ext cx="3291840" cy="201168"/>
          </a:xfrm>
          <a:prstGeom prst="rect">
            <a:avLst/>
          </a:prstGeom>
          <a:noFill/>
          <a:ln/>
        </p:spPr>
        <p:txBody>
          <a:bodyPr wrap="square" lIns="0" tIns="0" rIns="0" bIns="0" rtlCol="0" anchor="t"/>
          <a:lstStyle/>
          <a:p>
            <a:pPr algn="l" indent="0" marL="0">
              <a:buNone/>
            </a:pPr>
            <a:r>
              <a:rPr lang="en-US" sz="960" b="1" spc="140" kern="0" dirty="0">
                <a:solidFill>
                  <a:srgbClr val="B3181E"/>
                </a:solidFill>
                <a:latin typeface="Aptos" pitchFamily="34" charset="0"/>
                <a:ea typeface="Aptos" pitchFamily="34" charset="-122"/>
                <a:cs typeface="Aptos" pitchFamily="34" charset="-120"/>
              </a:rPr>
              <a:t>DE DÓNDE SALE</a:t>
            </a:r>
            <a:endParaRPr lang="en-US" sz="960" dirty="0"/>
          </a:p>
        </p:txBody>
      </p:sp>
      <p:sp>
        <p:nvSpPr>
          <p:cNvPr id="16" name="Text 13"/>
          <p:cNvSpPr txBox="1"/>
          <p:nvPr/>
        </p:nvSpPr>
        <p:spPr>
          <a:xfrm>
            <a:off x="8028432" y="2816352"/>
            <a:ext cx="3200400" cy="512064"/>
          </a:xfrm>
          <a:prstGeom prst="rect">
            <a:avLst/>
          </a:prstGeom>
          <a:noFill/>
          <a:ln/>
        </p:spPr>
        <p:txBody>
          <a:bodyPr wrap="square" lIns="0" tIns="0" rIns="0" bIns="0" rtlCol="0" anchor="t"/>
          <a:lstStyle/>
          <a:p>
            <a:pPr algn="l" indent="0" marL="0">
              <a:lnSpc>
                <a:spcPct val="110000"/>
              </a:lnSpc>
              <a:buNone/>
            </a:pPr>
            <a:r>
              <a:rPr lang="en-US" sz="1500" b="1" dirty="0">
                <a:solidFill>
                  <a:srgbClr val="243B53"/>
                </a:solidFill>
                <a:latin typeface="Aptos" pitchFamily="34" charset="0"/>
                <a:ea typeface="Aptos" pitchFamily="34" charset="-122"/>
                <a:cs typeface="Aptos" pitchFamily="34" charset="-120"/>
              </a:rPr>
              <a:t>Barry Boehm y</a:t>
            </a:r>
            <a:endParaRPr lang="en-US" sz="1500" dirty="0"/>
          </a:p>
          <a:p>
            <a:pPr algn="l" indent="0" marL="0">
              <a:lnSpc>
                <a:spcPct val="110000"/>
              </a:lnSpc>
              <a:buNone/>
            </a:pPr>
            <a:r>
              <a:rPr lang="en-US" sz="1500" b="1" dirty="0">
                <a:solidFill>
                  <a:srgbClr val="243B53"/>
                </a:solidFill>
                <a:latin typeface="Aptos" pitchFamily="34" charset="0"/>
                <a:ea typeface="Aptos" pitchFamily="34" charset="-122"/>
                <a:cs typeface="Aptos" pitchFamily="34" charset="-120"/>
              </a:rPr>
              <a:t>Victor Basili</a:t>
            </a:r>
            <a:endParaRPr lang="en-US" sz="1500" dirty="0"/>
          </a:p>
        </p:txBody>
      </p:sp>
      <p:sp>
        <p:nvSpPr>
          <p:cNvPr id="17" name="Text 14"/>
          <p:cNvSpPr txBox="1"/>
          <p:nvPr/>
        </p:nvSpPr>
        <p:spPr>
          <a:xfrm>
            <a:off x="8028432" y="3401568"/>
            <a:ext cx="3200400" cy="566928"/>
          </a:xfrm>
          <a:prstGeom prst="rect">
            <a:avLst/>
          </a:prstGeom>
          <a:noFill/>
          <a:ln/>
        </p:spPr>
        <p:txBody>
          <a:bodyPr wrap="square" lIns="0" tIns="0" rIns="0" bIns="0" rtlCol="0" anchor="t"/>
          <a:lstStyle/>
          <a:p>
            <a:pPr algn="l" indent="0" marL="0">
              <a:lnSpc>
                <a:spcPct val="114000"/>
              </a:lnSpc>
              <a:buNone/>
            </a:pPr>
            <a:r>
              <a:rPr lang="en-US" sz="1140" dirty="0">
                <a:solidFill>
                  <a:srgbClr val="52606D"/>
                </a:solidFill>
                <a:latin typeface="Aptos" pitchFamily="34" charset="0"/>
                <a:ea typeface="Aptos" pitchFamily="34" charset="-122"/>
                <a:cs typeface="Aptos" pitchFamily="34" charset="-120"/>
              </a:rPr>
              <a:t>«Software Defect Reduction</a:t>
            </a:r>
            <a:endParaRPr lang="en-US" sz="1140" dirty="0"/>
          </a:p>
          <a:p>
            <a:pPr algn="l" indent="0" marL="0">
              <a:lnSpc>
                <a:spcPct val="114000"/>
              </a:lnSpc>
              <a:buNone/>
            </a:pPr>
            <a:r>
              <a:rPr lang="en-US" sz="1140" dirty="0">
                <a:solidFill>
                  <a:srgbClr val="52606D"/>
                </a:solidFill>
                <a:latin typeface="Aptos" pitchFamily="34" charset="0"/>
                <a:ea typeface="Aptos" pitchFamily="34" charset="-122"/>
                <a:cs typeface="Aptos" pitchFamily="34" charset="-120"/>
              </a:rPr>
              <a:t>Top 10 List», punto 1.</a:t>
            </a:r>
            <a:endParaRPr lang="en-US" sz="1140" dirty="0"/>
          </a:p>
          <a:p>
            <a:pPr algn="l" indent="0" marL="0">
              <a:lnSpc>
                <a:spcPct val="114000"/>
              </a:lnSpc>
              <a:buNone/>
            </a:pPr>
            <a:r>
              <a:rPr lang="en-US" sz="1140" dirty="0">
                <a:solidFill>
                  <a:srgbClr val="52606D"/>
                </a:solidFill>
                <a:latin typeface="Aptos" pitchFamily="34" charset="0"/>
                <a:ea typeface="Aptos" pitchFamily="34" charset="-122"/>
                <a:cs typeface="Aptos" pitchFamily="34" charset="-120"/>
              </a:rPr>
              <a:t>IEEE Computer, enero de 2001.</a:t>
            </a:r>
            <a:endParaRPr lang="en-US" sz="1140" dirty="0"/>
          </a:p>
        </p:txBody>
      </p:sp>
      <p:sp>
        <p:nvSpPr>
          <p:cNvPr id="18" name="Text 15"/>
          <p:cNvSpPr txBox="1"/>
          <p:nvPr/>
        </p:nvSpPr>
        <p:spPr>
          <a:xfrm>
            <a:off x="658368" y="4315968"/>
            <a:ext cx="10607040" cy="566928"/>
          </a:xfrm>
          <a:prstGeom prst="rect">
            <a:avLst/>
          </a:prstGeom>
          <a:noFill/>
          <a:ln/>
        </p:spPr>
        <p:txBody>
          <a:bodyPr wrap="square" lIns="0" tIns="0" rIns="0" bIns="0" rtlCol="0" anchor="t"/>
          <a:lstStyle/>
          <a:p>
            <a:pPr algn="l" indent="0" marL="0">
              <a:lnSpc>
                <a:spcPct val="118000"/>
              </a:lnSpc>
              <a:buNone/>
            </a:pPr>
            <a:r>
              <a:rPr lang="en-US" sz="1400" dirty="0">
                <a:solidFill>
                  <a:srgbClr val="243B53"/>
                </a:solidFill>
                <a:latin typeface="Aptos" pitchFamily="34" charset="0"/>
                <a:ea typeface="Aptos" pitchFamily="34" charset="-122"/>
                <a:cs typeface="Aptos" pitchFamily="34" charset="-120"/>
              </a:rPr>
              <a:t>Es una fuente real, revisada por pares, escrita por dos de los investigadores más citados de la ingeniería de software. La cifra que se repite —cien veces más caro— sale efectivamente de ahí.</a:t>
            </a:r>
            <a:endParaRPr lang="en-US" sz="1400" dirty="0"/>
          </a:p>
        </p:txBody>
      </p:sp>
      <p:sp>
        <p:nvSpPr>
          <p:cNvPr id="19" name="Shape 16"/>
          <p:cNvSpPr/>
          <p:nvPr/>
        </p:nvSpPr>
        <p:spPr>
          <a:xfrm>
            <a:off x="658368" y="5010912"/>
            <a:ext cx="10874959" cy="457200"/>
          </a:xfrm>
          <a:prstGeom prst="rect">
            <a:avLst/>
          </a:prstGeom>
          <a:solidFill>
            <a:srgbClr val="EDE6DA"/>
          </a:solidFill>
          <a:ln w="12700">
            <a:solidFill>
              <a:srgbClr val="EDE6DA"/>
            </a:solidFill>
            <a:prstDash val="solid"/>
          </a:ln>
        </p:spPr>
      </p:sp>
      <p:sp>
        <p:nvSpPr>
          <p:cNvPr id="20" name="Text 17"/>
          <p:cNvSpPr txBox="1"/>
          <p:nvPr/>
        </p:nvSpPr>
        <p:spPr>
          <a:xfrm>
            <a:off x="969264" y="5084064"/>
            <a:ext cx="10253167" cy="310896"/>
          </a:xfrm>
          <a:prstGeom prst="rect">
            <a:avLst/>
          </a:prstGeom>
          <a:noFill/>
          <a:ln/>
        </p:spPr>
        <p:txBody>
          <a:bodyPr wrap="square" lIns="0" tIns="0" rIns="0" bIns="0" rtlCol="0" anchor="t"/>
          <a:lstStyle/>
          <a:p>
            <a:pPr algn="ctr" indent="0" marL="0">
              <a:buNone/>
            </a:pPr>
            <a:r>
              <a:rPr lang="en-US" sz="1460" b="1" dirty="0">
                <a:solidFill>
                  <a:srgbClr val="B3181E"/>
                </a:solidFill>
                <a:latin typeface="Aptos" pitchFamily="34" charset="0"/>
                <a:ea typeface="Aptos" pitchFamily="34" charset="-122"/>
                <a:cs typeface="Aptos" pitchFamily="34" charset="-120"/>
              </a:rPr>
              <a:t>El problema no es la cita. Es dónde la corta todo el mundo.</a:t>
            </a:r>
            <a:endParaRPr lang="en-US" sz="1460" dirty="0"/>
          </a:p>
        </p:txBody>
      </p:sp>
      <p:sp>
        <p:nvSpPr>
          <p:cNvPr id="21" name="Shape 18"/>
          <p:cNvSpPr/>
          <p:nvPr/>
        </p:nvSpPr>
        <p:spPr>
          <a:xfrm>
            <a:off x="658368" y="5705856"/>
            <a:ext cx="45720" cy="182880"/>
          </a:xfrm>
          <a:prstGeom prst="rect">
            <a:avLst/>
          </a:prstGeom>
          <a:solidFill>
            <a:srgbClr val="8A6A12"/>
          </a:solidFill>
          <a:ln w="12700">
            <a:solidFill>
              <a:srgbClr val="8A6A12"/>
            </a:solidFill>
            <a:prstDash val="solid"/>
          </a:ln>
        </p:spPr>
      </p:sp>
      <p:sp>
        <p:nvSpPr>
          <p:cNvPr id="22" name="Text 19"/>
          <p:cNvSpPr txBox="1"/>
          <p:nvPr/>
        </p:nvSpPr>
        <p:spPr>
          <a:xfrm>
            <a:off x="804672" y="5696712"/>
            <a:ext cx="640080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Boehm y Basili, IEEE Computer, enero de 2001, pp. 135-137 · traducción del original en inglés.</a:t>
            </a:r>
            <a:endParaRPr lang="en-US" sz="9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09</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LA EVIDENCIA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Lo que dice el mismo párrafo, dos líneas más abajo</a:t>
            </a:r>
            <a:endParaRPr lang="en-US" sz="3000" dirty="0"/>
          </a:p>
        </p:txBody>
      </p:sp>
      <p:sp>
        <p:nvSpPr>
          <p:cNvPr id="10" name="Shape 7"/>
          <p:cNvSpPr/>
          <p:nvPr/>
        </p:nvSpPr>
        <p:spPr>
          <a:xfrm>
            <a:off x="658368" y="2011680"/>
            <a:ext cx="10874959" cy="475488"/>
          </a:xfrm>
          <a:prstGeom prst="rect">
            <a:avLst/>
          </a:prstGeom>
          <a:solidFill>
            <a:srgbClr val="102A43"/>
          </a:solidFill>
          <a:ln w="12700">
            <a:solidFill>
              <a:srgbClr val="102A43"/>
            </a:solidFill>
            <a:prstDash val="solid"/>
          </a:ln>
        </p:spPr>
      </p:sp>
      <p:sp>
        <p:nvSpPr>
          <p:cNvPr id="11" name="Text 8"/>
          <p:cNvSpPr txBox="1"/>
          <p:nvPr/>
        </p:nvSpPr>
        <p:spPr>
          <a:xfrm>
            <a:off x="1024128" y="2084832"/>
            <a:ext cx="10143439" cy="329184"/>
          </a:xfrm>
          <a:prstGeom prst="rect">
            <a:avLst/>
          </a:prstGeom>
          <a:noFill/>
          <a:ln/>
        </p:spPr>
        <p:txBody>
          <a:bodyPr wrap="square" lIns="0" tIns="0" rIns="0" bIns="0" rtlCol="0" anchor="t"/>
          <a:lstStyle/>
          <a:p>
            <a:pPr algn="l" indent="0" marL="0">
              <a:buNone/>
            </a:pPr>
            <a:r>
              <a:rPr lang="en-US" sz="1260" i="1" dirty="0">
                <a:solidFill>
                  <a:srgbClr val="8AA0B6"/>
                </a:solidFill>
                <a:latin typeface="Aptos" pitchFamily="34" charset="0"/>
                <a:ea typeface="Aptos" pitchFamily="34" charset="-122"/>
                <a:cs typeface="Aptos" pitchFamily="34" charset="-120"/>
              </a:rPr>
              <a:t>«…suele ser 100 veces más caro que encontrarlo y corregirlo durante la etapa de requisitos y diseño.»</a:t>
            </a:r>
            <a:endParaRPr lang="en-US" sz="1260" dirty="0"/>
          </a:p>
        </p:txBody>
      </p:sp>
      <p:sp>
        <p:nvSpPr>
          <p:cNvPr id="12" name="Shape 9"/>
          <p:cNvSpPr/>
          <p:nvPr/>
        </p:nvSpPr>
        <p:spPr>
          <a:xfrm>
            <a:off x="658368" y="2688336"/>
            <a:ext cx="10874959" cy="1207008"/>
          </a:xfrm>
          <a:prstGeom prst="rect">
            <a:avLst/>
          </a:prstGeom>
          <a:solidFill>
            <a:srgbClr val="FFFFFF"/>
          </a:solidFill>
          <a:ln w="12700">
            <a:solidFill>
              <a:srgbClr val="FFFFFF"/>
            </a:solidFill>
            <a:prstDash val="solid"/>
          </a:ln>
        </p:spPr>
      </p:sp>
      <p:sp>
        <p:nvSpPr>
          <p:cNvPr id="13" name="Shape 10"/>
          <p:cNvSpPr/>
          <p:nvPr/>
        </p:nvSpPr>
        <p:spPr>
          <a:xfrm>
            <a:off x="658368" y="2688336"/>
            <a:ext cx="64008" cy="1207008"/>
          </a:xfrm>
          <a:prstGeom prst="rect">
            <a:avLst/>
          </a:prstGeom>
          <a:solidFill>
            <a:srgbClr val="8A6A12"/>
          </a:solidFill>
          <a:ln w="12700">
            <a:solidFill>
              <a:srgbClr val="8A6A12"/>
            </a:solidFill>
            <a:prstDash val="solid"/>
          </a:ln>
        </p:spPr>
      </p:sp>
      <p:sp>
        <p:nvSpPr>
          <p:cNvPr id="14" name="Shape 11"/>
          <p:cNvSpPr/>
          <p:nvPr/>
        </p:nvSpPr>
        <p:spPr>
          <a:xfrm>
            <a:off x="932688" y="2889504"/>
            <a:ext cx="347472" cy="347472"/>
          </a:xfrm>
          <a:prstGeom prst="ellipse">
            <a:avLst/>
          </a:prstGeom>
          <a:solidFill>
            <a:srgbClr val="8A6A12"/>
          </a:solidFill>
          <a:ln w="12700">
            <a:solidFill>
              <a:srgbClr val="8A6A12"/>
            </a:solidFill>
            <a:prstDash val="solid"/>
          </a:ln>
        </p:spPr>
      </p:sp>
      <p:sp>
        <p:nvSpPr>
          <p:cNvPr id="15" name="Text 12"/>
          <p:cNvSpPr txBox="1"/>
          <p:nvPr/>
        </p:nvSpPr>
        <p:spPr>
          <a:xfrm>
            <a:off x="932688" y="288950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6" name="Text 13"/>
          <p:cNvSpPr txBox="1"/>
          <p:nvPr/>
        </p:nvSpPr>
        <p:spPr>
          <a:xfrm>
            <a:off x="1426464" y="2871216"/>
            <a:ext cx="3840480" cy="274320"/>
          </a:xfrm>
          <a:prstGeom prst="rect">
            <a:avLst/>
          </a:prstGeom>
          <a:noFill/>
          <a:ln/>
        </p:spPr>
        <p:txBody>
          <a:bodyPr wrap="square" lIns="0" tIns="0" rIns="0" bIns="0" rtlCol="0" anchor="t"/>
          <a:lstStyle/>
          <a:p>
            <a:pPr algn="l" indent="0" marL="0">
              <a:buNone/>
            </a:pPr>
            <a:r>
              <a:rPr lang="en-US" sz="1500" b="1" dirty="0">
                <a:solidFill>
                  <a:srgbClr val="243B53"/>
                </a:solidFill>
                <a:latin typeface="Aptos" pitchFamily="34" charset="0"/>
                <a:ea typeface="Aptos" pitchFamily="34" charset="-122"/>
                <a:cs typeface="Aptos" pitchFamily="34" charset="-120"/>
              </a:rPr>
              <a:t>Agregaron la palabra «often»</a:t>
            </a:r>
            <a:endParaRPr lang="en-US" sz="1500" dirty="0"/>
          </a:p>
        </p:txBody>
      </p:sp>
      <p:sp>
        <p:nvSpPr>
          <p:cNvPr id="17" name="Text 14"/>
          <p:cNvSpPr txBox="1"/>
          <p:nvPr/>
        </p:nvSpPr>
        <p:spPr>
          <a:xfrm>
            <a:off x="1426464" y="3218688"/>
            <a:ext cx="3803904" cy="640080"/>
          </a:xfrm>
          <a:prstGeom prst="rect">
            <a:avLst/>
          </a:prstGeom>
          <a:noFill/>
          <a:ln/>
        </p:spPr>
        <p:txBody>
          <a:bodyPr wrap="square" lIns="0" tIns="0" rIns="0" bIns="0" rtlCol="0" anchor="t"/>
          <a:lstStyle/>
          <a:p>
            <a:pPr algn="l" indent="0" marL="0">
              <a:lnSpc>
                <a:spcPct val="116000"/>
              </a:lnSpc>
              <a:buNone/>
            </a:pPr>
            <a:r>
              <a:rPr lang="en-US" sz="1200" dirty="0">
                <a:solidFill>
                  <a:srgbClr val="52606D"/>
                </a:solidFill>
                <a:latin typeface="Aptos" pitchFamily="34" charset="0"/>
                <a:ea typeface="Aptos" pitchFamily="34" charset="-122"/>
                <a:cs typeface="Aptos" pitchFamily="34" charset="-120"/>
              </a:rPr>
              <a:t>Respecto de su propia lista de 1987. La cifra vino con una advertencia desde el principio.</a:t>
            </a:r>
            <a:endParaRPr lang="en-US" sz="1200" dirty="0"/>
          </a:p>
        </p:txBody>
      </p:sp>
      <p:sp>
        <p:nvSpPr>
          <p:cNvPr id="18" name="Shape 15"/>
          <p:cNvSpPr/>
          <p:nvPr/>
        </p:nvSpPr>
        <p:spPr>
          <a:xfrm>
            <a:off x="5394960" y="2871216"/>
            <a:ext cx="0" cy="932688"/>
          </a:xfrm>
          <a:prstGeom prst="line">
            <a:avLst/>
          </a:prstGeom>
          <a:noFill/>
          <a:ln w="12700">
            <a:solidFill>
              <a:srgbClr val="D8CFC4"/>
            </a:solidFill>
            <a:prstDash val="solid"/>
            <a:headEnd type="none"/>
            <a:tailEnd type="none"/>
          </a:ln>
        </p:spPr>
      </p:sp>
      <p:sp>
        <p:nvSpPr>
          <p:cNvPr id="19" name="Text 16"/>
          <p:cNvSpPr txBox="1"/>
          <p:nvPr/>
        </p:nvSpPr>
        <p:spPr>
          <a:xfrm>
            <a:off x="5687568" y="2907792"/>
            <a:ext cx="5340096" cy="877824"/>
          </a:xfrm>
          <a:prstGeom prst="rect">
            <a:avLst/>
          </a:prstGeom>
          <a:noFill/>
          <a:ln/>
        </p:spPr>
        <p:txBody>
          <a:bodyPr wrap="square" lIns="0" tIns="0" rIns="0" bIns="0" rtlCol="0" anchor="ctr"/>
          <a:lstStyle/>
          <a:p>
            <a:pPr algn="l" indent="0" marL="0">
              <a:lnSpc>
                <a:spcPct val="118000"/>
              </a:lnSpc>
              <a:buNone/>
            </a:pPr>
            <a:r>
              <a:rPr lang="en-US" sz="1280" i="1" dirty="0">
                <a:solidFill>
                  <a:srgbClr val="243B53"/>
                </a:solidFill>
                <a:latin typeface="Aptos" pitchFamily="34" charset="0"/>
                <a:ea typeface="Aptos" pitchFamily="34" charset="-122"/>
                <a:cs typeface="Aptos" pitchFamily="34" charset="-120"/>
              </a:rPr>
              <a:t>“Para esta lista actualizada agregamos la palabra «often» —a menudo— para reflejar aprendizajes adicionales sobre esta observación.”</a:t>
            </a:r>
            <a:endParaRPr lang="en-US" sz="1280" dirty="0"/>
          </a:p>
        </p:txBody>
      </p:sp>
      <p:sp>
        <p:nvSpPr>
          <p:cNvPr id="20" name="Shape 17"/>
          <p:cNvSpPr/>
          <p:nvPr/>
        </p:nvSpPr>
        <p:spPr>
          <a:xfrm>
            <a:off x="658368" y="4059936"/>
            <a:ext cx="10874959" cy="1207008"/>
          </a:xfrm>
          <a:prstGeom prst="rect">
            <a:avLst/>
          </a:prstGeom>
          <a:solidFill>
            <a:srgbClr val="FFFFFF"/>
          </a:solidFill>
          <a:ln w="12700">
            <a:solidFill>
              <a:srgbClr val="FFFFFF"/>
            </a:solidFill>
            <a:prstDash val="solid"/>
          </a:ln>
        </p:spPr>
      </p:sp>
      <p:sp>
        <p:nvSpPr>
          <p:cNvPr id="21" name="Shape 18"/>
          <p:cNvSpPr/>
          <p:nvPr/>
        </p:nvSpPr>
        <p:spPr>
          <a:xfrm>
            <a:off x="658368" y="4059936"/>
            <a:ext cx="64008" cy="1207008"/>
          </a:xfrm>
          <a:prstGeom prst="rect">
            <a:avLst/>
          </a:prstGeom>
          <a:solidFill>
            <a:srgbClr val="B3181E"/>
          </a:solidFill>
          <a:ln w="12700">
            <a:solidFill>
              <a:srgbClr val="B3181E"/>
            </a:solidFill>
            <a:prstDash val="solid"/>
          </a:ln>
        </p:spPr>
      </p:sp>
      <p:sp>
        <p:nvSpPr>
          <p:cNvPr id="22" name="Shape 19"/>
          <p:cNvSpPr/>
          <p:nvPr/>
        </p:nvSpPr>
        <p:spPr>
          <a:xfrm>
            <a:off x="932688" y="4261104"/>
            <a:ext cx="347472" cy="347472"/>
          </a:xfrm>
          <a:prstGeom prst="ellipse">
            <a:avLst/>
          </a:prstGeom>
          <a:solidFill>
            <a:srgbClr val="B3181E"/>
          </a:solidFill>
          <a:ln w="12700">
            <a:solidFill>
              <a:srgbClr val="B3181E"/>
            </a:solidFill>
            <a:prstDash val="solid"/>
          </a:ln>
        </p:spPr>
      </p:sp>
      <p:sp>
        <p:nvSpPr>
          <p:cNvPr id="23" name="Text 20"/>
          <p:cNvSpPr txBox="1"/>
          <p:nvPr/>
        </p:nvSpPr>
        <p:spPr>
          <a:xfrm>
            <a:off x="932688" y="426110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24" name="Text 21"/>
          <p:cNvSpPr txBox="1"/>
          <p:nvPr/>
        </p:nvSpPr>
        <p:spPr>
          <a:xfrm>
            <a:off x="1426464" y="4242816"/>
            <a:ext cx="3840480" cy="274320"/>
          </a:xfrm>
          <a:prstGeom prst="rect">
            <a:avLst/>
          </a:prstGeom>
          <a:noFill/>
          <a:ln/>
        </p:spPr>
        <p:txBody>
          <a:bodyPr wrap="square" lIns="0" tIns="0" rIns="0" bIns="0" rtlCol="0" anchor="t"/>
          <a:lstStyle/>
          <a:p>
            <a:pPr algn="l" indent="0" marL="0">
              <a:buNone/>
            </a:pPr>
            <a:r>
              <a:rPr lang="en-US" sz="1500" b="1" dirty="0">
                <a:solidFill>
                  <a:srgbClr val="243B53"/>
                </a:solidFill>
                <a:latin typeface="Aptos" pitchFamily="34" charset="0"/>
                <a:ea typeface="Aptos" pitchFamily="34" charset="-122"/>
                <a:cs typeface="Aptos" pitchFamily="34" charset="-120"/>
              </a:rPr>
              <a:t>Y dieron la otra cifra</a:t>
            </a:r>
            <a:endParaRPr lang="en-US" sz="1500" dirty="0"/>
          </a:p>
        </p:txBody>
      </p:sp>
      <p:sp>
        <p:nvSpPr>
          <p:cNvPr id="25" name="Text 22"/>
          <p:cNvSpPr txBox="1"/>
          <p:nvPr/>
        </p:nvSpPr>
        <p:spPr>
          <a:xfrm>
            <a:off x="1426464" y="4590288"/>
            <a:ext cx="3803904" cy="640080"/>
          </a:xfrm>
          <a:prstGeom prst="rect">
            <a:avLst/>
          </a:prstGeom>
          <a:noFill/>
          <a:ln/>
        </p:spPr>
        <p:txBody>
          <a:bodyPr wrap="square" lIns="0" tIns="0" rIns="0" bIns="0" rtlCol="0" anchor="t"/>
          <a:lstStyle/>
          <a:p>
            <a:pPr algn="l" indent="0" marL="0">
              <a:lnSpc>
                <a:spcPct val="116000"/>
              </a:lnSpc>
              <a:buNone/>
            </a:pPr>
            <a:r>
              <a:rPr lang="en-US" sz="1200" dirty="0">
                <a:solidFill>
                  <a:srgbClr val="52606D"/>
                </a:solidFill>
                <a:latin typeface="Aptos" pitchFamily="34" charset="0"/>
                <a:ea typeface="Aptos" pitchFamily="34" charset="-122"/>
                <a:cs typeface="Aptos" pitchFamily="34" charset="-120"/>
              </a:rPr>
              <a:t>Cinco a uno para sistemas pequeños y no críticos: tu proyecto, y casi todo el software que se escribe.</a:t>
            </a:r>
            <a:endParaRPr lang="en-US" sz="1200" dirty="0"/>
          </a:p>
        </p:txBody>
      </p:sp>
      <p:sp>
        <p:nvSpPr>
          <p:cNvPr id="26" name="Shape 23"/>
          <p:cNvSpPr/>
          <p:nvPr/>
        </p:nvSpPr>
        <p:spPr>
          <a:xfrm>
            <a:off x="5394960" y="4242816"/>
            <a:ext cx="0" cy="932688"/>
          </a:xfrm>
          <a:prstGeom prst="line">
            <a:avLst/>
          </a:prstGeom>
          <a:noFill/>
          <a:ln w="12700">
            <a:solidFill>
              <a:srgbClr val="D8CFC4"/>
            </a:solidFill>
            <a:prstDash val="solid"/>
            <a:headEnd type="none"/>
            <a:tailEnd type="none"/>
          </a:ln>
        </p:spPr>
      </p:sp>
      <p:sp>
        <p:nvSpPr>
          <p:cNvPr id="27" name="Text 24"/>
          <p:cNvSpPr txBox="1"/>
          <p:nvPr/>
        </p:nvSpPr>
        <p:spPr>
          <a:xfrm>
            <a:off x="5687568" y="4279392"/>
            <a:ext cx="5340096" cy="877824"/>
          </a:xfrm>
          <a:prstGeom prst="rect">
            <a:avLst/>
          </a:prstGeom>
          <a:noFill/>
          <a:ln/>
        </p:spPr>
        <p:txBody>
          <a:bodyPr wrap="square" lIns="0" tIns="0" rIns="0" bIns="0" rtlCol="0" anchor="ctr"/>
          <a:lstStyle/>
          <a:p>
            <a:pPr algn="l" indent="0" marL="0">
              <a:lnSpc>
                <a:spcPct val="118000"/>
              </a:lnSpc>
              <a:buNone/>
            </a:pPr>
            <a:r>
              <a:rPr lang="en-US" sz="1280" i="1" dirty="0">
                <a:solidFill>
                  <a:srgbClr val="243B53"/>
                </a:solidFill>
                <a:latin typeface="Aptos" pitchFamily="34" charset="0"/>
                <a:ea typeface="Aptos" pitchFamily="34" charset="-122"/>
                <a:cs typeface="Aptos" pitchFamily="34" charset="-120"/>
              </a:rPr>
              <a:t>“Un aprendizaje muestra que el factor de escalamiento de costo, para sistemas de software pequeños y no críticos, se acerca más a 5:1 que a 100:1.”</a:t>
            </a:r>
            <a:endParaRPr lang="en-US" sz="1280" dirty="0"/>
          </a:p>
        </p:txBody>
      </p:sp>
      <p:sp>
        <p:nvSpPr>
          <p:cNvPr id="28" name="Shape 25"/>
          <p:cNvSpPr/>
          <p:nvPr/>
        </p:nvSpPr>
        <p:spPr>
          <a:xfrm>
            <a:off x="658368" y="5358384"/>
            <a:ext cx="45720" cy="182880"/>
          </a:xfrm>
          <a:prstGeom prst="rect">
            <a:avLst/>
          </a:prstGeom>
          <a:solidFill>
            <a:srgbClr val="8A6A12"/>
          </a:solidFill>
          <a:ln w="12700">
            <a:solidFill>
              <a:srgbClr val="8A6A12"/>
            </a:solidFill>
            <a:prstDash val="solid"/>
          </a:ln>
        </p:spPr>
      </p:sp>
      <p:sp>
        <p:nvSpPr>
          <p:cNvPr id="29" name="Text 26"/>
          <p:cNvSpPr txBox="1"/>
          <p:nvPr/>
        </p:nvSpPr>
        <p:spPr>
          <a:xfrm>
            <a:off x="804672" y="5349240"/>
            <a:ext cx="676656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Boehm y Basili, IEEE Computer, enero de 2001 · traducción del original en inglés.</a:t>
            </a:r>
            <a:endParaRPr lang="en-US" sz="920" dirty="0"/>
          </a:p>
        </p:txBody>
      </p:sp>
      <p:sp>
        <p:nvSpPr>
          <p:cNvPr id="30" name="Shape 27"/>
          <p:cNvSpPr/>
          <p:nvPr/>
        </p:nvSpPr>
        <p:spPr>
          <a:xfrm>
            <a:off x="658368" y="5669280"/>
            <a:ext cx="10874959" cy="603504"/>
          </a:xfrm>
          <a:prstGeom prst="rect">
            <a:avLst/>
          </a:prstGeom>
          <a:solidFill>
            <a:srgbClr val="102A43"/>
          </a:solidFill>
          <a:ln w="12700">
            <a:solidFill>
              <a:srgbClr val="102A43"/>
            </a:solidFill>
            <a:prstDash val="solid"/>
          </a:ln>
        </p:spPr>
      </p:sp>
      <p:sp>
        <p:nvSpPr>
          <p:cNvPr id="31" name="Text 28"/>
          <p:cNvSpPr txBox="1"/>
          <p:nvPr/>
        </p:nvSpPr>
        <p:spPr>
          <a:xfrm>
            <a:off x="969264" y="5715000"/>
            <a:ext cx="10253167" cy="512064"/>
          </a:xfrm>
          <a:prstGeom prst="rect">
            <a:avLst/>
          </a:prstGeom>
          <a:noFill/>
          <a:ln/>
        </p:spPr>
        <p:txBody>
          <a:bodyPr wrap="square" lIns="0" tIns="0" rIns="0" bIns="0" rtlCol="0" anchor="ctr"/>
          <a:lstStyle/>
          <a:p>
            <a:pPr algn="ctr" indent="0" marL="0">
              <a:lnSpc>
                <a:spcPct val="112000"/>
              </a:lnSpc>
              <a:buNone/>
            </a:pPr>
            <a:r>
              <a:rPr lang="en-US" sz="1400" b="1" dirty="0">
                <a:solidFill>
                  <a:srgbClr val="FFFFFF"/>
                </a:solidFill>
                <a:latin typeface="Aptos" pitchFamily="34" charset="0"/>
                <a:ea typeface="Aptos" pitchFamily="34" charset="-122"/>
                <a:cs typeface="Aptos" pitchFamily="34" charset="-120"/>
              </a:rPr>
              <a:t>La cifra no es falsa. Está recortada: la fuente que se cita para el 100:1 dice, ahí mismo, que en tu caso es 5:1.</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10</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LA EVIDENCIA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Dos cosas más que conviene saber de esa curva</a:t>
            </a:r>
            <a:endParaRPr lang="en-US" sz="3000" dirty="0"/>
          </a:p>
        </p:txBody>
      </p:sp>
      <p:sp>
        <p:nvSpPr>
          <p:cNvPr id="10" name="Shape 7"/>
          <p:cNvSpPr/>
          <p:nvPr/>
        </p:nvSpPr>
        <p:spPr>
          <a:xfrm>
            <a:off x="658368" y="2011680"/>
            <a:ext cx="5266944" cy="2962656"/>
          </a:xfrm>
          <a:prstGeom prst="rect">
            <a:avLst/>
          </a:prstGeom>
          <a:solidFill>
            <a:srgbClr val="FFFFFF"/>
          </a:solidFill>
          <a:ln w="12700">
            <a:solidFill>
              <a:srgbClr val="FFFFFF"/>
            </a:solidFill>
            <a:prstDash val="solid"/>
          </a:ln>
        </p:spPr>
      </p:sp>
      <p:sp>
        <p:nvSpPr>
          <p:cNvPr id="11" name="Shape 8"/>
          <p:cNvSpPr/>
          <p:nvPr/>
        </p:nvSpPr>
        <p:spPr>
          <a:xfrm>
            <a:off x="658368" y="2011680"/>
            <a:ext cx="5266944" cy="64008"/>
          </a:xfrm>
          <a:prstGeom prst="rect">
            <a:avLst/>
          </a:prstGeom>
          <a:solidFill>
            <a:srgbClr val="8A6A12"/>
          </a:solidFill>
          <a:ln w="12700">
            <a:solidFill>
              <a:srgbClr val="8A6A12"/>
            </a:solidFill>
            <a:prstDash val="solid"/>
          </a:ln>
        </p:spPr>
      </p:sp>
      <p:sp>
        <p:nvSpPr>
          <p:cNvPr id="12" name="Text 9"/>
          <p:cNvSpPr txBox="1"/>
          <p:nvPr/>
        </p:nvSpPr>
        <p:spPr>
          <a:xfrm>
            <a:off x="969264" y="2231136"/>
            <a:ext cx="3657600" cy="201168"/>
          </a:xfrm>
          <a:prstGeom prst="rect">
            <a:avLst/>
          </a:prstGeom>
          <a:noFill/>
          <a:ln/>
        </p:spPr>
        <p:txBody>
          <a:bodyPr wrap="square" lIns="0" tIns="0" rIns="0" bIns="0" rtlCol="0" anchor="t"/>
          <a:lstStyle/>
          <a:p>
            <a:pPr algn="l" indent="0" marL="0">
              <a:buNone/>
            </a:pPr>
            <a:r>
              <a:rPr lang="en-US" sz="960" b="1" spc="130" kern="0" dirty="0">
                <a:solidFill>
                  <a:srgbClr val="8A6A12"/>
                </a:solidFill>
                <a:latin typeface="Aptos" pitchFamily="34" charset="0"/>
                <a:ea typeface="Aptos" pitchFamily="34" charset="-122"/>
                <a:cs typeface="Aptos" pitchFamily="34" charset="-120"/>
              </a:rPr>
              <a:t>LA VERSIÓN PEOR</a:t>
            </a:r>
            <a:endParaRPr lang="en-US" sz="960" dirty="0"/>
          </a:p>
        </p:txBody>
      </p:sp>
      <p:sp>
        <p:nvSpPr>
          <p:cNvPr id="13" name="Text 10"/>
          <p:cNvSpPr txBox="1"/>
          <p:nvPr/>
        </p:nvSpPr>
        <p:spPr>
          <a:xfrm>
            <a:off x="969264" y="2487168"/>
            <a:ext cx="4663440" cy="329184"/>
          </a:xfrm>
          <a:prstGeom prst="rect">
            <a:avLst/>
          </a:prstGeom>
          <a:noFill/>
          <a:ln/>
        </p:spPr>
        <p:txBody>
          <a:bodyPr wrap="square" lIns="0" tIns="0" rIns="0" bIns="0" rtlCol="0" anchor="t"/>
          <a:lstStyle/>
          <a:p>
            <a:pPr algn="l" indent="0" marL="0">
              <a:buNone/>
            </a:pPr>
            <a:r>
              <a:rPr lang="en-US" sz="1900" b="1" dirty="0">
                <a:solidFill>
                  <a:srgbClr val="243B53"/>
                </a:solidFill>
                <a:latin typeface="Aptos" pitchFamily="34" charset="0"/>
                <a:ea typeface="Aptos" pitchFamily="34" charset="-122"/>
                <a:cs typeface="Aptos" pitchFamily="34" charset="-120"/>
              </a:rPr>
              <a:t>La tabla 1 : 10 : 100</a:t>
            </a:r>
            <a:endParaRPr lang="en-US" sz="1900" dirty="0"/>
          </a:p>
        </p:txBody>
      </p:sp>
      <p:sp>
        <p:nvSpPr>
          <p:cNvPr id="14" name="Text 11"/>
          <p:cNvSpPr txBox="1"/>
          <p:nvPr/>
        </p:nvSpPr>
        <p:spPr>
          <a:xfrm>
            <a:off x="969264" y="2907792"/>
            <a:ext cx="4663440" cy="457200"/>
          </a:xfrm>
          <a:prstGeom prst="rect">
            <a:avLst/>
          </a:prstGeom>
          <a:noFill/>
          <a:ln/>
        </p:spPr>
        <p:txBody>
          <a:bodyPr wrap="square" lIns="0" tIns="0" rIns="0" bIns="0" rtlCol="0" anchor="t"/>
          <a:lstStyle/>
          <a:p>
            <a:pPr algn="l" indent="0" marL="0">
              <a:lnSpc>
                <a:spcPct val="116000"/>
              </a:lnSpc>
              <a:buNone/>
            </a:pPr>
            <a:r>
              <a:rPr lang="en-US" sz="1260" dirty="0">
                <a:solidFill>
                  <a:srgbClr val="52606D"/>
                </a:solidFill>
                <a:latin typeface="Aptos" pitchFamily="34" charset="0"/>
                <a:ea typeface="Aptos" pitchFamily="34" charset="-122"/>
                <a:cs typeface="Aptos" pitchFamily="34" charset="-120"/>
              </a:rPr>
              <a:t>En presentaciones corporativas la razón suele atribuirse a un «IBM Systems Sciences Institute».</a:t>
            </a:r>
            <a:endParaRPr lang="en-US" sz="1260" dirty="0"/>
          </a:p>
        </p:txBody>
      </p:sp>
      <p:sp>
        <p:nvSpPr>
          <p:cNvPr id="15" name="Shape 12"/>
          <p:cNvSpPr/>
          <p:nvPr/>
        </p:nvSpPr>
        <p:spPr>
          <a:xfrm>
            <a:off x="969264" y="3474720"/>
            <a:ext cx="4663440" cy="0"/>
          </a:xfrm>
          <a:prstGeom prst="line">
            <a:avLst/>
          </a:prstGeom>
          <a:noFill/>
          <a:ln w="12700">
            <a:solidFill>
              <a:srgbClr val="D8CFC4"/>
            </a:solidFill>
            <a:prstDash val="solid"/>
            <a:headEnd type="none"/>
            <a:tailEnd type="none"/>
          </a:ln>
        </p:spPr>
      </p:sp>
      <p:sp>
        <p:nvSpPr>
          <p:cNvPr id="16" name="Text 13"/>
          <p:cNvSpPr txBox="1"/>
          <p:nvPr/>
        </p:nvSpPr>
        <p:spPr>
          <a:xfrm>
            <a:off x="969264" y="3602736"/>
            <a:ext cx="4663440" cy="237744"/>
          </a:xfrm>
          <a:prstGeom prst="rect">
            <a:avLst/>
          </a:prstGeom>
          <a:noFill/>
          <a:ln/>
        </p:spPr>
        <p:txBody>
          <a:bodyPr wrap="square" lIns="0" tIns="0" rIns="0" bIns="0" rtlCol="0" anchor="t"/>
          <a:lstStyle/>
          <a:p>
            <a:pPr algn="l" indent="0" marL="0">
              <a:buNone/>
            </a:pPr>
            <a:r>
              <a:rPr lang="en-US" sz="1200" b="1" dirty="0">
                <a:solidFill>
                  <a:srgbClr val="243B53"/>
                </a:solidFill>
                <a:latin typeface="Aptos" pitchFamily="34" charset="0"/>
                <a:ea typeface="Aptos" pitchFamily="34" charset="-122"/>
                <a:cs typeface="Aptos" pitchFamily="34" charset="-120"/>
              </a:rPr>
              <a:t>Cuando alguien siguió el rastro documental:</a:t>
            </a:r>
            <a:endParaRPr lang="en-US" sz="1200" dirty="0"/>
          </a:p>
        </p:txBody>
      </p:sp>
      <p:sp>
        <p:nvSpPr>
          <p:cNvPr id="17" name="Text 14"/>
          <p:cNvSpPr txBox="1"/>
          <p:nvPr/>
        </p:nvSpPr>
        <p:spPr>
          <a:xfrm>
            <a:off x="969264" y="3895344"/>
            <a:ext cx="219456" cy="219456"/>
          </a:xfrm>
          <a:prstGeom prst="rect">
            <a:avLst/>
          </a:prstGeom>
          <a:noFill/>
          <a:ln/>
        </p:spPr>
        <p:txBody>
          <a:bodyPr wrap="square" lIns="0" tIns="0" rIns="0" bIns="0" rtlCol="0" anchor="t"/>
          <a:lstStyle/>
          <a:p>
            <a:pPr algn="l" indent="0" marL="0">
              <a:buNone/>
            </a:pPr>
            <a:r>
              <a:rPr lang="en-US" sz="1150" dirty="0">
                <a:solidFill>
                  <a:srgbClr val="8A6A12"/>
                </a:solidFill>
                <a:latin typeface="Aptos" pitchFamily="34" charset="0"/>
                <a:ea typeface="Aptos" pitchFamily="34" charset="-122"/>
                <a:cs typeface="Aptos" pitchFamily="34" charset="-120"/>
              </a:rPr>
              <a:t>—</a:t>
            </a:r>
            <a:endParaRPr lang="en-US" sz="1150" dirty="0"/>
          </a:p>
        </p:txBody>
      </p:sp>
      <p:sp>
        <p:nvSpPr>
          <p:cNvPr id="18" name="Text 15"/>
          <p:cNvSpPr txBox="1"/>
          <p:nvPr/>
        </p:nvSpPr>
        <p:spPr>
          <a:xfrm>
            <a:off x="1243584" y="3895344"/>
            <a:ext cx="4389120" cy="219456"/>
          </a:xfrm>
          <a:prstGeom prst="rect">
            <a:avLst/>
          </a:prstGeom>
          <a:noFill/>
          <a:ln/>
        </p:spPr>
        <p:txBody>
          <a:bodyPr wrap="square" lIns="0" tIns="0" rIns="0" bIns="0" rtlCol="0" anchor="t"/>
          <a:lstStyle/>
          <a:p>
            <a:pPr algn="l" indent="0" marL="0">
              <a:buNone/>
            </a:pPr>
            <a:r>
              <a:rPr lang="en-US" sz="1180" dirty="0">
                <a:solidFill>
                  <a:srgbClr val="52606D"/>
                </a:solidFill>
                <a:latin typeface="Aptos" pitchFamily="34" charset="0"/>
                <a:ea typeface="Aptos" pitchFamily="34" charset="-122"/>
                <a:cs typeface="Aptos" pitchFamily="34" charset="-120"/>
              </a:rPr>
              <a:t>Ese instituto nunca publicó tal investigación.</a:t>
            </a:r>
            <a:endParaRPr lang="en-US" sz="1180" dirty="0"/>
          </a:p>
        </p:txBody>
      </p:sp>
      <p:sp>
        <p:nvSpPr>
          <p:cNvPr id="19" name="Text 16"/>
          <p:cNvSpPr txBox="1"/>
          <p:nvPr/>
        </p:nvSpPr>
        <p:spPr>
          <a:xfrm>
            <a:off x="969264" y="4151376"/>
            <a:ext cx="219456" cy="219456"/>
          </a:xfrm>
          <a:prstGeom prst="rect">
            <a:avLst/>
          </a:prstGeom>
          <a:noFill/>
          <a:ln/>
        </p:spPr>
        <p:txBody>
          <a:bodyPr wrap="square" lIns="0" tIns="0" rIns="0" bIns="0" rtlCol="0" anchor="t"/>
          <a:lstStyle/>
          <a:p>
            <a:pPr algn="l" indent="0" marL="0">
              <a:buNone/>
            </a:pPr>
            <a:r>
              <a:rPr lang="en-US" sz="1150" dirty="0">
                <a:solidFill>
                  <a:srgbClr val="8A6A12"/>
                </a:solidFill>
                <a:latin typeface="Aptos" pitchFamily="34" charset="0"/>
                <a:ea typeface="Aptos" pitchFamily="34" charset="-122"/>
                <a:cs typeface="Aptos" pitchFamily="34" charset="-120"/>
              </a:rPr>
              <a:t>—</a:t>
            </a:r>
            <a:endParaRPr lang="en-US" sz="1150" dirty="0"/>
          </a:p>
        </p:txBody>
      </p:sp>
      <p:sp>
        <p:nvSpPr>
          <p:cNvPr id="20" name="Text 17"/>
          <p:cNvSpPr txBox="1"/>
          <p:nvPr/>
        </p:nvSpPr>
        <p:spPr>
          <a:xfrm>
            <a:off x="1243584" y="4151376"/>
            <a:ext cx="4389120" cy="219456"/>
          </a:xfrm>
          <a:prstGeom prst="rect">
            <a:avLst/>
          </a:prstGeom>
          <a:noFill/>
          <a:ln/>
        </p:spPr>
        <p:txBody>
          <a:bodyPr wrap="square" lIns="0" tIns="0" rIns="0" bIns="0" rtlCol="0" anchor="t"/>
          <a:lstStyle/>
          <a:p>
            <a:pPr algn="l" indent="0" marL="0">
              <a:buNone/>
            </a:pPr>
            <a:r>
              <a:rPr lang="en-US" sz="1180" dirty="0">
                <a:solidFill>
                  <a:srgbClr val="52606D"/>
                </a:solidFill>
                <a:latin typeface="Aptos" pitchFamily="34" charset="0"/>
                <a:ea typeface="Aptos" pitchFamily="34" charset="-122"/>
                <a:cs typeface="Aptos" pitchFamily="34" charset="-120"/>
              </a:rPr>
              <a:t>Era un programa interno de capacitación.</a:t>
            </a:r>
            <a:endParaRPr lang="en-US" sz="1180" dirty="0"/>
          </a:p>
        </p:txBody>
      </p:sp>
      <p:sp>
        <p:nvSpPr>
          <p:cNvPr id="21" name="Text 18"/>
          <p:cNvSpPr txBox="1"/>
          <p:nvPr/>
        </p:nvSpPr>
        <p:spPr>
          <a:xfrm>
            <a:off x="969264" y="4407408"/>
            <a:ext cx="219456" cy="219456"/>
          </a:xfrm>
          <a:prstGeom prst="rect">
            <a:avLst/>
          </a:prstGeom>
          <a:noFill/>
          <a:ln/>
        </p:spPr>
        <p:txBody>
          <a:bodyPr wrap="square" lIns="0" tIns="0" rIns="0" bIns="0" rtlCol="0" anchor="t"/>
          <a:lstStyle/>
          <a:p>
            <a:pPr algn="l" indent="0" marL="0">
              <a:buNone/>
            </a:pPr>
            <a:r>
              <a:rPr lang="en-US" sz="1150" dirty="0">
                <a:solidFill>
                  <a:srgbClr val="8A6A12"/>
                </a:solidFill>
                <a:latin typeface="Aptos" pitchFamily="34" charset="0"/>
                <a:ea typeface="Aptos" pitchFamily="34" charset="-122"/>
                <a:cs typeface="Aptos" pitchFamily="34" charset="-120"/>
              </a:rPr>
              <a:t>—</a:t>
            </a:r>
            <a:endParaRPr lang="en-US" sz="1150" dirty="0"/>
          </a:p>
        </p:txBody>
      </p:sp>
      <p:sp>
        <p:nvSpPr>
          <p:cNvPr id="22" name="Text 19"/>
          <p:cNvSpPr txBox="1"/>
          <p:nvPr/>
        </p:nvSpPr>
        <p:spPr>
          <a:xfrm>
            <a:off x="1243584" y="4407408"/>
            <a:ext cx="4389120" cy="219456"/>
          </a:xfrm>
          <a:prstGeom prst="rect">
            <a:avLst/>
          </a:prstGeom>
          <a:noFill/>
          <a:ln/>
        </p:spPr>
        <p:txBody>
          <a:bodyPr wrap="square" lIns="0" tIns="0" rIns="0" bIns="0" rtlCol="0" anchor="t"/>
          <a:lstStyle/>
          <a:p>
            <a:pPr algn="l" indent="0" marL="0">
              <a:buNone/>
            </a:pPr>
            <a:r>
              <a:rPr lang="en-US" sz="1180" dirty="0">
                <a:solidFill>
                  <a:srgbClr val="52606D"/>
                </a:solidFill>
                <a:latin typeface="Aptos" pitchFamily="34" charset="0"/>
                <a:ea typeface="Aptos" pitchFamily="34" charset="-122"/>
                <a:cs typeface="Aptos" pitchFamily="34" charset="-120"/>
              </a:rPr>
              <a:t>El rastro muere en notas de curso de 1981.</a:t>
            </a:r>
            <a:endParaRPr lang="en-US" sz="1180" dirty="0"/>
          </a:p>
        </p:txBody>
      </p:sp>
      <p:sp>
        <p:nvSpPr>
          <p:cNvPr id="23" name="Text 20"/>
          <p:cNvSpPr txBox="1"/>
          <p:nvPr/>
        </p:nvSpPr>
        <p:spPr>
          <a:xfrm>
            <a:off x="969264" y="4663440"/>
            <a:ext cx="219456" cy="219456"/>
          </a:xfrm>
          <a:prstGeom prst="rect">
            <a:avLst/>
          </a:prstGeom>
          <a:noFill/>
          <a:ln/>
        </p:spPr>
        <p:txBody>
          <a:bodyPr wrap="square" lIns="0" tIns="0" rIns="0" bIns="0" rtlCol="0" anchor="t"/>
          <a:lstStyle/>
          <a:p>
            <a:pPr algn="l" indent="0" marL="0">
              <a:buNone/>
            </a:pPr>
            <a:r>
              <a:rPr lang="en-US" sz="1150" dirty="0">
                <a:solidFill>
                  <a:srgbClr val="8A6A12"/>
                </a:solidFill>
                <a:latin typeface="Aptos" pitchFamily="34" charset="0"/>
                <a:ea typeface="Aptos" pitchFamily="34" charset="-122"/>
                <a:cs typeface="Aptos" pitchFamily="34" charset="-120"/>
              </a:rPr>
              <a:t>—</a:t>
            </a:r>
            <a:endParaRPr lang="en-US" sz="1150" dirty="0"/>
          </a:p>
        </p:txBody>
      </p:sp>
      <p:sp>
        <p:nvSpPr>
          <p:cNvPr id="24" name="Text 21"/>
          <p:cNvSpPr txBox="1"/>
          <p:nvPr/>
        </p:nvSpPr>
        <p:spPr>
          <a:xfrm>
            <a:off x="1243584" y="4663440"/>
            <a:ext cx="4389120" cy="219456"/>
          </a:xfrm>
          <a:prstGeom prst="rect">
            <a:avLst/>
          </a:prstGeom>
          <a:noFill/>
          <a:ln/>
        </p:spPr>
        <p:txBody>
          <a:bodyPr wrap="square" lIns="0" tIns="0" rIns="0" bIns="0" rtlCol="0" anchor="t"/>
          <a:lstStyle/>
          <a:p>
            <a:pPr algn="l" indent="0" marL="0">
              <a:buNone/>
            </a:pPr>
            <a:r>
              <a:rPr lang="en-US" sz="1180" dirty="0">
                <a:solidFill>
                  <a:srgbClr val="52606D"/>
                </a:solidFill>
                <a:latin typeface="Aptos" pitchFamily="34" charset="0"/>
                <a:ea typeface="Aptos" pitchFamily="34" charset="-122"/>
                <a:cs typeface="Aptos" pitchFamily="34" charset="-120"/>
              </a:rPr>
              <a:t>Los datos originales jamás aparecieron.</a:t>
            </a:r>
            <a:endParaRPr lang="en-US" sz="1180" dirty="0"/>
          </a:p>
        </p:txBody>
      </p:sp>
      <p:sp>
        <p:nvSpPr>
          <p:cNvPr id="25" name="Shape 22"/>
          <p:cNvSpPr/>
          <p:nvPr/>
        </p:nvSpPr>
        <p:spPr>
          <a:xfrm>
            <a:off x="6291072" y="2011680"/>
            <a:ext cx="5239512" cy="2962656"/>
          </a:xfrm>
          <a:prstGeom prst="rect">
            <a:avLst/>
          </a:prstGeom>
          <a:solidFill>
            <a:srgbClr val="FFFFFF"/>
          </a:solidFill>
          <a:ln w="12700">
            <a:solidFill>
              <a:srgbClr val="FFFFFF"/>
            </a:solidFill>
            <a:prstDash val="solid"/>
          </a:ln>
        </p:spPr>
      </p:sp>
      <p:sp>
        <p:nvSpPr>
          <p:cNvPr id="26" name="Shape 23"/>
          <p:cNvSpPr/>
          <p:nvPr/>
        </p:nvSpPr>
        <p:spPr>
          <a:xfrm>
            <a:off x="6291072" y="2011680"/>
            <a:ext cx="5239512" cy="64008"/>
          </a:xfrm>
          <a:prstGeom prst="rect">
            <a:avLst/>
          </a:prstGeom>
          <a:solidFill>
            <a:srgbClr val="255A4C"/>
          </a:solidFill>
          <a:ln w="12700">
            <a:solidFill>
              <a:srgbClr val="255A4C"/>
            </a:solidFill>
            <a:prstDash val="solid"/>
          </a:ln>
        </p:spPr>
      </p:sp>
      <p:sp>
        <p:nvSpPr>
          <p:cNvPr id="27" name="Text 24"/>
          <p:cNvSpPr txBox="1"/>
          <p:nvPr/>
        </p:nvSpPr>
        <p:spPr>
          <a:xfrm>
            <a:off x="6601968" y="2231136"/>
            <a:ext cx="4206240" cy="201168"/>
          </a:xfrm>
          <a:prstGeom prst="rect">
            <a:avLst/>
          </a:prstGeom>
          <a:noFill/>
          <a:ln/>
        </p:spPr>
        <p:txBody>
          <a:bodyPr wrap="square" lIns="0" tIns="0" rIns="0" bIns="0" rtlCol="0" anchor="t"/>
          <a:lstStyle/>
          <a:p>
            <a:pPr algn="l" indent="0" marL="0">
              <a:buNone/>
            </a:pPr>
            <a:r>
              <a:rPr lang="en-US" sz="960" b="1" spc="130" kern="0" dirty="0">
                <a:solidFill>
                  <a:srgbClr val="255A4C"/>
                </a:solidFill>
                <a:latin typeface="Aptos" pitchFamily="34" charset="0"/>
                <a:ea typeface="Aptos" pitchFamily="34" charset="-122"/>
                <a:cs typeface="Aptos" pitchFamily="34" charset="-120"/>
              </a:rPr>
              <a:t>LO QUE DICEN LOS DATOS ACTUALES</a:t>
            </a:r>
            <a:endParaRPr lang="en-US" sz="960" dirty="0"/>
          </a:p>
        </p:txBody>
      </p:sp>
      <p:sp>
        <p:nvSpPr>
          <p:cNvPr id="28" name="Text 25"/>
          <p:cNvSpPr txBox="1"/>
          <p:nvPr/>
        </p:nvSpPr>
        <p:spPr>
          <a:xfrm>
            <a:off x="6601968" y="2487168"/>
            <a:ext cx="4663440" cy="329184"/>
          </a:xfrm>
          <a:prstGeom prst="rect">
            <a:avLst/>
          </a:prstGeom>
          <a:noFill/>
          <a:ln/>
        </p:spPr>
        <p:txBody>
          <a:bodyPr wrap="square" lIns="0" tIns="0" rIns="0" bIns="0" rtlCol="0" anchor="t"/>
          <a:lstStyle/>
          <a:p>
            <a:pPr algn="l" indent="0" marL="0">
              <a:buNone/>
            </a:pPr>
            <a:r>
              <a:rPr lang="en-US" sz="1900" b="1" dirty="0">
                <a:solidFill>
                  <a:srgbClr val="243B53"/>
                </a:solidFill>
                <a:latin typeface="Aptos" pitchFamily="34" charset="0"/>
                <a:ea typeface="Aptos" pitchFamily="34" charset="-122"/>
                <a:cs typeface="Aptos" pitchFamily="34" charset="-120"/>
              </a:rPr>
              <a:t>171 proyectos, 2006 – 2014</a:t>
            </a:r>
            <a:endParaRPr lang="en-US" sz="1900" dirty="0"/>
          </a:p>
        </p:txBody>
      </p:sp>
      <p:sp>
        <p:nvSpPr>
          <p:cNvPr id="29" name="Text 26"/>
          <p:cNvSpPr txBox="1"/>
          <p:nvPr/>
        </p:nvSpPr>
        <p:spPr>
          <a:xfrm>
            <a:off x="6601968" y="2907792"/>
            <a:ext cx="4626864" cy="457200"/>
          </a:xfrm>
          <a:prstGeom prst="rect">
            <a:avLst/>
          </a:prstGeom>
          <a:noFill/>
          <a:ln/>
        </p:spPr>
        <p:txBody>
          <a:bodyPr wrap="square" lIns="0" tIns="0" rIns="0" bIns="0" rtlCol="0" anchor="t"/>
          <a:lstStyle/>
          <a:p>
            <a:pPr algn="l" indent="0" marL="0">
              <a:lnSpc>
                <a:spcPct val="116000"/>
              </a:lnSpc>
              <a:buNone/>
            </a:pPr>
            <a:r>
              <a:rPr lang="en-US" sz="1260" dirty="0">
                <a:solidFill>
                  <a:srgbClr val="52606D"/>
                </a:solidFill>
                <a:latin typeface="Aptos" pitchFamily="34" charset="0"/>
                <a:ea typeface="Aptos" pitchFamily="34" charset="-122"/>
                <a:cs typeface="Aptos" pitchFamily="34" charset="-120"/>
              </a:rPr>
              <a:t>Menzies, Nichols, Shull y Layman fueron a buscar el efecto en el estudio más grande publicado sobre el tema.</a:t>
            </a:r>
            <a:endParaRPr lang="en-US" sz="1260" dirty="0"/>
          </a:p>
        </p:txBody>
      </p:sp>
      <p:sp>
        <p:nvSpPr>
          <p:cNvPr id="30" name="Shape 27"/>
          <p:cNvSpPr/>
          <p:nvPr/>
        </p:nvSpPr>
        <p:spPr>
          <a:xfrm>
            <a:off x="6601968" y="3456432"/>
            <a:ext cx="4626864" cy="713232"/>
          </a:xfrm>
          <a:prstGeom prst="rect">
            <a:avLst/>
          </a:prstGeom>
          <a:solidFill>
            <a:srgbClr val="F2E7D9"/>
          </a:solidFill>
          <a:ln w="12700">
            <a:solidFill>
              <a:srgbClr val="F2E7D9"/>
            </a:solidFill>
            <a:prstDash val="solid"/>
          </a:ln>
        </p:spPr>
      </p:sp>
      <p:sp>
        <p:nvSpPr>
          <p:cNvPr id="31" name="Shape 28"/>
          <p:cNvSpPr/>
          <p:nvPr/>
        </p:nvSpPr>
        <p:spPr>
          <a:xfrm>
            <a:off x="6601968" y="3456432"/>
            <a:ext cx="64008" cy="713232"/>
          </a:xfrm>
          <a:prstGeom prst="rect">
            <a:avLst/>
          </a:prstGeom>
          <a:solidFill>
            <a:srgbClr val="255A4C"/>
          </a:solidFill>
          <a:ln w="12700">
            <a:solidFill>
              <a:srgbClr val="255A4C"/>
            </a:solidFill>
            <a:prstDash val="solid"/>
          </a:ln>
        </p:spPr>
      </p:sp>
      <p:sp>
        <p:nvSpPr>
          <p:cNvPr id="32" name="Text 29"/>
          <p:cNvSpPr txBox="1"/>
          <p:nvPr/>
        </p:nvSpPr>
        <p:spPr>
          <a:xfrm>
            <a:off x="6912864" y="3584448"/>
            <a:ext cx="4059936" cy="457200"/>
          </a:xfrm>
          <a:prstGeom prst="rect">
            <a:avLst/>
          </a:prstGeom>
          <a:noFill/>
          <a:ln/>
        </p:spPr>
        <p:txBody>
          <a:bodyPr wrap="square" lIns="0" tIns="0" rIns="0" bIns="0" rtlCol="0" anchor="ctr"/>
          <a:lstStyle/>
          <a:p>
            <a:pPr algn="l" indent="0" marL="0">
              <a:lnSpc>
                <a:spcPct val="120000"/>
              </a:lnSpc>
              <a:buNone/>
            </a:pPr>
            <a:r>
              <a:rPr lang="en-US" sz="1340" i="1" dirty="0">
                <a:solidFill>
                  <a:srgbClr val="243B53"/>
                </a:solidFill>
                <a:latin typeface="Aptos" pitchFamily="34" charset="0"/>
                <a:ea typeface="Aptos" pitchFamily="34" charset="-122"/>
                <a:cs typeface="Aptos" pitchFamily="34" charset="-120"/>
              </a:rPr>
              <a:t>“No encontramos evidencia del efecto de postergación del problema.”</a:t>
            </a:r>
            <a:endParaRPr lang="en-US" sz="1340" dirty="0"/>
          </a:p>
        </p:txBody>
      </p:sp>
      <p:sp>
        <p:nvSpPr>
          <p:cNvPr id="33" name="Shape 30"/>
          <p:cNvSpPr/>
          <p:nvPr/>
        </p:nvSpPr>
        <p:spPr>
          <a:xfrm>
            <a:off x="6601968" y="4242816"/>
            <a:ext cx="4626864" cy="676656"/>
          </a:xfrm>
          <a:prstGeom prst="rect">
            <a:avLst/>
          </a:prstGeom>
          <a:solidFill>
            <a:srgbClr val="EDE6DA"/>
          </a:solidFill>
          <a:ln w="12700">
            <a:solidFill>
              <a:srgbClr val="EDE6DA"/>
            </a:solidFill>
            <a:prstDash val="solid"/>
          </a:ln>
        </p:spPr>
      </p:sp>
      <p:sp>
        <p:nvSpPr>
          <p:cNvPr id="34" name="Text 31"/>
          <p:cNvSpPr txBox="1"/>
          <p:nvPr/>
        </p:nvSpPr>
        <p:spPr>
          <a:xfrm>
            <a:off x="6784848" y="4315968"/>
            <a:ext cx="4261104" cy="548640"/>
          </a:xfrm>
          <a:prstGeom prst="rect">
            <a:avLst/>
          </a:prstGeom>
          <a:noFill/>
          <a:ln/>
        </p:spPr>
        <p:txBody>
          <a:bodyPr wrap="square" lIns="0" tIns="0" rIns="0" bIns="0" rtlCol="0" anchor="t"/>
          <a:lstStyle/>
          <a:p>
            <a:pPr algn="l" indent="0" marL="0">
              <a:lnSpc>
                <a:spcPct val="114000"/>
              </a:lnSpc>
              <a:buNone/>
            </a:pPr>
            <a:r>
              <a:rPr lang="en-US" sz="1080" dirty="0">
                <a:solidFill>
                  <a:srgbClr val="52606D"/>
                </a:solidFill>
                <a:latin typeface="Aptos" pitchFamily="34" charset="0"/>
                <a:ea typeface="Aptos" pitchFamily="34" charset="-122"/>
                <a:cs typeface="Aptos" pitchFamily="34" charset="-120"/>
              </a:rPr>
              <a:t>Declaran su propia limitación en la primera página: los 171 proyectos usan una metodología que dos de los autores promueven.</a:t>
            </a:r>
            <a:endParaRPr lang="en-US" sz="1080" dirty="0"/>
          </a:p>
        </p:txBody>
      </p:sp>
      <p:sp>
        <p:nvSpPr>
          <p:cNvPr id="35" name="Text 32"/>
          <p:cNvSpPr txBox="1"/>
          <p:nvPr/>
        </p:nvSpPr>
        <p:spPr>
          <a:xfrm>
            <a:off x="658368" y="5029200"/>
            <a:ext cx="10874959" cy="274320"/>
          </a:xfrm>
          <a:prstGeom prst="rect">
            <a:avLst/>
          </a:prstGeom>
          <a:noFill/>
          <a:ln/>
        </p:spPr>
        <p:txBody>
          <a:bodyPr wrap="square" lIns="0" tIns="0" rIns="0" bIns="0" rtlCol="0" anchor="t"/>
          <a:lstStyle/>
          <a:p>
            <a:pPr algn="ctr" indent="0" marL="0">
              <a:buNone/>
            </a:pPr>
            <a:r>
              <a:rPr lang="en-US" sz="1260" i="1" dirty="0">
                <a:solidFill>
                  <a:srgbClr val="52606D"/>
                </a:solidFill>
                <a:latin typeface="Aptos" pitchFamily="34" charset="0"/>
                <a:ea typeface="Aptos" pitchFamily="34" charset="-122"/>
                <a:cs typeface="Aptos" pitchFamily="34" charset="-120"/>
              </a:rPr>
              <a:t>Un estudio que desmonta una creencia y publica al mismo tiempo el sesgo de su muestra está haciendo el trabajo bien.</a:t>
            </a:r>
            <a:endParaRPr lang="en-US" sz="1260" dirty="0"/>
          </a:p>
        </p:txBody>
      </p:sp>
      <p:sp>
        <p:nvSpPr>
          <p:cNvPr id="36" name="Shape 33"/>
          <p:cNvSpPr/>
          <p:nvPr/>
        </p:nvSpPr>
        <p:spPr>
          <a:xfrm>
            <a:off x="658368" y="5358384"/>
            <a:ext cx="45720" cy="182880"/>
          </a:xfrm>
          <a:prstGeom prst="rect">
            <a:avLst/>
          </a:prstGeom>
          <a:solidFill>
            <a:srgbClr val="255A4C"/>
          </a:solidFill>
          <a:ln w="12700">
            <a:solidFill>
              <a:srgbClr val="255A4C"/>
            </a:solidFill>
            <a:prstDash val="solid"/>
          </a:ln>
        </p:spPr>
      </p:sp>
      <p:sp>
        <p:nvSpPr>
          <p:cNvPr id="37" name="Text 34"/>
          <p:cNvSpPr txBox="1"/>
          <p:nvPr/>
        </p:nvSpPr>
        <p:spPr>
          <a:xfrm>
            <a:off x="804672" y="5349240"/>
            <a:ext cx="694944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Menzies, Nichols, Shull y Layman, arXiv:1609.04886 (2016) · traducción del original en inglés.</a:t>
            </a:r>
            <a:endParaRPr lang="en-US" sz="920" dirty="0"/>
          </a:p>
        </p:txBody>
      </p:sp>
      <p:sp>
        <p:nvSpPr>
          <p:cNvPr id="38" name="Shape 35"/>
          <p:cNvSpPr/>
          <p:nvPr/>
        </p:nvSpPr>
        <p:spPr>
          <a:xfrm>
            <a:off x="658368" y="5669280"/>
            <a:ext cx="10874959" cy="603504"/>
          </a:xfrm>
          <a:prstGeom prst="rect">
            <a:avLst/>
          </a:prstGeom>
          <a:solidFill>
            <a:srgbClr val="102A43"/>
          </a:solidFill>
          <a:ln w="12700">
            <a:solidFill>
              <a:srgbClr val="102A43"/>
            </a:solidFill>
            <a:prstDash val="solid"/>
          </a:ln>
        </p:spPr>
      </p:sp>
      <p:sp>
        <p:nvSpPr>
          <p:cNvPr id="39" name="Text 36"/>
          <p:cNvSpPr txBox="1"/>
          <p:nvPr/>
        </p:nvSpPr>
        <p:spPr>
          <a:xfrm>
            <a:off x="969264" y="5715000"/>
            <a:ext cx="10253167" cy="512064"/>
          </a:xfrm>
          <a:prstGeom prst="rect">
            <a:avLst/>
          </a:prstGeom>
          <a:noFill/>
          <a:ln/>
        </p:spPr>
        <p:txBody>
          <a:bodyPr wrap="square" lIns="0" tIns="0" rIns="0" bIns="0" rtlCol="0" anchor="ctr"/>
          <a:lstStyle/>
          <a:p>
            <a:pPr algn="ctr" indent="0" marL="0">
              <a:lnSpc>
                <a:spcPct val="112000"/>
              </a:lnSpc>
              <a:buNone/>
            </a:pPr>
            <a:r>
              <a:rPr lang="en-US" sz="1400" b="1" dirty="0">
                <a:solidFill>
                  <a:srgbClr val="FFFFFF"/>
                </a:solidFill>
                <a:latin typeface="Aptos" pitchFamily="34" charset="0"/>
                <a:ea typeface="Aptos" pitchFamily="34" charset="-122"/>
                <a:cs typeface="Aptos" pitchFamily="34" charset="-120"/>
              </a:rPr>
              <a:t>Queda en pie el argumento lógico: un error en el requisito es invisible después. Ese no depende de ninguna cifra.</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11</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LO QUE CAMBIÓ</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La curva suponía que reescribir código era lo caro</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Ese supuesto casi nunca se enuncia, y es el que se movió.</a:t>
            </a:r>
            <a:endParaRPr lang="en-US" sz="1450" dirty="0"/>
          </a:p>
        </p:txBody>
      </p:sp>
      <p:sp>
        <p:nvSpPr>
          <p:cNvPr id="11" name="Shape 8"/>
          <p:cNvSpPr/>
          <p:nvPr/>
        </p:nvSpPr>
        <p:spPr>
          <a:xfrm>
            <a:off x="658368" y="2286000"/>
            <a:ext cx="10874959" cy="932688"/>
          </a:xfrm>
          <a:prstGeom prst="rect">
            <a:avLst/>
          </a:prstGeom>
          <a:solidFill>
            <a:srgbClr val="EDE6DA"/>
          </a:solidFill>
          <a:ln w="12700">
            <a:solidFill>
              <a:srgbClr val="EDE6DA"/>
            </a:solidFill>
            <a:prstDash val="solid"/>
          </a:ln>
        </p:spPr>
      </p:sp>
      <p:sp>
        <p:nvSpPr>
          <p:cNvPr id="12" name="Shape 9"/>
          <p:cNvSpPr/>
          <p:nvPr/>
        </p:nvSpPr>
        <p:spPr>
          <a:xfrm>
            <a:off x="658368" y="2286000"/>
            <a:ext cx="64008" cy="932688"/>
          </a:xfrm>
          <a:prstGeom prst="rect">
            <a:avLst/>
          </a:prstGeom>
          <a:solidFill>
            <a:srgbClr val="52606D"/>
          </a:solidFill>
          <a:ln w="12700">
            <a:solidFill>
              <a:srgbClr val="52606D"/>
            </a:solidFill>
            <a:prstDash val="solid"/>
          </a:ln>
        </p:spPr>
      </p:sp>
      <p:sp>
        <p:nvSpPr>
          <p:cNvPr id="13" name="Text 10"/>
          <p:cNvSpPr txBox="1"/>
          <p:nvPr/>
        </p:nvSpPr>
        <p:spPr>
          <a:xfrm>
            <a:off x="969264" y="2432304"/>
            <a:ext cx="1280160" cy="237744"/>
          </a:xfrm>
          <a:prstGeom prst="rect">
            <a:avLst/>
          </a:prstGeom>
          <a:noFill/>
          <a:ln/>
        </p:spPr>
        <p:txBody>
          <a:bodyPr wrap="square" lIns="0" tIns="0" rIns="0" bIns="0" rtlCol="0" anchor="t"/>
          <a:lstStyle/>
          <a:p>
            <a:pPr algn="l" indent="0" marL="0">
              <a:buNone/>
            </a:pPr>
            <a:r>
              <a:rPr lang="en-US" sz="1100" b="1" spc="140" kern="0" dirty="0">
                <a:solidFill>
                  <a:srgbClr val="52606D"/>
                </a:solidFill>
                <a:latin typeface="Aptos" pitchFamily="34" charset="0"/>
                <a:ea typeface="Aptos" pitchFamily="34" charset="-122"/>
                <a:cs typeface="Aptos" pitchFamily="34" charset="-120"/>
              </a:rPr>
              <a:t>ANTES</a:t>
            </a:r>
            <a:endParaRPr lang="en-US" sz="1100" dirty="0"/>
          </a:p>
        </p:txBody>
      </p:sp>
      <p:sp>
        <p:nvSpPr>
          <p:cNvPr id="14" name="Text 11"/>
          <p:cNvSpPr txBox="1"/>
          <p:nvPr/>
        </p:nvSpPr>
        <p:spPr>
          <a:xfrm>
            <a:off x="2395728" y="2414016"/>
            <a:ext cx="5358384" cy="676656"/>
          </a:xfrm>
          <a:prstGeom prst="rect">
            <a:avLst/>
          </a:prstGeom>
          <a:noFill/>
          <a:ln/>
        </p:spPr>
        <p:txBody>
          <a:bodyPr wrap="square" lIns="0" tIns="0" rIns="0" bIns="0" rtlCol="0" anchor="t"/>
          <a:lstStyle/>
          <a:p>
            <a:pPr algn="l" indent="0" marL="0">
              <a:lnSpc>
                <a:spcPct val="118000"/>
              </a:lnSpc>
              <a:buNone/>
            </a:pPr>
            <a:r>
              <a:rPr lang="en-US" sz="1300" dirty="0">
                <a:solidFill>
                  <a:srgbClr val="243B53"/>
                </a:solidFill>
                <a:latin typeface="Aptos" pitchFamily="34" charset="0"/>
                <a:ea typeface="Aptos" pitchFamily="34" charset="-122"/>
                <a:cs typeface="Aptos" pitchFamily="34" charset="-120"/>
              </a:rPr>
              <a:t>Un cambio de requisito obligaba a rehacer meses de trabajo humano. De ahí salía el costo.</a:t>
            </a:r>
            <a:endParaRPr lang="en-US" sz="1300" dirty="0"/>
          </a:p>
        </p:txBody>
      </p:sp>
      <p:sp>
        <p:nvSpPr>
          <p:cNvPr id="15" name="Shape 12"/>
          <p:cNvSpPr/>
          <p:nvPr/>
        </p:nvSpPr>
        <p:spPr>
          <a:xfrm>
            <a:off x="7863840" y="2432304"/>
            <a:ext cx="0" cy="640080"/>
          </a:xfrm>
          <a:prstGeom prst="line">
            <a:avLst/>
          </a:prstGeom>
          <a:noFill/>
          <a:ln w="12700">
            <a:solidFill>
              <a:srgbClr val="D8CFC4"/>
            </a:solidFill>
            <a:prstDash val="solid"/>
            <a:headEnd type="none"/>
            <a:tailEnd type="none"/>
          </a:ln>
        </p:spPr>
      </p:sp>
      <p:sp>
        <p:nvSpPr>
          <p:cNvPr id="16" name="Text 13"/>
          <p:cNvSpPr txBox="1"/>
          <p:nvPr/>
        </p:nvSpPr>
        <p:spPr>
          <a:xfrm>
            <a:off x="8174736" y="2560320"/>
            <a:ext cx="3108960" cy="384048"/>
          </a:xfrm>
          <a:prstGeom prst="rect">
            <a:avLst/>
          </a:prstGeom>
          <a:noFill/>
          <a:ln/>
        </p:spPr>
        <p:txBody>
          <a:bodyPr wrap="square" lIns="0" tIns="0" rIns="0" bIns="0" rtlCol="0" anchor="t"/>
          <a:lstStyle/>
          <a:p>
            <a:pPr algn="l" indent="0" marL="0">
              <a:buNone/>
            </a:pPr>
            <a:r>
              <a:rPr lang="en-US" sz="1300" b="1" dirty="0">
                <a:solidFill>
                  <a:srgbClr val="52606D"/>
                </a:solidFill>
                <a:latin typeface="Aptos" pitchFamily="34" charset="0"/>
                <a:ea typeface="Aptos" pitchFamily="34" charset="-122"/>
                <a:cs typeface="Aptos" pitchFamily="34" charset="-120"/>
              </a:rPr>
              <a:t>Corregir era lento y caro.</a:t>
            </a:r>
            <a:endParaRPr lang="en-US" sz="1300" dirty="0"/>
          </a:p>
        </p:txBody>
      </p:sp>
      <p:sp>
        <p:nvSpPr>
          <p:cNvPr id="17" name="Shape 14"/>
          <p:cNvSpPr/>
          <p:nvPr/>
        </p:nvSpPr>
        <p:spPr>
          <a:xfrm>
            <a:off x="658368" y="3328416"/>
            <a:ext cx="10874959" cy="932688"/>
          </a:xfrm>
          <a:prstGeom prst="rect">
            <a:avLst/>
          </a:prstGeom>
          <a:solidFill>
            <a:srgbClr val="FFFFFF"/>
          </a:solidFill>
          <a:ln w="12700">
            <a:solidFill>
              <a:srgbClr val="FFFFFF"/>
            </a:solidFill>
            <a:prstDash val="solid"/>
          </a:ln>
        </p:spPr>
      </p:sp>
      <p:sp>
        <p:nvSpPr>
          <p:cNvPr id="18" name="Shape 15"/>
          <p:cNvSpPr/>
          <p:nvPr/>
        </p:nvSpPr>
        <p:spPr>
          <a:xfrm>
            <a:off x="658368" y="3328416"/>
            <a:ext cx="64008" cy="932688"/>
          </a:xfrm>
          <a:prstGeom prst="rect">
            <a:avLst/>
          </a:prstGeom>
          <a:solidFill>
            <a:srgbClr val="B3181E"/>
          </a:solidFill>
          <a:ln w="12700">
            <a:solidFill>
              <a:srgbClr val="B3181E"/>
            </a:solidFill>
            <a:prstDash val="solid"/>
          </a:ln>
        </p:spPr>
      </p:sp>
      <p:sp>
        <p:nvSpPr>
          <p:cNvPr id="19" name="Text 16"/>
          <p:cNvSpPr txBox="1"/>
          <p:nvPr/>
        </p:nvSpPr>
        <p:spPr>
          <a:xfrm>
            <a:off x="969264" y="3474720"/>
            <a:ext cx="1280160" cy="237744"/>
          </a:xfrm>
          <a:prstGeom prst="rect">
            <a:avLst/>
          </a:prstGeom>
          <a:noFill/>
          <a:ln/>
        </p:spPr>
        <p:txBody>
          <a:bodyPr wrap="square" lIns="0" tIns="0" rIns="0" bIns="0" rtlCol="0" anchor="t"/>
          <a:lstStyle/>
          <a:p>
            <a:pPr algn="l" indent="0" marL="0">
              <a:buNone/>
            </a:pPr>
            <a:r>
              <a:rPr lang="en-US" sz="1100" b="1" spc="140" kern="0" dirty="0">
                <a:solidFill>
                  <a:srgbClr val="B3181E"/>
                </a:solidFill>
                <a:latin typeface="Aptos" pitchFamily="34" charset="0"/>
                <a:ea typeface="Aptos" pitchFamily="34" charset="-122"/>
                <a:cs typeface="Aptos" pitchFamily="34" charset="-120"/>
              </a:rPr>
              <a:t>AHORA</a:t>
            </a:r>
            <a:endParaRPr lang="en-US" sz="1100" dirty="0"/>
          </a:p>
        </p:txBody>
      </p:sp>
      <p:sp>
        <p:nvSpPr>
          <p:cNvPr id="20" name="Text 17"/>
          <p:cNvSpPr txBox="1"/>
          <p:nvPr/>
        </p:nvSpPr>
        <p:spPr>
          <a:xfrm>
            <a:off x="2395728" y="3456432"/>
            <a:ext cx="5358384" cy="676656"/>
          </a:xfrm>
          <a:prstGeom prst="rect">
            <a:avLst/>
          </a:prstGeom>
          <a:noFill/>
          <a:ln/>
        </p:spPr>
        <p:txBody>
          <a:bodyPr wrap="square" lIns="0" tIns="0" rIns="0" bIns="0" rtlCol="0" anchor="t"/>
          <a:lstStyle/>
          <a:p>
            <a:pPr algn="l" indent="0" marL="0">
              <a:lnSpc>
                <a:spcPct val="118000"/>
              </a:lnSpc>
              <a:buNone/>
            </a:pPr>
            <a:r>
              <a:rPr lang="en-US" sz="1300" dirty="0">
                <a:solidFill>
                  <a:srgbClr val="243B53"/>
                </a:solidFill>
                <a:latin typeface="Aptos" pitchFamily="34" charset="0"/>
                <a:ea typeface="Aptos" pitchFamily="34" charset="-122"/>
                <a:cs typeface="Aptos" pitchFamily="34" charset="-120"/>
              </a:rPr>
              <a:t>Generar el código dejó de ser el cuello de botella. Rehacerlo entero suele ser más barato que discutir cómo parcharlo.</a:t>
            </a:r>
            <a:endParaRPr lang="en-US" sz="1300" dirty="0"/>
          </a:p>
        </p:txBody>
      </p:sp>
      <p:sp>
        <p:nvSpPr>
          <p:cNvPr id="21" name="Shape 18"/>
          <p:cNvSpPr/>
          <p:nvPr/>
        </p:nvSpPr>
        <p:spPr>
          <a:xfrm>
            <a:off x="7863840" y="3474720"/>
            <a:ext cx="0" cy="640080"/>
          </a:xfrm>
          <a:prstGeom prst="line">
            <a:avLst/>
          </a:prstGeom>
          <a:noFill/>
          <a:ln w="12700">
            <a:solidFill>
              <a:srgbClr val="D8CFC4"/>
            </a:solidFill>
            <a:prstDash val="solid"/>
            <a:headEnd type="none"/>
            <a:tailEnd type="none"/>
          </a:ln>
        </p:spPr>
      </p:sp>
      <p:sp>
        <p:nvSpPr>
          <p:cNvPr id="22" name="Text 19"/>
          <p:cNvSpPr txBox="1"/>
          <p:nvPr/>
        </p:nvSpPr>
        <p:spPr>
          <a:xfrm>
            <a:off x="8174736" y="3602736"/>
            <a:ext cx="3108960" cy="384048"/>
          </a:xfrm>
          <a:prstGeom prst="rect">
            <a:avLst/>
          </a:prstGeom>
          <a:noFill/>
          <a:ln/>
        </p:spPr>
        <p:txBody>
          <a:bodyPr wrap="square" lIns="0" tIns="0" rIns="0" bIns="0" rtlCol="0" anchor="t"/>
          <a:lstStyle/>
          <a:p>
            <a:pPr algn="l" indent="0" marL="0">
              <a:buNone/>
            </a:pPr>
            <a:r>
              <a:rPr lang="en-US" sz="1300" b="1" dirty="0">
                <a:solidFill>
                  <a:srgbClr val="B3181E"/>
                </a:solidFill>
                <a:latin typeface="Aptos" pitchFamily="34" charset="0"/>
                <a:ea typeface="Aptos" pitchFamily="34" charset="-122"/>
                <a:cs typeface="Aptos" pitchFamily="34" charset="-120"/>
              </a:rPr>
              <a:t>Corregir es rápido y barato.</a:t>
            </a:r>
            <a:endParaRPr lang="en-US" sz="1300" dirty="0"/>
          </a:p>
        </p:txBody>
      </p:sp>
      <p:sp>
        <p:nvSpPr>
          <p:cNvPr id="23" name="Shape 20"/>
          <p:cNvSpPr/>
          <p:nvPr/>
        </p:nvSpPr>
        <p:spPr>
          <a:xfrm>
            <a:off x="658368" y="4443984"/>
            <a:ext cx="5852160" cy="658368"/>
          </a:xfrm>
          <a:prstGeom prst="rect">
            <a:avLst/>
          </a:prstGeom>
          <a:solidFill>
            <a:srgbClr val="F2E7D9"/>
          </a:solidFill>
          <a:ln w="12700">
            <a:solidFill>
              <a:srgbClr val="F2E7D9"/>
            </a:solidFill>
            <a:prstDash val="solid"/>
          </a:ln>
        </p:spPr>
      </p:sp>
      <p:sp>
        <p:nvSpPr>
          <p:cNvPr id="24" name="Shape 21"/>
          <p:cNvSpPr/>
          <p:nvPr/>
        </p:nvSpPr>
        <p:spPr>
          <a:xfrm>
            <a:off x="658368" y="4443984"/>
            <a:ext cx="64008" cy="658368"/>
          </a:xfrm>
          <a:prstGeom prst="rect">
            <a:avLst/>
          </a:prstGeom>
          <a:solidFill>
            <a:srgbClr val="B3181E"/>
          </a:solidFill>
          <a:ln w="12700">
            <a:solidFill>
              <a:srgbClr val="B3181E"/>
            </a:solidFill>
            <a:prstDash val="solid"/>
          </a:ln>
        </p:spPr>
      </p:sp>
      <p:sp>
        <p:nvSpPr>
          <p:cNvPr id="25" name="Text 22"/>
          <p:cNvSpPr txBox="1"/>
          <p:nvPr/>
        </p:nvSpPr>
        <p:spPr>
          <a:xfrm>
            <a:off x="969264" y="4572000"/>
            <a:ext cx="5285232" cy="402336"/>
          </a:xfrm>
          <a:prstGeom prst="rect">
            <a:avLst/>
          </a:prstGeom>
          <a:noFill/>
          <a:ln/>
        </p:spPr>
        <p:txBody>
          <a:bodyPr wrap="square" lIns="0" tIns="0" rIns="0" bIns="0" rtlCol="0" anchor="ctr"/>
          <a:lstStyle/>
          <a:p>
            <a:pPr algn="l" indent="0" marL="0">
              <a:lnSpc>
                <a:spcPct val="120000"/>
              </a:lnSpc>
              <a:buNone/>
            </a:pPr>
            <a:r>
              <a:rPr lang="en-US" sz="1300" i="1" dirty="0">
                <a:solidFill>
                  <a:srgbClr val="243B53"/>
                </a:solidFill>
                <a:latin typeface="Aptos" pitchFamily="34" charset="0"/>
                <a:ea typeface="Aptos" pitchFamily="34" charset="-122"/>
                <a:cs typeface="Aptos" pitchFamily="34" charset="-120"/>
              </a:rPr>
              <a:t>“El código ahora es barato: podemos crearlo rápido y desecharlo igual de rápido.”</a:t>
            </a:r>
            <a:endParaRPr lang="en-US" sz="1300" dirty="0"/>
          </a:p>
        </p:txBody>
      </p:sp>
      <p:sp>
        <p:nvSpPr>
          <p:cNvPr id="26" name="Shape 23"/>
          <p:cNvSpPr/>
          <p:nvPr/>
        </p:nvSpPr>
        <p:spPr>
          <a:xfrm>
            <a:off x="658368" y="5193792"/>
            <a:ext cx="45720" cy="182880"/>
          </a:xfrm>
          <a:prstGeom prst="rect">
            <a:avLst/>
          </a:prstGeom>
          <a:solidFill>
            <a:srgbClr val="8A6A12"/>
          </a:solidFill>
          <a:ln w="12700">
            <a:solidFill>
              <a:srgbClr val="8A6A12"/>
            </a:solidFill>
            <a:prstDash val="solid"/>
          </a:ln>
        </p:spPr>
      </p:sp>
      <p:sp>
        <p:nvSpPr>
          <p:cNvPr id="27" name="Text 24"/>
          <p:cNvSpPr txBox="1"/>
          <p:nvPr/>
        </p:nvSpPr>
        <p:spPr>
          <a:xfrm>
            <a:off x="804672" y="5184648"/>
            <a:ext cx="512064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Colin Eberhardt, Scott Logic, noviembre de 2025 · traducción.</a:t>
            </a:r>
            <a:endParaRPr lang="en-US" sz="920" dirty="0"/>
          </a:p>
        </p:txBody>
      </p:sp>
      <p:sp>
        <p:nvSpPr>
          <p:cNvPr id="28" name="Shape 25"/>
          <p:cNvSpPr/>
          <p:nvPr/>
        </p:nvSpPr>
        <p:spPr>
          <a:xfrm>
            <a:off x="6711696" y="4443984"/>
            <a:ext cx="4818888" cy="950976"/>
          </a:xfrm>
          <a:prstGeom prst="rect">
            <a:avLst/>
          </a:prstGeom>
          <a:solidFill>
            <a:srgbClr val="102A43"/>
          </a:solidFill>
          <a:ln w="12700">
            <a:solidFill>
              <a:srgbClr val="102A43"/>
            </a:solidFill>
            <a:prstDash val="solid"/>
          </a:ln>
        </p:spPr>
      </p:sp>
      <p:sp>
        <p:nvSpPr>
          <p:cNvPr id="29" name="Text 26"/>
          <p:cNvSpPr txBox="1"/>
          <p:nvPr/>
        </p:nvSpPr>
        <p:spPr>
          <a:xfrm>
            <a:off x="7004304" y="4553712"/>
            <a:ext cx="4297680" cy="749808"/>
          </a:xfrm>
          <a:prstGeom prst="rect">
            <a:avLst/>
          </a:prstGeom>
          <a:noFill/>
          <a:ln/>
        </p:spPr>
        <p:txBody>
          <a:bodyPr wrap="square" lIns="0" tIns="0" rIns="0" bIns="0" rtlCol="0" anchor="t"/>
          <a:lstStyle/>
          <a:p>
            <a:pPr algn="l" indent="0" marL="0">
              <a:lnSpc>
                <a:spcPct val="118000"/>
              </a:lnSpc>
              <a:buNone/>
            </a:pPr>
            <a:r>
              <a:rPr lang="en-US" sz="1280" dirty="0">
                <a:solidFill>
                  <a:srgbClr val="FFFFFF"/>
                </a:solidFill>
                <a:latin typeface="Aptos" pitchFamily="34" charset="0"/>
                <a:ea typeface="Aptos" pitchFamily="34" charset="-122"/>
                <a:cs typeface="Aptos" pitchFamily="34" charset="-120"/>
              </a:rPr>
              <a:t>Pero el requisito no se abarató.</a:t>
            </a:r>
            <a:endParaRPr lang="en-US" sz="1280" dirty="0"/>
          </a:p>
          <a:p>
            <a:pPr algn="l" indent="0" marL="0">
              <a:lnSpc>
                <a:spcPct val="118000"/>
              </a:lnSpc>
              <a:buNone/>
            </a:pPr>
            <a:r>
              <a:rPr lang="en-US" sz="1280" dirty="0">
                <a:solidFill>
                  <a:srgbClr val="FFFFFF"/>
                </a:solidFill>
                <a:latin typeface="Aptos" pitchFamily="34" charset="0"/>
                <a:ea typeface="Aptos" pitchFamily="34" charset="-122"/>
                <a:cs typeface="Aptos" pitchFamily="34" charset="-120"/>
              </a:rPr>
              <a:t>Y un requisito equivocado ya no produce</a:t>
            </a:r>
            <a:endParaRPr lang="en-US" sz="1280" dirty="0"/>
          </a:p>
          <a:p>
            <a:pPr algn="l" indent="0" marL="0">
              <a:lnSpc>
                <a:spcPct val="118000"/>
              </a:lnSpc>
              <a:buNone/>
            </a:pPr>
            <a:r>
              <a:rPr lang="en-US" sz="1280" dirty="0">
                <a:solidFill>
                  <a:srgbClr val="FFFFFF"/>
                </a:solidFill>
                <a:latin typeface="Aptos" pitchFamily="34" charset="0"/>
                <a:ea typeface="Aptos" pitchFamily="34" charset="-122"/>
                <a:cs typeface="Aptos" pitchFamily="34" charset="-120"/>
              </a:rPr>
              <a:t>código equivocado despacio: lo produce rápido.</a:t>
            </a:r>
            <a:endParaRPr lang="en-US" sz="1280" dirty="0"/>
          </a:p>
        </p:txBody>
      </p:sp>
      <p:sp>
        <p:nvSpPr>
          <p:cNvPr id="30" name="Shape 27"/>
          <p:cNvSpPr/>
          <p:nvPr/>
        </p:nvSpPr>
        <p:spPr>
          <a:xfrm>
            <a:off x="658368" y="5614416"/>
            <a:ext cx="10874959" cy="658368"/>
          </a:xfrm>
          <a:prstGeom prst="rect">
            <a:avLst/>
          </a:prstGeom>
          <a:solidFill>
            <a:srgbClr val="B3181E"/>
          </a:solidFill>
          <a:ln w="12700">
            <a:solidFill>
              <a:srgbClr val="B3181E"/>
            </a:solidFill>
            <a:prstDash val="solid"/>
          </a:ln>
        </p:spPr>
      </p:sp>
      <p:sp>
        <p:nvSpPr>
          <p:cNvPr id="31" name="Text 28"/>
          <p:cNvSpPr txBox="1"/>
          <p:nvPr/>
        </p:nvSpPr>
        <p:spPr>
          <a:xfrm>
            <a:off x="969264" y="5660136"/>
            <a:ext cx="10253167" cy="566928"/>
          </a:xfrm>
          <a:prstGeom prst="rect">
            <a:avLst/>
          </a:prstGeom>
          <a:noFill/>
          <a:ln/>
        </p:spPr>
        <p:txBody>
          <a:bodyPr wrap="square" lIns="0" tIns="0" rIns="0" bIns="0" rtlCol="0" anchor="ctr"/>
          <a:lstStyle/>
          <a:p>
            <a:pPr algn="ctr" indent="0" marL="0">
              <a:lnSpc>
                <a:spcPct val="112000"/>
              </a:lnSpc>
              <a:buNone/>
            </a:pPr>
            <a:r>
              <a:rPr lang="en-US" sz="1440" b="1" dirty="0">
                <a:solidFill>
                  <a:srgbClr val="FFFFFF"/>
                </a:solidFill>
                <a:latin typeface="Aptos" pitchFamily="34" charset="0"/>
                <a:ea typeface="Aptos" pitchFamily="34" charset="-122"/>
                <a:cs typeface="Aptos" pitchFamily="34" charset="-120"/>
              </a:rPr>
              <a:t>Antes, un requisito equivocado costaba caro de corregir. Ahora se ejecuta más rápido.</a:t>
            </a:r>
            <a:endParaRPr lang="en-US" sz="14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12</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LO QUE ESTÁ EN DISPUTA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2800" b="1" dirty="0">
                <a:solidFill>
                  <a:srgbClr val="243B53"/>
                </a:solidFill>
                <a:latin typeface="Aptos Display" pitchFamily="34" charset="0"/>
                <a:ea typeface="Aptos Display" pitchFamily="34" charset="-122"/>
                <a:cs typeface="Aptos Display" pitchFamily="34" charset="-120"/>
              </a:rPr>
              <a:t>La industria no tiene esto resuelto, y conviene saberlo</a:t>
            </a:r>
            <a:endParaRPr lang="en-US" sz="28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Dos posiciones sobre qué hacer ahora que el código es barato. Las dos publicadas en 2025, con evidencia.</a:t>
            </a:r>
            <a:endParaRPr lang="en-US" sz="1450" dirty="0"/>
          </a:p>
        </p:txBody>
      </p:sp>
      <p:sp>
        <p:nvSpPr>
          <p:cNvPr id="11" name="Shape 8"/>
          <p:cNvSpPr/>
          <p:nvPr/>
        </p:nvSpPr>
        <p:spPr>
          <a:xfrm>
            <a:off x="658368" y="2286000"/>
            <a:ext cx="5266944" cy="2999232"/>
          </a:xfrm>
          <a:prstGeom prst="rect">
            <a:avLst/>
          </a:prstGeom>
          <a:solidFill>
            <a:srgbClr val="FFFFFF"/>
          </a:solidFill>
          <a:ln w="12700">
            <a:solidFill>
              <a:srgbClr val="FFFFFF"/>
            </a:solidFill>
            <a:prstDash val="solid"/>
          </a:ln>
        </p:spPr>
      </p:sp>
      <p:sp>
        <p:nvSpPr>
          <p:cNvPr id="12" name="Shape 9"/>
          <p:cNvSpPr/>
          <p:nvPr/>
        </p:nvSpPr>
        <p:spPr>
          <a:xfrm>
            <a:off x="658368" y="2286000"/>
            <a:ext cx="5266944" cy="64008"/>
          </a:xfrm>
          <a:prstGeom prst="rect">
            <a:avLst/>
          </a:prstGeom>
          <a:solidFill>
            <a:srgbClr val="102A43"/>
          </a:solidFill>
          <a:ln w="12700">
            <a:solidFill>
              <a:srgbClr val="102A43"/>
            </a:solidFill>
            <a:prstDash val="solid"/>
          </a:ln>
        </p:spPr>
      </p:sp>
      <p:sp>
        <p:nvSpPr>
          <p:cNvPr id="13" name="Text 10"/>
          <p:cNvSpPr txBox="1"/>
          <p:nvPr/>
        </p:nvSpPr>
        <p:spPr>
          <a:xfrm>
            <a:off x="969264" y="2487168"/>
            <a:ext cx="274320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POSICIÓN A</a:t>
            </a:r>
            <a:endParaRPr lang="en-US" sz="960" dirty="0"/>
          </a:p>
        </p:txBody>
      </p:sp>
      <p:sp>
        <p:nvSpPr>
          <p:cNvPr id="14" name="Text 11"/>
          <p:cNvSpPr txBox="1"/>
          <p:nvPr/>
        </p:nvSpPr>
        <p:spPr>
          <a:xfrm>
            <a:off x="969264" y="2724912"/>
            <a:ext cx="4663440" cy="310896"/>
          </a:xfrm>
          <a:prstGeom prst="rect">
            <a:avLst/>
          </a:prstGeom>
          <a:noFill/>
          <a:ln/>
        </p:spPr>
        <p:txBody>
          <a:bodyPr wrap="square" lIns="0" tIns="0" rIns="0" bIns="0" rtlCol="0" anchor="t"/>
          <a:lstStyle/>
          <a:p>
            <a:pPr algn="l" indent="0" marL="0">
              <a:buNone/>
            </a:pPr>
            <a:r>
              <a:rPr lang="en-US" sz="1650" b="1" dirty="0">
                <a:solidFill>
                  <a:srgbClr val="243B53"/>
                </a:solidFill>
                <a:latin typeface="Aptos" pitchFamily="34" charset="0"/>
                <a:ea typeface="Aptos" pitchFamily="34" charset="-122"/>
                <a:cs typeface="Aptos" pitchFamily="34" charset="-120"/>
              </a:rPr>
              <a:t>La especificación es lo que produces</a:t>
            </a:r>
            <a:endParaRPr lang="en-US" sz="1650" dirty="0"/>
          </a:p>
        </p:txBody>
      </p:sp>
      <p:sp>
        <p:nvSpPr>
          <p:cNvPr id="15" name="Text 12"/>
          <p:cNvSpPr txBox="1"/>
          <p:nvPr/>
        </p:nvSpPr>
        <p:spPr>
          <a:xfrm>
            <a:off x="969264" y="3127248"/>
            <a:ext cx="4663440" cy="786384"/>
          </a:xfrm>
          <a:prstGeom prst="rect">
            <a:avLst/>
          </a:prstGeom>
          <a:noFill/>
          <a:ln/>
        </p:spPr>
        <p:txBody>
          <a:bodyPr wrap="square" lIns="0" tIns="0" rIns="0" bIns="0" rtlCol="0" anchor="t"/>
          <a:lstStyle/>
          <a:p>
            <a:pPr algn="l" indent="0" marL="0">
              <a:lnSpc>
                <a:spcPct val="118000"/>
              </a:lnSpc>
              <a:buNone/>
            </a:pPr>
            <a:r>
              <a:rPr lang="en-US" sz="1240" dirty="0">
                <a:solidFill>
                  <a:srgbClr val="52606D"/>
                </a:solidFill>
                <a:latin typeface="Aptos" pitchFamily="34" charset="0"/>
                <a:ea typeface="Aptos" pitchFamily="34" charset="-122"/>
                <a:cs typeface="Aptos" pitchFamily="34" charset="-120"/>
              </a:rPr>
              <a:t>Si el agente escribe el código a partir de lo que le dices, el artefacto real es la especificación. GitHub publicó un flujo de cuatro fases para formalizarlo.</a:t>
            </a:r>
            <a:endParaRPr lang="en-US" sz="1240" dirty="0"/>
          </a:p>
        </p:txBody>
      </p:sp>
      <p:sp>
        <p:nvSpPr>
          <p:cNvPr id="16" name="Shape 13"/>
          <p:cNvSpPr/>
          <p:nvPr/>
        </p:nvSpPr>
        <p:spPr>
          <a:xfrm>
            <a:off x="969264" y="3986784"/>
            <a:ext cx="4645152" cy="877824"/>
          </a:xfrm>
          <a:prstGeom prst="rect">
            <a:avLst/>
          </a:prstGeom>
          <a:solidFill>
            <a:srgbClr val="E6EEF7"/>
          </a:solidFill>
          <a:ln w="12700">
            <a:solidFill>
              <a:srgbClr val="E6EEF7"/>
            </a:solidFill>
            <a:prstDash val="solid"/>
          </a:ln>
        </p:spPr>
      </p:sp>
      <p:sp>
        <p:nvSpPr>
          <p:cNvPr id="17" name="Shape 14"/>
          <p:cNvSpPr/>
          <p:nvPr/>
        </p:nvSpPr>
        <p:spPr>
          <a:xfrm>
            <a:off x="969264" y="3986784"/>
            <a:ext cx="64008" cy="877824"/>
          </a:xfrm>
          <a:prstGeom prst="rect">
            <a:avLst/>
          </a:prstGeom>
          <a:solidFill>
            <a:srgbClr val="102A43"/>
          </a:solidFill>
          <a:ln w="12700">
            <a:solidFill>
              <a:srgbClr val="102A43"/>
            </a:solidFill>
            <a:prstDash val="solid"/>
          </a:ln>
        </p:spPr>
      </p:sp>
      <p:sp>
        <p:nvSpPr>
          <p:cNvPr id="18" name="Text 15"/>
          <p:cNvSpPr txBox="1"/>
          <p:nvPr/>
        </p:nvSpPr>
        <p:spPr>
          <a:xfrm>
            <a:off x="1280160" y="4114800"/>
            <a:ext cx="4078224" cy="621792"/>
          </a:xfrm>
          <a:prstGeom prst="rect">
            <a:avLst/>
          </a:prstGeom>
          <a:noFill/>
          <a:ln/>
        </p:spPr>
        <p:txBody>
          <a:bodyPr wrap="square" lIns="0" tIns="0" rIns="0" bIns="0" rtlCol="0" anchor="ctr"/>
          <a:lstStyle/>
          <a:p>
            <a:pPr algn="l" indent="0" marL="0">
              <a:lnSpc>
                <a:spcPct val="120000"/>
              </a:lnSpc>
              <a:buNone/>
            </a:pPr>
            <a:r>
              <a:rPr lang="en-US" sz="1180" i="1" dirty="0">
                <a:solidFill>
                  <a:srgbClr val="243B53"/>
                </a:solidFill>
                <a:latin typeface="Aptos" pitchFamily="34" charset="0"/>
                <a:ea typeface="Aptos" pitchFamily="34" charset="-122"/>
                <a:cs typeface="Aptos" pitchFamily="34" charset="-120"/>
              </a:rPr>
              <a:t>“La IA vuelve ejecutables las especificaciones. Cuando tu especificación se convierte automáticamente en código que funciona, es ella la que determina qué se construye.”</a:t>
            </a:r>
            <a:endParaRPr lang="en-US" sz="1180" dirty="0"/>
          </a:p>
        </p:txBody>
      </p:sp>
      <p:sp>
        <p:nvSpPr>
          <p:cNvPr id="19" name="Shape 16"/>
          <p:cNvSpPr/>
          <p:nvPr/>
        </p:nvSpPr>
        <p:spPr>
          <a:xfrm>
            <a:off x="969264" y="4974336"/>
            <a:ext cx="45720" cy="182880"/>
          </a:xfrm>
          <a:prstGeom prst="rect">
            <a:avLst/>
          </a:prstGeom>
          <a:solidFill>
            <a:srgbClr val="102A43"/>
          </a:solidFill>
          <a:ln w="12700">
            <a:solidFill>
              <a:srgbClr val="102A43"/>
            </a:solidFill>
            <a:prstDash val="solid"/>
          </a:ln>
        </p:spPr>
      </p:sp>
      <p:sp>
        <p:nvSpPr>
          <p:cNvPr id="20" name="Text 17"/>
          <p:cNvSpPr txBox="1"/>
          <p:nvPr/>
        </p:nvSpPr>
        <p:spPr>
          <a:xfrm>
            <a:off x="1115568" y="4965192"/>
            <a:ext cx="420624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GitHub Blog, septiembre de 2025 · traducción</a:t>
            </a:r>
            <a:endParaRPr lang="en-US" sz="920" dirty="0"/>
          </a:p>
        </p:txBody>
      </p:sp>
      <p:sp>
        <p:nvSpPr>
          <p:cNvPr id="21" name="Shape 18"/>
          <p:cNvSpPr/>
          <p:nvPr/>
        </p:nvSpPr>
        <p:spPr>
          <a:xfrm>
            <a:off x="6291072" y="2286000"/>
            <a:ext cx="5266944" cy="2999232"/>
          </a:xfrm>
          <a:prstGeom prst="rect">
            <a:avLst/>
          </a:prstGeom>
          <a:solidFill>
            <a:srgbClr val="FFFFFF"/>
          </a:solidFill>
          <a:ln w="12700">
            <a:solidFill>
              <a:srgbClr val="FFFFFF"/>
            </a:solidFill>
            <a:prstDash val="solid"/>
          </a:ln>
        </p:spPr>
      </p:sp>
      <p:sp>
        <p:nvSpPr>
          <p:cNvPr id="22" name="Shape 19"/>
          <p:cNvSpPr/>
          <p:nvPr/>
        </p:nvSpPr>
        <p:spPr>
          <a:xfrm>
            <a:off x="6291072" y="2286000"/>
            <a:ext cx="5266944" cy="64008"/>
          </a:xfrm>
          <a:prstGeom prst="rect">
            <a:avLst/>
          </a:prstGeom>
          <a:solidFill>
            <a:srgbClr val="B3181E"/>
          </a:solidFill>
          <a:ln w="12700">
            <a:solidFill>
              <a:srgbClr val="B3181E"/>
            </a:solidFill>
            <a:prstDash val="solid"/>
          </a:ln>
        </p:spPr>
      </p:sp>
      <p:sp>
        <p:nvSpPr>
          <p:cNvPr id="23" name="Text 20"/>
          <p:cNvSpPr txBox="1"/>
          <p:nvPr/>
        </p:nvSpPr>
        <p:spPr>
          <a:xfrm>
            <a:off x="6601968" y="2487168"/>
            <a:ext cx="27432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POSICIÓN B</a:t>
            </a:r>
            <a:endParaRPr lang="en-US" sz="960" dirty="0"/>
          </a:p>
        </p:txBody>
      </p:sp>
      <p:sp>
        <p:nvSpPr>
          <p:cNvPr id="24" name="Text 21"/>
          <p:cNvSpPr txBox="1"/>
          <p:nvPr/>
        </p:nvSpPr>
        <p:spPr>
          <a:xfrm>
            <a:off x="6601968" y="2724912"/>
            <a:ext cx="4663440" cy="310896"/>
          </a:xfrm>
          <a:prstGeom prst="rect">
            <a:avLst/>
          </a:prstGeom>
          <a:noFill/>
          <a:ln/>
        </p:spPr>
        <p:txBody>
          <a:bodyPr wrap="square" lIns="0" tIns="0" rIns="0" bIns="0" rtlCol="0" anchor="t"/>
          <a:lstStyle/>
          <a:p>
            <a:pPr algn="l" indent="0" marL="0">
              <a:buNone/>
            </a:pPr>
            <a:r>
              <a:rPr lang="en-US" sz="1650" b="1" dirty="0">
                <a:solidFill>
                  <a:srgbClr val="243B53"/>
                </a:solidFill>
                <a:latin typeface="Aptos" pitchFamily="34" charset="0"/>
                <a:ea typeface="Aptos" pitchFamily="34" charset="-122"/>
                <a:cs typeface="Aptos" pitchFamily="34" charset="-120"/>
              </a:rPr>
              <a:t>Eso reinventa la cascada</a:t>
            </a:r>
            <a:endParaRPr lang="en-US" sz="1650" dirty="0"/>
          </a:p>
        </p:txBody>
      </p:sp>
      <p:sp>
        <p:nvSpPr>
          <p:cNvPr id="25" name="Text 22"/>
          <p:cNvSpPr txBox="1"/>
          <p:nvPr/>
        </p:nvSpPr>
        <p:spPr>
          <a:xfrm>
            <a:off x="6601968" y="3127248"/>
            <a:ext cx="4663440" cy="786384"/>
          </a:xfrm>
          <a:prstGeom prst="rect">
            <a:avLst/>
          </a:prstGeom>
          <a:noFill/>
          <a:ln/>
        </p:spPr>
        <p:txBody>
          <a:bodyPr wrap="square" lIns="0" tIns="0" rIns="0" bIns="0" rtlCol="0" anchor="t"/>
          <a:lstStyle/>
          <a:p>
            <a:pPr algn="l" indent="0" marL="0">
              <a:lnSpc>
                <a:spcPct val="118000"/>
              </a:lnSpc>
              <a:buNone/>
            </a:pPr>
            <a:r>
              <a:rPr lang="en-US" sz="1240" dirty="0">
                <a:solidFill>
                  <a:srgbClr val="52606D"/>
                </a:solidFill>
                <a:latin typeface="Aptos" pitchFamily="34" charset="0"/>
                <a:ea typeface="Aptos" pitchFamily="34" charset="-122"/>
                <a:cs typeface="Aptos" pitchFamily="34" charset="-120"/>
              </a:rPr>
              <a:t>Aplicó ese flujo a una funcionalidad real y midió: 2.577 líneas de markdown para 689 de código. 3,5 horas de revisión, contra 15 minutos de su método iterativo.</a:t>
            </a:r>
            <a:endParaRPr lang="en-US" sz="1240" dirty="0"/>
          </a:p>
        </p:txBody>
      </p:sp>
      <p:sp>
        <p:nvSpPr>
          <p:cNvPr id="26" name="Shape 23"/>
          <p:cNvSpPr/>
          <p:nvPr/>
        </p:nvSpPr>
        <p:spPr>
          <a:xfrm>
            <a:off x="6601968" y="3986784"/>
            <a:ext cx="4645152" cy="877824"/>
          </a:xfrm>
          <a:prstGeom prst="rect">
            <a:avLst/>
          </a:prstGeom>
          <a:solidFill>
            <a:srgbClr val="F8E4E5"/>
          </a:solidFill>
          <a:ln w="12700">
            <a:solidFill>
              <a:srgbClr val="F8E4E5"/>
            </a:solidFill>
            <a:prstDash val="solid"/>
          </a:ln>
        </p:spPr>
      </p:sp>
      <p:sp>
        <p:nvSpPr>
          <p:cNvPr id="27" name="Shape 24"/>
          <p:cNvSpPr/>
          <p:nvPr/>
        </p:nvSpPr>
        <p:spPr>
          <a:xfrm>
            <a:off x="6601968" y="3986784"/>
            <a:ext cx="64008" cy="877824"/>
          </a:xfrm>
          <a:prstGeom prst="rect">
            <a:avLst/>
          </a:prstGeom>
          <a:solidFill>
            <a:srgbClr val="B3181E"/>
          </a:solidFill>
          <a:ln w="12700">
            <a:solidFill>
              <a:srgbClr val="B3181E"/>
            </a:solidFill>
            <a:prstDash val="solid"/>
          </a:ln>
        </p:spPr>
      </p:sp>
      <p:sp>
        <p:nvSpPr>
          <p:cNvPr id="28" name="Text 25"/>
          <p:cNvSpPr txBox="1"/>
          <p:nvPr/>
        </p:nvSpPr>
        <p:spPr>
          <a:xfrm>
            <a:off x="6912864" y="4114800"/>
            <a:ext cx="4078224" cy="621792"/>
          </a:xfrm>
          <a:prstGeom prst="rect">
            <a:avLst/>
          </a:prstGeom>
          <a:noFill/>
          <a:ln/>
        </p:spPr>
        <p:txBody>
          <a:bodyPr wrap="square" lIns="0" tIns="0" rIns="0" bIns="0" rtlCol="0" anchor="ctr"/>
          <a:lstStyle/>
          <a:p>
            <a:pPr algn="l" indent="0" marL="0">
              <a:lnSpc>
                <a:spcPct val="120000"/>
              </a:lnSpc>
              <a:buNone/>
            </a:pPr>
            <a:r>
              <a:rPr lang="en-US" sz="1180" i="1" dirty="0">
                <a:solidFill>
                  <a:srgbClr val="243B53"/>
                </a:solidFill>
                <a:latin typeface="Aptos" pitchFamily="34" charset="0"/>
                <a:ea typeface="Aptos" pitchFamily="34" charset="-122"/>
                <a:cs typeface="Aptos" pitchFamily="34" charset="-120"/>
              </a:rPr>
              <a:t>“El código es ley porque es lenguaje formal sobre el que se puede razonar. Se puede probar… Las especificaciones carecen de esa formalidad.”</a:t>
            </a:r>
            <a:endParaRPr lang="en-US" sz="1180" dirty="0"/>
          </a:p>
        </p:txBody>
      </p:sp>
      <p:sp>
        <p:nvSpPr>
          <p:cNvPr id="29" name="Shape 26"/>
          <p:cNvSpPr/>
          <p:nvPr/>
        </p:nvSpPr>
        <p:spPr>
          <a:xfrm>
            <a:off x="6601968" y="4974336"/>
            <a:ext cx="45720" cy="182880"/>
          </a:xfrm>
          <a:prstGeom prst="rect">
            <a:avLst/>
          </a:prstGeom>
          <a:solidFill>
            <a:srgbClr val="B3181E"/>
          </a:solidFill>
          <a:ln w="12700">
            <a:solidFill>
              <a:srgbClr val="B3181E"/>
            </a:solidFill>
            <a:prstDash val="solid"/>
          </a:ln>
        </p:spPr>
      </p:sp>
      <p:sp>
        <p:nvSpPr>
          <p:cNvPr id="30" name="Text 27"/>
          <p:cNvSpPr txBox="1"/>
          <p:nvPr/>
        </p:nvSpPr>
        <p:spPr>
          <a:xfrm>
            <a:off x="6748272" y="4965192"/>
            <a:ext cx="420624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Scott Logic, noviembre de 2025 · traducción</a:t>
            </a:r>
            <a:endParaRPr lang="en-US" sz="920" dirty="0"/>
          </a:p>
        </p:txBody>
      </p:sp>
      <p:sp>
        <p:nvSpPr>
          <p:cNvPr id="31" name="Shape 28"/>
          <p:cNvSpPr/>
          <p:nvPr/>
        </p:nvSpPr>
        <p:spPr>
          <a:xfrm>
            <a:off x="658368" y="5504688"/>
            <a:ext cx="10874959" cy="768096"/>
          </a:xfrm>
          <a:prstGeom prst="rect">
            <a:avLst/>
          </a:prstGeom>
          <a:solidFill>
            <a:srgbClr val="102A43"/>
          </a:solidFill>
          <a:ln w="12700">
            <a:solidFill>
              <a:srgbClr val="102A43"/>
            </a:solidFill>
            <a:prstDash val="solid"/>
          </a:ln>
        </p:spPr>
      </p:sp>
      <p:sp>
        <p:nvSpPr>
          <p:cNvPr id="32" name="Text 29"/>
          <p:cNvSpPr txBox="1"/>
          <p:nvPr/>
        </p:nvSpPr>
        <p:spPr>
          <a:xfrm>
            <a:off x="969264" y="5550408"/>
            <a:ext cx="10253167" cy="676656"/>
          </a:xfrm>
          <a:prstGeom prst="rect">
            <a:avLst/>
          </a:prstGeom>
          <a:noFill/>
          <a:ln/>
        </p:spPr>
        <p:txBody>
          <a:bodyPr wrap="square" lIns="0" tIns="0" rIns="0" bIns="0" rtlCol="0" anchor="ctr"/>
          <a:lstStyle/>
          <a:p>
            <a:pPr algn="ctr" indent="0" marL="0">
              <a:lnSpc>
                <a:spcPct val="112000"/>
              </a:lnSpc>
              <a:buNone/>
            </a:pPr>
            <a:r>
              <a:rPr lang="en-US" sz="1320" b="1" dirty="0">
                <a:solidFill>
                  <a:srgbClr val="FFFFFF"/>
                </a:solidFill>
                <a:latin typeface="Aptos" pitchFamily="34" charset="0"/>
                <a:ea typeface="Aptos" pitchFamily="34" charset="-122"/>
                <a:cs typeface="Aptos" pitchFamily="34" charset="-120"/>
              </a:rPr>
              <a:t>Ninguna de las dos discute que el artefacto caro dejó de ser el código. Y la objeción de B no dice que la especificación esté de más: dice que una especificación que no se puede probar no sirve.</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13</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LO QUE YA SE ADOPTÓ</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Mientras se discute, una convención se estandarizó</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Un archivo en la raíz del repositorio, descrito por su propia especificación como «un README para agentes».</a:t>
            </a:r>
            <a:endParaRPr lang="en-US" sz="1450" dirty="0"/>
          </a:p>
        </p:txBody>
      </p:sp>
      <p:sp>
        <p:nvSpPr>
          <p:cNvPr id="11" name="Shape 8"/>
          <p:cNvSpPr/>
          <p:nvPr/>
        </p:nvSpPr>
        <p:spPr>
          <a:xfrm>
            <a:off x="658368" y="2377440"/>
            <a:ext cx="5669280" cy="2212848"/>
          </a:xfrm>
          <a:prstGeom prst="roundRect">
            <a:avLst>
              <a:gd name="adj" fmla="val 1653"/>
            </a:avLst>
          </a:prstGeom>
          <a:solidFill>
            <a:srgbClr val="102A43"/>
          </a:solidFill>
          <a:ln w="12700">
            <a:solidFill>
              <a:srgbClr val="102A43"/>
            </a:solidFill>
            <a:prstDash val="solid"/>
          </a:ln>
        </p:spPr>
      </p:sp>
      <p:sp>
        <p:nvSpPr>
          <p:cNvPr id="12" name="Shape 9"/>
          <p:cNvSpPr/>
          <p:nvPr/>
        </p:nvSpPr>
        <p:spPr>
          <a:xfrm>
            <a:off x="786384" y="2487168"/>
            <a:ext cx="541324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560320"/>
            <a:ext cx="519379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AGENTS.md · qué va adentro, según la especificación</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944368"/>
            <a:ext cx="5248656" cy="1463040"/>
          </a:xfrm>
          <a:prstGeom prst="rect">
            <a:avLst/>
          </a:prstGeom>
        </p:spPr>
      </p:pic>
      <p:sp>
        <p:nvSpPr>
          <p:cNvPr id="15" name="Text 11"/>
          <p:cNvSpPr txBox="1"/>
          <p:nvPr/>
        </p:nvSpPr>
        <p:spPr>
          <a:xfrm>
            <a:off x="6656832" y="2377440"/>
            <a:ext cx="4572000" cy="201168"/>
          </a:xfrm>
          <a:prstGeom prst="rect">
            <a:avLst/>
          </a:prstGeom>
          <a:noFill/>
          <a:ln/>
        </p:spPr>
        <p:txBody>
          <a:bodyPr wrap="square" lIns="0" tIns="0" rIns="0" bIns="0" rtlCol="0" anchor="t"/>
          <a:lstStyle/>
          <a:p>
            <a:pPr algn="l" indent="0" marL="0">
              <a:buNone/>
            </a:pPr>
            <a:r>
              <a:rPr lang="en-US" sz="960" b="1" spc="130" kern="0" dirty="0">
                <a:solidFill>
                  <a:srgbClr val="52606D"/>
                </a:solidFill>
                <a:latin typeface="Aptos" pitchFamily="34" charset="0"/>
                <a:ea typeface="Aptos" pitchFamily="34" charset="-122"/>
                <a:cs typeface="Aptos" pitchFamily="34" charset="-120"/>
              </a:rPr>
              <a:t>QUÉ TAN ADOPTADA ESTÁ</a:t>
            </a:r>
            <a:endParaRPr lang="en-US" sz="960" dirty="0"/>
          </a:p>
        </p:txBody>
      </p:sp>
      <p:sp>
        <p:nvSpPr>
          <p:cNvPr id="16" name="Text 12"/>
          <p:cNvSpPr txBox="1"/>
          <p:nvPr/>
        </p:nvSpPr>
        <p:spPr>
          <a:xfrm>
            <a:off x="6656832" y="2670048"/>
            <a:ext cx="1371600" cy="365760"/>
          </a:xfrm>
          <a:prstGeom prst="rect">
            <a:avLst/>
          </a:prstGeom>
          <a:noFill/>
          <a:ln/>
        </p:spPr>
        <p:txBody>
          <a:bodyPr wrap="square" lIns="0" tIns="0" rIns="0" bIns="0" rtlCol="0" anchor="t"/>
          <a:lstStyle/>
          <a:p>
            <a:pPr algn="l" indent="0" marL="0">
              <a:buNone/>
            </a:pPr>
            <a:r>
              <a:rPr lang="en-US" sz="2200" b="1" dirty="0">
                <a:solidFill>
                  <a:srgbClr val="255A4C"/>
                </a:solidFill>
                <a:latin typeface="Aptos Display" pitchFamily="34" charset="0"/>
                <a:ea typeface="Aptos Display" pitchFamily="34" charset="-122"/>
                <a:cs typeface="Aptos Display" pitchFamily="34" charset="-120"/>
              </a:rPr>
              <a:t>+60.000</a:t>
            </a:r>
            <a:endParaRPr lang="en-US" sz="2200" dirty="0"/>
          </a:p>
        </p:txBody>
      </p:sp>
      <p:sp>
        <p:nvSpPr>
          <p:cNvPr id="17" name="Text 13"/>
          <p:cNvSpPr txBox="1"/>
          <p:nvPr/>
        </p:nvSpPr>
        <p:spPr>
          <a:xfrm>
            <a:off x="8101584" y="2706624"/>
            <a:ext cx="3200400" cy="512064"/>
          </a:xfrm>
          <a:prstGeom prst="rect">
            <a:avLst/>
          </a:prstGeom>
          <a:noFill/>
          <a:ln/>
        </p:spPr>
        <p:txBody>
          <a:bodyPr wrap="square" lIns="0" tIns="0" rIns="0" bIns="0" rtlCol="0" anchor="t"/>
          <a:lstStyle/>
          <a:p>
            <a:pPr algn="l" indent="0" marL="0">
              <a:lnSpc>
                <a:spcPct val="114000"/>
              </a:lnSpc>
              <a:buNone/>
            </a:pPr>
            <a:r>
              <a:rPr lang="en-US" sz="1180" dirty="0">
                <a:solidFill>
                  <a:srgbClr val="52606D"/>
                </a:solidFill>
                <a:latin typeface="Aptos" pitchFamily="34" charset="0"/>
                <a:ea typeface="Aptos" pitchFamily="34" charset="-122"/>
                <a:cs typeface="Aptos" pitchFamily="34" charset="-120"/>
              </a:rPr>
              <a:t>proyectos de código abierto la usan</a:t>
            </a:r>
            <a:endParaRPr lang="en-US" sz="1180" dirty="0"/>
          </a:p>
        </p:txBody>
      </p:sp>
      <p:sp>
        <p:nvSpPr>
          <p:cNvPr id="18" name="Shape 14"/>
          <p:cNvSpPr/>
          <p:nvPr/>
        </p:nvSpPr>
        <p:spPr>
          <a:xfrm>
            <a:off x="6656832" y="3200400"/>
            <a:ext cx="4645152" cy="0"/>
          </a:xfrm>
          <a:prstGeom prst="line">
            <a:avLst/>
          </a:prstGeom>
          <a:noFill/>
          <a:ln w="12700">
            <a:solidFill>
              <a:srgbClr val="D8CFC4"/>
            </a:solidFill>
            <a:prstDash val="solid"/>
            <a:headEnd type="none"/>
            <a:tailEnd type="none"/>
          </a:ln>
        </p:spPr>
      </p:sp>
      <p:sp>
        <p:nvSpPr>
          <p:cNvPr id="19" name="Text 15"/>
          <p:cNvSpPr txBox="1"/>
          <p:nvPr/>
        </p:nvSpPr>
        <p:spPr>
          <a:xfrm>
            <a:off x="6656832" y="3328416"/>
            <a:ext cx="1371600" cy="365760"/>
          </a:xfrm>
          <a:prstGeom prst="rect">
            <a:avLst/>
          </a:prstGeom>
          <a:noFill/>
          <a:ln/>
        </p:spPr>
        <p:txBody>
          <a:bodyPr wrap="square" lIns="0" tIns="0" rIns="0" bIns="0" rtlCol="0" anchor="t"/>
          <a:lstStyle/>
          <a:p>
            <a:pPr algn="l" indent="0" marL="0">
              <a:buNone/>
            </a:pPr>
            <a:r>
              <a:rPr lang="en-US" sz="2200" b="1" dirty="0">
                <a:solidFill>
                  <a:srgbClr val="255A4C"/>
                </a:solidFill>
                <a:latin typeface="Aptos Display" pitchFamily="34" charset="0"/>
                <a:ea typeface="Aptos Display" pitchFamily="34" charset="-122"/>
                <a:cs typeface="Aptos Display" pitchFamily="34" charset="-120"/>
              </a:rPr>
              <a:t>+20</a:t>
            </a:r>
            <a:endParaRPr lang="en-US" sz="2200" dirty="0"/>
          </a:p>
        </p:txBody>
      </p:sp>
      <p:sp>
        <p:nvSpPr>
          <p:cNvPr id="20" name="Text 16"/>
          <p:cNvSpPr txBox="1"/>
          <p:nvPr/>
        </p:nvSpPr>
        <p:spPr>
          <a:xfrm>
            <a:off x="8101584" y="3364992"/>
            <a:ext cx="3200400" cy="512064"/>
          </a:xfrm>
          <a:prstGeom prst="rect">
            <a:avLst/>
          </a:prstGeom>
          <a:noFill/>
          <a:ln/>
        </p:spPr>
        <p:txBody>
          <a:bodyPr wrap="square" lIns="0" tIns="0" rIns="0" bIns="0" rtlCol="0" anchor="t"/>
          <a:lstStyle/>
          <a:p>
            <a:pPr algn="l" indent="0" marL="0">
              <a:lnSpc>
                <a:spcPct val="114000"/>
              </a:lnSpc>
              <a:buNone/>
            </a:pPr>
            <a:r>
              <a:rPr lang="en-US" sz="1180" dirty="0">
                <a:solidFill>
                  <a:srgbClr val="52606D"/>
                </a:solidFill>
                <a:latin typeface="Aptos" pitchFamily="34" charset="0"/>
                <a:ea typeface="Aptos" pitchFamily="34" charset="-122"/>
                <a:cs typeface="Aptos" pitchFamily="34" charset="-120"/>
              </a:rPr>
              <a:t>herramientas de agentes la soportan</a:t>
            </a:r>
            <a:endParaRPr lang="en-US" sz="1180" dirty="0"/>
          </a:p>
        </p:txBody>
      </p:sp>
      <p:sp>
        <p:nvSpPr>
          <p:cNvPr id="21" name="Shape 17"/>
          <p:cNvSpPr/>
          <p:nvPr/>
        </p:nvSpPr>
        <p:spPr>
          <a:xfrm>
            <a:off x="6656832" y="3858768"/>
            <a:ext cx="4645152" cy="0"/>
          </a:xfrm>
          <a:prstGeom prst="line">
            <a:avLst/>
          </a:prstGeom>
          <a:noFill/>
          <a:ln w="12700">
            <a:solidFill>
              <a:srgbClr val="D8CFC4"/>
            </a:solidFill>
            <a:prstDash val="solid"/>
            <a:headEnd type="none"/>
            <a:tailEnd type="none"/>
          </a:ln>
        </p:spPr>
      </p:sp>
      <p:sp>
        <p:nvSpPr>
          <p:cNvPr id="22" name="Text 18"/>
          <p:cNvSpPr txBox="1"/>
          <p:nvPr/>
        </p:nvSpPr>
        <p:spPr>
          <a:xfrm>
            <a:off x="6656832" y="3986784"/>
            <a:ext cx="1371600" cy="365760"/>
          </a:xfrm>
          <a:prstGeom prst="rect">
            <a:avLst/>
          </a:prstGeom>
          <a:noFill/>
          <a:ln/>
        </p:spPr>
        <p:txBody>
          <a:bodyPr wrap="square" lIns="0" tIns="0" rIns="0" bIns="0" rtlCol="0" anchor="t"/>
          <a:lstStyle/>
          <a:p>
            <a:pPr algn="l" indent="0" marL="0">
              <a:buNone/>
            </a:pPr>
            <a:r>
              <a:rPr lang="en-US" sz="2200" b="1" dirty="0">
                <a:solidFill>
                  <a:srgbClr val="255A4C"/>
                </a:solidFill>
                <a:latin typeface="Aptos Display" pitchFamily="34" charset="0"/>
                <a:ea typeface="Aptos Display" pitchFamily="34" charset="-122"/>
                <a:cs typeface="Aptos Display" pitchFamily="34" charset="-120"/>
              </a:rPr>
              <a:t>2025</a:t>
            </a:r>
            <a:endParaRPr lang="en-US" sz="2200" dirty="0"/>
          </a:p>
        </p:txBody>
      </p:sp>
      <p:sp>
        <p:nvSpPr>
          <p:cNvPr id="23" name="Text 19"/>
          <p:cNvSpPr txBox="1"/>
          <p:nvPr/>
        </p:nvSpPr>
        <p:spPr>
          <a:xfrm>
            <a:off x="8101584" y="4023360"/>
            <a:ext cx="3200400" cy="512064"/>
          </a:xfrm>
          <a:prstGeom prst="rect">
            <a:avLst/>
          </a:prstGeom>
          <a:noFill/>
          <a:ln/>
        </p:spPr>
        <p:txBody>
          <a:bodyPr wrap="square" lIns="0" tIns="0" rIns="0" bIns="0" rtlCol="0" anchor="t"/>
          <a:lstStyle/>
          <a:p>
            <a:pPr algn="l" indent="0" marL="0">
              <a:lnSpc>
                <a:spcPct val="114000"/>
              </a:lnSpc>
              <a:buNone/>
            </a:pPr>
            <a:r>
              <a:rPr lang="en-US" sz="1180" dirty="0">
                <a:solidFill>
                  <a:srgbClr val="52606D"/>
                </a:solidFill>
                <a:latin typeface="Aptos" pitchFamily="34" charset="0"/>
                <a:ea typeface="Aptos" pitchFamily="34" charset="-122"/>
                <a:cs typeface="Aptos" pitchFamily="34" charset="-120"/>
              </a:rPr>
              <a:t>especificación abierta, hoy bajo la Agentic AI Foundation</a:t>
            </a:r>
            <a:endParaRPr lang="en-US" sz="1180" dirty="0"/>
          </a:p>
        </p:txBody>
      </p:sp>
      <p:sp>
        <p:nvSpPr>
          <p:cNvPr id="24" name="Shape 20"/>
          <p:cNvSpPr/>
          <p:nvPr/>
        </p:nvSpPr>
        <p:spPr>
          <a:xfrm>
            <a:off x="658368" y="4736592"/>
            <a:ext cx="10874959" cy="694944"/>
          </a:xfrm>
          <a:prstGeom prst="rect">
            <a:avLst/>
          </a:prstGeom>
          <a:solidFill>
            <a:srgbClr val="F2E7D9"/>
          </a:solidFill>
          <a:ln w="12700">
            <a:solidFill>
              <a:srgbClr val="F2E7D9"/>
            </a:solidFill>
            <a:prstDash val="solid"/>
          </a:ln>
        </p:spPr>
      </p:sp>
      <p:sp>
        <p:nvSpPr>
          <p:cNvPr id="25" name="Shape 21"/>
          <p:cNvSpPr/>
          <p:nvPr/>
        </p:nvSpPr>
        <p:spPr>
          <a:xfrm>
            <a:off x="658368" y="4736592"/>
            <a:ext cx="64008" cy="694944"/>
          </a:xfrm>
          <a:prstGeom prst="rect">
            <a:avLst/>
          </a:prstGeom>
          <a:solidFill>
            <a:srgbClr val="255A4C"/>
          </a:solidFill>
          <a:ln w="12700">
            <a:solidFill>
              <a:srgbClr val="255A4C"/>
            </a:solidFill>
            <a:prstDash val="solid"/>
          </a:ln>
        </p:spPr>
      </p:sp>
      <p:sp>
        <p:nvSpPr>
          <p:cNvPr id="26" name="Text 22"/>
          <p:cNvSpPr txBox="1"/>
          <p:nvPr/>
        </p:nvSpPr>
        <p:spPr>
          <a:xfrm>
            <a:off x="987552" y="4846320"/>
            <a:ext cx="10216591" cy="493776"/>
          </a:xfrm>
          <a:prstGeom prst="rect">
            <a:avLst/>
          </a:prstGeom>
          <a:noFill/>
          <a:ln/>
        </p:spPr>
        <p:txBody>
          <a:bodyPr wrap="square" lIns="0" tIns="0" rIns="0" bIns="0" rtlCol="0" anchor="t"/>
          <a:lstStyle/>
          <a:p>
            <a:pPr algn="l" indent="0" marL="0">
              <a:lnSpc>
                <a:spcPct val="116000"/>
              </a:lnSpc>
              <a:buNone/>
            </a:pPr>
            <a:r>
              <a:rPr lang="en-US" sz="1340" dirty="0">
                <a:solidFill>
                  <a:srgbClr val="243B53"/>
                </a:solidFill>
                <a:latin typeface="Aptos" pitchFamily="34" charset="0"/>
                <a:ea typeface="Aptos" pitchFamily="34" charset="-122"/>
                <a:cs typeface="Aptos" pitchFamily="34" charset="-120"/>
              </a:rPr>
              <a:t>Fíjate en qué contiene según su propia especificación: los comandos de prueba. Es el lugar donde le escribes al agente contra qué debe comparar su trabajo.</a:t>
            </a:r>
            <a:endParaRPr lang="en-US" sz="1340" dirty="0"/>
          </a:p>
        </p:txBody>
      </p:sp>
      <p:sp>
        <p:nvSpPr>
          <p:cNvPr id="27" name="Shape 23"/>
          <p:cNvSpPr/>
          <p:nvPr/>
        </p:nvSpPr>
        <p:spPr>
          <a:xfrm>
            <a:off x="658368" y="5614416"/>
            <a:ext cx="10874959" cy="658368"/>
          </a:xfrm>
          <a:prstGeom prst="rect">
            <a:avLst/>
          </a:prstGeom>
          <a:solidFill>
            <a:srgbClr val="102A43"/>
          </a:solidFill>
          <a:ln w="12700">
            <a:solidFill>
              <a:srgbClr val="102A43"/>
            </a:solidFill>
            <a:prstDash val="solid"/>
          </a:ln>
        </p:spPr>
      </p:sp>
      <p:sp>
        <p:nvSpPr>
          <p:cNvPr id="28" name="Text 24"/>
          <p:cNvSpPr txBox="1"/>
          <p:nvPr/>
        </p:nvSpPr>
        <p:spPr>
          <a:xfrm>
            <a:off x="969264" y="5660136"/>
            <a:ext cx="10253167" cy="566928"/>
          </a:xfrm>
          <a:prstGeom prst="rect">
            <a:avLst/>
          </a:prstGeom>
          <a:noFill/>
          <a:ln/>
        </p:spPr>
        <p:txBody>
          <a:bodyPr wrap="square" lIns="0" tIns="0" rIns="0" bIns="0" rtlCol="0" anchor="ctr"/>
          <a:lstStyle/>
          <a:p>
            <a:pPr algn="ctr" indent="0" marL="0">
              <a:lnSpc>
                <a:spcPct val="112000"/>
              </a:lnSpc>
              <a:buNone/>
            </a:pPr>
            <a:r>
              <a:rPr lang="en-US" sz="1440" b="1" dirty="0">
                <a:solidFill>
                  <a:srgbClr val="FFFFFF"/>
                </a:solidFill>
                <a:latin typeface="Aptos" pitchFamily="34" charset="0"/>
                <a:ea typeface="Aptos" pitchFamily="34" charset="-122"/>
                <a:cs typeface="Aptos" pitchFamily="34" charset="-120"/>
              </a:rPr>
              <a:t>Es la primera fila del mapa de etapas, hecha archivo: el lugar donde el proyecto declara contra qué se lo debe comparar.</a:t>
            </a:r>
            <a:endParaRPr lang="en-US" sz="144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14</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CIERRE</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Preguntas para llevarse del Bloque 1</a:t>
            </a:r>
            <a:endParaRPr lang="en-US" sz="3000" dirty="0"/>
          </a:p>
        </p:txBody>
      </p:sp>
      <p:sp>
        <p:nvSpPr>
          <p:cNvPr id="10" name="Shape 7"/>
          <p:cNvSpPr/>
          <p:nvPr/>
        </p:nvSpPr>
        <p:spPr>
          <a:xfrm>
            <a:off x="658368" y="2231136"/>
            <a:ext cx="10874959" cy="1188720"/>
          </a:xfrm>
          <a:prstGeom prst="rect">
            <a:avLst/>
          </a:prstGeom>
          <a:solidFill>
            <a:srgbClr val="F2E7D9"/>
          </a:solidFill>
          <a:ln w="12700">
            <a:solidFill>
              <a:srgbClr val="F2E7D9"/>
            </a:solidFill>
            <a:prstDash val="solid"/>
          </a:ln>
        </p:spPr>
      </p:sp>
      <p:sp>
        <p:nvSpPr>
          <p:cNvPr id="11" name="Shape 8"/>
          <p:cNvSpPr/>
          <p:nvPr/>
        </p:nvSpPr>
        <p:spPr>
          <a:xfrm>
            <a:off x="658368" y="2231136"/>
            <a:ext cx="54864" cy="1188720"/>
          </a:xfrm>
          <a:prstGeom prst="rect">
            <a:avLst/>
          </a:prstGeom>
          <a:solidFill>
            <a:srgbClr val="B3181E"/>
          </a:solidFill>
          <a:ln w="12700">
            <a:solidFill>
              <a:srgbClr val="B3181E"/>
            </a:solidFill>
            <a:prstDash val="solid"/>
          </a:ln>
        </p:spPr>
      </p:sp>
      <p:sp>
        <p:nvSpPr>
          <p:cNvPr id="12" name="Text 9"/>
          <p:cNvSpPr txBox="1"/>
          <p:nvPr/>
        </p:nvSpPr>
        <p:spPr>
          <a:xfrm>
            <a:off x="932688" y="2377440"/>
            <a:ext cx="475488" cy="457200"/>
          </a:xfrm>
          <a:prstGeom prst="rect">
            <a:avLst/>
          </a:prstGeom>
          <a:noFill/>
          <a:ln/>
        </p:spPr>
        <p:txBody>
          <a:bodyPr wrap="square" lIns="0" tIns="0" rIns="0" bIns="0" rtlCol="0" anchor="t"/>
          <a:lstStyle/>
          <a:p>
            <a:pPr algn="l"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3" name="Text 10"/>
          <p:cNvSpPr txBox="1"/>
          <p:nvPr/>
        </p:nvSpPr>
        <p:spPr>
          <a:xfrm>
            <a:off x="1572768" y="2368296"/>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Una prueba unitaria en verde compara el código contra el requisito. Si el requisito está equivocado, ¿de qué color queda la prueba, y qué puede garantizar entonces una suite completamente verde?</a:t>
            </a:r>
            <a:endParaRPr lang="en-US" sz="1400" dirty="0"/>
          </a:p>
        </p:txBody>
      </p:sp>
      <p:sp>
        <p:nvSpPr>
          <p:cNvPr id="14" name="Shape 11"/>
          <p:cNvSpPr/>
          <p:nvPr/>
        </p:nvSpPr>
        <p:spPr>
          <a:xfrm>
            <a:off x="1572768" y="2999232"/>
            <a:ext cx="9631375" cy="0"/>
          </a:xfrm>
          <a:prstGeom prst="line">
            <a:avLst/>
          </a:prstGeom>
          <a:noFill/>
          <a:ln w="12700">
            <a:solidFill>
              <a:srgbClr val="D8CFC4"/>
            </a:solidFill>
            <a:prstDash val="solid"/>
            <a:headEnd type="none"/>
            <a:tailEnd type="none"/>
          </a:ln>
        </p:spPr>
      </p:sp>
      <p:sp>
        <p:nvSpPr>
          <p:cNvPr id="15" name="Text 12"/>
          <p:cNvSpPr txBox="1"/>
          <p:nvPr/>
        </p:nvSpPr>
        <p:spPr>
          <a:xfrm>
            <a:off x="1572768" y="3090672"/>
            <a:ext cx="640080" cy="182880"/>
          </a:xfrm>
          <a:prstGeom prst="rect">
            <a:avLst/>
          </a:prstGeom>
          <a:noFill/>
          <a:ln/>
        </p:spPr>
        <p:txBody>
          <a:bodyPr wrap="square" lIns="0" tIns="0" rIns="0" bIns="0" rtlCol="0" anchor="t"/>
          <a:lstStyle/>
          <a:p>
            <a:pPr algn="l" indent="0" marL="0">
              <a:buNone/>
            </a:pPr>
            <a:r>
              <a:rPr lang="en-US" sz="860" b="1" spc="110" kern="0" dirty="0">
                <a:solidFill>
                  <a:srgbClr val="B3181E"/>
                </a:solidFill>
                <a:latin typeface="Aptos" pitchFamily="34" charset="0"/>
                <a:ea typeface="Aptos" pitchFamily="34" charset="-122"/>
                <a:cs typeface="Aptos" pitchFamily="34" charset="-120"/>
              </a:rPr>
              <a:t>PISTA</a:t>
            </a:r>
            <a:endParaRPr lang="en-US" sz="860" dirty="0"/>
          </a:p>
        </p:txBody>
      </p:sp>
      <p:sp>
        <p:nvSpPr>
          <p:cNvPr id="16" name="Text 13"/>
          <p:cNvSpPr txBox="1"/>
          <p:nvPr/>
        </p:nvSpPr>
        <p:spPr>
          <a:xfrm>
            <a:off x="2286000" y="3072384"/>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Mira la última columna del mapa de etapas: contra qué compara cada prueba.</a:t>
            </a:r>
            <a:endParaRPr lang="en-US" sz="1200" dirty="0"/>
          </a:p>
        </p:txBody>
      </p:sp>
      <p:sp>
        <p:nvSpPr>
          <p:cNvPr id="17" name="Shape 14"/>
          <p:cNvSpPr/>
          <p:nvPr/>
        </p:nvSpPr>
        <p:spPr>
          <a:xfrm>
            <a:off x="658368" y="3529584"/>
            <a:ext cx="10874959" cy="1188720"/>
          </a:xfrm>
          <a:prstGeom prst="rect">
            <a:avLst/>
          </a:prstGeom>
          <a:solidFill>
            <a:srgbClr val="EDE6DA"/>
          </a:solidFill>
          <a:ln w="12700">
            <a:solidFill>
              <a:srgbClr val="EDE6DA"/>
            </a:solidFill>
            <a:prstDash val="solid"/>
          </a:ln>
        </p:spPr>
      </p:sp>
      <p:sp>
        <p:nvSpPr>
          <p:cNvPr id="18" name="Shape 15"/>
          <p:cNvSpPr/>
          <p:nvPr/>
        </p:nvSpPr>
        <p:spPr>
          <a:xfrm>
            <a:off x="658368" y="3529584"/>
            <a:ext cx="54864" cy="1188720"/>
          </a:xfrm>
          <a:prstGeom prst="rect">
            <a:avLst/>
          </a:prstGeom>
          <a:solidFill>
            <a:srgbClr val="255A4C"/>
          </a:solidFill>
          <a:ln w="12700">
            <a:solidFill>
              <a:srgbClr val="255A4C"/>
            </a:solidFill>
            <a:prstDash val="solid"/>
          </a:ln>
        </p:spPr>
      </p:sp>
      <p:sp>
        <p:nvSpPr>
          <p:cNvPr id="19" name="Text 16"/>
          <p:cNvSpPr txBox="1"/>
          <p:nvPr/>
        </p:nvSpPr>
        <p:spPr>
          <a:xfrm>
            <a:off x="932688" y="3675888"/>
            <a:ext cx="475488" cy="457200"/>
          </a:xfrm>
          <a:prstGeom prst="rect">
            <a:avLst/>
          </a:prstGeom>
          <a:noFill/>
          <a:ln/>
        </p:spPr>
        <p:txBody>
          <a:bodyPr wrap="square" lIns="0" tIns="0" rIns="0" bIns="0" rtlCol="0" anchor="t"/>
          <a:lstStyle/>
          <a:p>
            <a:pPr algn="l" indent="0" marL="0">
              <a:buNone/>
            </a:pPr>
            <a:r>
              <a:rPr lang="en-US" sz="2600" b="1" dirty="0">
                <a:solidFill>
                  <a:srgbClr val="255A4C"/>
                </a:solidFill>
                <a:latin typeface="Aptos Display" pitchFamily="34" charset="0"/>
                <a:ea typeface="Aptos Display" pitchFamily="34" charset="-122"/>
                <a:cs typeface="Aptos Display" pitchFamily="34" charset="-120"/>
              </a:rPr>
              <a:t>2</a:t>
            </a:r>
            <a:endParaRPr lang="en-US" sz="2600" dirty="0"/>
          </a:p>
        </p:txBody>
      </p:sp>
      <p:sp>
        <p:nvSpPr>
          <p:cNvPr id="20" name="Text 17"/>
          <p:cNvSpPr txBox="1"/>
          <p:nvPr/>
        </p:nvSpPr>
        <p:spPr>
          <a:xfrm>
            <a:off x="1572768" y="3666744"/>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Los autores del «100 veces más caro» escribieron también «5:1» en el mismo párrafo, y la industria repite solo el primero. ¿Qué le exigirías a una cifra antes de usarla para justificar una decisión en tu trabajo?</a:t>
            </a:r>
            <a:endParaRPr lang="en-US" sz="1400" dirty="0"/>
          </a:p>
        </p:txBody>
      </p:sp>
      <p:sp>
        <p:nvSpPr>
          <p:cNvPr id="21" name="Shape 18"/>
          <p:cNvSpPr/>
          <p:nvPr/>
        </p:nvSpPr>
        <p:spPr>
          <a:xfrm>
            <a:off x="1572768" y="4297680"/>
            <a:ext cx="9631375" cy="0"/>
          </a:xfrm>
          <a:prstGeom prst="line">
            <a:avLst/>
          </a:prstGeom>
          <a:noFill/>
          <a:ln w="12700">
            <a:solidFill>
              <a:srgbClr val="D8CFC4"/>
            </a:solidFill>
            <a:prstDash val="solid"/>
            <a:headEnd type="none"/>
            <a:tailEnd type="none"/>
          </a:ln>
        </p:spPr>
      </p:sp>
      <p:sp>
        <p:nvSpPr>
          <p:cNvPr id="22" name="Text 19"/>
          <p:cNvSpPr txBox="1"/>
          <p:nvPr/>
        </p:nvSpPr>
        <p:spPr>
          <a:xfrm>
            <a:off x="1572768" y="4389120"/>
            <a:ext cx="640080" cy="182880"/>
          </a:xfrm>
          <a:prstGeom prst="rect">
            <a:avLst/>
          </a:prstGeom>
          <a:noFill/>
          <a:ln/>
        </p:spPr>
        <p:txBody>
          <a:bodyPr wrap="square" lIns="0" tIns="0" rIns="0" bIns="0" rtlCol="0" anchor="t"/>
          <a:lstStyle/>
          <a:p>
            <a:pPr algn="l" indent="0" marL="0">
              <a:buNone/>
            </a:pPr>
            <a:r>
              <a:rPr lang="en-US" sz="860" b="1" spc="110" kern="0" dirty="0">
                <a:solidFill>
                  <a:srgbClr val="255A4C"/>
                </a:solidFill>
                <a:latin typeface="Aptos" pitchFamily="34" charset="0"/>
                <a:ea typeface="Aptos" pitchFamily="34" charset="-122"/>
                <a:cs typeface="Aptos" pitchFamily="34" charset="-120"/>
              </a:rPr>
              <a:t>PISTA</a:t>
            </a:r>
            <a:endParaRPr lang="en-US" sz="860" dirty="0"/>
          </a:p>
        </p:txBody>
      </p:sp>
      <p:sp>
        <p:nvSpPr>
          <p:cNvPr id="23" name="Text 20"/>
          <p:cNvSpPr txBox="1"/>
          <p:nvPr/>
        </p:nvSpPr>
        <p:spPr>
          <a:xfrm>
            <a:off x="2286000" y="4370832"/>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Pregúntate quién midió, cuándo, sobre qué tamaño de sistema, y si el dato original existe.</a:t>
            </a:r>
            <a:endParaRPr lang="en-US" sz="1200" dirty="0"/>
          </a:p>
        </p:txBody>
      </p:sp>
      <p:sp>
        <p:nvSpPr>
          <p:cNvPr id="24" name="Shape 21"/>
          <p:cNvSpPr/>
          <p:nvPr/>
        </p:nvSpPr>
        <p:spPr>
          <a:xfrm>
            <a:off x="658368" y="4828032"/>
            <a:ext cx="10874959" cy="1188720"/>
          </a:xfrm>
          <a:prstGeom prst="rect">
            <a:avLst/>
          </a:prstGeom>
          <a:solidFill>
            <a:srgbClr val="F2E7D9"/>
          </a:solidFill>
          <a:ln w="12700">
            <a:solidFill>
              <a:srgbClr val="F2E7D9"/>
            </a:solidFill>
            <a:prstDash val="solid"/>
          </a:ln>
        </p:spPr>
      </p:sp>
      <p:sp>
        <p:nvSpPr>
          <p:cNvPr id="25" name="Shape 22"/>
          <p:cNvSpPr/>
          <p:nvPr/>
        </p:nvSpPr>
        <p:spPr>
          <a:xfrm>
            <a:off x="658368" y="4828032"/>
            <a:ext cx="54864" cy="1188720"/>
          </a:xfrm>
          <a:prstGeom prst="rect">
            <a:avLst/>
          </a:prstGeom>
          <a:solidFill>
            <a:srgbClr val="8A6A12"/>
          </a:solidFill>
          <a:ln w="12700">
            <a:solidFill>
              <a:srgbClr val="8A6A12"/>
            </a:solidFill>
            <a:prstDash val="solid"/>
          </a:ln>
        </p:spPr>
      </p:sp>
      <p:sp>
        <p:nvSpPr>
          <p:cNvPr id="26" name="Text 23"/>
          <p:cNvSpPr txBox="1"/>
          <p:nvPr/>
        </p:nvSpPr>
        <p:spPr>
          <a:xfrm>
            <a:off x="932688" y="4974336"/>
            <a:ext cx="475488" cy="457200"/>
          </a:xfrm>
          <a:prstGeom prst="rect">
            <a:avLst/>
          </a:prstGeom>
          <a:noFill/>
          <a:ln/>
        </p:spPr>
        <p:txBody>
          <a:bodyPr wrap="square" lIns="0" tIns="0" rIns="0" bIns="0" rtlCol="0" anchor="t"/>
          <a:lstStyle/>
          <a:p>
            <a:pPr algn="l"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7" name="Text 24"/>
          <p:cNvSpPr txBox="1"/>
          <p:nvPr/>
        </p:nvSpPr>
        <p:spPr>
          <a:xfrm>
            <a:off x="1572768" y="4965192"/>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Si generar código se volvió rápido y barato, ¿qué parte del trabajo pasó a ser proporcionalmente la más cara? ¿Es una parte que puedas delegar en un agente?</a:t>
            </a:r>
            <a:endParaRPr lang="en-US" sz="1400" dirty="0"/>
          </a:p>
        </p:txBody>
      </p:sp>
      <p:sp>
        <p:nvSpPr>
          <p:cNvPr id="28" name="Shape 25"/>
          <p:cNvSpPr/>
          <p:nvPr/>
        </p:nvSpPr>
        <p:spPr>
          <a:xfrm>
            <a:off x="1572768" y="5596128"/>
            <a:ext cx="9631375" cy="0"/>
          </a:xfrm>
          <a:prstGeom prst="line">
            <a:avLst/>
          </a:prstGeom>
          <a:noFill/>
          <a:ln w="12700">
            <a:solidFill>
              <a:srgbClr val="D8CFC4"/>
            </a:solidFill>
            <a:prstDash val="solid"/>
            <a:headEnd type="none"/>
            <a:tailEnd type="none"/>
          </a:ln>
        </p:spPr>
      </p:sp>
      <p:sp>
        <p:nvSpPr>
          <p:cNvPr id="29" name="Text 26"/>
          <p:cNvSpPr txBox="1"/>
          <p:nvPr/>
        </p:nvSpPr>
        <p:spPr>
          <a:xfrm>
            <a:off x="1572768" y="5687568"/>
            <a:ext cx="640080" cy="182880"/>
          </a:xfrm>
          <a:prstGeom prst="rect">
            <a:avLst/>
          </a:prstGeom>
          <a:noFill/>
          <a:ln/>
        </p:spPr>
        <p:txBody>
          <a:bodyPr wrap="square" lIns="0" tIns="0" rIns="0" bIns="0" rtlCol="0" anchor="t"/>
          <a:lstStyle/>
          <a:p>
            <a:pPr algn="l" indent="0" marL="0">
              <a:buNone/>
            </a:pPr>
            <a:r>
              <a:rPr lang="en-US" sz="860" b="1" spc="110" kern="0" dirty="0">
                <a:solidFill>
                  <a:srgbClr val="8A6A12"/>
                </a:solidFill>
                <a:latin typeface="Aptos" pitchFamily="34" charset="0"/>
                <a:ea typeface="Aptos" pitchFamily="34" charset="-122"/>
                <a:cs typeface="Aptos" pitchFamily="34" charset="-120"/>
              </a:rPr>
              <a:t>PISTA</a:t>
            </a:r>
            <a:endParaRPr lang="en-US" sz="860" dirty="0"/>
          </a:p>
        </p:txBody>
      </p:sp>
      <p:sp>
        <p:nvSpPr>
          <p:cNvPr id="30" name="Text 27"/>
          <p:cNvSpPr txBox="1"/>
          <p:nvPr/>
        </p:nvSpPr>
        <p:spPr>
          <a:xfrm>
            <a:off x="2286000" y="5669280"/>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De las seis etapas del mapa, busca la única que no se acelera por escribir más rápido.</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3\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15</a:t>
            </a:r>
            <a:endParaRPr lang="en-US" sz="1400" dirty="0"/>
          </a:p>
        </p:txBody>
      </p:sp>
      <p:sp>
        <p:nvSpPr>
          <p:cNvPr id="8" name="Text 5"/>
          <p:cNvSpPr txBox="1"/>
          <p:nvPr/>
        </p:nvSpPr>
        <p:spPr>
          <a:xfrm>
            <a:off x="658368" y="1517904"/>
            <a:ext cx="3657600" cy="237744"/>
          </a:xfrm>
          <a:prstGeom prst="rect">
            <a:avLst/>
          </a:prstGeom>
          <a:noFill/>
          <a:ln/>
        </p:spPr>
        <p:txBody>
          <a:bodyPr wrap="square" lIns="0" tIns="0" rIns="0" bIns="0" rtlCol="0" anchor="t"/>
          <a:lstStyle/>
          <a:p>
            <a:pPr algn="l" indent="0" marL="0">
              <a:buNone/>
            </a:pPr>
            <a:r>
              <a:rPr lang="en-US" sz="1140" b="1" spc="210" kern="0" dirty="0">
                <a:solidFill>
                  <a:srgbClr val="E0BC5A"/>
                </a:solidFill>
                <a:latin typeface="Aptos" pitchFamily="34" charset="0"/>
                <a:ea typeface="Aptos" pitchFamily="34" charset="-122"/>
                <a:cs typeface="Aptos" pitchFamily="34" charset="-120"/>
              </a:rPr>
              <a:t>BLOQUE 2</a:t>
            </a:r>
            <a:endParaRPr lang="en-US" sz="1140" dirty="0"/>
          </a:p>
        </p:txBody>
      </p:sp>
      <p:sp>
        <p:nvSpPr>
          <p:cNvPr id="9" name="Text 6"/>
          <p:cNvSpPr txBox="1"/>
          <p:nvPr/>
        </p:nvSpPr>
        <p:spPr>
          <a:xfrm>
            <a:off x="658368" y="1828800"/>
            <a:ext cx="7772400" cy="1700784"/>
          </a:xfrm>
          <a:prstGeom prst="rect">
            <a:avLst/>
          </a:prstGeom>
          <a:noFill/>
          <a:ln/>
        </p:spPr>
        <p:txBody>
          <a:bodyPr wrap="square" lIns="0" tIns="0" rIns="0" bIns="0" rtlCol="0" anchor="t"/>
          <a:lstStyle/>
          <a:p>
            <a:pPr algn="l" indent="0" marL="0">
              <a:lnSpc>
                <a:spcPct val="106000"/>
              </a:lnSpc>
              <a:buNone/>
            </a:pPr>
            <a:r>
              <a:rPr lang="en-US" sz="3800" b="1" dirty="0">
                <a:solidFill>
                  <a:srgbClr val="FFFFFF"/>
                </a:solidFill>
                <a:latin typeface="Aptos Display" pitchFamily="34" charset="0"/>
                <a:ea typeface="Aptos Display" pitchFamily="34" charset="-122"/>
                <a:cs typeface="Aptos Display" pitchFamily="34" charset="-120"/>
              </a:rPr>
              <a:t>El documento</a:t>
            </a:r>
            <a:endParaRPr lang="en-US" sz="3800" dirty="0"/>
          </a:p>
          <a:p>
            <a:pPr algn="l" indent="0" marL="0">
              <a:lnSpc>
                <a:spcPct val="106000"/>
              </a:lnSpc>
              <a:buNone/>
            </a:pPr>
            <a:r>
              <a:rPr lang="en-US" sz="3800" b="1" dirty="0">
                <a:solidFill>
                  <a:srgbClr val="FFFFFF"/>
                </a:solidFill>
                <a:latin typeface="Aptos Display" pitchFamily="34" charset="0"/>
                <a:ea typeface="Aptos Display" pitchFamily="34" charset="-122"/>
                <a:cs typeface="Aptos Display" pitchFamily="34" charset="-120"/>
              </a:rPr>
              <a:t>que faltaba</a:t>
            </a:r>
            <a:endParaRPr lang="en-US" sz="3800" dirty="0"/>
          </a:p>
          <a:p>
            <a:pPr algn="l" indent="0" marL="0">
              <a:lnSpc>
                <a:spcPct val="106000"/>
              </a:lnSpc>
              <a:buNone/>
            </a:pPr>
            <a:r>
              <a:rPr lang="en-US" sz="3800" b="1" dirty="0">
                <a:solidFill>
                  <a:srgbClr val="FFFFFF"/>
                </a:solidFill>
                <a:latin typeface="Aptos Display" pitchFamily="34" charset="0"/>
                <a:ea typeface="Aptos Display" pitchFamily="34" charset="-122"/>
                <a:cs typeface="Aptos Display" pitchFamily="34" charset="-120"/>
              </a:rPr>
              <a:t>tiene nombre</a:t>
            </a:r>
            <a:endParaRPr lang="en-US" sz="3800" dirty="0"/>
          </a:p>
        </p:txBody>
      </p:sp>
      <p:sp>
        <p:nvSpPr>
          <p:cNvPr id="10" name="Shape 7"/>
          <p:cNvSpPr/>
          <p:nvPr/>
        </p:nvSpPr>
        <p:spPr>
          <a:xfrm>
            <a:off x="658368" y="3675888"/>
            <a:ext cx="2011680" cy="73152"/>
          </a:xfrm>
          <a:prstGeom prst="rect">
            <a:avLst/>
          </a:prstGeom>
          <a:solidFill>
            <a:srgbClr val="D62027"/>
          </a:solidFill>
          <a:ln w="12700">
            <a:solidFill>
              <a:srgbClr val="D62027"/>
            </a:solidFill>
            <a:prstDash val="solid"/>
          </a:ln>
        </p:spPr>
      </p:sp>
      <p:sp>
        <p:nvSpPr>
          <p:cNvPr id="11" name="Text 8"/>
          <p:cNvSpPr txBox="1"/>
          <p:nvPr/>
        </p:nvSpPr>
        <p:spPr>
          <a:xfrm>
            <a:off x="658368" y="4005072"/>
            <a:ext cx="4572000" cy="201168"/>
          </a:xfrm>
          <a:prstGeom prst="rect">
            <a:avLst/>
          </a:prstGeom>
          <a:noFill/>
          <a:ln/>
        </p:spPr>
        <p:txBody>
          <a:bodyPr wrap="square" lIns="0" tIns="0" rIns="0" bIns="0" rtlCol="0" anchor="t"/>
          <a:lstStyle/>
          <a:p>
            <a:pPr algn="l" indent="0" marL="0">
              <a:buNone/>
            </a:pPr>
            <a:r>
              <a:rPr lang="en-US" sz="960" b="1" spc="130" kern="0" dirty="0">
                <a:solidFill>
                  <a:srgbClr val="7FC9B4"/>
                </a:solidFill>
                <a:latin typeface="Aptos" pitchFamily="34" charset="0"/>
                <a:ea typeface="Aptos" pitchFamily="34" charset="-122"/>
                <a:cs typeface="Aptos" pitchFamily="34" charset="-120"/>
              </a:rPr>
              <a:t>LA PREGUNTA DEL BLOQUE</a:t>
            </a:r>
            <a:endParaRPr lang="en-US" sz="960" dirty="0"/>
          </a:p>
        </p:txBody>
      </p:sp>
      <p:sp>
        <p:nvSpPr>
          <p:cNvPr id="12" name="Text 9"/>
          <p:cNvSpPr txBox="1"/>
          <p:nvPr/>
        </p:nvSpPr>
        <p:spPr>
          <a:xfrm>
            <a:off x="658368" y="4279392"/>
            <a:ext cx="6766560" cy="896112"/>
          </a:xfrm>
          <a:prstGeom prst="rect">
            <a:avLst/>
          </a:prstGeom>
          <a:noFill/>
          <a:ln/>
        </p:spPr>
        <p:txBody>
          <a:bodyPr wrap="square" lIns="0" tIns="0" rIns="0" bIns="0" rtlCol="0" anchor="t"/>
          <a:lstStyle/>
          <a:p>
            <a:pPr algn="l" indent="0" marL="0">
              <a:lnSpc>
                <a:spcPct val="118000"/>
              </a:lnSpc>
              <a:buNone/>
            </a:pPr>
            <a:r>
              <a:rPr lang="en-US" sz="1900" dirty="0">
                <a:solidFill>
                  <a:srgbClr val="FFFFFF"/>
                </a:solidFill>
                <a:latin typeface="Aptos" pitchFamily="34" charset="0"/>
                <a:ea typeface="Aptos" pitchFamily="34" charset="-122"/>
                <a:cs typeface="Aptos" pitchFamily="34" charset="-120"/>
              </a:rPr>
              <a:t>¿Qué le pasa a una suite de pruebas cuando lo único contra qué comparar es el propio código que se está probando?</a:t>
            </a:r>
            <a:endParaRPr lang="en-US" sz="1900" dirty="0"/>
          </a:p>
        </p:txBody>
      </p:sp>
      <p:sp>
        <p:nvSpPr>
          <p:cNvPr id="13" name="Shape 10"/>
          <p:cNvSpPr/>
          <p:nvPr/>
        </p:nvSpPr>
        <p:spPr>
          <a:xfrm>
            <a:off x="8321040" y="1572768"/>
            <a:ext cx="0" cy="3566160"/>
          </a:xfrm>
          <a:prstGeom prst="line">
            <a:avLst/>
          </a:prstGeom>
          <a:noFill/>
          <a:ln w="12700">
            <a:solidFill>
              <a:srgbClr val="2C4A66"/>
            </a:solidFill>
            <a:prstDash val="solid"/>
            <a:headEnd type="none"/>
            <a:tailEnd type="none"/>
          </a:ln>
        </p:spPr>
      </p:sp>
      <p:sp>
        <p:nvSpPr>
          <p:cNvPr id="14" name="Text 11"/>
          <p:cNvSpPr txBox="1"/>
          <p:nvPr/>
        </p:nvSpPr>
        <p:spPr>
          <a:xfrm>
            <a:off x="8686800" y="1572768"/>
            <a:ext cx="310896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CON QUÉ SALES</a:t>
            </a:r>
            <a:endParaRPr lang="en-US" sz="960" dirty="0"/>
          </a:p>
        </p:txBody>
      </p:sp>
      <p:sp>
        <p:nvSpPr>
          <p:cNvPr id="15" name="Shape 12"/>
          <p:cNvSpPr/>
          <p:nvPr/>
        </p:nvSpPr>
        <p:spPr>
          <a:xfrm>
            <a:off x="8686800" y="1920240"/>
            <a:ext cx="274320" cy="274320"/>
          </a:xfrm>
          <a:prstGeom prst="ellipse">
            <a:avLst/>
          </a:prstGeom>
          <a:solidFill>
            <a:srgbClr val="1D3A57"/>
          </a:solidFill>
          <a:ln w="12700">
            <a:solidFill>
              <a:srgbClr val="1D3A57"/>
            </a:solidFill>
            <a:prstDash val="solid"/>
          </a:ln>
        </p:spPr>
      </p:sp>
      <p:sp>
        <p:nvSpPr>
          <p:cNvPr id="16" name="Text 13"/>
          <p:cNvSpPr txBox="1"/>
          <p:nvPr/>
        </p:nvSpPr>
        <p:spPr>
          <a:xfrm>
            <a:off x="8686800" y="1920240"/>
            <a:ext cx="274320" cy="274320"/>
          </a:xfrm>
          <a:prstGeom prst="rect">
            <a:avLst/>
          </a:prstGeom>
          <a:noFill/>
          <a:ln/>
        </p:spPr>
        <p:txBody>
          <a:bodyPr wrap="square" lIns="0" tIns="0" rIns="0" bIns="0" rtlCol="0" anchor="ctr"/>
          <a:lstStyle/>
          <a:p>
            <a:pPr algn="ctr" indent="0" marL="0">
              <a:buNone/>
            </a:pPr>
            <a:r>
              <a:rPr lang="en-US" sz="1050" b="1" dirty="0">
                <a:solidFill>
                  <a:srgbClr val="7FC9B4"/>
                </a:solidFill>
                <a:latin typeface="Aptos" pitchFamily="34" charset="0"/>
                <a:ea typeface="Aptos" pitchFamily="34" charset="-122"/>
                <a:cs typeface="Aptos" pitchFamily="34" charset="-120"/>
              </a:rPr>
              <a:t>1</a:t>
            </a:r>
            <a:endParaRPr lang="en-US" sz="1050" dirty="0"/>
          </a:p>
        </p:txBody>
      </p:sp>
      <p:sp>
        <p:nvSpPr>
          <p:cNvPr id="17" name="Text 14"/>
          <p:cNvSpPr txBox="1"/>
          <p:nvPr/>
        </p:nvSpPr>
        <p:spPr>
          <a:xfrm>
            <a:off x="9089136" y="1901952"/>
            <a:ext cx="2651760" cy="603504"/>
          </a:xfrm>
          <a:prstGeom prst="rect">
            <a:avLst/>
          </a:prstGeom>
          <a:noFill/>
          <a:ln/>
        </p:spPr>
        <p:txBody>
          <a:bodyPr wrap="square" lIns="0" tIns="0" rIns="0" bIns="0" rtlCol="0" anchor="t"/>
          <a:lstStyle/>
          <a:p>
            <a:pPr algn="l" indent="0" marL="0">
              <a:lnSpc>
                <a:spcPct val="114000"/>
              </a:lnSpc>
              <a:buNone/>
            </a:pPr>
            <a:r>
              <a:rPr lang="en-US" sz="1220" dirty="0">
                <a:solidFill>
                  <a:srgbClr val="E6EEF7"/>
                </a:solidFill>
                <a:latin typeface="Aptos" pitchFamily="34" charset="0"/>
                <a:ea typeface="Aptos" pitchFamily="34" charset="-122"/>
                <a:cs typeface="Aptos" pitchFamily="34" charset="-120"/>
              </a:rPr>
              <a:t>El nombre técnico de aquello contra lo que compara una prueba</a:t>
            </a:r>
            <a:endParaRPr lang="en-US" sz="1220" dirty="0"/>
          </a:p>
        </p:txBody>
      </p:sp>
      <p:sp>
        <p:nvSpPr>
          <p:cNvPr id="18" name="Shape 15"/>
          <p:cNvSpPr/>
          <p:nvPr/>
        </p:nvSpPr>
        <p:spPr>
          <a:xfrm>
            <a:off x="8686800" y="2633472"/>
            <a:ext cx="274320" cy="274320"/>
          </a:xfrm>
          <a:prstGeom prst="ellipse">
            <a:avLst/>
          </a:prstGeom>
          <a:solidFill>
            <a:srgbClr val="1D3A57"/>
          </a:solidFill>
          <a:ln w="12700">
            <a:solidFill>
              <a:srgbClr val="1D3A57"/>
            </a:solidFill>
            <a:prstDash val="solid"/>
          </a:ln>
        </p:spPr>
      </p:sp>
      <p:sp>
        <p:nvSpPr>
          <p:cNvPr id="19" name="Text 16"/>
          <p:cNvSpPr txBox="1"/>
          <p:nvPr/>
        </p:nvSpPr>
        <p:spPr>
          <a:xfrm>
            <a:off x="8686800" y="2633472"/>
            <a:ext cx="274320" cy="274320"/>
          </a:xfrm>
          <a:prstGeom prst="rect">
            <a:avLst/>
          </a:prstGeom>
          <a:noFill/>
          <a:ln/>
        </p:spPr>
        <p:txBody>
          <a:bodyPr wrap="square" lIns="0" tIns="0" rIns="0" bIns="0" rtlCol="0" anchor="ctr"/>
          <a:lstStyle/>
          <a:p>
            <a:pPr algn="ctr" indent="0" marL="0">
              <a:buNone/>
            </a:pPr>
            <a:r>
              <a:rPr lang="en-US" sz="1050" b="1" dirty="0">
                <a:solidFill>
                  <a:srgbClr val="7FC9B4"/>
                </a:solidFill>
                <a:latin typeface="Aptos" pitchFamily="34" charset="0"/>
                <a:ea typeface="Aptos" pitchFamily="34" charset="-122"/>
                <a:cs typeface="Aptos" pitchFamily="34" charset="-120"/>
              </a:rPr>
              <a:t>2</a:t>
            </a:r>
            <a:endParaRPr lang="en-US" sz="1050" dirty="0"/>
          </a:p>
        </p:txBody>
      </p:sp>
      <p:sp>
        <p:nvSpPr>
          <p:cNvPr id="20" name="Text 17"/>
          <p:cNvSpPr txBox="1"/>
          <p:nvPr/>
        </p:nvSpPr>
        <p:spPr>
          <a:xfrm>
            <a:off x="9089136" y="2615184"/>
            <a:ext cx="2651760" cy="603504"/>
          </a:xfrm>
          <a:prstGeom prst="rect">
            <a:avLst/>
          </a:prstGeom>
          <a:noFill/>
          <a:ln/>
        </p:spPr>
        <p:txBody>
          <a:bodyPr wrap="square" lIns="0" tIns="0" rIns="0" bIns="0" rtlCol="0" anchor="t"/>
          <a:lstStyle/>
          <a:p>
            <a:pPr algn="l" indent="0" marL="0">
              <a:lnSpc>
                <a:spcPct val="114000"/>
              </a:lnSpc>
              <a:buNone/>
            </a:pPr>
            <a:r>
              <a:rPr lang="en-US" sz="1220" dirty="0">
                <a:solidFill>
                  <a:srgbClr val="E6EEF7"/>
                </a:solidFill>
                <a:latin typeface="Aptos" pitchFamily="34" charset="0"/>
                <a:ea typeface="Aptos" pitchFamily="34" charset="-122"/>
                <a:cs typeface="Aptos" pitchFamily="34" charset="-120"/>
              </a:rPr>
              <a:t>La medición de dos suites escritas para el mismo código</a:t>
            </a:r>
            <a:endParaRPr lang="en-US" sz="1220" dirty="0"/>
          </a:p>
        </p:txBody>
      </p:sp>
      <p:sp>
        <p:nvSpPr>
          <p:cNvPr id="21" name="Shape 18"/>
          <p:cNvSpPr/>
          <p:nvPr/>
        </p:nvSpPr>
        <p:spPr>
          <a:xfrm>
            <a:off x="8686800" y="3346704"/>
            <a:ext cx="274320" cy="274320"/>
          </a:xfrm>
          <a:prstGeom prst="ellipse">
            <a:avLst/>
          </a:prstGeom>
          <a:solidFill>
            <a:srgbClr val="1D3A57"/>
          </a:solidFill>
          <a:ln w="12700">
            <a:solidFill>
              <a:srgbClr val="1D3A57"/>
            </a:solidFill>
            <a:prstDash val="solid"/>
          </a:ln>
        </p:spPr>
      </p:sp>
      <p:sp>
        <p:nvSpPr>
          <p:cNvPr id="22" name="Text 19"/>
          <p:cNvSpPr txBox="1"/>
          <p:nvPr/>
        </p:nvSpPr>
        <p:spPr>
          <a:xfrm>
            <a:off x="8686800" y="3346704"/>
            <a:ext cx="274320" cy="274320"/>
          </a:xfrm>
          <a:prstGeom prst="rect">
            <a:avLst/>
          </a:prstGeom>
          <a:noFill/>
          <a:ln/>
        </p:spPr>
        <p:txBody>
          <a:bodyPr wrap="square" lIns="0" tIns="0" rIns="0" bIns="0" rtlCol="0" anchor="ctr"/>
          <a:lstStyle/>
          <a:p>
            <a:pPr algn="ctr" indent="0" marL="0">
              <a:buNone/>
            </a:pPr>
            <a:r>
              <a:rPr lang="en-US" sz="1050" b="1" dirty="0">
                <a:solidFill>
                  <a:srgbClr val="7FC9B4"/>
                </a:solidFill>
                <a:latin typeface="Aptos" pitchFamily="34" charset="0"/>
                <a:ea typeface="Aptos" pitchFamily="34" charset="-122"/>
                <a:cs typeface="Aptos" pitchFamily="34" charset="-120"/>
              </a:rPr>
              <a:t>3</a:t>
            </a:r>
            <a:endParaRPr lang="en-US" sz="1050" dirty="0"/>
          </a:p>
        </p:txBody>
      </p:sp>
      <p:sp>
        <p:nvSpPr>
          <p:cNvPr id="23" name="Text 20"/>
          <p:cNvSpPr txBox="1"/>
          <p:nvPr/>
        </p:nvSpPr>
        <p:spPr>
          <a:xfrm>
            <a:off x="9089136" y="3328416"/>
            <a:ext cx="2651760" cy="603504"/>
          </a:xfrm>
          <a:prstGeom prst="rect">
            <a:avLst/>
          </a:prstGeom>
          <a:noFill/>
          <a:ln/>
        </p:spPr>
        <p:txBody>
          <a:bodyPr wrap="square" lIns="0" tIns="0" rIns="0" bIns="0" rtlCol="0" anchor="t"/>
          <a:lstStyle/>
          <a:p>
            <a:pPr algn="l" indent="0" marL="0">
              <a:lnSpc>
                <a:spcPct val="114000"/>
              </a:lnSpc>
              <a:buNone/>
            </a:pPr>
            <a:r>
              <a:rPr lang="en-US" sz="1220" dirty="0">
                <a:solidFill>
                  <a:srgbClr val="E6EEF7"/>
                </a:solidFill>
                <a:latin typeface="Aptos" pitchFamily="34" charset="0"/>
                <a:ea typeface="Aptos" pitchFamily="34" charset="-122"/>
                <a:cs typeface="Aptos" pitchFamily="34" charset="-120"/>
              </a:rPr>
              <a:t>El inventario de documentos que tu proyecto ya tiene</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16</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EL CONCEPTO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2800" b="1" dirty="0">
                <a:solidFill>
                  <a:srgbClr val="243B53"/>
                </a:solidFill>
                <a:latin typeface="Aptos Display" pitchFamily="34" charset="0"/>
                <a:ea typeface="Aptos Display" pitchFamily="34" charset="-122"/>
                <a:cs typeface="Aptos Display" pitchFamily="34" charset="-120"/>
              </a:rPr>
              <a:t>Toda prueba tiene cuatro partes, y la cuarta es el problema</a:t>
            </a:r>
            <a:endParaRPr lang="en-US" sz="2800" dirty="0"/>
          </a:p>
        </p:txBody>
      </p:sp>
      <p:sp>
        <p:nvSpPr>
          <p:cNvPr id="10" name="Shape 7"/>
          <p:cNvSpPr/>
          <p:nvPr/>
        </p:nvSpPr>
        <p:spPr>
          <a:xfrm>
            <a:off x="658368" y="2066544"/>
            <a:ext cx="2578608" cy="1060704"/>
          </a:xfrm>
          <a:prstGeom prst="rect">
            <a:avLst/>
          </a:prstGeom>
          <a:solidFill>
            <a:srgbClr val="FFFFFF"/>
          </a:solidFill>
          <a:ln w="12700">
            <a:solidFill>
              <a:srgbClr val="FFFFFF"/>
            </a:solidFill>
            <a:prstDash val="solid"/>
          </a:ln>
        </p:spPr>
      </p:sp>
      <p:sp>
        <p:nvSpPr>
          <p:cNvPr id="11" name="Shape 8"/>
          <p:cNvSpPr/>
          <p:nvPr/>
        </p:nvSpPr>
        <p:spPr>
          <a:xfrm>
            <a:off x="658368" y="2066544"/>
            <a:ext cx="2578608" cy="54864"/>
          </a:xfrm>
          <a:prstGeom prst="rect">
            <a:avLst/>
          </a:prstGeom>
          <a:solidFill>
            <a:srgbClr val="102A43"/>
          </a:solidFill>
          <a:ln w="12700">
            <a:solidFill>
              <a:srgbClr val="102A43"/>
            </a:solidFill>
            <a:prstDash val="solid"/>
          </a:ln>
        </p:spPr>
      </p:sp>
      <p:sp>
        <p:nvSpPr>
          <p:cNvPr id="12" name="Shape 9"/>
          <p:cNvSpPr/>
          <p:nvPr/>
        </p:nvSpPr>
        <p:spPr>
          <a:xfrm>
            <a:off x="859536" y="2249424"/>
            <a:ext cx="310896" cy="310896"/>
          </a:xfrm>
          <a:prstGeom prst="ellipse">
            <a:avLst/>
          </a:prstGeom>
          <a:solidFill>
            <a:srgbClr val="102A43"/>
          </a:solidFill>
          <a:ln w="12700">
            <a:solidFill>
              <a:srgbClr val="102A43"/>
            </a:solidFill>
            <a:prstDash val="solid"/>
          </a:ln>
        </p:spPr>
      </p:sp>
      <p:sp>
        <p:nvSpPr>
          <p:cNvPr id="13" name="Text 10"/>
          <p:cNvSpPr txBox="1"/>
          <p:nvPr/>
        </p:nvSpPr>
        <p:spPr>
          <a:xfrm>
            <a:off x="859536" y="2249424"/>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Aptos" pitchFamily="34" charset="0"/>
                <a:ea typeface="Aptos" pitchFamily="34" charset="-122"/>
                <a:cs typeface="Aptos" pitchFamily="34" charset="-120"/>
              </a:rPr>
              <a:t>1</a:t>
            </a:r>
            <a:endParaRPr lang="en-US" sz="1150" dirty="0"/>
          </a:p>
        </p:txBody>
      </p:sp>
      <p:sp>
        <p:nvSpPr>
          <p:cNvPr id="14" name="Text 11"/>
          <p:cNvSpPr txBox="1"/>
          <p:nvPr/>
        </p:nvSpPr>
        <p:spPr>
          <a:xfrm>
            <a:off x="1261872" y="2267712"/>
            <a:ext cx="1792224" cy="256032"/>
          </a:xfrm>
          <a:prstGeom prst="rect">
            <a:avLst/>
          </a:prstGeom>
          <a:noFill/>
          <a:ln/>
        </p:spPr>
        <p:txBody>
          <a:bodyPr wrap="square" lIns="0" tIns="0" rIns="0" bIns="0" rtlCol="0" anchor="t"/>
          <a:lstStyle/>
          <a:p>
            <a:pPr algn="l" indent="0" marL="0">
              <a:buNone/>
            </a:pPr>
            <a:r>
              <a:rPr lang="en-US" sz="1400" b="1" dirty="0">
                <a:solidFill>
                  <a:srgbClr val="243B53"/>
                </a:solidFill>
                <a:latin typeface="Aptos" pitchFamily="34" charset="0"/>
                <a:ea typeface="Aptos" pitchFamily="34" charset="-122"/>
                <a:cs typeface="Aptos" pitchFamily="34" charset="-120"/>
              </a:rPr>
              <a:t>Una entrada</a:t>
            </a:r>
            <a:endParaRPr lang="en-US" sz="1400" dirty="0"/>
          </a:p>
        </p:txBody>
      </p:sp>
      <p:sp>
        <p:nvSpPr>
          <p:cNvPr id="15" name="Text 12"/>
          <p:cNvSpPr txBox="1"/>
          <p:nvPr/>
        </p:nvSpPr>
        <p:spPr>
          <a:xfrm>
            <a:off x="859536" y="2651760"/>
            <a:ext cx="2176272" cy="402336"/>
          </a:xfrm>
          <a:prstGeom prst="rect">
            <a:avLst/>
          </a:prstGeom>
          <a:noFill/>
          <a:ln/>
        </p:spPr>
        <p:txBody>
          <a:bodyPr wrap="square" lIns="0" tIns="0" rIns="0" bIns="0" rtlCol="0" anchor="t"/>
          <a:lstStyle/>
          <a:p>
            <a:pPr algn="l" indent="0" marL="0">
              <a:lnSpc>
                <a:spcPct val="112000"/>
              </a:lnSpc>
              <a:buNone/>
            </a:pPr>
            <a:r>
              <a:rPr lang="en-US" sz="1140" dirty="0">
                <a:solidFill>
                  <a:srgbClr val="52606D"/>
                </a:solidFill>
                <a:latin typeface="Aptos" pitchFamily="34" charset="0"/>
                <a:ea typeface="Aptos" pitchFamily="34" charset="-122"/>
                <a:cs typeface="Aptos" pitchFamily="34" charset="-120"/>
              </a:rPr>
              <a:t>los datos con los que se llama</a:t>
            </a:r>
            <a:endParaRPr lang="en-US" sz="1140" dirty="0"/>
          </a:p>
        </p:txBody>
      </p:sp>
      <p:sp>
        <p:nvSpPr>
          <p:cNvPr id="16" name="Shape 13"/>
          <p:cNvSpPr/>
          <p:nvPr/>
        </p:nvSpPr>
        <p:spPr>
          <a:xfrm>
            <a:off x="3255264" y="2596896"/>
            <a:ext cx="164592" cy="0"/>
          </a:xfrm>
          <a:prstGeom prst="line">
            <a:avLst/>
          </a:prstGeom>
          <a:noFill/>
          <a:ln w="12700">
            <a:solidFill>
              <a:srgbClr val="52606D"/>
            </a:solidFill>
            <a:prstDash val="solid"/>
            <a:headEnd type="none"/>
            <a:tailEnd type="triangle"/>
          </a:ln>
        </p:spPr>
      </p:sp>
      <p:sp>
        <p:nvSpPr>
          <p:cNvPr id="17" name="Shape 14"/>
          <p:cNvSpPr/>
          <p:nvPr/>
        </p:nvSpPr>
        <p:spPr>
          <a:xfrm>
            <a:off x="3438144" y="2066544"/>
            <a:ext cx="2578608" cy="1060704"/>
          </a:xfrm>
          <a:prstGeom prst="rect">
            <a:avLst/>
          </a:prstGeom>
          <a:solidFill>
            <a:srgbClr val="FFFFFF"/>
          </a:solidFill>
          <a:ln w="12700">
            <a:solidFill>
              <a:srgbClr val="FFFFFF"/>
            </a:solidFill>
            <a:prstDash val="solid"/>
          </a:ln>
        </p:spPr>
      </p:sp>
      <p:sp>
        <p:nvSpPr>
          <p:cNvPr id="18" name="Shape 15"/>
          <p:cNvSpPr/>
          <p:nvPr/>
        </p:nvSpPr>
        <p:spPr>
          <a:xfrm>
            <a:off x="3438144" y="2066544"/>
            <a:ext cx="2578608" cy="54864"/>
          </a:xfrm>
          <a:prstGeom prst="rect">
            <a:avLst/>
          </a:prstGeom>
          <a:solidFill>
            <a:srgbClr val="102A43"/>
          </a:solidFill>
          <a:ln w="12700">
            <a:solidFill>
              <a:srgbClr val="102A43"/>
            </a:solidFill>
            <a:prstDash val="solid"/>
          </a:ln>
        </p:spPr>
      </p:sp>
      <p:sp>
        <p:nvSpPr>
          <p:cNvPr id="19" name="Shape 16"/>
          <p:cNvSpPr/>
          <p:nvPr/>
        </p:nvSpPr>
        <p:spPr>
          <a:xfrm>
            <a:off x="3639312" y="2249424"/>
            <a:ext cx="310896" cy="310896"/>
          </a:xfrm>
          <a:prstGeom prst="ellipse">
            <a:avLst/>
          </a:prstGeom>
          <a:solidFill>
            <a:srgbClr val="102A43"/>
          </a:solidFill>
          <a:ln w="12700">
            <a:solidFill>
              <a:srgbClr val="102A43"/>
            </a:solidFill>
            <a:prstDash val="solid"/>
          </a:ln>
        </p:spPr>
      </p:sp>
      <p:sp>
        <p:nvSpPr>
          <p:cNvPr id="20" name="Text 17"/>
          <p:cNvSpPr txBox="1"/>
          <p:nvPr/>
        </p:nvSpPr>
        <p:spPr>
          <a:xfrm>
            <a:off x="3639312" y="2249424"/>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Aptos" pitchFamily="34" charset="0"/>
                <a:ea typeface="Aptos" pitchFamily="34" charset="-122"/>
                <a:cs typeface="Aptos" pitchFamily="34" charset="-120"/>
              </a:rPr>
              <a:t>2</a:t>
            </a:r>
            <a:endParaRPr lang="en-US" sz="1150" dirty="0"/>
          </a:p>
        </p:txBody>
      </p:sp>
      <p:sp>
        <p:nvSpPr>
          <p:cNvPr id="21" name="Text 18"/>
          <p:cNvSpPr txBox="1"/>
          <p:nvPr/>
        </p:nvSpPr>
        <p:spPr>
          <a:xfrm>
            <a:off x="4041648" y="2267712"/>
            <a:ext cx="1792224" cy="256032"/>
          </a:xfrm>
          <a:prstGeom prst="rect">
            <a:avLst/>
          </a:prstGeom>
          <a:noFill/>
          <a:ln/>
        </p:spPr>
        <p:txBody>
          <a:bodyPr wrap="square" lIns="0" tIns="0" rIns="0" bIns="0" rtlCol="0" anchor="t"/>
          <a:lstStyle/>
          <a:p>
            <a:pPr algn="l" indent="0" marL="0">
              <a:buNone/>
            </a:pPr>
            <a:r>
              <a:rPr lang="en-US" sz="1400" b="1" dirty="0">
                <a:solidFill>
                  <a:srgbClr val="243B53"/>
                </a:solidFill>
                <a:latin typeface="Aptos" pitchFamily="34" charset="0"/>
                <a:ea typeface="Aptos" pitchFamily="34" charset="-122"/>
                <a:cs typeface="Aptos" pitchFamily="34" charset="-120"/>
              </a:rPr>
              <a:t>El programa</a:t>
            </a:r>
            <a:endParaRPr lang="en-US" sz="1400" dirty="0"/>
          </a:p>
        </p:txBody>
      </p:sp>
      <p:sp>
        <p:nvSpPr>
          <p:cNvPr id="22" name="Text 19"/>
          <p:cNvSpPr txBox="1"/>
          <p:nvPr/>
        </p:nvSpPr>
        <p:spPr>
          <a:xfrm>
            <a:off x="3639312" y="2651760"/>
            <a:ext cx="2176272" cy="402336"/>
          </a:xfrm>
          <a:prstGeom prst="rect">
            <a:avLst/>
          </a:prstGeom>
          <a:noFill/>
          <a:ln/>
        </p:spPr>
        <p:txBody>
          <a:bodyPr wrap="square" lIns="0" tIns="0" rIns="0" bIns="0" rtlCol="0" anchor="t"/>
          <a:lstStyle/>
          <a:p>
            <a:pPr algn="l" indent="0" marL="0">
              <a:lnSpc>
                <a:spcPct val="112000"/>
              </a:lnSpc>
              <a:buNone/>
            </a:pPr>
            <a:r>
              <a:rPr lang="en-US" sz="1140" dirty="0">
                <a:solidFill>
                  <a:srgbClr val="52606D"/>
                </a:solidFill>
                <a:latin typeface="Aptos" pitchFamily="34" charset="0"/>
                <a:ea typeface="Aptos" pitchFamily="34" charset="-122"/>
                <a:cs typeface="Aptos" pitchFamily="34" charset="-120"/>
              </a:rPr>
              <a:t>el código que se está probando</a:t>
            </a:r>
            <a:endParaRPr lang="en-US" sz="1140" dirty="0"/>
          </a:p>
        </p:txBody>
      </p:sp>
      <p:sp>
        <p:nvSpPr>
          <p:cNvPr id="23" name="Shape 20"/>
          <p:cNvSpPr/>
          <p:nvPr/>
        </p:nvSpPr>
        <p:spPr>
          <a:xfrm>
            <a:off x="6035040" y="2596896"/>
            <a:ext cx="164592" cy="0"/>
          </a:xfrm>
          <a:prstGeom prst="line">
            <a:avLst/>
          </a:prstGeom>
          <a:noFill/>
          <a:ln w="12700">
            <a:solidFill>
              <a:srgbClr val="52606D"/>
            </a:solidFill>
            <a:prstDash val="solid"/>
            <a:headEnd type="none"/>
            <a:tailEnd type="triangle"/>
          </a:ln>
        </p:spPr>
      </p:sp>
      <p:sp>
        <p:nvSpPr>
          <p:cNvPr id="24" name="Shape 21"/>
          <p:cNvSpPr/>
          <p:nvPr/>
        </p:nvSpPr>
        <p:spPr>
          <a:xfrm>
            <a:off x="6217920" y="2066544"/>
            <a:ext cx="2578608" cy="1060704"/>
          </a:xfrm>
          <a:prstGeom prst="rect">
            <a:avLst/>
          </a:prstGeom>
          <a:solidFill>
            <a:srgbClr val="FFFFFF"/>
          </a:solidFill>
          <a:ln w="12700">
            <a:solidFill>
              <a:srgbClr val="FFFFFF"/>
            </a:solidFill>
            <a:prstDash val="solid"/>
          </a:ln>
        </p:spPr>
      </p:sp>
      <p:sp>
        <p:nvSpPr>
          <p:cNvPr id="25" name="Shape 22"/>
          <p:cNvSpPr/>
          <p:nvPr/>
        </p:nvSpPr>
        <p:spPr>
          <a:xfrm>
            <a:off x="6217920" y="2066544"/>
            <a:ext cx="2578608" cy="54864"/>
          </a:xfrm>
          <a:prstGeom prst="rect">
            <a:avLst/>
          </a:prstGeom>
          <a:solidFill>
            <a:srgbClr val="102A43"/>
          </a:solidFill>
          <a:ln w="12700">
            <a:solidFill>
              <a:srgbClr val="102A43"/>
            </a:solidFill>
            <a:prstDash val="solid"/>
          </a:ln>
        </p:spPr>
      </p:sp>
      <p:sp>
        <p:nvSpPr>
          <p:cNvPr id="26" name="Shape 23"/>
          <p:cNvSpPr/>
          <p:nvPr/>
        </p:nvSpPr>
        <p:spPr>
          <a:xfrm>
            <a:off x="6419088" y="2249424"/>
            <a:ext cx="310896" cy="310896"/>
          </a:xfrm>
          <a:prstGeom prst="ellipse">
            <a:avLst/>
          </a:prstGeom>
          <a:solidFill>
            <a:srgbClr val="102A43"/>
          </a:solidFill>
          <a:ln w="12700">
            <a:solidFill>
              <a:srgbClr val="102A43"/>
            </a:solidFill>
            <a:prstDash val="solid"/>
          </a:ln>
        </p:spPr>
      </p:sp>
      <p:sp>
        <p:nvSpPr>
          <p:cNvPr id="27" name="Text 24"/>
          <p:cNvSpPr txBox="1"/>
          <p:nvPr/>
        </p:nvSpPr>
        <p:spPr>
          <a:xfrm>
            <a:off x="6419088" y="2249424"/>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Aptos" pitchFamily="34" charset="0"/>
                <a:ea typeface="Aptos" pitchFamily="34" charset="-122"/>
                <a:cs typeface="Aptos" pitchFamily="34" charset="-120"/>
              </a:rPr>
              <a:t>3</a:t>
            </a:r>
            <a:endParaRPr lang="en-US" sz="1150" dirty="0"/>
          </a:p>
        </p:txBody>
      </p:sp>
      <p:sp>
        <p:nvSpPr>
          <p:cNvPr id="28" name="Text 25"/>
          <p:cNvSpPr txBox="1"/>
          <p:nvPr/>
        </p:nvSpPr>
        <p:spPr>
          <a:xfrm>
            <a:off x="6821424" y="2267712"/>
            <a:ext cx="1792224" cy="256032"/>
          </a:xfrm>
          <a:prstGeom prst="rect">
            <a:avLst/>
          </a:prstGeom>
          <a:noFill/>
          <a:ln/>
        </p:spPr>
        <p:txBody>
          <a:bodyPr wrap="square" lIns="0" tIns="0" rIns="0" bIns="0" rtlCol="0" anchor="t"/>
          <a:lstStyle/>
          <a:p>
            <a:pPr algn="l" indent="0" marL="0">
              <a:buNone/>
            </a:pPr>
            <a:r>
              <a:rPr lang="en-US" sz="1400" b="1" dirty="0">
                <a:solidFill>
                  <a:srgbClr val="243B53"/>
                </a:solidFill>
                <a:latin typeface="Aptos" pitchFamily="34" charset="0"/>
                <a:ea typeface="Aptos" pitchFamily="34" charset="-122"/>
                <a:cs typeface="Aptos" pitchFamily="34" charset="-120"/>
              </a:rPr>
              <a:t>Una salida</a:t>
            </a:r>
            <a:endParaRPr lang="en-US" sz="1400" dirty="0"/>
          </a:p>
        </p:txBody>
      </p:sp>
      <p:sp>
        <p:nvSpPr>
          <p:cNvPr id="29" name="Text 26"/>
          <p:cNvSpPr txBox="1"/>
          <p:nvPr/>
        </p:nvSpPr>
        <p:spPr>
          <a:xfrm>
            <a:off x="6419088" y="2651760"/>
            <a:ext cx="2176272" cy="402336"/>
          </a:xfrm>
          <a:prstGeom prst="rect">
            <a:avLst/>
          </a:prstGeom>
          <a:noFill/>
          <a:ln/>
        </p:spPr>
        <p:txBody>
          <a:bodyPr wrap="square" lIns="0" tIns="0" rIns="0" bIns="0" rtlCol="0" anchor="t"/>
          <a:lstStyle/>
          <a:p>
            <a:pPr algn="l" indent="0" marL="0">
              <a:lnSpc>
                <a:spcPct val="112000"/>
              </a:lnSpc>
              <a:buNone/>
            </a:pPr>
            <a:r>
              <a:rPr lang="en-US" sz="1140" dirty="0">
                <a:solidFill>
                  <a:srgbClr val="52606D"/>
                </a:solidFill>
                <a:latin typeface="Aptos" pitchFamily="34" charset="0"/>
                <a:ea typeface="Aptos" pitchFamily="34" charset="-122"/>
                <a:cs typeface="Aptos" pitchFamily="34" charset="-120"/>
              </a:rPr>
              <a:t>lo que el programa devolvió</a:t>
            </a:r>
            <a:endParaRPr lang="en-US" sz="1140" dirty="0"/>
          </a:p>
        </p:txBody>
      </p:sp>
      <p:sp>
        <p:nvSpPr>
          <p:cNvPr id="30" name="Shape 27"/>
          <p:cNvSpPr/>
          <p:nvPr/>
        </p:nvSpPr>
        <p:spPr>
          <a:xfrm>
            <a:off x="8814816" y="2596896"/>
            <a:ext cx="164592" cy="0"/>
          </a:xfrm>
          <a:prstGeom prst="line">
            <a:avLst/>
          </a:prstGeom>
          <a:noFill/>
          <a:ln w="12700">
            <a:solidFill>
              <a:srgbClr val="52606D"/>
            </a:solidFill>
            <a:prstDash val="solid"/>
            <a:headEnd type="none"/>
            <a:tailEnd type="triangle"/>
          </a:ln>
        </p:spPr>
      </p:sp>
      <p:sp>
        <p:nvSpPr>
          <p:cNvPr id="31" name="Shape 28"/>
          <p:cNvSpPr/>
          <p:nvPr/>
        </p:nvSpPr>
        <p:spPr>
          <a:xfrm>
            <a:off x="8997696" y="2066544"/>
            <a:ext cx="2578608" cy="1060704"/>
          </a:xfrm>
          <a:prstGeom prst="rect">
            <a:avLst/>
          </a:prstGeom>
          <a:solidFill>
            <a:srgbClr val="F8E4E5"/>
          </a:solidFill>
          <a:ln w="12700">
            <a:solidFill>
              <a:srgbClr val="F8E4E5"/>
            </a:solidFill>
            <a:prstDash val="solid"/>
          </a:ln>
        </p:spPr>
      </p:sp>
      <p:sp>
        <p:nvSpPr>
          <p:cNvPr id="32" name="Shape 29"/>
          <p:cNvSpPr/>
          <p:nvPr/>
        </p:nvSpPr>
        <p:spPr>
          <a:xfrm>
            <a:off x="8997696" y="2066544"/>
            <a:ext cx="2578608" cy="54864"/>
          </a:xfrm>
          <a:prstGeom prst="rect">
            <a:avLst/>
          </a:prstGeom>
          <a:solidFill>
            <a:srgbClr val="B3181E"/>
          </a:solidFill>
          <a:ln w="12700">
            <a:solidFill>
              <a:srgbClr val="B3181E"/>
            </a:solidFill>
            <a:prstDash val="solid"/>
          </a:ln>
        </p:spPr>
      </p:sp>
      <p:sp>
        <p:nvSpPr>
          <p:cNvPr id="33" name="Shape 30"/>
          <p:cNvSpPr/>
          <p:nvPr/>
        </p:nvSpPr>
        <p:spPr>
          <a:xfrm>
            <a:off x="9198864" y="2249424"/>
            <a:ext cx="310896" cy="310896"/>
          </a:xfrm>
          <a:prstGeom prst="ellipse">
            <a:avLst/>
          </a:prstGeom>
          <a:solidFill>
            <a:srgbClr val="B3181E"/>
          </a:solidFill>
          <a:ln w="12700">
            <a:solidFill>
              <a:srgbClr val="B3181E"/>
            </a:solidFill>
            <a:prstDash val="solid"/>
          </a:ln>
        </p:spPr>
      </p:sp>
      <p:sp>
        <p:nvSpPr>
          <p:cNvPr id="34" name="Text 31"/>
          <p:cNvSpPr txBox="1"/>
          <p:nvPr/>
        </p:nvSpPr>
        <p:spPr>
          <a:xfrm>
            <a:off x="9198864" y="2249424"/>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Aptos" pitchFamily="34" charset="0"/>
                <a:ea typeface="Aptos" pitchFamily="34" charset="-122"/>
                <a:cs typeface="Aptos" pitchFamily="34" charset="-120"/>
              </a:rPr>
              <a:t>4</a:t>
            </a:r>
            <a:endParaRPr lang="en-US" sz="1150" dirty="0"/>
          </a:p>
        </p:txBody>
      </p:sp>
      <p:sp>
        <p:nvSpPr>
          <p:cNvPr id="35" name="Text 32"/>
          <p:cNvSpPr txBox="1"/>
          <p:nvPr/>
        </p:nvSpPr>
        <p:spPr>
          <a:xfrm>
            <a:off x="9601200" y="2267712"/>
            <a:ext cx="1792224" cy="256032"/>
          </a:xfrm>
          <a:prstGeom prst="rect">
            <a:avLst/>
          </a:prstGeom>
          <a:noFill/>
          <a:ln/>
        </p:spPr>
        <p:txBody>
          <a:bodyPr wrap="square" lIns="0" tIns="0" rIns="0" bIns="0" rtlCol="0" anchor="t"/>
          <a:lstStyle/>
          <a:p>
            <a:pPr algn="l" indent="0" marL="0">
              <a:buNone/>
            </a:pPr>
            <a:r>
              <a:rPr lang="en-US" sz="1400" b="1" dirty="0">
                <a:solidFill>
                  <a:srgbClr val="B3181E"/>
                </a:solidFill>
                <a:latin typeface="Aptos" pitchFamily="34" charset="0"/>
                <a:ea typeface="Aptos" pitchFamily="34" charset="-122"/>
                <a:cs typeface="Aptos" pitchFamily="34" charset="-120"/>
              </a:rPr>
              <a:t>Un criterio</a:t>
            </a:r>
            <a:endParaRPr lang="en-US" sz="1400" dirty="0"/>
          </a:p>
        </p:txBody>
      </p:sp>
      <p:sp>
        <p:nvSpPr>
          <p:cNvPr id="36" name="Text 33"/>
          <p:cNvSpPr txBox="1"/>
          <p:nvPr/>
        </p:nvSpPr>
        <p:spPr>
          <a:xfrm>
            <a:off x="9198864" y="2651760"/>
            <a:ext cx="2176272" cy="402336"/>
          </a:xfrm>
          <a:prstGeom prst="rect">
            <a:avLst/>
          </a:prstGeom>
          <a:noFill/>
          <a:ln/>
        </p:spPr>
        <p:txBody>
          <a:bodyPr wrap="square" lIns="0" tIns="0" rIns="0" bIns="0" rtlCol="0" anchor="t"/>
          <a:lstStyle/>
          <a:p>
            <a:pPr algn="l" indent="0" marL="0">
              <a:lnSpc>
                <a:spcPct val="112000"/>
              </a:lnSpc>
              <a:buNone/>
            </a:pPr>
            <a:r>
              <a:rPr lang="en-US" sz="1140" dirty="0">
                <a:solidFill>
                  <a:srgbClr val="52606D"/>
                </a:solidFill>
                <a:latin typeface="Aptos" pitchFamily="34" charset="0"/>
                <a:ea typeface="Aptos" pitchFamily="34" charset="-122"/>
                <a:cs typeface="Aptos" pitchFamily="34" charset="-120"/>
              </a:rPr>
              <a:t>lo que decide si esa salida es correcta</a:t>
            </a:r>
            <a:endParaRPr lang="en-US" sz="1140" dirty="0"/>
          </a:p>
        </p:txBody>
      </p:sp>
      <p:sp>
        <p:nvSpPr>
          <p:cNvPr id="37" name="Text 34"/>
          <p:cNvSpPr txBox="1"/>
          <p:nvPr/>
        </p:nvSpPr>
        <p:spPr>
          <a:xfrm>
            <a:off x="658368" y="3291840"/>
            <a:ext cx="10874959" cy="256032"/>
          </a:xfrm>
          <a:prstGeom prst="rect">
            <a:avLst/>
          </a:prstGeom>
          <a:noFill/>
          <a:ln/>
        </p:spPr>
        <p:txBody>
          <a:bodyPr wrap="square" lIns="0" tIns="0" rIns="0" bIns="0" rtlCol="0" anchor="t"/>
          <a:lstStyle/>
          <a:p>
            <a:pPr algn="l" indent="0" marL="0">
              <a:buNone/>
            </a:pPr>
            <a:r>
              <a:rPr lang="en-US" sz="1340" dirty="0">
                <a:solidFill>
                  <a:srgbClr val="52606D"/>
                </a:solidFill>
                <a:latin typeface="Aptos" pitchFamily="34" charset="0"/>
                <a:ea typeface="Aptos" pitchFamily="34" charset="-122"/>
                <a:cs typeface="Aptos" pitchFamily="34" charset="-120"/>
              </a:rPr>
              <a:t>Las tres primeras son fáciles de montar. La cuarta es la difícil, y tiene nombre técnico:</a:t>
            </a:r>
            <a:endParaRPr lang="en-US" sz="1340" dirty="0"/>
          </a:p>
        </p:txBody>
      </p:sp>
      <p:sp>
        <p:nvSpPr>
          <p:cNvPr id="38" name="Shape 35"/>
          <p:cNvSpPr/>
          <p:nvPr/>
        </p:nvSpPr>
        <p:spPr>
          <a:xfrm>
            <a:off x="658368" y="3657600"/>
            <a:ext cx="3200400" cy="969264"/>
          </a:xfrm>
          <a:prstGeom prst="rect">
            <a:avLst/>
          </a:prstGeom>
          <a:solidFill>
            <a:srgbClr val="255A4C"/>
          </a:solidFill>
          <a:ln w="12700">
            <a:solidFill>
              <a:srgbClr val="255A4C"/>
            </a:solidFill>
            <a:prstDash val="solid"/>
          </a:ln>
        </p:spPr>
      </p:sp>
      <p:sp>
        <p:nvSpPr>
          <p:cNvPr id="39" name="Text 36"/>
          <p:cNvSpPr txBox="1"/>
          <p:nvPr/>
        </p:nvSpPr>
        <p:spPr>
          <a:xfrm>
            <a:off x="914400" y="3840480"/>
            <a:ext cx="2743200" cy="219456"/>
          </a:xfrm>
          <a:prstGeom prst="rect">
            <a:avLst/>
          </a:prstGeom>
          <a:noFill/>
          <a:ln/>
        </p:spPr>
        <p:txBody>
          <a:bodyPr wrap="square" lIns="0" tIns="0" rIns="0" bIns="0" rtlCol="0" anchor="t"/>
          <a:lstStyle/>
          <a:p>
            <a:pPr algn="l" indent="0" marL="0">
              <a:buNone/>
            </a:pPr>
            <a:r>
              <a:rPr lang="en-US" sz="1000" b="1" spc="140" kern="0" dirty="0">
                <a:solidFill>
                  <a:srgbClr val="A9DCC9"/>
                </a:solidFill>
                <a:latin typeface="Aptos" pitchFamily="34" charset="0"/>
                <a:ea typeface="Aptos" pitchFamily="34" charset="-122"/>
                <a:cs typeface="Aptos" pitchFamily="34" charset="-120"/>
              </a:rPr>
              <a:t>BASE DE PRUEBA</a:t>
            </a:r>
            <a:endParaRPr lang="en-US" sz="1000" dirty="0"/>
          </a:p>
        </p:txBody>
      </p:sp>
      <p:sp>
        <p:nvSpPr>
          <p:cNvPr id="40" name="Text 37"/>
          <p:cNvSpPr txBox="1"/>
          <p:nvPr/>
        </p:nvSpPr>
        <p:spPr>
          <a:xfrm>
            <a:off x="914400" y="4114800"/>
            <a:ext cx="2743200" cy="329184"/>
          </a:xfrm>
          <a:prstGeom prst="rect">
            <a:avLst/>
          </a:prstGeom>
          <a:noFill/>
          <a:ln/>
        </p:spPr>
        <p:txBody>
          <a:bodyPr wrap="square" lIns="0" tIns="0" rIns="0" bIns="0" rtlCol="0" anchor="t"/>
          <a:lstStyle/>
          <a:p>
            <a:pPr algn="l" indent="0" marL="0">
              <a:buNone/>
            </a:pPr>
            <a:r>
              <a:rPr lang="en-US" sz="2100" b="1" dirty="0">
                <a:solidFill>
                  <a:srgbClr val="FFFFFF"/>
                </a:solidFill>
                <a:latin typeface="Aptos Display" pitchFamily="34" charset="0"/>
                <a:ea typeface="Aptos Display" pitchFamily="34" charset="-122"/>
                <a:cs typeface="Aptos Display" pitchFamily="34" charset="-120"/>
              </a:rPr>
              <a:t>test basis</a:t>
            </a:r>
            <a:endParaRPr lang="en-US" sz="2100" dirty="0"/>
          </a:p>
        </p:txBody>
      </p:sp>
      <p:sp>
        <p:nvSpPr>
          <p:cNvPr id="41" name="Shape 38"/>
          <p:cNvSpPr/>
          <p:nvPr/>
        </p:nvSpPr>
        <p:spPr>
          <a:xfrm>
            <a:off x="4059936" y="3657600"/>
            <a:ext cx="7470648" cy="969264"/>
          </a:xfrm>
          <a:prstGeom prst="rect">
            <a:avLst/>
          </a:prstGeom>
          <a:solidFill>
            <a:srgbClr val="F2E7D9"/>
          </a:solidFill>
          <a:ln w="12700">
            <a:solidFill>
              <a:srgbClr val="F2E7D9"/>
            </a:solidFill>
            <a:prstDash val="solid"/>
          </a:ln>
        </p:spPr>
      </p:sp>
      <p:sp>
        <p:nvSpPr>
          <p:cNvPr id="42" name="Shape 39"/>
          <p:cNvSpPr/>
          <p:nvPr/>
        </p:nvSpPr>
        <p:spPr>
          <a:xfrm>
            <a:off x="4059936" y="3657600"/>
            <a:ext cx="64008" cy="969264"/>
          </a:xfrm>
          <a:prstGeom prst="rect">
            <a:avLst/>
          </a:prstGeom>
          <a:solidFill>
            <a:srgbClr val="255A4C"/>
          </a:solidFill>
          <a:ln w="12700">
            <a:solidFill>
              <a:srgbClr val="255A4C"/>
            </a:solidFill>
            <a:prstDash val="solid"/>
          </a:ln>
        </p:spPr>
      </p:sp>
      <p:sp>
        <p:nvSpPr>
          <p:cNvPr id="43" name="Text 40"/>
          <p:cNvSpPr txBox="1"/>
          <p:nvPr/>
        </p:nvSpPr>
        <p:spPr>
          <a:xfrm>
            <a:off x="4370832" y="3785616"/>
            <a:ext cx="6903720" cy="713232"/>
          </a:xfrm>
          <a:prstGeom prst="rect">
            <a:avLst/>
          </a:prstGeom>
          <a:noFill/>
          <a:ln/>
        </p:spPr>
        <p:txBody>
          <a:bodyPr wrap="square" lIns="0" tIns="0" rIns="0" bIns="0" rtlCol="0" anchor="ctr"/>
          <a:lstStyle/>
          <a:p>
            <a:pPr algn="l" indent="0" marL="0">
              <a:lnSpc>
                <a:spcPct val="120000"/>
              </a:lnSpc>
              <a:buNone/>
            </a:pPr>
            <a:r>
              <a:rPr lang="en-US" sz="1400" i="1" dirty="0">
                <a:solidFill>
                  <a:srgbClr val="243B53"/>
                </a:solidFill>
                <a:latin typeface="Aptos" pitchFamily="34" charset="0"/>
                <a:ea typeface="Aptos" pitchFamily="34" charset="-122"/>
                <a:cs typeface="Aptos" pitchFamily="34" charset="-120"/>
              </a:rPr>
              <a:t>“La información que se usa como base para diseñar e implementar los casos de prueba.”</a:t>
            </a:r>
            <a:endParaRPr lang="en-US" sz="1400" dirty="0"/>
          </a:p>
        </p:txBody>
      </p:sp>
      <p:sp>
        <p:nvSpPr>
          <p:cNvPr id="44" name="Shape 41"/>
          <p:cNvSpPr/>
          <p:nvPr/>
        </p:nvSpPr>
        <p:spPr>
          <a:xfrm>
            <a:off x="658368" y="4754880"/>
            <a:ext cx="10874959" cy="768096"/>
          </a:xfrm>
          <a:prstGeom prst="rect">
            <a:avLst/>
          </a:prstGeom>
          <a:solidFill>
            <a:srgbClr val="F2E7D9"/>
          </a:solidFill>
          <a:ln w="12700">
            <a:solidFill>
              <a:srgbClr val="F2E7D9"/>
            </a:solidFill>
            <a:prstDash val="solid"/>
          </a:ln>
        </p:spPr>
      </p:sp>
      <p:sp>
        <p:nvSpPr>
          <p:cNvPr id="45" name="Shape 42"/>
          <p:cNvSpPr/>
          <p:nvPr/>
        </p:nvSpPr>
        <p:spPr>
          <a:xfrm>
            <a:off x="658368" y="4754880"/>
            <a:ext cx="64008" cy="768096"/>
          </a:xfrm>
          <a:prstGeom prst="rect">
            <a:avLst/>
          </a:prstGeom>
          <a:solidFill>
            <a:srgbClr val="B3181E"/>
          </a:solidFill>
          <a:ln w="12700">
            <a:solidFill>
              <a:srgbClr val="B3181E"/>
            </a:solidFill>
            <a:prstDash val="solid"/>
          </a:ln>
        </p:spPr>
      </p:sp>
      <p:sp>
        <p:nvSpPr>
          <p:cNvPr id="46" name="Text 43"/>
          <p:cNvSpPr txBox="1"/>
          <p:nvPr/>
        </p:nvSpPr>
        <p:spPr>
          <a:xfrm>
            <a:off x="969264" y="4846320"/>
            <a:ext cx="6949440" cy="219456"/>
          </a:xfrm>
          <a:prstGeom prst="rect">
            <a:avLst/>
          </a:prstGeom>
          <a:noFill/>
          <a:ln/>
        </p:spPr>
        <p:txBody>
          <a:bodyPr wrap="square" lIns="0" tIns="0" rIns="0" bIns="0" rtlCol="0" anchor="t"/>
          <a:lstStyle/>
          <a:p>
            <a:pPr algn="l" indent="0" marL="0">
              <a:buNone/>
            </a:pPr>
            <a:r>
              <a:rPr lang="en-US" sz="1160" b="1" dirty="0">
                <a:solidFill>
                  <a:srgbClr val="243B53"/>
                </a:solidFill>
                <a:latin typeface="Aptos" pitchFamily="34" charset="0"/>
                <a:ea typeface="Aptos" pitchFamily="34" charset="-122"/>
                <a:cs typeface="Aptos" pitchFamily="34" charset="-120"/>
              </a:rPr>
              <a:t>La norma agrega una advertencia en su propia definición:</a:t>
            </a:r>
            <a:endParaRPr lang="en-US" sz="1160" dirty="0"/>
          </a:p>
        </p:txBody>
      </p:sp>
      <p:sp>
        <p:nvSpPr>
          <p:cNvPr id="47" name="Text 44"/>
          <p:cNvSpPr txBox="1"/>
          <p:nvPr/>
        </p:nvSpPr>
        <p:spPr>
          <a:xfrm>
            <a:off x="969264" y="5120640"/>
            <a:ext cx="10234879" cy="292608"/>
          </a:xfrm>
          <a:prstGeom prst="rect">
            <a:avLst/>
          </a:prstGeom>
          <a:noFill/>
          <a:ln/>
        </p:spPr>
        <p:txBody>
          <a:bodyPr wrap="square" lIns="0" tIns="0" rIns="0" bIns="0" rtlCol="0" anchor="t"/>
          <a:lstStyle/>
          <a:p>
            <a:pPr algn="l" indent="0" marL="0">
              <a:buNone/>
            </a:pPr>
            <a:r>
              <a:rPr lang="en-US" sz="1360" i="1" dirty="0">
                <a:solidFill>
                  <a:srgbClr val="B3181E"/>
                </a:solidFill>
                <a:latin typeface="Aptos" pitchFamily="34" charset="0"/>
                <a:ea typeface="Aptos" pitchFamily="34" charset="-122"/>
                <a:cs typeface="Aptos" pitchFamily="34" charset="-120"/>
              </a:rPr>
              <a:t>«…pero también puede ser un entendimiento no documentado del comportamiento requerido.»</a:t>
            </a:r>
            <a:endParaRPr lang="en-US" sz="1360" dirty="0"/>
          </a:p>
        </p:txBody>
      </p:sp>
      <p:sp>
        <p:nvSpPr>
          <p:cNvPr id="48" name="Shape 45"/>
          <p:cNvSpPr/>
          <p:nvPr/>
        </p:nvSpPr>
        <p:spPr>
          <a:xfrm>
            <a:off x="658368" y="5632704"/>
            <a:ext cx="45720" cy="182880"/>
          </a:xfrm>
          <a:prstGeom prst="rect">
            <a:avLst/>
          </a:prstGeom>
          <a:solidFill>
            <a:srgbClr val="255A4C"/>
          </a:solidFill>
          <a:ln w="12700">
            <a:solidFill>
              <a:srgbClr val="255A4C"/>
            </a:solidFill>
            <a:prstDash val="solid"/>
          </a:ln>
        </p:spPr>
      </p:sp>
      <p:sp>
        <p:nvSpPr>
          <p:cNvPr id="49" name="Text 46"/>
          <p:cNvSpPr txBox="1"/>
          <p:nvPr/>
        </p:nvSpPr>
        <p:spPr>
          <a:xfrm>
            <a:off x="804672" y="5623560"/>
            <a:ext cx="640080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ISO/IEC/IEEE 29119-3:2021, cláusula 3.7 · traducción del original en inglés.</a:t>
            </a:r>
            <a:endParaRPr lang="en-US" sz="920" dirty="0"/>
          </a:p>
        </p:txBody>
      </p:sp>
      <p:sp>
        <p:nvSpPr>
          <p:cNvPr id="50" name="Shape 47"/>
          <p:cNvSpPr/>
          <p:nvPr/>
        </p:nvSpPr>
        <p:spPr>
          <a:xfrm>
            <a:off x="658368" y="5852160"/>
            <a:ext cx="10874959" cy="512064"/>
          </a:xfrm>
          <a:prstGeom prst="rect">
            <a:avLst/>
          </a:prstGeom>
          <a:solidFill>
            <a:srgbClr val="102A43"/>
          </a:solidFill>
          <a:ln w="12700">
            <a:solidFill>
              <a:srgbClr val="102A43"/>
            </a:solidFill>
            <a:prstDash val="solid"/>
          </a:ln>
        </p:spPr>
      </p:sp>
      <p:sp>
        <p:nvSpPr>
          <p:cNvPr id="51" name="Text 48"/>
          <p:cNvSpPr txBox="1"/>
          <p:nvPr/>
        </p:nvSpPr>
        <p:spPr>
          <a:xfrm>
            <a:off x="969264" y="5897880"/>
            <a:ext cx="10253167" cy="420624"/>
          </a:xfrm>
          <a:prstGeom prst="rect">
            <a:avLst/>
          </a:prstGeom>
          <a:noFill/>
          <a:ln/>
        </p:spPr>
        <p:txBody>
          <a:bodyPr wrap="square" lIns="0" tIns="0" rIns="0" bIns="0" rtlCol="0" anchor="ctr"/>
          <a:lstStyle/>
          <a:p>
            <a:pPr algn="ctr" indent="0" marL="0">
              <a:lnSpc>
                <a:spcPct val="112000"/>
              </a:lnSpc>
              <a:buNone/>
            </a:pPr>
            <a:r>
              <a:rPr lang="en-US" sz="1320" b="1" dirty="0">
                <a:solidFill>
                  <a:srgbClr val="FFFFFF"/>
                </a:solidFill>
                <a:latin typeface="Aptos" pitchFamily="34" charset="0"/>
                <a:ea typeface="Aptos" pitchFamily="34" charset="-122"/>
                <a:cs typeface="Aptos" pitchFamily="34" charset="-120"/>
              </a:rPr>
              <a:t>Muchas veces lo único contra qué comparar es lo que alguien tiene en la cabeza. La norma no lo prohíbe: lo nombra.</a:t>
            </a:r>
            <a:endParaRPr lang="en-US" sz="13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17</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EL EXPERIMENTO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2800" b="1" dirty="0">
                <a:solidFill>
                  <a:srgbClr val="243B53"/>
                </a:solidFill>
                <a:latin typeface="Aptos Display" pitchFamily="34" charset="0"/>
                <a:ea typeface="Aptos Display" pitchFamily="34" charset="-122"/>
                <a:cs typeface="Aptos Display" pitchFamily="34" charset="-120"/>
              </a:rPr>
              <a:t>Dos suites para el mismo código, con una sola diferencia</a:t>
            </a:r>
            <a:endParaRPr lang="en-US" sz="28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A un agente se le pidió la suite de pruebas de un módulo que calcula el cierre de una asignatura. La instrucción fue idéntica en los dos montajes.</a:t>
            </a:r>
            <a:endParaRPr lang="en-US" sz="1450" dirty="0"/>
          </a:p>
        </p:txBody>
      </p:sp>
      <p:sp>
        <p:nvSpPr>
          <p:cNvPr id="11" name="Shape 8"/>
          <p:cNvSpPr/>
          <p:nvPr/>
        </p:nvSpPr>
        <p:spPr>
          <a:xfrm>
            <a:off x="658368" y="2359152"/>
            <a:ext cx="10874959" cy="548640"/>
          </a:xfrm>
          <a:prstGeom prst="rect">
            <a:avLst/>
          </a:prstGeom>
          <a:solidFill>
            <a:srgbClr val="102A43"/>
          </a:solidFill>
          <a:ln w="12700">
            <a:solidFill>
              <a:srgbClr val="102A43"/>
            </a:solidFill>
            <a:prstDash val="solid"/>
          </a:ln>
        </p:spPr>
      </p:sp>
      <p:sp>
        <p:nvSpPr>
          <p:cNvPr id="12" name="Text 9"/>
          <p:cNvSpPr txBox="1"/>
          <p:nvPr/>
        </p:nvSpPr>
        <p:spPr>
          <a:xfrm>
            <a:off x="969264" y="2450592"/>
            <a:ext cx="4206240" cy="182880"/>
          </a:xfrm>
          <a:prstGeom prst="rect">
            <a:avLst/>
          </a:prstGeom>
          <a:noFill/>
          <a:ln/>
        </p:spPr>
        <p:txBody>
          <a:bodyPr wrap="square" lIns="0" tIns="0" rIns="0" bIns="0" rtlCol="0" anchor="t"/>
          <a:lstStyle/>
          <a:p>
            <a:pPr algn="l" indent="0" marL="0">
              <a:buNone/>
            </a:pPr>
            <a:r>
              <a:rPr lang="en-US" sz="900" b="1" spc="130" kern="0" dirty="0">
                <a:solidFill>
                  <a:srgbClr val="E0BC5A"/>
                </a:solidFill>
                <a:latin typeface="Aptos" pitchFamily="34" charset="0"/>
                <a:ea typeface="Aptos" pitchFamily="34" charset="-122"/>
                <a:cs typeface="Aptos" pitchFamily="34" charset="-120"/>
              </a:rPr>
              <a:t>LA MISMA INSTRUCCIÓN EN LOS DOS CASOS</a:t>
            </a:r>
            <a:endParaRPr lang="en-US" sz="900" dirty="0"/>
          </a:p>
        </p:txBody>
      </p:sp>
      <p:sp>
        <p:nvSpPr>
          <p:cNvPr id="13" name="Text 10"/>
          <p:cNvSpPr txBox="1"/>
          <p:nvPr/>
        </p:nvSpPr>
        <p:spPr>
          <a:xfrm>
            <a:off x="969264" y="2651760"/>
            <a:ext cx="10234879" cy="219456"/>
          </a:xfrm>
          <a:prstGeom prst="rect">
            <a:avLst/>
          </a:prstGeom>
          <a:noFill/>
          <a:ln/>
        </p:spPr>
        <p:txBody>
          <a:bodyPr wrap="square" lIns="0" tIns="0" rIns="0" bIns="0" rtlCol="0" anchor="t"/>
          <a:lstStyle/>
          <a:p>
            <a:pPr algn="l" indent="0" marL="0">
              <a:buNone/>
            </a:pPr>
            <a:r>
              <a:rPr lang="en-US" sz="1300" i="1" dirty="0">
                <a:solidFill>
                  <a:srgbClr val="FFFFFF"/>
                </a:solidFill>
                <a:latin typeface="Aptos" pitchFamily="34" charset="0"/>
                <a:ea typeface="Aptos" pitchFamily="34" charset="-122"/>
                <a:cs typeface="Aptos" pitchFamily="34" charset="-120"/>
              </a:rPr>
              <a:t>«Escribe pruebas unitarias con pytest para todas las funciones de src/curso.py.»</a:t>
            </a:r>
            <a:endParaRPr lang="en-US" sz="1300" dirty="0"/>
          </a:p>
        </p:txBody>
      </p:sp>
      <p:sp>
        <p:nvSpPr>
          <p:cNvPr id="14" name="Shape 11"/>
          <p:cNvSpPr/>
          <p:nvPr/>
        </p:nvSpPr>
        <p:spPr>
          <a:xfrm>
            <a:off x="658368" y="3090672"/>
            <a:ext cx="5266944" cy="2103120"/>
          </a:xfrm>
          <a:prstGeom prst="rect">
            <a:avLst/>
          </a:prstGeom>
          <a:solidFill>
            <a:srgbClr val="FFFFFF"/>
          </a:solidFill>
          <a:ln w="12700">
            <a:solidFill>
              <a:srgbClr val="FFFFFF"/>
            </a:solidFill>
            <a:prstDash val="solid"/>
          </a:ln>
        </p:spPr>
      </p:sp>
      <p:sp>
        <p:nvSpPr>
          <p:cNvPr id="15" name="Shape 12"/>
          <p:cNvSpPr/>
          <p:nvPr/>
        </p:nvSpPr>
        <p:spPr>
          <a:xfrm>
            <a:off x="658368" y="3090672"/>
            <a:ext cx="5266944" cy="64008"/>
          </a:xfrm>
          <a:prstGeom prst="rect">
            <a:avLst/>
          </a:prstGeom>
          <a:solidFill>
            <a:srgbClr val="102A43"/>
          </a:solidFill>
          <a:ln w="12700">
            <a:solidFill>
              <a:srgbClr val="102A43"/>
            </a:solidFill>
            <a:prstDash val="solid"/>
          </a:ln>
        </p:spPr>
      </p:sp>
      <p:sp>
        <p:nvSpPr>
          <p:cNvPr id="16" name="Text 13"/>
          <p:cNvSpPr txBox="1"/>
          <p:nvPr/>
        </p:nvSpPr>
        <p:spPr>
          <a:xfrm>
            <a:off x="969264" y="3273552"/>
            <a:ext cx="2743200" cy="201168"/>
          </a:xfrm>
          <a:prstGeom prst="rect">
            <a:avLst/>
          </a:prstGeom>
          <a:noFill/>
          <a:ln/>
        </p:spPr>
        <p:txBody>
          <a:bodyPr wrap="square" lIns="0" tIns="0" rIns="0" bIns="0" rtlCol="0" anchor="t"/>
          <a:lstStyle/>
          <a:p>
            <a:pPr algn="l" indent="0" marL="0">
              <a:buNone/>
            </a:pPr>
            <a:r>
              <a:rPr lang="en-US" sz="960" b="1" spc="130" kern="0" dirty="0">
                <a:solidFill>
                  <a:srgbClr val="102A43"/>
                </a:solidFill>
                <a:latin typeface="Aptos" pitchFamily="34" charset="0"/>
                <a:ea typeface="Aptos" pitchFamily="34" charset="-122"/>
                <a:cs typeface="Aptos" pitchFamily="34" charset="-120"/>
              </a:rPr>
              <a:t>PROTOCOLO A</a:t>
            </a:r>
            <a:endParaRPr lang="en-US" sz="960" dirty="0"/>
          </a:p>
        </p:txBody>
      </p:sp>
      <p:sp>
        <p:nvSpPr>
          <p:cNvPr id="17" name="Text 14"/>
          <p:cNvSpPr txBox="1"/>
          <p:nvPr/>
        </p:nvSpPr>
        <p:spPr>
          <a:xfrm>
            <a:off x="969264" y="3566160"/>
            <a:ext cx="237744" cy="237744"/>
          </a:xfrm>
          <a:prstGeom prst="rect">
            <a:avLst/>
          </a:prstGeom>
          <a:noFill/>
          <a:ln/>
        </p:spPr>
        <p:txBody>
          <a:bodyPr wrap="square" lIns="0" tIns="0" rIns="0" bIns="0" rtlCol="0" anchor="t"/>
          <a:lstStyle/>
          <a:p>
            <a:pPr algn="l" indent="0" marL="0">
              <a:buNone/>
            </a:pPr>
            <a:r>
              <a:rPr lang="en-US" sz="1100" dirty="0">
                <a:solidFill>
                  <a:srgbClr val="52606D"/>
                </a:solidFill>
                <a:latin typeface="Aptos" pitchFamily="34" charset="0"/>
                <a:ea typeface="Aptos" pitchFamily="34" charset="-122"/>
                <a:cs typeface="Aptos" pitchFamily="34" charset="-120"/>
              </a:rPr>
              <a:t>📄</a:t>
            </a:r>
            <a:endParaRPr lang="en-US" sz="1100" dirty="0"/>
          </a:p>
        </p:txBody>
      </p:sp>
      <p:sp>
        <p:nvSpPr>
          <p:cNvPr id="18" name="Text 15"/>
          <p:cNvSpPr txBox="1"/>
          <p:nvPr/>
        </p:nvSpPr>
        <p:spPr>
          <a:xfrm>
            <a:off x="1261872" y="3566160"/>
            <a:ext cx="4023360" cy="237744"/>
          </a:xfrm>
          <a:prstGeom prst="rect">
            <a:avLst/>
          </a:prstGeom>
          <a:noFill/>
          <a:ln/>
        </p:spPr>
        <p:txBody>
          <a:bodyPr wrap="square" lIns="0" tIns="0" rIns="0" bIns="0" rtlCol="0" anchor="t"/>
          <a:lstStyle/>
          <a:p>
            <a:pPr algn="l" indent="0" marL="0">
              <a:buNone/>
            </a:pPr>
            <a:r>
              <a:rPr lang="en-US" sz="1240" dirty="0">
                <a:solidFill>
                  <a:srgbClr val="52606D"/>
                </a:solidFill>
                <a:latin typeface="Consolas" pitchFamily="34" charset="0"/>
                <a:ea typeface="Consolas" pitchFamily="34" charset="-122"/>
                <a:cs typeface="Consolas" pitchFamily="34" charset="-120"/>
              </a:rPr>
              <a:t>src/curso.py</a:t>
            </a:r>
            <a:endParaRPr lang="en-US" sz="1240" dirty="0"/>
          </a:p>
        </p:txBody>
      </p:sp>
      <p:sp>
        <p:nvSpPr>
          <p:cNvPr id="19" name="Text 16"/>
          <p:cNvSpPr txBox="1"/>
          <p:nvPr/>
        </p:nvSpPr>
        <p:spPr>
          <a:xfrm>
            <a:off x="969264" y="3895344"/>
            <a:ext cx="237744" cy="237744"/>
          </a:xfrm>
          <a:prstGeom prst="rect">
            <a:avLst/>
          </a:prstGeom>
          <a:noFill/>
          <a:ln/>
        </p:spPr>
        <p:txBody>
          <a:bodyPr wrap="square" lIns="0" tIns="0" rIns="0" bIns="0" rtlCol="0" anchor="t"/>
          <a:lstStyle/>
          <a:p>
            <a:pPr algn="l" indent="0" marL="0">
              <a:buNone/>
            </a:pPr>
            <a:r>
              <a:rPr lang="en-US" sz="1100" dirty="0">
                <a:solidFill>
                  <a:srgbClr val="52606D"/>
                </a:solidFill>
                <a:latin typeface="Aptos" pitchFamily="34" charset="0"/>
                <a:ea typeface="Aptos" pitchFamily="34" charset="-122"/>
                <a:cs typeface="Aptos" pitchFamily="34" charset="-120"/>
              </a:rPr>
              <a:t>📄</a:t>
            </a:r>
            <a:endParaRPr lang="en-US" sz="1100" dirty="0"/>
          </a:p>
        </p:txBody>
      </p:sp>
      <p:sp>
        <p:nvSpPr>
          <p:cNvPr id="20" name="Text 17"/>
          <p:cNvSpPr txBox="1"/>
          <p:nvPr/>
        </p:nvSpPr>
        <p:spPr>
          <a:xfrm>
            <a:off x="1261872" y="3895344"/>
            <a:ext cx="4023360" cy="237744"/>
          </a:xfrm>
          <a:prstGeom prst="rect">
            <a:avLst/>
          </a:prstGeom>
          <a:noFill/>
          <a:ln/>
        </p:spPr>
        <p:txBody>
          <a:bodyPr wrap="square" lIns="0" tIns="0" rIns="0" bIns="0" rtlCol="0" anchor="t"/>
          <a:lstStyle/>
          <a:p>
            <a:pPr algn="l" indent="0" marL="0">
              <a:buNone/>
            </a:pPr>
            <a:r>
              <a:rPr lang="en-US" sz="1240" dirty="0">
                <a:solidFill>
                  <a:srgbClr val="52606D"/>
                </a:solidFill>
                <a:latin typeface="Consolas" pitchFamily="34" charset="0"/>
                <a:ea typeface="Consolas" pitchFamily="34" charset="-122"/>
                <a:cs typeface="Consolas" pitchFamily="34" charset="-120"/>
              </a:rPr>
              <a:t>pyproject.toml</a:t>
            </a:r>
            <a:endParaRPr lang="en-US" sz="1240" dirty="0"/>
          </a:p>
        </p:txBody>
      </p:sp>
      <p:sp>
        <p:nvSpPr>
          <p:cNvPr id="21" name="Text 18"/>
          <p:cNvSpPr txBox="1"/>
          <p:nvPr/>
        </p:nvSpPr>
        <p:spPr>
          <a:xfrm>
            <a:off x="969264" y="4700016"/>
            <a:ext cx="4645152" cy="402336"/>
          </a:xfrm>
          <a:prstGeom prst="rect">
            <a:avLst/>
          </a:prstGeom>
          <a:noFill/>
          <a:ln/>
        </p:spPr>
        <p:txBody>
          <a:bodyPr wrap="square" lIns="0" tIns="0" rIns="0" bIns="0" rtlCol="0" anchor="t"/>
          <a:lstStyle/>
          <a:p>
            <a:pPr algn="l" indent="0" marL="0">
              <a:lnSpc>
                <a:spcPct val="114000"/>
              </a:lnSpc>
              <a:buNone/>
            </a:pPr>
            <a:r>
              <a:rPr lang="en-US" sz="1220" dirty="0">
                <a:solidFill>
                  <a:srgbClr val="52606D"/>
                </a:solidFill>
                <a:latin typeface="Aptos" pitchFamily="34" charset="0"/>
                <a:ea typeface="Aptos" pitchFamily="34" charset="-122"/>
                <a:cs typeface="Aptos" pitchFamily="34" charset="-120"/>
              </a:rPr>
              <a:t>La carpeta contiene solo el código.</a:t>
            </a:r>
            <a:endParaRPr lang="en-US" sz="1220" dirty="0"/>
          </a:p>
        </p:txBody>
      </p:sp>
      <p:sp>
        <p:nvSpPr>
          <p:cNvPr id="22" name="Shape 19"/>
          <p:cNvSpPr/>
          <p:nvPr/>
        </p:nvSpPr>
        <p:spPr>
          <a:xfrm>
            <a:off x="6291072" y="3090672"/>
            <a:ext cx="5266944" cy="2103120"/>
          </a:xfrm>
          <a:prstGeom prst="rect">
            <a:avLst/>
          </a:prstGeom>
          <a:solidFill>
            <a:srgbClr val="FFFFFF"/>
          </a:solidFill>
          <a:ln w="12700">
            <a:solidFill>
              <a:srgbClr val="FFFFFF"/>
            </a:solidFill>
            <a:prstDash val="solid"/>
          </a:ln>
        </p:spPr>
      </p:sp>
      <p:sp>
        <p:nvSpPr>
          <p:cNvPr id="23" name="Shape 20"/>
          <p:cNvSpPr/>
          <p:nvPr/>
        </p:nvSpPr>
        <p:spPr>
          <a:xfrm>
            <a:off x="6291072" y="3090672"/>
            <a:ext cx="5266944" cy="64008"/>
          </a:xfrm>
          <a:prstGeom prst="rect">
            <a:avLst/>
          </a:prstGeom>
          <a:solidFill>
            <a:srgbClr val="255A4C"/>
          </a:solidFill>
          <a:ln w="12700">
            <a:solidFill>
              <a:srgbClr val="255A4C"/>
            </a:solidFill>
            <a:prstDash val="solid"/>
          </a:ln>
        </p:spPr>
      </p:sp>
      <p:sp>
        <p:nvSpPr>
          <p:cNvPr id="24" name="Text 21"/>
          <p:cNvSpPr txBox="1"/>
          <p:nvPr/>
        </p:nvSpPr>
        <p:spPr>
          <a:xfrm>
            <a:off x="6601968" y="3273552"/>
            <a:ext cx="2743200" cy="201168"/>
          </a:xfrm>
          <a:prstGeom prst="rect">
            <a:avLst/>
          </a:prstGeom>
          <a:noFill/>
          <a:ln/>
        </p:spPr>
        <p:txBody>
          <a:bodyPr wrap="square" lIns="0" tIns="0" rIns="0" bIns="0" rtlCol="0" anchor="t"/>
          <a:lstStyle/>
          <a:p>
            <a:pPr algn="l" indent="0" marL="0">
              <a:buNone/>
            </a:pPr>
            <a:r>
              <a:rPr lang="en-US" sz="960" b="1" spc="130" kern="0" dirty="0">
                <a:solidFill>
                  <a:srgbClr val="255A4C"/>
                </a:solidFill>
                <a:latin typeface="Aptos" pitchFamily="34" charset="0"/>
                <a:ea typeface="Aptos" pitchFamily="34" charset="-122"/>
                <a:cs typeface="Aptos" pitchFamily="34" charset="-120"/>
              </a:rPr>
              <a:t>PROTOCOLO B</a:t>
            </a:r>
            <a:endParaRPr lang="en-US" sz="960" dirty="0"/>
          </a:p>
        </p:txBody>
      </p:sp>
      <p:sp>
        <p:nvSpPr>
          <p:cNvPr id="25" name="Text 22"/>
          <p:cNvSpPr txBox="1"/>
          <p:nvPr/>
        </p:nvSpPr>
        <p:spPr>
          <a:xfrm>
            <a:off x="6601968" y="3566160"/>
            <a:ext cx="237744" cy="237744"/>
          </a:xfrm>
          <a:prstGeom prst="rect">
            <a:avLst/>
          </a:prstGeom>
          <a:noFill/>
          <a:ln/>
        </p:spPr>
        <p:txBody>
          <a:bodyPr wrap="square" lIns="0" tIns="0" rIns="0" bIns="0" rtlCol="0" anchor="t"/>
          <a:lstStyle/>
          <a:p>
            <a:pPr algn="l" indent="0" marL="0">
              <a:buNone/>
            </a:pPr>
            <a:r>
              <a:rPr lang="en-US" sz="1100" dirty="0">
                <a:solidFill>
                  <a:srgbClr val="52606D"/>
                </a:solidFill>
                <a:latin typeface="Aptos" pitchFamily="34" charset="0"/>
                <a:ea typeface="Aptos" pitchFamily="34" charset="-122"/>
                <a:cs typeface="Aptos" pitchFamily="34" charset="-120"/>
              </a:rPr>
              <a:t>📄</a:t>
            </a:r>
            <a:endParaRPr lang="en-US" sz="1100" dirty="0"/>
          </a:p>
        </p:txBody>
      </p:sp>
      <p:sp>
        <p:nvSpPr>
          <p:cNvPr id="26" name="Text 23"/>
          <p:cNvSpPr txBox="1"/>
          <p:nvPr/>
        </p:nvSpPr>
        <p:spPr>
          <a:xfrm>
            <a:off x="6894576" y="3566160"/>
            <a:ext cx="4023360" cy="237744"/>
          </a:xfrm>
          <a:prstGeom prst="rect">
            <a:avLst/>
          </a:prstGeom>
          <a:noFill/>
          <a:ln/>
        </p:spPr>
        <p:txBody>
          <a:bodyPr wrap="square" lIns="0" tIns="0" rIns="0" bIns="0" rtlCol="0" anchor="t"/>
          <a:lstStyle/>
          <a:p>
            <a:pPr algn="l" indent="0" marL="0">
              <a:buNone/>
            </a:pPr>
            <a:r>
              <a:rPr lang="en-US" sz="1240" dirty="0">
                <a:solidFill>
                  <a:srgbClr val="52606D"/>
                </a:solidFill>
                <a:latin typeface="Consolas" pitchFamily="34" charset="0"/>
                <a:ea typeface="Consolas" pitchFamily="34" charset="-122"/>
                <a:cs typeface="Consolas" pitchFamily="34" charset="-120"/>
              </a:rPr>
              <a:t>src/curso.py</a:t>
            </a:r>
            <a:endParaRPr lang="en-US" sz="1240" dirty="0"/>
          </a:p>
        </p:txBody>
      </p:sp>
      <p:sp>
        <p:nvSpPr>
          <p:cNvPr id="27" name="Text 24"/>
          <p:cNvSpPr txBox="1"/>
          <p:nvPr/>
        </p:nvSpPr>
        <p:spPr>
          <a:xfrm>
            <a:off x="6601968" y="3895344"/>
            <a:ext cx="237744" cy="237744"/>
          </a:xfrm>
          <a:prstGeom prst="rect">
            <a:avLst/>
          </a:prstGeom>
          <a:noFill/>
          <a:ln/>
        </p:spPr>
        <p:txBody>
          <a:bodyPr wrap="square" lIns="0" tIns="0" rIns="0" bIns="0" rtlCol="0" anchor="t"/>
          <a:lstStyle/>
          <a:p>
            <a:pPr algn="l" indent="0" marL="0">
              <a:buNone/>
            </a:pPr>
            <a:r>
              <a:rPr lang="en-US" sz="1100" dirty="0">
                <a:solidFill>
                  <a:srgbClr val="52606D"/>
                </a:solidFill>
                <a:latin typeface="Aptos" pitchFamily="34" charset="0"/>
                <a:ea typeface="Aptos" pitchFamily="34" charset="-122"/>
                <a:cs typeface="Aptos" pitchFamily="34" charset="-120"/>
              </a:rPr>
              <a:t>📄</a:t>
            </a:r>
            <a:endParaRPr lang="en-US" sz="1100" dirty="0"/>
          </a:p>
        </p:txBody>
      </p:sp>
      <p:sp>
        <p:nvSpPr>
          <p:cNvPr id="28" name="Text 25"/>
          <p:cNvSpPr txBox="1"/>
          <p:nvPr/>
        </p:nvSpPr>
        <p:spPr>
          <a:xfrm>
            <a:off x="6894576" y="3895344"/>
            <a:ext cx="4023360" cy="237744"/>
          </a:xfrm>
          <a:prstGeom prst="rect">
            <a:avLst/>
          </a:prstGeom>
          <a:noFill/>
          <a:ln/>
        </p:spPr>
        <p:txBody>
          <a:bodyPr wrap="square" lIns="0" tIns="0" rIns="0" bIns="0" rtlCol="0" anchor="t"/>
          <a:lstStyle/>
          <a:p>
            <a:pPr algn="l" indent="0" marL="0">
              <a:buNone/>
            </a:pPr>
            <a:r>
              <a:rPr lang="en-US" sz="1240" dirty="0">
                <a:solidFill>
                  <a:srgbClr val="52606D"/>
                </a:solidFill>
                <a:latin typeface="Consolas" pitchFamily="34" charset="0"/>
                <a:ea typeface="Consolas" pitchFamily="34" charset="-122"/>
                <a:cs typeface="Consolas" pitchFamily="34" charset="-120"/>
              </a:rPr>
              <a:t>pyproject.toml</a:t>
            </a:r>
            <a:endParaRPr lang="en-US" sz="1240" dirty="0"/>
          </a:p>
        </p:txBody>
      </p:sp>
      <p:sp>
        <p:nvSpPr>
          <p:cNvPr id="29" name="Shape 26"/>
          <p:cNvSpPr/>
          <p:nvPr/>
        </p:nvSpPr>
        <p:spPr>
          <a:xfrm>
            <a:off x="6510528" y="4206240"/>
            <a:ext cx="4828032" cy="384048"/>
          </a:xfrm>
          <a:prstGeom prst="rect">
            <a:avLst/>
          </a:prstGeom>
          <a:solidFill>
            <a:srgbClr val="E9F6EE"/>
          </a:solidFill>
          <a:ln w="12700">
            <a:solidFill>
              <a:srgbClr val="E9F6EE"/>
            </a:solidFill>
            <a:prstDash val="solid"/>
          </a:ln>
        </p:spPr>
      </p:sp>
      <p:sp>
        <p:nvSpPr>
          <p:cNvPr id="30" name="Text 27"/>
          <p:cNvSpPr txBox="1"/>
          <p:nvPr/>
        </p:nvSpPr>
        <p:spPr>
          <a:xfrm>
            <a:off x="6601968" y="4279392"/>
            <a:ext cx="237744" cy="237744"/>
          </a:xfrm>
          <a:prstGeom prst="rect">
            <a:avLst/>
          </a:prstGeom>
          <a:noFill/>
          <a:ln/>
        </p:spPr>
        <p:txBody>
          <a:bodyPr wrap="square" lIns="0" tIns="0" rIns="0" bIns="0" rtlCol="0" anchor="t"/>
          <a:lstStyle/>
          <a:p>
            <a:pPr algn="l" indent="0" marL="0">
              <a:buNone/>
            </a:pPr>
            <a:r>
              <a:rPr lang="en-US" sz="1100" dirty="0">
                <a:solidFill>
                  <a:srgbClr val="255A4C"/>
                </a:solidFill>
                <a:latin typeface="Aptos" pitchFamily="34" charset="0"/>
                <a:ea typeface="Aptos" pitchFamily="34" charset="-122"/>
                <a:cs typeface="Aptos" pitchFamily="34" charset="-120"/>
              </a:rPr>
              <a:t>📄</a:t>
            </a:r>
            <a:endParaRPr lang="en-US" sz="1100" dirty="0"/>
          </a:p>
        </p:txBody>
      </p:sp>
      <p:sp>
        <p:nvSpPr>
          <p:cNvPr id="31" name="Text 28"/>
          <p:cNvSpPr txBox="1"/>
          <p:nvPr/>
        </p:nvSpPr>
        <p:spPr>
          <a:xfrm>
            <a:off x="6894576" y="4279392"/>
            <a:ext cx="2194560" cy="237744"/>
          </a:xfrm>
          <a:prstGeom prst="rect">
            <a:avLst/>
          </a:prstGeom>
          <a:noFill/>
          <a:ln/>
        </p:spPr>
        <p:txBody>
          <a:bodyPr wrap="square" lIns="0" tIns="0" rIns="0" bIns="0" rtlCol="0" anchor="t"/>
          <a:lstStyle/>
          <a:p>
            <a:pPr algn="l" indent="0" marL="0">
              <a:buNone/>
            </a:pPr>
            <a:r>
              <a:rPr lang="en-US" sz="1240" b="1" dirty="0">
                <a:solidFill>
                  <a:srgbClr val="255A4C"/>
                </a:solidFill>
                <a:latin typeface="Consolas" pitchFamily="34" charset="0"/>
                <a:ea typeface="Consolas" pitchFamily="34" charset="-122"/>
                <a:cs typeface="Consolas" pitchFamily="34" charset="-120"/>
              </a:rPr>
              <a:t>REQUISITOS.md</a:t>
            </a:r>
            <a:endParaRPr lang="en-US" sz="1240" dirty="0"/>
          </a:p>
        </p:txBody>
      </p:sp>
      <p:sp>
        <p:nvSpPr>
          <p:cNvPr id="32" name="Text 29"/>
          <p:cNvSpPr txBox="1"/>
          <p:nvPr/>
        </p:nvSpPr>
        <p:spPr>
          <a:xfrm>
            <a:off x="9308592" y="4279392"/>
            <a:ext cx="1920240" cy="237744"/>
          </a:xfrm>
          <a:prstGeom prst="rect">
            <a:avLst/>
          </a:prstGeom>
          <a:noFill/>
          <a:ln/>
        </p:spPr>
        <p:txBody>
          <a:bodyPr wrap="square" lIns="0" tIns="0" rIns="0" bIns="0" rtlCol="0" anchor="t"/>
          <a:lstStyle/>
          <a:p>
            <a:pPr algn="l" indent="0" marL="0">
              <a:buNone/>
            </a:pPr>
            <a:r>
              <a:rPr lang="en-US" sz="1100" b="1" dirty="0">
                <a:solidFill>
                  <a:srgbClr val="255A4C"/>
                </a:solidFill>
                <a:latin typeface="Aptos" pitchFamily="34" charset="0"/>
                <a:ea typeface="Aptos" pitchFamily="34" charset="-122"/>
                <a:cs typeface="Aptos" pitchFamily="34" charset="-120"/>
              </a:rPr>
              <a:t>← la única diferencia</a:t>
            </a:r>
            <a:endParaRPr lang="en-US" sz="1100" dirty="0"/>
          </a:p>
        </p:txBody>
      </p:sp>
      <p:sp>
        <p:nvSpPr>
          <p:cNvPr id="33" name="Text 30"/>
          <p:cNvSpPr txBox="1"/>
          <p:nvPr/>
        </p:nvSpPr>
        <p:spPr>
          <a:xfrm>
            <a:off x="6601968" y="4700016"/>
            <a:ext cx="4645152" cy="402336"/>
          </a:xfrm>
          <a:prstGeom prst="rect">
            <a:avLst/>
          </a:prstGeom>
          <a:noFill/>
          <a:ln/>
        </p:spPr>
        <p:txBody>
          <a:bodyPr wrap="square" lIns="0" tIns="0" rIns="0" bIns="0" rtlCol="0" anchor="t"/>
          <a:lstStyle/>
          <a:p>
            <a:pPr algn="l" indent="0" marL="0">
              <a:lnSpc>
                <a:spcPct val="114000"/>
              </a:lnSpc>
              <a:buNone/>
            </a:pPr>
            <a:r>
              <a:rPr lang="en-US" sz="1220" dirty="0">
                <a:solidFill>
                  <a:srgbClr val="52606D"/>
                </a:solidFill>
                <a:latin typeface="Aptos" pitchFamily="34" charset="0"/>
                <a:ea typeface="Aptos" pitchFamily="34" charset="-122"/>
                <a:cs typeface="Aptos" pitchFamily="34" charset="-120"/>
              </a:rPr>
              <a:t>La misma carpeta, más el documento que declara la regla de negocio.</a:t>
            </a:r>
            <a:endParaRPr lang="en-US" sz="1220" dirty="0"/>
          </a:p>
        </p:txBody>
      </p:sp>
      <p:sp>
        <p:nvSpPr>
          <p:cNvPr id="34" name="Shape 31"/>
          <p:cNvSpPr/>
          <p:nvPr/>
        </p:nvSpPr>
        <p:spPr>
          <a:xfrm>
            <a:off x="658368" y="5431536"/>
            <a:ext cx="10874959" cy="566928"/>
          </a:xfrm>
          <a:prstGeom prst="rect">
            <a:avLst/>
          </a:prstGeom>
          <a:solidFill>
            <a:srgbClr val="102A43"/>
          </a:solidFill>
          <a:ln w="12700">
            <a:solidFill>
              <a:srgbClr val="102A43"/>
            </a:solidFill>
            <a:prstDash val="solid"/>
          </a:ln>
        </p:spPr>
      </p:sp>
      <p:sp>
        <p:nvSpPr>
          <p:cNvPr id="35" name="Text 32"/>
          <p:cNvSpPr txBox="1"/>
          <p:nvPr/>
        </p:nvSpPr>
        <p:spPr>
          <a:xfrm>
            <a:off x="969264" y="5477256"/>
            <a:ext cx="10253167" cy="475488"/>
          </a:xfrm>
          <a:prstGeom prst="rect">
            <a:avLst/>
          </a:prstGeom>
          <a:noFill/>
          <a:ln/>
        </p:spPr>
        <p:txBody>
          <a:bodyPr wrap="square" lIns="0" tIns="0" rIns="0" bIns="0" rtlCol="0" anchor="ctr"/>
          <a:lstStyle/>
          <a:p>
            <a:pPr algn="ctr" indent="0" marL="0">
              <a:lnSpc>
                <a:spcPct val="112000"/>
              </a:lnSpc>
              <a:buNone/>
            </a:pPr>
            <a:r>
              <a:rPr lang="en-US" sz="1440" b="1" dirty="0">
                <a:solidFill>
                  <a:srgbClr val="FFFFFF"/>
                </a:solidFill>
                <a:latin typeface="Aptos" pitchFamily="34" charset="0"/>
                <a:ea typeface="Aptos" pitchFamily="34" charset="-122"/>
                <a:cs typeface="Aptos" pitchFamily="34" charset="-120"/>
              </a:rPr>
              <a:t>Un solo archivo de diferencia: cualquier cambio en el resultado se explica por ese archivo.</a:t>
            </a:r>
            <a:endParaRPr lang="en-US" sz="144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18</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RESULTADO 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Sin el documento, el agente copió el código</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Y lo dijo. Esto lo escribió solo, arriba del archivo de pruebas, sin que nadie se lo pidiera.</a:t>
            </a:r>
            <a:endParaRPr lang="en-US" sz="1450" dirty="0"/>
          </a:p>
        </p:txBody>
      </p:sp>
      <p:sp>
        <p:nvSpPr>
          <p:cNvPr id="11" name="Shape 8"/>
          <p:cNvSpPr/>
          <p:nvPr/>
        </p:nvSpPr>
        <p:spPr>
          <a:xfrm>
            <a:off x="658368" y="2286000"/>
            <a:ext cx="5943600" cy="1188720"/>
          </a:xfrm>
          <a:prstGeom prst="roundRect">
            <a:avLst>
              <a:gd name="adj" fmla="val 3077"/>
            </a:avLst>
          </a:prstGeom>
          <a:solidFill>
            <a:srgbClr val="102A43"/>
          </a:solidFill>
          <a:ln w="12700">
            <a:solidFill>
              <a:srgbClr val="102A43"/>
            </a:solidFill>
            <a:prstDash val="solid"/>
          </a:ln>
        </p:spPr>
      </p:sp>
      <p:sp>
        <p:nvSpPr>
          <p:cNvPr id="12" name="Shape 9"/>
          <p:cNvSpPr/>
          <p:nvPr/>
        </p:nvSpPr>
        <p:spPr>
          <a:xfrm>
            <a:off x="786384" y="2395728"/>
            <a:ext cx="568756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468880"/>
            <a:ext cx="546811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tests/test_curso.py · lo primero que escribió</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5522976" cy="438912"/>
          </a:xfrm>
          <a:prstGeom prst="rect">
            <a:avLst/>
          </a:prstGeom>
        </p:spPr>
      </p:pic>
      <p:sp>
        <p:nvSpPr>
          <p:cNvPr id="15" name="Shape 11"/>
          <p:cNvSpPr/>
          <p:nvPr/>
        </p:nvSpPr>
        <p:spPr>
          <a:xfrm>
            <a:off x="6693408" y="2286000"/>
            <a:ext cx="4837176" cy="1188720"/>
          </a:xfrm>
          <a:prstGeom prst="rect">
            <a:avLst/>
          </a:prstGeom>
          <a:solidFill>
            <a:srgbClr val="E6EEF7"/>
          </a:solidFill>
          <a:ln w="12700">
            <a:solidFill>
              <a:srgbClr val="E6EEF7"/>
            </a:solidFill>
            <a:prstDash val="solid"/>
          </a:ln>
        </p:spPr>
      </p:sp>
      <p:sp>
        <p:nvSpPr>
          <p:cNvPr id="16" name="Shape 12"/>
          <p:cNvSpPr/>
          <p:nvPr/>
        </p:nvSpPr>
        <p:spPr>
          <a:xfrm>
            <a:off x="6693408" y="2286000"/>
            <a:ext cx="64008" cy="1188720"/>
          </a:xfrm>
          <a:prstGeom prst="rect">
            <a:avLst/>
          </a:prstGeom>
          <a:solidFill>
            <a:srgbClr val="102A43"/>
          </a:solidFill>
          <a:ln w="12700">
            <a:solidFill>
              <a:srgbClr val="102A43"/>
            </a:solidFill>
            <a:prstDash val="solid"/>
          </a:ln>
        </p:spPr>
      </p:sp>
      <p:sp>
        <p:nvSpPr>
          <p:cNvPr id="17" name="Text 13"/>
          <p:cNvSpPr txBox="1"/>
          <p:nvPr/>
        </p:nvSpPr>
        <p:spPr>
          <a:xfrm>
            <a:off x="7004304" y="2450592"/>
            <a:ext cx="4261104" cy="859536"/>
          </a:xfrm>
          <a:prstGeom prst="rect">
            <a:avLst/>
          </a:prstGeom>
          <a:noFill/>
          <a:ln/>
        </p:spPr>
        <p:txBody>
          <a:bodyPr wrap="square" lIns="0" tIns="0" rIns="0" bIns="0" rtlCol="0" anchor="ctr"/>
          <a:lstStyle/>
          <a:p>
            <a:pPr algn="l" indent="0" marL="0">
              <a:lnSpc>
                <a:spcPct val="116000"/>
              </a:lnSpc>
              <a:buNone/>
            </a:pPr>
            <a:r>
              <a:rPr lang="en-US" sz="1260" dirty="0">
                <a:solidFill>
                  <a:srgbClr val="243B53"/>
                </a:solidFill>
                <a:latin typeface="Aptos" pitchFamily="34" charset="0"/>
                <a:ea typeface="Aptos" pitchFamily="34" charset="-122"/>
                <a:cs typeface="Aptos" pitchFamily="34" charset="-120"/>
              </a:rPr>
              <a:t>Es una declaración correcta: su base de prueba es el propio programa que está probando.</a:t>
            </a:r>
            <a:endParaRPr lang="en-US" sz="1260" dirty="0"/>
          </a:p>
        </p:txBody>
      </p:sp>
      <p:sp>
        <p:nvSpPr>
          <p:cNvPr id="18" name="Text 14"/>
          <p:cNvSpPr txBox="1"/>
          <p:nvPr/>
        </p:nvSpPr>
        <p:spPr>
          <a:xfrm>
            <a:off x="658368" y="3602736"/>
            <a:ext cx="5943600" cy="237744"/>
          </a:xfrm>
          <a:prstGeom prst="rect">
            <a:avLst/>
          </a:prstGeom>
          <a:noFill/>
          <a:ln/>
        </p:spPr>
        <p:txBody>
          <a:bodyPr wrap="square" lIns="0" tIns="0" rIns="0" bIns="0" rtlCol="0" anchor="t"/>
          <a:lstStyle/>
          <a:p>
            <a:pPr algn="l" indent="0" marL="0">
              <a:buNone/>
            </a:pPr>
            <a:r>
              <a:rPr lang="en-US" sz="1300" b="1" dirty="0">
                <a:solidFill>
                  <a:srgbClr val="243B53"/>
                </a:solidFill>
                <a:latin typeface="Aptos" pitchFamily="34" charset="0"/>
                <a:ea typeface="Aptos" pitchFamily="34" charset="-122"/>
                <a:cs typeface="Aptos" pitchFamily="34" charset="-120"/>
              </a:rPr>
              <a:t>Y aun habiéndolo declarado, escribió esto:</a:t>
            </a:r>
            <a:endParaRPr lang="en-US" sz="1300" dirty="0"/>
          </a:p>
        </p:txBody>
      </p:sp>
      <p:sp>
        <p:nvSpPr>
          <p:cNvPr id="19" name="Shape 15"/>
          <p:cNvSpPr/>
          <p:nvPr/>
        </p:nvSpPr>
        <p:spPr>
          <a:xfrm>
            <a:off x="658368" y="3895344"/>
            <a:ext cx="5943600" cy="1225296"/>
          </a:xfrm>
          <a:prstGeom prst="roundRect">
            <a:avLst>
              <a:gd name="adj" fmla="val 2985"/>
            </a:avLst>
          </a:prstGeom>
          <a:solidFill>
            <a:srgbClr val="102A43"/>
          </a:solidFill>
          <a:ln w="12700">
            <a:solidFill>
              <a:srgbClr val="102A43"/>
            </a:solidFill>
            <a:prstDash val="solid"/>
          </a:ln>
        </p:spPr>
      </p:sp>
      <p:sp>
        <p:nvSpPr>
          <p:cNvPr id="20" name="Shape 16"/>
          <p:cNvSpPr/>
          <p:nvPr/>
        </p:nvSpPr>
        <p:spPr>
          <a:xfrm>
            <a:off x="786384" y="4005072"/>
            <a:ext cx="5687568" cy="310896"/>
          </a:xfrm>
          <a:prstGeom prst="roundRect">
            <a:avLst>
              <a:gd name="adj" fmla="val 8824"/>
            </a:avLst>
          </a:prstGeom>
          <a:solidFill>
            <a:srgbClr val="284B75"/>
          </a:solidFill>
          <a:ln w="12700">
            <a:solidFill>
              <a:srgbClr val="284B75"/>
            </a:solidFill>
            <a:prstDash val="solid"/>
          </a:ln>
        </p:spPr>
      </p:sp>
      <p:sp>
        <p:nvSpPr>
          <p:cNvPr id="21" name="Text 17"/>
          <p:cNvSpPr/>
          <p:nvPr/>
        </p:nvSpPr>
        <p:spPr>
          <a:xfrm>
            <a:off x="896112" y="4078224"/>
            <a:ext cx="546811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el RUT completo pasa a ser comportamiento esperado</a:t>
            </a:r>
            <a:endParaRPr lang="en-US" sz="1000" dirty="0"/>
          </a:p>
        </p:txBody>
      </p:sp>
      <p:pic>
        <p:nvPicPr>
          <p:cNvPr id="2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7824" y="4462272"/>
            <a:ext cx="5522976" cy="475488"/>
          </a:xfrm>
          <a:prstGeom prst="rect">
            <a:avLst/>
          </a:prstGeom>
        </p:spPr>
      </p:pic>
      <p:sp>
        <p:nvSpPr>
          <p:cNvPr id="23" name="Shape 18"/>
          <p:cNvSpPr/>
          <p:nvPr/>
        </p:nvSpPr>
        <p:spPr>
          <a:xfrm>
            <a:off x="6693408" y="3895344"/>
            <a:ext cx="4837176" cy="1371600"/>
          </a:xfrm>
          <a:prstGeom prst="roundRect">
            <a:avLst>
              <a:gd name="adj" fmla="val 2667"/>
            </a:avLst>
          </a:prstGeom>
          <a:solidFill>
            <a:srgbClr val="0F1720"/>
          </a:solidFill>
          <a:ln w="12700">
            <a:solidFill>
              <a:srgbClr val="0F1720"/>
            </a:solidFill>
            <a:prstDash val="solid"/>
          </a:ln>
        </p:spPr>
      </p:sp>
      <p:sp>
        <p:nvSpPr>
          <p:cNvPr id="24" name="Shape 19"/>
          <p:cNvSpPr/>
          <p:nvPr/>
        </p:nvSpPr>
        <p:spPr>
          <a:xfrm>
            <a:off x="6821424" y="4005072"/>
            <a:ext cx="4581144" cy="310896"/>
          </a:xfrm>
          <a:prstGeom prst="roundRect">
            <a:avLst>
              <a:gd name="adj" fmla="val 8824"/>
            </a:avLst>
          </a:prstGeom>
          <a:solidFill>
            <a:srgbClr val="1E2937"/>
          </a:solidFill>
          <a:ln w="12700">
            <a:solidFill>
              <a:srgbClr val="1E2937"/>
            </a:solidFill>
            <a:prstDash val="solid"/>
          </a:ln>
        </p:spPr>
      </p:sp>
      <p:sp>
        <p:nvSpPr>
          <p:cNvPr id="25" name="Text 20"/>
          <p:cNvSpPr/>
          <p:nvPr/>
        </p:nvSpPr>
        <p:spPr>
          <a:xfrm>
            <a:off x="6949440" y="4078224"/>
            <a:ext cx="4325112"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PowerShell · resultado de la suite</a:t>
            </a:r>
            <a:endParaRPr lang="en-US" sz="1000" dirty="0"/>
          </a:p>
        </p:txBody>
      </p:sp>
      <p:sp>
        <p:nvSpPr>
          <p:cNvPr id="26" name="Text 21"/>
          <p:cNvSpPr/>
          <p:nvPr/>
        </p:nvSpPr>
        <p:spPr>
          <a:xfrm>
            <a:off x="6912864" y="4462272"/>
            <a:ext cx="329184" cy="164592"/>
          </a:xfrm>
          <a:prstGeom prst="rect">
            <a:avLst/>
          </a:prstGeom>
          <a:noFill/>
          <a:ln/>
        </p:spPr>
        <p:txBody>
          <a:bodyPr wrap="square" lIns="0" tIns="0" rIns="0" bIns="0" rtlCol="0" anchor="ctr"/>
          <a:lstStyle/>
          <a:p>
            <a:pPr indent="0" marL="0">
              <a:buNone/>
            </a:pPr>
            <a:r>
              <a:rPr lang="en-US" sz="1060" b="1" dirty="0">
                <a:solidFill>
                  <a:srgbClr val="E0BC5A"/>
                </a:solidFill>
                <a:latin typeface="Consolas" pitchFamily="34" charset="0"/>
                <a:ea typeface="Consolas" pitchFamily="34" charset="-122"/>
                <a:cs typeface="Consolas" pitchFamily="34" charset="-120"/>
              </a:rPr>
              <a:t>&gt;</a:t>
            </a:r>
            <a:endParaRPr lang="en-US" sz="1060" dirty="0"/>
          </a:p>
        </p:txBody>
      </p:sp>
      <p:sp>
        <p:nvSpPr>
          <p:cNvPr id="27" name="Text 22"/>
          <p:cNvSpPr/>
          <p:nvPr/>
        </p:nvSpPr>
        <p:spPr>
          <a:xfrm>
            <a:off x="7223760" y="4462272"/>
            <a:ext cx="4087368" cy="164592"/>
          </a:xfrm>
          <a:prstGeom prst="rect">
            <a:avLst/>
          </a:prstGeom>
          <a:noFill/>
          <a:ln/>
        </p:spPr>
        <p:txBody>
          <a:bodyPr wrap="square" lIns="0" tIns="0" rIns="0" bIns="0" rtlCol="0" anchor="ctr"/>
          <a:lstStyle/>
          <a:p>
            <a:pPr indent="0" marL="0">
              <a:buNone/>
            </a:pPr>
            <a:r>
              <a:rPr lang="en-US" sz="1060" dirty="0">
                <a:solidFill>
                  <a:srgbClr val="E6EEF7"/>
                </a:solidFill>
                <a:latin typeface="Consolas" pitchFamily="34" charset="0"/>
                <a:ea typeface="Consolas" pitchFamily="34" charset="-122"/>
                <a:cs typeface="Consolas" pitchFamily="34" charset="-120"/>
              </a:rPr>
              <a:t>uv run pytest -q</a:t>
            </a:r>
            <a:endParaRPr lang="en-US" sz="1060" dirty="0"/>
          </a:p>
        </p:txBody>
      </p:sp>
      <p:sp>
        <p:nvSpPr>
          <p:cNvPr id="28" name="Text 23"/>
          <p:cNvSpPr/>
          <p:nvPr/>
        </p:nvSpPr>
        <p:spPr>
          <a:xfrm>
            <a:off x="6912864" y="4718304"/>
            <a:ext cx="4087368" cy="164592"/>
          </a:xfrm>
          <a:prstGeom prst="rect">
            <a:avLst/>
          </a:prstGeom>
          <a:noFill/>
          <a:ln/>
        </p:spPr>
        <p:txBody>
          <a:bodyPr wrap="square" lIns="0" tIns="0" rIns="0" bIns="0" rtlCol="0" anchor="ctr"/>
          <a:lstStyle/>
          <a:p>
            <a:pPr indent="0" marL="0">
              <a:buNone/>
            </a:pPr>
            <a:r>
              <a:rPr lang="en-US" sz="1060" dirty="0">
                <a:solidFill>
                  <a:srgbClr val="E6EEF7"/>
                </a:solidFill>
                <a:latin typeface="Consolas" pitchFamily="34" charset="0"/>
                <a:ea typeface="Consolas" pitchFamily="34" charset="-122"/>
                <a:cs typeface="Consolas" pitchFamily="34" charset="-120"/>
              </a:rPr>
              <a:t>........................................</a:t>
            </a:r>
            <a:endParaRPr lang="en-US" sz="1060" dirty="0"/>
          </a:p>
        </p:txBody>
      </p:sp>
      <p:sp>
        <p:nvSpPr>
          <p:cNvPr id="29" name="Text 24"/>
          <p:cNvSpPr/>
          <p:nvPr/>
        </p:nvSpPr>
        <p:spPr>
          <a:xfrm>
            <a:off x="6912864" y="4974336"/>
            <a:ext cx="4087368" cy="164592"/>
          </a:xfrm>
          <a:prstGeom prst="rect">
            <a:avLst/>
          </a:prstGeom>
          <a:noFill/>
          <a:ln/>
        </p:spPr>
        <p:txBody>
          <a:bodyPr wrap="square" lIns="0" tIns="0" rIns="0" bIns="0" rtlCol="0" anchor="ctr"/>
          <a:lstStyle/>
          <a:p>
            <a:pPr indent="0" marL="0">
              <a:buNone/>
            </a:pPr>
            <a:r>
              <a:rPr lang="en-US" sz="1060" dirty="0">
                <a:solidFill>
                  <a:srgbClr val="E6EEF7"/>
                </a:solidFill>
                <a:latin typeface="Consolas" pitchFamily="34" charset="0"/>
                <a:ea typeface="Consolas" pitchFamily="34" charset="-122"/>
                <a:cs typeface="Consolas" pitchFamily="34" charset="-120"/>
              </a:rPr>
              <a:t>42 passed in 0.11s</a:t>
            </a:r>
            <a:endParaRPr lang="en-US" sz="1060" dirty="0"/>
          </a:p>
        </p:txBody>
      </p:sp>
      <p:sp>
        <p:nvSpPr>
          <p:cNvPr id="30" name="Shape 25"/>
          <p:cNvSpPr/>
          <p:nvPr/>
        </p:nvSpPr>
        <p:spPr>
          <a:xfrm>
            <a:off x="658368" y="5376672"/>
            <a:ext cx="10874959" cy="457200"/>
          </a:xfrm>
          <a:prstGeom prst="rect">
            <a:avLst/>
          </a:prstGeom>
          <a:solidFill>
            <a:srgbClr val="F2E7D9"/>
          </a:solidFill>
          <a:ln w="12700">
            <a:solidFill>
              <a:srgbClr val="F2E7D9"/>
            </a:solidFill>
            <a:prstDash val="solid"/>
          </a:ln>
        </p:spPr>
      </p:sp>
      <p:sp>
        <p:nvSpPr>
          <p:cNvPr id="31" name="Text 26"/>
          <p:cNvSpPr txBox="1"/>
          <p:nvPr/>
        </p:nvSpPr>
        <p:spPr>
          <a:xfrm>
            <a:off x="969264" y="5468112"/>
            <a:ext cx="10253167" cy="292608"/>
          </a:xfrm>
          <a:prstGeom prst="rect">
            <a:avLst/>
          </a:prstGeom>
          <a:noFill/>
          <a:ln/>
        </p:spPr>
        <p:txBody>
          <a:bodyPr wrap="square" lIns="0" tIns="0" rIns="0" bIns="0" rtlCol="0" anchor="t"/>
          <a:lstStyle/>
          <a:p>
            <a:pPr algn="ctr" indent="0" marL="0">
              <a:buNone/>
            </a:pPr>
            <a:r>
              <a:rPr lang="en-US" sz="1320" dirty="0">
                <a:solidFill>
                  <a:srgbClr val="243B53"/>
                </a:solidFill>
                <a:latin typeface="Aptos" pitchFamily="34" charset="0"/>
                <a:ea typeface="Aptos" pitchFamily="34" charset="-122"/>
                <a:cs typeface="Aptos" pitchFamily="34" charset="-120"/>
              </a:rPr>
              <a:t>Cuarenta y dos pruebas, ninguna falla. Y hay una razón estructural para que sea así.</a:t>
            </a:r>
            <a:endParaRPr lang="en-US" sz="1320" dirty="0"/>
          </a:p>
        </p:txBody>
      </p:sp>
      <p:sp>
        <p:nvSpPr>
          <p:cNvPr id="32" name="Shape 27"/>
          <p:cNvSpPr/>
          <p:nvPr/>
        </p:nvSpPr>
        <p:spPr>
          <a:xfrm>
            <a:off x="658368" y="5907024"/>
            <a:ext cx="10874959" cy="493776"/>
          </a:xfrm>
          <a:prstGeom prst="rect">
            <a:avLst/>
          </a:prstGeom>
          <a:solidFill>
            <a:srgbClr val="102A43"/>
          </a:solidFill>
          <a:ln w="12700">
            <a:solidFill>
              <a:srgbClr val="102A43"/>
            </a:solidFill>
            <a:prstDash val="solid"/>
          </a:ln>
        </p:spPr>
      </p:sp>
      <p:sp>
        <p:nvSpPr>
          <p:cNvPr id="33" name="Text 28"/>
          <p:cNvSpPr txBox="1"/>
          <p:nvPr/>
        </p:nvSpPr>
        <p:spPr>
          <a:xfrm>
            <a:off x="969264" y="5952744"/>
            <a:ext cx="10253167" cy="402336"/>
          </a:xfrm>
          <a:prstGeom prst="rect">
            <a:avLst/>
          </a:prstGeom>
          <a:noFill/>
          <a:ln/>
        </p:spPr>
        <p:txBody>
          <a:bodyPr wrap="square" lIns="0" tIns="0" rIns="0" bIns="0" rtlCol="0" anchor="ctr"/>
          <a:lstStyle/>
          <a:p>
            <a:pPr algn="ctr" indent="0" marL="0">
              <a:lnSpc>
                <a:spcPct val="112000"/>
              </a:lnSpc>
              <a:buNone/>
            </a:pPr>
            <a:r>
              <a:rPr lang="en-US" sz="1320" b="1" dirty="0">
                <a:solidFill>
                  <a:srgbClr val="FFFFFF"/>
                </a:solidFill>
                <a:latin typeface="Aptos" pitchFamily="34" charset="0"/>
                <a:ea typeface="Aptos" pitchFamily="34" charset="-122"/>
                <a:cs typeface="Aptos" pitchFamily="34" charset="-120"/>
              </a:rPr>
              <a:t>Si la base de prueba es el código, la suite no puede estar en desacuerdo con el código: está copiando sus respuestas.</a:t>
            </a:r>
            <a:endParaRPr lang="en-US" sz="13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19</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RESULTADO B</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Con el documento apareció un rojo, y estaba equivocado</a:t>
            </a:r>
            <a:endParaRPr lang="en-US" sz="3000" dirty="0"/>
          </a:p>
        </p:txBody>
      </p:sp>
      <p:sp>
        <p:nvSpPr>
          <p:cNvPr id="10" name="Shape 7"/>
          <p:cNvSpPr/>
          <p:nvPr/>
        </p:nvSpPr>
        <p:spPr>
          <a:xfrm>
            <a:off x="658368" y="2048256"/>
            <a:ext cx="5943600" cy="1371600"/>
          </a:xfrm>
          <a:prstGeom prst="roundRect">
            <a:avLst>
              <a:gd name="adj" fmla="val 2667"/>
            </a:avLst>
          </a:prstGeom>
          <a:solidFill>
            <a:srgbClr val="0F1720"/>
          </a:solidFill>
          <a:ln w="12700">
            <a:solidFill>
              <a:srgbClr val="0F1720"/>
            </a:solidFill>
            <a:prstDash val="solid"/>
          </a:ln>
        </p:spPr>
      </p:sp>
      <p:sp>
        <p:nvSpPr>
          <p:cNvPr id="11" name="Shape 8"/>
          <p:cNvSpPr/>
          <p:nvPr/>
        </p:nvSpPr>
        <p:spPr>
          <a:xfrm>
            <a:off x="786384" y="2157984"/>
            <a:ext cx="5687568" cy="310896"/>
          </a:xfrm>
          <a:prstGeom prst="roundRect">
            <a:avLst>
              <a:gd name="adj" fmla="val 8824"/>
            </a:avLst>
          </a:prstGeom>
          <a:solidFill>
            <a:srgbClr val="1E2937"/>
          </a:solidFill>
          <a:ln w="12700">
            <a:solidFill>
              <a:srgbClr val="1E2937"/>
            </a:solidFill>
            <a:prstDash val="solid"/>
          </a:ln>
        </p:spPr>
      </p:sp>
      <p:sp>
        <p:nvSpPr>
          <p:cNvPr id="12" name="Text 9"/>
          <p:cNvSpPr/>
          <p:nvPr/>
        </p:nvSpPr>
        <p:spPr>
          <a:xfrm>
            <a:off x="914400" y="2231136"/>
            <a:ext cx="5431536"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PowerShell · resultado de la suite</a:t>
            </a:r>
            <a:endParaRPr lang="en-US" sz="1000" dirty="0"/>
          </a:p>
        </p:txBody>
      </p:sp>
      <p:sp>
        <p:nvSpPr>
          <p:cNvPr id="13" name="Text 10"/>
          <p:cNvSpPr/>
          <p:nvPr/>
        </p:nvSpPr>
        <p:spPr>
          <a:xfrm>
            <a:off x="877824" y="2615184"/>
            <a:ext cx="329184" cy="164592"/>
          </a:xfrm>
          <a:prstGeom prst="rect">
            <a:avLst/>
          </a:prstGeom>
          <a:noFill/>
          <a:ln/>
        </p:spPr>
        <p:txBody>
          <a:bodyPr wrap="square" lIns="0" tIns="0" rIns="0" bIns="0" rtlCol="0" anchor="ctr"/>
          <a:lstStyle/>
          <a:p>
            <a:pPr indent="0" marL="0">
              <a:buNone/>
            </a:pPr>
            <a:r>
              <a:rPr lang="en-US" sz="1040" b="1" dirty="0">
                <a:solidFill>
                  <a:srgbClr val="E0BC5A"/>
                </a:solidFill>
                <a:latin typeface="Consolas" pitchFamily="34" charset="0"/>
                <a:ea typeface="Consolas" pitchFamily="34" charset="-122"/>
                <a:cs typeface="Consolas" pitchFamily="34" charset="-120"/>
              </a:rPr>
              <a:t>&gt;</a:t>
            </a:r>
            <a:endParaRPr lang="en-US" sz="1040" dirty="0"/>
          </a:p>
        </p:txBody>
      </p:sp>
      <p:sp>
        <p:nvSpPr>
          <p:cNvPr id="14" name="Text 11"/>
          <p:cNvSpPr/>
          <p:nvPr/>
        </p:nvSpPr>
        <p:spPr>
          <a:xfrm>
            <a:off x="1188720" y="2615184"/>
            <a:ext cx="5193792" cy="164592"/>
          </a:xfrm>
          <a:prstGeom prst="rect">
            <a:avLst/>
          </a:prstGeom>
          <a:noFill/>
          <a:ln/>
        </p:spPr>
        <p:txBody>
          <a:bodyPr wrap="square" lIns="0" tIns="0" rIns="0" bIns="0" rtlCol="0" anchor="ctr"/>
          <a:lstStyle/>
          <a:p>
            <a:pPr indent="0" marL="0">
              <a:buNone/>
            </a:pPr>
            <a:r>
              <a:rPr lang="en-US" sz="1040" dirty="0">
                <a:solidFill>
                  <a:srgbClr val="E6EEF7"/>
                </a:solidFill>
                <a:latin typeface="Consolas" pitchFamily="34" charset="0"/>
                <a:ea typeface="Consolas" pitchFamily="34" charset="-122"/>
                <a:cs typeface="Consolas" pitchFamily="34" charset="-120"/>
              </a:rPr>
              <a:t>uv run pytest -q</a:t>
            </a:r>
            <a:endParaRPr lang="en-US" sz="1040" dirty="0"/>
          </a:p>
        </p:txBody>
      </p:sp>
      <p:sp>
        <p:nvSpPr>
          <p:cNvPr id="15" name="Text 12"/>
          <p:cNvSpPr/>
          <p:nvPr/>
        </p:nvSpPr>
        <p:spPr>
          <a:xfrm>
            <a:off x="877824" y="2871216"/>
            <a:ext cx="5193792" cy="164592"/>
          </a:xfrm>
          <a:prstGeom prst="rect">
            <a:avLst/>
          </a:prstGeom>
          <a:noFill/>
          <a:ln/>
        </p:spPr>
        <p:txBody>
          <a:bodyPr wrap="square" lIns="0" tIns="0" rIns="0" bIns="0" rtlCol="0" anchor="ctr"/>
          <a:lstStyle/>
          <a:p>
            <a:pPr indent="0" marL="0">
              <a:buNone/>
            </a:pPr>
            <a:r>
              <a:rPr lang="en-US" sz="1040" dirty="0">
                <a:solidFill>
                  <a:srgbClr val="8AA0B6"/>
                </a:solidFill>
                <a:latin typeface="Consolas" pitchFamily="34" charset="0"/>
                <a:ea typeface="Consolas" pitchFamily="34" charset="-122"/>
                <a:cs typeface="Consolas" pitchFamily="34" charset="-120"/>
              </a:rPr>
              <a:t>FAILED test_curso.py::test_tabla_de_decision</a:t>
            </a:r>
            <a:endParaRPr lang="en-US" sz="1040" dirty="0"/>
          </a:p>
        </p:txBody>
      </p:sp>
      <p:sp>
        <p:nvSpPr>
          <p:cNvPr id="16" name="Text 13"/>
          <p:cNvSpPr/>
          <p:nvPr/>
        </p:nvSpPr>
        <p:spPr>
          <a:xfrm>
            <a:off x="877824" y="3127248"/>
            <a:ext cx="5193792" cy="164592"/>
          </a:xfrm>
          <a:prstGeom prst="rect">
            <a:avLst/>
          </a:prstGeom>
          <a:noFill/>
          <a:ln/>
        </p:spPr>
        <p:txBody>
          <a:bodyPr wrap="square" lIns="0" tIns="0" rIns="0" bIns="0" rtlCol="0" anchor="ctr"/>
          <a:lstStyle/>
          <a:p>
            <a:pPr indent="0" marL="0">
              <a:buNone/>
            </a:pPr>
            <a:r>
              <a:rPr lang="en-US" sz="1040" dirty="0">
                <a:solidFill>
                  <a:srgbClr val="E6EEF7"/>
                </a:solidFill>
                <a:latin typeface="Consolas" pitchFamily="34" charset="0"/>
                <a:ea typeface="Consolas" pitchFamily="34" charset="-122"/>
                <a:cs typeface="Consolas" pitchFamily="34" charset="-120"/>
              </a:rPr>
              <a:t>1 failed, 42 passed in 0.19s</a:t>
            </a:r>
            <a:endParaRPr lang="en-US" sz="1040" dirty="0"/>
          </a:p>
        </p:txBody>
      </p:sp>
      <p:sp>
        <p:nvSpPr>
          <p:cNvPr id="17" name="Shape 14"/>
          <p:cNvSpPr/>
          <p:nvPr/>
        </p:nvSpPr>
        <p:spPr>
          <a:xfrm>
            <a:off x="6693408" y="2048256"/>
            <a:ext cx="4837176" cy="1097280"/>
          </a:xfrm>
          <a:prstGeom prst="roundRect">
            <a:avLst>
              <a:gd name="adj" fmla="val 3333"/>
            </a:avLst>
          </a:prstGeom>
          <a:solidFill>
            <a:srgbClr val="102A43"/>
          </a:solidFill>
          <a:ln w="12700">
            <a:solidFill>
              <a:srgbClr val="102A43"/>
            </a:solidFill>
            <a:prstDash val="solid"/>
          </a:ln>
        </p:spPr>
      </p:sp>
      <p:sp>
        <p:nvSpPr>
          <p:cNvPr id="18" name="Shape 15"/>
          <p:cNvSpPr/>
          <p:nvPr/>
        </p:nvSpPr>
        <p:spPr>
          <a:xfrm>
            <a:off x="6821424" y="2157984"/>
            <a:ext cx="4581144" cy="310896"/>
          </a:xfrm>
          <a:prstGeom prst="roundRect">
            <a:avLst>
              <a:gd name="adj" fmla="val 8824"/>
            </a:avLst>
          </a:prstGeom>
          <a:solidFill>
            <a:srgbClr val="284B75"/>
          </a:solidFill>
          <a:ln w="12700">
            <a:solidFill>
              <a:srgbClr val="284B75"/>
            </a:solidFill>
            <a:prstDash val="solid"/>
          </a:ln>
        </p:spPr>
      </p:sp>
      <p:sp>
        <p:nvSpPr>
          <p:cNvPr id="19" name="Text 16"/>
          <p:cNvSpPr/>
          <p:nvPr/>
        </p:nvSpPr>
        <p:spPr>
          <a:xfrm>
            <a:off x="6931152" y="2231136"/>
            <a:ext cx="4361688"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el caso que dio rojo</a:t>
            </a:r>
            <a:endParaRPr lang="en-US" sz="1000" dirty="0"/>
          </a:p>
        </p:txBody>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12864" y="2615184"/>
            <a:ext cx="4416552" cy="347472"/>
          </a:xfrm>
          <a:prstGeom prst="rect">
            <a:avLst/>
          </a:prstGeom>
        </p:spPr>
      </p:pic>
      <p:sp>
        <p:nvSpPr>
          <p:cNvPr id="21" name="Text 17"/>
          <p:cNvSpPr txBox="1"/>
          <p:nvPr/>
        </p:nvSpPr>
        <p:spPr>
          <a:xfrm>
            <a:off x="658368" y="3547872"/>
            <a:ext cx="10607040" cy="237744"/>
          </a:xfrm>
          <a:prstGeom prst="rect">
            <a:avLst/>
          </a:prstGeom>
          <a:noFill/>
          <a:ln/>
        </p:spPr>
        <p:txBody>
          <a:bodyPr wrap="square" lIns="0" tIns="0" rIns="0" bIns="0" rtlCol="0" anchor="t"/>
          <a:lstStyle/>
          <a:p>
            <a:pPr algn="l" indent="0" marL="0">
              <a:buNone/>
            </a:pPr>
            <a:r>
              <a:rPr lang="en-US" sz="1360" b="1" dirty="0">
                <a:solidFill>
                  <a:srgbClr val="243B53"/>
                </a:solidFill>
                <a:latin typeface="Aptos" pitchFamily="34" charset="0"/>
                <a:ea typeface="Aptos" pitchFamily="34" charset="-122"/>
                <a:cs typeface="Aptos" pitchFamily="34" charset="-120"/>
              </a:rPr>
              <a:t>Pero el código tiene razón y la prueba está mal. Esta es la cuenta:</a:t>
            </a:r>
            <a:endParaRPr lang="en-US" sz="1360" dirty="0"/>
          </a:p>
        </p:txBody>
      </p:sp>
      <p:sp>
        <p:nvSpPr>
          <p:cNvPr id="22" name="Shape 18"/>
          <p:cNvSpPr/>
          <p:nvPr/>
        </p:nvSpPr>
        <p:spPr>
          <a:xfrm>
            <a:off x="658368" y="3858768"/>
            <a:ext cx="3456432" cy="768096"/>
          </a:xfrm>
          <a:prstGeom prst="rect">
            <a:avLst/>
          </a:prstGeom>
          <a:solidFill>
            <a:srgbClr val="FFFFFF"/>
          </a:solidFill>
          <a:ln w="12700">
            <a:solidFill>
              <a:srgbClr val="FFFFFF"/>
            </a:solidFill>
            <a:prstDash val="solid"/>
          </a:ln>
        </p:spPr>
      </p:sp>
      <p:sp>
        <p:nvSpPr>
          <p:cNvPr id="23" name="Shape 19"/>
          <p:cNvSpPr/>
          <p:nvPr/>
        </p:nvSpPr>
        <p:spPr>
          <a:xfrm>
            <a:off x="658368" y="3858768"/>
            <a:ext cx="3456432" cy="45720"/>
          </a:xfrm>
          <a:prstGeom prst="rect">
            <a:avLst/>
          </a:prstGeom>
          <a:solidFill>
            <a:srgbClr val="52606D"/>
          </a:solidFill>
          <a:ln w="12700">
            <a:solidFill>
              <a:srgbClr val="52606D"/>
            </a:solidFill>
            <a:prstDash val="solid"/>
          </a:ln>
        </p:spPr>
      </p:sp>
      <p:sp>
        <p:nvSpPr>
          <p:cNvPr id="24" name="Text 20"/>
          <p:cNvSpPr txBox="1"/>
          <p:nvPr/>
        </p:nvSpPr>
        <p:spPr>
          <a:xfrm>
            <a:off x="877824" y="3968496"/>
            <a:ext cx="3017520" cy="274320"/>
          </a:xfrm>
          <a:prstGeom prst="rect">
            <a:avLst/>
          </a:prstGeom>
          <a:noFill/>
          <a:ln/>
        </p:spPr>
        <p:txBody>
          <a:bodyPr wrap="square" lIns="0" tIns="0" rIns="0" bIns="0" rtlCol="0" anchor="t"/>
          <a:lstStyle/>
          <a:p>
            <a:pPr algn="l" indent="0" marL="0">
              <a:buNone/>
            </a:pPr>
            <a:r>
              <a:rPr lang="en-US" sz="1140" dirty="0">
                <a:solidFill>
                  <a:srgbClr val="52606D"/>
                </a:solidFill>
                <a:latin typeface="Aptos" pitchFamily="34" charset="0"/>
                <a:ea typeface="Aptos" pitchFamily="34" charset="-122"/>
                <a:cs typeface="Aptos" pitchFamily="34" charset="-120"/>
              </a:rPr>
              <a:t>Promedio de 4,0 y 3,9</a:t>
            </a:r>
            <a:endParaRPr lang="en-US" sz="1140" dirty="0"/>
          </a:p>
        </p:txBody>
      </p:sp>
      <p:sp>
        <p:nvSpPr>
          <p:cNvPr id="25" name="Text 21"/>
          <p:cNvSpPr txBox="1"/>
          <p:nvPr/>
        </p:nvSpPr>
        <p:spPr>
          <a:xfrm>
            <a:off x="877824" y="4242816"/>
            <a:ext cx="3017520" cy="310896"/>
          </a:xfrm>
          <a:prstGeom prst="rect">
            <a:avLst/>
          </a:prstGeom>
          <a:noFill/>
          <a:ln/>
        </p:spPr>
        <p:txBody>
          <a:bodyPr wrap="square" lIns="0" tIns="0" rIns="0" bIns="0" rtlCol="0" anchor="t"/>
          <a:lstStyle/>
          <a:p>
            <a:pPr algn="l" indent="0" marL="0">
              <a:buNone/>
            </a:pPr>
            <a:r>
              <a:rPr lang="en-US" sz="1900" b="1" dirty="0">
                <a:solidFill>
                  <a:srgbClr val="52606D"/>
                </a:solidFill>
                <a:latin typeface="Aptos Display" pitchFamily="34" charset="0"/>
                <a:ea typeface="Aptos Display" pitchFamily="34" charset="-122"/>
                <a:cs typeface="Aptos Display" pitchFamily="34" charset="-120"/>
              </a:rPr>
              <a:t>3,95</a:t>
            </a:r>
            <a:endParaRPr lang="en-US" sz="1900" dirty="0"/>
          </a:p>
        </p:txBody>
      </p:sp>
      <p:sp>
        <p:nvSpPr>
          <p:cNvPr id="26" name="Shape 22"/>
          <p:cNvSpPr/>
          <p:nvPr/>
        </p:nvSpPr>
        <p:spPr>
          <a:xfrm>
            <a:off x="4133088" y="4242816"/>
            <a:ext cx="201168" cy="0"/>
          </a:xfrm>
          <a:prstGeom prst="line">
            <a:avLst/>
          </a:prstGeom>
          <a:noFill/>
          <a:ln w="12700">
            <a:solidFill>
              <a:srgbClr val="52606D"/>
            </a:solidFill>
            <a:prstDash val="solid"/>
            <a:headEnd type="none"/>
            <a:tailEnd type="triangle"/>
          </a:ln>
        </p:spPr>
      </p:sp>
      <p:sp>
        <p:nvSpPr>
          <p:cNvPr id="27" name="Shape 23"/>
          <p:cNvSpPr/>
          <p:nvPr/>
        </p:nvSpPr>
        <p:spPr>
          <a:xfrm>
            <a:off x="4370832" y="3858768"/>
            <a:ext cx="3456432" cy="768096"/>
          </a:xfrm>
          <a:prstGeom prst="rect">
            <a:avLst/>
          </a:prstGeom>
          <a:solidFill>
            <a:srgbClr val="FFFFFF"/>
          </a:solidFill>
          <a:ln w="12700">
            <a:solidFill>
              <a:srgbClr val="FFFFFF"/>
            </a:solidFill>
            <a:prstDash val="solid"/>
          </a:ln>
        </p:spPr>
      </p:sp>
      <p:sp>
        <p:nvSpPr>
          <p:cNvPr id="28" name="Shape 24"/>
          <p:cNvSpPr/>
          <p:nvPr/>
        </p:nvSpPr>
        <p:spPr>
          <a:xfrm>
            <a:off x="4370832" y="3858768"/>
            <a:ext cx="3456432" cy="45720"/>
          </a:xfrm>
          <a:prstGeom prst="rect">
            <a:avLst/>
          </a:prstGeom>
          <a:solidFill>
            <a:srgbClr val="255A4C"/>
          </a:solidFill>
          <a:ln w="12700">
            <a:solidFill>
              <a:srgbClr val="255A4C"/>
            </a:solidFill>
            <a:prstDash val="solid"/>
          </a:ln>
        </p:spPr>
      </p:sp>
      <p:sp>
        <p:nvSpPr>
          <p:cNvPr id="29" name="Text 25"/>
          <p:cNvSpPr txBox="1"/>
          <p:nvPr/>
        </p:nvSpPr>
        <p:spPr>
          <a:xfrm>
            <a:off x="4590288" y="3968496"/>
            <a:ext cx="3017520" cy="274320"/>
          </a:xfrm>
          <a:prstGeom prst="rect">
            <a:avLst/>
          </a:prstGeom>
          <a:noFill/>
          <a:ln/>
        </p:spPr>
        <p:txBody>
          <a:bodyPr wrap="square" lIns="0" tIns="0" rIns="0" bIns="0" rtlCol="0" anchor="t"/>
          <a:lstStyle/>
          <a:p>
            <a:pPr algn="l" indent="0" marL="0">
              <a:buNone/>
            </a:pPr>
            <a:r>
              <a:rPr lang="en-US" sz="1140" dirty="0">
                <a:solidFill>
                  <a:srgbClr val="52606D"/>
                </a:solidFill>
                <a:latin typeface="Aptos" pitchFamily="34" charset="0"/>
                <a:ea typeface="Aptos" pitchFamily="34" charset="-122"/>
                <a:cs typeface="Aptos" pitchFamily="34" charset="-120"/>
              </a:rPr>
              <a:t>El requisito dice que 3,95 se informa</a:t>
            </a:r>
            <a:endParaRPr lang="en-US" sz="1140" dirty="0"/>
          </a:p>
        </p:txBody>
      </p:sp>
      <p:sp>
        <p:nvSpPr>
          <p:cNvPr id="30" name="Text 26"/>
          <p:cNvSpPr txBox="1"/>
          <p:nvPr/>
        </p:nvSpPr>
        <p:spPr>
          <a:xfrm>
            <a:off x="4590288" y="4242816"/>
            <a:ext cx="3017520" cy="310896"/>
          </a:xfrm>
          <a:prstGeom prst="rect">
            <a:avLst/>
          </a:prstGeom>
          <a:noFill/>
          <a:ln/>
        </p:spPr>
        <p:txBody>
          <a:bodyPr wrap="square" lIns="0" tIns="0" rIns="0" bIns="0" rtlCol="0" anchor="t"/>
          <a:lstStyle/>
          <a:p>
            <a:pPr algn="l" indent="0" marL="0">
              <a:buNone/>
            </a:pPr>
            <a:r>
              <a:rPr lang="en-US" sz="1900" b="1" dirty="0">
                <a:solidFill>
                  <a:srgbClr val="255A4C"/>
                </a:solidFill>
                <a:latin typeface="Aptos Display" pitchFamily="34" charset="0"/>
                <a:ea typeface="Aptos Display" pitchFamily="34" charset="-122"/>
                <a:cs typeface="Aptos Display" pitchFamily="34" charset="-120"/>
              </a:rPr>
              <a:t>4,0</a:t>
            </a:r>
            <a:endParaRPr lang="en-US" sz="1900" dirty="0"/>
          </a:p>
        </p:txBody>
      </p:sp>
      <p:sp>
        <p:nvSpPr>
          <p:cNvPr id="31" name="Shape 27"/>
          <p:cNvSpPr/>
          <p:nvPr/>
        </p:nvSpPr>
        <p:spPr>
          <a:xfrm>
            <a:off x="7845552" y="4242816"/>
            <a:ext cx="201168" cy="0"/>
          </a:xfrm>
          <a:prstGeom prst="line">
            <a:avLst/>
          </a:prstGeom>
          <a:noFill/>
          <a:ln w="12700">
            <a:solidFill>
              <a:srgbClr val="52606D"/>
            </a:solidFill>
            <a:prstDash val="solid"/>
            <a:headEnd type="none"/>
            <a:tailEnd type="triangle"/>
          </a:ln>
        </p:spPr>
      </p:sp>
      <p:sp>
        <p:nvSpPr>
          <p:cNvPr id="32" name="Shape 28"/>
          <p:cNvSpPr/>
          <p:nvPr/>
        </p:nvSpPr>
        <p:spPr>
          <a:xfrm>
            <a:off x="8083296" y="3858768"/>
            <a:ext cx="3456432" cy="768096"/>
          </a:xfrm>
          <a:prstGeom prst="rect">
            <a:avLst/>
          </a:prstGeom>
          <a:solidFill>
            <a:srgbClr val="FFFFFF"/>
          </a:solidFill>
          <a:ln w="12700">
            <a:solidFill>
              <a:srgbClr val="FFFFFF"/>
            </a:solidFill>
            <a:prstDash val="solid"/>
          </a:ln>
        </p:spPr>
      </p:sp>
      <p:sp>
        <p:nvSpPr>
          <p:cNvPr id="33" name="Shape 29"/>
          <p:cNvSpPr/>
          <p:nvPr/>
        </p:nvSpPr>
        <p:spPr>
          <a:xfrm>
            <a:off x="8083296" y="3858768"/>
            <a:ext cx="3456432" cy="45720"/>
          </a:xfrm>
          <a:prstGeom prst="rect">
            <a:avLst/>
          </a:prstGeom>
          <a:solidFill>
            <a:srgbClr val="2E7D4F"/>
          </a:solidFill>
          <a:ln w="12700">
            <a:solidFill>
              <a:srgbClr val="2E7D4F"/>
            </a:solidFill>
            <a:prstDash val="solid"/>
          </a:ln>
        </p:spPr>
      </p:sp>
      <p:sp>
        <p:nvSpPr>
          <p:cNvPr id="34" name="Text 30"/>
          <p:cNvSpPr txBox="1"/>
          <p:nvPr/>
        </p:nvSpPr>
        <p:spPr>
          <a:xfrm>
            <a:off x="8302752" y="3968496"/>
            <a:ext cx="3017520" cy="274320"/>
          </a:xfrm>
          <a:prstGeom prst="rect">
            <a:avLst/>
          </a:prstGeom>
          <a:noFill/>
          <a:ln/>
        </p:spPr>
        <p:txBody>
          <a:bodyPr wrap="square" lIns="0" tIns="0" rIns="0" bIns="0" rtlCol="0" anchor="t"/>
          <a:lstStyle/>
          <a:p>
            <a:pPr algn="l" indent="0" marL="0">
              <a:buNone/>
            </a:pPr>
            <a:r>
              <a:rPr lang="en-US" sz="1140" dirty="0">
                <a:solidFill>
                  <a:srgbClr val="52606D"/>
                </a:solidFill>
                <a:latin typeface="Aptos" pitchFamily="34" charset="0"/>
                <a:ea typeface="Aptos" pitchFamily="34" charset="-122"/>
                <a:cs typeface="Aptos" pitchFamily="34" charset="-120"/>
              </a:rPr>
              <a:t>Entonces la nota final alcanza el umbral</a:t>
            </a:r>
            <a:endParaRPr lang="en-US" sz="1140" dirty="0"/>
          </a:p>
        </p:txBody>
      </p:sp>
      <p:sp>
        <p:nvSpPr>
          <p:cNvPr id="35" name="Text 31"/>
          <p:cNvSpPr txBox="1"/>
          <p:nvPr/>
        </p:nvSpPr>
        <p:spPr>
          <a:xfrm>
            <a:off x="8302752" y="4242816"/>
            <a:ext cx="3017520" cy="310896"/>
          </a:xfrm>
          <a:prstGeom prst="rect">
            <a:avLst/>
          </a:prstGeom>
          <a:noFill/>
          <a:ln/>
        </p:spPr>
        <p:txBody>
          <a:bodyPr wrap="square" lIns="0" tIns="0" rIns="0" bIns="0" rtlCol="0" anchor="t"/>
          <a:lstStyle/>
          <a:p>
            <a:pPr algn="l" indent="0" marL="0">
              <a:buNone/>
            </a:pPr>
            <a:r>
              <a:rPr lang="en-US" sz="1900" b="1" dirty="0">
                <a:solidFill>
                  <a:srgbClr val="2E7D4F"/>
                </a:solidFill>
                <a:latin typeface="Aptos Display" pitchFamily="34" charset="0"/>
                <a:ea typeface="Aptos Display" pitchFamily="34" charset="-122"/>
                <a:cs typeface="Aptos Display" pitchFamily="34" charset="-120"/>
              </a:rPr>
              <a:t>aprobado</a:t>
            </a:r>
            <a:endParaRPr lang="en-US" sz="1900" dirty="0"/>
          </a:p>
        </p:txBody>
      </p:sp>
      <p:sp>
        <p:nvSpPr>
          <p:cNvPr id="36" name="Shape 32"/>
          <p:cNvSpPr/>
          <p:nvPr/>
        </p:nvSpPr>
        <p:spPr>
          <a:xfrm>
            <a:off x="658368" y="4754880"/>
            <a:ext cx="10874959" cy="512064"/>
          </a:xfrm>
          <a:prstGeom prst="rect">
            <a:avLst/>
          </a:prstGeom>
          <a:solidFill>
            <a:srgbClr val="EDE6DA"/>
          </a:solidFill>
          <a:ln w="12700">
            <a:solidFill>
              <a:srgbClr val="EDE6DA"/>
            </a:solidFill>
            <a:prstDash val="solid"/>
          </a:ln>
        </p:spPr>
      </p:sp>
      <p:sp>
        <p:nvSpPr>
          <p:cNvPr id="37" name="Text 33"/>
          <p:cNvSpPr txBox="1"/>
          <p:nvPr/>
        </p:nvSpPr>
        <p:spPr>
          <a:xfrm>
            <a:off x="969264" y="4846320"/>
            <a:ext cx="10253167" cy="310896"/>
          </a:xfrm>
          <a:prstGeom prst="rect">
            <a:avLst/>
          </a:prstGeom>
          <a:noFill/>
          <a:ln/>
        </p:spPr>
        <p:txBody>
          <a:bodyPr wrap="square" lIns="0" tIns="0" rIns="0" bIns="0" rtlCol="0" anchor="t"/>
          <a:lstStyle/>
          <a:p>
            <a:pPr algn="ctr" indent="0" marL="0">
              <a:buNone/>
            </a:pPr>
            <a:r>
              <a:rPr lang="en-US" sz="1280" dirty="0">
                <a:solidFill>
                  <a:srgbClr val="243B53"/>
                </a:solidFill>
                <a:latin typeface="Aptos" pitchFamily="34" charset="0"/>
                <a:ea typeface="Aptos" pitchFamily="34" charset="-122"/>
                <a:cs typeface="Aptos" pitchFamily="34" charset="-120"/>
              </a:rPr>
              <a:t>El agente leyó las dos reglas —el umbral y el redondeo— y no las compuso: aplicó el umbral antes de redondear.</a:t>
            </a:r>
            <a:endParaRPr lang="en-US" sz="1280" dirty="0"/>
          </a:p>
        </p:txBody>
      </p:sp>
      <p:sp>
        <p:nvSpPr>
          <p:cNvPr id="38" name="Shape 34"/>
          <p:cNvSpPr/>
          <p:nvPr/>
        </p:nvSpPr>
        <p:spPr>
          <a:xfrm>
            <a:off x="658368" y="5358384"/>
            <a:ext cx="10874959" cy="457200"/>
          </a:xfrm>
          <a:prstGeom prst="rect">
            <a:avLst/>
          </a:prstGeom>
          <a:solidFill>
            <a:srgbClr val="F2E7D9"/>
          </a:solidFill>
          <a:ln w="12700">
            <a:solidFill>
              <a:srgbClr val="F2E7D9"/>
            </a:solidFill>
            <a:prstDash val="solid"/>
          </a:ln>
        </p:spPr>
      </p:sp>
      <p:sp>
        <p:nvSpPr>
          <p:cNvPr id="39" name="Shape 35"/>
          <p:cNvSpPr/>
          <p:nvPr/>
        </p:nvSpPr>
        <p:spPr>
          <a:xfrm>
            <a:off x="658368" y="5358384"/>
            <a:ext cx="64008" cy="457200"/>
          </a:xfrm>
          <a:prstGeom prst="rect">
            <a:avLst/>
          </a:prstGeom>
          <a:solidFill>
            <a:srgbClr val="B3181E"/>
          </a:solidFill>
          <a:ln w="12700">
            <a:solidFill>
              <a:srgbClr val="B3181E"/>
            </a:solidFill>
            <a:prstDash val="solid"/>
          </a:ln>
        </p:spPr>
      </p:sp>
      <p:sp>
        <p:nvSpPr>
          <p:cNvPr id="40" name="Text 36"/>
          <p:cNvSpPr txBox="1"/>
          <p:nvPr/>
        </p:nvSpPr>
        <p:spPr>
          <a:xfrm>
            <a:off x="969264" y="5440680"/>
            <a:ext cx="10234879" cy="292608"/>
          </a:xfrm>
          <a:prstGeom prst="rect">
            <a:avLst/>
          </a:prstGeom>
          <a:noFill/>
          <a:ln/>
        </p:spPr>
        <p:txBody>
          <a:bodyPr wrap="square" lIns="0" tIns="0" rIns="0" bIns="0" rtlCol="0" anchor="t"/>
          <a:lstStyle/>
          <a:p>
            <a:pPr algn="l" indent="0" marL="0">
              <a:buNone/>
            </a:pPr>
            <a:r>
              <a:rPr lang="en-US" sz="1320" b="1" dirty="0">
                <a:solidFill>
                  <a:srgbClr val="243B53"/>
                </a:solidFill>
                <a:latin typeface="Aptos" pitchFamily="34" charset="0"/>
                <a:ea typeface="Aptos" pitchFamily="34" charset="-122"/>
                <a:cs typeface="Aptos" pitchFamily="34" charset="-120"/>
              </a:rPr>
              <a:t>Cuidado con la lectura fácil: esto no dice que B sea peor. B fue el único capaz de producir un rojo.</a:t>
            </a:r>
            <a:endParaRPr lang="en-US" sz="1320" dirty="0"/>
          </a:p>
        </p:txBody>
      </p:sp>
      <p:sp>
        <p:nvSpPr>
          <p:cNvPr id="41" name="Shape 37"/>
          <p:cNvSpPr/>
          <p:nvPr/>
        </p:nvSpPr>
        <p:spPr>
          <a:xfrm>
            <a:off x="658368" y="5870448"/>
            <a:ext cx="10874959" cy="493776"/>
          </a:xfrm>
          <a:prstGeom prst="rect">
            <a:avLst/>
          </a:prstGeom>
          <a:solidFill>
            <a:srgbClr val="102A43"/>
          </a:solidFill>
          <a:ln w="12700">
            <a:solidFill>
              <a:srgbClr val="102A43"/>
            </a:solidFill>
            <a:prstDash val="solid"/>
          </a:ln>
        </p:spPr>
      </p:sp>
      <p:sp>
        <p:nvSpPr>
          <p:cNvPr id="42" name="Text 38"/>
          <p:cNvSpPr txBox="1"/>
          <p:nvPr/>
        </p:nvSpPr>
        <p:spPr>
          <a:xfrm>
            <a:off x="969264" y="5916168"/>
            <a:ext cx="10253167" cy="402336"/>
          </a:xfrm>
          <a:prstGeom prst="rect">
            <a:avLst/>
          </a:prstGeom>
          <a:noFill/>
          <a:ln/>
        </p:spPr>
        <p:txBody>
          <a:bodyPr wrap="square" lIns="0" tIns="0" rIns="0" bIns="0" rtlCol="0" anchor="ctr"/>
          <a:lstStyle/>
          <a:p>
            <a:pPr algn="ctr" indent="0" marL="0">
              <a:lnSpc>
                <a:spcPct val="112000"/>
              </a:lnSpc>
              <a:buNone/>
            </a:pPr>
            <a:r>
              <a:rPr lang="en-US" sz="1320" b="1" dirty="0">
                <a:solidFill>
                  <a:srgbClr val="FFFFFF"/>
                </a:solidFill>
                <a:latin typeface="Aptos" pitchFamily="34" charset="0"/>
                <a:ea typeface="Aptos" pitchFamily="34" charset="-122"/>
                <a:cs typeface="Aptos" pitchFamily="34" charset="-120"/>
              </a:rPr>
              <a:t>Poder equivocarse es el precio de poder tener razón. A no se equivocó nunca, y esa es su falla: no tenía cómo disentir.</a:t>
            </a:r>
            <a:endParaRPr lang="en-US" sz="13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20</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LA PRUEBA DECISIVA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2800" b="1" dirty="0">
                <a:solidFill>
                  <a:srgbClr val="243B53"/>
                </a:solidFill>
                <a:latin typeface="Aptos Display" pitchFamily="34" charset="0"/>
                <a:ea typeface="Aptos Display" pitchFamily="34" charset="-122"/>
                <a:cs typeface="Aptos Display" pitchFamily="34" charset="-120"/>
              </a:rPr>
              <a:t>Qué le pasa a la suite verde cuando corriges el defecto</a:t>
            </a:r>
            <a:endParaRPr lang="en-US" sz="28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Ninguno de los dos protocolos marcó el RUT: los dos lo afirmaron como salida correcta. Ahora se aplica la corrección que corresponde.</a:t>
            </a:r>
            <a:endParaRPr lang="en-US" sz="1450" dirty="0"/>
          </a:p>
        </p:txBody>
      </p:sp>
      <p:sp>
        <p:nvSpPr>
          <p:cNvPr id="11" name="Shape 8"/>
          <p:cNvSpPr/>
          <p:nvPr/>
        </p:nvSpPr>
        <p:spPr>
          <a:xfrm>
            <a:off x="658368" y="2432304"/>
            <a:ext cx="5577840" cy="1097280"/>
          </a:xfrm>
          <a:prstGeom prst="roundRect">
            <a:avLst>
              <a:gd name="adj" fmla="val 3333"/>
            </a:avLst>
          </a:prstGeom>
          <a:solidFill>
            <a:srgbClr val="102A43"/>
          </a:solidFill>
          <a:ln w="12700">
            <a:solidFill>
              <a:srgbClr val="102A43"/>
            </a:solidFill>
            <a:prstDash val="solid"/>
          </a:ln>
        </p:spPr>
      </p:sp>
      <p:sp>
        <p:nvSpPr>
          <p:cNvPr id="12" name="Shape 9"/>
          <p:cNvSpPr/>
          <p:nvPr/>
        </p:nvSpPr>
        <p:spPr>
          <a:xfrm>
            <a:off x="786384" y="2542032"/>
            <a:ext cx="532180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615184"/>
            <a:ext cx="510235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la corrección: informar solo el dígito verificador</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999232"/>
            <a:ext cx="5157216" cy="347472"/>
          </a:xfrm>
          <a:prstGeom prst="rect">
            <a:avLst/>
          </a:prstGeom>
        </p:spPr>
      </p:pic>
      <p:sp>
        <p:nvSpPr>
          <p:cNvPr id="15" name="Shape 11"/>
          <p:cNvSpPr/>
          <p:nvPr/>
        </p:nvSpPr>
        <p:spPr>
          <a:xfrm>
            <a:off x="6345936" y="2432304"/>
            <a:ext cx="5184648" cy="1371600"/>
          </a:xfrm>
          <a:prstGeom prst="roundRect">
            <a:avLst>
              <a:gd name="adj" fmla="val 2667"/>
            </a:avLst>
          </a:prstGeom>
          <a:solidFill>
            <a:srgbClr val="0F1720"/>
          </a:solidFill>
          <a:ln w="12700">
            <a:solidFill>
              <a:srgbClr val="0F1720"/>
            </a:solidFill>
            <a:prstDash val="solid"/>
          </a:ln>
        </p:spPr>
      </p:sp>
      <p:sp>
        <p:nvSpPr>
          <p:cNvPr id="16" name="Shape 12"/>
          <p:cNvSpPr/>
          <p:nvPr/>
        </p:nvSpPr>
        <p:spPr>
          <a:xfrm>
            <a:off x="6473952" y="2542032"/>
            <a:ext cx="4928616" cy="310896"/>
          </a:xfrm>
          <a:prstGeom prst="roundRect">
            <a:avLst>
              <a:gd name="adj" fmla="val 8824"/>
            </a:avLst>
          </a:prstGeom>
          <a:solidFill>
            <a:srgbClr val="1E2937"/>
          </a:solidFill>
          <a:ln w="12700">
            <a:solidFill>
              <a:srgbClr val="1E2937"/>
            </a:solidFill>
            <a:prstDash val="solid"/>
          </a:ln>
        </p:spPr>
      </p:sp>
      <p:sp>
        <p:nvSpPr>
          <p:cNvPr id="17" name="Text 13"/>
          <p:cNvSpPr/>
          <p:nvPr/>
        </p:nvSpPr>
        <p:spPr>
          <a:xfrm>
            <a:off x="6601968" y="2615184"/>
            <a:ext cx="4672584"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PowerShell · la suite del protocolo A, otra vez</a:t>
            </a:r>
            <a:endParaRPr lang="en-US" sz="1000" dirty="0"/>
          </a:p>
        </p:txBody>
      </p:sp>
      <p:sp>
        <p:nvSpPr>
          <p:cNvPr id="18" name="Text 14"/>
          <p:cNvSpPr/>
          <p:nvPr/>
        </p:nvSpPr>
        <p:spPr>
          <a:xfrm>
            <a:off x="6565392" y="2999232"/>
            <a:ext cx="329184" cy="164592"/>
          </a:xfrm>
          <a:prstGeom prst="rect">
            <a:avLst/>
          </a:prstGeom>
          <a:noFill/>
          <a:ln/>
        </p:spPr>
        <p:txBody>
          <a:bodyPr wrap="square" lIns="0" tIns="0" rIns="0" bIns="0" rtlCol="0" anchor="ctr"/>
          <a:lstStyle/>
          <a:p>
            <a:pPr indent="0" marL="0">
              <a:buNone/>
            </a:pPr>
            <a:r>
              <a:rPr lang="en-US" sz="1060" b="1" dirty="0">
                <a:solidFill>
                  <a:srgbClr val="E0BC5A"/>
                </a:solidFill>
                <a:latin typeface="Consolas" pitchFamily="34" charset="0"/>
                <a:ea typeface="Consolas" pitchFamily="34" charset="-122"/>
                <a:cs typeface="Consolas" pitchFamily="34" charset="-120"/>
              </a:rPr>
              <a:t>&gt;</a:t>
            </a:r>
            <a:endParaRPr lang="en-US" sz="1060" dirty="0"/>
          </a:p>
        </p:txBody>
      </p:sp>
      <p:sp>
        <p:nvSpPr>
          <p:cNvPr id="19" name="Text 15"/>
          <p:cNvSpPr/>
          <p:nvPr/>
        </p:nvSpPr>
        <p:spPr>
          <a:xfrm>
            <a:off x="6876288" y="2999232"/>
            <a:ext cx="4434840" cy="164592"/>
          </a:xfrm>
          <a:prstGeom prst="rect">
            <a:avLst/>
          </a:prstGeom>
          <a:noFill/>
          <a:ln/>
        </p:spPr>
        <p:txBody>
          <a:bodyPr wrap="square" lIns="0" tIns="0" rIns="0" bIns="0" rtlCol="0" anchor="ctr"/>
          <a:lstStyle/>
          <a:p>
            <a:pPr indent="0" marL="0">
              <a:buNone/>
            </a:pPr>
            <a:r>
              <a:rPr lang="en-US" sz="1060" dirty="0">
                <a:solidFill>
                  <a:srgbClr val="E6EEF7"/>
                </a:solidFill>
                <a:latin typeface="Consolas" pitchFamily="34" charset="0"/>
                <a:ea typeface="Consolas" pitchFamily="34" charset="-122"/>
                <a:cs typeface="Consolas" pitchFamily="34" charset="-120"/>
              </a:rPr>
              <a:t>uv run pytest -q</a:t>
            </a:r>
            <a:endParaRPr lang="en-US" sz="1060" dirty="0"/>
          </a:p>
        </p:txBody>
      </p:sp>
      <p:sp>
        <p:nvSpPr>
          <p:cNvPr id="20" name="Text 16"/>
          <p:cNvSpPr/>
          <p:nvPr/>
        </p:nvSpPr>
        <p:spPr>
          <a:xfrm>
            <a:off x="6565392" y="3255264"/>
            <a:ext cx="4434840" cy="164592"/>
          </a:xfrm>
          <a:prstGeom prst="rect">
            <a:avLst/>
          </a:prstGeom>
          <a:noFill/>
          <a:ln/>
        </p:spPr>
        <p:txBody>
          <a:bodyPr wrap="square" lIns="0" tIns="0" rIns="0" bIns="0" rtlCol="0" anchor="ctr"/>
          <a:lstStyle/>
          <a:p>
            <a:pPr indent="0" marL="0">
              <a:buNone/>
            </a:pPr>
            <a:r>
              <a:rPr lang="en-US" sz="1060" dirty="0">
                <a:solidFill>
                  <a:srgbClr val="8AA0B6"/>
                </a:solidFill>
                <a:latin typeface="Consolas" pitchFamily="34" charset="0"/>
                <a:ea typeface="Consolas" pitchFamily="34" charset="-122"/>
                <a:cs typeface="Consolas" pitchFamily="34" charset="-120"/>
              </a:rPr>
              <a:t>FAILED  TestResumen  ·  y 9 mas</a:t>
            </a:r>
            <a:endParaRPr lang="en-US" sz="1060" dirty="0"/>
          </a:p>
        </p:txBody>
      </p:sp>
      <p:sp>
        <p:nvSpPr>
          <p:cNvPr id="21" name="Text 17"/>
          <p:cNvSpPr/>
          <p:nvPr/>
        </p:nvSpPr>
        <p:spPr>
          <a:xfrm>
            <a:off x="6565392" y="3511296"/>
            <a:ext cx="4434840" cy="164592"/>
          </a:xfrm>
          <a:prstGeom prst="rect">
            <a:avLst/>
          </a:prstGeom>
          <a:noFill/>
          <a:ln/>
        </p:spPr>
        <p:txBody>
          <a:bodyPr wrap="square" lIns="0" tIns="0" rIns="0" bIns="0" rtlCol="0" anchor="ctr"/>
          <a:lstStyle/>
          <a:p>
            <a:pPr indent="0" marL="0">
              <a:buNone/>
            </a:pPr>
            <a:r>
              <a:rPr lang="en-US" sz="1060" dirty="0">
                <a:solidFill>
                  <a:srgbClr val="E6EEF7"/>
                </a:solidFill>
                <a:latin typeface="Consolas" pitchFamily="34" charset="0"/>
                <a:ea typeface="Consolas" pitchFamily="34" charset="-122"/>
                <a:cs typeface="Consolas" pitchFamily="34" charset="-120"/>
              </a:rPr>
              <a:t>10 failed, 32 passed in 0.27s</a:t>
            </a:r>
            <a:endParaRPr lang="en-US" sz="1060" dirty="0"/>
          </a:p>
        </p:txBody>
      </p:sp>
      <p:sp>
        <p:nvSpPr>
          <p:cNvPr id="22" name="Shape 18"/>
          <p:cNvSpPr/>
          <p:nvPr/>
        </p:nvSpPr>
        <p:spPr>
          <a:xfrm>
            <a:off x="658368" y="3931920"/>
            <a:ext cx="2468880" cy="932688"/>
          </a:xfrm>
          <a:prstGeom prst="rect">
            <a:avLst/>
          </a:prstGeom>
          <a:solidFill>
            <a:srgbClr val="E9F6EE"/>
          </a:solidFill>
          <a:ln w="12700">
            <a:solidFill>
              <a:srgbClr val="E9F6EE"/>
            </a:solidFill>
            <a:prstDash val="solid"/>
          </a:ln>
        </p:spPr>
      </p:sp>
      <p:sp>
        <p:nvSpPr>
          <p:cNvPr id="23" name="Text 19"/>
          <p:cNvSpPr txBox="1"/>
          <p:nvPr/>
        </p:nvSpPr>
        <p:spPr>
          <a:xfrm>
            <a:off x="877824" y="4005072"/>
            <a:ext cx="2194560" cy="512064"/>
          </a:xfrm>
          <a:prstGeom prst="rect">
            <a:avLst/>
          </a:prstGeom>
          <a:noFill/>
          <a:ln/>
        </p:spPr>
        <p:txBody>
          <a:bodyPr wrap="square" lIns="0" tIns="0" rIns="0" bIns="0" rtlCol="0" anchor="t"/>
          <a:lstStyle/>
          <a:p>
            <a:pPr algn="l" indent="0" marL="0">
              <a:buNone/>
            </a:pPr>
            <a:r>
              <a:rPr lang="en-US" sz="3600" b="1" dirty="0">
                <a:solidFill>
                  <a:srgbClr val="2E7D4F"/>
                </a:solidFill>
                <a:latin typeface="Aptos Display" pitchFamily="34" charset="0"/>
                <a:ea typeface="Aptos Display" pitchFamily="34" charset="-122"/>
                <a:cs typeface="Aptos Display" pitchFamily="34" charset="-120"/>
              </a:rPr>
              <a:t>42</a:t>
            </a:r>
            <a:endParaRPr lang="en-US" sz="3600" dirty="0"/>
          </a:p>
        </p:txBody>
      </p:sp>
      <p:sp>
        <p:nvSpPr>
          <p:cNvPr id="24" name="Text 20"/>
          <p:cNvSpPr txBox="1"/>
          <p:nvPr/>
        </p:nvSpPr>
        <p:spPr>
          <a:xfrm>
            <a:off x="877824" y="4535424"/>
            <a:ext cx="2194560" cy="237744"/>
          </a:xfrm>
          <a:prstGeom prst="rect">
            <a:avLst/>
          </a:prstGeom>
          <a:noFill/>
          <a:ln/>
        </p:spPr>
        <p:txBody>
          <a:bodyPr wrap="square" lIns="0" tIns="0" rIns="0" bIns="0" rtlCol="0" anchor="t"/>
          <a:lstStyle/>
          <a:p>
            <a:pPr algn="l" indent="0" marL="0">
              <a:buNone/>
            </a:pPr>
            <a:r>
              <a:rPr lang="en-US" sz="1300" b="1" dirty="0">
                <a:solidFill>
                  <a:srgbClr val="2E7D4F"/>
                </a:solidFill>
                <a:latin typeface="Aptos" pitchFamily="34" charset="0"/>
                <a:ea typeface="Aptos" pitchFamily="34" charset="-122"/>
                <a:cs typeface="Aptos" pitchFamily="34" charset="-120"/>
              </a:rPr>
              <a:t>en verde</a:t>
            </a:r>
            <a:endParaRPr lang="en-US" sz="1300" dirty="0"/>
          </a:p>
        </p:txBody>
      </p:sp>
      <p:sp>
        <p:nvSpPr>
          <p:cNvPr id="25" name="Shape 21"/>
          <p:cNvSpPr/>
          <p:nvPr/>
        </p:nvSpPr>
        <p:spPr>
          <a:xfrm>
            <a:off x="3566160" y="3931920"/>
            <a:ext cx="2468880" cy="932688"/>
          </a:xfrm>
          <a:prstGeom prst="rect">
            <a:avLst/>
          </a:prstGeom>
          <a:solidFill>
            <a:srgbClr val="F8E4E5"/>
          </a:solidFill>
          <a:ln w="12700">
            <a:solidFill>
              <a:srgbClr val="F8E4E5"/>
            </a:solidFill>
            <a:prstDash val="solid"/>
          </a:ln>
        </p:spPr>
      </p:sp>
      <p:sp>
        <p:nvSpPr>
          <p:cNvPr id="26" name="Text 22"/>
          <p:cNvSpPr txBox="1"/>
          <p:nvPr/>
        </p:nvSpPr>
        <p:spPr>
          <a:xfrm>
            <a:off x="3785616" y="4005072"/>
            <a:ext cx="2194560" cy="512064"/>
          </a:xfrm>
          <a:prstGeom prst="rect">
            <a:avLst/>
          </a:prstGeom>
          <a:noFill/>
          <a:ln/>
        </p:spPr>
        <p:txBody>
          <a:bodyPr wrap="square" lIns="0" tIns="0" rIns="0" bIns="0" rtlCol="0" anchor="t"/>
          <a:lstStyle/>
          <a:p>
            <a:pPr algn="l" indent="0" marL="0">
              <a:buNone/>
            </a:pPr>
            <a:r>
              <a:rPr lang="en-US" sz="3600" b="1" dirty="0">
                <a:solidFill>
                  <a:srgbClr val="B3181E"/>
                </a:solidFill>
                <a:latin typeface="Aptos Display" pitchFamily="34" charset="0"/>
                <a:ea typeface="Aptos Display" pitchFamily="34" charset="-122"/>
                <a:cs typeface="Aptos Display" pitchFamily="34" charset="-120"/>
              </a:rPr>
              <a:t>10</a:t>
            </a:r>
            <a:endParaRPr lang="en-US" sz="3600" dirty="0"/>
          </a:p>
        </p:txBody>
      </p:sp>
      <p:sp>
        <p:nvSpPr>
          <p:cNvPr id="27" name="Text 23"/>
          <p:cNvSpPr txBox="1"/>
          <p:nvPr/>
        </p:nvSpPr>
        <p:spPr>
          <a:xfrm>
            <a:off x="3785616" y="4535424"/>
            <a:ext cx="2194560" cy="237744"/>
          </a:xfrm>
          <a:prstGeom prst="rect">
            <a:avLst/>
          </a:prstGeom>
          <a:noFill/>
          <a:ln/>
        </p:spPr>
        <p:txBody>
          <a:bodyPr wrap="square" lIns="0" tIns="0" rIns="0" bIns="0" rtlCol="0" anchor="t"/>
          <a:lstStyle/>
          <a:p>
            <a:pPr algn="l" indent="0" marL="0">
              <a:buNone/>
            </a:pPr>
            <a:r>
              <a:rPr lang="en-US" sz="1300" b="1" dirty="0">
                <a:solidFill>
                  <a:srgbClr val="B3181E"/>
                </a:solidFill>
                <a:latin typeface="Aptos" pitchFamily="34" charset="0"/>
                <a:ea typeface="Aptos" pitchFamily="34" charset="-122"/>
                <a:cs typeface="Aptos" pitchFamily="34" charset="-120"/>
              </a:rPr>
              <a:t>en rojo</a:t>
            </a:r>
            <a:endParaRPr lang="en-US" sz="1300" dirty="0"/>
          </a:p>
        </p:txBody>
      </p:sp>
      <p:sp>
        <p:nvSpPr>
          <p:cNvPr id="28" name="Text 24"/>
          <p:cNvSpPr txBox="1"/>
          <p:nvPr/>
        </p:nvSpPr>
        <p:spPr>
          <a:xfrm>
            <a:off x="3200400" y="4261104"/>
            <a:ext cx="274320" cy="365760"/>
          </a:xfrm>
          <a:prstGeom prst="rect">
            <a:avLst/>
          </a:prstGeom>
          <a:noFill/>
          <a:ln/>
        </p:spPr>
        <p:txBody>
          <a:bodyPr wrap="square" lIns="0" tIns="0" rIns="0" bIns="0" rtlCol="0" anchor="t"/>
          <a:lstStyle/>
          <a:p>
            <a:pPr algn="ctr" indent="0" marL="0">
              <a:buNone/>
            </a:pPr>
            <a:r>
              <a:rPr lang="en-US" sz="2000" b="1" dirty="0">
                <a:solidFill>
                  <a:srgbClr val="52606D"/>
                </a:solidFill>
                <a:latin typeface="Aptos" pitchFamily="34" charset="0"/>
                <a:ea typeface="Aptos" pitchFamily="34" charset="-122"/>
                <a:cs typeface="Aptos" pitchFamily="34" charset="-120"/>
              </a:rPr>
              <a:t>→</a:t>
            </a:r>
            <a:endParaRPr lang="en-US" sz="2000" dirty="0"/>
          </a:p>
        </p:txBody>
      </p:sp>
      <p:sp>
        <p:nvSpPr>
          <p:cNvPr id="29" name="Shape 25"/>
          <p:cNvSpPr/>
          <p:nvPr/>
        </p:nvSpPr>
        <p:spPr>
          <a:xfrm>
            <a:off x="6455664" y="3931920"/>
            <a:ext cx="5074920" cy="932688"/>
          </a:xfrm>
          <a:prstGeom prst="rect">
            <a:avLst/>
          </a:prstGeom>
          <a:solidFill>
            <a:srgbClr val="102A43"/>
          </a:solidFill>
          <a:ln w="12700">
            <a:solidFill>
              <a:srgbClr val="102A43"/>
            </a:solidFill>
            <a:prstDash val="solid"/>
          </a:ln>
        </p:spPr>
      </p:sp>
      <p:sp>
        <p:nvSpPr>
          <p:cNvPr id="30" name="Text 26"/>
          <p:cNvSpPr txBox="1"/>
          <p:nvPr/>
        </p:nvSpPr>
        <p:spPr>
          <a:xfrm>
            <a:off x="6766560" y="4059936"/>
            <a:ext cx="4480560" cy="182880"/>
          </a:xfrm>
          <a:prstGeom prst="rect">
            <a:avLst/>
          </a:prstGeom>
          <a:noFill/>
          <a:ln/>
        </p:spPr>
        <p:txBody>
          <a:bodyPr wrap="square" lIns="0" tIns="0" rIns="0" bIns="0" rtlCol="0" anchor="t"/>
          <a:lstStyle/>
          <a:p>
            <a:pPr algn="l" indent="0" marL="0">
              <a:buNone/>
            </a:pPr>
            <a:r>
              <a:rPr lang="en-US" sz="880" b="1" spc="120" kern="0" dirty="0">
                <a:solidFill>
                  <a:srgbClr val="E0BC5A"/>
                </a:solidFill>
                <a:latin typeface="Aptos" pitchFamily="34" charset="0"/>
                <a:ea typeface="Aptos" pitchFamily="34" charset="-122"/>
                <a:cs typeface="Aptos" pitchFamily="34" charset="-120"/>
              </a:rPr>
              <a:t>PONTE EN EL LUGAR DE QUIEN LLEGA MAÑANA</a:t>
            </a:r>
            <a:endParaRPr lang="en-US" sz="880" dirty="0"/>
          </a:p>
        </p:txBody>
      </p:sp>
      <p:sp>
        <p:nvSpPr>
          <p:cNvPr id="31" name="Text 27"/>
          <p:cNvSpPr txBox="1"/>
          <p:nvPr/>
        </p:nvSpPr>
        <p:spPr>
          <a:xfrm>
            <a:off x="6766560" y="4297680"/>
            <a:ext cx="4462272" cy="493776"/>
          </a:xfrm>
          <a:prstGeom prst="rect">
            <a:avLst/>
          </a:prstGeom>
          <a:noFill/>
          <a:ln/>
        </p:spPr>
        <p:txBody>
          <a:bodyPr wrap="square" lIns="0" tIns="0" rIns="0" bIns="0" rtlCol="0" anchor="t"/>
          <a:lstStyle/>
          <a:p>
            <a:pPr algn="l" indent="0" marL="0">
              <a:lnSpc>
                <a:spcPct val="116000"/>
              </a:lnSpc>
              <a:buNone/>
            </a:pPr>
            <a:r>
              <a:rPr lang="en-US" sz="1220" dirty="0">
                <a:solidFill>
                  <a:srgbClr val="FFFFFF"/>
                </a:solidFill>
                <a:latin typeface="Aptos" pitchFamily="34" charset="0"/>
                <a:ea typeface="Aptos" pitchFamily="34" charset="-122"/>
                <a:cs typeface="Aptos" pitchFamily="34" charset="-120"/>
              </a:rPr>
              <a:t>Hace ese cambio, ve diez pruebas caerse y saca la conclusión razonable: que el cambio está mal. Y revierte.</a:t>
            </a:r>
            <a:endParaRPr lang="en-US" sz="1220" dirty="0"/>
          </a:p>
        </p:txBody>
      </p:sp>
      <p:sp>
        <p:nvSpPr>
          <p:cNvPr id="32" name="Shape 28"/>
          <p:cNvSpPr/>
          <p:nvPr/>
        </p:nvSpPr>
        <p:spPr>
          <a:xfrm>
            <a:off x="658368" y="5029200"/>
            <a:ext cx="10874959" cy="585216"/>
          </a:xfrm>
          <a:prstGeom prst="rect">
            <a:avLst/>
          </a:prstGeom>
          <a:solidFill>
            <a:srgbClr val="B3181E"/>
          </a:solidFill>
          <a:ln w="12700">
            <a:solidFill>
              <a:srgbClr val="B3181E"/>
            </a:solidFill>
            <a:prstDash val="solid"/>
          </a:ln>
        </p:spPr>
      </p:sp>
      <p:sp>
        <p:nvSpPr>
          <p:cNvPr id="33" name="Text 29"/>
          <p:cNvSpPr txBox="1"/>
          <p:nvPr/>
        </p:nvSpPr>
        <p:spPr>
          <a:xfrm>
            <a:off x="969264" y="5074920"/>
            <a:ext cx="10253167" cy="493776"/>
          </a:xfrm>
          <a:prstGeom prst="rect">
            <a:avLst/>
          </a:prstGeom>
          <a:noFill/>
          <a:ln/>
        </p:spPr>
        <p:txBody>
          <a:bodyPr wrap="square" lIns="0" tIns="0" rIns="0" bIns="0" rtlCol="0" anchor="ctr"/>
          <a:lstStyle/>
          <a:p>
            <a:pPr algn="ctr" indent="0" marL="0">
              <a:lnSpc>
                <a:spcPct val="112000"/>
              </a:lnSpc>
              <a:buNone/>
            </a:pPr>
            <a:r>
              <a:rPr lang="en-US" sz="1500" b="1" dirty="0">
                <a:solidFill>
                  <a:srgbClr val="FFFFFF"/>
                </a:solidFill>
                <a:latin typeface="Aptos" pitchFamily="34" charset="0"/>
                <a:ea typeface="Aptos" pitchFamily="34" charset="-122"/>
                <a:cs typeface="Aptos" pitchFamily="34" charset="-120"/>
              </a:rPr>
              <a:t>Una suite cuya base de prueba es el código no protege al producto. Protege al defecto.</a:t>
            </a:r>
            <a:endParaRPr lang="en-US" sz="1500" dirty="0"/>
          </a:p>
        </p:txBody>
      </p:sp>
      <p:sp>
        <p:nvSpPr>
          <p:cNvPr id="34" name="Shape 30"/>
          <p:cNvSpPr/>
          <p:nvPr/>
        </p:nvSpPr>
        <p:spPr>
          <a:xfrm>
            <a:off x="658368" y="5779008"/>
            <a:ext cx="45720" cy="182880"/>
          </a:xfrm>
          <a:prstGeom prst="rect">
            <a:avLst/>
          </a:prstGeom>
          <a:solidFill>
            <a:srgbClr val="8A6A12"/>
          </a:solidFill>
          <a:ln w="12700">
            <a:solidFill>
              <a:srgbClr val="8A6A12"/>
            </a:solidFill>
            <a:prstDash val="solid"/>
          </a:ln>
        </p:spPr>
      </p:sp>
      <p:sp>
        <p:nvSpPr>
          <p:cNvPr id="35" name="Text 31"/>
          <p:cNvSpPr txBox="1"/>
          <p:nvPr/>
        </p:nvSpPr>
        <p:spPr>
          <a:xfrm>
            <a:off x="804672" y="5769864"/>
            <a:ext cx="877824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Ejecuciones registradas para esta clase sobre Python 3.12.12: las dos suites generadas y la suite A tras la corrección.</a:t>
            </a:r>
            <a:endParaRPr lang="en-US" sz="9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21</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LA CLASIFICACIÓN</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Siete lugares de donde puede salir un veredicto</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Dos archivos de pruebas pueden verse idénticos y descansar sobre suelo distinto. Una revisión de 2026 sobre oráculos escritos por modelos de lenguaje los ordena así.</a:t>
            </a:r>
            <a:endParaRPr lang="en-US" sz="1450" dirty="0"/>
          </a:p>
        </p:txBody>
      </p:sp>
      <p:sp>
        <p:nvSpPr>
          <p:cNvPr id="11" name="Text 8"/>
          <p:cNvSpPr txBox="1"/>
          <p:nvPr/>
        </p:nvSpPr>
        <p:spPr>
          <a:xfrm>
            <a:off x="658368" y="2487168"/>
            <a:ext cx="3108960" cy="201168"/>
          </a:xfrm>
          <a:prstGeom prst="rect">
            <a:avLst/>
          </a:prstGeom>
          <a:noFill/>
          <a:ln/>
        </p:spPr>
        <p:txBody>
          <a:bodyPr wrap="square" lIns="0" tIns="0" rIns="0" bIns="0" rtlCol="0" anchor="t"/>
          <a:lstStyle/>
          <a:p>
            <a:pPr algn="l" indent="0" marL="0">
              <a:buNone/>
            </a:pPr>
            <a:r>
              <a:rPr lang="en-US" sz="960" b="1" spc="130" kern="0" dirty="0">
                <a:solidFill>
                  <a:srgbClr val="52606D"/>
                </a:solidFill>
                <a:latin typeface="Aptos" pitchFamily="34" charset="0"/>
                <a:ea typeface="Aptos" pitchFamily="34" charset="-122"/>
                <a:cs typeface="Aptos" pitchFamily="34" charset="-120"/>
              </a:rPr>
              <a:t>FUENTE DE AUTORIDAD</a:t>
            </a:r>
            <a:endParaRPr lang="en-US" sz="960" dirty="0"/>
          </a:p>
        </p:txBody>
      </p:sp>
      <p:sp>
        <p:nvSpPr>
          <p:cNvPr id="12" name="Text 9"/>
          <p:cNvSpPr txBox="1"/>
          <p:nvPr/>
        </p:nvSpPr>
        <p:spPr>
          <a:xfrm>
            <a:off x="4572000" y="2487168"/>
            <a:ext cx="3108960" cy="201168"/>
          </a:xfrm>
          <a:prstGeom prst="rect">
            <a:avLst/>
          </a:prstGeom>
          <a:noFill/>
          <a:ln/>
        </p:spPr>
        <p:txBody>
          <a:bodyPr wrap="square" lIns="0" tIns="0" rIns="0" bIns="0" rtlCol="0" anchor="t"/>
          <a:lstStyle/>
          <a:p>
            <a:pPr algn="l" indent="0" marL="0">
              <a:buNone/>
            </a:pPr>
            <a:r>
              <a:rPr lang="en-US" sz="960" b="1" spc="130" kern="0" dirty="0">
                <a:solidFill>
                  <a:srgbClr val="52606D"/>
                </a:solidFill>
                <a:latin typeface="Aptos" pitchFamily="34" charset="0"/>
                <a:ea typeface="Aptos" pitchFamily="34" charset="-122"/>
                <a:cs typeface="Aptos" pitchFamily="34" charset="-120"/>
              </a:rPr>
              <a:t>CONTRA QUÉ COMPARA</a:t>
            </a:r>
            <a:endParaRPr lang="en-US" sz="960" dirty="0"/>
          </a:p>
        </p:txBody>
      </p:sp>
      <p:sp>
        <p:nvSpPr>
          <p:cNvPr id="13" name="Text 10"/>
          <p:cNvSpPr txBox="1"/>
          <p:nvPr/>
        </p:nvSpPr>
        <p:spPr>
          <a:xfrm>
            <a:off x="8778240" y="2487168"/>
            <a:ext cx="2926080" cy="201168"/>
          </a:xfrm>
          <a:prstGeom prst="rect">
            <a:avLst/>
          </a:prstGeom>
          <a:noFill/>
          <a:ln/>
        </p:spPr>
        <p:txBody>
          <a:bodyPr wrap="square" lIns="0" tIns="0" rIns="0" bIns="0" rtlCol="0" anchor="t"/>
          <a:lstStyle/>
          <a:p>
            <a:pPr algn="l" indent="0" marL="0">
              <a:buNone/>
            </a:pPr>
            <a:r>
              <a:rPr lang="en-US" sz="960" b="1" spc="130" kern="0" dirty="0">
                <a:solidFill>
                  <a:srgbClr val="52606D"/>
                </a:solidFill>
                <a:latin typeface="Aptos" pitchFamily="34" charset="0"/>
                <a:ea typeface="Aptos" pitchFamily="34" charset="-122"/>
                <a:cs typeface="Aptos" pitchFamily="34" charset="-120"/>
              </a:rPr>
              <a:t>SI EL CÓDIGO TIENE EL DEFECTO</a:t>
            </a:r>
            <a:endParaRPr lang="en-US" sz="960" dirty="0"/>
          </a:p>
        </p:txBody>
      </p:sp>
      <p:sp>
        <p:nvSpPr>
          <p:cNvPr id="14" name="Shape 11"/>
          <p:cNvSpPr/>
          <p:nvPr/>
        </p:nvSpPr>
        <p:spPr>
          <a:xfrm>
            <a:off x="658368" y="2743200"/>
            <a:ext cx="10874959" cy="347472"/>
          </a:xfrm>
          <a:prstGeom prst="rect">
            <a:avLst/>
          </a:prstGeom>
          <a:solidFill>
            <a:srgbClr val="FFFFFF"/>
          </a:solidFill>
          <a:ln w="12700">
            <a:solidFill>
              <a:srgbClr val="FFFFFF"/>
            </a:solidFill>
            <a:prstDash val="solid"/>
          </a:ln>
        </p:spPr>
      </p:sp>
      <p:sp>
        <p:nvSpPr>
          <p:cNvPr id="15" name="Shape 12"/>
          <p:cNvSpPr/>
          <p:nvPr/>
        </p:nvSpPr>
        <p:spPr>
          <a:xfrm>
            <a:off x="658368" y="2743200"/>
            <a:ext cx="45720" cy="347472"/>
          </a:xfrm>
          <a:prstGeom prst="rect">
            <a:avLst/>
          </a:prstGeom>
          <a:solidFill>
            <a:srgbClr val="B3181E"/>
          </a:solidFill>
          <a:ln w="12700">
            <a:solidFill>
              <a:srgbClr val="B3181E"/>
            </a:solidFill>
            <a:prstDash val="solid"/>
          </a:ln>
        </p:spPr>
      </p:sp>
      <p:sp>
        <p:nvSpPr>
          <p:cNvPr id="16" name="Text 13"/>
          <p:cNvSpPr txBox="1"/>
          <p:nvPr/>
        </p:nvSpPr>
        <p:spPr>
          <a:xfrm>
            <a:off x="859536" y="2816352"/>
            <a:ext cx="3657600" cy="219456"/>
          </a:xfrm>
          <a:prstGeom prst="rect">
            <a:avLst/>
          </a:prstGeom>
          <a:noFill/>
          <a:ln/>
        </p:spPr>
        <p:txBody>
          <a:bodyPr wrap="square" lIns="0" tIns="0" rIns="0" bIns="0" rtlCol="0" anchor="t"/>
          <a:lstStyle/>
          <a:p>
            <a:pPr algn="l" indent="0" marL="0">
              <a:buNone/>
            </a:pPr>
            <a:r>
              <a:rPr lang="en-US" sz="1160" b="1" dirty="0">
                <a:solidFill>
                  <a:srgbClr val="243B53"/>
                </a:solidFill>
                <a:latin typeface="Aptos" pitchFamily="34" charset="0"/>
                <a:ea typeface="Aptos" pitchFamily="34" charset="-122"/>
                <a:cs typeface="Aptos" pitchFamily="34" charset="-120"/>
              </a:rPr>
              <a:t>Derivada de la implementación</a:t>
            </a:r>
            <a:endParaRPr lang="en-US" sz="1160" dirty="0"/>
          </a:p>
        </p:txBody>
      </p:sp>
      <p:sp>
        <p:nvSpPr>
          <p:cNvPr id="17" name="Text 14"/>
          <p:cNvSpPr txBox="1"/>
          <p:nvPr/>
        </p:nvSpPr>
        <p:spPr>
          <a:xfrm>
            <a:off x="4572000" y="2816352"/>
            <a:ext cx="4023360" cy="219456"/>
          </a:xfrm>
          <a:prstGeom prst="rect">
            <a:avLst/>
          </a:prstGeom>
          <a:noFill/>
          <a:ln/>
        </p:spPr>
        <p:txBody>
          <a:bodyPr wrap="square" lIns="0" tIns="0" rIns="0" bIns="0" rtlCol="0" anchor="t"/>
          <a:lstStyle/>
          <a:p>
            <a:pPr algn="l" indent="0" marL="0">
              <a:buNone/>
            </a:pPr>
            <a:r>
              <a:rPr lang="en-US" sz="1120" dirty="0">
                <a:solidFill>
                  <a:srgbClr val="52606D"/>
                </a:solidFill>
                <a:latin typeface="Aptos" pitchFamily="34" charset="0"/>
                <a:ea typeface="Aptos" pitchFamily="34" charset="-122"/>
                <a:cs typeface="Aptos" pitchFamily="34" charset="-120"/>
              </a:rPr>
              <a:t>el comportamiento actual del código</a:t>
            </a:r>
            <a:endParaRPr lang="en-US" sz="1120" dirty="0"/>
          </a:p>
        </p:txBody>
      </p:sp>
      <p:sp>
        <p:nvSpPr>
          <p:cNvPr id="18" name="Shape 15"/>
          <p:cNvSpPr/>
          <p:nvPr/>
        </p:nvSpPr>
        <p:spPr>
          <a:xfrm>
            <a:off x="8778240" y="2788920"/>
            <a:ext cx="1371600" cy="256032"/>
          </a:xfrm>
          <a:prstGeom prst="rect">
            <a:avLst/>
          </a:prstGeom>
          <a:solidFill>
            <a:srgbClr val="B3181E"/>
          </a:solidFill>
          <a:ln w="12700">
            <a:solidFill>
              <a:srgbClr val="B3181E"/>
            </a:solidFill>
            <a:prstDash val="solid"/>
          </a:ln>
        </p:spPr>
      </p:sp>
      <p:sp>
        <p:nvSpPr>
          <p:cNvPr id="19" name="Text 16"/>
          <p:cNvSpPr txBox="1"/>
          <p:nvPr/>
        </p:nvSpPr>
        <p:spPr>
          <a:xfrm>
            <a:off x="8778240" y="2807208"/>
            <a:ext cx="1371600" cy="219456"/>
          </a:xfrm>
          <a:prstGeom prst="rect">
            <a:avLst/>
          </a:prstGeom>
          <a:noFill/>
          <a:ln/>
        </p:spPr>
        <p:txBody>
          <a:bodyPr wrap="square" lIns="0" tIns="0" rIns="0" bIns="0" rtlCol="0" anchor="t"/>
          <a:lstStyle/>
          <a:p>
            <a:pPr algn="ctr" indent="0" marL="0">
              <a:buNone/>
            </a:pPr>
            <a:r>
              <a:rPr lang="en-US" sz="1040" b="1" dirty="0">
                <a:solidFill>
                  <a:srgbClr val="FFFFFF"/>
                </a:solidFill>
                <a:latin typeface="Aptos" pitchFamily="34" charset="0"/>
                <a:ea typeface="Aptos" pitchFamily="34" charset="-122"/>
                <a:cs typeface="Aptos" pitchFamily="34" charset="-120"/>
              </a:rPr>
              <a:t>Lo consagra</a:t>
            </a:r>
            <a:endParaRPr lang="en-US" sz="1040" dirty="0"/>
          </a:p>
        </p:txBody>
      </p:sp>
      <p:sp>
        <p:nvSpPr>
          <p:cNvPr id="20" name="Text 17"/>
          <p:cNvSpPr txBox="1"/>
          <p:nvPr/>
        </p:nvSpPr>
        <p:spPr>
          <a:xfrm>
            <a:off x="10259568" y="2816352"/>
            <a:ext cx="1188720" cy="219456"/>
          </a:xfrm>
          <a:prstGeom prst="rect">
            <a:avLst/>
          </a:prstGeom>
          <a:noFill/>
          <a:ln/>
        </p:spPr>
        <p:txBody>
          <a:bodyPr wrap="square" lIns="0" tIns="0" rIns="0" bIns="0" rtlCol="0" anchor="t"/>
          <a:lstStyle/>
          <a:p>
            <a:pPr algn="l" indent="0" marL="0">
              <a:buNone/>
            </a:pPr>
            <a:r>
              <a:rPr lang="en-US" sz="1040" b="1" dirty="0">
                <a:solidFill>
                  <a:srgbClr val="B3181E"/>
                </a:solidFill>
                <a:latin typeface="Aptos" pitchFamily="34" charset="0"/>
                <a:ea typeface="Aptos" pitchFamily="34" charset="-122"/>
                <a:cs typeface="Aptos" pitchFamily="34" charset="-120"/>
              </a:rPr>
              <a:t>← protocolo A</a:t>
            </a:r>
            <a:endParaRPr lang="en-US" sz="1040" dirty="0"/>
          </a:p>
        </p:txBody>
      </p:sp>
      <p:sp>
        <p:nvSpPr>
          <p:cNvPr id="21" name="Shape 18"/>
          <p:cNvSpPr/>
          <p:nvPr/>
        </p:nvSpPr>
        <p:spPr>
          <a:xfrm>
            <a:off x="658368" y="3127248"/>
            <a:ext cx="45720" cy="347472"/>
          </a:xfrm>
          <a:prstGeom prst="rect">
            <a:avLst/>
          </a:prstGeom>
          <a:solidFill>
            <a:srgbClr val="2E7D4F"/>
          </a:solidFill>
          <a:ln w="12700">
            <a:solidFill>
              <a:srgbClr val="2E7D4F"/>
            </a:solidFill>
            <a:prstDash val="solid"/>
          </a:ln>
        </p:spPr>
      </p:sp>
      <p:sp>
        <p:nvSpPr>
          <p:cNvPr id="22" name="Text 19"/>
          <p:cNvSpPr txBox="1"/>
          <p:nvPr/>
        </p:nvSpPr>
        <p:spPr>
          <a:xfrm>
            <a:off x="859536" y="3200400"/>
            <a:ext cx="3657600" cy="219456"/>
          </a:xfrm>
          <a:prstGeom prst="rect">
            <a:avLst/>
          </a:prstGeom>
          <a:noFill/>
          <a:ln/>
        </p:spPr>
        <p:txBody>
          <a:bodyPr wrap="square" lIns="0" tIns="0" rIns="0" bIns="0" rtlCol="0" anchor="t"/>
          <a:lstStyle/>
          <a:p>
            <a:pPr algn="l" indent="0" marL="0">
              <a:buNone/>
            </a:pPr>
            <a:r>
              <a:rPr lang="en-US" sz="1160" b="1" dirty="0">
                <a:solidFill>
                  <a:srgbClr val="243B53"/>
                </a:solidFill>
                <a:latin typeface="Aptos" pitchFamily="34" charset="0"/>
                <a:ea typeface="Aptos" pitchFamily="34" charset="-122"/>
                <a:cs typeface="Aptos" pitchFamily="34" charset="-120"/>
              </a:rPr>
              <a:t>Derivada de la especificación</a:t>
            </a:r>
            <a:endParaRPr lang="en-US" sz="1160" dirty="0"/>
          </a:p>
        </p:txBody>
      </p:sp>
      <p:sp>
        <p:nvSpPr>
          <p:cNvPr id="23" name="Text 20"/>
          <p:cNvSpPr txBox="1"/>
          <p:nvPr/>
        </p:nvSpPr>
        <p:spPr>
          <a:xfrm>
            <a:off x="4572000" y="3200400"/>
            <a:ext cx="4023360" cy="219456"/>
          </a:xfrm>
          <a:prstGeom prst="rect">
            <a:avLst/>
          </a:prstGeom>
          <a:noFill/>
          <a:ln/>
        </p:spPr>
        <p:txBody>
          <a:bodyPr wrap="square" lIns="0" tIns="0" rIns="0" bIns="0" rtlCol="0" anchor="t"/>
          <a:lstStyle/>
          <a:p>
            <a:pPr algn="l" indent="0" marL="0">
              <a:buNone/>
            </a:pPr>
            <a:r>
              <a:rPr lang="en-US" sz="1120" dirty="0">
                <a:solidFill>
                  <a:srgbClr val="52606D"/>
                </a:solidFill>
                <a:latin typeface="Aptos" pitchFamily="34" charset="0"/>
                <a:ea typeface="Aptos" pitchFamily="34" charset="-122"/>
                <a:cs typeface="Aptos" pitchFamily="34" charset="-120"/>
              </a:rPr>
              <a:t>una regla escrita</a:t>
            </a:r>
            <a:endParaRPr lang="en-US" sz="1120" dirty="0"/>
          </a:p>
        </p:txBody>
      </p:sp>
      <p:sp>
        <p:nvSpPr>
          <p:cNvPr id="24" name="Shape 21"/>
          <p:cNvSpPr/>
          <p:nvPr/>
        </p:nvSpPr>
        <p:spPr>
          <a:xfrm>
            <a:off x="8778240" y="3172968"/>
            <a:ext cx="1371600" cy="256032"/>
          </a:xfrm>
          <a:prstGeom prst="rect">
            <a:avLst/>
          </a:prstGeom>
          <a:solidFill>
            <a:srgbClr val="2E7D4F"/>
          </a:solidFill>
          <a:ln w="12700">
            <a:solidFill>
              <a:srgbClr val="2E7D4F"/>
            </a:solidFill>
            <a:prstDash val="solid"/>
          </a:ln>
        </p:spPr>
      </p:sp>
      <p:sp>
        <p:nvSpPr>
          <p:cNvPr id="25" name="Text 22"/>
          <p:cNvSpPr txBox="1"/>
          <p:nvPr/>
        </p:nvSpPr>
        <p:spPr>
          <a:xfrm>
            <a:off x="8778240" y="3191256"/>
            <a:ext cx="1371600" cy="219456"/>
          </a:xfrm>
          <a:prstGeom prst="rect">
            <a:avLst/>
          </a:prstGeom>
          <a:noFill/>
          <a:ln/>
        </p:spPr>
        <p:txBody>
          <a:bodyPr wrap="square" lIns="0" tIns="0" rIns="0" bIns="0" rtlCol="0" anchor="t"/>
          <a:lstStyle/>
          <a:p>
            <a:pPr algn="ctr" indent="0" marL="0">
              <a:buNone/>
            </a:pPr>
            <a:r>
              <a:rPr lang="en-US" sz="1040" b="1" dirty="0">
                <a:solidFill>
                  <a:srgbClr val="FFFFFF"/>
                </a:solidFill>
                <a:latin typeface="Aptos" pitchFamily="34" charset="0"/>
                <a:ea typeface="Aptos" pitchFamily="34" charset="-122"/>
                <a:cs typeface="Aptos" pitchFamily="34" charset="-120"/>
              </a:rPr>
              <a:t>Lo detecta</a:t>
            </a:r>
            <a:endParaRPr lang="en-US" sz="1040" dirty="0"/>
          </a:p>
        </p:txBody>
      </p:sp>
      <p:sp>
        <p:nvSpPr>
          <p:cNvPr id="26" name="Text 23"/>
          <p:cNvSpPr txBox="1"/>
          <p:nvPr/>
        </p:nvSpPr>
        <p:spPr>
          <a:xfrm>
            <a:off x="10259568" y="3200400"/>
            <a:ext cx="1188720" cy="219456"/>
          </a:xfrm>
          <a:prstGeom prst="rect">
            <a:avLst/>
          </a:prstGeom>
          <a:noFill/>
          <a:ln/>
        </p:spPr>
        <p:txBody>
          <a:bodyPr wrap="square" lIns="0" tIns="0" rIns="0" bIns="0" rtlCol="0" anchor="t"/>
          <a:lstStyle/>
          <a:p>
            <a:pPr algn="l" indent="0" marL="0">
              <a:buNone/>
            </a:pPr>
            <a:r>
              <a:rPr lang="en-US" sz="1040" b="1" dirty="0">
                <a:solidFill>
                  <a:srgbClr val="2E7D4F"/>
                </a:solidFill>
                <a:latin typeface="Aptos" pitchFamily="34" charset="0"/>
                <a:ea typeface="Aptos" pitchFamily="34" charset="-122"/>
                <a:cs typeface="Aptos" pitchFamily="34" charset="-120"/>
              </a:rPr>
              <a:t>← protocolo B</a:t>
            </a:r>
            <a:endParaRPr lang="en-US" sz="1040" dirty="0"/>
          </a:p>
        </p:txBody>
      </p:sp>
      <p:sp>
        <p:nvSpPr>
          <p:cNvPr id="27" name="Shape 24"/>
          <p:cNvSpPr/>
          <p:nvPr/>
        </p:nvSpPr>
        <p:spPr>
          <a:xfrm>
            <a:off x="658368" y="3511296"/>
            <a:ext cx="10874959" cy="347472"/>
          </a:xfrm>
          <a:prstGeom prst="rect">
            <a:avLst/>
          </a:prstGeom>
          <a:solidFill>
            <a:srgbClr val="FFFFFF"/>
          </a:solidFill>
          <a:ln w="12700">
            <a:solidFill>
              <a:srgbClr val="FFFFFF"/>
            </a:solidFill>
            <a:prstDash val="solid"/>
          </a:ln>
        </p:spPr>
      </p:sp>
      <p:sp>
        <p:nvSpPr>
          <p:cNvPr id="28" name="Shape 25"/>
          <p:cNvSpPr/>
          <p:nvPr/>
        </p:nvSpPr>
        <p:spPr>
          <a:xfrm>
            <a:off x="658368" y="3511296"/>
            <a:ext cx="45720" cy="347472"/>
          </a:xfrm>
          <a:prstGeom prst="rect">
            <a:avLst/>
          </a:prstGeom>
          <a:solidFill>
            <a:srgbClr val="8A6A12"/>
          </a:solidFill>
          <a:ln w="12700">
            <a:solidFill>
              <a:srgbClr val="8A6A12"/>
            </a:solidFill>
            <a:prstDash val="solid"/>
          </a:ln>
        </p:spPr>
      </p:sp>
      <p:sp>
        <p:nvSpPr>
          <p:cNvPr id="29" name="Text 26"/>
          <p:cNvSpPr txBox="1"/>
          <p:nvPr/>
        </p:nvSpPr>
        <p:spPr>
          <a:xfrm>
            <a:off x="859536" y="3584448"/>
            <a:ext cx="3657600" cy="219456"/>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Diferencial contra referencia</a:t>
            </a:r>
            <a:endParaRPr lang="en-US" sz="1160" dirty="0"/>
          </a:p>
        </p:txBody>
      </p:sp>
      <p:sp>
        <p:nvSpPr>
          <p:cNvPr id="30" name="Text 27"/>
          <p:cNvSpPr txBox="1"/>
          <p:nvPr/>
        </p:nvSpPr>
        <p:spPr>
          <a:xfrm>
            <a:off x="4572000" y="3584448"/>
            <a:ext cx="4023360" cy="219456"/>
          </a:xfrm>
          <a:prstGeom prst="rect">
            <a:avLst/>
          </a:prstGeom>
          <a:noFill/>
          <a:ln/>
        </p:spPr>
        <p:txBody>
          <a:bodyPr wrap="square" lIns="0" tIns="0" rIns="0" bIns="0" rtlCol="0" anchor="t"/>
          <a:lstStyle/>
          <a:p>
            <a:pPr algn="l" indent="0" marL="0">
              <a:buNone/>
            </a:pPr>
            <a:r>
              <a:rPr lang="en-US" sz="1120" dirty="0">
                <a:solidFill>
                  <a:srgbClr val="52606D"/>
                </a:solidFill>
                <a:latin typeface="Aptos" pitchFamily="34" charset="0"/>
                <a:ea typeface="Aptos" pitchFamily="34" charset="-122"/>
                <a:cs typeface="Aptos" pitchFamily="34" charset="-120"/>
              </a:rPr>
              <a:t>una segunda implementación</a:t>
            </a:r>
            <a:endParaRPr lang="en-US" sz="1120" dirty="0"/>
          </a:p>
        </p:txBody>
      </p:sp>
      <p:sp>
        <p:nvSpPr>
          <p:cNvPr id="31" name="Shape 28"/>
          <p:cNvSpPr/>
          <p:nvPr/>
        </p:nvSpPr>
        <p:spPr>
          <a:xfrm>
            <a:off x="8778240" y="3557016"/>
            <a:ext cx="1371600" cy="256032"/>
          </a:xfrm>
          <a:prstGeom prst="rect">
            <a:avLst/>
          </a:prstGeom>
          <a:solidFill>
            <a:srgbClr val="8A6A12"/>
          </a:solidFill>
          <a:ln w="12700">
            <a:solidFill>
              <a:srgbClr val="8A6A12"/>
            </a:solidFill>
            <a:prstDash val="solid"/>
          </a:ln>
        </p:spPr>
      </p:sp>
      <p:sp>
        <p:nvSpPr>
          <p:cNvPr id="32" name="Text 29"/>
          <p:cNvSpPr txBox="1"/>
          <p:nvPr/>
        </p:nvSpPr>
        <p:spPr>
          <a:xfrm>
            <a:off x="8778240" y="3575304"/>
            <a:ext cx="1371600" cy="219456"/>
          </a:xfrm>
          <a:prstGeom prst="rect">
            <a:avLst/>
          </a:prstGeom>
          <a:noFill/>
          <a:ln/>
        </p:spPr>
        <p:txBody>
          <a:bodyPr wrap="square" lIns="0" tIns="0" rIns="0" bIns="0" rtlCol="0" anchor="t"/>
          <a:lstStyle/>
          <a:p>
            <a:pPr algn="ctr" indent="0" marL="0">
              <a:buNone/>
            </a:pPr>
            <a:r>
              <a:rPr lang="en-US" sz="1040" b="1" dirty="0">
                <a:solidFill>
                  <a:srgbClr val="FFFFFF"/>
                </a:solidFill>
                <a:latin typeface="Aptos" pitchFamily="34" charset="0"/>
                <a:ea typeface="Aptos" pitchFamily="34" charset="-122"/>
                <a:cs typeface="Aptos" pitchFamily="34" charset="-120"/>
              </a:rPr>
              <a:t>Depende</a:t>
            </a:r>
            <a:endParaRPr lang="en-US" sz="1040" dirty="0"/>
          </a:p>
        </p:txBody>
      </p:sp>
      <p:sp>
        <p:nvSpPr>
          <p:cNvPr id="33" name="Shape 30"/>
          <p:cNvSpPr/>
          <p:nvPr/>
        </p:nvSpPr>
        <p:spPr>
          <a:xfrm>
            <a:off x="658368" y="3895344"/>
            <a:ext cx="45720" cy="347472"/>
          </a:xfrm>
          <a:prstGeom prst="rect">
            <a:avLst/>
          </a:prstGeom>
          <a:solidFill>
            <a:srgbClr val="B3181E"/>
          </a:solidFill>
          <a:ln w="12700">
            <a:solidFill>
              <a:srgbClr val="B3181E"/>
            </a:solidFill>
            <a:prstDash val="solid"/>
          </a:ln>
        </p:spPr>
      </p:sp>
      <p:sp>
        <p:nvSpPr>
          <p:cNvPr id="34" name="Text 31"/>
          <p:cNvSpPr txBox="1"/>
          <p:nvPr/>
        </p:nvSpPr>
        <p:spPr>
          <a:xfrm>
            <a:off x="859536" y="3968496"/>
            <a:ext cx="3657600" cy="219456"/>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Regresión desde la versión previa</a:t>
            </a:r>
            <a:endParaRPr lang="en-US" sz="1160" dirty="0"/>
          </a:p>
        </p:txBody>
      </p:sp>
      <p:sp>
        <p:nvSpPr>
          <p:cNvPr id="35" name="Text 32"/>
          <p:cNvSpPr txBox="1"/>
          <p:nvPr/>
        </p:nvSpPr>
        <p:spPr>
          <a:xfrm>
            <a:off x="4572000" y="3968496"/>
            <a:ext cx="4023360" cy="219456"/>
          </a:xfrm>
          <a:prstGeom prst="rect">
            <a:avLst/>
          </a:prstGeom>
          <a:noFill/>
          <a:ln/>
        </p:spPr>
        <p:txBody>
          <a:bodyPr wrap="square" lIns="0" tIns="0" rIns="0" bIns="0" rtlCol="0" anchor="t"/>
          <a:lstStyle/>
          <a:p>
            <a:pPr algn="l" indent="0" marL="0">
              <a:buNone/>
            </a:pPr>
            <a:r>
              <a:rPr lang="en-US" sz="1120" dirty="0">
                <a:solidFill>
                  <a:srgbClr val="52606D"/>
                </a:solidFill>
                <a:latin typeface="Aptos" pitchFamily="34" charset="0"/>
                <a:ea typeface="Aptos" pitchFamily="34" charset="-122"/>
                <a:cs typeface="Aptos" pitchFamily="34" charset="-120"/>
              </a:rPr>
              <a:t>la salida de la versión anterior</a:t>
            </a:r>
            <a:endParaRPr lang="en-US" sz="1120" dirty="0"/>
          </a:p>
        </p:txBody>
      </p:sp>
      <p:sp>
        <p:nvSpPr>
          <p:cNvPr id="36" name="Shape 33"/>
          <p:cNvSpPr/>
          <p:nvPr/>
        </p:nvSpPr>
        <p:spPr>
          <a:xfrm>
            <a:off x="8778240" y="3941064"/>
            <a:ext cx="1371600" cy="256032"/>
          </a:xfrm>
          <a:prstGeom prst="rect">
            <a:avLst/>
          </a:prstGeom>
          <a:solidFill>
            <a:srgbClr val="B3181E"/>
          </a:solidFill>
          <a:ln w="12700">
            <a:solidFill>
              <a:srgbClr val="B3181E"/>
            </a:solidFill>
            <a:prstDash val="solid"/>
          </a:ln>
        </p:spPr>
      </p:sp>
      <p:sp>
        <p:nvSpPr>
          <p:cNvPr id="37" name="Text 34"/>
          <p:cNvSpPr txBox="1"/>
          <p:nvPr/>
        </p:nvSpPr>
        <p:spPr>
          <a:xfrm>
            <a:off x="8778240" y="3959352"/>
            <a:ext cx="1371600" cy="219456"/>
          </a:xfrm>
          <a:prstGeom prst="rect">
            <a:avLst/>
          </a:prstGeom>
          <a:noFill/>
          <a:ln/>
        </p:spPr>
        <p:txBody>
          <a:bodyPr wrap="square" lIns="0" tIns="0" rIns="0" bIns="0" rtlCol="0" anchor="t"/>
          <a:lstStyle/>
          <a:p>
            <a:pPr algn="ctr" indent="0" marL="0">
              <a:buNone/>
            </a:pPr>
            <a:r>
              <a:rPr lang="en-US" sz="1040" b="1" dirty="0">
                <a:solidFill>
                  <a:srgbClr val="FFFFFF"/>
                </a:solidFill>
                <a:latin typeface="Aptos" pitchFamily="34" charset="0"/>
                <a:ea typeface="Aptos" pitchFamily="34" charset="-122"/>
                <a:cs typeface="Aptos" pitchFamily="34" charset="-120"/>
              </a:rPr>
              <a:t>Lo consagra</a:t>
            </a:r>
            <a:endParaRPr lang="en-US" sz="1040" dirty="0"/>
          </a:p>
        </p:txBody>
      </p:sp>
      <p:sp>
        <p:nvSpPr>
          <p:cNvPr id="38" name="Shape 35"/>
          <p:cNvSpPr/>
          <p:nvPr/>
        </p:nvSpPr>
        <p:spPr>
          <a:xfrm>
            <a:off x="658368" y="4279392"/>
            <a:ext cx="10874959" cy="347472"/>
          </a:xfrm>
          <a:prstGeom prst="rect">
            <a:avLst/>
          </a:prstGeom>
          <a:solidFill>
            <a:srgbClr val="FFFFFF"/>
          </a:solidFill>
          <a:ln w="12700">
            <a:solidFill>
              <a:srgbClr val="FFFFFF"/>
            </a:solidFill>
            <a:prstDash val="solid"/>
          </a:ln>
        </p:spPr>
      </p:sp>
      <p:sp>
        <p:nvSpPr>
          <p:cNvPr id="39" name="Shape 36"/>
          <p:cNvSpPr/>
          <p:nvPr/>
        </p:nvSpPr>
        <p:spPr>
          <a:xfrm>
            <a:off x="658368" y="4279392"/>
            <a:ext cx="45720" cy="347472"/>
          </a:xfrm>
          <a:prstGeom prst="rect">
            <a:avLst/>
          </a:prstGeom>
          <a:solidFill>
            <a:srgbClr val="8A6A12"/>
          </a:solidFill>
          <a:ln w="12700">
            <a:solidFill>
              <a:srgbClr val="8A6A12"/>
            </a:solidFill>
            <a:prstDash val="solid"/>
          </a:ln>
        </p:spPr>
      </p:sp>
      <p:sp>
        <p:nvSpPr>
          <p:cNvPr id="40" name="Text 37"/>
          <p:cNvSpPr txBox="1"/>
          <p:nvPr/>
        </p:nvSpPr>
        <p:spPr>
          <a:xfrm>
            <a:off x="859536" y="4352544"/>
            <a:ext cx="3657600" cy="219456"/>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Obtenida de una persona</a:t>
            </a:r>
            <a:endParaRPr lang="en-US" sz="1160" dirty="0"/>
          </a:p>
        </p:txBody>
      </p:sp>
      <p:sp>
        <p:nvSpPr>
          <p:cNvPr id="41" name="Text 38"/>
          <p:cNvSpPr txBox="1"/>
          <p:nvPr/>
        </p:nvSpPr>
        <p:spPr>
          <a:xfrm>
            <a:off x="4572000" y="4352544"/>
            <a:ext cx="4023360" cy="219456"/>
          </a:xfrm>
          <a:prstGeom prst="rect">
            <a:avLst/>
          </a:prstGeom>
          <a:noFill/>
          <a:ln/>
        </p:spPr>
        <p:txBody>
          <a:bodyPr wrap="square" lIns="0" tIns="0" rIns="0" bIns="0" rtlCol="0" anchor="t"/>
          <a:lstStyle/>
          <a:p>
            <a:pPr algn="l" indent="0" marL="0">
              <a:buNone/>
            </a:pPr>
            <a:r>
              <a:rPr lang="en-US" sz="1120" dirty="0">
                <a:solidFill>
                  <a:srgbClr val="52606D"/>
                </a:solidFill>
                <a:latin typeface="Aptos" pitchFamily="34" charset="0"/>
                <a:ea typeface="Aptos" pitchFamily="34" charset="-122"/>
                <a:cs typeface="Aptos" pitchFamily="34" charset="-120"/>
              </a:rPr>
              <a:t>la respuesta que dio alguien</a:t>
            </a:r>
            <a:endParaRPr lang="en-US" sz="1120" dirty="0"/>
          </a:p>
        </p:txBody>
      </p:sp>
      <p:sp>
        <p:nvSpPr>
          <p:cNvPr id="42" name="Shape 39"/>
          <p:cNvSpPr/>
          <p:nvPr/>
        </p:nvSpPr>
        <p:spPr>
          <a:xfrm>
            <a:off x="8778240" y="4325112"/>
            <a:ext cx="1371600" cy="256032"/>
          </a:xfrm>
          <a:prstGeom prst="rect">
            <a:avLst/>
          </a:prstGeom>
          <a:solidFill>
            <a:srgbClr val="8A6A12"/>
          </a:solidFill>
          <a:ln w="12700">
            <a:solidFill>
              <a:srgbClr val="8A6A12"/>
            </a:solidFill>
            <a:prstDash val="solid"/>
          </a:ln>
        </p:spPr>
      </p:sp>
      <p:sp>
        <p:nvSpPr>
          <p:cNvPr id="43" name="Text 40"/>
          <p:cNvSpPr txBox="1"/>
          <p:nvPr/>
        </p:nvSpPr>
        <p:spPr>
          <a:xfrm>
            <a:off x="8778240" y="4343400"/>
            <a:ext cx="1371600" cy="219456"/>
          </a:xfrm>
          <a:prstGeom prst="rect">
            <a:avLst/>
          </a:prstGeom>
          <a:noFill/>
          <a:ln/>
        </p:spPr>
        <p:txBody>
          <a:bodyPr wrap="square" lIns="0" tIns="0" rIns="0" bIns="0" rtlCol="0" anchor="t"/>
          <a:lstStyle/>
          <a:p>
            <a:pPr algn="ctr" indent="0" marL="0">
              <a:buNone/>
            </a:pPr>
            <a:r>
              <a:rPr lang="en-US" sz="1040" b="1" dirty="0">
                <a:solidFill>
                  <a:srgbClr val="FFFFFF"/>
                </a:solidFill>
                <a:latin typeface="Aptos" pitchFamily="34" charset="0"/>
                <a:ea typeface="Aptos" pitchFamily="34" charset="-122"/>
                <a:cs typeface="Aptos" pitchFamily="34" charset="-120"/>
              </a:rPr>
              <a:t>Depende</a:t>
            </a:r>
            <a:endParaRPr lang="en-US" sz="1040" dirty="0"/>
          </a:p>
        </p:txBody>
      </p:sp>
      <p:sp>
        <p:nvSpPr>
          <p:cNvPr id="44" name="Shape 41"/>
          <p:cNvSpPr/>
          <p:nvPr/>
        </p:nvSpPr>
        <p:spPr>
          <a:xfrm>
            <a:off x="658368" y="4663440"/>
            <a:ext cx="45720" cy="347472"/>
          </a:xfrm>
          <a:prstGeom prst="rect">
            <a:avLst/>
          </a:prstGeom>
          <a:solidFill>
            <a:srgbClr val="8A6A12"/>
          </a:solidFill>
          <a:ln w="12700">
            <a:solidFill>
              <a:srgbClr val="8A6A12"/>
            </a:solidFill>
            <a:prstDash val="solid"/>
          </a:ln>
        </p:spPr>
      </p:sp>
      <p:sp>
        <p:nvSpPr>
          <p:cNvPr id="45" name="Text 42"/>
          <p:cNvSpPr txBox="1"/>
          <p:nvPr/>
        </p:nvSpPr>
        <p:spPr>
          <a:xfrm>
            <a:off x="859536" y="4736592"/>
            <a:ext cx="3657600" cy="219456"/>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Paramétrica del modelo</a:t>
            </a:r>
            <a:endParaRPr lang="en-US" sz="1160" dirty="0"/>
          </a:p>
        </p:txBody>
      </p:sp>
      <p:sp>
        <p:nvSpPr>
          <p:cNvPr id="46" name="Text 43"/>
          <p:cNvSpPr txBox="1"/>
          <p:nvPr/>
        </p:nvSpPr>
        <p:spPr>
          <a:xfrm>
            <a:off x="4572000" y="4736592"/>
            <a:ext cx="4023360" cy="219456"/>
          </a:xfrm>
          <a:prstGeom prst="rect">
            <a:avLst/>
          </a:prstGeom>
          <a:noFill/>
          <a:ln/>
        </p:spPr>
        <p:txBody>
          <a:bodyPr wrap="square" lIns="0" tIns="0" rIns="0" bIns="0" rtlCol="0" anchor="t"/>
          <a:lstStyle/>
          <a:p>
            <a:pPr algn="l" indent="0" marL="0">
              <a:buNone/>
            </a:pPr>
            <a:r>
              <a:rPr lang="en-US" sz="1120" dirty="0">
                <a:solidFill>
                  <a:srgbClr val="52606D"/>
                </a:solidFill>
                <a:latin typeface="Aptos" pitchFamily="34" charset="0"/>
                <a:ea typeface="Aptos" pitchFamily="34" charset="-122"/>
                <a:cs typeface="Aptos" pitchFamily="34" charset="-120"/>
              </a:rPr>
              <a:t>lo que el modelo aprendió entrenando</a:t>
            </a:r>
            <a:endParaRPr lang="en-US" sz="1120" dirty="0"/>
          </a:p>
        </p:txBody>
      </p:sp>
      <p:sp>
        <p:nvSpPr>
          <p:cNvPr id="47" name="Shape 44"/>
          <p:cNvSpPr/>
          <p:nvPr/>
        </p:nvSpPr>
        <p:spPr>
          <a:xfrm>
            <a:off x="8778240" y="4709160"/>
            <a:ext cx="1371600" cy="256032"/>
          </a:xfrm>
          <a:prstGeom prst="rect">
            <a:avLst/>
          </a:prstGeom>
          <a:solidFill>
            <a:srgbClr val="8A6A12"/>
          </a:solidFill>
          <a:ln w="12700">
            <a:solidFill>
              <a:srgbClr val="8A6A12"/>
            </a:solidFill>
            <a:prstDash val="solid"/>
          </a:ln>
        </p:spPr>
      </p:sp>
      <p:sp>
        <p:nvSpPr>
          <p:cNvPr id="48" name="Text 45"/>
          <p:cNvSpPr txBox="1"/>
          <p:nvPr/>
        </p:nvSpPr>
        <p:spPr>
          <a:xfrm>
            <a:off x="8778240" y="4727448"/>
            <a:ext cx="1371600" cy="219456"/>
          </a:xfrm>
          <a:prstGeom prst="rect">
            <a:avLst/>
          </a:prstGeom>
          <a:noFill/>
          <a:ln/>
        </p:spPr>
        <p:txBody>
          <a:bodyPr wrap="square" lIns="0" tIns="0" rIns="0" bIns="0" rtlCol="0" anchor="t"/>
          <a:lstStyle/>
          <a:p>
            <a:pPr algn="ctr" indent="0" marL="0">
              <a:buNone/>
            </a:pPr>
            <a:r>
              <a:rPr lang="en-US" sz="1040" b="1" dirty="0">
                <a:solidFill>
                  <a:srgbClr val="FFFFFF"/>
                </a:solidFill>
                <a:latin typeface="Aptos" pitchFamily="34" charset="0"/>
                <a:ea typeface="Aptos" pitchFamily="34" charset="-122"/>
                <a:cs typeface="Aptos" pitchFamily="34" charset="-120"/>
              </a:rPr>
              <a:t>Depende</a:t>
            </a:r>
            <a:endParaRPr lang="en-US" sz="1040" dirty="0"/>
          </a:p>
        </p:txBody>
      </p:sp>
      <p:sp>
        <p:nvSpPr>
          <p:cNvPr id="49" name="Shape 46"/>
          <p:cNvSpPr/>
          <p:nvPr/>
        </p:nvSpPr>
        <p:spPr>
          <a:xfrm>
            <a:off x="658368" y="5047488"/>
            <a:ext cx="10874959" cy="347472"/>
          </a:xfrm>
          <a:prstGeom prst="rect">
            <a:avLst/>
          </a:prstGeom>
          <a:solidFill>
            <a:srgbClr val="FFFFFF"/>
          </a:solidFill>
          <a:ln w="12700">
            <a:solidFill>
              <a:srgbClr val="FFFFFF"/>
            </a:solidFill>
            <a:prstDash val="solid"/>
          </a:ln>
        </p:spPr>
      </p:sp>
      <p:sp>
        <p:nvSpPr>
          <p:cNvPr id="50" name="Shape 47"/>
          <p:cNvSpPr/>
          <p:nvPr/>
        </p:nvSpPr>
        <p:spPr>
          <a:xfrm>
            <a:off x="658368" y="5047488"/>
            <a:ext cx="45720" cy="347472"/>
          </a:xfrm>
          <a:prstGeom prst="rect">
            <a:avLst/>
          </a:prstGeom>
          <a:solidFill>
            <a:srgbClr val="52606D"/>
          </a:solidFill>
          <a:ln w="12700">
            <a:solidFill>
              <a:srgbClr val="52606D"/>
            </a:solidFill>
            <a:prstDash val="solid"/>
          </a:ln>
        </p:spPr>
      </p:sp>
      <p:sp>
        <p:nvSpPr>
          <p:cNvPr id="51" name="Text 48"/>
          <p:cNvSpPr txBox="1"/>
          <p:nvPr/>
        </p:nvSpPr>
        <p:spPr>
          <a:xfrm>
            <a:off x="859536" y="5120640"/>
            <a:ext cx="3657600" cy="219456"/>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Intrínseca implícita</a:t>
            </a:r>
            <a:endParaRPr lang="en-US" sz="1160" dirty="0"/>
          </a:p>
        </p:txBody>
      </p:sp>
      <p:sp>
        <p:nvSpPr>
          <p:cNvPr id="52" name="Text 49"/>
          <p:cNvSpPr txBox="1"/>
          <p:nvPr/>
        </p:nvSpPr>
        <p:spPr>
          <a:xfrm>
            <a:off x="4572000" y="5120640"/>
            <a:ext cx="4023360" cy="219456"/>
          </a:xfrm>
          <a:prstGeom prst="rect">
            <a:avLst/>
          </a:prstGeom>
          <a:noFill/>
          <a:ln/>
        </p:spPr>
        <p:txBody>
          <a:bodyPr wrap="square" lIns="0" tIns="0" rIns="0" bIns="0" rtlCol="0" anchor="t"/>
          <a:lstStyle/>
          <a:p>
            <a:pPr algn="l" indent="0" marL="0">
              <a:buNone/>
            </a:pPr>
            <a:r>
              <a:rPr lang="en-US" sz="1120" dirty="0">
                <a:solidFill>
                  <a:srgbClr val="52606D"/>
                </a:solidFill>
                <a:latin typeface="Aptos" pitchFamily="34" charset="0"/>
                <a:ea typeface="Aptos" pitchFamily="34" charset="-122"/>
                <a:cs typeface="Aptos" pitchFamily="34" charset="-120"/>
              </a:rPr>
              <a:t>que no lance excepción, que el tipo calce</a:t>
            </a:r>
            <a:endParaRPr lang="en-US" sz="1120" dirty="0"/>
          </a:p>
        </p:txBody>
      </p:sp>
      <p:sp>
        <p:nvSpPr>
          <p:cNvPr id="53" name="Shape 50"/>
          <p:cNvSpPr/>
          <p:nvPr/>
        </p:nvSpPr>
        <p:spPr>
          <a:xfrm>
            <a:off x="8778240" y="5093208"/>
            <a:ext cx="1371600" cy="256032"/>
          </a:xfrm>
          <a:prstGeom prst="rect">
            <a:avLst/>
          </a:prstGeom>
          <a:solidFill>
            <a:srgbClr val="52606D"/>
          </a:solidFill>
          <a:ln w="12700">
            <a:solidFill>
              <a:srgbClr val="52606D"/>
            </a:solidFill>
            <a:prstDash val="solid"/>
          </a:ln>
        </p:spPr>
      </p:sp>
      <p:sp>
        <p:nvSpPr>
          <p:cNvPr id="54" name="Text 51"/>
          <p:cNvSpPr txBox="1"/>
          <p:nvPr/>
        </p:nvSpPr>
        <p:spPr>
          <a:xfrm>
            <a:off x="8778240" y="5111496"/>
            <a:ext cx="1371600" cy="219456"/>
          </a:xfrm>
          <a:prstGeom prst="rect">
            <a:avLst/>
          </a:prstGeom>
          <a:noFill/>
          <a:ln/>
        </p:spPr>
        <p:txBody>
          <a:bodyPr wrap="square" lIns="0" tIns="0" rIns="0" bIns="0" rtlCol="0" anchor="t"/>
          <a:lstStyle/>
          <a:p>
            <a:pPr algn="ctr" indent="0" marL="0">
              <a:buNone/>
            </a:pPr>
            <a:r>
              <a:rPr lang="en-US" sz="1040" b="1" dirty="0">
                <a:solidFill>
                  <a:srgbClr val="FFFFFF"/>
                </a:solidFill>
                <a:latin typeface="Aptos" pitchFamily="34" charset="0"/>
                <a:ea typeface="Aptos" pitchFamily="34" charset="-122"/>
                <a:cs typeface="Aptos" pitchFamily="34" charset="-120"/>
              </a:rPr>
              <a:t>No lo ve</a:t>
            </a:r>
            <a:endParaRPr lang="en-US" sz="1040" dirty="0"/>
          </a:p>
        </p:txBody>
      </p:sp>
      <p:sp>
        <p:nvSpPr>
          <p:cNvPr id="55" name="Shape 52"/>
          <p:cNvSpPr/>
          <p:nvPr/>
        </p:nvSpPr>
        <p:spPr>
          <a:xfrm>
            <a:off x="658368" y="5541264"/>
            <a:ext cx="45720" cy="182880"/>
          </a:xfrm>
          <a:prstGeom prst="rect">
            <a:avLst/>
          </a:prstGeom>
          <a:solidFill>
            <a:srgbClr val="8A6A12"/>
          </a:solidFill>
          <a:ln w="12700">
            <a:solidFill>
              <a:srgbClr val="8A6A12"/>
            </a:solidFill>
            <a:prstDash val="solid"/>
          </a:ln>
        </p:spPr>
      </p:sp>
      <p:sp>
        <p:nvSpPr>
          <p:cNvPr id="56" name="Text 53"/>
          <p:cNvSpPr txBox="1"/>
          <p:nvPr/>
        </p:nvSpPr>
        <p:spPr>
          <a:xfrm>
            <a:off x="804672" y="5532120"/>
            <a:ext cx="1042416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Mughal y Bilal, «LLM-Based Test Oracles: Source-of-Authority Taxonomy», IEEE Access (2026). Poco más de la mitad de los sistemas revisados emite su veredicto sin especificación alguna.</a:t>
            </a:r>
            <a:endParaRPr lang="en-US" sz="920" dirty="0"/>
          </a:p>
        </p:txBody>
      </p:sp>
      <p:sp>
        <p:nvSpPr>
          <p:cNvPr id="57" name="Shape 54"/>
          <p:cNvSpPr/>
          <p:nvPr/>
        </p:nvSpPr>
        <p:spPr>
          <a:xfrm>
            <a:off x="658368" y="5815584"/>
            <a:ext cx="10874959" cy="512064"/>
          </a:xfrm>
          <a:prstGeom prst="rect">
            <a:avLst/>
          </a:prstGeom>
          <a:solidFill>
            <a:srgbClr val="102A43"/>
          </a:solidFill>
          <a:ln w="12700">
            <a:solidFill>
              <a:srgbClr val="102A43"/>
            </a:solidFill>
            <a:prstDash val="solid"/>
          </a:ln>
        </p:spPr>
      </p:sp>
      <p:sp>
        <p:nvSpPr>
          <p:cNvPr id="58" name="Text 55"/>
          <p:cNvSpPr txBox="1"/>
          <p:nvPr/>
        </p:nvSpPr>
        <p:spPr>
          <a:xfrm>
            <a:off x="969264" y="5861304"/>
            <a:ext cx="10253167" cy="420624"/>
          </a:xfrm>
          <a:prstGeom prst="rect">
            <a:avLst/>
          </a:prstGeom>
          <a:noFill/>
          <a:ln/>
        </p:spPr>
        <p:txBody>
          <a:bodyPr wrap="square" lIns="0" tIns="0" rIns="0" bIns="0" rtlCol="0" anchor="ctr"/>
          <a:lstStyle/>
          <a:p>
            <a:pPr algn="ctr" indent="0" marL="0">
              <a:lnSpc>
                <a:spcPct val="112000"/>
              </a:lnSpc>
              <a:buNone/>
            </a:pPr>
            <a:r>
              <a:rPr lang="en-US" sz="1340" b="1" dirty="0">
                <a:solidFill>
                  <a:srgbClr val="FFFFFF"/>
                </a:solidFill>
                <a:latin typeface="Aptos" pitchFamily="34" charset="0"/>
                <a:ea typeface="Aptos" pitchFamily="34" charset="-122"/>
                <a:cs typeface="Aptos" pitchFamily="34" charset="-120"/>
              </a:rPr>
              <a:t>La pregunta que hay que hacerle a cualquier prueba: si alguien discute su veredicto, ¿a qué apuntas para defenderlo?</a:t>
            </a:r>
            <a:endParaRPr lang="en-US" sz="134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22</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EL INVENTARIO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Dónde se escribe todo esto: la norma ya tiene la lista</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ISO/IEC/IEEE 29119 es la norma internacional de pruebas de software. Su parte 3 define qué documentos produce un proceso de pruebas, en tres niveles.</a:t>
            </a:r>
            <a:endParaRPr lang="en-US" sz="1450" dirty="0"/>
          </a:p>
        </p:txBody>
      </p:sp>
      <p:sp>
        <p:nvSpPr>
          <p:cNvPr id="11" name="Shape 8"/>
          <p:cNvSpPr/>
          <p:nvPr/>
        </p:nvSpPr>
        <p:spPr>
          <a:xfrm>
            <a:off x="658368" y="2377440"/>
            <a:ext cx="10874959" cy="841248"/>
          </a:xfrm>
          <a:prstGeom prst="rect">
            <a:avLst/>
          </a:prstGeom>
          <a:solidFill>
            <a:srgbClr val="FFFFFF"/>
          </a:solidFill>
          <a:ln w="12700">
            <a:solidFill>
              <a:srgbClr val="FFFFFF"/>
            </a:solidFill>
            <a:prstDash val="solid"/>
          </a:ln>
        </p:spPr>
      </p:sp>
      <p:sp>
        <p:nvSpPr>
          <p:cNvPr id="12" name="Shape 9"/>
          <p:cNvSpPr/>
          <p:nvPr/>
        </p:nvSpPr>
        <p:spPr>
          <a:xfrm>
            <a:off x="658368" y="2377440"/>
            <a:ext cx="64008" cy="841248"/>
          </a:xfrm>
          <a:prstGeom prst="rect">
            <a:avLst/>
          </a:prstGeom>
          <a:solidFill>
            <a:srgbClr val="102A43"/>
          </a:solidFill>
          <a:ln w="12700">
            <a:solidFill>
              <a:srgbClr val="102A43"/>
            </a:solidFill>
            <a:prstDash val="solid"/>
          </a:ln>
        </p:spPr>
      </p:sp>
      <p:sp>
        <p:nvSpPr>
          <p:cNvPr id="13" name="Text 10"/>
          <p:cNvSpPr txBox="1"/>
          <p:nvPr/>
        </p:nvSpPr>
        <p:spPr>
          <a:xfrm>
            <a:off x="932688" y="2505456"/>
            <a:ext cx="3108960" cy="201168"/>
          </a:xfrm>
          <a:prstGeom prst="rect">
            <a:avLst/>
          </a:prstGeom>
          <a:noFill/>
          <a:ln/>
        </p:spPr>
        <p:txBody>
          <a:bodyPr wrap="square" lIns="0" tIns="0" rIns="0" bIns="0" rtlCol="0" anchor="t"/>
          <a:lstStyle/>
          <a:p>
            <a:pPr algn="l" indent="0" marL="0">
              <a:buNone/>
            </a:pPr>
            <a:r>
              <a:rPr lang="en-US" sz="980" b="1" spc="120" kern="0" dirty="0">
                <a:solidFill>
                  <a:srgbClr val="102A43"/>
                </a:solidFill>
                <a:latin typeface="Aptos" pitchFamily="34" charset="0"/>
                <a:ea typeface="Aptos" pitchFamily="34" charset="-122"/>
                <a:cs typeface="Aptos" pitchFamily="34" charset="-120"/>
              </a:rPr>
              <a:t>NIVEL ORGANIZACIONAL</a:t>
            </a:r>
            <a:endParaRPr lang="en-US" sz="980" dirty="0"/>
          </a:p>
        </p:txBody>
      </p:sp>
      <p:sp>
        <p:nvSpPr>
          <p:cNvPr id="14" name="Text 11"/>
          <p:cNvSpPr txBox="1"/>
          <p:nvPr/>
        </p:nvSpPr>
        <p:spPr>
          <a:xfrm>
            <a:off x="4224528" y="2496312"/>
            <a:ext cx="4754880" cy="219456"/>
          </a:xfrm>
          <a:prstGeom prst="rect">
            <a:avLst/>
          </a:prstGeom>
          <a:noFill/>
          <a:ln/>
        </p:spPr>
        <p:txBody>
          <a:bodyPr wrap="square" lIns="0" tIns="0" rIns="0" bIns="0" rtlCol="0" anchor="t"/>
          <a:lstStyle/>
          <a:p>
            <a:pPr algn="l" indent="0" marL="0">
              <a:buNone/>
            </a:pPr>
            <a:r>
              <a:rPr lang="en-US" sz="1160" i="1" dirty="0">
                <a:solidFill>
                  <a:srgbClr val="52606D"/>
                </a:solidFill>
                <a:latin typeface="Aptos" pitchFamily="34" charset="0"/>
                <a:ea typeface="Aptos" pitchFamily="34" charset="-122"/>
                <a:cs typeface="Aptos" pitchFamily="34" charset="-120"/>
              </a:rPr>
              <a:t>Lo que vale para toda la organización</a:t>
            </a:r>
            <a:endParaRPr lang="en-US" sz="1160" dirty="0"/>
          </a:p>
        </p:txBody>
      </p:sp>
      <p:sp>
        <p:nvSpPr>
          <p:cNvPr id="15" name="Shape 12"/>
          <p:cNvSpPr/>
          <p:nvPr/>
        </p:nvSpPr>
        <p:spPr>
          <a:xfrm>
            <a:off x="932688" y="2798064"/>
            <a:ext cx="3346704" cy="292608"/>
          </a:xfrm>
          <a:prstGeom prst="rect">
            <a:avLst/>
          </a:prstGeom>
          <a:solidFill>
            <a:srgbClr val="EDE6DA"/>
          </a:solidFill>
          <a:ln w="12700">
            <a:solidFill>
              <a:srgbClr val="EDE6DA"/>
            </a:solidFill>
            <a:prstDash val="solid"/>
          </a:ln>
        </p:spPr>
      </p:sp>
      <p:sp>
        <p:nvSpPr>
          <p:cNvPr id="16" name="Text 13"/>
          <p:cNvSpPr txBox="1"/>
          <p:nvPr/>
        </p:nvSpPr>
        <p:spPr>
          <a:xfrm>
            <a:off x="1060704" y="2843784"/>
            <a:ext cx="3108960" cy="219456"/>
          </a:xfrm>
          <a:prstGeom prst="rect">
            <a:avLst/>
          </a:prstGeom>
          <a:noFill/>
          <a:ln/>
        </p:spPr>
        <p:txBody>
          <a:bodyPr wrap="square" lIns="0" tIns="0" rIns="0" bIns="0" rtlCol="0" anchor="t"/>
          <a:lstStyle/>
          <a:p>
            <a:pPr algn="l" indent="0" marL="0">
              <a:buNone/>
            </a:pPr>
            <a:r>
              <a:rPr lang="en-US" sz="1140" dirty="0">
                <a:solidFill>
                  <a:srgbClr val="243B53"/>
                </a:solidFill>
                <a:latin typeface="Aptos" pitchFamily="34" charset="0"/>
                <a:ea typeface="Aptos" pitchFamily="34" charset="-122"/>
                <a:cs typeface="Aptos" pitchFamily="34" charset="-120"/>
              </a:rPr>
              <a:t>Política de pruebas</a:t>
            </a:r>
            <a:endParaRPr lang="en-US" sz="1140" dirty="0"/>
          </a:p>
        </p:txBody>
      </p:sp>
      <p:sp>
        <p:nvSpPr>
          <p:cNvPr id="17" name="Shape 14"/>
          <p:cNvSpPr/>
          <p:nvPr/>
        </p:nvSpPr>
        <p:spPr>
          <a:xfrm>
            <a:off x="4462272" y="2798064"/>
            <a:ext cx="3346704" cy="292608"/>
          </a:xfrm>
          <a:prstGeom prst="rect">
            <a:avLst/>
          </a:prstGeom>
          <a:solidFill>
            <a:srgbClr val="EDE6DA"/>
          </a:solidFill>
          <a:ln w="12700">
            <a:solidFill>
              <a:srgbClr val="EDE6DA"/>
            </a:solidFill>
            <a:prstDash val="solid"/>
          </a:ln>
        </p:spPr>
      </p:sp>
      <p:sp>
        <p:nvSpPr>
          <p:cNvPr id="18" name="Text 15"/>
          <p:cNvSpPr txBox="1"/>
          <p:nvPr/>
        </p:nvSpPr>
        <p:spPr>
          <a:xfrm>
            <a:off x="4590288" y="2843784"/>
            <a:ext cx="3108960" cy="219456"/>
          </a:xfrm>
          <a:prstGeom prst="rect">
            <a:avLst/>
          </a:prstGeom>
          <a:noFill/>
          <a:ln/>
        </p:spPr>
        <p:txBody>
          <a:bodyPr wrap="square" lIns="0" tIns="0" rIns="0" bIns="0" rtlCol="0" anchor="t"/>
          <a:lstStyle/>
          <a:p>
            <a:pPr algn="l" indent="0" marL="0">
              <a:buNone/>
            </a:pPr>
            <a:r>
              <a:rPr lang="en-US" sz="1140" dirty="0">
                <a:solidFill>
                  <a:srgbClr val="243B53"/>
                </a:solidFill>
                <a:latin typeface="Aptos" pitchFamily="34" charset="0"/>
                <a:ea typeface="Aptos" pitchFamily="34" charset="-122"/>
                <a:cs typeface="Aptos" pitchFamily="34" charset="-120"/>
              </a:rPr>
              <a:t>Prácticas organizacionales</a:t>
            </a:r>
            <a:endParaRPr lang="en-US" sz="1140" dirty="0"/>
          </a:p>
        </p:txBody>
      </p:sp>
      <p:sp>
        <p:nvSpPr>
          <p:cNvPr id="19" name="Shape 16"/>
          <p:cNvSpPr/>
          <p:nvPr/>
        </p:nvSpPr>
        <p:spPr>
          <a:xfrm>
            <a:off x="658368" y="3364992"/>
            <a:ext cx="10874959" cy="841248"/>
          </a:xfrm>
          <a:prstGeom prst="rect">
            <a:avLst/>
          </a:prstGeom>
          <a:solidFill>
            <a:srgbClr val="FFFFFF"/>
          </a:solidFill>
          <a:ln w="12700">
            <a:solidFill>
              <a:srgbClr val="FFFFFF"/>
            </a:solidFill>
            <a:prstDash val="solid"/>
          </a:ln>
        </p:spPr>
      </p:sp>
      <p:sp>
        <p:nvSpPr>
          <p:cNvPr id="20" name="Shape 17"/>
          <p:cNvSpPr/>
          <p:nvPr/>
        </p:nvSpPr>
        <p:spPr>
          <a:xfrm>
            <a:off x="658368" y="3364992"/>
            <a:ext cx="64008" cy="841248"/>
          </a:xfrm>
          <a:prstGeom prst="rect">
            <a:avLst/>
          </a:prstGeom>
          <a:solidFill>
            <a:srgbClr val="255A4C"/>
          </a:solidFill>
          <a:ln w="12700">
            <a:solidFill>
              <a:srgbClr val="255A4C"/>
            </a:solidFill>
            <a:prstDash val="solid"/>
          </a:ln>
        </p:spPr>
      </p:sp>
      <p:sp>
        <p:nvSpPr>
          <p:cNvPr id="21" name="Text 18"/>
          <p:cNvSpPr txBox="1"/>
          <p:nvPr/>
        </p:nvSpPr>
        <p:spPr>
          <a:xfrm>
            <a:off x="932688" y="3493008"/>
            <a:ext cx="3108960" cy="201168"/>
          </a:xfrm>
          <a:prstGeom prst="rect">
            <a:avLst/>
          </a:prstGeom>
          <a:noFill/>
          <a:ln/>
        </p:spPr>
        <p:txBody>
          <a:bodyPr wrap="square" lIns="0" tIns="0" rIns="0" bIns="0" rtlCol="0" anchor="t"/>
          <a:lstStyle/>
          <a:p>
            <a:pPr algn="l" indent="0" marL="0">
              <a:buNone/>
            </a:pPr>
            <a:r>
              <a:rPr lang="en-US" sz="980" b="1" spc="120" kern="0" dirty="0">
                <a:solidFill>
                  <a:srgbClr val="255A4C"/>
                </a:solidFill>
                <a:latin typeface="Aptos" pitchFamily="34" charset="0"/>
                <a:ea typeface="Aptos" pitchFamily="34" charset="-122"/>
                <a:cs typeface="Aptos" pitchFamily="34" charset="-120"/>
              </a:rPr>
              <a:t>NIVEL DE GESTIÓN</a:t>
            </a:r>
            <a:endParaRPr lang="en-US" sz="980" dirty="0"/>
          </a:p>
        </p:txBody>
      </p:sp>
      <p:sp>
        <p:nvSpPr>
          <p:cNvPr id="22" name="Text 19"/>
          <p:cNvSpPr txBox="1"/>
          <p:nvPr/>
        </p:nvSpPr>
        <p:spPr>
          <a:xfrm>
            <a:off x="4224528" y="3483864"/>
            <a:ext cx="4754880" cy="219456"/>
          </a:xfrm>
          <a:prstGeom prst="rect">
            <a:avLst/>
          </a:prstGeom>
          <a:noFill/>
          <a:ln/>
        </p:spPr>
        <p:txBody>
          <a:bodyPr wrap="square" lIns="0" tIns="0" rIns="0" bIns="0" rtlCol="0" anchor="t"/>
          <a:lstStyle/>
          <a:p>
            <a:pPr algn="l" indent="0" marL="0">
              <a:buNone/>
            </a:pPr>
            <a:r>
              <a:rPr lang="en-US" sz="1160" i="1" dirty="0">
                <a:solidFill>
                  <a:srgbClr val="52606D"/>
                </a:solidFill>
                <a:latin typeface="Aptos" pitchFamily="34" charset="0"/>
                <a:ea typeface="Aptos" pitchFamily="34" charset="-122"/>
                <a:cs typeface="Aptos" pitchFamily="34" charset="-120"/>
              </a:rPr>
              <a:t>Lo que vale para este proyecto</a:t>
            </a:r>
            <a:endParaRPr lang="en-US" sz="1160" dirty="0"/>
          </a:p>
        </p:txBody>
      </p:sp>
      <p:sp>
        <p:nvSpPr>
          <p:cNvPr id="23" name="Shape 20"/>
          <p:cNvSpPr/>
          <p:nvPr/>
        </p:nvSpPr>
        <p:spPr>
          <a:xfrm>
            <a:off x="932688" y="3785616"/>
            <a:ext cx="3346704" cy="292608"/>
          </a:xfrm>
          <a:prstGeom prst="rect">
            <a:avLst/>
          </a:prstGeom>
          <a:solidFill>
            <a:srgbClr val="EDE6DA"/>
          </a:solidFill>
          <a:ln w="12700">
            <a:solidFill>
              <a:srgbClr val="EDE6DA"/>
            </a:solidFill>
            <a:prstDash val="solid"/>
          </a:ln>
        </p:spPr>
      </p:sp>
      <p:sp>
        <p:nvSpPr>
          <p:cNvPr id="24" name="Text 21"/>
          <p:cNvSpPr txBox="1"/>
          <p:nvPr/>
        </p:nvSpPr>
        <p:spPr>
          <a:xfrm>
            <a:off x="1060704" y="3831336"/>
            <a:ext cx="3108960" cy="219456"/>
          </a:xfrm>
          <a:prstGeom prst="rect">
            <a:avLst/>
          </a:prstGeom>
          <a:noFill/>
          <a:ln/>
        </p:spPr>
        <p:txBody>
          <a:bodyPr wrap="square" lIns="0" tIns="0" rIns="0" bIns="0" rtlCol="0" anchor="t"/>
          <a:lstStyle/>
          <a:p>
            <a:pPr algn="l" indent="0" marL="0">
              <a:buNone/>
            </a:pPr>
            <a:r>
              <a:rPr lang="en-US" sz="1140" dirty="0">
                <a:solidFill>
                  <a:srgbClr val="243B53"/>
                </a:solidFill>
                <a:latin typeface="Aptos" pitchFamily="34" charset="0"/>
                <a:ea typeface="Aptos" pitchFamily="34" charset="-122"/>
                <a:cs typeface="Aptos" pitchFamily="34" charset="-120"/>
              </a:rPr>
              <a:t>Plan de pruebas</a:t>
            </a:r>
            <a:endParaRPr lang="en-US" sz="1140" dirty="0"/>
          </a:p>
        </p:txBody>
      </p:sp>
      <p:sp>
        <p:nvSpPr>
          <p:cNvPr id="25" name="Shape 22"/>
          <p:cNvSpPr/>
          <p:nvPr/>
        </p:nvSpPr>
        <p:spPr>
          <a:xfrm>
            <a:off x="4462272" y="3785616"/>
            <a:ext cx="3346704" cy="292608"/>
          </a:xfrm>
          <a:prstGeom prst="rect">
            <a:avLst/>
          </a:prstGeom>
          <a:solidFill>
            <a:srgbClr val="EDE6DA"/>
          </a:solidFill>
          <a:ln w="12700">
            <a:solidFill>
              <a:srgbClr val="EDE6DA"/>
            </a:solidFill>
            <a:prstDash val="solid"/>
          </a:ln>
        </p:spPr>
      </p:sp>
      <p:sp>
        <p:nvSpPr>
          <p:cNvPr id="26" name="Text 23"/>
          <p:cNvSpPr txBox="1"/>
          <p:nvPr/>
        </p:nvSpPr>
        <p:spPr>
          <a:xfrm>
            <a:off x="4590288" y="3831336"/>
            <a:ext cx="3108960" cy="219456"/>
          </a:xfrm>
          <a:prstGeom prst="rect">
            <a:avLst/>
          </a:prstGeom>
          <a:noFill/>
          <a:ln/>
        </p:spPr>
        <p:txBody>
          <a:bodyPr wrap="square" lIns="0" tIns="0" rIns="0" bIns="0" rtlCol="0" anchor="t"/>
          <a:lstStyle/>
          <a:p>
            <a:pPr algn="l" indent="0" marL="0">
              <a:buNone/>
            </a:pPr>
            <a:r>
              <a:rPr lang="en-US" sz="1140" dirty="0">
                <a:solidFill>
                  <a:srgbClr val="243B53"/>
                </a:solidFill>
                <a:latin typeface="Aptos" pitchFamily="34" charset="0"/>
                <a:ea typeface="Aptos" pitchFamily="34" charset="-122"/>
                <a:cs typeface="Aptos" pitchFamily="34" charset="-120"/>
              </a:rPr>
              <a:t>Reporte de estado</a:t>
            </a:r>
            <a:endParaRPr lang="en-US" sz="1140" dirty="0"/>
          </a:p>
        </p:txBody>
      </p:sp>
      <p:sp>
        <p:nvSpPr>
          <p:cNvPr id="27" name="Shape 24"/>
          <p:cNvSpPr/>
          <p:nvPr/>
        </p:nvSpPr>
        <p:spPr>
          <a:xfrm>
            <a:off x="7991856" y="3785616"/>
            <a:ext cx="3346704" cy="292608"/>
          </a:xfrm>
          <a:prstGeom prst="rect">
            <a:avLst/>
          </a:prstGeom>
          <a:solidFill>
            <a:srgbClr val="EDE6DA"/>
          </a:solidFill>
          <a:ln w="12700">
            <a:solidFill>
              <a:srgbClr val="EDE6DA"/>
            </a:solidFill>
            <a:prstDash val="solid"/>
          </a:ln>
        </p:spPr>
      </p:sp>
      <p:sp>
        <p:nvSpPr>
          <p:cNvPr id="28" name="Text 25"/>
          <p:cNvSpPr txBox="1"/>
          <p:nvPr/>
        </p:nvSpPr>
        <p:spPr>
          <a:xfrm>
            <a:off x="8119872" y="3831336"/>
            <a:ext cx="3108960" cy="219456"/>
          </a:xfrm>
          <a:prstGeom prst="rect">
            <a:avLst/>
          </a:prstGeom>
          <a:noFill/>
          <a:ln/>
        </p:spPr>
        <p:txBody>
          <a:bodyPr wrap="square" lIns="0" tIns="0" rIns="0" bIns="0" rtlCol="0" anchor="t"/>
          <a:lstStyle/>
          <a:p>
            <a:pPr algn="l" indent="0" marL="0">
              <a:buNone/>
            </a:pPr>
            <a:r>
              <a:rPr lang="en-US" sz="1140" dirty="0">
                <a:solidFill>
                  <a:srgbClr val="243B53"/>
                </a:solidFill>
                <a:latin typeface="Aptos" pitchFamily="34" charset="0"/>
                <a:ea typeface="Aptos" pitchFamily="34" charset="-122"/>
                <a:cs typeface="Aptos" pitchFamily="34" charset="-120"/>
              </a:rPr>
              <a:t>Reporte de término</a:t>
            </a:r>
            <a:endParaRPr lang="en-US" sz="1140" dirty="0"/>
          </a:p>
        </p:txBody>
      </p:sp>
      <p:sp>
        <p:nvSpPr>
          <p:cNvPr id="29" name="Shape 26"/>
          <p:cNvSpPr/>
          <p:nvPr/>
        </p:nvSpPr>
        <p:spPr>
          <a:xfrm>
            <a:off x="658368" y="4352544"/>
            <a:ext cx="10874959" cy="1207008"/>
          </a:xfrm>
          <a:prstGeom prst="rect">
            <a:avLst/>
          </a:prstGeom>
          <a:solidFill>
            <a:srgbClr val="FFFFFF"/>
          </a:solidFill>
          <a:ln w="12700">
            <a:solidFill>
              <a:srgbClr val="FFFFFF"/>
            </a:solidFill>
            <a:prstDash val="solid"/>
          </a:ln>
        </p:spPr>
      </p:sp>
      <p:sp>
        <p:nvSpPr>
          <p:cNvPr id="30" name="Shape 27"/>
          <p:cNvSpPr/>
          <p:nvPr/>
        </p:nvSpPr>
        <p:spPr>
          <a:xfrm>
            <a:off x="658368" y="4352544"/>
            <a:ext cx="64008" cy="1207008"/>
          </a:xfrm>
          <a:prstGeom prst="rect">
            <a:avLst/>
          </a:prstGeom>
          <a:solidFill>
            <a:srgbClr val="8A6A12"/>
          </a:solidFill>
          <a:ln w="12700">
            <a:solidFill>
              <a:srgbClr val="8A6A12"/>
            </a:solidFill>
            <a:prstDash val="solid"/>
          </a:ln>
        </p:spPr>
      </p:sp>
      <p:sp>
        <p:nvSpPr>
          <p:cNvPr id="31" name="Text 28"/>
          <p:cNvSpPr txBox="1"/>
          <p:nvPr/>
        </p:nvSpPr>
        <p:spPr>
          <a:xfrm>
            <a:off x="932688" y="4480560"/>
            <a:ext cx="3108960" cy="201168"/>
          </a:xfrm>
          <a:prstGeom prst="rect">
            <a:avLst/>
          </a:prstGeom>
          <a:noFill/>
          <a:ln/>
        </p:spPr>
        <p:txBody>
          <a:bodyPr wrap="square" lIns="0" tIns="0" rIns="0" bIns="0" rtlCol="0" anchor="t"/>
          <a:lstStyle/>
          <a:p>
            <a:pPr algn="l" indent="0" marL="0">
              <a:buNone/>
            </a:pPr>
            <a:r>
              <a:rPr lang="en-US" sz="980" b="1" spc="120" kern="0" dirty="0">
                <a:solidFill>
                  <a:srgbClr val="8A6A12"/>
                </a:solidFill>
                <a:latin typeface="Aptos" pitchFamily="34" charset="0"/>
                <a:ea typeface="Aptos" pitchFamily="34" charset="-122"/>
                <a:cs typeface="Aptos" pitchFamily="34" charset="-120"/>
              </a:rPr>
              <a:t>NIVEL DINÁMICO</a:t>
            </a:r>
            <a:endParaRPr lang="en-US" sz="980" dirty="0"/>
          </a:p>
        </p:txBody>
      </p:sp>
      <p:sp>
        <p:nvSpPr>
          <p:cNvPr id="32" name="Text 29"/>
          <p:cNvSpPr txBox="1"/>
          <p:nvPr/>
        </p:nvSpPr>
        <p:spPr>
          <a:xfrm>
            <a:off x="4224528" y="4471416"/>
            <a:ext cx="4754880" cy="219456"/>
          </a:xfrm>
          <a:prstGeom prst="rect">
            <a:avLst/>
          </a:prstGeom>
          <a:noFill/>
          <a:ln/>
        </p:spPr>
        <p:txBody>
          <a:bodyPr wrap="square" lIns="0" tIns="0" rIns="0" bIns="0" rtlCol="0" anchor="t"/>
          <a:lstStyle/>
          <a:p>
            <a:pPr algn="l" indent="0" marL="0">
              <a:buNone/>
            </a:pPr>
            <a:r>
              <a:rPr lang="en-US" sz="1160" i="1" dirty="0">
                <a:solidFill>
                  <a:srgbClr val="52606D"/>
                </a:solidFill>
                <a:latin typeface="Aptos" pitchFamily="34" charset="0"/>
                <a:ea typeface="Aptos" pitchFamily="34" charset="-122"/>
                <a:cs typeface="Aptos" pitchFamily="34" charset="-120"/>
              </a:rPr>
              <a:t>Lo que vale para cada prueba concreta</a:t>
            </a:r>
            <a:endParaRPr lang="en-US" sz="1160" dirty="0"/>
          </a:p>
        </p:txBody>
      </p:sp>
      <p:sp>
        <p:nvSpPr>
          <p:cNvPr id="33" name="Shape 30"/>
          <p:cNvSpPr/>
          <p:nvPr/>
        </p:nvSpPr>
        <p:spPr>
          <a:xfrm>
            <a:off x="932688" y="4773168"/>
            <a:ext cx="3346704" cy="292608"/>
          </a:xfrm>
          <a:prstGeom prst="rect">
            <a:avLst/>
          </a:prstGeom>
          <a:solidFill>
            <a:srgbClr val="EDE6DA"/>
          </a:solidFill>
          <a:ln w="12700">
            <a:solidFill>
              <a:srgbClr val="EDE6DA"/>
            </a:solidFill>
            <a:prstDash val="solid"/>
          </a:ln>
        </p:spPr>
      </p:sp>
      <p:sp>
        <p:nvSpPr>
          <p:cNvPr id="34" name="Text 31"/>
          <p:cNvSpPr txBox="1"/>
          <p:nvPr/>
        </p:nvSpPr>
        <p:spPr>
          <a:xfrm>
            <a:off x="1060704" y="4818888"/>
            <a:ext cx="3108960" cy="219456"/>
          </a:xfrm>
          <a:prstGeom prst="rect">
            <a:avLst/>
          </a:prstGeom>
          <a:noFill/>
          <a:ln/>
        </p:spPr>
        <p:txBody>
          <a:bodyPr wrap="square" lIns="0" tIns="0" rIns="0" bIns="0" rtlCol="0" anchor="t"/>
          <a:lstStyle/>
          <a:p>
            <a:pPr algn="l" indent="0" marL="0">
              <a:buNone/>
            </a:pPr>
            <a:r>
              <a:rPr lang="en-US" sz="1140" dirty="0">
                <a:solidFill>
                  <a:srgbClr val="243B53"/>
                </a:solidFill>
                <a:latin typeface="Aptos" pitchFamily="34" charset="0"/>
                <a:ea typeface="Aptos" pitchFamily="34" charset="-122"/>
                <a:cs typeface="Aptos" pitchFamily="34" charset="-120"/>
              </a:rPr>
              <a:t>Especificación de casos</a:t>
            </a:r>
            <a:endParaRPr lang="en-US" sz="1140" dirty="0"/>
          </a:p>
        </p:txBody>
      </p:sp>
      <p:sp>
        <p:nvSpPr>
          <p:cNvPr id="35" name="Shape 32"/>
          <p:cNvSpPr/>
          <p:nvPr/>
        </p:nvSpPr>
        <p:spPr>
          <a:xfrm>
            <a:off x="4462272" y="4773168"/>
            <a:ext cx="3346704" cy="292608"/>
          </a:xfrm>
          <a:prstGeom prst="rect">
            <a:avLst/>
          </a:prstGeom>
          <a:solidFill>
            <a:srgbClr val="EDE6DA"/>
          </a:solidFill>
          <a:ln w="12700">
            <a:solidFill>
              <a:srgbClr val="EDE6DA"/>
            </a:solidFill>
            <a:prstDash val="solid"/>
          </a:ln>
        </p:spPr>
      </p:sp>
      <p:sp>
        <p:nvSpPr>
          <p:cNvPr id="36" name="Text 33"/>
          <p:cNvSpPr txBox="1"/>
          <p:nvPr/>
        </p:nvSpPr>
        <p:spPr>
          <a:xfrm>
            <a:off x="4590288" y="4818888"/>
            <a:ext cx="3108960" cy="219456"/>
          </a:xfrm>
          <a:prstGeom prst="rect">
            <a:avLst/>
          </a:prstGeom>
          <a:noFill/>
          <a:ln/>
        </p:spPr>
        <p:txBody>
          <a:bodyPr wrap="square" lIns="0" tIns="0" rIns="0" bIns="0" rtlCol="0" anchor="t"/>
          <a:lstStyle/>
          <a:p>
            <a:pPr algn="l" indent="0" marL="0">
              <a:buNone/>
            </a:pPr>
            <a:r>
              <a:rPr lang="en-US" sz="1140" dirty="0">
                <a:solidFill>
                  <a:srgbClr val="243B53"/>
                </a:solidFill>
                <a:latin typeface="Aptos" pitchFamily="34" charset="0"/>
                <a:ea typeface="Aptos" pitchFamily="34" charset="-122"/>
                <a:cs typeface="Aptos" pitchFamily="34" charset="-120"/>
              </a:rPr>
              <a:t>Especificación de procedimiento</a:t>
            </a:r>
            <a:endParaRPr lang="en-US" sz="1140" dirty="0"/>
          </a:p>
        </p:txBody>
      </p:sp>
      <p:sp>
        <p:nvSpPr>
          <p:cNvPr id="37" name="Shape 34"/>
          <p:cNvSpPr/>
          <p:nvPr/>
        </p:nvSpPr>
        <p:spPr>
          <a:xfrm>
            <a:off x="7991856" y="4773168"/>
            <a:ext cx="3346704" cy="292608"/>
          </a:xfrm>
          <a:prstGeom prst="rect">
            <a:avLst/>
          </a:prstGeom>
          <a:solidFill>
            <a:srgbClr val="EDE6DA"/>
          </a:solidFill>
          <a:ln w="12700">
            <a:solidFill>
              <a:srgbClr val="EDE6DA"/>
            </a:solidFill>
            <a:prstDash val="solid"/>
          </a:ln>
        </p:spPr>
      </p:sp>
      <p:sp>
        <p:nvSpPr>
          <p:cNvPr id="38" name="Text 35"/>
          <p:cNvSpPr txBox="1"/>
          <p:nvPr/>
        </p:nvSpPr>
        <p:spPr>
          <a:xfrm>
            <a:off x="8119872" y="4818888"/>
            <a:ext cx="3108960" cy="219456"/>
          </a:xfrm>
          <a:prstGeom prst="rect">
            <a:avLst/>
          </a:prstGeom>
          <a:noFill/>
          <a:ln/>
        </p:spPr>
        <p:txBody>
          <a:bodyPr wrap="square" lIns="0" tIns="0" rIns="0" bIns="0" rtlCol="0" anchor="t"/>
          <a:lstStyle/>
          <a:p>
            <a:pPr algn="l" indent="0" marL="0">
              <a:buNone/>
            </a:pPr>
            <a:r>
              <a:rPr lang="en-US" sz="1140" dirty="0">
                <a:solidFill>
                  <a:srgbClr val="243B53"/>
                </a:solidFill>
                <a:latin typeface="Aptos" pitchFamily="34" charset="0"/>
                <a:ea typeface="Aptos" pitchFamily="34" charset="-122"/>
                <a:cs typeface="Aptos" pitchFamily="34" charset="-120"/>
              </a:rPr>
              <a:t>Requisitos de datos</a:t>
            </a:r>
            <a:endParaRPr lang="en-US" sz="1140" dirty="0"/>
          </a:p>
        </p:txBody>
      </p:sp>
      <p:sp>
        <p:nvSpPr>
          <p:cNvPr id="39" name="Shape 36"/>
          <p:cNvSpPr/>
          <p:nvPr/>
        </p:nvSpPr>
        <p:spPr>
          <a:xfrm>
            <a:off x="932688" y="5138928"/>
            <a:ext cx="3346704" cy="292608"/>
          </a:xfrm>
          <a:prstGeom prst="rect">
            <a:avLst/>
          </a:prstGeom>
          <a:solidFill>
            <a:srgbClr val="EDE6DA"/>
          </a:solidFill>
          <a:ln w="12700">
            <a:solidFill>
              <a:srgbClr val="EDE6DA"/>
            </a:solidFill>
            <a:prstDash val="solid"/>
          </a:ln>
        </p:spPr>
      </p:sp>
      <p:sp>
        <p:nvSpPr>
          <p:cNvPr id="40" name="Text 37"/>
          <p:cNvSpPr txBox="1"/>
          <p:nvPr/>
        </p:nvSpPr>
        <p:spPr>
          <a:xfrm>
            <a:off x="1060704" y="5184648"/>
            <a:ext cx="3108960" cy="219456"/>
          </a:xfrm>
          <a:prstGeom prst="rect">
            <a:avLst/>
          </a:prstGeom>
          <a:noFill/>
          <a:ln/>
        </p:spPr>
        <p:txBody>
          <a:bodyPr wrap="square" lIns="0" tIns="0" rIns="0" bIns="0" rtlCol="0" anchor="t"/>
          <a:lstStyle/>
          <a:p>
            <a:pPr algn="l" indent="0" marL="0">
              <a:buNone/>
            </a:pPr>
            <a:r>
              <a:rPr lang="en-US" sz="1140" dirty="0">
                <a:solidFill>
                  <a:srgbClr val="243B53"/>
                </a:solidFill>
                <a:latin typeface="Aptos" pitchFamily="34" charset="0"/>
                <a:ea typeface="Aptos" pitchFamily="34" charset="-122"/>
                <a:cs typeface="Aptos" pitchFamily="34" charset="-120"/>
              </a:rPr>
              <a:t>Requisitos de ambiente</a:t>
            </a:r>
            <a:endParaRPr lang="en-US" sz="1140" dirty="0"/>
          </a:p>
        </p:txBody>
      </p:sp>
      <p:sp>
        <p:nvSpPr>
          <p:cNvPr id="41" name="Shape 38"/>
          <p:cNvSpPr/>
          <p:nvPr/>
        </p:nvSpPr>
        <p:spPr>
          <a:xfrm>
            <a:off x="4462272" y="5138928"/>
            <a:ext cx="3346704" cy="292608"/>
          </a:xfrm>
          <a:prstGeom prst="rect">
            <a:avLst/>
          </a:prstGeom>
          <a:solidFill>
            <a:srgbClr val="EDE6DA"/>
          </a:solidFill>
          <a:ln w="12700">
            <a:solidFill>
              <a:srgbClr val="EDE6DA"/>
            </a:solidFill>
            <a:prstDash val="solid"/>
          </a:ln>
        </p:spPr>
      </p:sp>
      <p:sp>
        <p:nvSpPr>
          <p:cNvPr id="42" name="Text 39"/>
          <p:cNvSpPr txBox="1"/>
          <p:nvPr/>
        </p:nvSpPr>
        <p:spPr>
          <a:xfrm>
            <a:off x="4590288" y="5184648"/>
            <a:ext cx="3108960" cy="219456"/>
          </a:xfrm>
          <a:prstGeom prst="rect">
            <a:avLst/>
          </a:prstGeom>
          <a:noFill/>
          <a:ln/>
        </p:spPr>
        <p:txBody>
          <a:bodyPr wrap="square" lIns="0" tIns="0" rIns="0" bIns="0" rtlCol="0" anchor="t"/>
          <a:lstStyle/>
          <a:p>
            <a:pPr algn="l" indent="0" marL="0">
              <a:buNone/>
            </a:pPr>
            <a:r>
              <a:rPr lang="en-US" sz="1140" dirty="0">
                <a:solidFill>
                  <a:srgbClr val="243B53"/>
                </a:solidFill>
                <a:latin typeface="Aptos" pitchFamily="34" charset="0"/>
                <a:ea typeface="Aptos" pitchFamily="34" charset="-122"/>
                <a:cs typeface="Aptos" pitchFamily="34" charset="-120"/>
              </a:rPr>
              <a:t>Registro de ejecución</a:t>
            </a:r>
            <a:endParaRPr lang="en-US" sz="1140" dirty="0"/>
          </a:p>
        </p:txBody>
      </p:sp>
      <p:sp>
        <p:nvSpPr>
          <p:cNvPr id="43" name="Shape 40"/>
          <p:cNvSpPr/>
          <p:nvPr/>
        </p:nvSpPr>
        <p:spPr>
          <a:xfrm>
            <a:off x="7991856" y="5138928"/>
            <a:ext cx="3346704" cy="292608"/>
          </a:xfrm>
          <a:prstGeom prst="rect">
            <a:avLst/>
          </a:prstGeom>
          <a:solidFill>
            <a:srgbClr val="EDE6DA"/>
          </a:solidFill>
          <a:ln w="12700">
            <a:solidFill>
              <a:srgbClr val="EDE6DA"/>
            </a:solidFill>
            <a:prstDash val="solid"/>
          </a:ln>
        </p:spPr>
      </p:sp>
      <p:sp>
        <p:nvSpPr>
          <p:cNvPr id="44" name="Text 41"/>
          <p:cNvSpPr txBox="1"/>
          <p:nvPr/>
        </p:nvSpPr>
        <p:spPr>
          <a:xfrm>
            <a:off x="8119872" y="5184648"/>
            <a:ext cx="3108960" cy="219456"/>
          </a:xfrm>
          <a:prstGeom prst="rect">
            <a:avLst/>
          </a:prstGeom>
          <a:noFill/>
          <a:ln/>
        </p:spPr>
        <p:txBody>
          <a:bodyPr wrap="square" lIns="0" tIns="0" rIns="0" bIns="0" rtlCol="0" anchor="t"/>
          <a:lstStyle/>
          <a:p>
            <a:pPr algn="l" indent="0" marL="0">
              <a:buNone/>
            </a:pPr>
            <a:r>
              <a:rPr lang="en-US" sz="1140" dirty="0">
                <a:solidFill>
                  <a:srgbClr val="243B53"/>
                </a:solidFill>
                <a:latin typeface="Aptos" pitchFamily="34" charset="0"/>
                <a:ea typeface="Aptos" pitchFamily="34" charset="-122"/>
                <a:cs typeface="Aptos" pitchFamily="34" charset="-120"/>
              </a:rPr>
              <a:t>Reporte de incidentes</a:t>
            </a:r>
            <a:endParaRPr lang="en-US" sz="1140" dirty="0"/>
          </a:p>
        </p:txBody>
      </p:sp>
      <p:sp>
        <p:nvSpPr>
          <p:cNvPr id="45" name="Shape 42"/>
          <p:cNvSpPr/>
          <p:nvPr/>
        </p:nvSpPr>
        <p:spPr>
          <a:xfrm>
            <a:off x="658368" y="5705856"/>
            <a:ext cx="10874959" cy="548640"/>
          </a:xfrm>
          <a:prstGeom prst="rect">
            <a:avLst/>
          </a:prstGeom>
          <a:solidFill>
            <a:srgbClr val="102A43"/>
          </a:solidFill>
          <a:ln w="12700">
            <a:solidFill>
              <a:srgbClr val="102A43"/>
            </a:solidFill>
            <a:prstDash val="solid"/>
          </a:ln>
        </p:spPr>
      </p:sp>
      <p:sp>
        <p:nvSpPr>
          <p:cNvPr id="46" name="Text 43"/>
          <p:cNvSpPr txBox="1"/>
          <p:nvPr/>
        </p:nvSpPr>
        <p:spPr>
          <a:xfrm>
            <a:off x="969264" y="5751576"/>
            <a:ext cx="10253167" cy="457200"/>
          </a:xfrm>
          <a:prstGeom prst="rect">
            <a:avLst/>
          </a:prstGeom>
          <a:noFill/>
          <a:ln/>
        </p:spPr>
        <p:txBody>
          <a:bodyPr wrap="square" lIns="0" tIns="0" rIns="0" bIns="0" rtlCol="0" anchor="ctr"/>
          <a:lstStyle/>
          <a:p>
            <a:pPr algn="ctr" indent="0" marL="0">
              <a:lnSpc>
                <a:spcPct val="112000"/>
              </a:lnSpc>
              <a:buNone/>
            </a:pPr>
            <a:r>
              <a:rPr lang="en-US" sz="1360" b="1" dirty="0">
                <a:solidFill>
                  <a:srgbClr val="FFFFFF"/>
                </a:solidFill>
                <a:latin typeface="Aptos" pitchFamily="34" charset="0"/>
                <a:ea typeface="Aptos" pitchFamily="34" charset="-122"/>
                <a:cs typeface="Aptos" pitchFamily="34" charset="-120"/>
              </a:rPr>
              <a:t>Son once documentos. Antes de que parezca una montaña de papeleo, mira lo que dice la propia norma.</a:t>
            </a:r>
            <a:endParaRPr lang="en-US" sz="136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23</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EL GIRO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Casi todos esos documentos ya existen en tu proyecto</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Con otro nombre y en otro formato. La norma no exige carátulas: exige que la información exista y se pueda encontrar.</a:t>
            </a:r>
            <a:endParaRPr lang="en-US" sz="1450" dirty="0"/>
          </a:p>
        </p:txBody>
      </p:sp>
      <p:sp>
        <p:nvSpPr>
          <p:cNvPr id="11" name="Text 8"/>
          <p:cNvSpPr txBox="1"/>
          <p:nvPr/>
        </p:nvSpPr>
        <p:spPr>
          <a:xfrm>
            <a:off x="658368" y="2414016"/>
            <a:ext cx="3566160" cy="237744"/>
          </a:xfrm>
          <a:prstGeom prst="rect">
            <a:avLst/>
          </a:prstGeom>
          <a:noFill/>
          <a:ln/>
        </p:spPr>
        <p:txBody>
          <a:bodyPr wrap="square" lIns="0" tIns="0" rIns="0" bIns="0" rtlCol="0" anchor="t"/>
          <a:lstStyle/>
          <a:p>
            <a:pPr algn="l" indent="0" marL="0">
              <a:buNone/>
            </a:pPr>
            <a:r>
              <a:rPr lang="en-US" sz="1220" dirty="0">
                <a:solidFill>
                  <a:srgbClr val="52606D"/>
                </a:solidFill>
                <a:latin typeface="Aptos" pitchFamily="34" charset="0"/>
                <a:ea typeface="Aptos" pitchFamily="34" charset="-122"/>
                <a:cs typeface="Aptos" pitchFamily="34" charset="-120"/>
              </a:rPr>
              <a:t>Especificación de casos</a:t>
            </a:r>
            <a:endParaRPr lang="en-US" sz="1220" dirty="0"/>
          </a:p>
        </p:txBody>
      </p:sp>
      <p:sp>
        <p:nvSpPr>
          <p:cNvPr id="12" name="Text 9"/>
          <p:cNvSpPr txBox="1"/>
          <p:nvPr/>
        </p:nvSpPr>
        <p:spPr>
          <a:xfrm>
            <a:off x="4334256" y="2395728"/>
            <a:ext cx="274320" cy="237744"/>
          </a:xfrm>
          <a:prstGeom prst="rect">
            <a:avLst/>
          </a:prstGeom>
          <a:noFill/>
          <a:ln/>
        </p:spPr>
        <p:txBody>
          <a:bodyPr wrap="square" lIns="0" tIns="0" rIns="0" bIns="0" rtlCol="0" anchor="t"/>
          <a:lstStyle/>
          <a:p>
            <a:pPr algn="ctr" indent="0" marL="0">
              <a:buNone/>
            </a:pPr>
            <a:r>
              <a:rPr lang="en-US" sz="1400" b="1" dirty="0">
                <a:solidFill>
                  <a:srgbClr val="52606D"/>
                </a:solidFill>
                <a:latin typeface="Aptos" pitchFamily="34" charset="0"/>
                <a:ea typeface="Aptos" pitchFamily="34" charset="-122"/>
                <a:cs typeface="Aptos" pitchFamily="34" charset="-120"/>
              </a:rPr>
              <a:t>=</a:t>
            </a:r>
            <a:endParaRPr lang="en-US" sz="1400" dirty="0"/>
          </a:p>
        </p:txBody>
      </p:sp>
      <p:sp>
        <p:nvSpPr>
          <p:cNvPr id="13" name="Text 10"/>
          <p:cNvSpPr txBox="1"/>
          <p:nvPr/>
        </p:nvSpPr>
        <p:spPr>
          <a:xfrm>
            <a:off x="4754880" y="2414016"/>
            <a:ext cx="4023360" cy="237744"/>
          </a:xfrm>
          <a:prstGeom prst="rect">
            <a:avLst/>
          </a:prstGeom>
          <a:noFill/>
          <a:ln/>
        </p:spPr>
        <p:txBody>
          <a:bodyPr wrap="square" lIns="0" tIns="0" rIns="0" bIns="0" rtlCol="0" anchor="t"/>
          <a:lstStyle/>
          <a:p>
            <a:pPr algn="l" indent="0" marL="0">
              <a:buNone/>
            </a:pPr>
            <a:r>
              <a:rPr lang="en-US" sz="1220" b="1" dirty="0">
                <a:solidFill>
                  <a:srgbClr val="243B53"/>
                </a:solidFill>
                <a:latin typeface="Aptos" pitchFamily="34" charset="0"/>
                <a:ea typeface="Aptos" pitchFamily="34" charset="-122"/>
                <a:cs typeface="Aptos" pitchFamily="34" charset="-120"/>
              </a:rPr>
              <a:t>cada función test_ de tu suite</a:t>
            </a:r>
            <a:endParaRPr lang="en-US" sz="1220" dirty="0"/>
          </a:p>
        </p:txBody>
      </p:sp>
      <p:sp>
        <p:nvSpPr>
          <p:cNvPr id="14" name="Shape 11"/>
          <p:cNvSpPr/>
          <p:nvPr/>
        </p:nvSpPr>
        <p:spPr>
          <a:xfrm>
            <a:off x="658368" y="2724912"/>
            <a:ext cx="7863840" cy="0"/>
          </a:xfrm>
          <a:prstGeom prst="line">
            <a:avLst/>
          </a:prstGeom>
          <a:noFill/>
          <a:ln w="12700">
            <a:solidFill>
              <a:srgbClr val="D8CFC4"/>
            </a:solidFill>
            <a:prstDash val="solid"/>
            <a:headEnd type="none"/>
            <a:tailEnd type="none"/>
          </a:ln>
        </p:spPr>
      </p:sp>
      <p:sp>
        <p:nvSpPr>
          <p:cNvPr id="15" name="Text 12"/>
          <p:cNvSpPr txBox="1"/>
          <p:nvPr/>
        </p:nvSpPr>
        <p:spPr>
          <a:xfrm>
            <a:off x="658368" y="2834640"/>
            <a:ext cx="3566160" cy="237744"/>
          </a:xfrm>
          <a:prstGeom prst="rect">
            <a:avLst/>
          </a:prstGeom>
          <a:noFill/>
          <a:ln/>
        </p:spPr>
        <p:txBody>
          <a:bodyPr wrap="square" lIns="0" tIns="0" rIns="0" bIns="0" rtlCol="0" anchor="t"/>
          <a:lstStyle/>
          <a:p>
            <a:pPr algn="l" indent="0" marL="0">
              <a:buNone/>
            </a:pPr>
            <a:r>
              <a:rPr lang="en-US" sz="1220" dirty="0">
                <a:solidFill>
                  <a:srgbClr val="52606D"/>
                </a:solidFill>
                <a:latin typeface="Aptos" pitchFamily="34" charset="0"/>
                <a:ea typeface="Aptos" pitchFamily="34" charset="-122"/>
                <a:cs typeface="Aptos" pitchFamily="34" charset="-120"/>
              </a:rPr>
              <a:t>Especificación de procedimiento</a:t>
            </a:r>
            <a:endParaRPr lang="en-US" sz="1220" dirty="0"/>
          </a:p>
        </p:txBody>
      </p:sp>
      <p:sp>
        <p:nvSpPr>
          <p:cNvPr id="16" name="Text 13"/>
          <p:cNvSpPr txBox="1"/>
          <p:nvPr/>
        </p:nvSpPr>
        <p:spPr>
          <a:xfrm>
            <a:off x="4334256" y="2816352"/>
            <a:ext cx="274320" cy="237744"/>
          </a:xfrm>
          <a:prstGeom prst="rect">
            <a:avLst/>
          </a:prstGeom>
          <a:noFill/>
          <a:ln/>
        </p:spPr>
        <p:txBody>
          <a:bodyPr wrap="square" lIns="0" tIns="0" rIns="0" bIns="0" rtlCol="0" anchor="t"/>
          <a:lstStyle/>
          <a:p>
            <a:pPr algn="ctr" indent="0" marL="0">
              <a:buNone/>
            </a:pPr>
            <a:r>
              <a:rPr lang="en-US" sz="1400" b="1" dirty="0">
                <a:solidFill>
                  <a:srgbClr val="52606D"/>
                </a:solidFill>
                <a:latin typeface="Aptos" pitchFamily="34" charset="0"/>
                <a:ea typeface="Aptos" pitchFamily="34" charset="-122"/>
                <a:cs typeface="Aptos" pitchFamily="34" charset="-120"/>
              </a:rPr>
              <a:t>=</a:t>
            </a:r>
            <a:endParaRPr lang="en-US" sz="1400" dirty="0"/>
          </a:p>
        </p:txBody>
      </p:sp>
      <p:sp>
        <p:nvSpPr>
          <p:cNvPr id="17" name="Text 14"/>
          <p:cNvSpPr txBox="1"/>
          <p:nvPr/>
        </p:nvSpPr>
        <p:spPr>
          <a:xfrm>
            <a:off x="4754880" y="2834640"/>
            <a:ext cx="4023360" cy="237744"/>
          </a:xfrm>
          <a:prstGeom prst="rect">
            <a:avLst/>
          </a:prstGeom>
          <a:noFill/>
          <a:ln/>
        </p:spPr>
        <p:txBody>
          <a:bodyPr wrap="square" lIns="0" tIns="0" rIns="0" bIns="0" rtlCol="0" anchor="t"/>
          <a:lstStyle/>
          <a:p>
            <a:pPr algn="l" indent="0" marL="0">
              <a:buNone/>
            </a:pPr>
            <a:r>
              <a:rPr lang="en-US" sz="1220" b="1" dirty="0">
                <a:solidFill>
                  <a:srgbClr val="243B53"/>
                </a:solidFill>
                <a:latin typeface="Aptos" pitchFamily="34" charset="0"/>
                <a:ea typeface="Aptos" pitchFamily="34" charset="-122"/>
                <a:cs typeface="Aptos" pitchFamily="34" charset="-120"/>
              </a:rPr>
              <a:t>el comando pytest y tu pyproject.toml</a:t>
            </a:r>
            <a:endParaRPr lang="en-US" sz="1220" dirty="0"/>
          </a:p>
        </p:txBody>
      </p:sp>
      <p:sp>
        <p:nvSpPr>
          <p:cNvPr id="18" name="Shape 15"/>
          <p:cNvSpPr/>
          <p:nvPr/>
        </p:nvSpPr>
        <p:spPr>
          <a:xfrm>
            <a:off x="658368" y="3145536"/>
            <a:ext cx="7863840" cy="0"/>
          </a:xfrm>
          <a:prstGeom prst="line">
            <a:avLst/>
          </a:prstGeom>
          <a:noFill/>
          <a:ln w="12700">
            <a:solidFill>
              <a:srgbClr val="D8CFC4"/>
            </a:solidFill>
            <a:prstDash val="solid"/>
            <a:headEnd type="none"/>
            <a:tailEnd type="none"/>
          </a:ln>
        </p:spPr>
      </p:sp>
      <p:sp>
        <p:nvSpPr>
          <p:cNvPr id="19" name="Text 16"/>
          <p:cNvSpPr txBox="1"/>
          <p:nvPr/>
        </p:nvSpPr>
        <p:spPr>
          <a:xfrm>
            <a:off x="658368" y="3255264"/>
            <a:ext cx="3566160" cy="237744"/>
          </a:xfrm>
          <a:prstGeom prst="rect">
            <a:avLst/>
          </a:prstGeom>
          <a:noFill/>
          <a:ln/>
        </p:spPr>
        <p:txBody>
          <a:bodyPr wrap="square" lIns="0" tIns="0" rIns="0" bIns="0" rtlCol="0" anchor="t"/>
          <a:lstStyle/>
          <a:p>
            <a:pPr algn="l" indent="0" marL="0">
              <a:buNone/>
            </a:pPr>
            <a:r>
              <a:rPr lang="en-US" sz="1220" dirty="0">
                <a:solidFill>
                  <a:srgbClr val="52606D"/>
                </a:solidFill>
                <a:latin typeface="Aptos" pitchFamily="34" charset="0"/>
                <a:ea typeface="Aptos" pitchFamily="34" charset="-122"/>
                <a:cs typeface="Aptos" pitchFamily="34" charset="-120"/>
              </a:rPr>
              <a:t>Requisitos de ambiente</a:t>
            </a:r>
            <a:endParaRPr lang="en-US" sz="1220" dirty="0"/>
          </a:p>
        </p:txBody>
      </p:sp>
      <p:sp>
        <p:nvSpPr>
          <p:cNvPr id="20" name="Text 17"/>
          <p:cNvSpPr txBox="1"/>
          <p:nvPr/>
        </p:nvSpPr>
        <p:spPr>
          <a:xfrm>
            <a:off x="4334256" y="3236976"/>
            <a:ext cx="274320" cy="237744"/>
          </a:xfrm>
          <a:prstGeom prst="rect">
            <a:avLst/>
          </a:prstGeom>
          <a:noFill/>
          <a:ln/>
        </p:spPr>
        <p:txBody>
          <a:bodyPr wrap="square" lIns="0" tIns="0" rIns="0" bIns="0" rtlCol="0" anchor="t"/>
          <a:lstStyle/>
          <a:p>
            <a:pPr algn="ctr" indent="0" marL="0">
              <a:buNone/>
            </a:pPr>
            <a:r>
              <a:rPr lang="en-US" sz="1400" b="1" dirty="0">
                <a:solidFill>
                  <a:srgbClr val="52606D"/>
                </a:solidFill>
                <a:latin typeface="Aptos" pitchFamily="34" charset="0"/>
                <a:ea typeface="Aptos" pitchFamily="34" charset="-122"/>
                <a:cs typeface="Aptos" pitchFamily="34" charset="-120"/>
              </a:rPr>
              <a:t>=</a:t>
            </a:r>
            <a:endParaRPr lang="en-US" sz="1400" dirty="0"/>
          </a:p>
        </p:txBody>
      </p:sp>
      <p:sp>
        <p:nvSpPr>
          <p:cNvPr id="21" name="Text 18"/>
          <p:cNvSpPr txBox="1"/>
          <p:nvPr/>
        </p:nvSpPr>
        <p:spPr>
          <a:xfrm>
            <a:off x="4754880" y="3255264"/>
            <a:ext cx="4023360" cy="237744"/>
          </a:xfrm>
          <a:prstGeom prst="rect">
            <a:avLst/>
          </a:prstGeom>
          <a:noFill/>
          <a:ln/>
        </p:spPr>
        <p:txBody>
          <a:bodyPr wrap="square" lIns="0" tIns="0" rIns="0" bIns="0" rtlCol="0" anchor="t"/>
          <a:lstStyle/>
          <a:p>
            <a:pPr algn="l" indent="0" marL="0">
              <a:buNone/>
            </a:pPr>
            <a:r>
              <a:rPr lang="en-US" sz="1220" b="1" dirty="0">
                <a:solidFill>
                  <a:srgbClr val="243B53"/>
                </a:solidFill>
                <a:latin typeface="Aptos" pitchFamily="34" charset="0"/>
                <a:ea typeface="Aptos" pitchFamily="34" charset="-122"/>
                <a:cs typeface="Aptos" pitchFamily="34" charset="-120"/>
              </a:rPr>
              <a:t>tus dependencias y la versión de Python</a:t>
            </a:r>
            <a:endParaRPr lang="en-US" sz="1220" dirty="0"/>
          </a:p>
        </p:txBody>
      </p:sp>
      <p:sp>
        <p:nvSpPr>
          <p:cNvPr id="22" name="Shape 19"/>
          <p:cNvSpPr/>
          <p:nvPr/>
        </p:nvSpPr>
        <p:spPr>
          <a:xfrm>
            <a:off x="658368" y="3566160"/>
            <a:ext cx="7863840" cy="0"/>
          </a:xfrm>
          <a:prstGeom prst="line">
            <a:avLst/>
          </a:prstGeom>
          <a:noFill/>
          <a:ln w="12700">
            <a:solidFill>
              <a:srgbClr val="D8CFC4"/>
            </a:solidFill>
            <a:prstDash val="solid"/>
            <a:headEnd type="none"/>
            <a:tailEnd type="none"/>
          </a:ln>
        </p:spPr>
      </p:sp>
      <p:sp>
        <p:nvSpPr>
          <p:cNvPr id="23" name="Text 20"/>
          <p:cNvSpPr txBox="1"/>
          <p:nvPr/>
        </p:nvSpPr>
        <p:spPr>
          <a:xfrm>
            <a:off x="658368" y="3675888"/>
            <a:ext cx="3566160" cy="237744"/>
          </a:xfrm>
          <a:prstGeom prst="rect">
            <a:avLst/>
          </a:prstGeom>
          <a:noFill/>
          <a:ln/>
        </p:spPr>
        <p:txBody>
          <a:bodyPr wrap="square" lIns="0" tIns="0" rIns="0" bIns="0" rtlCol="0" anchor="t"/>
          <a:lstStyle/>
          <a:p>
            <a:pPr algn="l" indent="0" marL="0">
              <a:buNone/>
            </a:pPr>
            <a:r>
              <a:rPr lang="en-US" sz="1220" dirty="0">
                <a:solidFill>
                  <a:srgbClr val="52606D"/>
                </a:solidFill>
                <a:latin typeface="Aptos" pitchFamily="34" charset="0"/>
                <a:ea typeface="Aptos" pitchFamily="34" charset="-122"/>
                <a:cs typeface="Aptos" pitchFamily="34" charset="-120"/>
              </a:rPr>
              <a:t>Registro de ejecución</a:t>
            </a:r>
            <a:endParaRPr lang="en-US" sz="1220" dirty="0"/>
          </a:p>
        </p:txBody>
      </p:sp>
      <p:sp>
        <p:nvSpPr>
          <p:cNvPr id="24" name="Text 21"/>
          <p:cNvSpPr txBox="1"/>
          <p:nvPr/>
        </p:nvSpPr>
        <p:spPr>
          <a:xfrm>
            <a:off x="4334256" y="3657600"/>
            <a:ext cx="274320" cy="237744"/>
          </a:xfrm>
          <a:prstGeom prst="rect">
            <a:avLst/>
          </a:prstGeom>
          <a:noFill/>
          <a:ln/>
        </p:spPr>
        <p:txBody>
          <a:bodyPr wrap="square" lIns="0" tIns="0" rIns="0" bIns="0" rtlCol="0" anchor="t"/>
          <a:lstStyle/>
          <a:p>
            <a:pPr algn="ctr" indent="0" marL="0">
              <a:buNone/>
            </a:pPr>
            <a:r>
              <a:rPr lang="en-US" sz="1400" b="1" dirty="0">
                <a:solidFill>
                  <a:srgbClr val="52606D"/>
                </a:solidFill>
                <a:latin typeface="Aptos" pitchFamily="34" charset="0"/>
                <a:ea typeface="Aptos" pitchFamily="34" charset="-122"/>
                <a:cs typeface="Aptos" pitchFamily="34" charset="-120"/>
              </a:rPr>
              <a:t>=</a:t>
            </a:r>
            <a:endParaRPr lang="en-US" sz="1400" dirty="0"/>
          </a:p>
        </p:txBody>
      </p:sp>
      <p:sp>
        <p:nvSpPr>
          <p:cNvPr id="25" name="Text 22"/>
          <p:cNvSpPr txBox="1"/>
          <p:nvPr/>
        </p:nvSpPr>
        <p:spPr>
          <a:xfrm>
            <a:off x="4754880" y="3675888"/>
            <a:ext cx="4023360" cy="237744"/>
          </a:xfrm>
          <a:prstGeom prst="rect">
            <a:avLst/>
          </a:prstGeom>
          <a:noFill/>
          <a:ln/>
        </p:spPr>
        <p:txBody>
          <a:bodyPr wrap="square" lIns="0" tIns="0" rIns="0" bIns="0" rtlCol="0" anchor="t"/>
          <a:lstStyle/>
          <a:p>
            <a:pPr algn="l" indent="0" marL="0">
              <a:buNone/>
            </a:pPr>
            <a:r>
              <a:rPr lang="en-US" sz="1220" b="1" dirty="0">
                <a:solidFill>
                  <a:srgbClr val="243B53"/>
                </a:solidFill>
                <a:latin typeface="Aptos" pitchFamily="34" charset="0"/>
                <a:ea typeface="Aptos" pitchFamily="34" charset="-122"/>
                <a:cs typeface="Aptos" pitchFamily="34" charset="-120"/>
              </a:rPr>
              <a:t>la salida de pytest y el historial de tu CI</a:t>
            </a:r>
            <a:endParaRPr lang="en-US" sz="1220" dirty="0"/>
          </a:p>
        </p:txBody>
      </p:sp>
      <p:sp>
        <p:nvSpPr>
          <p:cNvPr id="26" name="Shape 23"/>
          <p:cNvSpPr/>
          <p:nvPr/>
        </p:nvSpPr>
        <p:spPr>
          <a:xfrm>
            <a:off x="658368" y="3986784"/>
            <a:ext cx="7863840" cy="0"/>
          </a:xfrm>
          <a:prstGeom prst="line">
            <a:avLst/>
          </a:prstGeom>
          <a:noFill/>
          <a:ln w="12700">
            <a:solidFill>
              <a:srgbClr val="D8CFC4"/>
            </a:solidFill>
            <a:prstDash val="solid"/>
            <a:headEnd type="none"/>
            <a:tailEnd type="none"/>
          </a:ln>
        </p:spPr>
      </p:sp>
      <p:sp>
        <p:nvSpPr>
          <p:cNvPr id="27" name="Text 24"/>
          <p:cNvSpPr txBox="1"/>
          <p:nvPr/>
        </p:nvSpPr>
        <p:spPr>
          <a:xfrm>
            <a:off x="658368" y="4096512"/>
            <a:ext cx="3566160" cy="237744"/>
          </a:xfrm>
          <a:prstGeom prst="rect">
            <a:avLst/>
          </a:prstGeom>
          <a:noFill/>
          <a:ln/>
        </p:spPr>
        <p:txBody>
          <a:bodyPr wrap="square" lIns="0" tIns="0" rIns="0" bIns="0" rtlCol="0" anchor="t"/>
          <a:lstStyle/>
          <a:p>
            <a:pPr algn="l" indent="0" marL="0">
              <a:buNone/>
            </a:pPr>
            <a:r>
              <a:rPr lang="en-US" sz="1220" dirty="0">
                <a:solidFill>
                  <a:srgbClr val="52606D"/>
                </a:solidFill>
                <a:latin typeface="Aptos" pitchFamily="34" charset="0"/>
                <a:ea typeface="Aptos" pitchFamily="34" charset="-122"/>
                <a:cs typeface="Aptos" pitchFamily="34" charset="-120"/>
              </a:rPr>
              <a:t>Reporte de incidentes</a:t>
            </a:r>
            <a:endParaRPr lang="en-US" sz="1220" dirty="0"/>
          </a:p>
        </p:txBody>
      </p:sp>
      <p:sp>
        <p:nvSpPr>
          <p:cNvPr id="28" name="Text 25"/>
          <p:cNvSpPr txBox="1"/>
          <p:nvPr/>
        </p:nvSpPr>
        <p:spPr>
          <a:xfrm>
            <a:off x="4334256" y="4078224"/>
            <a:ext cx="274320" cy="237744"/>
          </a:xfrm>
          <a:prstGeom prst="rect">
            <a:avLst/>
          </a:prstGeom>
          <a:noFill/>
          <a:ln/>
        </p:spPr>
        <p:txBody>
          <a:bodyPr wrap="square" lIns="0" tIns="0" rIns="0" bIns="0" rtlCol="0" anchor="t"/>
          <a:lstStyle/>
          <a:p>
            <a:pPr algn="ctr" indent="0" marL="0">
              <a:buNone/>
            </a:pPr>
            <a:r>
              <a:rPr lang="en-US" sz="1400" b="1" dirty="0">
                <a:solidFill>
                  <a:srgbClr val="52606D"/>
                </a:solidFill>
                <a:latin typeface="Aptos" pitchFamily="34" charset="0"/>
                <a:ea typeface="Aptos" pitchFamily="34" charset="-122"/>
                <a:cs typeface="Aptos" pitchFamily="34" charset="-120"/>
              </a:rPr>
              <a:t>=</a:t>
            </a:r>
            <a:endParaRPr lang="en-US" sz="1400" dirty="0"/>
          </a:p>
        </p:txBody>
      </p:sp>
      <p:sp>
        <p:nvSpPr>
          <p:cNvPr id="29" name="Text 26"/>
          <p:cNvSpPr txBox="1"/>
          <p:nvPr/>
        </p:nvSpPr>
        <p:spPr>
          <a:xfrm>
            <a:off x="4754880" y="4096512"/>
            <a:ext cx="4023360" cy="237744"/>
          </a:xfrm>
          <a:prstGeom prst="rect">
            <a:avLst/>
          </a:prstGeom>
          <a:noFill/>
          <a:ln/>
        </p:spPr>
        <p:txBody>
          <a:bodyPr wrap="square" lIns="0" tIns="0" rIns="0" bIns="0" rtlCol="0" anchor="t"/>
          <a:lstStyle/>
          <a:p>
            <a:pPr algn="l" indent="0" marL="0">
              <a:buNone/>
            </a:pPr>
            <a:r>
              <a:rPr lang="en-US" sz="1220" b="1" dirty="0">
                <a:solidFill>
                  <a:srgbClr val="243B53"/>
                </a:solidFill>
                <a:latin typeface="Aptos" pitchFamily="34" charset="0"/>
                <a:ea typeface="Aptos" pitchFamily="34" charset="-122"/>
                <a:cs typeface="Aptos" pitchFamily="34" charset="-120"/>
              </a:rPr>
              <a:t>tus issues, o tu registro de hallazgos</a:t>
            </a:r>
            <a:endParaRPr lang="en-US" sz="1220" dirty="0"/>
          </a:p>
        </p:txBody>
      </p:sp>
      <p:sp>
        <p:nvSpPr>
          <p:cNvPr id="30" name="Shape 27"/>
          <p:cNvSpPr/>
          <p:nvPr/>
        </p:nvSpPr>
        <p:spPr>
          <a:xfrm>
            <a:off x="658368" y="4407408"/>
            <a:ext cx="7863840" cy="0"/>
          </a:xfrm>
          <a:prstGeom prst="line">
            <a:avLst/>
          </a:prstGeom>
          <a:noFill/>
          <a:ln w="12700">
            <a:solidFill>
              <a:srgbClr val="D8CFC4"/>
            </a:solidFill>
            <a:prstDash val="solid"/>
            <a:headEnd type="none"/>
            <a:tailEnd type="none"/>
          </a:ln>
        </p:spPr>
      </p:sp>
      <p:sp>
        <p:nvSpPr>
          <p:cNvPr id="31" name="Shape 28"/>
          <p:cNvSpPr/>
          <p:nvPr/>
        </p:nvSpPr>
        <p:spPr>
          <a:xfrm>
            <a:off x="658368" y="4517136"/>
            <a:ext cx="7863840" cy="457200"/>
          </a:xfrm>
          <a:prstGeom prst="rect">
            <a:avLst/>
          </a:prstGeom>
          <a:solidFill>
            <a:srgbClr val="F8E4E5"/>
          </a:solidFill>
          <a:ln w="12700">
            <a:solidFill>
              <a:srgbClr val="F8E4E5"/>
            </a:solidFill>
            <a:prstDash val="solid"/>
          </a:ln>
        </p:spPr>
      </p:sp>
      <p:sp>
        <p:nvSpPr>
          <p:cNvPr id="32" name="Shape 29"/>
          <p:cNvSpPr/>
          <p:nvPr/>
        </p:nvSpPr>
        <p:spPr>
          <a:xfrm>
            <a:off x="658368" y="4517136"/>
            <a:ext cx="54864" cy="457200"/>
          </a:xfrm>
          <a:prstGeom prst="rect">
            <a:avLst/>
          </a:prstGeom>
          <a:solidFill>
            <a:srgbClr val="B3181E"/>
          </a:solidFill>
          <a:ln w="12700">
            <a:solidFill>
              <a:srgbClr val="B3181E"/>
            </a:solidFill>
            <a:prstDash val="solid"/>
          </a:ln>
        </p:spPr>
      </p:sp>
      <p:sp>
        <p:nvSpPr>
          <p:cNvPr id="33" name="Text 30"/>
          <p:cNvSpPr txBox="1"/>
          <p:nvPr/>
        </p:nvSpPr>
        <p:spPr>
          <a:xfrm>
            <a:off x="877824" y="4590288"/>
            <a:ext cx="3383280" cy="237744"/>
          </a:xfrm>
          <a:prstGeom prst="rect">
            <a:avLst/>
          </a:prstGeom>
          <a:noFill/>
          <a:ln/>
        </p:spPr>
        <p:txBody>
          <a:bodyPr wrap="square" lIns="0" tIns="0" rIns="0" bIns="0" rtlCol="0" anchor="t"/>
          <a:lstStyle/>
          <a:p>
            <a:pPr algn="l" indent="0" marL="0">
              <a:buNone/>
            </a:pPr>
            <a:r>
              <a:rPr lang="en-US" sz="1220" b="1" dirty="0">
                <a:solidFill>
                  <a:srgbClr val="B3181E"/>
                </a:solidFill>
                <a:latin typeface="Aptos" pitchFamily="34" charset="0"/>
                <a:ea typeface="Aptos" pitchFamily="34" charset="-122"/>
                <a:cs typeface="Aptos" pitchFamily="34" charset="-120"/>
              </a:rPr>
              <a:t>Base de prueba</a:t>
            </a:r>
            <a:endParaRPr lang="en-US" sz="1220" dirty="0"/>
          </a:p>
        </p:txBody>
      </p:sp>
      <p:sp>
        <p:nvSpPr>
          <p:cNvPr id="34" name="Text 31"/>
          <p:cNvSpPr txBox="1"/>
          <p:nvPr/>
        </p:nvSpPr>
        <p:spPr>
          <a:xfrm>
            <a:off x="4754880" y="4590288"/>
            <a:ext cx="4023360" cy="237744"/>
          </a:xfrm>
          <a:prstGeom prst="rect">
            <a:avLst/>
          </a:prstGeom>
          <a:noFill/>
          <a:ln/>
        </p:spPr>
        <p:txBody>
          <a:bodyPr wrap="square" lIns="0" tIns="0" rIns="0" bIns="0" rtlCol="0" anchor="t"/>
          <a:lstStyle/>
          <a:p>
            <a:pPr algn="l" indent="0" marL="0">
              <a:buNone/>
            </a:pPr>
            <a:r>
              <a:rPr lang="en-US" sz="1220" b="1" dirty="0">
                <a:solidFill>
                  <a:srgbClr val="B3181E"/>
                </a:solidFill>
                <a:latin typeface="Aptos" pitchFamily="34" charset="0"/>
                <a:ea typeface="Aptos" pitchFamily="34" charset="-122"/>
                <a:cs typeface="Aptos" pitchFamily="34" charset="-120"/>
              </a:rPr>
              <a:t>aquí es donde probablemente tengas el hueco</a:t>
            </a:r>
            <a:endParaRPr lang="en-US" sz="1220" dirty="0"/>
          </a:p>
        </p:txBody>
      </p:sp>
      <p:sp>
        <p:nvSpPr>
          <p:cNvPr id="35" name="Shape 32"/>
          <p:cNvSpPr/>
          <p:nvPr/>
        </p:nvSpPr>
        <p:spPr>
          <a:xfrm>
            <a:off x="9070848" y="2377440"/>
            <a:ext cx="2459736" cy="2596896"/>
          </a:xfrm>
          <a:prstGeom prst="rect">
            <a:avLst/>
          </a:prstGeom>
          <a:solidFill>
            <a:srgbClr val="F2E7D9"/>
          </a:solidFill>
          <a:ln w="12700">
            <a:solidFill>
              <a:srgbClr val="F2E7D9"/>
            </a:solidFill>
            <a:prstDash val="solid"/>
          </a:ln>
        </p:spPr>
      </p:sp>
      <p:sp>
        <p:nvSpPr>
          <p:cNvPr id="36" name="Text 33"/>
          <p:cNvSpPr txBox="1"/>
          <p:nvPr/>
        </p:nvSpPr>
        <p:spPr>
          <a:xfrm>
            <a:off x="9308592" y="2560320"/>
            <a:ext cx="2103120" cy="201168"/>
          </a:xfrm>
          <a:prstGeom prst="rect">
            <a:avLst/>
          </a:prstGeom>
          <a:noFill/>
          <a:ln/>
        </p:spPr>
        <p:txBody>
          <a:bodyPr wrap="square" lIns="0" tIns="0" rIns="0" bIns="0" rtlCol="0" anchor="t"/>
          <a:lstStyle/>
          <a:p>
            <a:pPr algn="l" indent="0" marL="0">
              <a:buNone/>
            </a:pPr>
            <a:r>
              <a:rPr lang="en-US" sz="960" b="1" spc="130" kern="0" dirty="0">
                <a:solidFill>
                  <a:srgbClr val="8A6A12"/>
                </a:solidFill>
                <a:latin typeface="Aptos" pitchFamily="34" charset="0"/>
                <a:ea typeface="Aptos" pitchFamily="34" charset="-122"/>
                <a:cs typeface="Aptos" pitchFamily="34" charset="-120"/>
              </a:rPr>
              <a:t>LA NORMA PERMITE</a:t>
            </a:r>
            <a:endParaRPr lang="en-US" sz="960" dirty="0"/>
          </a:p>
        </p:txBody>
      </p:sp>
      <p:sp>
        <p:nvSpPr>
          <p:cNvPr id="37" name="Text 34"/>
          <p:cNvSpPr txBox="1"/>
          <p:nvPr/>
        </p:nvSpPr>
        <p:spPr>
          <a:xfrm>
            <a:off x="9308592" y="2834640"/>
            <a:ext cx="2011680" cy="676656"/>
          </a:xfrm>
          <a:prstGeom prst="rect">
            <a:avLst/>
          </a:prstGeom>
          <a:noFill/>
          <a:ln/>
        </p:spPr>
        <p:txBody>
          <a:bodyPr wrap="square" lIns="0" tIns="0" rIns="0" bIns="0" rtlCol="0" anchor="t"/>
          <a:lstStyle/>
          <a:p>
            <a:pPr algn="l" indent="0" marL="0">
              <a:lnSpc>
                <a:spcPct val="116000"/>
              </a:lnSpc>
              <a:buNone/>
            </a:pPr>
            <a:r>
              <a:rPr lang="en-US" sz="1120" dirty="0">
                <a:solidFill>
                  <a:srgbClr val="243B53"/>
                </a:solidFill>
                <a:latin typeface="Aptos" pitchFamily="34" charset="0"/>
                <a:ea typeface="Aptos" pitchFamily="34" charset="-122"/>
                <a:cs typeface="Aptos" pitchFamily="34" charset="-120"/>
              </a:rPr>
              <a:t>Vale una planilla, un mapa mental o la foto de una pizarra.</a:t>
            </a:r>
            <a:endParaRPr lang="en-US" sz="1120" dirty="0"/>
          </a:p>
        </p:txBody>
      </p:sp>
      <p:sp>
        <p:nvSpPr>
          <p:cNvPr id="38" name="Text 35"/>
          <p:cNvSpPr txBox="1"/>
          <p:nvPr/>
        </p:nvSpPr>
        <p:spPr>
          <a:xfrm>
            <a:off x="9308592" y="3547872"/>
            <a:ext cx="2011680" cy="676656"/>
          </a:xfrm>
          <a:prstGeom prst="rect">
            <a:avLst/>
          </a:prstGeom>
          <a:noFill/>
          <a:ln/>
        </p:spPr>
        <p:txBody>
          <a:bodyPr wrap="square" lIns="0" tIns="0" rIns="0" bIns="0" rtlCol="0" anchor="t"/>
          <a:lstStyle/>
          <a:p>
            <a:pPr algn="l" indent="0" marL="0">
              <a:lnSpc>
                <a:spcPct val="116000"/>
              </a:lnSpc>
              <a:buNone/>
            </a:pPr>
            <a:r>
              <a:rPr lang="en-US" sz="1120" dirty="0">
                <a:solidFill>
                  <a:srgbClr val="243B53"/>
                </a:solidFill>
                <a:latin typeface="Aptos" pitchFamily="34" charset="0"/>
                <a:ea typeface="Aptos" pitchFamily="34" charset="-122"/>
                <a:cs typeface="Aptos" pitchFamily="34" charset="-120"/>
              </a:rPr>
              <a:t>Puedes omitir partes si declaras cuáles y por qué: la norma lo llama conformidad adaptada.</a:t>
            </a:r>
            <a:endParaRPr lang="en-US" sz="1120" dirty="0"/>
          </a:p>
        </p:txBody>
      </p:sp>
      <p:sp>
        <p:nvSpPr>
          <p:cNvPr id="39" name="Text 36"/>
          <p:cNvSpPr txBox="1"/>
          <p:nvPr/>
        </p:nvSpPr>
        <p:spPr>
          <a:xfrm>
            <a:off x="9308592" y="4407408"/>
            <a:ext cx="2011680" cy="438912"/>
          </a:xfrm>
          <a:prstGeom prst="rect">
            <a:avLst/>
          </a:prstGeom>
          <a:noFill/>
          <a:ln/>
        </p:spPr>
        <p:txBody>
          <a:bodyPr wrap="square" lIns="0" tIns="0" rIns="0" bIns="0" rtlCol="0" anchor="t"/>
          <a:lstStyle/>
          <a:p>
            <a:pPr algn="l" indent="0" marL="0">
              <a:lnSpc>
                <a:spcPct val="112000"/>
              </a:lnSpc>
              <a:buNone/>
            </a:pPr>
            <a:r>
              <a:rPr lang="en-US" sz="1080" b="1" i="1" dirty="0">
                <a:solidFill>
                  <a:srgbClr val="8A6A12"/>
                </a:solidFill>
                <a:latin typeface="Aptos" pitchFamily="34" charset="0"/>
                <a:ea typeface="Aptos" pitchFamily="34" charset="-122"/>
                <a:cs typeface="Aptos" pitchFamily="34" charset="-120"/>
              </a:rPr>
              <a:t>Omitir con criterio declarado es conformidad.</a:t>
            </a:r>
            <a:endParaRPr lang="en-US" sz="1080" dirty="0"/>
          </a:p>
          <a:p>
            <a:pPr algn="l" indent="0" marL="0">
              <a:lnSpc>
                <a:spcPct val="112000"/>
              </a:lnSpc>
              <a:buNone/>
            </a:pPr>
            <a:r>
              <a:rPr lang="en-US" sz="1080" b="1" i="1" dirty="0">
                <a:solidFill>
                  <a:srgbClr val="8A6A12"/>
                </a:solidFill>
                <a:latin typeface="Aptos" pitchFamily="34" charset="0"/>
                <a:ea typeface="Aptos" pitchFamily="34" charset="-122"/>
                <a:cs typeface="Aptos" pitchFamily="34" charset="-120"/>
              </a:rPr>
              <a:t>Omitir en silencio, no.</a:t>
            </a:r>
            <a:endParaRPr lang="en-US" sz="1080" dirty="0"/>
          </a:p>
        </p:txBody>
      </p:sp>
      <p:sp>
        <p:nvSpPr>
          <p:cNvPr id="40" name="Shape 37"/>
          <p:cNvSpPr/>
          <p:nvPr/>
        </p:nvSpPr>
        <p:spPr>
          <a:xfrm>
            <a:off x="658368" y="5175504"/>
            <a:ext cx="10874959" cy="566928"/>
          </a:xfrm>
          <a:prstGeom prst="rect">
            <a:avLst/>
          </a:prstGeom>
          <a:solidFill>
            <a:srgbClr val="102A43"/>
          </a:solidFill>
          <a:ln w="12700">
            <a:solidFill>
              <a:srgbClr val="102A43"/>
            </a:solidFill>
            <a:prstDash val="solid"/>
          </a:ln>
        </p:spPr>
      </p:sp>
      <p:sp>
        <p:nvSpPr>
          <p:cNvPr id="41" name="Text 38"/>
          <p:cNvSpPr txBox="1"/>
          <p:nvPr/>
        </p:nvSpPr>
        <p:spPr>
          <a:xfrm>
            <a:off x="969264" y="5221224"/>
            <a:ext cx="10253167" cy="475488"/>
          </a:xfrm>
          <a:prstGeom prst="rect">
            <a:avLst/>
          </a:prstGeom>
          <a:noFill/>
          <a:ln/>
        </p:spPr>
        <p:txBody>
          <a:bodyPr wrap="square" lIns="0" tIns="0" rIns="0" bIns="0" rtlCol="0" anchor="ctr"/>
          <a:lstStyle/>
          <a:p>
            <a:pPr algn="ctr" indent="0" marL="0">
              <a:lnSpc>
                <a:spcPct val="112000"/>
              </a:lnSpc>
              <a:buNone/>
            </a:pPr>
            <a:r>
              <a:rPr lang="en-US" sz="1360" b="1" dirty="0">
                <a:solidFill>
                  <a:srgbClr val="FFFFFF"/>
                </a:solidFill>
                <a:latin typeface="Aptos" pitchFamily="34" charset="0"/>
                <a:ea typeface="Aptos" pitchFamily="34" charset="-122"/>
                <a:cs typeface="Aptos" pitchFamily="34" charset="-120"/>
              </a:rPr>
              <a:t>La suite existe, el procedimiento existe, el registro existe. Lo que suele faltar es aquello contra lo cual todo eso compara.</a:t>
            </a:r>
            <a:endParaRPr lang="en-US" sz="136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24</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CIERRE</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Preguntas para llevarse del Bloque 2</a:t>
            </a:r>
            <a:endParaRPr lang="en-US" sz="3000" dirty="0"/>
          </a:p>
        </p:txBody>
      </p:sp>
      <p:sp>
        <p:nvSpPr>
          <p:cNvPr id="10" name="Shape 7"/>
          <p:cNvSpPr/>
          <p:nvPr/>
        </p:nvSpPr>
        <p:spPr>
          <a:xfrm>
            <a:off x="658368" y="2231136"/>
            <a:ext cx="10874959" cy="1188720"/>
          </a:xfrm>
          <a:prstGeom prst="rect">
            <a:avLst/>
          </a:prstGeom>
          <a:solidFill>
            <a:srgbClr val="F2E7D9"/>
          </a:solidFill>
          <a:ln w="12700">
            <a:solidFill>
              <a:srgbClr val="F2E7D9"/>
            </a:solidFill>
            <a:prstDash val="solid"/>
          </a:ln>
        </p:spPr>
      </p:sp>
      <p:sp>
        <p:nvSpPr>
          <p:cNvPr id="11" name="Shape 8"/>
          <p:cNvSpPr/>
          <p:nvPr/>
        </p:nvSpPr>
        <p:spPr>
          <a:xfrm>
            <a:off x="658368" y="2231136"/>
            <a:ext cx="54864" cy="1188720"/>
          </a:xfrm>
          <a:prstGeom prst="rect">
            <a:avLst/>
          </a:prstGeom>
          <a:solidFill>
            <a:srgbClr val="B3181E"/>
          </a:solidFill>
          <a:ln w="12700">
            <a:solidFill>
              <a:srgbClr val="B3181E"/>
            </a:solidFill>
            <a:prstDash val="solid"/>
          </a:ln>
        </p:spPr>
      </p:sp>
      <p:sp>
        <p:nvSpPr>
          <p:cNvPr id="12" name="Text 9"/>
          <p:cNvSpPr txBox="1"/>
          <p:nvPr/>
        </p:nvSpPr>
        <p:spPr>
          <a:xfrm>
            <a:off x="932688" y="2377440"/>
            <a:ext cx="475488" cy="457200"/>
          </a:xfrm>
          <a:prstGeom prst="rect">
            <a:avLst/>
          </a:prstGeom>
          <a:noFill/>
          <a:ln/>
        </p:spPr>
        <p:txBody>
          <a:bodyPr wrap="square" lIns="0" tIns="0" rIns="0" bIns="0" rtlCol="0" anchor="t"/>
          <a:lstStyle/>
          <a:p>
            <a:pPr algn="l"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3" name="Text 10"/>
          <p:cNvSpPr txBox="1"/>
          <p:nvPr/>
        </p:nvSpPr>
        <p:spPr>
          <a:xfrm>
            <a:off x="1572768" y="2368296"/>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El protocolo A no falló ninguna prueba y el B falló una. ¿Cuál de las dos suites preferirías tener en tu proyecto, y qué te dice tu respuesta sobre lo que significa una suite completamente verde?</a:t>
            </a:r>
            <a:endParaRPr lang="en-US" sz="1400" dirty="0"/>
          </a:p>
        </p:txBody>
      </p:sp>
      <p:sp>
        <p:nvSpPr>
          <p:cNvPr id="14" name="Shape 11"/>
          <p:cNvSpPr/>
          <p:nvPr/>
        </p:nvSpPr>
        <p:spPr>
          <a:xfrm>
            <a:off x="1572768" y="2999232"/>
            <a:ext cx="9631375" cy="0"/>
          </a:xfrm>
          <a:prstGeom prst="line">
            <a:avLst/>
          </a:prstGeom>
          <a:noFill/>
          <a:ln w="12700">
            <a:solidFill>
              <a:srgbClr val="D8CFC4"/>
            </a:solidFill>
            <a:prstDash val="solid"/>
            <a:headEnd type="none"/>
            <a:tailEnd type="none"/>
          </a:ln>
        </p:spPr>
      </p:sp>
      <p:sp>
        <p:nvSpPr>
          <p:cNvPr id="15" name="Text 12"/>
          <p:cNvSpPr txBox="1"/>
          <p:nvPr/>
        </p:nvSpPr>
        <p:spPr>
          <a:xfrm>
            <a:off x="1572768" y="3090672"/>
            <a:ext cx="640080" cy="182880"/>
          </a:xfrm>
          <a:prstGeom prst="rect">
            <a:avLst/>
          </a:prstGeom>
          <a:noFill/>
          <a:ln/>
        </p:spPr>
        <p:txBody>
          <a:bodyPr wrap="square" lIns="0" tIns="0" rIns="0" bIns="0" rtlCol="0" anchor="t"/>
          <a:lstStyle/>
          <a:p>
            <a:pPr algn="l" indent="0" marL="0">
              <a:buNone/>
            </a:pPr>
            <a:r>
              <a:rPr lang="en-US" sz="860" b="1" spc="110" kern="0" dirty="0">
                <a:solidFill>
                  <a:srgbClr val="B3181E"/>
                </a:solidFill>
                <a:latin typeface="Aptos" pitchFamily="34" charset="0"/>
                <a:ea typeface="Aptos" pitchFamily="34" charset="-122"/>
                <a:cs typeface="Aptos" pitchFamily="34" charset="-120"/>
              </a:rPr>
              <a:t>PISTA</a:t>
            </a:r>
            <a:endParaRPr lang="en-US" sz="860" dirty="0"/>
          </a:p>
        </p:txBody>
      </p:sp>
      <p:sp>
        <p:nvSpPr>
          <p:cNvPr id="16" name="Text 13"/>
          <p:cNvSpPr txBox="1"/>
          <p:nvPr/>
        </p:nvSpPr>
        <p:spPr>
          <a:xfrm>
            <a:off x="2286000" y="3072384"/>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Piensa qué tendría que pasar para que la suite de A se pusiera en rojo alguna vez.</a:t>
            </a:r>
            <a:endParaRPr lang="en-US" sz="1200" dirty="0"/>
          </a:p>
        </p:txBody>
      </p:sp>
      <p:sp>
        <p:nvSpPr>
          <p:cNvPr id="17" name="Shape 14"/>
          <p:cNvSpPr/>
          <p:nvPr/>
        </p:nvSpPr>
        <p:spPr>
          <a:xfrm>
            <a:off x="658368" y="3529584"/>
            <a:ext cx="10874959" cy="1188720"/>
          </a:xfrm>
          <a:prstGeom prst="rect">
            <a:avLst/>
          </a:prstGeom>
          <a:solidFill>
            <a:srgbClr val="EDE6DA"/>
          </a:solidFill>
          <a:ln w="12700">
            <a:solidFill>
              <a:srgbClr val="EDE6DA"/>
            </a:solidFill>
            <a:prstDash val="solid"/>
          </a:ln>
        </p:spPr>
      </p:sp>
      <p:sp>
        <p:nvSpPr>
          <p:cNvPr id="18" name="Shape 15"/>
          <p:cNvSpPr/>
          <p:nvPr/>
        </p:nvSpPr>
        <p:spPr>
          <a:xfrm>
            <a:off x="658368" y="3529584"/>
            <a:ext cx="54864" cy="1188720"/>
          </a:xfrm>
          <a:prstGeom prst="rect">
            <a:avLst/>
          </a:prstGeom>
          <a:solidFill>
            <a:srgbClr val="255A4C"/>
          </a:solidFill>
          <a:ln w="12700">
            <a:solidFill>
              <a:srgbClr val="255A4C"/>
            </a:solidFill>
            <a:prstDash val="solid"/>
          </a:ln>
        </p:spPr>
      </p:sp>
      <p:sp>
        <p:nvSpPr>
          <p:cNvPr id="19" name="Text 16"/>
          <p:cNvSpPr txBox="1"/>
          <p:nvPr/>
        </p:nvSpPr>
        <p:spPr>
          <a:xfrm>
            <a:off x="932688" y="3675888"/>
            <a:ext cx="475488" cy="457200"/>
          </a:xfrm>
          <a:prstGeom prst="rect">
            <a:avLst/>
          </a:prstGeom>
          <a:noFill/>
          <a:ln/>
        </p:spPr>
        <p:txBody>
          <a:bodyPr wrap="square" lIns="0" tIns="0" rIns="0" bIns="0" rtlCol="0" anchor="t"/>
          <a:lstStyle/>
          <a:p>
            <a:pPr algn="l" indent="0" marL="0">
              <a:buNone/>
            </a:pPr>
            <a:r>
              <a:rPr lang="en-US" sz="2600" b="1" dirty="0">
                <a:solidFill>
                  <a:srgbClr val="255A4C"/>
                </a:solidFill>
                <a:latin typeface="Aptos Display" pitchFamily="34" charset="0"/>
                <a:ea typeface="Aptos Display" pitchFamily="34" charset="-122"/>
                <a:cs typeface="Aptos Display" pitchFamily="34" charset="-120"/>
              </a:rPr>
              <a:t>2</a:t>
            </a:r>
            <a:endParaRPr lang="en-US" sz="2600" dirty="0"/>
          </a:p>
        </p:txBody>
      </p:sp>
      <p:sp>
        <p:nvSpPr>
          <p:cNvPr id="20" name="Text 17"/>
          <p:cNvSpPr txBox="1"/>
          <p:nvPr/>
        </p:nvSpPr>
        <p:spPr>
          <a:xfrm>
            <a:off x="1572768" y="3666744"/>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El agente del protocolo A avisó por escrito que sus pruebas fijaban el comportamiento del código y no la regla. Si igual escribió la aserción que consagra la fuga, ¿para qué sirve ese aviso?</a:t>
            </a:r>
            <a:endParaRPr lang="en-US" sz="1400" dirty="0"/>
          </a:p>
        </p:txBody>
      </p:sp>
      <p:sp>
        <p:nvSpPr>
          <p:cNvPr id="21" name="Shape 18"/>
          <p:cNvSpPr/>
          <p:nvPr/>
        </p:nvSpPr>
        <p:spPr>
          <a:xfrm>
            <a:off x="1572768" y="4297680"/>
            <a:ext cx="9631375" cy="0"/>
          </a:xfrm>
          <a:prstGeom prst="line">
            <a:avLst/>
          </a:prstGeom>
          <a:noFill/>
          <a:ln w="12700">
            <a:solidFill>
              <a:srgbClr val="D8CFC4"/>
            </a:solidFill>
            <a:prstDash val="solid"/>
            <a:headEnd type="none"/>
            <a:tailEnd type="none"/>
          </a:ln>
        </p:spPr>
      </p:sp>
      <p:sp>
        <p:nvSpPr>
          <p:cNvPr id="22" name="Text 19"/>
          <p:cNvSpPr txBox="1"/>
          <p:nvPr/>
        </p:nvSpPr>
        <p:spPr>
          <a:xfrm>
            <a:off x="1572768" y="4389120"/>
            <a:ext cx="640080" cy="182880"/>
          </a:xfrm>
          <a:prstGeom prst="rect">
            <a:avLst/>
          </a:prstGeom>
          <a:noFill/>
          <a:ln/>
        </p:spPr>
        <p:txBody>
          <a:bodyPr wrap="square" lIns="0" tIns="0" rIns="0" bIns="0" rtlCol="0" anchor="t"/>
          <a:lstStyle/>
          <a:p>
            <a:pPr algn="l" indent="0" marL="0">
              <a:buNone/>
            </a:pPr>
            <a:r>
              <a:rPr lang="en-US" sz="860" b="1" spc="110" kern="0" dirty="0">
                <a:solidFill>
                  <a:srgbClr val="255A4C"/>
                </a:solidFill>
                <a:latin typeface="Aptos" pitchFamily="34" charset="0"/>
                <a:ea typeface="Aptos" pitchFamily="34" charset="-122"/>
                <a:cs typeface="Aptos" pitchFamily="34" charset="-120"/>
              </a:rPr>
              <a:t>PISTA</a:t>
            </a:r>
            <a:endParaRPr lang="en-US" sz="860" dirty="0"/>
          </a:p>
        </p:txBody>
      </p:sp>
      <p:sp>
        <p:nvSpPr>
          <p:cNvPr id="23" name="Text 20"/>
          <p:cNvSpPr txBox="1"/>
          <p:nvPr/>
        </p:nvSpPr>
        <p:spPr>
          <a:xfrm>
            <a:off x="2286000" y="4370832"/>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No preguntes qué evita el aviso, sino qué te permite hacer a ti que no podrías sin él.</a:t>
            </a:r>
            <a:endParaRPr lang="en-US" sz="1200" dirty="0"/>
          </a:p>
        </p:txBody>
      </p:sp>
      <p:sp>
        <p:nvSpPr>
          <p:cNvPr id="24" name="Shape 21"/>
          <p:cNvSpPr/>
          <p:nvPr/>
        </p:nvSpPr>
        <p:spPr>
          <a:xfrm>
            <a:off x="658368" y="4828032"/>
            <a:ext cx="10874959" cy="1188720"/>
          </a:xfrm>
          <a:prstGeom prst="rect">
            <a:avLst/>
          </a:prstGeom>
          <a:solidFill>
            <a:srgbClr val="F2E7D9"/>
          </a:solidFill>
          <a:ln w="12700">
            <a:solidFill>
              <a:srgbClr val="F2E7D9"/>
            </a:solidFill>
            <a:prstDash val="solid"/>
          </a:ln>
        </p:spPr>
      </p:sp>
      <p:sp>
        <p:nvSpPr>
          <p:cNvPr id="25" name="Shape 22"/>
          <p:cNvSpPr/>
          <p:nvPr/>
        </p:nvSpPr>
        <p:spPr>
          <a:xfrm>
            <a:off x="658368" y="4828032"/>
            <a:ext cx="54864" cy="1188720"/>
          </a:xfrm>
          <a:prstGeom prst="rect">
            <a:avLst/>
          </a:prstGeom>
          <a:solidFill>
            <a:srgbClr val="8A6A12"/>
          </a:solidFill>
          <a:ln w="12700">
            <a:solidFill>
              <a:srgbClr val="8A6A12"/>
            </a:solidFill>
            <a:prstDash val="solid"/>
          </a:ln>
        </p:spPr>
      </p:sp>
      <p:sp>
        <p:nvSpPr>
          <p:cNvPr id="26" name="Text 23"/>
          <p:cNvSpPr txBox="1"/>
          <p:nvPr/>
        </p:nvSpPr>
        <p:spPr>
          <a:xfrm>
            <a:off x="932688" y="4974336"/>
            <a:ext cx="475488" cy="457200"/>
          </a:xfrm>
          <a:prstGeom prst="rect">
            <a:avLst/>
          </a:prstGeom>
          <a:noFill/>
          <a:ln/>
        </p:spPr>
        <p:txBody>
          <a:bodyPr wrap="square" lIns="0" tIns="0" rIns="0" bIns="0" rtlCol="0" anchor="t"/>
          <a:lstStyle/>
          <a:p>
            <a:pPr algn="l"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7" name="Text 24"/>
          <p:cNvSpPr txBox="1"/>
          <p:nvPr/>
        </p:nvSpPr>
        <p:spPr>
          <a:xfrm>
            <a:off x="1572768" y="4965192"/>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Diez pruebas se pusieron en rojo al ocultar el RUT. Frente a una suite en rojo, ¿cómo distingues si lo que está mal es tu cambio o son las pruebas?</a:t>
            </a:r>
            <a:endParaRPr lang="en-US" sz="1400" dirty="0"/>
          </a:p>
        </p:txBody>
      </p:sp>
      <p:sp>
        <p:nvSpPr>
          <p:cNvPr id="28" name="Shape 25"/>
          <p:cNvSpPr/>
          <p:nvPr/>
        </p:nvSpPr>
        <p:spPr>
          <a:xfrm>
            <a:off x="1572768" y="5596128"/>
            <a:ext cx="9631375" cy="0"/>
          </a:xfrm>
          <a:prstGeom prst="line">
            <a:avLst/>
          </a:prstGeom>
          <a:noFill/>
          <a:ln w="12700">
            <a:solidFill>
              <a:srgbClr val="D8CFC4"/>
            </a:solidFill>
            <a:prstDash val="solid"/>
            <a:headEnd type="none"/>
            <a:tailEnd type="none"/>
          </a:ln>
        </p:spPr>
      </p:sp>
      <p:sp>
        <p:nvSpPr>
          <p:cNvPr id="29" name="Text 26"/>
          <p:cNvSpPr txBox="1"/>
          <p:nvPr/>
        </p:nvSpPr>
        <p:spPr>
          <a:xfrm>
            <a:off x="1572768" y="5687568"/>
            <a:ext cx="640080" cy="182880"/>
          </a:xfrm>
          <a:prstGeom prst="rect">
            <a:avLst/>
          </a:prstGeom>
          <a:noFill/>
          <a:ln/>
        </p:spPr>
        <p:txBody>
          <a:bodyPr wrap="square" lIns="0" tIns="0" rIns="0" bIns="0" rtlCol="0" anchor="t"/>
          <a:lstStyle/>
          <a:p>
            <a:pPr algn="l" indent="0" marL="0">
              <a:buNone/>
            </a:pPr>
            <a:r>
              <a:rPr lang="en-US" sz="860" b="1" spc="110" kern="0" dirty="0">
                <a:solidFill>
                  <a:srgbClr val="8A6A12"/>
                </a:solidFill>
                <a:latin typeface="Aptos" pitchFamily="34" charset="0"/>
                <a:ea typeface="Aptos" pitchFamily="34" charset="-122"/>
                <a:cs typeface="Aptos" pitchFamily="34" charset="-120"/>
              </a:rPr>
              <a:t>PISTA</a:t>
            </a:r>
            <a:endParaRPr lang="en-US" sz="860" dirty="0"/>
          </a:p>
        </p:txBody>
      </p:sp>
      <p:sp>
        <p:nvSpPr>
          <p:cNvPr id="30" name="Text 27"/>
          <p:cNvSpPr txBox="1"/>
          <p:nvPr/>
        </p:nvSpPr>
        <p:spPr>
          <a:xfrm>
            <a:off x="2286000" y="5669280"/>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La respuesta no está en el código ni en las pruebas. Está en un tercer lugar.</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3\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25</a:t>
            </a:r>
            <a:endParaRPr lang="en-US" sz="1400" dirty="0"/>
          </a:p>
        </p:txBody>
      </p:sp>
      <p:sp>
        <p:nvSpPr>
          <p:cNvPr id="8" name="Text 5"/>
          <p:cNvSpPr txBox="1"/>
          <p:nvPr/>
        </p:nvSpPr>
        <p:spPr>
          <a:xfrm>
            <a:off x="658368" y="1517904"/>
            <a:ext cx="3657600" cy="237744"/>
          </a:xfrm>
          <a:prstGeom prst="rect">
            <a:avLst/>
          </a:prstGeom>
          <a:noFill/>
          <a:ln/>
        </p:spPr>
        <p:txBody>
          <a:bodyPr wrap="square" lIns="0" tIns="0" rIns="0" bIns="0" rtlCol="0" anchor="t"/>
          <a:lstStyle/>
          <a:p>
            <a:pPr algn="l" indent="0" marL="0">
              <a:buNone/>
            </a:pPr>
            <a:r>
              <a:rPr lang="en-US" sz="1140" b="1" spc="210" kern="0" dirty="0">
                <a:solidFill>
                  <a:srgbClr val="E0BC5A"/>
                </a:solidFill>
                <a:latin typeface="Aptos" pitchFamily="34" charset="0"/>
                <a:ea typeface="Aptos" pitchFamily="34" charset="-122"/>
                <a:cs typeface="Aptos" pitchFamily="34" charset="-120"/>
              </a:rPr>
              <a:t>BLOQUE 3</a:t>
            </a:r>
            <a:endParaRPr lang="en-US" sz="1140" dirty="0"/>
          </a:p>
        </p:txBody>
      </p:sp>
      <p:sp>
        <p:nvSpPr>
          <p:cNvPr id="9" name="Text 6"/>
          <p:cNvSpPr txBox="1"/>
          <p:nvPr/>
        </p:nvSpPr>
        <p:spPr>
          <a:xfrm>
            <a:off x="658368" y="1828800"/>
            <a:ext cx="7772400" cy="1700784"/>
          </a:xfrm>
          <a:prstGeom prst="rect">
            <a:avLst/>
          </a:prstGeom>
          <a:noFill/>
          <a:ln/>
        </p:spPr>
        <p:txBody>
          <a:bodyPr wrap="square" lIns="0" tIns="0" rIns="0" bIns="0" rtlCol="0" anchor="t"/>
          <a:lstStyle/>
          <a:p>
            <a:pPr algn="l" indent="0" marL="0">
              <a:lnSpc>
                <a:spcPct val="106000"/>
              </a:lnSpc>
              <a:buNone/>
            </a:pPr>
            <a:r>
              <a:rPr lang="en-US" sz="3800" b="1" dirty="0">
                <a:solidFill>
                  <a:srgbClr val="FFFFFF"/>
                </a:solidFill>
                <a:latin typeface="Aptos Display" pitchFamily="34" charset="0"/>
                <a:ea typeface="Aptos Display" pitchFamily="34" charset="-122"/>
                <a:cs typeface="Aptos Display" pitchFamily="34" charset="-120"/>
              </a:rPr>
              <a:t>Del nombre</a:t>
            </a:r>
            <a:endParaRPr lang="en-US" sz="3800" dirty="0"/>
          </a:p>
          <a:p>
            <a:pPr algn="l" indent="0" marL="0">
              <a:lnSpc>
                <a:spcPct val="106000"/>
              </a:lnSpc>
              <a:buNone/>
            </a:pPr>
            <a:r>
              <a:rPr lang="en-US" sz="3800" b="1" dirty="0">
                <a:solidFill>
                  <a:srgbClr val="FFFFFF"/>
                </a:solidFill>
                <a:latin typeface="Aptos Display" pitchFamily="34" charset="0"/>
                <a:ea typeface="Aptos Display" pitchFamily="34" charset="-122"/>
                <a:cs typeface="Aptos Display" pitchFamily="34" charset="-120"/>
              </a:rPr>
              <a:t>de la calidad</a:t>
            </a:r>
            <a:endParaRPr lang="en-US" sz="3800" dirty="0"/>
          </a:p>
          <a:p>
            <a:pPr algn="l" indent="0" marL="0">
              <a:lnSpc>
                <a:spcPct val="106000"/>
              </a:lnSpc>
              <a:buNone/>
            </a:pPr>
            <a:r>
              <a:rPr lang="en-US" sz="3800" b="1" dirty="0">
                <a:solidFill>
                  <a:srgbClr val="FFFFFF"/>
                </a:solidFill>
                <a:latin typeface="Aptos Display" pitchFamily="34" charset="0"/>
                <a:ea typeface="Aptos Display" pitchFamily="34" charset="-122"/>
                <a:cs typeface="Aptos Display" pitchFamily="34" charset="-120"/>
              </a:rPr>
              <a:t>al umbral</a:t>
            </a:r>
            <a:endParaRPr lang="en-US" sz="3800" dirty="0"/>
          </a:p>
        </p:txBody>
      </p:sp>
      <p:sp>
        <p:nvSpPr>
          <p:cNvPr id="10" name="Shape 7"/>
          <p:cNvSpPr/>
          <p:nvPr/>
        </p:nvSpPr>
        <p:spPr>
          <a:xfrm>
            <a:off x="658368" y="3675888"/>
            <a:ext cx="2011680" cy="73152"/>
          </a:xfrm>
          <a:prstGeom prst="rect">
            <a:avLst/>
          </a:prstGeom>
          <a:solidFill>
            <a:srgbClr val="D62027"/>
          </a:solidFill>
          <a:ln w="12700">
            <a:solidFill>
              <a:srgbClr val="D62027"/>
            </a:solidFill>
            <a:prstDash val="solid"/>
          </a:ln>
        </p:spPr>
      </p:sp>
      <p:sp>
        <p:nvSpPr>
          <p:cNvPr id="11" name="Text 8"/>
          <p:cNvSpPr txBox="1"/>
          <p:nvPr/>
        </p:nvSpPr>
        <p:spPr>
          <a:xfrm>
            <a:off x="658368" y="4005072"/>
            <a:ext cx="4572000" cy="201168"/>
          </a:xfrm>
          <a:prstGeom prst="rect">
            <a:avLst/>
          </a:prstGeom>
          <a:noFill/>
          <a:ln/>
        </p:spPr>
        <p:txBody>
          <a:bodyPr wrap="square" lIns="0" tIns="0" rIns="0" bIns="0" rtlCol="0" anchor="t"/>
          <a:lstStyle/>
          <a:p>
            <a:pPr algn="l" indent="0" marL="0">
              <a:buNone/>
            </a:pPr>
            <a:r>
              <a:rPr lang="en-US" sz="960" b="1" spc="130" kern="0" dirty="0">
                <a:solidFill>
                  <a:srgbClr val="7FC9B4"/>
                </a:solidFill>
                <a:latin typeface="Aptos" pitchFamily="34" charset="0"/>
                <a:ea typeface="Aptos" pitchFamily="34" charset="-122"/>
                <a:cs typeface="Aptos" pitchFamily="34" charset="-120"/>
              </a:rPr>
              <a:t>LA PREGUNTA DEL BLOQUE</a:t>
            </a:r>
            <a:endParaRPr lang="en-US" sz="960" dirty="0"/>
          </a:p>
        </p:txBody>
      </p:sp>
      <p:sp>
        <p:nvSpPr>
          <p:cNvPr id="12" name="Text 9"/>
          <p:cNvSpPr txBox="1"/>
          <p:nvPr/>
        </p:nvSpPr>
        <p:spPr>
          <a:xfrm>
            <a:off x="658368" y="4279392"/>
            <a:ext cx="6766560" cy="896112"/>
          </a:xfrm>
          <a:prstGeom prst="rect">
            <a:avLst/>
          </a:prstGeom>
          <a:noFill/>
          <a:ln/>
        </p:spPr>
        <p:txBody>
          <a:bodyPr wrap="square" lIns="0" tIns="0" rIns="0" bIns="0" rtlCol="0" anchor="t"/>
          <a:lstStyle/>
          <a:p>
            <a:pPr algn="l" indent="0" marL="0">
              <a:lnSpc>
                <a:spcPct val="118000"/>
              </a:lnSpc>
              <a:buNone/>
            </a:pPr>
            <a:r>
              <a:rPr lang="en-US" sz="1900" dirty="0">
                <a:solidFill>
                  <a:srgbClr val="FFFFFF"/>
                </a:solidFill>
                <a:latin typeface="Aptos" pitchFamily="34" charset="0"/>
                <a:ea typeface="Aptos" pitchFamily="34" charset="-122"/>
                <a:cs typeface="Aptos" pitchFamily="34" charset="-120"/>
              </a:rPr>
              <a:t>Si una prueba necesita algo contra qué comparar, ¿cómo se escribe eso cuando lo que se quiere es que el producto «sea seguro»?</a:t>
            </a:r>
            <a:endParaRPr lang="en-US" sz="1900" dirty="0"/>
          </a:p>
        </p:txBody>
      </p:sp>
      <p:sp>
        <p:nvSpPr>
          <p:cNvPr id="13" name="Shape 10"/>
          <p:cNvSpPr/>
          <p:nvPr/>
        </p:nvSpPr>
        <p:spPr>
          <a:xfrm>
            <a:off x="8321040" y="1572768"/>
            <a:ext cx="0" cy="3566160"/>
          </a:xfrm>
          <a:prstGeom prst="line">
            <a:avLst/>
          </a:prstGeom>
          <a:noFill/>
          <a:ln w="12700">
            <a:solidFill>
              <a:srgbClr val="2C4A66"/>
            </a:solidFill>
            <a:prstDash val="solid"/>
            <a:headEnd type="none"/>
            <a:tailEnd type="none"/>
          </a:ln>
        </p:spPr>
      </p:sp>
      <p:sp>
        <p:nvSpPr>
          <p:cNvPr id="14" name="Text 11"/>
          <p:cNvSpPr txBox="1"/>
          <p:nvPr/>
        </p:nvSpPr>
        <p:spPr>
          <a:xfrm>
            <a:off x="8686800" y="1572768"/>
            <a:ext cx="310896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CON QUÉ SALES</a:t>
            </a:r>
            <a:endParaRPr lang="en-US" sz="960" dirty="0"/>
          </a:p>
        </p:txBody>
      </p:sp>
      <p:sp>
        <p:nvSpPr>
          <p:cNvPr id="15" name="Shape 12"/>
          <p:cNvSpPr/>
          <p:nvPr/>
        </p:nvSpPr>
        <p:spPr>
          <a:xfrm>
            <a:off x="8686800" y="1920240"/>
            <a:ext cx="274320" cy="274320"/>
          </a:xfrm>
          <a:prstGeom prst="ellipse">
            <a:avLst/>
          </a:prstGeom>
          <a:solidFill>
            <a:srgbClr val="1D3A57"/>
          </a:solidFill>
          <a:ln w="12700">
            <a:solidFill>
              <a:srgbClr val="1D3A57"/>
            </a:solidFill>
            <a:prstDash val="solid"/>
          </a:ln>
        </p:spPr>
      </p:sp>
      <p:sp>
        <p:nvSpPr>
          <p:cNvPr id="16" name="Text 13"/>
          <p:cNvSpPr txBox="1"/>
          <p:nvPr/>
        </p:nvSpPr>
        <p:spPr>
          <a:xfrm>
            <a:off x="8686800" y="1920240"/>
            <a:ext cx="274320" cy="274320"/>
          </a:xfrm>
          <a:prstGeom prst="rect">
            <a:avLst/>
          </a:prstGeom>
          <a:noFill/>
          <a:ln/>
        </p:spPr>
        <p:txBody>
          <a:bodyPr wrap="square" lIns="0" tIns="0" rIns="0" bIns="0" rtlCol="0" anchor="ctr"/>
          <a:lstStyle/>
          <a:p>
            <a:pPr algn="ctr" indent="0" marL="0">
              <a:buNone/>
            </a:pPr>
            <a:r>
              <a:rPr lang="en-US" sz="1050" b="1" dirty="0">
                <a:solidFill>
                  <a:srgbClr val="7FC9B4"/>
                </a:solidFill>
                <a:latin typeface="Aptos" pitchFamily="34" charset="0"/>
                <a:ea typeface="Aptos" pitchFamily="34" charset="-122"/>
                <a:cs typeface="Aptos" pitchFamily="34" charset="-120"/>
              </a:rPr>
              <a:t>1</a:t>
            </a:r>
            <a:endParaRPr lang="en-US" sz="1050" dirty="0"/>
          </a:p>
        </p:txBody>
      </p:sp>
      <p:sp>
        <p:nvSpPr>
          <p:cNvPr id="17" name="Text 14"/>
          <p:cNvSpPr txBox="1"/>
          <p:nvPr/>
        </p:nvSpPr>
        <p:spPr>
          <a:xfrm>
            <a:off x="9089136" y="1901952"/>
            <a:ext cx="2651760" cy="603504"/>
          </a:xfrm>
          <a:prstGeom prst="rect">
            <a:avLst/>
          </a:prstGeom>
          <a:noFill/>
          <a:ln/>
        </p:spPr>
        <p:txBody>
          <a:bodyPr wrap="square" lIns="0" tIns="0" rIns="0" bIns="0" rtlCol="0" anchor="t"/>
          <a:lstStyle/>
          <a:p>
            <a:pPr algn="l" indent="0" marL="0">
              <a:lnSpc>
                <a:spcPct val="114000"/>
              </a:lnSpc>
              <a:buNone/>
            </a:pPr>
            <a:r>
              <a:rPr lang="en-US" sz="1220" dirty="0">
                <a:solidFill>
                  <a:srgbClr val="E6EEF7"/>
                </a:solidFill>
                <a:latin typeface="Aptos" pitchFamily="34" charset="0"/>
                <a:ea typeface="Aptos" pitchFamily="34" charset="-122"/>
                <a:cs typeface="Aptos" pitchFamily="34" charset="-120"/>
              </a:rPr>
              <a:t>Las tres piezas que convierten una aspiración en un criterio</a:t>
            </a:r>
            <a:endParaRPr lang="en-US" sz="1220" dirty="0"/>
          </a:p>
        </p:txBody>
      </p:sp>
      <p:sp>
        <p:nvSpPr>
          <p:cNvPr id="18" name="Shape 15"/>
          <p:cNvSpPr/>
          <p:nvPr/>
        </p:nvSpPr>
        <p:spPr>
          <a:xfrm>
            <a:off x="8686800" y="2633472"/>
            <a:ext cx="274320" cy="274320"/>
          </a:xfrm>
          <a:prstGeom prst="ellipse">
            <a:avLst/>
          </a:prstGeom>
          <a:solidFill>
            <a:srgbClr val="1D3A57"/>
          </a:solidFill>
          <a:ln w="12700">
            <a:solidFill>
              <a:srgbClr val="1D3A57"/>
            </a:solidFill>
            <a:prstDash val="solid"/>
          </a:ln>
        </p:spPr>
      </p:sp>
      <p:sp>
        <p:nvSpPr>
          <p:cNvPr id="19" name="Text 16"/>
          <p:cNvSpPr txBox="1"/>
          <p:nvPr/>
        </p:nvSpPr>
        <p:spPr>
          <a:xfrm>
            <a:off x="8686800" y="2633472"/>
            <a:ext cx="274320" cy="274320"/>
          </a:xfrm>
          <a:prstGeom prst="rect">
            <a:avLst/>
          </a:prstGeom>
          <a:noFill/>
          <a:ln/>
        </p:spPr>
        <p:txBody>
          <a:bodyPr wrap="square" lIns="0" tIns="0" rIns="0" bIns="0" rtlCol="0" anchor="ctr"/>
          <a:lstStyle/>
          <a:p>
            <a:pPr algn="ctr" indent="0" marL="0">
              <a:buNone/>
            </a:pPr>
            <a:r>
              <a:rPr lang="en-US" sz="1050" b="1" dirty="0">
                <a:solidFill>
                  <a:srgbClr val="7FC9B4"/>
                </a:solidFill>
                <a:latin typeface="Aptos" pitchFamily="34" charset="0"/>
                <a:ea typeface="Aptos" pitchFamily="34" charset="-122"/>
                <a:cs typeface="Aptos" pitchFamily="34" charset="-120"/>
              </a:rPr>
              <a:t>2</a:t>
            </a:r>
            <a:endParaRPr lang="en-US" sz="1050" dirty="0"/>
          </a:p>
        </p:txBody>
      </p:sp>
      <p:sp>
        <p:nvSpPr>
          <p:cNvPr id="20" name="Text 17"/>
          <p:cNvSpPr txBox="1"/>
          <p:nvPr/>
        </p:nvSpPr>
        <p:spPr>
          <a:xfrm>
            <a:off x="9089136" y="2615184"/>
            <a:ext cx="2651760" cy="603504"/>
          </a:xfrm>
          <a:prstGeom prst="rect">
            <a:avLst/>
          </a:prstGeom>
          <a:noFill/>
          <a:ln/>
        </p:spPr>
        <p:txBody>
          <a:bodyPr wrap="square" lIns="0" tIns="0" rIns="0" bIns="0" rtlCol="0" anchor="t"/>
          <a:lstStyle/>
          <a:p>
            <a:pPr algn="l" indent="0" marL="0">
              <a:lnSpc>
                <a:spcPct val="114000"/>
              </a:lnSpc>
              <a:buNone/>
            </a:pPr>
            <a:r>
              <a:rPr lang="en-US" sz="1220" dirty="0">
                <a:solidFill>
                  <a:srgbClr val="E6EEF7"/>
                </a:solidFill>
                <a:latin typeface="Aptos" pitchFamily="34" charset="0"/>
                <a:ea typeface="Aptos" pitchFamily="34" charset="-122"/>
                <a:cs typeface="Aptos" pitchFamily="34" charset="-120"/>
              </a:rPr>
              <a:t>Un criterio propio, escrito, y la prueba que hace posible</a:t>
            </a:r>
            <a:endParaRPr lang="en-US" sz="1220" dirty="0"/>
          </a:p>
        </p:txBody>
      </p:sp>
      <p:sp>
        <p:nvSpPr>
          <p:cNvPr id="21" name="Shape 18"/>
          <p:cNvSpPr/>
          <p:nvPr/>
        </p:nvSpPr>
        <p:spPr>
          <a:xfrm>
            <a:off x="8686800" y="3346704"/>
            <a:ext cx="274320" cy="274320"/>
          </a:xfrm>
          <a:prstGeom prst="ellipse">
            <a:avLst/>
          </a:prstGeom>
          <a:solidFill>
            <a:srgbClr val="1D3A57"/>
          </a:solidFill>
          <a:ln w="12700">
            <a:solidFill>
              <a:srgbClr val="1D3A57"/>
            </a:solidFill>
            <a:prstDash val="solid"/>
          </a:ln>
        </p:spPr>
      </p:sp>
      <p:sp>
        <p:nvSpPr>
          <p:cNvPr id="22" name="Text 19"/>
          <p:cNvSpPr txBox="1"/>
          <p:nvPr/>
        </p:nvSpPr>
        <p:spPr>
          <a:xfrm>
            <a:off x="8686800" y="3346704"/>
            <a:ext cx="274320" cy="274320"/>
          </a:xfrm>
          <a:prstGeom prst="rect">
            <a:avLst/>
          </a:prstGeom>
          <a:noFill/>
          <a:ln/>
        </p:spPr>
        <p:txBody>
          <a:bodyPr wrap="square" lIns="0" tIns="0" rIns="0" bIns="0" rtlCol="0" anchor="ctr"/>
          <a:lstStyle/>
          <a:p>
            <a:pPr algn="ctr" indent="0" marL="0">
              <a:buNone/>
            </a:pPr>
            <a:r>
              <a:rPr lang="en-US" sz="1050" b="1" dirty="0">
                <a:solidFill>
                  <a:srgbClr val="7FC9B4"/>
                </a:solidFill>
                <a:latin typeface="Aptos" pitchFamily="34" charset="0"/>
                <a:ea typeface="Aptos" pitchFamily="34" charset="-122"/>
                <a:cs typeface="Aptos" pitchFamily="34" charset="-120"/>
              </a:rPr>
              <a:t>3</a:t>
            </a:r>
            <a:endParaRPr lang="en-US" sz="1050" dirty="0"/>
          </a:p>
        </p:txBody>
      </p:sp>
      <p:sp>
        <p:nvSpPr>
          <p:cNvPr id="23" name="Text 20"/>
          <p:cNvSpPr txBox="1"/>
          <p:nvPr/>
        </p:nvSpPr>
        <p:spPr>
          <a:xfrm>
            <a:off x="9089136" y="3328416"/>
            <a:ext cx="2651760" cy="603504"/>
          </a:xfrm>
          <a:prstGeom prst="rect">
            <a:avLst/>
          </a:prstGeom>
          <a:noFill/>
          <a:ln/>
        </p:spPr>
        <p:txBody>
          <a:bodyPr wrap="square" lIns="0" tIns="0" rIns="0" bIns="0" rtlCol="0" anchor="t"/>
          <a:lstStyle/>
          <a:p>
            <a:pPr algn="l" indent="0" marL="0">
              <a:lnSpc>
                <a:spcPct val="114000"/>
              </a:lnSpc>
              <a:buNone/>
            </a:pPr>
            <a:r>
              <a:rPr lang="en-US" sz="1220" dirty="0">
                <a:solidFill>
                  <a:srgbClr val="E6EEF7"/>
                </a:solidFill>
                <a:latin typeface="Aptos" pitchFamily="34" charset="0"/>
                <a:ea typeface="Aptos" pitchFamily="34" charset="-122"/>
                <a:cs typeface="Aptos" pitchFamily="34" charset="-120"/>
              </a:rPr>
              <a:t>Cómo distinguir un umbral decidido de uno inventado</a:t>
            </a:r>
            <a:endParaRPr lang="en-US" sz="122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26</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EL PROBLEMA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«El sistema debe ser seguro» no se puede probar</a:t>
            </a:r>
            <a:endParaRPr lang="en-US" sz="3000" dirty="0"/>
          </a:p>
        </p:txBody>
      </p:sp>
      <p:sp>
        <p:nvSpPr>
          <p:cNvPr id="10" name="Text 7"/>
          <p:cNvSpPr txBox="1"/>
          <p:nvPr/>
        </p:nvSpPr>
        <p:spPr>
          <a:xfrm>
            <a:off x="658368" y="1773936"/>
            <a:ext cx="10424160" cy="566928"/>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ISO/IEC 25010 es el modelo internacional de calidad de producto: nombra nueve características —seguridad, fiabilidad, mantenibilidad, y seis más— que sirven para no olvidar dimensiones. Toma una y escribe la frase que se escribe siempre.</a:t>
            </a:r>
            <a:endParaRPr lang="en-US" sz="1450" dirty="0"/>
          </a:p>
        </p:txBody>
      </p:sp>
      <p:sp>
        <p:nvSpPr>
          <p:cNvPr id="11" name="Shape 8"/>
          <p:cNvSpPr/>
          <p:nvPr/>
        </p:nvSpPr>
        <p:spPr>
          <a:xfrm>
            <a:off x="658368" y="2542032"/>
            <a:ext cx="10874959" cy="658368"/>
          </a:xfrm>
          <a:prstGeom prst="rect">
            <a:avLst/>
          </a:prstGeom>
          <a:solidFill>
            <a:srgbClr val="EADFD0"/>
          </a:solidFill>
          <a:ln w="12700">
            <a:solidFill>
              <a:srgbClr val="EADFD0"/>
            </a:solidFill>
            <a:prstDash val="solid"/>
          </a:ln>
        </p:spPr>
      </p:sp>
      <p:sp>
        <p:nvSpPr>
          <p:cNvPr id="12" name="Text 9"/>
          <p:cNvSpPr txBox="1"/>
          <p:nvPr/>
        </p:nvSpPr>
        <p:spPr>
          <a:xfrm>
            <a:off x="658368" y="2651760"/>
            <a:ext cx="10874959" cy="438912"/>
          </a:xfrm>
          <a:prstGeom prst="rect">
            <a:avLst/>
          </a:prstGeom>
          <a:noFill/>
          <a:ln/>
        </p:spPr>
        <p:txBody>
          <a:bodyPr wrap="square" lIns="0" tIns="0" rIns="0" bIns="0" rtlCol="0" anchor="t"/>
          <a:lstStyle/>
          <a:p>
            <a:pPr algn="ctr" indent="0" marL="0">
              <a:buNone/>
            </a:pPr>
            <a:r>
              <a:rPr lang="en-US" sz="2600" b="1" dirty="0">
                <a:solidFill>
                  <a:srgbClr val="102A43"/>
                </a:solidFill>
                <a:latin typeface="Aptos Display" pitchFamily="34" charset="0"/>
                <a:ea typeface="Aptos Display" pitchFamily="34" charset="-122"/>
                <a:cs typeface="Aptos Display" pitchFamily="34" charset="-120"/>
              </a:rPr>
              <a:t>El sistema debe ser seguro.</a:t>
            </a:r>
            <a:endParaRPr lang="en-US" sz="2600" dirty="0"/>
          </a:p>
        </p:txBody>
      </p:sp>
      <p:sp>
        <p:nvSpPr>
          <p:cNvPr id="13" name="Text 10"/>
          <p:cNvSpPr txBox="1"/>
          <p:nvPr/>
        </p:nvSpPr>
        <p:spPr>
          <a:xfrm>
            <a:off x="658368" y="3364992"/>
            <a:ext cx="10874959" cy="256032"/>
          </a:xfrm>
          <a:prstGeom prst="rect">
            <a:avLst/>
          </a:prstGeom>
          <a:noFill/>
          <a:ln/>
        </p:spPr>
        <p:txBody>
          <a:bodyPr wrap="square" lIns="0" tIns="0" rIns="0" bIns="0" rtlCol="0" anchor="t"/>
          <a:lstStyle/>
          <a:p>
            <a:pPr algn="ctr" indent="0" marL="0">
              <a:buNone/>
            </a:pPr>
            <a:r>
              <a:rPr lang="en-US" sz="1340" dirty="0">
                <a:solidFill>
                  <a:srgbClr val="52606D"/>
                </a:solidFill>
                <a:latin typeface="Aptos" pitchFamily="34" charset="0"/>
                <a:ea typeface="Aptos" pitchFamily="34" charset="-122"/>
                <a:cs typeface="Aptos" pitchFamily="34" charset="-120"/>
              </a:rPr>
              <a:t>Ahora intenta probarla. Las tres primeras partes de una prueba quedan vacías:</a:t>
            </a:r>
            <a:endParaRPr lang="en-US" sz="1340" dirty="0"/>
          </a:p>
        </p:txBody>
      </p:sp>
      <p:sp>
        <p:nvSpPr>
          <p:cNvPr id="14" name="Shape 11"/>
          <p:cNvSpPr/>
          <p:nvPr/>
        </p:nvSpPr>
        <p:spPr>
          <a:xfrm>
            <a:off x="658368" y="3712464"/>
            <a:ext cx="3456432" cy="914400"/>
          </a:xfrm>
          <a:prstGeom prst="rect">
            <a:avLst/>
          </a:prstGeom>
          <a:solidFill>
            <a:srgbClr val="FFFFFF"/>
          </a:solidFill>
          <a:ln w="12700">
            <a:solidFill>
              <a:srgbClr val="FFFFFF"/>
            </a:solidFill>
            <a:prstDash val="solid"/>
          </a:ln>
        </p:spPr>
      </p:sp>
      <p:sp>
        <p:nvSpPr>
          <p:cNvPr id="15" name="Shape 12"/>
          <p:cNvSpPr/>
          <p:nvPr/>
        </p:nvSpPr>
        <p:spPr>
          <a:xfrm>
            <a:off x="658368" y="3712464"/>
            <a:ext cx="3456432" cy="914400"/>
          </a:xfrm>
          <a:prstGeom prst="rect">
            <a:avLst/>
          </a:prstGeom>
          <a:ln w="12700">
            <a:solidFill>
              <a:srgbClr val="D8CFC4"/>
            </a:solidFill>
            <a:prstDash val="solid"/>
          </a:ln>
        </p:spPr>
      </p:sp>
      <p:sp>
        <p:nvSpPr>
          <p:cNvPr id="16" name="Text 13"/>
          <p:cNvSpPr txBox="1"/>
          <p:nvPr/>
        </p:nvSpPr>
        <p:spPr>
          <a:xfrm>
            <a:off x="877824" y="3858768"/>
            <a:ext cx="3017520" cy="256032"/>
          </a:xfrm>
          <a:prstGeom prst="rect">
            <a:avLst/>
          </a:prstGeom>
          <a:noFill/>
          <a:ln/>
        </p:spPr>
        <p:txBody>
          <a:bodyPr wrap="square" lIns="0" tIns="0" rIns="0" bIns="0" rtlCol="0" anchor="t"/>
          <a:lstStyle/>
          <a:p>
            <a:pPr algn="l" indent="0" marL="0">
              <a:buNone/>
            </a:pPr>
            <a:r>
              <a:rPr lang="en-US" sz="1300" b="1" dirty="0">
                <a:solidFill>
                  <a:srgbClr val="243B53"/>
                </a:solidFill>
                <a:latin typeface="Aptos" pitchFamily="34" charset="0"/>
                <a:ea typeface="Aptos" pitchFamily="34" charset="-122"/>
                <a:cs typeface="Aptos" pitchFamily="34" charset="-120"/>
              </a:rPr>
              <a:t>¿Cuál es la entrada?</a:t>
            </a:r>
            <a:endParaRPr lang="en-US" sz="1300" dirty="0"/>
          </a:p>
        </p:txBody>
      </p:sp>
      <p:sp>
        <p:nvSpPr>
          <p:cNvPr id="17" name="Text 14"/>
          <p:cNvSpPr txBox="1"/>
          <p:nvPr/>
        </p:nvSpPr>
        <p:spPr>
          <a:xfrm>
            <a:off x="877824" y="4187952"/>
            <a:ext cx="3017520" cy="310896"/>
          </a:xfrm>
          <a:prstGeom prst="rect">
            <a:avLst/>
          </a:prstGeom>
          <a:noFill/>
          <a:ln/>
        </p:spPr>
        <p:txBody>
          <a:bodyPr wrap="square" lIns="0" tIns="0" rIns="0" bIns="0" rtlCol="0" anchor="t"/>
          <a:lstStyle/>
          <a:p>
            <a:pPr algn="l" indent="0" marL="0">
              <a:buNone/>
            </a:pPr>
            <a:r>
              <a:rPr lang="en-US" sz="2000" b="1" dirty="0">
                <a:solidFill>
                  <a:srgbClr val="B3181E"/>
                </a:solidFill>
                <a:latin typeface="Aptos Display" pitchFamily="34" charset="0"/>
                <a:ea typeface="Aptos Display" pitchFamily="34" charset="-122"/>
                <a:cs typeface="Aptos Display" pitchFamily="34" charset="-120"/>
              </a:rPr>
              <a:t>no hay</a:t>
            </a:r>
            <a:endParaRPr lang="en-US" sz="2000" dirty="0"/>
          </a:p>
        </p:txBody>
      </p:sp>
      <p:sp>
        <p:nvSpPr>
          <p:cNvPr id="18" name="Shape 15"/>
          <p:cNvSpPr/>
          <p:nvPr/>
        </p:nvSpPr>
        <p:spPr>
          <a:xfrm>
            <a:off x="4370832" y="3712464"/>
            <a:ext cx="3456432" cy="914400"/>
          </a:xfrm>
          <a:prstGeom prst="rect">
            <a:avLst/>
          </a:prstGeom>
          <a:solidFill>
            <a:srgbClr val="FFFFFF"/>
          </a:solidFill>
          <a:ln w="12700">
            <a:solidFill>
              <a:srgbClr val="FFFFFF"/>
            </a:solidFill>
            <a:prstDash val="solid"/>
          </a:ln>
        </p:spPr>
      </p:sp>
      <p:sp>
        <p:nvSpPr>
          <p:cNvPr id="19" name="Shape 16"/>
          <p:cNvSpPr/>
          <p:nvPr/>
        </p:nvSpPr>
        <p:spPr>
          <a:xfrm>
            <a:off x="4370832" y="3712464"/>
            <a:ext cx="3456432" cy="914400"/>
          </a:xfrm>
          <a:prstGeom prst="rect">
            <a:avLst/>
          </a:prstGeom>
          <a:ln w="12700">
            <a:solidFill>
              <a:srgbClr val="D8CFC4"/>
            </a:solidFill>
            <a:prstDash val="solid"/>
          </a:ln>
        </p:spPr>
      </p:sp>
      <p:sp>
        <p:nvSpPr>
          <p:cNvPr id="20" name="Text 17"/>
          <p:cNvSpPr txBox="1"/>
          <p:nvPr/>
        </p:nvSpPr>
        <p:spPr>
          <a:xfrm>
            <a:off x="4590288" y="3858768"/>
            <a:ext cx="3017520" cy="256032"/>
          </a:xfrm>
          <a:prstGeom prst="rect">
            <a:avLst/>
          </a:prstGeom>
          <a:noFill/>
          <a:ln/>
        </p:spPr>
        <p:txBody>
          <a:bodyPr wrap="square" lIns="0" tIns="0" rIns="0" bIns="0" rtlCol="0" anchor="t"/>
          <a:lstStyle/>
          <a:p>
            <a:pPr algn="l" indent="0" marL="0">
              <a:buNone/>
            </a:pPr>
            <a:r>
              <a:rPr lang="en-US" sz="1300" b="1" dirty="0">
                <a:solidFill>
                  <a:srgbClr val="243B53"/>
                </a:solidFill>
                <a:latin typeface="Aptos" pitchFamily="34" charset="0"/>
                <a:ea typeface="Aptos" pitchFamily="34" charset="-122"/>
                <a:cs typeface="Aptos" pitchFamily="34" charset="-120"/>
              </a:rPr>
              <a:t>¿Cuál es la salida esperada?</a:t>
            </a:r>
            <a:endParaRPr lang="en-US" sz="1300" dirty="0"/>
          </a:p>
        </p:txBody>
      </p:sp>
      <p:sp>
        <p:nvSpPr>
          <p:cNvPr id="21" name="Text 18"/>
          <p:cNvSpPr txBox="1"/>
          <p:nvPr/>
        </p:nvSpPr>
        <p:spPr>
          <a:xfrm>
            <a:off x="4590288" y="4187952"/>
            <a:ext cx="3017520" cy="310896"/>
          </a:xfrm>
          <a:prstGeom prst="rect">
            <a:avLst/>
          </a:prstGeom>
          <a:noFill/>
          <a:ln/>
        </p:spPr>
        <p:txBody>
          <a:bodyPr wrap="square" lIns="0" tIns="0" rIns="0" bIns="0" rtlCol="0" anchor="t"/>
          <a:lstStyle/>
          <a:p>
            <a:pPr algn="l" indent="0" marL="0">
              <a:buNone/>
            </a:pPr>
            <a:r>
              <a:rPr lang="en-US" sz="2000" b="1" dirty="0">
                <a:solidFill>
                  <a:srgbClr val="B3181E"/>
                </a:solidFill>
                <a:latin typeface="Aptos Display" pitchFamily="34" charset="0"/>
                <a:ea typeface="Aptos Display" pitchFamily="34" charset="-122"/>
                <a:cs typeface="Aptos Display" pitchFamily="34" charset="-120"/>
              </a:rPr>
              <a:t>no hay</a:t>
            </a:r>
            <a:endParaRPr lang="en-US" sz="2000" dirty="0"/>
          </a:p>
        </p:txBody>
      </p:sp>
      <p:sp>
        <p:nvSpPr>
          <p:cNvPr id="22" name="Shape 19"/>
          <p:cNvSpPr/>
          <p:nvPr/>
        </p:nvSpPr>
        <p:spPr>
          <a:xfrm>
            <a:off x="8083296" y="3712464"/>
            <a:ext cx="3456432" cy="914400"/>
          </a:xfrm>
          <a:prstGeom prst="rect">
            <a:avLst/>
          </a:prstGeom>
          <a:solidFill>
            <a:srgbClr val="FFFFFF"/>
          </a:solidFill>
          <a:ln w="12700">
            <a:solidFill>
              <a:srgbClr val="FFFFFF"/>
            </a:solidFill>
            <a:prstDash val="solid"/>
          </a:ln>
        </p:spPr>
      </p:sp>
      <p:sp>
        <p:nvSpPr>
          <p:cNvPr id="23" name="Shape 20"/>
          <p:cNvSpPr/>
          <p:nvPr/>
        </p:nvSpPr>
        <p:spPr>
          <a:xfrm>
            <a:off x="8083296" y="3712464"/>
            <a:ext cx="3456432" cy="914400"/>
          </a:xfrm>
          <a:prstGeom prst="rect">
            <a:avLst/>
          </a:prstGeom>
          <a:ln w="12700">
            <a:solidFill>
              <a:srgbClr val="D8CFC4"/>
            </a:solidFill>
            <a:prstDash val="solid"/>
          </a:ln>
        </p:spPr>
      </p:sp>
      <p:sp>
        <p:nvSpPr>
          <p:cNvPr id="24" name="Text 21"/>
          <p:cNvSpPr txBox="1"/>
          <p:nvPr/>
        </p:nvSpPr>
        <p:spPr>
          <a:xfrm>
            <a:off x="8302752" y="3858768"/>
            <a:ext cx="3017520" cy="256032"/>
          </a:xfrm>
          <a:prstGeom prst="rect">
            <a:avLst/>
          </a:prstGeom>
          <a:noFill/>
          <a:ln/>
        </p:spPr>
        <p:txBody>
          <a:bodyPr wrap="square" lIns="0" tIns="0" rIns="0" bIns="0" rtlCol="0" anchor="t"/>
          <a:lstStyle/>
          <a:p>
            <a:pPr algn="l" indent="0" marL="0">
              <a:buNone/>
            </a:pPr>
            <a:r>
              <a:rPr lang="en-US" sz="1300" b="1" dirty="0">
                <a:solidFill>
                  <a:srgbClr val="243B53"/>
                </a:solidFill>
                <a:latin typeface="Aptos" pitchFamily="34" charset="0"/>
                <a:ea typeface="Aptos" pitchFamily="34" charset="-122"/>
                <a:cs typeface="Aptos" pitchFamily="34" charset="-120"/>
              </a:rPr>
              <a:t>¿Qué la pondría en rojo?</a:t>
            </a:r>
            <a:endParaRPr lang="en-US" sz="1300" dirty="0"/>
          </a:p>
        </p:txBody>
      </p:sp>
      <p:sp>
        <p:nvSpPr>
          <p:cNvPr id="25" name="Text 22"/>
          <p:cNvSpPr txBox="1"/>
          <p:nvPr/>
        </p:nvSpPr>
        <p:spPr>
          <a:xfrm>
            <a:off x="8302752" y="4187952"/>
            <a:ext cx="3017520" cy="310896"/>
          </a:xfrm>
          <a:prstGeom prst="rect">
            <a:avLst/>
          </a:prstGeom>
          <a:noFill/>
          <a:ln/>
        </p:spPr>
        <p:txBody>
          <a:bodyPr wrap="square" lIns="0" tIns="0" rIns="0" bIns="0" rtlCol="0" anchor="t"/>
          <a:lstStyle/>
          <a:p>
            <a:pPr algn="l" indent="0" marL="0">
              <a:buNone/>
            </a:pPr>
            <a:r>
              <a:rPr lang="en-US" sz="2000" b="1" dirty="0">
                <a:solidFill>
                  <a:srgbClr val="B3181E"/>
                </a:solidFill>
                <a:latin typeface="Aptos Display" pitchFamily="34" charset="0"/>
                <a:ea typeface="Aptos Display" pitchFamily="34" charset="-122"/>
                <a:cs typeface="Aptos Display" pitchFamily="34" charset="-120"/>
              </a:rPr>
              <a:t>nada</a:t>
            </a:r>
            <a:endParaRPr lang="en-US" sz="2000" dirty="0"/>
          </a:p>
        </p:txBody>
      </p:sp>
      <p:sp>
        <p:nvSpPr>
          <p:cNvPr id="26" name="Text 23"/>
          <p:cNvSpPr txBox="1"/>
          <p:nvPr/>
        </p:nvSpPr>
        <p:spPr>
          <a:xfrm>
            <a:off x="658368" y="4809744"/>
            <a:ext cx="10874959" cy="256032"/>
          </a:xfrm>
          <a:prstGeom prst="rect">
            <a:avLst/>
          </a:prstGeom>
          <a:noFill/>
          <a:ln/>
        </p:spPr>
        <p:txBody>
          <a:bodyPr wrap="square" lIns="0" tIns="0" rIns="0" bIns="0" rtlCol="0" anchor="t"/>
          <a:lstStyle/>
          <a:p>
            <a:pPr algn="ctr" indent="0" marL="0">
              <a:buNone/>
            </a:pPr>
            <a:r>
              <a:rPr lang="en-US" sz="1300" dirty="0">
                <a:solidFill>
                  <a:srgbClr val="52606D"/>
                </a:solidFill>
                <a:latin typeface="Aptos" pitchFamily="34" charset="0"/>
                <a:ea typeface="Aptos" pitchFamily="34" charset="-122"/>
                <a:cs typeface="Aptos" pitchFamily="34" charset="-120"/>
              </a:rPr>
              <a:t>No es una crítica al modelo. La norma dice para qué sirve, y son justo las dos tareas de este bloque:</a:t>
            </a:r>
            <a:endParaRPr lang="en-US" sz="1300" dirty="0"/>
          </a:p>
        </p:txBody>
      </p:sp>
      <p:sp>
        <p:nvSpPr>
          <p:cNvPr id="27" name="Shape 24"/>
          <p:cNvSpPr/>
          <p:nvPr/>
        </p:nvSpPr>
        <p:spPr>
          <a:xfrm>
            <a:off x="658368" y="5120640"/>
            <a:ext cx="10874959" cy="512064"/>
          </a:xfrm>
          <a:prstGeom prst="rect">
            <a:avLst/>
          </a:prstGeom>
          <a:solidFill>
            <a:srgbClr val="F2E7D9"/>
          </a:solidFill>
          <a:ln w="12700">
            <a:solidFill>
              <a:srgbClr val="F2E7D9"/>
            </a:solidFill>
            <a:prstDash val="solid"/>
          </a:ln>
        </p:spPr>
      </p:sp>
      <p:sp>
        <p:nvSpPr>
          <p:cNvPr id="28" name="Shape 25"/>
          <p:cNvSpPr/>
          <p:nvPr/>
        </p:nvSpPr>
        <p:spPr>
          <a:xfrm>
            <a:off x="658368" y="5120640"/>
            <a:ext cx="64008" cy="512064"/>
          </a:xfrm>
          <a:prstGeom prst="rect">
            <a:avLst/>
          </a:prstGeom>
          <a:solidFill>
            <a:srgbClr val="255A4C"/>
          </a:solidFill>
          <a:ln w="12700">
            <a:solidFill>
              <a:srgbClr val="255A4C"/>
            </a:solidFill>
            <a:prstDash val="solid"/>
          </a:ln>
        </p:spPr>
      </p:sp>
      <p:sp>
        <p:nvSpPr>
          <p:cNvPr id="29" name="Text 26"/>
          <p:cNvSpPr txBox="1"/>
          <p:nvPr/>
        </p:nvSpPr>
        <p:spPr>
          <a:xfrm>
            <a:off x="969264" y="5248656"/>
            <a:ext cx="10308031" cy="256032"/>
          </a:xfrm>
          <a:prstGeom prst="rect">
            <a:avLst/>
          </a:prstGeom>
          <a:noFill/>
          <a:ln/>
        </p:spPr>
        <p:txBody>
          <a:bodyPr wrap="square" lIns="0" tIns="0" rIns="0" bIns="0" rtlCol="0" anchor="ctr"/>
          <a:lstStyle/>
          <a:p>
            <a:pPr algn="l" indent="0" marL="0">
              <a:lnSpc>
                <a:spcPct val="120000"/>
              </a:lnSpc>
              <a:buNone/>
            </a:pPr>
            <a:r>
              <a:rPr lang="en-US" sz="1320" i="1" dirty="0">
                <a:solidFill>
                  <a:srgbClr val="243B53"/>
                </a:solidFill>
                <a:latin typeface="Aptos" pitchFamily="34" charset="0"/>
                <a:ea typeface="Aptos" pitchFamily="34" charset="-122"/>
                <a:cs typeface="Aptos" pitchFamily="34" charset="-120"/>
              </a:rPr>
              <a:t>“…validar que la definición de requisitos esté completa; identificar criterios de aceptación para un producto…”</a:t>
            </a:r>
            <a:endParaRPr lang="en-US" sz="1320" dirty="0"/>
          </a:p>
        </p:txBody>
      </p:sp>
      <p:sp>
        <p:nvSpPr>
          <p:cNvPr id="30" name="Shape 27"/>
          <p:cNvSpPr/>
          <p:nvPr/>
        </p:nvSpPr>
        <p:spPr>
          <a:xfrm>
            <a:off x="658368" y="5705856"/>
            <a:ext cx="45720" cy="182880"/>
          </a:xfrm>
          <a:prstGeom prst="rect">
            <a:avLst/>
          </a:prstGeom>
          <a:solidFill>
            <a:srgbClr val="255A4C"/>
          </a:solidFill>
          <a:ln w="12700">
            <a:solidFill>
              <a:srgbClr val="255A4C"/>
            </a:solidFill>
            <a:prstDash val="solid"/>
          </a:ln>
        </p:spPr>
      </p:sp>
      <p:sp>
        <p:nvSpPr>
          <p:cNvPr id="31" name="Text 28"/>
          <p:cNvSpPr txBox="1"/>
          <p:nvPr/>
        </p:nvSpPr>
        <p:spPr>
          <a:xfrm>
            <a:off x="804672" y="5696712"/>
            <a:ext cx="640080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ISO/IEC 25010:2023, cláusula 1 · traducción del original en inglés.</a:t>
            </a:r>
            <a:endParaRPr lang="en-US" sz="920" dirty="0"/>
          </a:p>
        </p:txBody>
      </p:sp>
      <p:sp>
        <p:nvSpPr>
          <p:cNvPr id="32" name="Shape 29"/>
          <p:cNvSpPr/>
          <p:nvPr/>
        </p:nvSpPr>
        <p:spPr>
          <a:xfrm>
            <a:off x="658368" y="5925312"/>
            <a:ext cx="10874959" cy="475488"/>
          </a:xfrm>
          <a:prstGeom prst="rect">
            <a:avLst/>
          </a:prstGeom>
          <a:solidFill>
            <a:srgbClr val="102A43"/>
          </a:solidFill>
          <a:ln w="12700">
            <a:solidFill>
              <a:srgbClr val="102A43"/>
            </a:solidFill>
            <a:prstDash val="solid"/>
          </a:ln>
        </p:spPr>
      </p:sp>
      <p:sp>
        <p:nvSpPr>
          <p:cNvPr id="33" name="Text 30"/>
          <p:cNvSpPr txBox="1"/>
          <p:nvPr/>
        </p:nvSpPr>
        <p:spPr>
          <a:xfrm>
            <a:off x="969264" y="5971032"/>
            <a:ext cx="10253167" cy="384048"/>
          </a:xfrm>
          <a:prstGeom prst="rect">
            <a:avLst/>
          </a:prstGeom>
          <a:noFill/>
          <a:ln/>
        </p:spPr>
        <p:txBody>
          <a:bodyPr wrap="square" lIns="0" tIns="0" rIns="0" bIns="0" rtlCol="0" anchor="ctr"/>
          <a:lstStyle/>
          <a:p>
            <a:pPr algn="ctr" indent="0" marL="0">
              <a:lnSpc>
                <a:spcPct val="112000"/>
              </a:lnSpc>
              <a:buNone/>
            </a:pPr>
            <a:r>
              <a:rPr lang="en-US" sz="1320" b="1" dirty="0">
                <a:solidFill>
                  <a:srgbClr val="FFFFFF"/>
                </a:solidFill>
                <a:latin typeface="Aptos" pitchFamily="34" charset="0"/>
                <a:ea typeface="Aptos" pitchFamily="34" charset="-122"/>
                <a:cs typeface="Aptos" pitchFamily="34" charset="-120"/>
              </a:rPr>
              <a:t>Una característica de calidad es el nombre de una propiedad deseable. Ningún nombre se puede ejecutar.</a:t>
            </a:r>
            <a:endParaRPr lang="en-US" sz="132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27</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EL MÉTODO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Tres piezas convierten una aspiración en un criterio</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Si falta una sola, la frase no se puede probar.</a:t>
            </a:r>
            <a:endParaRPr lang="en-US" sz="1450" dirty="0"/>
          </a:p>
        </p:txBody>
      </p:sp>
      <p:sp>
        <p:nvSpPr>
          <p:cNvPr id="11" name="Shape 8"/>
          <p:cNvSpPr/>
          <p:nvPr/>
        </p:nvSpPr>
        <p:spPr>
          <a:xfrm>
            <a:off x="658368" y="2359152"/>
            <a:ext cx="3401568" cy="2286000"/>
          </a:xfrm>
          <a:prstGeom prst="rect">
            <a:avLst/>
          </a:prstGeom>
          <a:solidFill>
            <a:srgbClr val="FFFFFF"/>
          </a:solidFill>
          <a:ln w="12700">
            <a:solidFill>
              <a:srgbClr val="FFFFFF"/>
            </a:solidFill>
            <a:prstDash val="solid"/>
          </a:ln>
        </p:spPr>
      </p:sp>
      <p:sp>
        <p:nvSpPr>
          <p:cNvPr id="12" name="Shape 9"/>
          <p:cNvSpPr/>
          <p:nvPr/>
        </p:nvSpPr>
        <p:spPr>
          <a:xfrm>
            <a:off x="658368" y="2359152"/>
            <a:ext cx="3401568" cy="64008"/>
          </a:xfrm>
          <a:prstGeom prst="rect">
            <a:avLst/>
          </a:prstGeom>
          <a:solidFill>
            <a:srgbClr val="102A43"/>
          </a:solidFill>
          <a:ln w="12700">
            <a:solidFill>
              <a:srgbClr val="102A43"/>
            </a:solidFill>
            <a:prstDash val="solid"/>
          </a:ln>
        </p:spPr>
      </p:sp>
      <p:sp>
        <p:nvSpPr>
          <p:cNvPr id="13" name="Shape 10"/>
          <p:cNvSpPr/>
          <p:nvPr/>
        </p:nvSpPr>
        <p:spPr>
          <a:xfrm>
            <a:off x="896112" y="2560320"/>
            <a:ext cx="384048" cy="384048"/>
          </a:xfrm>
          <a:prstGeom prst="ellipse">
            <a:avLst/>
          </a:prstGeom>
          <a:solidFill>
            <a:srgbClr val="102A43"/>
          </a:solidFill>
          <a:ln w="12700">
            <a:solidFill>
              <a:srgbClr val="102A43"/>
            </a:solidFill>
            <a:prstDash val="solid"/>
          </a:ln>
        </p:spPr>
      </p:sp>
      <p:sp>
        <p:nvSpPr>
          <p:cNvPr id="14" name="Text 11"/>
          <p:cNvSpPr txBox="1"/>
          <p:nvPr/>
        </p:nvSpPr>
        <p:spPr>
          <a:xfrm>
            <a:off x="896112" y="2560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ptos" pitchFamily="34" charset="0"/>
                <a:ea typeface="Aptos" pitchFamily="34" charset="-122"/>
                <a:cs typeface="Aptos" pitchFamily="34" charset="-120"/>
              </a:rPr>
              <a:t>1</a:t>
            </a:r>
            <a:endParaRPr lang="en-US" sz="1400" dirty="0"/>
          </a:p>
        </p:txBody>
      </p:sp>
      <p:sp>
        <p:nvSpPr>
          <p:cNvPr id="15" name="Text 12"/>
          <p:cNvSpPr txBox="1"/>
          <p:nvPr/>
        </p:nvSpPr>
        <p:spPr>
          <a:xfrm>
            <a:off x="896112" y="3072384"/>
            <a:ext cx="2926080" cy="512064"/>
          </a:xfrm>
          <a:prstGeom prst="rect">
            <a:avLst/>
          </a:prstGeom>
          <a:noFill/>
          <a:ln/>
        </p:spPr>
        <p:txBody>
          <a:bodyPr wrap="square" lIns="0" tIns="0" rIns="0" bIns="0" rtlCol="0" anchor="t"/>
          <a:lstStyle/>
          <a:p>
            <a:pPr algn="l" indent="0" marL="0">
              <a:lnSpc>
                <a:spcPct val="106000"/>
              </a:lnSpc>
              <a:buNone/>
            </a:pPr>
            <a:r>
              <a:rPr lang="en-US" sz="1550" b="1" dirty="0">
                <a:solidFill>
                  <a:srgbClr val="243B53"/>
                </a:solidFill>
                <a:latin typeface="Aptos" pitchFamily="34" charset="0"/>
                <a:ea typeface="Aptos" pitchFamily="34" charset="-122"/>
                <a:cs typeface="Aptos" pitchFamily="34" charset="-120"/>
              </a:rPr>
              <a:t>Una magnitud observable</a:t>
            </a:r>
            <a:endParaRPr lang="en-US" sz="1550" dirty="0"/>
          </a:p>
        </p:txBody>
      </p:sp>
      <p:sp>
        <p:nvSpPr>
          <p:cNvPr id="16" name="Text 13"/>
          <p:cNvSpPr txBox="1"/>
          <p:nvPr/>
        </p:nvSpPr>
        <p:spPr>
          <a:xfrm>
            <a:off x="896112" y="3621024"/>
            <a:ext cx="2926080" cy="512064"/>
          </a:xfrm>
          <a:prstGeom prst="rect">
            <a:avLst/>
          </a:prstGeom>
          <a:noFill/>
          <a:ln/>
        </p:spPr>
        <p:txBody>
          <a:bodyPr wrap="square" lIns="0" tIns="0" rIns="0" bIns="0" rtlCol="0" anchor="t"/>
          <a:lstStyle/>
          <a:p>
            <a:pPr algn="l" indent="0" marL="0">
              <a:lnSpc>
                <a:spcPct val="114000"/>
              </a:lnSpc>
              <a:buNone/>
            </a:pPr>
            <a:r>
              <a:rPr lang="en-US" sz="1180" dirty="0">
                <a:solidFill>
                  <a:srgbClr val="52606D"/>
                </a:solidFill>
                <a:latin typeface="Aptos" pitchFamily="34" charset="0"/>
                <a:ea typeface="Aptos" pitchFamily="34" charset="-122"/>
                <a:cs typeface="Aptos" pitchFamily="34" charset="-120"/>
              </a:rPr>
              <a:t>Algo que se pueda contar o detectar en la salida.</a:t>
            </a:r>
            <a:endParaRPr lang="en-US" sz="1180" dirty="0"/>
          </a:p>
        </p:txBody>
      </p:sp>
      <p:sp>
        <p:nvSpPr>
          <p:cNvPr id="17" name="Shape 14"/>
          <p:cNvSpPr/>
          <p:nvPr/>
        </p:nvSpPr>
        <p:spPr>
          <a:xfrm>
            <a:off x="896112" y="4187952"/>
            <a:ext cx="2926080" cy="365760"/>
          </a:xfrm>
          <a:prstGeom prst="rect">
            <a:avLst/>
          </a:prstGeom>
          <a:solidFill>
            <a:srgbClr val="F2E7D9"/>
          </a:solidFill>
          <a:ln w="12700">
            <a:solidFill>
              <a:srgbClr val="F2E7D9"/>
            </a:solidFill>
            <a:prstDash val="solid"/>
          </a:ln>
        </p:spPr>
      </p:sp>
      <p:sp>
        <p:nvSpPr>
          <p:cNvPr id="18" name="Text 15"/>
          <p:cNvSpPr txBox="1"/>
          <p:nvPr/>
        </p:nvSpPr>
        <p:spPr>
          <a:xfrm>
            <a:off x="1024128" y="4224528"/>
            <a:ext cx="2688336" cy="292608"/>
          </a:xfrm>
          <a:prstGeom prst="rect">
            <a:avLst/>
          </a:prstGeom>
          <a:noFill/>
          <a:ln/>
        </p:spPr>
        <p:txBody>
          <a:bodyPr wrap="square" lIns="0" tIns="0" rIns="0" bIns="0" rtlCol="0" anchor="ctr"/>
          <a:lstStyle/>
          <a:p>
            <a:pPr algn="l" indent="0" marL="0">
              <a:lnSpc>
                <a:spcPct val="106000"/>
              </a:lnSpc>
              <a:buNone/>
            </a:pPr>
            <a:r>
              <a:rPr lang="en-US" sz="980" i="1" dirty="0">
                <a:solidFill>
                  <a:srgbClr val="243B53"/>
                </a:solidFill>
                <a:latin typeface="Aptos" pitchFamily="34" charset="0"/>
                <a:ea typeface="Aptos" pitchFamily="34" charset="-122"/>
                <a:cs typeface="Aptos" pitchFamily="34" charset="-120"/>
              </a:rPr>
              <a:t>no «la seguridad», sino «cuántos RUT completos aparecen en el listado»</a:t>
            </a:r>
            <a:endParaRPr lang="en-US" sz="980" dirty="0"/>
          </a:p>
        </p:txBody>
      </p:sp>
      <p:sp>
        <p:nvSpPr>
          <p:cNvPr id="19" name="Shape 16"/>
          <p:cNvSpPr/>
          <p:nvPr/>
        </p:nvSpPr>
        <p:spPr>
          <a:xfrm>
            <a:off x="4078224" y="3474720"/>
            <a:ext cx="219456" cy="0"/>
          </a:xfrm>
          <a:prstGeom prst="line">
            <a:avLst/>
          </a:prstGeom>
          <a:noFill/>
          <a:ln w="12700">
            <a:solidFill>
              <a:srgbClr val="52606D"/>
            </a:solidFill>
            <a:prstDash val="solid"/>
            <a:headEnd type="none"/>
            <a:tailEnd type="triangle"/>
          </a:ln>
        </p:spPr>
      </p:sp>
      <p:sp>
        <p:nvSpPr>
          <p:cNvPr id="20" name="Shape 17"/>
          <p:cNvSpPr/>
          <p:nvPr/>
        </p:nvSpPr>
        <p:spPr>
          <a:xfrm>
            <a:off x="4334256" y="2359152"/>
            <a:ext cx="3401568" cy="2286000"/>
          </a:xfrm>
          <a:prstGeom prst="rect">
            <a:avLst/>
          </a:prstGeom>
          <a:solidFill>
            <a:srgbClr val="FFFFFF"/>
          </a:solidFill>
          <a:ln w="12700">
            <a:solidFill>
              <a:srgbClr val="FFFFFF"/>
            </a:solidFill>
            <a:prstDash val="solid"/>
          </a:ln>
        </p:spPr>
      </p:sp>
      <p:sp>
        <p:nvSpPr>
          <p:cNvPr id="21" name="Shape 18"/>
          <p:cNvSpPr/>
          <p:nvPr/>
        </p:nvSpPr>
        <p:spPr>
          <a:xfrm>
            <a:off x="4334256" y="2359152"/>
            <a:ext cx="3401568" cy="64008"/>
          </a:xfrm>
          <a:prstGeom prst="rect">
            <a:avLst/>
          </a:prstGeom>
          <a:solidFill>
            <a:srgbClr val="255A4C"/>
          </a:solidFill>
          <a:ln w="12700">
            <a:solidFill>
              <a:srgbClr val="255A4C"/>
            </a:solidFill>
            <a:prstDash val="solid"/>
          </a:ln>
        </p:spPr>
      </p:sp>
      <p:sp>
        <p:nvSpPr>
          <p:cNvPr id="22" name="Shape 19"/>
          <p:cNvSpPr/>
          <p:nvPr/>
        </p:nvSpPr>
        <p:spPr>
          <a:xfrm>
            <a:off x="4572000" y="2560320"/>
            <a:ext cx="384048" cy="384048"/>
          </a:xfrm>
          <a:prstGeom prst="ellipse">
            <a:avLst/>
          </a:prstGeom>
          <a:solidFill>
            <a:srgbClr val="255A4C"/>
          </a:solidFill>
          <a:ln w="12700">
            <a:solidFill>
              <a:srgbClr val="255A4C"/>
            </a:solidFill>
            <a:prstDash val="solid"/>
          </a:ln>
        </p:spPr>
      </p:sp>
      <p:sp>
        <p:nvSpPr>
          <p:cNvPr id="23" name="Text 20"/>
          <p:cNvSpPr txBox="1"/>
          <p:nvPr/>
        </p:nvSpPr>
        <p:spPr>
          <a:xfrm>
            <a:off x="4572000" y="2560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ptos" pitchFamily="34" charset="0"/>
                <a:ea typeface="Aptos" pitchFamily="34" charset="-122"/>
                <a:cs typeface="Aptos" pitchFamily="34" charset="-120"/>
              </a:rPr>
              <a:t>2</a:t>
            </a:r>
            <a:endParaRPr lang="en-US" sz="1400" dirty="0"/>
          </a:p>
        </p:txBody>
      </p:sp>
      <p:sp>
        <p:nvSpPr>
          <p:cNvPr id="24" name="Text 21"/>
          <p:cNvSpPr txBox="1"/>
          <p:nvPr/>
        </p:nvSpPr>
        <p:spPr>
          <a:xfrm>
            <a:off x="4572000" y="3072384"/>
            <a:ext cx="2926080" cy="512064"/>
          </a:xfrm>
          <a:prstGeom prst="rect">
            <a:avLst/>
          </a:prstGeom>
          <a:noFill/>
          <a:ln/>
        </p:spPr>
        <p:txBody>
          <a:bodyPr wrap="square" lIns="0" tIns="0" rIns="0" bIns="0" rtlCol="0" anchor="t"/>
          <a:lstStyle/>
          <a:p>
            <a:pPr algn="l" indent="0" marL="0">
              <a:lnSpc>
                <a:spcPct val="106000"/>
              </a:lnSpc>
              <a:buNone/>
            </a:pPr>
            <a:r>
              <a:rPr lang="en-US" sz="1550" b="1" dirty="0">
                <a:solidFill>
                  <a:srgbClr val="243B53"/>
                </a:solidFill>
                <a:latin typeface="Aptos" pitchFamily="34" charset="0"/>
                <a:ea typeface="Aptos" pitchFamily="34" charset="-122"/>
                <a:cs typeface="Aptos" pitchFamily="34" charset="-120"/>
              </a:rPr>
              <a:t>Un método de medición</a:t>
            </a:r>
            <a:endParaRPr lang="en-US" sz="1550" dirty="0"/>
          </a:p>
        </p:txBody>
      </p:sp>
      <p:sp>
        <p:nvSpPr>
          <p:cNvPr id="25" name="Text 22"/>
          <p:cNvSpPr txBox="1"/>
          <p:nvPr/>
        </p:nvSpPr>
        <p:spPr>
          <a:xfrm>
            <a:off x="4572000" y="3621024"/>
            <a:ext cx="2926080" cy="512064"/>
          </a:xfrm>
          <a:prstGeom prst="rect">
            <a:avLst/>
          </a:prstGeom>
          <a:noFill/>
          <a:ln/>
        </p:spPr>
        <p:txBody>
          <a:bodyPr wrap="square" lIns="0" tIns="0" rIns="0" bIns="0" rtlCol="0" anchor="t"/>
          <a:lstStyle/>
          <a:p>
            <a:pPr algn="l" indent="0" marL="0">
              <a:lnSpc>
                <a:spcPct val="114000"/>
              </a:lnSpc>
              <a:buNone/>
            </a:pPr>
            <a:r>
              <a:rPr lang="en-US" sz="1180" dirty="0">
                <a:solidFill>
                  <a:srgbClr val="52606D"/>
                </a:solidFill>
                <a:latin typeface="Aptos" pitchFamily="34" charset="0"/>
                <a:ea typeface="Aptos" pitchFamily="34" charset="-122"/>
                <a:cs typeface="Aptos" pitchFamily="34" charset="-120"/>
              </a:rPr>
              <a:t>Cómo se obtiene ese número, de modo que dos personas obtengan el mismo.</a:t>
            </a:r>
            <a:endParaRPr lang="en-US" sz="1180" dirty="0"/>
          </a:p>
        </p:txBody>
      </p:sp>
      <p:sp>
        <p:nvSpPr>
          <p:cNvPr id="26" name="Shape 23"/>
          <p:cNvSpPr/>
          <p:nvPr/>
        </p:nvSpPr>
        <p:spPr>
          <a:xfrm>
            <a:off x="4572000" y="4187952"/>
            <a:ext cx="2926080" cy="365760"/>
          </a:xfrm>
          <a:prstGeom prst="rect">
            <a:avLst/>
          </a:prstGeom>
          <a:solidFill>
            <a:srgbClr val="F2E7D9"/>
          </a:solidFill>
          <a:ln w="12700">
            <a:solidFill>
              <a:srgbClr val="F2E7D9"/>
            </a:solidFill>
            <a:prstDash val="solid"/>
          </a:ln>
        </p:spPr>
      </p:sp>
      <p:sp>
        <p:nvSpPr>
          <p:cNvPr id="27" name="Text 24"/>
          <p:cNvSpPr txBox="1"/>
          <p:nvPr/>
        </p:nvSpPr>
        <p:spPr>
          <a:xfrm>
            <a:off x="4700016" y="4224528"/>
            <a:ext cx="2688336" cy="292608"/>
          </a:xfrm>
          <a:prstGeom prst="rect">
            <a:avLst/>
          </a:prstGeom>
          <a:noFill/>
          <a:ln/>
        </p:spPr>
        <p:txBody>
          <a:bodyPr wrap="square" lIns="0" tIns="0" rIns="0" bIns="0" rtlCol="0" anchor="ctr"/>
          <a:lstStyle/>
          <a:p>
            <a:pPr algn="l" indent="0" marL="0">
              <a:lnSpc>
                <a:spcPct val="106000"/>
              </a:lnSpc>
              <a:buNone/>
            </a:pPr>
            <a:r>
              <a:rPr lang="en-US" sz="980" i="1" dirty="0">
                <a:solidFill>
                  <a:srgbClr val="243B53"/>
                </a:solidFill>
                <a:latin typeface="Aptos" pitchFamily="34" charset="0"/>
                <a:ea typeface="Aptos" pitchFamily="34" charset="-122"/>
                <a:cs typeface="Aptos" pitchFamily="34" charset="-120"/>
              </a:rPr>
              <a:t>no «revisar que no se filtre», sino «buscar el patrón de RUT en la cadena»</a:t>
            </a:r>
            <a:endParaRPr lang="en-US" sz="980" dirty="0"/>
          </a:p>
        </p:txBody>
      </p:sp>
      <p:sp>
        <p:nvSpPr>
          <p:cNvPr id="28" name="Shape 25"/>
          <p:cNvSpPr/>
          <p:nvPr/>
        </p:nvSpPr>
        <p:spPr>
          <a:xfrm>
            <a:off x="7754112" y="3474720"/>
            <a:ext cx="219456" cy="0"/>
          </a:xfrm>
          <a:prstGeom prst="line">
            <a:avLst/>
          </a:prstGeom>
          <a:noFill/>
          <a:ln w="12700">
            <a:solidFill>
              <a:srgbClr val="52606D"/>
            </a:solidFill>
            <a:prstDash val="solid"/>
            <a:headEnd type="none"/>
            <a:tailEnd type="triangle"/>
          </a:ln>
        </p:spPr>
      </p:sp>
      <p:sp>
        <p:nvSpPr>
          <p:cNvPr id="29" name="Shape 26"/>
          <p:cNvSpPr/>
          <p:nvPr/>
        </p:nvSpPr>
        <p:spPr>
          <a:xfrm>
            <a:off x="8010144" y="2359152"/>
            <a:ext cx="3401568" cy="2286000"/>
          </a:xfrm>
          <a:prstGeom prst="rect">
            <a:avLst/>
          </a:prstGeom>
          <a:solidFill>
            <a:srgbClr val="FFFFFF"/>
          </a:solidFill>
          <a:ln w="12700">
            <a:solidFill>
              <a:srgbClr val="FFFFFF"/>
            </a:solidFill>
            <a:prstDash val="solid"/>
          </a:ln>
        </p:spPr>
      </p:sp>
      <p:sp>
        <p:nvSpPr>
          <p:cNvPr id="30" name="Shape 27"/>
          <p:cNvSpPr/>
          <p:nvPr/>
        </p:nvSpPr>
        <p:spPr>
          <a:xfrm>
            <a:off x="8010144" y="2359152"/>
            <a:ext cx="3401568" cy="64008"/>
          </a:xfrm>
          <a:prstGeom prst="rect">
            <a:avLst/>
          </a:prstGeom>
          <a:solidFill>
            <a:srgbClr val="B3181E"/>
          </a:solidFill>
          <a:ln w="12700">
            <a:solidFill>
              <a:srgbClr val="B3181E"/>
            </a:solidFill>
            <a:prstDash val="solid"/>
          </a:ln>
        </p:spPr>
      </p:sp>
      <p:sp>
        <p:nvSpPr>
          <p:cNvPr id="31" name="Shape 28"/>
          <p:cNvSpPr/>
          <p:nvPr/>
        </p:nvSpPr>
        <p:spPr>
          <a:xfrm>
            <a:off x="8247888" y="2560320"/>
            <a:ext cx="384048" cy="384048"/>
          </a:xfrm>
          <a:prstGeom prst="ellipse">
            <a:avLst/>
          </a:prstGeom>
          <a:solidFill>
            <a:srgbClr val="B3181E"/>
          </a:solidFill>
          <a:ln w="12700">
            <a:solidFill>
              <a:srgbClr val="B3181E"/>
            </a:solidFill>
            <a:prstDash val="solid"/>
          </a:ln>
        </p:spPr>
      </p:sp>
      <p:sp>
        <p:nvSpPr>
          <p:cNvPr id="32" name="Text 29"/>
          <p:cNvSpPr txBox="1"/>
          <p:nvPr/>
        </p:nvSpPr>
        <p:spPr>
          <a:xfrm>
            <a:off x="8247888" y="2560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ptos" pitchFamily="34" charset="0"/>
                <a:ea typeface="Aptos" pitchFamily="34" charset="-122"/>
                <a:cs typeface="Aptos" pitchFamily="34" charset="-120"/>
              </a:rPr>
              <a:t>3</a:t>
            </a:r>
            <a:endParaRPr lang="en-US" sz="1400" dirty="0"/>
          </a:p>
        </p:txBody>
      </p:sp>
      <p:sp>
        <p:nvSpPr>
          <p:cNvPr id="33" name="Text 30"/>
          <p:cNvSpPr txBox="1"/>
          <p:nvPr/>
        </p:nvSpPr>
        <p:spPr>
          <a:xfrm>
            <a:off x="8247888" y="3072384"/>
            <a:ext cx="2926080" cy="512064"/>
          </a:xfrm>
          <a:prstGeom prst="rect">
            <a:avLst/>
          </a:prstGeom>
          <a:noFill/>
          <a:ln/>
        </p:spPr>
        <p:txBody>
          <a:bodyPr wrap="square" lIns="0" tIns="0" rIns="0" bIns="0" rtlCol="0" anchor="t"/>
          <a:lstStyle/>
          <a:p>
            <a:pPr algn="l" indent="0" marL="0">
              <a:lnSpc>
                <a:spcPct val="106000"/>
              </a:lnSpc>
              <a:buNone/>
            </a:pPr>
            <a:r>
              <a:rPr lang="en-US" sz="1550" b="1" dirty="0">
                <a:solidFill>
                  <a:srgbClr val="243B53"/>
                </a:solidFill>
                <a:latin typeface="Aptos" pitchFamily="34" charset="0"/>
                <a:ea typeface="Aptos" pitchFamily="34" charset="-122"/>
                <a:cs typeface="Aptos" pitchFamily="34" charset="-120"/>
              </a:rPr>
              <a:t>Un umbral</a:t>
            </a:r>
            <a:endParaRPr lang="en-US" sz="1550" dirty="0"/>
          </a:p>
        </p:txBody>
      </p:sp>
      <p:sp>
        <p:nvSpPr>
          <p:cNvPr id="34" name="Text 31"/>
          <p:cNvSpPr txBox="1"/>
          <p:nvPr/>
        </p:nvSpPr>
        <p:spPr>
          <a:xfrm>
            <a:off x="8247888" y="3621024"/>
            <a:ext cx="2926080" cy="512064"/>
          </a:xfrm>
          <a:prstGeom prst="rect">
            <a:avLst/>
          </a:prstGeom>
          <a:noFill/>
          <a:ln/>
        </p:spPr>
        <p:txBody>
          <a:bodyPr wrap="square" lIns="0" tIns="0" rIns="0" bIns="0" rtlCol="0" anchor="t"/>
          <a:lstStyle/>
          <a:p>
            <a:pPr algn="l" indent="0" marL="0">
              <a:lnSpc>
                <a:spcPct val="114000"/>
              </a:lnSpc>
              <a:buNone/>
            </a:pPr>
            <a:r>
              <a:rPr lang="en-US" sz="1180" dirty="0">
                <a:solidFill>
                  <a:srgbClr val="52606D"/>
                </a:solidFill>
                <a:latin typeface="Aptos" pitchFamily="34" charset="0"/>
                <a:ea typeface="Aptos" pitchFamily="34" charset="-122"/>
                <a:cs typeface="Aptos" pitchFamily="34" charset="-120"/>
              </a:rPr>
              <a:t>El valor que separa aceptable de inaceptable, con su dirección.</a:t>
            </a:r>
            <a:endParaRPr lang="en-US" sz="1180" dirty="0"/>
          </a:p>
        </p:txBody>
      </p:sp>
      <p:sp>
        <p:nvSpPr>
          <p:cNvPr id="35" name="Shape 32"/>
          <p:cNvSpPr/>
          <p:nvPr/>
        </p:nvSpPr>
        <p:spPr>
          <a:xfrm>
            <a:off x="8247888" y="4187952"/>
            <a:ext cx="2926080" cy="365760"/>
          </a:xfrm>
          <a:prstGeom prst="rect">
            <a:avLst/>
          </a:prstGeom>
          <a:solidFill>
            <a:srgbClr val="F2E7D9"/>
          </a:solidFill>
          <a:ln w="12700">
            <a:solidFill>
              <a:srgbClr val="F2E7D9"/>
            </a:solidFill>
            <a:prstDash val="solid"/>
          </a:ln>
        </p:spPr>
      </p:sp>
      <p:sp>
        <p:nvSpPr>
          <p:cNvPr id="36" name="Text 33"/>
          <p:cNvSpPr txBox="1"/>
          <p:nvPr/>
        </p:nvSpPr>
        <p:spPr>
          <a:xfrm>
            <a:off x="8375904" y="4224528"/>
            <a:ext cx="2688336" cy="292608"/>
          </a:xfrm>
          <a:prstGeom prst="rect">
            <a:avLst/>
          </a:prstGeom>
          <a:noFill/>
          <a:ln/>
        </p:spPr>
        <p:txBody>
          <a:bodyPr wrap="square" lIns="0" tIns="0" rIns="0" bIns="0" rtlCol="0" anchor="ctr"/>
          <a:lstStyle/>
          <a:p>
            <a:pPr algn="l" indent="0" marL="0">
              <a:lnSpc>
                <a:spcPct val="106000"/>
              </a:lnSpc>
              <a:buNone/>
            </a:pPr>
            <a:r>
              <a:rPr lang="en-US" sz="980" i="1" dirty="0">
                <a:solidFill>
                  <a:srgbClr val="243B53"/>
                </a:solidFill>
                <a:latin typeface="Aptos" pitchFamily="34" charset="0"/>
                <a:ea typeface="Aptos" pitchFamily="34" charset="-122"/>
                <a:cs typeface="Aptos" pitchFamily="34" charset="-120"/>
              </a:rPr>
              <a:t>no «pocos», sino «cero»</a:t>
            </a:r>
            <a:endParaRPr lang="en-US" sz="980" dirty="0"/>
          </a:p>
        </p:txBody>
      </p:sp>
      <p:sp>
        <p:nvSpPr>
          <p:cNvPr id="37" name="Shape 34"/>
          <p:cNvSpPr/>
          <p:nvPr/>
        </p:nvSpPr>
        <p:spPr>
          <a:xfrm>
            <a:off x="658368" y="4809744"/>
            <a:ext cx="10874959" cy="658368"/>
          </a:xfrm>
          <a:prstGeom prst="rect">
            <a:avLst/>
          </a:prstGeom>
          <a:solidFill>
            <a:srgbClr val="102A43"/>
          </a:solidFill>
          <a:ln w="12700">
            <a:solidFill>
              <a:srgbClr val="102A43"/>
            </a:solidFill>
            <a:prstDash val="solid"/>
          </a:ln>
        </p:spPr>
      </p:sp>
      <p:sp>
        <p:nvSpPr>
          <p:cNvPr id="38" name="Text 35"/>
          <p:cNvSpPr txBox="1"/>
          <p:nvPr/>
        </p:nvSpPr>
        <p:spPr>
          <a:xfrm>
            <a:off x="969264" y="4901184"/>
            <a:ext cx="4023360" cy="182880"/>
          </a:xfrm>
          <a:prstGeom prst="rect">
            <a:avLst/>
          </a:prstGeom>
          <a:noFill/>
          <a:ln/>
        </p:spPr>
        <p:txBody>
          <a:bodyPr wrap="square" lIns="0" tIns="0" rIns="0" bIns="0" rtlCol="0" anchor="t"/>
          <a:lstStyle/>
          <a:p>
            <a:pPr algn="l" indent="0" marL="0">
              <a:buNone/>
            </a:pPr>
            <a:r>
              <a:rPr lang="en-US" sz="900" b="1" spc="120" kern="0" dirty="0">
                <a:solidFill>
                  <a:srgbClr val="E0BC5A"/>
                </a:solidFill>
                <a:latin typeface="Aptos" pitchFamily="34" charset="0"/>
                <a:ea typeface="Aptos" pitchFamily="34" charset="-122"/>
                <a:cs typeface="Aptos" pitchFamily="34" charset="-120"/>
              </a:rPr>
              <a:t>CON LAS TRES, LA FRASE YA PUEDE FALLAR:</a:t>
            </a:r>
            <a:endParaRPr lang="en-US" sz="900" dirty="0"/>
          </a:p>
        </p:txBody>
      </p:sp>
      <p:sp>
        <p:nvSpPr>
          <p:cNvPr id="39" name="Text 36"/>
          <p:cNvSpPr txBox="1"/>
          <p:nvPr/>
        </p:nvSpPr>
        <p:spPr>
          <a:xfrm>
            <a:off x="969264" y="5102352"/>
            <a:ext cx="10234879" cy="274320"/>
          </a:xfrm>
          <a:prstGeom prst="rect">
            <a:avLst/>
          </a:prstGeom>
          <a:noFill/>
          <a:ln/>
        </p:spPr>
        <p:txBody>
          <a:bodyPr wrap="square" lIns="0" tIns="0" rIns="0" bIns="0" rtlCol="0" anchor="t"/>
          <a:lstStyle/>
          <a:p>
            <a:pPr algn="l" indent="0" marL="0">
              <a:buNone/>
            </a:pPr>
            <a:r>
              <a:rPr lang="en-US" sz="1500" b="1" dirty="0">
                <a:solidFill>
                  <a:srgbClr val="FFFFFF"/>
                </a:solidFill>
                <a:latin typeface="Aptos" pitchFamily="34" charset="0"/>
                <a:ea typeface="Aptos" pitchFamily="34" charset="-122"/>
                <a:cs typeface="Aptos" pitchFamily="34" charset="-120"/>
              </a:rPr>
              <a:t>resumen() no informa el RUT completo en ninguna salida.</a:t>
            </a:r>
            <a:endParaRPr lang="en-US" sz="1500" dirty="0"/>
          </a:p>
        </p:txBody>
      </p:sp>
      <p:sp>
        <p:nvSpPr>
          <p:cNvPr id="40" name="Shape 37"/>
          <p:cNvSpPr/>
          <p:nvPr/>
        </p:nvSpPr>
        <p:spPr>
          <a:xfrm>
            <a:off x="658368" y="5650992"/>
            <a:ext cx="10874959" cy="530352"/>
          </a:xfrm>
          <a:prstGeom prst="rect">
            <a:avLst/>
          </a:prstGeom>
          <a:solidFill>
            <a:srgbClr val="102A43"/>
          </a:solidFill>
          <a:ln w="12700">
            <a:solidFill>
              <a:srgbClr val="102A43"/>
            </a:solidFill>
            <a:prstDash val="solid"/>
          </a:ln>
        </p:spPr>
      </p:sp>
      <p:sp>
        <p:nvSpPr>
          <p:cNvPr id="41" name="Text 38"/>
          <p:cNvSpPr txBox="1"/>
          <p:nvPr/>
        </p:nvSpPr>
        <p:spPr>
          <a:xfrm>
            <a:off x="969264" y="5696712"/>
            <a:ext cx="10253167" cy="438912"/>
          </a:xfrm>
          <a:prstGeom prst="rect">
            <a:avLst/>
          </a:prstGeom>
          <a:noFill/>
          <a:ln/>
        </p:spPr>
        <p:txBody>
          <a:bodyPr wrap="square" lIns="0" tIns="0" rIns="0" bIns="0" rtlCol="0" anchor="ctr"/>
          <a:lstStyle/>
          <a:p>
            <a:pPr algn="ctr" indent="0" marL="0">
              <a:lnSpc>
                <a:spcPct val="112000"/>
              </a:lnSpc>
              <a:buNone/>
            </a:pPr>
            <a:r>
              <a:rPr lang="en-US" sz="1360" b="1" dirty="0">
                <a:solidFill>
                  <a:srgbClr val="FFFFFF"/>
                </a:solidFill>
                <a:latin typeface="Aptos" pitchFamily="34" charset="0"/>
                <a:ea typeface="Aptos" pitchFamily="34" charset="-122"/>
                <a:cs typeface="Aptos" pitchFamily="34" charset="-120"/>
              </a:rPr>
              <a:t>Un criterio es una frase que se puede transcribir a una aserción sin tomar ninguna decisión más.</a:t>
            </a:r>
            <a:endParaRPr lang="en-US" sz="136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28</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LA TRADUCCIÓN</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De la característica a la prueba, en una tabla</a:t>
            </a:r>
            <a:endParaRPr lang="en-US" sz="3000" dirty="0"/>
          </a:p>
        </p:txBody>
      </p:sp>
      <p:sp>
        <p:nvSpPr>
          <p:cNvPr id="10" name="Text 7"/>
          <p:cNvSpPr txBox="1"/>
          <p:nvPr/>
        </p:nvSpPr>
        <p:spPr>
          <a:xfrm>
            <a:off x="786384" y="2130552"/>
            <a:ext cx="1737360" cy="219456"/>
          </a:xfrm>
          <a:prstGeom prst="rect">
            <a:avLst/>
          </a:prstGeom>
          <a:noFill/>
          <a:ln/>
        </p:spPr>
        <p:txBody>
          <a:bodyPr wrap="square" lIns="0" tIns="0" rIns="0" bIns="0" rtlCol="0" anchor="t"/>
          <a:lstStyle/>
          <a:p>
            <a:pPr algn="l" indent="0" marL="0">
              <a:buNone/>
            </a:pPr>
            <a:r>
              <a:rPr lang="en-US" sz="1100" dirty="0">
                <a:solidFill>
                  <a:srgbClr val="52606D"/>
                </a:solidFill>
                <a:latin typeface="Aptos" pitchFamily="34" charset="0"/>
                <a:ea typeface="Aptos" pitchFamily="34" charset="-122"/>
                <a:cs typeface="Aptos" pitchFamily="34" charset="-120"/>
              </a:rPr>
              <a:t>Característica</a:t>
            </a:r>
            <a:endParaRPr lang="en-US" sz="1100" dirty="0"/>
          </a:p>
        </p:txBody>
      </p:sp>
      <p:sp>
        <p:nvSpPr>
          <p:cNvPr id="11" name="Text 8"/>
          <p:cNvSpPr txBox="1"/>
          <p:nvPr/>
        </p:nvSpPr>
        <p:spPr>
          <a:xfrm>
            <a:off x="2542032" y="2130552"/>
            <a:ext cx="3931920" cy="219456"/>
          </a:xfrm>
          <a:prstGeom prst="rect">
            <a:avLst/>
          </a:prstGeom>
          <a:noFill/>
          <a:ln/>
        </p:spPr>
        <p:txBody>
          <a:bodyPr wrap="square" lIns="0" tIns="0" rIns="0" bIns="0" rtlCol="0" anchor="t"/>
          <a:lstStyle/>
          <a:p>
            <a:pPr algn="l" indent="0" marL="0">
              <a:buNone/>
            </a:pPr>
            <a:r>
              <a:rPr lang="en-US" sz="1160" dirty="0">
                <a:solidFill>
                  <a:srgbClr val="52606D"/>
                </a:solidFill>
                <a:latin typeface="Aptos" pitchFamily="34" charset="0"/>
                <a:ea typeface="Aptos" pitchFamily="34" charset="-122"/>
                <a:cs typeface="Aptos" pitchFamily="34" charset="-120"/>
              </a:rPr>
              <a:t>Seguridad</a:t>
            </a:r>
            <a:endParaRPr lang="en-US" sz="1160" dirty="0"/>
          </a:p>
        </p:txBody>
      </p:sp>
      <p:sp>
        <p:nvSpPr>
          <p:cNvPr id="12" name="Shape 9"/>
          <p:cNvSpPr/>
          <p:nvPr/>
        </p:nvSpPr>
        <p:spPr>
          <a:xfrm>
            <a:off x="658368" y="2377440"/>
            <a:ext cx="5760720" cy="0"/>
          </a:xfrm>
          <a:prstGeom prst="line">
            <a:avLst/>
          </a:prstGeom>
          <a:noFill/>
          <a:ln w="12700">
            <a:solidFill>
              <a:srgbClr val="D8CFC4"/>
            </a:solidFill>
            <a:prstDash val="solid"/>
            <a:headEnd type="none"/>
            <a:tailEnd type="none"/>
          </a:ln>
        </p:spPr>
      </p:sp>
      <p:sp>
        <p:nvSpPr>
          <p:cNvPr id="13" name="Text 10"/>
          <p:cNvSpPr txBox="1"/>
          <p:nvPr/>
        </p:nvSpPr>
        <p:spPr>
          <a:xfrm>
            <a:off x="786384" y="2478024"/>
            <a:ext cx="1737360" cy="219456"/>
          </a:xfrm>
          <a:prstGeom prst="rect">
            <a:avLst/>
          </a:prstGeom>
          <a:noFill/>
          <a:ln/>
        </p:spPr>
        <p:txBody>
          <a:bodyPr wrap="square" lIns="0" tIns="0" rIns="0" bIns="0" rtlCol="0" anchor="t"/>
          <a:lstStyle/>
          <a:p>
            <a:pPr algn="l" indent="0" marL="0">
              <a:buNone/>
            </a:pPr>
            <a:r>
              <a:rPr lang="en-US" sz="1100" dirty="0">
                <a:solidFill>
                  <a:srgbClr val="52606D"/>
                </a:solidFill>
                <a:latin typeface="Aptos" pitchFamily="34" charset="0"/>
                <a:ea typeface="Aptos" pitchFamily="34" charset="-122"/>
                <a:cs typeface="Aptos" pitchFamily="34" charset="-120"/>
              </a:rPr>
              <a:t>Subcaracterística</a:t>
            </a:r>
            <a:endParaRPr lang="en-US" sz="1100" dirty="0"/>
          </a:p>
        </p:txBody>
      </p:sp>
      <p:sp>
        <p:nvSpPr>
          <p:cNvPr id="14" name="Text 11"/>
          <p:cNvSpPr txBox="1"/>
          <p:nvPr/>
        </p:nvSpPr>
        <p:spPr>
          <a:xfrm>
            <a:off x="2542032" y="2478024"/>
            <a:ext cx="3931920" cy="219456"/>
          </a:xfrm>
          <a:prstGeom prst="rect">
            <a:avLst/>
          </a:prstGeom>
          <a:noFill/>
          <a:ln/>
        </p:spPr>
        <p:txBody>
          <a:bodyPr wrap="square" lIns="0" tIns="0" rIns="0" bIns="0" rtlCol="0" anchor="t"/>
          <a:lstStyle/>
          <a:p>
            <a:pPr algn="l" indent="0" marL="0">
              <a:buNone/>
            </a:pPr>
            <a:r>
              <a:rPr lang="en-US" sz="1160" dirty="0">
                <a:solidFill>
                  <a:srgbClr val="52606D"/>
                </a:solidFill>
                <a:latin typeface="Aptos" pitchFamily="34" charset="0"/>
                <a:ea typeface="Aptos" pitchFamily="34" charset="-122"/>
                <a:cs typeface="Aptos" pitchFamily="34" charset="-120"/>
              </a:rPr>
              <a:t>Confidencialidad</a:t>
            </a:r>
            <a:endParaRPr lang="en-US" sz="1160" dirty="0"/>
          </a:p>
        </p:txBody>
      </p:sp>
      <p:sp>
        <p:nvSpPr>
          <p:cNvPr id="15" name="Shape 12"/>
          <p:cNvSpPr/>
          <p:nvPr/>
        </p:nvSpPr>
        <p:spPr>
          <a:xfrm>
            <a:off x="658368" y="2724912"/>
            <a:ext cx="5760720" cy="0"/>
          </a:xfrm>
          <a:prstGeom prst="line">
            <a:avLst/>
          </a:prstGeom>
          <a:noFill/>
          <a:ln w="12700">
            <a:solidFill>
              <a:srgbClr val="D8CFC4"/>
            </a:solidFill>
            <a:prstDash val="solid"/>
            <a:headEnd type="none"/>
            <a:tailEnd type="none"/>
          </a:ln>
        </p:spPr>
      </p:sp>
      <p:sp>
        <p:nvSpPr>
          <p:cNvPr id="16" name="Text 13"/>
          <p:cNvSpPr txBox="1"/>
          <p:nvPr/>
        </p:nvSpPr>
        <p:spPr>
          <a:xfrm>
            <a:off x="786384" y="2825496"/>
            <a:ext cx="1737360" cy="219456"/>
          </a:xfrm>
          <a:prstGeom prst="rect">
            <a:avLst/>
          </a:prstGeom>
          <a:noFill/>
          <a:ln/>
        </p:spPr>
        <p:txBody>
          <a:bodyPr wrap="square" lIns="0" tIns="0" rIns="0" bIns="0" rtlCol="0" anchor="t"/>
          <a:lstStyle/>
          <a:p>
            <a:pPr algn="l" indent="0" marL="0">
              <a:buNone/>
            </a:pPr>
            <a:r>
              <a:rPr lang="en-US" sz="1100" dirty="0">
                <a:solidFill>
                  <a:srgbClr val="52606D"/>
                </a:solidFill>
                <a:latin typeface="Aptos" pitchFamily="34" charset="0"/>
                <a:ea typeface="Aptos" pitchFamily="34" charset="-122"/>
                <a:cs typeface="Aptos" pitchFamily="34" charset="-120"/>
              </a:rPr>
              <a:t>Magnitud</a:t>
            </a:r>
            <a:endParaRPr lang="en-US" sz="1100" dirty="0"/>
          </a:p>
        </p:txBody>
      </p:sp>
      <p:sp>
        <p:nvSpPr>
          <p:cNvPr id="17" name="Text 14"/>
          <p:cNvSpPr txBox="1"/>
          <p:nvPr/>
        </p:nvSpPr>
        <p:spPr>
          <a:xfrm>
            <a:off x="2542032" y="2825496"/>
            <a:ext cx="3931920" cy="219456"/>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cuántos RUT completos devuelve resumen()</a:t>
            </a:r>
            <a:endParaRPr lang="en-US" sz="1160" dirty="0"/>
          </a:p>
        </p:txBody>
      </p:sp>
      <p:sp>
        <p:nvSpPr>
          <p:cNvPr id="18" name="Shape 15"/>
          <p:cNvSpPr/>
          <p:nvPr/>
        </p:nvSpPr>
        <p:spPr>
          <a:xfrm>
            <a:off x="658368" y="3072384"/>
            <a:ext cx="5760720" cy="0"/>
          </a:xfrm>
          <a:prstGeom prst="line">
            <a:avLst/>
          </a:prstGeom>
          <a:noFill/>
          <a:ln w="12700">
            <a:solidFill>
              <a:srgbClr val="D8CFC4"/>
            </a:solidFill>
            <a:prstDash val="solid"/>
            <a:headEnd type="none"/>
            <a:tailEnd type="none"/>
          </a:ln>
        </p:spPr>
      </p:sp>
      <p:sp>
        <p:nvSpPr>
          <p:cNvPr id="19" name="Text 16"/>
          <p:cNvSpPr txBox="1"/>
          <p:nvPr/>
        </p:nvSpPr>
        <p:spPr>
          <a:xfrm>
            <a:off x="786384" y="3172968"/>
            <a:ext cx="1737360" cy="219456"/>
          </a:xfrm>
          <a:prstGeom prst="rect">
            <a:avLst/>
          </a:prstGeom>
          <a:noFill/>
          <a:ln/>
        </p:spPr>
        <p:txBody>
          <a:bodyPr wrap="square" lIns="0" tIns="0" rIns="0" bIns="0" rtlCol="0" anchor="t"/>
          <a:lstStyle/>
          <a:p>
            <a:pPr algn="l" indent="0" marL="0">
              <a:buNone/>
            </a:pPr>
            <a:r>
              <a:rPr lang="en-US" sz="1100" dirty="0">
                <a:solidFill>
                  <a:srgbClr val="52606D"/>
                </a:solidFill>
                <a:latin typeface="Aptos" pitchFamily="34" charset="0"/>
                <a:ea typeface="Aptos" pitchFamily="34" charset="-122"/>
                <a:cs typeface="Aptos" pitchFamily="34" charset="-120"/>
              </a:rPr>
              <a:t>Método</a:t>
            </a:r>
            <a:endParaRPr lang="en-US" sz="1100" dirty="0"/>
          </a:p>
        </p:txBody>
      </p:sp>
      <p:sp>
        <p:nvSpPr>
          <p:cNvPr id="20" name="Text 17"/>
          <p:cNvSpPr txBox="1"/>
          <p:nvPr/>
        </p:nvSpPr>
        <p:spPr>
          <a:xfrm>
            <a:off x="2542032" y="3172968"/>
            <a:ext cx="3931920" cy="219456"/>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buscar el patrón de RUT en la cadena devuelta</a:t>
            </a:r>
            <a:endParaRPr lang="en-US" sz="1160" dirty="0"/>
          </a:p>
        </p:txBody>
      </p:sp>
      <p:sp>
        <p:nvSpPr>
          <p:cNvPr id="21" name="Shape 18"/>
          <p:cNvSpPr/>
          <p:nvPr/>
        </p:nvSpPr>
        <p:spPr>
          <a:xfrm>
            <a:off x="658368" y="3419856"/>
            <a:ext cx="5760720" cy="0"/>
          </a:xfrm>
          <a:prstGeom prst="line">
            <a:avLst/>
          </a:prstGeom>
          <a:noFill/>
          <a:ln w="12700">
            <a:solidFill>
              <a:srgbClr val="D8CFC4"/>
            </a:solidFill>
            <a:prstDash val="solid"/>
            <a:headEnd type="none"/>
            <a:tailEnd type="none"/>
          </a:ln>
        </p:spPr>
      </p:sp>
      <p:sp>
        <p:nvSpPr>
          <p:cNvPr id="22" name="Text 19"/>
          <p:cNvSpPr txBox="1"/>
          <p:nvPr/>
        </p:nvSpPr>
        <p:spPr>
          <a:xfrm>
            <a:off x="786384" y="3520440"/>
            <a:ext cx="1737360" cy="219456"/>
          </a:xfrm>
          <a:prstGeom prst="rect">
            <a:avLst/>
          </a:prstGeom>
          <a:noFill/>
          <a:ln/>
        </p:spPr>
        <p:txBody>
          <a:bodyPr wrap="square" lIns="0" tIns="0" rIns="0" bIns="0" rtlCol="0" anchor="t"/>
          <a:lstStyle/>
          <a:p>
            <a:pPr algn="l" indent="0" marL="0">
              <a:buNone/>
            </a:pPr>
            <a:r>
              <a:rPr lang="en-US" sz="1100" dirty="0">
                <a:solidFill>
                  <a:srgbClr val="52606D"/>
                </a:solidFill>
                <a:latin typeface="Aptos" pitchFamily="34" charset="0"/>
                <a:ea typeface="Aptos" pitchFamily="34" charset="-122"/>
                <a:cs typeface="Aptos" pitchFamily="34" charset="-120"/>
              </a:rPr>
              <a:t>Umbral</a:t>
            </a:r>
            <a:endParaRPr lang="en-US" sz="1100" dirty="0"/>
          </a:p>
        </p:txBody>
      </p:sp>
      <p:sp>
        <p:nvSpPr>
          <p:cNvPr id="23" name="Text 20"/>
          <p:cNvSpPr txBox="1"/>
          <p:nvPr/>
        </p:nvSpPr>
        <p:spPr>
          <a:xfrm>
            <a:off x="2542032" y="3520440"/>
            <a:ext cx="3931920" cy="219456"/>
          </a:xfrm>
          <a:prstGeom prst="rect">
            <a:avLst/>
          </a:prstGeom>
          <a:noFill/>
          <a:ln/>
        </p:spPr>
        <p:txBody>
          <a:bodyPr wrap="square" lIns="0" tIns="0" rIns="0" bIns="0" rtlCol="0" anchor="t"/>
          <a:lstStyle/>
          <a:p>
            <a:pPr algn="l" indent="0" marL="0">
              <a:buNone/>
            </a:pPr>
            <a:r>
              <a:rPr lang="en-US" sz="1160" b="1" dirty="0">
                <a:solidFill>
                  <a:srgbClr val="B3181E"/>
                </a:solidFill>
                <a:latin typeface="Aptos" pitchFamily="34" charset="0"/>
                <a:ea typeface="Aptos" pitchFamily="34" charset="-122"/>
                <a:cs typeface="Aptos" pitchFamily="34" charset="-120"/>
              </a:rPr>
              <a:t>cero</a:t>
            </a:r>
            <a:endParaRPr lang="en-US" sz="1160" dirty="0"/>
          </a:p>
        </p:txBody>
      </p:sp>
      <p:sp>
        <p:nvSpPr>
          <p:cNvPr id="24" name="Shape 21"/>
          <p:cNvSpPr/>
          <p:nvPr/>
        </p:nvSpPr>
        <p:spPr>
          <a:xfrm>
            <a:off x="658368" y="3767328"/>
            <a:ext cx="5760720" cy="0"/>
          </a:xfrm>
          <a:prstGeom prst="line">
            <a:avLst/>
          </a:prstGeom>
          <a:noFill/>
          <a:ln w="12700">
            <a:solidFill>
              <a:srgbClr val="D8CFC4"/>
            </a:solidFill>
            <a:prstDash val="solid"/>
            <a:headEnd type="none"/>
            <a:tailEnd type="none"/>
          </a:ln>
        </p:spPr>
      </p:sp>
      <p:sp>
        <p:nvSpPr>
          <p:cNvPr id="25" name="Shape 22"/>
          <p:cNvSpPr/>
          <p:nvPr/>
        </p:nvSpPr>
        <p:spPr>
          <a:xfrm>
            <a:off x="658368" y="3803904"/>
            <a:ext cx="5760720" cy="310896"/>
          </a:xfrm>
          <a:prstGeom prst="rect">
            <a:avLst/>
          </a:prstGeom>
          <a:solidFill>
            <a:srgbClr val="F8E4E5"/>
          </a:solidFill>
          <a:ln w="12700">
            <a:solidFill>
              <a:srgbClr val="F8E4E5"/>
            </a:solidFill>
            <a:prstDash val="solid"/>
          </a:ln>
        </p:spPr>
      </p:sp>
      <p:sp>
        <p:nvSpPr>
          <p:cNvPr id="26" name="Text 23"/>
          <p:cNvSpPr txBox="1"/>
          <p:nvPr/>
        </p:nvSpPr>
        <p:spPr>
          <a:xfrm>
            <a:off x="786384" y="3867912"/>
            <a:ext cx="1737360" cy="219456"/>
          </a:xfrm>
          <a:prstGeom prst="rect">
            <a:avLst/>
          </a:prstGeom>
          <a:noFill/>
          <a:ln/>
        </p:spPr>
        <p:txBody>
          <a:bodyPr wrap="square" lIns="0" tIns="0" rIns="0" bIns="0" rtlCol="0" anchor="t"/>
          <a:lstStyle/>
          <a:p>
            <a:pPr algn="l" indent="0" marL="0">
              <a:buNone/>
            </a:pPr>
            <a:r>
              <a:rPr lang="en-US" sz="1100" b="1" dirty="0">
                <a:solidFill>
                  <a:srgbClr val="B3181E"/>
                </a:solidFill>
                <a:latin typeface="Aptos" pitchFamily="34" charset="0"/>
                <a:ea typeface="Aptos" pitchFamily="34" charset="-122"/>
                <a:cs typeface="Aptos" pitchFamily="34" charset="-120"/>
              </a:rPr>
              <a:t>Criterio</a:t>
            </a:r>
            <a:endParaRPr lang="en-US" sz="1100" dirty="0"/>
          </a:p>
        </p:txBody>
      </p:sp>
      <p:sp>
        <p:nvSpPr>
          <p:cNvPr id="27" name="Text 24"/>
          <p:cNvSpPr txBox="1"/>
          <p:nvPr/>
        </p:nvSpPr>
        <p:spPr>
          <a:xfrm>
            <a:off x="2542032" y="3867912"/>
            <a:ext cx="3931920" cy="219456"/>
          </a:xfrm>
          <a:prstGeom prst="rect">
            <a:avLst/>
          </a:prstGeom>
          <a:noFill/>
          <a:ln/>
        </p:spPr>
        <p:txBody>
          <a:bodyPr wrap="square" lIns="0" tIns="0" rIns="0" bIns="0" rtlCol="0" anchor="t"/>
          <a:lstStyle/>
          <a:p>
            <a:pPr algn="l" indent="0" marL="0">
              <a:buNone/>
            </a:pPr>
            <a:r>
              <a:rPr lang="en-US" sz="1160" b="1" dirty="0">
                <a:solidFill>
                  <a:srgbClr val="B3181E"/>
                </a:solidFill>
                <a:latin typeface="Aptos" pitchFamily="34" charset="0"/>
                <a:ea typeface="Aptos" pitchFamily="34" charset="-122"/>
                <a:cs typeface="Aptos" pitchFamily="34" charset="-120"/>
              </a:rPr>
              <a:t>resumen() no informa el RUT completo</a:t>
            </a:r>
            <a:endParaRPr lang="en-US" sz="1160" dirty="0"/>
          </a:p>
        </p:txBody>
      </p:sp>
      <p:sp>
        <p:nvSpPr>
          <p:cNvPr id="28" name="Shape 25"/>
          <p:cNvSpPr/>
          <p:nvPr/>
        </p:nvSpPr>
        <p:spPr>
          <a:xfrm>
            <a:off x="6693408" y="2066544"/>
            <a:ext cx="4837176" cy="2084832"/>
          </a:xfrm>
          <a:prstGeom prst="roundRect">
            <a:avLst>
              <a:gd name="adj" fmla="val 1754"/>
            </a:avLst>
          </a:prstGeom>
          <a:solidFill>
            <a:srgbClr val="102A43"/>
          </a:solidFill>
          <a:ln w="12700">
            <a:solidFill>
              <a:srgbClr val="102A43"/>
            </a:solidFill>
            <a:prstDash val="solid"/>
          </a:ln>
        </p:spPr>
      </p:sp>
      <p:sp>
        <p:nvSpPr>
          <p:cNvPr id="29" name="Shape 26"/>
          <p:cNvSpPr/>
          <p:nvPr/>
        </p:nvSpPr>
        <p:spPr>
          <a:xfrm>
            <a:off x="6821424" y="2176272"/>
            <a:ext cx="4581144" cy="310896"/>
          </a:xfrm>
          <a:prstGeom prst="roundRect">
            <a:avLst>
              <a:gd name="adj" fmla="val 8824"/>
            </a:avLst>
          </a:prstGeom>
          <a:solidFill>
            <a:srgbClr val="284B75"/>
          </a:solidFill>
          <a:ln w="12700">
            <a:solidFill>
              <a:srgbClr val="284B75"/>
            </a:solidFill>
            <a:prstDash val="solid"/>
          </a:ln>
        </p:spPr>
      </p:sp>
      <p:sp>
        <p:nvSpPr>
          <p:cNvPr id="30" name="Text 27"/>
          <p:cNvSpPr/>
          <p:nvPr/>
        </p:nvSpPr>
        <p:spPr>
          <a:xfrm>
            <a:off x="6931152" y="2249424"/>
            <a:ext cx="4361688"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la prueba que ese criterio hace posible</a:t>
            </a:r>
            <a:endParaRPr lang="en-US" sz="1000" dirty="0"/>
          </a:p>
        </p:txBody>
      </p:sp>
      <p:pic>
        <p:nvPicPr>
          <p:cNvPr id="3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12864" y="2633472"/>
            <a:ext cx="4416552" cy="1335024"/>
          </a:xfrm>
          <a:prstGeom prst="rect">
            <a:avLst/>
          </a:prstGeom>
        </p:spPr>
      </p:pic>
      <p:sp>
        <p:nvSpPr>
          <p:cNvPr id="32" name="Text 28"/>
          <p:cNvSpPr txBox="1"/>
          <p:nvPr/>
        </p:nvSpPr>
        <p:spPr>
          <a:xfrm>
            <a:off x="658368" y="4279392"/>
            <a:ext cx="10607040" cy="237744"/>
          </a:xfrm>
          <a:prstGeom prst="rect">
            <a:avLst/>
          </a:prstGeom>
          <a:noFill/>
          <a:ln/>
        </p:spPr>
        <p:txBody>
          <a:bodyPr wrap="square" lIns="0" tIns="0" rIns="0" bIns="0" rtlCol="0" anchor="t"/>
          <a:lstStyle/>
          <a:p>
            <a:pPr algn="l" indent="0" marL="0">
              <a:buNone/>
            </a:pPr>
            <a:r>
              <a:rPr lang="en-US" sz="1340" b="1" dirty="0">
                <a:solidFill>
                  <a:srgbClr val="243B53"/>
                </a:solidFill>
                <a:latin typeface="Aptos" pitchFamily="34" charset="0"/>
                <a:ea typeface="Aptos" pitchFamily="34" charset="-122"/>
                <a:cs typeface="Aptos" pitchFamily="34" charset="-120"/>
              </a:rPr>
              <a:t>Ejecutada antes de tocar el código, y después de corregirlo:</a:t>
            </a:r>
            <a:endParaRPr lang="en-US" sz="1340" dirty="0"/>
          </a:p>
        </p:txBody>
      </p:sp>
      <p:sp>
        <p:nvSpPr>
          <p:cNvPr id="33" name="Shape 29"/>
          <p:cNvSpPr/>
          <p:nvPr/>
        </p:nvSpPr>
        <p:spPr>
          <a:xfrm>
            <a:off x="658368" y="4590288"/>
            <a:ext cx="5358384" cy="1188720"/>
          </a:xfrm>
          <a:prstGeom prst="roundRect">
            <a:avLst>
              <a:gd name="adj" fmla="val 3077"/>
            </a:avLst>
          </a:prstGeom>
          <a:solidFill>
            <a:srgbClr val="0F1720"/>
          </a:solidFill>
          <a:ln w="12700">
            <a:solidFill>
              <a:srgbClr val="0F1720"/>
            </a:solidFill>
            <a:prstDash val="solid"/>
          </a:ln>
        </p:spPr>
      </p:sp>
      <p:sp>
        <p:nvSpPr>
          <p:cNvPr id="34" name="Shape 30"/>
          <p:cNvSpPr/>
          <p:nvPr/>
        </p:nvSpPr>
        <p:spPr>
          <a:xfrm>
            <a:off x="786384" y="4700016"/>
            <a:ext cx="5102352" cy="310896"/>
          </a:xfrm>
          <a:prstGeom prst="roundRect">
            <a:avLst>
              <a:gd name="adj" fmla="val 8824"/>
            </a:avLst>
          </a:prstGeom>
          <a:solidFill>
            <a:srgbClr val="1E2937"/>
          </a:solidFill>
          <a:ln w="12700">
            <a:solidFill>
              <a:srgbClr val="1E2937"/>
            </a:solidFill>
            <a:prstDash val="solid"/>
          </a:ln>
        </p:spPr>
      </p:sp>
      <p:sp>
        <p:nvSpPr>
          <p:cNvPr id="35" name="Text 31"/>
          <p:cNvSpPr/>
          <p:nvPr/>
        </p:nvSpPr>
        <p:spPr>
          <a:xfrm>
            <a:off x="914400" y="4773168"/>
            <a:ext cx="4846320"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sobre el código tal como estaba</a:t>
            </a:r>
            <a:endParaRPr lang="en-US" sz="1000" dirty="0"/>
          </a:p>
        </p:txBody>
      </p:sp>
      <p:sp>
        <p:nvSpPr>
          <p:cNvPr id="36" name="Text 32"/>
          <p:cNvSpPr/>
          <p:nvPr/>
        </p:nvSpPr>
        <p:spPr>
          <a:xfrm>
            <a:off x="877824" y="5157216"/>
            <a:ext cx="4608576" cy="164592"/>
          </a:xfrm>
          <a:prstGeom prst="rect">
            <a:avLst/>
          </a:prstGeom>
          <a:noFill/>
          <a:ln/>
        </p:spPr>
        <p:txBody>
          <a:bodyPr wrap="square" lIns="0" tIns="0" rIns="0" bIns="0" rtlCol="0" anchor="ctr"/>
          <a:lstStyle/>
          <a:p>
            <a:pPr indent="0" marL="0">
              <a:buNone/>
            </a:pPr>
            <a:r>
              <a:rPr lang="en-US" sz="1000" dirty="0">
                <a:solidFill>
                  <a:srgbClr val="8AA0B6"/>
                </a:solidFill>
                <a:latin typeface="Consolas" pitchFamily="34" charset="0"/>
                <a:ea typeface="Consolas" pitchFamily="34" charset="-122"/>
                <a:cs typeface="Consolas" pitchFamily="34" charset="-120"/>
              </a:rPr>
              <a:t>AssertionError: RUT completo en la salida</a:t>
            </a:r>
            <a:endParaRPr lang="en-US" sz="1000" dirty="0"/>
          </a:p>
        </p:txBody>
      </p:sp>
      <p:sp>
        <p:nvSpPr>
          <p:cNvPr id="37" name="Text 33"/>
          <p:cNvSpPr/>
          <p:nvPr/>
        </p:nvSpPr>
        <p:spPr>
          <a:xfrm>
            <a:off x="877824" y="5413248"/>
            <a:ext cx="4608576" cy="164592"/>
          </a:xfrm>
          <a:prstGeom prst="rect">
            <a:avLst/>
          </a:prstGeom>
          <a:noFill/>
          <a:ln/>
        </p:spPr>
        <p:txBody>
          <a:bodyPr wrap="square" lIns="0" tIns="0" rIns="0" bIns="0" rtlCol="0" anchor="ctr"/>
          <a:lstStyle/>
          <a:p>
            <a:pPr indent="0" marL="0">
              <a:buNone/>
            </a:pPr>
            <a:r>
              <a:rPr lang="en-US" sz="1000" dirty="0">
                <a:solidFill>
                  <a:srgbClr val="E6EEF7"/>
                </a:solidFill>
                <a:latin typeface="Consolas" pitchFamily="34" charset="0"/>
                <a:ea typeface="Consolas" pitchFamily="34" charset="-122"/>
                <a:cs typeface="Consolas" pitchFamily="34" charset="-120"/>
              </a:rPr>
              <a:t>1 failed in 0.11s</a:t>
            </a:r>
            <a:endParaRPr lang="en-US" sz="1000" dirty="0"/>
          </a:p>
        </p:txBody>
      </p:sp>
      <p:sp>
        <p:nvSpPr>
          <p:cNvPr id="38" name="Shape 34"/>
          <p:cNvSpPr/>
          <p:nvPr/>
        </p:nvSpPr>
        <p:spPr>
          <a:xfrm>
            <a:off x="6163056" y="4590288"/>
            <a:ext cx="5367528" cy="1188720"/>
          </a:xfrm>
          <a:prstGeom prst="roundRect">
            <a:avLst>
              <a:gd name="adj" fmla="val 3077"/>
            </a:avLst>
          </a:prstGeom>
          <a:solidFill>
            <a:srgbClr val="0F1720"/>
          </a:solidFill>
          <a:ln w="12700">
            <a:solidFill>
              <a:srgbClr val="0F1720"/>
            </a:solidFill>
            <a:prstDash val="solid"/>
          </a:ln>
        </p:spPr>
      </p:sp>
      <p:sp>
        <p:nvSpPr>
          <p:cNvPr id="39" name="Shape 35"/>
          <p:cNvSpPr/>
          <p:nvPr/>
        </p:nvSpPr>
        <p:spPr>
          <a:xfrm>
            <a:off x="6291072" y="4700016"/>
            <a:ext cx="5111496" cy="310896"/>
          </a:xfrm>
          <a:prstGeom prst="roundRect">
            <a:avLst>
              <a:gd name="adj" fmla="val 8824"/>
            </a:avLst>
          </a:prstGeom>
          <a:solidFill>
            <a:srgbClr val="1E2937"/>
          </a:solidFill>
          <a:ln w="12700">
            <a:solidFill>
              <a:srgbClr val="1E2937"/>
            </a:solidFill>
            <a:prstDash val="solid"/>
          </a:ln>
        </p:spPr>
      </p:sp>
      <p:sp>
        <p:nvSpPr>
          <p:cNvPr id="40" name="Text 36"/>
          <p:cNvSpPr/>
          <p:nvPr/>
        </p:nvSpPr>
        <p:spPr>
          <a:xfrm>
            <a:off x="6419088" y="4773168"/>
            <a:ext cx="4855464"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con el enmascaramiento aplicado</a:t>
            </a:r>
            <a:endParaRPr lang="en-US" sz="1000" dirty="0"/>
          </a:p>
        </p:txBody>
      </p:sp>
      <p:sp>
        <p:nvSpPr>
          <p:cNvPr id="41" name="Text 37"/>
          <p:cNvSpPr/>
          <p:nvPr/>
        </p:nvSpPr>
        <p:spPr>
          <a:xfrm>
            <a:off x="6382512" y="5157216"/>
            <a:ext cx="4617720" cy="164592"/>
          </a:xfrm>
          <a:prstGeom prst="rect">
            <a:avLst/>
          </a:prstGeom>
          <a:noFill/>
          <a:ln/>
        </p:spPr>
        <p:txBody>
          <a:bodyPr wrap="square" lIns="0" tIns="0" rIns="0" bIns="0" rtlCol="0" anchor="ctr"/>
          <a:lstStyle/>
          <a:p>
            <a:pPr indent="0" marL="0">
              <a:buNone/>
            </a:pPr>
            <a:endParaRPr lang="en-US" sz="1000" dirty="0"/>
          </a:p>
        </p:txBody>
      </p:sp>
      <p:sp>
        <p:nvSpPr>
          <p:cNvPr id="42" name="Text 38"/>
          <p:cNvSpPr/>
          <p:nvPr/>
        </p:nvSpPr>
        <p:spPr>
          <a:xfrm>
            <a:off x="6382512" y="5413248"/>
            <a:ext cx="4617720" cy="164592"/>
          </a:xfrm>
          <a:prstGeom prst="rect">
            <a:avLst/>
          </a:prstGeom>
          <a:noFill/>
          <a:ln/>
        </p:spPr>
        <p:txBody>
          <a:bodyPr wrap="square" lIns="0" tIns="0" rIns="0" bIns="0" rtlCol="0" anchor="ctr"/>
          <a:lstStyle/>
          <a:p>
            <a:pPr indent="0" marL="0">
              <a:buNone/>
            </a:pPr>
            <a:r>
              <a:rPr lang="en-US" sz="1000" dirty="0">
                <a:solidFill>
                  <a:srgbClr val="E6EEF7"/>
                </a:solidFill>
                <a:latin typeface="Consolas" pitchFamily="34" charset="0"/>
                <a:ea typeface="Consolas" pitchFamily="34" charset="-122"/>
                <a:cs typeface="Consolas" pitchFamily="34" charset="-120"/>
              </a:rPr>
              <a:t>1 passed in 0.02s</a:t>
            </a:r>
            <a:endParaRPr lang="en-US" sz="1000" dirty="0"/>
          </a:p>
        </p:txBody>
      </p:sp>
      <p:sp>
        <p:nvSpPr>
          <p:cNvPr id="43" name="Shape 39"/>
          <p:cNvSpPr/>
          <p:nvPr/>
        </p:nvSpPr>
        <p:spPr>
          <a:xfrm>
            <a:off x="658368" y="5870448"/>
            <a:ext cx="10874959" cy="493776"/>
          </a:xfrm>
          <a:prstGeom prst="rect">
            <a:avLst/>
          </a:prstGeom>
          <a:solidFill>
            <a:srgbClr val="102A43"/>
          </a:solidFill>
          <a:ln w="12700">
            <a:solidFill>
              <a:srgbClr val="102A43"/>
            </a:solidFill>
            <a:prstDash val="solid"/>
          </a:ln>
        </p:spPr>
      </p:sp>
      <p:sp>
        <p:nvSpPr>
          <p:cNvPr id="44" name="Text 40"/>
          <p:cNvSpPr txBox="1"/>
          <p:nvPr/>
        </p:nvSpPr>
        <p:spPr>
          <a:xfrm>
            <a:off x="969264" y="5916168"/>
            <a:ext cx="10253167" cy="402336"/>
          </a:xfrm>
          <a:prstGeom prst="rect">
            <a:avLst/>
          </a:prstGeom>
          <a:noFill/>
          <a:ln/>
        </p:spPr>
        <p:txBody>
          <a:bodyPr wrap="square" lIns="0" tIns="0" rIns="0" bIns="0" rtlCol="0" anchor="ctr"/>
          <a:lstStyle/>
          <a:p>
            <a:pPr algn="ctr" indent="0" marL="0">
              <a:lnSpc>
                <a:spcPct val="112000"/>
              </a:lnSpc>
              <a:buNone/>
            </a:pPr>
            <a:r>
              <a:rPr lang="en-US" sz="1320" b="1" dirty="0">
                <a:solidFill>
                  <a:srgbClr val="FFFFFF"/>
                </a:solidFill>
                <a:latin typeface="Aptos" pitchFamily="34" charset="0"/>
                <a:ea typeface="Aptos" pitchFamily="34" charset="-122"/>
                <a:cs typeface="Aptos" pitchFamily="34" charset="-120"/>
              </a:rPr>
              <a:t>Ese dato personal sobrevivió a tres auditorías y a dos suites completas. Lo cerró escribir el criterio, no una herramienta mejor.</a:t>
            </a:r>
            <a:endParaRPr lang="en-US" sz="132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29</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EL EXPERIMENTO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Al agente se le pidió esta misma traducción</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Sobre la carpeta con el código y el documento de requisitos: convertir la característica Seguridad en criterios de aceptación con umbral y método.</a:t>
            </a:r>
            <a:endParaRPr lang="en-US" sz="1450" dirty="0"/>
          </a:p>
        </p:txBody>
      </p:sp>
      <p:sp>
        <p:nvSpPr>
          <p:cNvPr id="11" name="Shape 8"/>
          <p:cNvSpPr/>
          <p:nvPr/>
        </p:nvSpPr>
        <p:spPr>
          <a:xfrm>
            <a:off x="658368" y="2432304"/>
            <a:ext cx="10874959" cy="786384"/>
          </a:xfrm>
          <a:prstGeom prst="rect">
            <a:avLst/>
          </a:prstGeom>
          <a:solidFill>
            <a:srgbClr val="F8E4E5"/>
          </a:solidFill>
          <a:ln w="12700">
            <a:solidFill>
              <a:srgbClr val="F8E4E5"/>
            </a:solidFill>
            <a:prstDash val="solid"/>
          </a:ln>
        </p:spPr>
      </p:sp>
      <p:sp>
        <p:nvSpPr>
          <p:cNvPr id="12" name="Shape 9"/>
          <p:cNvSpPr/>
          <p:nvPr/>
        </p:nvSpPr>
        <p:spPr>
          <a:xfrm>
            <a:off x="658368" y="2432304"/>
            <a:ext cx="64008" cy="786384"/>
          </a:xfrm>
          <a:prstGeom prst="rect">
            <a:avLst/>
          </a:prstGeom>
          <a:solidFill>
            <a:srgbClr val="B3181E"/>
          </a:solidFill>
          <a:ln w="12700">
            <a:solidFill>
              <a:srgbClr val="B3181E"/>
            </a:solidFill>
            <a:prstDash val="solid"/>
          </a:ln>
        </p:spPr>
      </p:sp>
      <p:sp>
        <p:nvSpPr>
          <p:cNvPr id="13" name="Text 10"/>
          <p:cNvSpPr txBox="1"/>
          <p:nvPr/>
        </p:nvSpPr>
        <p:spPr>
          <a:xfrm>
            <a:off x="969264" y="2578608"/>
            <a:ext cx="45720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SU PRIMER CRITERIO, ARRIBA DE LA TABLA</a:t>
            </a:r>
            <a:endParaRPr lang="en-US" sz="960" dirty="0"/>
          </a:p>
        </p:txBody>
      </p:sp>
      <p:sp>
        <p:nvSpPr>
          <p:cNvPr id="14" name="Text 11"/>
          <p:cNvSpPr txBox="1"/>
          <p:nvPr/>
        </p:nvSpPr>
        <p:spPr>
          <a:xfrm>
            <a:off x="969264" y="2816352"/>
            <a:ext cx="10234879" cy="274320"/>
          </a:xfrm>
          <a:prstGeom prst="rect">
            <a:avLst/>
          </a:prstGeom>
          <a:noFill/>
          <a:ln/>
        </p:spPr>
        <p:txBody>
          <a:bodyPr wrap="square" lIns="0" tIns="0" rIns="0" bIns="0" rtlCol="0" anchor="t"/>
          <a:lstStyle/>
          <a:p>
            <a:pPr algn="l" indent="0" marL="0">
              <a:buNone/>
            </a:pPr>
            <a:r>
              <a:rPr lang="en-US" sz="1400" b="1" dirty="0">
                <a:solidFill>
                  <a:srgbClr val="243B53"/>
                </a:solidFill>
                <a:latin typeface="Aptos" pitchFamily="34" charset="0"/>
                <a:ea typeface="Aptos" pitchFamily="34" charset="-122"/>
                <a:cs typeface="Aptos" pitchFamily="34" charset="-120"/>
              </a:rPr>
              <a:t>S1 · Confidencialidad · resumen() no expone el RUT completo · Umbral: 0 RUT completos</a:t>
            </a:r>
            <a:endParaRPr lang="en-US" sz="1400" dirty="0"/>
          </a:p>
        </p:txBody>
      </p:sp>
      <p:sp>
        <p:nvSpPr>
          <p:cNvPr id="15" name="Text 12"/>
          <p:cNvSpPr txBox="1"/>
          <p:nvPr/>
        </p:nvSpPr>
        <p:spPr>
          <a:xfrm>
            <a:off x="658368" y="3364992"/>
            <a:ext cx="10607040" cy="256032"/>
          </a:xfrm>
          <a:prstGeom prst="rect">
            <a:avLst/>
          </a:prstGeom>
          <a:noFill/>
          <a:ln/>
        </p:spPr>
        <p:txBody>
          <a:bodyPr wrap="square" lIns="0" tIns="0" rIns="0" bIns="0" rtlCol="0" anchor="t"/>
          <a:lstStyle/>
          <a:p>
            <a:pPr algn="l" indent="0" marL="0">
              <a:buNone/>
            </a:pPr>
            <a:r>
              <a:rPr lang="en-US" sz="1320" dirty="0">
                <a:solidFill>
                  <a:srgbClr val="52606D"/>
                </a:solidFill>
                <a:latin typeface="Aptos" pitchFamily="34" charset="0"/>
                <a:ea typeface="Aptos" pitchFamily="34" charset="-122"/>
                <a:cs typeface="Aptos" pitchFamily="34" charset="-120"/>
              </a:rPr>
              <a:t>El mismo dato que tres auditorías no vieron apareció de inmediato. No porque el agente fuera mejor:</a:t>
            </a:r>
            <a:endParaRPr lang="en-US" sz="1320" dirty="0"/>
          </a:p>
        </p:txBody>
      </p:sp>
      <p:sp>
        <p:nvSpPr>
          <p:cNvPr id="16" name="Shape 13"/>
          <p:cNvSpPr/>
          <p:nvPr/>
        </p:nvSpPr>
        <p:spPr>
          <a:xfrm>
            <a:off x="658368" y="3712464"/>
            <a:ext cx="5266944" cy="1371600"/>
          </a:xfrm>
          <a:prstGeom prst="rect">
            <a:avLst/>
          </a:prstGeom>
          <a:solidFill>
            <a:srgbClr val="EDE6DA"/>
          </a:solidFill>
          <a:ln w="12700">
            <a:solidFill>
              <a:srgbClr val="EDE6DA"/>
            </a:solidFill>
            <a:prstDash val="solid"/>
          </a:ln>
        </p:spPr>
      </p:sp>
      <p:sp>
        <p:nvSpPr>
          <p:cNvPr id="17" name="Shape 14"/>
          <p:cNvSpPr/>
          <p:nvPr/>
        </p:nvSpPr>
        <p:spPr>
          <a:xfrm>
            <a:off x="658368" y="3712464"/>
            <a:ext cx="5266944" cy="54864"/>
          </a:xfrm>
          <a:prstGeom prst="rect">
            <a:avLst/>
          </a:prstGeom>
          <a:solidFill>
            <a:srgbClr val="52606D"/>
          </a:solidFill>
          <a:ln w="12700">
            <a:solidFill>
              <a:srgbClr val="52606D"/>
            </a:solidFill>
            <a:prstDash val="solid"/>
          </a:ln>
        </p:spPr>
      </p:sp>
      <p:sp>
        <p:nvSpPr>
          <p:cNvPr id="18" name="Text 15"/>
          <p:cNvSpPr txBox="1"/>
          <p:nvPr/>
        </p:nvSpPr>
        <p:spPr>
          <a:xfrm>
            <a:off x="969264" y="3877056"/>
            <a:ext cx="4206240" cy="201168"/>
          </a:xfrm>
          <a:prstGeom prst="rect">
            <a:avLst/>
          </a:prstGeom>
          <a:noFill/>
          <a:ln/>
        </p:spPr>
        <p:txBody>
          <a:bodyPr wrap="square" lIns="0" tIns="0" rIns="0" bIns="0" rtlCol="0" anchor="t"/>
          <a:lstStyle/>
          <a:p>
            <a:pPr algn="l" indent="0" marL="0">
              <a:buNone/>
            </a:pPr>
            <a:r>
              <a:rPr lang="en-US" sz="960" b="1" spc="130" kern="0" dirty="0">
                <a:solidFill>
                  <a:srgbClr val="52606D"/>
                </a:solidFill>
                <a:latin typeface="Aptos" pitchFamily="34" charset="0"/>
                <a:ea typeface="Aptos" pitchFamily="34" charset="-122"/>
                <a:cs typeface="Aptos" pitchFamily="34" charset="-120"/>
              </a:rPr>
              <a:t>LO QUE SE PREGUNTÓ ANTES</a:t>
            </a:r>
            <a:endParaRPr lang="en-US" sz="960" dirty="0"/>
          </a:p>
        </p:txBody>
      </p:sp>
      <p:sp>
        <p:nvSpPr>
          <p:cNvPr id="19" name="Text 16"/>
          <p:cNvSpPr txBox="1"/>
          <p:nvPr/>
        </p:nvSpPr>
        <p:spPr>
          <a:xfrm>
            <a:off x="969264" y="4114800"/>
            <a:ext cx="4645152" cy="402336"/>
          </a:xfrm>
          <a:prstGeom prst="rect">
            <a:avLst/>
          </a:prstGeom>
          <a:noFill/>
          <a:ln/>
        </p:spPr>
        <p:txBody>
          <a:bodyPr wrap="square" lIns="0" tIns="0" rIns="0" bIns="0" rtlCol="0" anchor="t"/>
          <a:lstStyle/>
          <a:p>
            <a:pPr algn="l" indent="0" marL="0">
              <a:lnSpc>
                <a:spcPct val="112000"/>
              </a:lnSpc>
              <a:buNone/>
            </a:pPr>
            <a:r>
              <a:rPr lang="en-US" sz="1300" b="1" i="1" dirty="0">
                <a:solidFill>
                  <a:srgbClr val="243B53"/>
                </a:solidFill>
                <a:latin typeface="Aptos" pitchFamily="34" charset="0"/>
                <a:ea typeface="Aptos" pitchFamily="34" charset="-122"/>
                <a:cs typeface="Aptos" pitchFamily="34" charset="-120"/>
              </a:rPr>
              <a:t>«Compara este código contra lo que está escrito.»</a:t>
            </a:r>
            <a:endParaRPr lang="en-US" sz="1300" dirty="0"/>
          </a:p>
        </p:txBody>
      </p:sp>
      <p:sp>
        <p:nvSpPr>
          <p:cNvPr id="20" name="Text 17"/>
          <p:cNvSpPr txBox="1"/>
          <p:nvPr/>
        </p:nvSpPr>
        <p:spPr>
          <a:xfrm>
            <a:off x="969264" y="4553712"/>
            <a:ext cx="4645152" cy="438912"/>
          </a:xfrm>
          <a:prstGeom prst="rect">
            <a:avLst/>
          </a:prstGeom>
          <a:noFill/>
          <a:ln/>
        </p:spPr>
        <p:txBody>
          <a:bodyPr wrap="square" lIns="0" tIns="0" rIns="0" bIns="0" rtlCol="0" anchor="t"/>
          <a:lstStyle/>
          <a:p>
            <a:pPr algn="l" indent="0" marL="0">
              <a:lnSpc>
                <a:spcPct val="114000"/>
              </a:lnSpc>
              <a:buNone/>
            </a:pPr>
            <a:r>
              <a:rPr lang="en-US" sz="1160" dirty="0">
                <a:solidFill>
                  <a:srgbClr val="52606D"/>
                </a:solidFill>
                <a:latin typeface="Aptos" pitchFamily="34" charset="0"/>
                <a:ea typeface="Aptos" pitchFamily="34" charset="-122"/>
                <a:cs typeface="Aptos" pitchFamily="34" charset="-120"/>
              </a:rPr>
              <a:t>El RUT no estaba escrito en ninguna parte, así que la comparación no podía producirlo.</a:t>
            </a:r>
            <a:endParaRPr lang="en-US" sz="1160" dirty="0"/>
          </a:p>
        </p:txBody>
      </p:sp>
      <p:sp>
        <p:nvSpPr>
          <p:cNvPr id="21" name="Shape 18"/>
          <p:cNvSpPr/>
          <p:nvPr/>
        </p:nvSpPr>
        <p:spPr>
          <a:xfrm>
            <a:off x="6291072" y="3712464"/>
            <a:ext cx="5266944" cy="1371600"/>
          </a:xfrm>
          <a:prstGeom prst="rect">
            <a:avLst/>
          </a:prstGeom>
          <a:solidFill>
            <a:srgbClr val="FFFFFF"/>
          </a:solidFill>
          <a:ln w="12700">
            <a:solidFill>
              <a:srgbClr val="FFFFFF"/>
            </a:solidFill>
            <a:prstDash val="solid"/>
          </a:ln>
        </p:spPr>
      </p:sp>
      <p:sp>
        <p:nvSpPr>
          <p:cNvPr id="22" name="Shape 19"/>
          <p:cNvSpPr/>
          <p:nvPr/>
        </p:nvSpPr>
        <p:spPr>
          <a:xfrm>
            <a:off x="6291072" y="3712464"/>
            <a:ext cx="5266944" cy="54864"/>
          </a:xfrm>
          <a:prstGeom prst="rect">
            <a:avLst/>
          </a:prstGeom>
          <a:solidFill>
            <a:srgbClr val="255A4C"/>
          </a:solidFill>
          <a:ln w="12700">
            <a:solidFill>
              <a:srgbClr val="255A4C"/>
            </a:solidFill>
            <a:prstDash val="solid"/>
          </a:ln>
        </p:spPr>
      </p:sp>
      <p:sp>
        <p:nvSpPr>
          <p:cNvPr id="23" name="Text 20"/>
          <p:cNvSpPr txBox="1"/>
          <p:nvPr/>
        </p:nvSpPr>
        <p:spPr>
          <a:xfrm>
            <a:off x="6601968" y="3877056"/>
            <a:ext cx="4206240" cy="201168"/>
          </a:xfrm>
          <a:prstGeom prst="rect">
            <a:avLst/>
          </a:prstGeom>
          <a:noFill/>
          <a:ln/>
        </p:spPr>
        <p:txBody>
          <a:bodyPr wrap="square" lIns="0" tIns="0" rIns="0" bIns="0" rtlCol="0" anchor="t"/>
          <a:lstStyle/>
          <a:p>
            <a:pPr algn="l" indent="0" marL="0">
              <a:buNone/>
            </a:pPr>
            <a:r>
              <a:rPr lang="en-US" sz="960" b="1" spc="130" kern="0" dirty="0">
                <a:solidFill>
                  <a:srgbClr val="255A4C"/>
                </a:solidFill>
                <a:latin typeface="Aptos" pitchFamily="34" charset="0"/>
                <a:ea typeface="Aptos" pitchFamily="34" charset="-122"/>
                <a:cs typeface="Aptos" pitchFamily="34" charset="-120"/>
              </a:rPr>
              <a:t>LO QUE SE PREGUNTÓ AHORA</a:t>
            </a:r>
            <a:endParaRPr lang="en-US" sz="960" dirty="0"/>
          </a:p>
        </p:txBody>
      </p:sp>
      <p:sp>
        <p:nvSpPr>
          <p:cNvPr id="24" name="Text 21"/>
          <p:cNvSpPr txBox="1"/>
          <p:nvPr/>
        </p:nvSpPr>
        <p:spPr>
          <a:xfrm>
            <a:off x="6601968" y="4114800"/>
            <a:ext cx="4645152" cy="402336"/>
          </a:xfrm>
          <a:prstGeom prst="rect">
            <a:avLst/>
          </a:prstGeom>
          <a:noFill/>
          <a:ln/>
        </p:spPr>
        <p:txBody>
          <a:bodyPr wrap="square" lIns="0" tIns="0" rIns="0" bIns="0" rtlCol="0" anchor="t"/>
          <a:lstStyle/>
          <a:p>
            <a:pPr algn="l" indent="0" marL="0">
              <a:lnSpc>
                <a:spcPct val="112000"/>
              </a:lnSpc>
              <a:buNone/>
            </a:pPr>
            <a:r>
              <a:rPr lang="en-US" sz="1300" b="1" i="1" dirty="0">
                <a:solidFill>
                  <a:srgbClr val="243B53"/>
                </a:solidFill>
                <a:latin typeface="Aptos" pitchFamily="34" charset="0"/>
                <a:ea typeface="Aptos" pitchFamily="34" charset="-122"/>
                <a:cs typeface="Aptos" pitchFamily="34" charset="-120"/>
              </a:rPr>
              <a:t>«Qué debería ser verdad de este producto en materia de seguridad.»</a:t>
            </a:r>
            <a:endParaRPr lang="en-US" sz="1300" dirty="0"/>
          </a:p>
        </p:txBody>
      </p:sp>
      <p:sp>
        <p:nvSpPr>
          <p:cNvPr id="25" name="Text 22"/>
          <p:cNvSpPr txBox="1"/>
          <p:nvPr/>
        </p:nvSpPr>
        <p:spPr>
          <a:xfrm>
            <a:off x="6601968" y="4553712"/>
            <a:ext cx="4645152" cy="438912"/>
          </a:xfrm>
          <a:prstGeom prst="rect">
            <a:avLst/>
          </a:prstGeom>
          <a:noFill/>
          <a:ln/>
        </p:spPr>
        <p:txBody>
          <a:bodyPr wrap="square" lIns="0" tIns="0" rIns="0" bIns="0" rtlCol="0" anchor="t"/>
          <a:lstStyle/>
          <a:p>
            <a:pPr algn="l" indent="0" marL="0">
              <a:lnSpc>
                <a:spcPct val="114000"/>
              </a:lnSpc>
              <a:buNone/>
            </a:pPr>
            <a:r>
              <a:rPr lang="en-US" sz="1160" dirty="0">
                <a:solidFill>
                  <a:srgbClr val="52606D"/>
                </a:solidFill>
                <a:latin typeface="Aptos" pitchFamily="34" charset="0"/>
                <a:ea typeface="Aptos" pitchFamily="34" charset="-122"/>
                <a:cs typeface="Aptos" pitchFamily="34" charset="-120"/>
              </a:rPr>
              <a:t>Esta pregunta tiene una fuente de autoridad fuera del proyecto: el modelo de calidad.</a:t>
            </a:r>
            <a:endParaRPr lang="en-US" sz="1160" dirty="0"/>
          </a:p>
        </p:txBody>
      </p:sp>
      <p:sp>
        <p:nvSpPr>
          <p:cNvPr id="26" name="Text 23"/>
          <p:cNvSpPr txBox="1"/>
          <p:nvPr/>
        </p:nvSpPr>
        <p:spPr>
          <a:xfrm>
            <a:off x="658368" y="5212080"/>
            <a:ext cx="10874959" cy="256032"/>
          </a:xfrm>
          <a:prstGeom prst="rect">
            <a:avLst/>
          </a:prstGeom>
          <a:noFill/>
          <a:ln/>
        </p:spPr>
        <p:txBody>
          <a:bodyPr wrap="square" lIns="0" tIns="0" rIns="0" bIns="0" rtlCol="0" anchor="t"/>
          <a:lstStyle/>
          <a:p>
            <a:pPr algn="ctr" indent="0" marL="0">
              <a:buNone/>
            </a:pPr>
            <a:r>
              <a:rPr lang="en-US" sz="1300" i="1" dirty="0">
                <a:solidFill>
                  <a:srgbClr val="52606D"/>
                </a:solidFill>
                <a:latin typeface="Aptos" pitchFamily="34" charset="0"/>
                <a:ea typeface="Aptos" pitchFamily="34" charset="-122"/>
                <a:cs typeface="Aptos" pitchFamily="34" charset="-120"/>
              </a:rPr>
              <a:t>El modelo trae la palabra «confidencialidad», que ningún documento del repositorio contenía.</a:t>
            </a:r>
            <a:endParaRPr lang="en-US" sz="1300" dirty="0"/>
          </a:p>
        </p:txBody>
      </p:sp>
      <p:sp>
        <p:nvSpPr>
          <p:cNvPr id="27" name="Shape 24"/>
          <p:cNvSpPr/>
          <p:nvPr/>
        </p:nvSpPr>
        <p:spPr>
          <a:xfrm>
            <a:off x="658368" y="5577840"/>
            <a:ext cx="10874959" cy="548640"/>
          </a:xfrm>
          <a:prstGeom prst="rect">
            <a:avLst/>
          </a:prstGeom>
          <a:solidFill>
            <a:srgbClr val="255A4C"/>
          </a:solidFill>
          <a:ln w="12700">
            <a:solidFill>
              <a:srgbClr val="255A4C"/>
            </a:solidFill>
            <a:prstDash val="solid"/>
          </a:ln>
        </p:spPr>
      </p:sp>
      <p:sp>
        <p:nvSpPr>
          <p:cNvPr id="28" name="Text 25"/>
          <p:cNvSpPr txBox="1"/>
          <p:nvPr/>
        </p:nvSpPr>
        <p:spPr>
          <a:xfrm>
            <a:off x="969264" y="5623560"/>
            <a:ext cx="10253167" cy="457200"/>
          </a:xfrm>
          <a:prstGeom prst="rect">
            <a:avLst/>
          </a:prstGeom>
          <a:noFill/>
          <a:ln/>
        </p:spPr>
        <p:txBody>
          <a:bodyPr wrap="square" lIns="0" tIns="0" rIns="0" bIns="0" rtlCol="0" anchor="ctr"/>
          <a:lstStyle/>
          <a:p>
            <a:pPr algn="ctr" indent="0" marL="0">
              <a:lnSpc>
                <a:spcPct val="112000"/>
              </a:lnSpc>
              <a:buNone/>
            </a:pPr>
            <a:r>
              <a:rPr lang="en-US" sz="1380" b="1" dirty="0">
                <a:solidFill>
                  <a:srgbClr val="FFFFFF"/>
                </a:solidFill>
                <a:latin typeface="Aptos" pitchFamily="34" charset="0"/>
                <a:ea typeface="Aptos" pitchFamily="34" charset="-122"/>
                <a:cs typeface="Aptos" pitchFamily="34" charset="-120"/>
              </a:rPr>
              <a:t>El modelo de calidad funcionó como base de prueba: aportó el criterio que el proyecto no tenía escrito.</a:t>
            </a:r>
            <a:endParaRPr lang="en-US" sz="138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30</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LA OTRA MITAD</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El mismo agente produjo dos criterios que nadie pidió</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Están bien formulados: tienen magnitud, método y umbral. Se ven idénticos al anterior.</a:t>
            </a:r>
            <a:endParaRPr lang="en-US" sz="1450" dirty="0"/>
          </a:p>
        </p:txBody>
      </p:sp>
      <p:sp>
        <p:nvSpPr>
          <p:cNvPr id="11" name="Shape 8"/>
          <p:cNvSpPr/>
          <p:nvPr/>
        </p:nvSpPr>
        <p:spPr>
          <a:xfrm>
            <a:off x="658368" y="2432304"/>
            <a:ext cx="5266944" cy="1517904"/>
          </a:xfrm>
          <a:prstGeom prst="rect">
            <a:avLst/>
          </a:prstGeom>
          <a:solidFill>
            <a:srgbClr val="FFFFFF"/>
          </a:solidFill>
          <a:ln w="12700">
            <a:solidFill>
              <a:srgbClr val="FFFFFF"/>
            </a:solidFill>
            <a:prstDash val="solid"/>
          </a:ln>
        </p:spPr>
      </p:sp>
      <p:sp>
        <p:nvSpPr>
          <p:cNvPr id="12" name="Shape 9"/>
          <p:cNvSpPr/>
          <p:nvPr/>
        </p:nvSpPr>
        <p:spPr>
          <a:xfrm>
            <a:off x="658368" y="2432304"/>
            <a:ext cx="5266944" cy="54864"/>
          </a:xfrm>
          <a:prstGeom prst="rect">
            <a:avLst/>
          </a:prstGeom>
          <a:solidFill>
            <a:srgbClr val="8A6A12"/>
          </a:solidFill>
          <a:ln w="12700">
            <a:solidFill>
              <a:srgbClr val="8A6A12"/>
            </a:solidFill>
            <a:prstDash val="solid"/>
          </a:ln>
        </p:spPr>
      </p:sp>
      <p:sp>
        <p:nvSpPr>
          <p:cNvPr id="13" name="Text 10"/>
          <p:cNvSpPr txBox="1"/>
          <p:nvPr/>
        </p:nvSpPr>
        <p:spPr>
          <a:xfrm>
            <a:off x="969264" y="2615184"/>
            <a:ext cx="4645152" cy="274320"/>
          </a:xfrm>
          <a:prstGeom prst="rect">
            <a:avLst/>
          </a:prstGeom>
          <a:noFill/>
          <a:ln/>
        </p:spPr>
        <p:txBody>
          <a:bodyPr wrap="square" lIns="0" tIns="0" rIns="0" bIns="0" rtlCol="0" anchor="t"/>
          <a:lstStyle/>
          <a:p>
            <a:pPr algn="l" indent="0" marL="0">
              <a:buNone/>
            </a:pPr>
            <a:r>
              <a:rPr lang="en-US" sz="1500" b="1" dirty="0">
                <a:solidFill>
                  <a:srgbClr val="243B53"/>
                </a:solidFill>
                <a:latin typeface="Aptos" pitchFamily="34" charset="0"/>
                <a:ea typeface="Aptos" pitchFamily="34" charset="-122"/>
                <a:cs typeface="Aptos" pitchFamily="34" charset="-120"/>
              </a:rPr>
              <a:t>S5 · Responsabilidad</a:t>
            </a:r>
            <a:endParaRPr lang="en-US" sz="1500" dirty="0"/>
          </a:p>
        </p:txBody>
      </p:sp>
      <p:sp>
        <p:nvSpPr>
          <p:cNvPr id="14" name="Text 11"/>
          <p:cNvSpPr txBox="1"/>
          <p:nvPr/>
        </p:nvSpPr>
        <p:spPr>
          <a:xfrm>
            <a:off x="969264" y="2962656"/>
            <a:ext cx="4645152" cy="548640"/>
          </a:xfrm>
          <a:prstGeom prst="rect">
            <a:avLst/>
          </a:prstGeom>
          <a:noFill/>
          <a:ln/>
        </p:spPr>
        <p:txBody>
          <a:bodyPr wrap="square" lIns="0" tIns="0" rIns="0" bIns="0" rtlCol="0" anchor="t"/>
          <a:lstStyle/>
          <a:p>
            <a:pPr algn="l" indent="0" marL="0">
              <a:lnSpc>
                <a:spcPct val="116000"/>
              </a:lnSpc>
              <a:buNone/>
            </a:pPr>
            <a:r>
              <a:rPr lang="en-US" sz="1240" dirty="0">
                <a:solidFill>
                  <a:srgbClr val="52606D"/>
                </a:solidFill>
                <a:latin typeface="Aptos" pitchFamily="34" charset="0"/>
                <a:ea typeface="Aptos" pitchFamily="34" charset="-122"/>
                <a:cs typeface="Aptos" pitchFamily="34" charset="-120"/>
              </a:rPr>
              <a:t>Cada cierre genera un registro con fecha, RUT enmascarado, nota, estado y usuario que lo ejecutó.</a:t>
            </a:r>
            <a:endParaRPr lang="en-US" sz="1240" dirty="0"/>
          </a:p>
        </p:txBody>
      </p:sp>
      <p:sp>
        <p:nvSpPr>
          <p:cNvPr id="15" name="Shape 12"/>
          <p:cNvSpPr/>
          <p:nvPr/>
        </p:nvSpPr>
        <p:spPr>
          <a:xfrm>
            <a:off x="969264" y="3547872"/>
            <a:ext cx="4645152" cy="292608"/>
          </a:xfrm>
          <a:prstGeom prst="rect">
            <a:avLst/>
          </a:prstGeom>
          <a:solidFill>
            <a:srgbClr val="F2E7D9"/>
          </a:solidFill>
          <a:ln w="12700">
            <a:solidFill>
              <a:srgbClr val="F2E7D9"/>
            </a:solidFill>
            <a:prstDash val="solid"/>
          </a:ln>
        </p:spPr>
      </p:sp>
      <p:sp>
        <p:nvSpPr>
          <p:cNvPr id="16" name="Text 13"/>
          <p:cNvSpPr txBox="1"/>
          <p:nvPr/>
        </p:nvSpPr>
        <p:spPr>
          <a:xfrm>
            <a:off x="1097280" y="3593592"/>
            <a:ext cx="4389120" cy="219456"/>
          </a:xfrm>
          <a:prstGeom prst="rect">
            <a:avLst/>
          </a:prstGeom>
          <a:noFill/>
          <a:ln/>
        </p:spPr>
        <p:txBody>
          <a:bodyPr wrap="square" lIns="0" tIns="0" rIns="0" bIns="0" rtlCol="0" anchor="t"/>
          <a:lstStyle/>
          <a:p>
            <a:pPr algn="l" indent="0" marL="0">
              <a:buNone/>
            </a:pPr>
            <a:r>
              <a:rPr lang="en-US" sz="1140" b="1" dirty="0">
                <a:solidFill>
                  <a:srgbClr val="8A6A12"/>
                </a:solidFill>
                <a:latin typeface="Aptos" pitchFamily="34" charset="0"/>
                <a:ea typeface="Aptos" pitchFamily="34" charset="-122"/>
                <a:cs typeface="Aptos" pitchFamily="34" charset="-120"/>
              </a:rPr>
              <a:t>Umbral: 100 % de las llamadas</a:t>
            </a:r>
            <a:endParaRPr lang="en-US" sz="1140" dirty="0"/>
          </a:p>
        </p:txBody>
      </p:sp>
      <p:sp>
        <p:nvSpPr>
          <p:cNvPr id="17" name="Shape 14"/>
          <p:cNvSpPr/>
          <p:nvPr/>
        </p:nvSpPr>
        <p:spPr>
          <a:xfrm>
            <a:off x="6291072" y="2432304"/>
            <a:ext cx="5266944" cy="1517904"/>
          </a:xfrm>
          <a:prstGeom prst="rect">
            <a:avLst/>
          </a:prstGeom>
          <a:solidFill>
            <a:srgbClr val="FFFFFF"/>
          </a:solidFill>
          <a:ln w="12700">
            <a:solidFill>
              <a:srgbClr val="FFFFFF"/>
            </a:solidFill>
            <a:prstDash val="solid"/>
          </a:ln>
        </p:spPr>
      </p:sp>
      <p:sp>
        <p:nvSpPr>
          <p:cNvPr id="18" name="Shape 15"/>
          <p:cNvSpPr/>
          <p:nvPr/>
        </p:nvSpPr>
        <p:spPr>
          <a:xfrm>
            <a:off x="6291072" y="2432304"/>
            <a:ext cx="5266944" cy="54864"/>
          </a:xfrm>
          <a:prstGeom prst="rect">
            <a:avLst/>
          </a:prstGeom>
          <a:solidFill>
            <a:srgbClr val="8A6A12"/>
          </a:solidFill>
          <a:ln w="12700">
            <a:solidFill>
              <a:srgbClr val="8A6A12"/>
            </a:solidFill>
            <a:prstDash val="solid"/>
          </a:ln>
        </p:spPr>
      </p:sp>
      <p:sp>
        <p:nvSpPr>
          <p:cNvPr id="19" name="Text 16"/>
          <p:cNvSpPr txBox="1"/>
          <p:nvPr/>
        </p:nvSpPr>
        <p:spPr>
          <a:xfrm>
            <a:off x="6601968" y="2615184"/>
            <a:ext cx="4645152" cy="274320"/>
          </a:xfrm>
          <a:prstGeom prst="rect">
            <a:avLst/>
          </a:prstGeom>
          <a:noFill/>
          <a:ln/>
        </p:spPr>
        <p:txBody>
          <a:bodyPr wrap="square" lIns="0" tIns="0" rIns="0" bIns="0" rtlCol="0" anchor="t"/>
          <a:lstStyle/>
          <a:p>
            <a:pPr algn="l" indent="0" marL="0">
              <a:buNone/>
            </a:pPr>
            <a:r>
              <a:rPr lang="en-US" sz="1500" b="1" dirty="0">
                <a:solidFill>
                  <a:srgbClr val="243B53"/>
                </a:solidFill>
                <a:latin typeface="Aptos" pitchFamily="34" charset="0"/>
                <a:ea typeface="Aptos" pitchFamily="34" charset="-122"/>
                <a:cs typeface="Aptos" pitchFamily="34" charset="-120"/>
              </a:rPr>
              <a:t>S6 · No repudio</a:t>
            </a:r>
            <a:endParaRPr lang="en-US" sz="1500" dirty="0"/>
          </a:p>
        </p:txBody>
      </p:sp>
      <p:sp>
        <p:nvSpPr>
          <p:cNvPr id="20" name="Text 17"/>
          <p:cNvSpPr txBox="1"/>
          <p:nvPr/>
        </p:nvSpPr>
        <p:spPr>
          <a:xfrm>
            <a:off x="6601968" y="2962656"/>
            <a:ext cx="4645152" cy="548640"/>
          </a:xfrm>
          <a:prstGeom prst="rect">
            <a:avLst/>
          </a:prstGeom>
          <a:noFill/>
          <a:ln/>
        </p:spPr>
        <p:txBody>
          <a:bodyPr wrap="square" lIns="0" tIns="0" rIns="0" bIns="0" rtlCol="0" anchor="t"/>
          <a:lstStyle/>
          <a:p>
            <a:pPr algn="l" indent="0" marL="0">
              <a:lnSpc>
                <a:spcPct val="116000"/>
              </a:lnSpc>
              <a:buNone/>
            </a:pPr>
            <a:r>
              <a:rPr lang="en-US" sz="1240" dirty="0">
                <a:solidFill>
                  <a:srgbClr val="52606D"/>
                </a:solidFill>
                <a:latin typeface="Aptos" pitchFamily="34" charset="0"/>
                <a:ea typeface="Aptos" pitchFamily="34" charset="-122"/>
                <a:cs typeface="Aptos" pitchFamily="34" charset="-120"/>
              </a:rPr>
              <a:t>El registro es de solo anexado y lleva un hash encadenado del registro anterior.</a:t>
            </a:r>
            <a:endParaRPr lang="en-US" sz="1240" dirty="0"/>
          </a:p>
        </p:txBody>
      </p:sp>
      <p:sp>
        <p:nvSpPr>
          <p:cNvPr id="21" name="Shape 18"/>
          <p:cNvSpPr/>
          <p:nvPr/>
        </p:nvSpPr>
        <p:spPr>
          <a:xfrm>
            <a:off x="6601968" y="3547872"/>
            <a:ext cx="4645152" cy="292608"/>
          </a:xfrm>
          <a:prstGeom prst="rect">
            <a:avLst/>
          </a:prstGeom>
          <a:solidFill>
            <a:srgbClr val="F2E7D9"/>
          </a:solidFill>
          <a:ln w="12700">
            <a:solidFill>
              <a:srgbClr val="F2E7D9"/>
            </a:solidFill>
            <a:prstDash val="solid"/>
          </a:ln>
        </p:spPr>
      </p:sp>
      <p:sp>
        <p:nvSpPr>
          <p:cNvPr id="22" name="Text 19"/>
          <p:cNvSpPr txBox="1"/>
          <p:nvPr/>
        </p:nvSpPr>
        <p:spPr>
          <a:xfrm>
            <a:off x="6729984" y="3593592"/>
            <a:ext cx="4389120" cy="219456"/>
          </a:xfrm>
          <a:prstGeom prst="rect">
            <a:avLst/>
          </a:prstGeom>
          <a:noFill/>
          <a:ln/>
        </p:spPr>
        <p:txBody>
          <a:bodyPr wrap="square" lIns="0" tIns="0" rIns="0" bIns="0" rtlCol="0" anchor="t"/>
          <a:lstStyle/>
          <a:p>
            <a:pPr algn="l" indent="0" marL="0">
              <a:buNone/>
            </a:pPr>
            <a:r>
              <a:rPr lang="en-US" sz="1140" b="1" dirty="0">
                <a:solidFill>
                  <a:srgbClr val="8A6A12"/>
                </a:solidFill>
                <a:latin typeface="Aptos" pitchFamily="34" charset="0"/>
                <a:ea typeface="Aptos" pitchFamily="34" charset="-122"/>
                <a:cs typeface="Aptos" pitchFamily="34" charset="-120"/>
              </a:rPr>
              <a:t>Umbral: 0 registros modificables</a:t>
            </a:r>
            <a:endParaRPr lang="en-US" sz="1140" dirty="0"/>
          </a:p>
        </p:txBody>
      </p:sp>
      <p:sp>
        <p:nvSpPr>
          <p:cNvPr id="23" name="Shape 20"/>
          <p:cNvSpPr/>
          <p:nvPr/>
        </p:nvSpPr>
        <p:spPr>
          <a:xfrm>
            <a:off x="658368" y="4114800"/>
            <a:ext cx="10874959" cy="1005840"/>
          </a:xfrm>
          <a:prstGeom prst="rect">
            <a:avLst/>
          </a:prstGeom>
          <a:solidFill>
            <a:srgbClr val="102A43"/>
          </a:solidFill>
          <a:ln w="12700">
            <a:solidFill>
              <a:srgbClr val="102A43"/>
            </a:solidFill>
            <a:prstDash val="solid"/>
          </a:ln>
        </p:spPr>
      </p:sp>
      <p:sp>
        <p:nvSpPr>
          <p:cNvPr id="24" name="Text 21"/>
          <p:cNvSpPr txBox="1"/>
          <p:nvPr/>
        </p:nvSpPr>
        <p:spPr>
          <a:xfrm>
            <a:off x="969264" y="4261104"/>
            <a:ext cx="5486400" cy="182880"/>
          </a:xfrm>
          <a:prstGeom prst="rect">
            <a:avLst/>
          </a:prstGeom>
          <a:noFill/>
          <a:ln/>
        </p:spPr>
        <p:txBody>
          <a:bodyPr wrap="square" lIns="0" tIns="0" rIns="0" bIns="0" rtlCol="0" anchor="t"/>
          <a:lstStyle/>
          <a:p>
            <a:pPr algn="l" indent="0" marL="0">
              <a:buNone/>
            </a:pPr>
            <a:r>
              <a:rPr lang="en-US" sz="900" b="1" spc="120" kern="0" dirty="0">
                <a:solidFill>
                  <a:srgbClr val="E0BC5A"/>
                </a:solidFill>
                <a:latin typeface="Aptos" pitchFamily="34" charset="0"/>
                <a:ea typeface="Aptos" pitchFamily="34" charset="-122"/>
                <a:cs typeface="Aptos" pitchFamily="34" charset="-120"/>
              </a:rPr>
              <a:t>UN REGISTRO CON HASH ENCADENADO ES UNA TÉCNICA REAL Y SERIA</a:t>
            </a:r>
            <a:endParaRPr lang="en-US" sz="900" dirty="0"/>
          </a:p>
        </p:txBody>
      </p:sp>
      <p:sp>
        <p:nvSpPr>
          <p:cNvPr id="25" name="Text 22"/>
          <p:cNvSpPr txBox="1"/>
          <p:nvPr/>
        </p:nvSpPr>
        <p:spPr>
          <a:xfrm>
            <a:off x="969264" y="4498848"/>
            <a:ext cx="10234879" cy="512064"/>
          </a:xfrm>
          <a:prstGeom prst="rect">
            <a:avLst/>
          </a:prstGeom>
          <a:noFill/>
          <a:ln/>
        </p:spPr>
        <p:txBody>
          <a:bodyPr wrap="square" lIns="0" tIns="0" rIns="0" bIns="0" rtlCol="0" anchor="t"/>
          <a:lstStyle/>
          <a:p>
            <a:pPr algn="l" indent="0" marL="0">
              <a:lnSpc>
                <a:spcPct val="116000"/>
              </a:lnSpc>
              <a:buNone/>
            </a:pPr>
            <a:r>
              <a:rPr lang="en-US" sz="1320" dirty="0">
                <a:solidFill>
                  <a:srgbClr val="FFFFFF"/>
                </a:solidFill>
                <a:latin typeface="Aptos" pitchFamily="34" charset="0"/>
                <a:ea typeface="Aptos" pitchFamily="34" charset="-122"/>
                <a:cs typeface="Aptos" pitchFamily="34" charset="-120"/>
              </a:rPr>
              <a:t>Se usa donde alguien puede tener incentivo para alterar el historial. Para el cálculo de notas de una asignatura,</a:t>
            </a:r>
            <a:endParaRPr lang="en-US" sz="1320" dirty="0"/>
          </a:p>
          <a:p>
            <a:pPr algn="l" indent="0" marL="0">
              <a:lnSpc>
                <a:spcPct val="116000"/>
              </a:lnSpc>
              <a:buNone/>
            </a:pPr>
            <a:r>
              <a:rPr lang="en-US" sz="1320" dirty="0">
                <a:solidFill>
                  <a:srgbClr val="FFFFFF"/>
                </a:solidFill>
                <a:latin typeface="Aptos" pitchFamily="34" charset="0"/>
                <a:ea typeface="Aptos" pitchFamily="34" charset="-122"/>
                <a:cs typeface="Aptos" pitchFamily="34" charset="-120"/>
              </a:rPr>
              <a:t>es ingeniería que ninguna persona con autoridad sobre este producto decidió.</a:t>
            </a:r>
            <a:endParaRPr lang="en-US" sz="1320" dirty="0"/>
          </a:p>
        </p:txBody>
      </p:sp>
      <p:sp>
        <p:nvSpPr>
          <p:cNvPr id="26" name="Shape 23"/>
          <p:cNvSpPr/>
          <p:nvPr/>
        </p:nvSpPr>
        <p:spPr>
          <a:xfrm>
            <a:off x="658368" y="5248656"/>
            <a:ext cx="10874959" cy="457200"/>
          </a:xfrm>
          <a:prstGeom prst="rect">
            <a:avLst/>
          </a:prstGeom>
          <a:solidFill>
            <a:srgbClr val="EDE6DA"/>
          </a:solidFill>
          <a:ln w="12700">
            <a:solidFill>
              <a:srgbClr val="EDE6DA"/>
            </a:solidFill>
            <a:prstDash val="solid"/>
          </a:ln>
        </p:spPr>
      </p:sp>
      <p:sp>
        <p:nvSpPr>
          <p:cNvPr id="27" name="Text 24"/>
          <p:cNvSpPr txBox="1"/>
          <p:nvPr/>
        </p:nvSpPr>
        <p:spPr>
          <a:xfrm>
            <a:off x="969264" y="5340096"/>
            <a:ext cx="10253167" cy="292608"/>
          </a:xfrm>
          <a:prstGeom prst="rect">
            <a:avLst/>
          </a:prstGeom>
          <a:noFill/>
          <a:ln/>
        </p:spPr>
        <p:txBody>
          <a:bodyPr wrap="square" lIns="0" tIns="0" rIns="0" bIns="0" rtlCol="0" anchor="t"/>
          <a:lstStyle/>
          <a:p>
            <a:pPr algn="ctr" indent="0" marL="0">
              <a:buNone/>
            </a:pPr>
            <a:r>
              <a:rPr lang="en-US" sz="1280" dirty="0">
                <a:solidFill>
                  <a:srgbClr val="243B53"/>
                </a:solidFill>
                <a:latin typeface="Aptos" pitchFamily="34" charset="0"/>
                <a:ea typeface="Aptos" pitchFamily="34" charset="-122"/>
                <a:cs typeface="Aptos" pitchFamily="34" charset="-120"/>
              </a:rPr>
              <a:t>Es un oráculo paramétrico del modelo: su autoridad es lo que el modelo aprendió entrenando, no lo que alguien decidió aquí.</a:t>
            </a:r>
            <a:endParaRPr lang="en-US" sz="1280" dirty="0"/>
          </a:p>
        </p:txBody>
      </p:sp>
      <p:sp>
        <p:nvSpPr>
          <p:cNvPr id="28" name="Shape 25"/>
          <p:cNvSpPr/>
          <p:nvPr/>
        </p:nvSpPr>
        <p:spPr>
          <a:xfrm>
            <a:off x="658368" y="5815584"/>
            <a:ext cx="10874959" cy="512064"/>
          </a:xfrm>
          <a:prstGeom prst="rect">
            <a:avLst/>
          </a:prstGeom>
          <a:solidFill>
            <a:srgbClr val="102A43"/>
          </a:solidFill>
          <a:ln w="12700">
            <a:solidFill>
              <a:srgbClr val="102A43"/>
            </a:solidFill>
            <a:prstDash val="solid"/>
          </a:ln>
        </p:spPr>
      </p:sp>
      <p:sp>
        <p:nvSpPr>
          <p:cNvPr id="29" name="Text 26"/>
          <p:cNvSpPr txBox="1"/>
          <p:nvPr/>
        </p:nvSpPr>
        <p:spPr>
          <a:xfrm>
            <a:off x="969264" y="5861304"/>
            <a:ext cx="10253167" cy="420624"/>
          </a:xfrm>
          <a:prstGeom prst="rect">
            <a:avLst/>
          </a:prstGeom>
          <a:noFill/>
          <a:ln/>
        </p:spPr>
        <p:txBody>
          <a:bodyPr wrap="square" lIns="0" tIns="0" rIns="0" bIns="0" rtlCol="0" anchor="ctr"/>
          <a:lstStyle/>
          <a:p>
            <a:pPr algn="ctr" indent="0" marL="0">
              <a:lnSpc>
                <a:spcPct val="112000"/>
              </a:lnSpc>
              <a:buNone/>
            </a:pPr>
            <a:r>
              <a:rPr lang="en-US" sz="1340" b="1" dirty="0">
                <a:solidFill>
                  <a:srgbClr val="FFFFFF"/>
                </a:solidFill>
                <a:latin typeface="Aptos" pitchFamily="34" charset="0"/>
                <a:ea typeface="Aptos" pitchFamily="34" charset="-122"/>
                <a:cs typeface="Aptos" pitchFamily="34" charset="-120"/>
              </a:rPr>
              <a:t>Un criterio bien redactado y un criterio que corresponde se ven exactamente igual. Hace falta una regla para separarlos.</a:t>
            </a:r>
            <a:endParaRPr lang="en-US" sz="134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31</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LA REGLA</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2800" b="1" dirty="0">
                <a:solidFill>
                  <a:srgbClr val="243B53"/>
                </a:solidFill>
                <a:latin typeface="Aptos Display" pitchFamily="34" charset="0"/>
                <a:ea typeface="Aptos Display" pitchFamily="34" charset="-122"/>
                <a:cs typeface="Aptos Display" pitchFamily="34" charset="-120"/>
              </a:rPr>
              <a:t>Un criterio vale cuando puedes señalar quién fijó el umbral</a:t>
            </a:r>
            <a:endParaRPr lang="en-US" sz="28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Y solo hay tres respuestas válidas.</a:t>
            </a:r>
            <a:endParaRPr lang="en-US" sz="1450" dirty="0"/>
          </a:p>
        </p:txBody>
      </p:sp>
      <p:sp>
        <p:nvSpPr>
          <p:cNvPr id="11" name="Shape 8"/>
          <p:cNvSpPr/>
          <p:nvPr/>
        </p:nvSpPr>
        <p:spPr>
          <a:xfrm>
            <a:off x="658368" y="2432304"/>
            <a:ext cx="3401568" cy="1298448"/>
          </a:xfrm>
          <a:prstGeom prst="rect">
            <a:avLst/>
          </a:prstGeom>
          <a:solidFill>
            <a:srgbClr val="FFFFFF"/>
          </a:solidFill>
          <a:ln w="12700">
            <a:solidFill>
              <a:srgbClr val="FFFFFF"/>
            </a:solidFill>
            <a:prstDash val="solid"/>
          </a:ln>
        </p:spPr>
      </p:sp>
      <p:sp>
        <p:nvSpPr>
          <p:cNvPr id="12" name="Shape 9"/>
          <p:cNvSpPr/>
          <p:nvPr/>
        </p:nvSpPr>
        <p:spPr>
          <a:xfrm>
            <a:off x="658368" y="2432304"/>
            <a:ext cx="3401568" cy="54864"/>
          </a:xfrm>
          <a:prstGeom prst="rect">
            <a:avLst/>
          </a:prstGeom>
          <a:solidFill>
            <a:srgbClr val="B3181E"/>
          </a:solidFill>
          <a:ln w="12700">
            <a:solidFill>
              <a:srgbClr val="B3181E"/>
            </a:solidFill>
            <a:prstDash val="solid"/>
          </a:ln>
        </p:spPr>
      </p:sp>
      <p:sp>
        <p:nvSpPr>
          <p:cNvPr id="13" name="Shape 10"/>
          <p:cNvSpPr/>
          <p:nvPr/>
        </p:nvSpPr>
        <p:spPr>
          <a:xfrm>
            <a:off x="877824" y="2596896"/>
            <a:ext cx="310896" cy="310896"/>
          </a:xfrm>
          <a:prstGeom prst="ellipse">
            <a:avLst/>
          </a:prstGeom>
          <a:solidFill>
            <a:srgbClr val="B3181E"/>
          </a:solidFill>
          <a:ln w="12700">
            <a:solidFill>
              <a:srgbClr val="B3181E"/>
            </a:solidFill>
            <a:prstDash val="solid"/>
          </a:ln>
        </p:spPr>
      </p:sp>
      <p:sp>
        <p:nvSpPr>
          <p:cNvPr id="14" name="Text 11"/>
          <p:cNvSpPr txBox="1"/>
          <p:nvPr/>
        </p:nvSpPr>
        <p:spPr>
          <a:xfrm>
            <a:off x="877824" y="2596896"/>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Aptos" pitchFamily="34" charset="0"/>
                <a:ea typeface="Aptos" pitchFamily="34" charset="-122"/>
                <a:cs typeface="Aptos" pitchFamily="34" charset="-120"/>
              </a:rPr>
              <a:t>1</a:t>
            </a:r>
            <a:endParaRPr lang="en-US" sz="1150" dirty="0"/>
          </a:p>
        </p:txBody>
      </p:sp>
      <p:sp>
        <p:nvSpPr>
          <p:cNvPr id="15" name="Text 12"/>
          <p:cNvSpPr txBox="1"/>
          <p:nvPr/>
        </p:nvSpPr>
        <p:spPr>
          <a:xfrm>
            <a:off x="1280160" y="2615184"/>
            <a:ext cx="2560320" cy="457200"/>
          </a:xfrm>
          <a:prstGeom prst="rect">
            <a:avLst/>
          </a:prstGeom>
          <a:noFill/>
          <a:ln/>
        </p:spPr>
        <p:txBody>
          <a:bodyPr wrap="square" lIns="0" tIns="0" rIns="0" bIns="0" rtlCol="0" anchor="t"/>
          <a:lstStyle/>
          <a:p>
            <a:pPr algn="l" indent="0" marL="0">
              <a:lnSpc>
                <a:spcPct val="108000"/>
              </a:lnSpc>
              <a:buNone/>
            </a:pPr>
            <a:r>
              <a:rPr lang="en-US" sz="1280" b="1" dirty="0">
                <a:solidFill>
                  <a:srgbClr val="243B53"/>
                </a:solidFill>
                <a:latin typeface="Aptos" pitchFamily="34" charset="0"/>
                <a:ea typeface="Aptos" pitchFamily="34" charset="-122"/>
                <a:cs typeface="Aptos" pitchFamily="34" charset="-120"/>
              </a:rPr>
              <a:t>Una norma o una ley externa</a:t>
            </a:r>
            <a:endParaRPr lang="en-US" sz="1280" dirty="0"/>
          </a:p>
        </p:txBody>
      </p:sp>
      <p:sp>
        <p:nvSpPr>
          <p:cNvPr id="16" name="Text 13"/>
          <p:cNvSpPr txBox="1"/>
          <p:nvPr/>
        </p:nvSpPr>
        <p:spPr>
          <a:xfrm>
            <a:off x="877824" y="3127248"/>
            <a:ext cx="2926080" cy="256032"/>
          </a:xfrm>
          <a:prstGeom prst="rect">
            <a:avLst/>
          </a:prstGeom>
          <a:noFill/>
          <a:ln/>
        </p:spPr>
        <p:txBody>
          <a:bodyPr wrap="square" lIns="0" tIns="0" rIns="0" bIns="0" rtlCol="0" anchor="t"/>
          <a:lstStyle/>
          <a:p>
            <a:pPr algn="l" indent="0" marL="0">
              <a:buNone/>
            </a:pPr>
            <a:r>
              <a:rPr lang="en-US" sz="1120" dirty="0">
                <a:solidFill>
                  <a:srgbClr val="52606D"/>
                </a:solidFill>
                <a:latin typeface="Aptos" pitchFamily="34" charset="0"/>
                <a:ea typeface="Aptos" pitchFamily="34" charset="-122"/>
                <a:cs typeface="Aptos" pitchFamily="34" charset="-120"/>
              </a:rPr>
              <a:t>No es negociable ni es tuyo.</a:t>
            </a:r>
            <a:endParaRPr lang="en-US" sz="1120" dirty="0"/>
          </a:p>
        </p:txBody>
      </p:sp>
      <p:sp>
        <p:nvSpPr>
          <p:cNvPr id="17" name="Shape 14"/>
          <p:cNvSpPr/>
          <p:nvPr/>
        </p:nvSpPr>
        <p:spPr>
          <a:xfrm>
            <a:off x="877824" y="3383280"/>
            <a:ext cx="2926080" cy="256032"/>
          </a:xfrm>
          <a:prstGeom prst="rect">
            <a:avLst/>
          </a:prstGeom>
          <a:solidFill>
            <a:srgbClr val="F2E7D9"/>
          </a:solidFill>
          <a:ln w="12700">
            <a:solidFill>
              <a:srgbClr val="F2E7D9"/>
            </a:solidFill>
            <a:prstDash val="solid"/>
          </a:ln>
        </p:spPr>
      </p:sp>
      <p:sp>
        <p:nvSpPr>
          <p:cNvPr id="18" name="Text 15"/>
          <p:cNvSpPr txBox="1"/>
          <p:nvPr/>
        </p:nvSpPr>
        <p:spPr>
          <a:xfrm>
            <a:off x="987552" y="3419856"/>
            <a:ext cx="2706624" cy="201168"/>
          </a:xfrm>
          <a:prstGeom prst="rect">
            <a:avLst/>
          </a:prstGeom>
          <a:noFill/>
          <a:ln/>
        </p:spPr>
        <p:txBody>
          <a:bodyPr wrap="square" lIns="0" tIns="0" rIns="0" bIns="0" rtlCol="0" anchor="t"/>
          <a:lstStyle/>
          <a:p>
            <a:pPr algn="l" indent="0" marL="0">
              <a:buNone/>
            </a:pPr>
            <a:r>
              <a:rPr lang="en-US" sz="1040" i="1" dirty="0">
                <a:solidFill>
                  <a:srgbClr val="B3181E"/>
                </a:solidFill>
                <a:latin typeface="Aptos" pitchFamily="34" charset="0"/>
                <a:ea typeface="Aptos" pitchFamily="34" charset="-122"/>
                <a:cs typeface="Aptos" pitchFamily="34" charset="-120"/>
              </a:rPr>
              <a:t>cero RUT expuestos</a:t>
            </a:r>
            <a:endParaRPr lang="en-US" sz="1040" dirty="0"/>
          </a:p>
        </p:txBody>
      </p:sp>
      <p:sp>
        <p:nvSpPr>
          <p:cNvPr id="19" name="Shape 16"/>
          <p:cNvSpPr/>
          <p:nvPr/>
        </p:nvSpPr>
        <p:spPr>
          <a:xfrm>
            <a:off x="4334256" y="2432304"/>
            <a:ext cx="3401568" cy="1298448"/>
          </a:xfrm>
          <a:prstGeom prst="rect">
            <a:avLst/>
          </a:prstGeom>
          <a:solidFill>
            <a:srgbClr val="FFFFFF"/>
          </a:solidFill>
          <a:ln w="12700">
            <a:solidFill>
              <a:srgbClr val="FFFFFF"/>
            </a:solidFill>
            <a:prstDash val="solid"/>
          </a:ln>
        </p:spPr>
      </p:sp>
      <p:sp>
        <p:nvSpPr>
          <p:cNvPr id="20" name="Shape 17"/>
          <p:cNvSpPr/>
          <p:nvPr/>
        </p:nvSpPr>
        <p:spPr>
          <a:xfrm>
            <a:off x="4334256" y="2432304"/>
            <a:ext cx="3401568" cy="54864"/>
          </a:xfrm>
          <a:prstGeom prst="rect">
            <a:avLst/>
          </a:prstGeom>
          <a:solidFill>
            <a:srgbClr val="102A43"/>
          </a:solidFill>
          <a:ln w="12700">
            <a:solidFill>
              <a:srgbClr val="102A43"/>
            </a:solidFill>
            <a:prstDash val="solid"/>
          </a:ln>
        </p:spPr>
      </p:sp>
      <p:sp>
        <p:nvSpPr>
          <p:cNvPr id="21" name="Shape 18"/>
          <p:cNvSpPr/>
          <p:nvPr/>
        </p:nvSpPr>
        <p:spPr>
          <a:xfrm>
            <a:off x="4553712" y="2596896"/>
            <a:ext cx="310896" cy="310896"/>
          </a:xfrm>
          <a:prstGeom prst="ellipse">
            <a:avLst/>
          </a:prstGeom>
          <a:solidFill>
            <a:srgbClr val="102A43"/>
          </a:solidFill>
          <a:ln w="12700">
            <a:solidFill>
              <a:srgbClr val="102A43"/>
            </a:solidFill>
            <a:prstDash val="solid"/>
          </a:ln>
        </p:spPr>
      </p:sp>
      <p:sp>
        <p:nvSpPr>
          <p:cNvPr id="22" name="Text 19"/>
          <p:cNvSpPr txBox="1"/>
          <p:nvPr/>
        </p:nvSpPr>
        <p:spPr>
          <a:xfrm>
            <a:off x="4553712" y="2596896"/>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Aptos" pitchFamily="34" charset="0"/>
                <a:ea typeface="Aptos" pitchFamily="34" charset="-122"/>
                <a:cs typeface="Aptos" pitchFamily="34" charset="-120"/>
              </a:rPr>
              <a:t>2</a:t>
            </a:r>
            <a:endParaRPr lang="en-US" sz="1150" dirty="0"/>
          </a:p>
        </p:txBody>
      </p:sp>
      <p:sp>
        <p:nvSpPr>
          <p:cNvPr id="23" name="Text 20"/>
          <p:cNvSpPr txBox="1"/>
          <p:nvPr/>
        </p:nvSpPr>
        <p:spPr>
          <a:xfrm>
            <a:off x="4956048" y="2615184"/>
            <a:ext cx="2560320" cy="457200"/>
          </a:xfrm>
          <a:prstGeom prst="rect">
            <a:avLst/>
          </a:prstGeom>
          <a:noFill/>
          <a:ln/>
        </p:spPr>
        <p:txBody>
          <a:bodyPr wrap="square" lIns="0" tIns="0" rIns="0" bIns="0" rtlCol="0" anchor="t"/>
          <a:lstStyle/>
          <a:p>
            <a:pPr algn="l" indent="0" marL="0">
              <a:lnSpc>
                <a:spcPct val="108000"/>
              </a:lnSpc>
              <a:buNone/>
            </a:pPr>
            <a:r>
              <a:rPr lang="en-US" sz="1280" b="1" dirty="0">
                <a:solidFill>
                  <a:srgbClr val="243B53"/>
                </a:solidFill>
                <a:latin typeface="Aptos" pitchFamily="34" charset="0"/>
                <a:ea typeface="Aptos" pitchFamily="34" charset="-122"/>
                <a:cs typeface="Aptos" pitchFamily="34" charset="-120"/>
              </a:rPr>
              <a:t>Alguien con autoridad sobre el producto</a:t>
            </a:r>
            <a:endParaRPr lang="en-US" sz="1280" dirty="0"/>
          </a:p>
        </p:txBody>
      </p:sp>
      <p:sp>
        <p:nvSpPr>
          <p:cNvPr id="24" name="Text 21"/>
          <p:cNvSpPr txBox="1"/>
          <p:nvPr/>
        </p:nvSpPr>
        <p:spPr>
          <a:xfrm>
            <a:off x="4553712" y="3127248"/>
            <a:ext cx="2926080" cy="256032"/>
          </a:xfrm>
          <a:prstGeom prst="rect">
            <a:avLst/>
          </a:prstGeom>
          <a:noFill/>
          <a:ln/>
        </p:spPr>
        <p:txBody>
          <a:bodyPr wrap="square" lIns="0" tIns="0" rIns="0" bIns="0" rtlCol="0" anchor="t"/>
          <a:lstStyle/>
          <a:p>
            <a:pPr algn="l" indent="0" marL="0">
              <a:buNone/>
            </a:pPr>
            <a:r>
              <a:rPr lang="en-US" sz="1120" dirty="0">
                <a:solidFill>
                  <a:srgbClr val="52606D"/>
                </a:solidFill>
                <a:latin typeface="Aptos" pitchFamily="34" charset="0"/>
                <a:ea typeface="Aptos" pitchFamily="34" charset="-122"/>
                <a:cs typeface="Aptos" pitchFamily="34" charset="-120"/>
              </a:rPr>
              <a:t>Lo decidió una persona, y quedó escrito.</a:t>
            </a:r>
            <a:endParaRPr lang="en-US" sz="1120" dirty="0"/>
          </a:p>
        </p:txBody>
      </p:sp>
      <p:sp>
        <p:nvSpPr>
          <p:cNvPr id="25" name="Shape 22"/>
          <p:cNvSpPr/>
          <p:nvPr/>
        </p:nvSpPr>
        <p:spPr>
          <a:xfrm>
            <a:off x="4553712" y="3383280"/>
            <a:ext cx="2926080" cy="256032"/>
          </a:xfrm>
          <a:prstGeom prst="rect">
            <a:avLst/>
          </a:prstGeom>
          <a:solidFill>
            <a:srgbClr val="F2E7D9"/>
          </a:solidFill>
          <a:ln w="12700">
            <a:solidFill>
              <a:srgbClr val="F2E7D9"/>
            </a:solidFill>
            <a:prstDash val="solid"/>
          </a:ln>
        </p:spPr>
      </p:sp>
      <p:sp>
        <p:nvSpPr>
          <p:cNvPr id="26" name="Text 23"/>
          <p:cNvSpPr txBox="1"/>
          <p:nvPr/>
        </p:nvSpPr>
        <p:spPr>
          <a:xfrm>
            <a:off x="4663440" y="3419856"/>
            <a:ext cx="2706624" cy="201168"/>
          </a:xfrm>
          <a:prstGeom prst="rect">
            <a:avLst/>
          </a:prstGeom>
          <a:noFill/>
          <a:ln/>
        </p:spPr>
        <p:txBody>
          <a:bodyPr wrap="square" lIns="0" tIns="0" rIns="0" bIns="0" rtlCol="0" anchor="t"/>
          <a:lstStyle/>
          <a:p>
            <a:pPr algn="l" indent="0" marL="0">
              <a:buNone/>
            </a:pPr>
            <a:r>
              <a:rPr lang="en-US" sz="1040" i="1" dirty="0">
                <a:solidFill>
                  <a:srgbClr val="102A43"/>
                </a:solidFill>
                <a:latin typeface="Aptos" pitchFamily="34" charset="0"/>
                <a:ea typeface="Aptos" pitchFamily="34" charset="-122"/>
                <a:cs typeface="Aptos" pitchFamily="34" charset="-120"/>
              </a:rPr>
              <a:t>nota 4,0 · asistencia 70 %</a:t>
            </a:r>
            <a:endParaRPr lang="en-US" sz="1040" dirty="0"/>
          </a:p>
        </p:txBody>
      </p:sp>
      <p:sp>
        <p:nvSpPr>
          <p:cNvPr id="27" name="Shape 24"/>
          <p:cNvSpPr/>
          <p:nvPr/>
        </p:nvSpPr>
        <p:spPr>
          <a:xfrm>
            <a:off x="8010144" y="2432304"/>
            <a:ext cx="3401568" cy="1298448"/>
          </a:xfrm>
          <a:prstGeom prst="rect">
            <a:avLst/>
          </a:prstGeom>
          <a:solidFill>
            <a:srgbClr val="FFFFFF"/>
          </a:solidFill>
          <a:ln w="12700">
            <a:solidFill>
              <a:srgbClr val="FFFFFF"/>
            </a:solidFill>
            <a:prstDash val="solid"/>
          </a:ln>
        </p:spPr>
      </p:sp>
      <p:sp>
        <p:nvSpPr>
          <p:cNvPr id="28" name="Shape 25"/>
          <p:cNvSpPr/>
          <p:nvPr/>
        </p:nvSpPr>
        <p:spPr>
          <a:xfrm>
            <a:off x="8010144" y="2432304"/>
            <a:ext cx="3401568" cy="54864"/>
          </a:xfrm>
          <a:prstGeom prst="rect">
            <a:avLst/>
          </a:prstGeom>
          <a:solidFill>
            <a:srgbClr val="255A4C"/>
          </a:solidFill>
          <a:ln w="12700">
            <a:solidFill>
              <a:srgbClr val="255A4C"/>
            </a:solidFill>
            <a:prstDash val="solid"/>
          </a:ln>
        </p:spPr>
      </p:sp>
      <p:sp>
        <p:nvSpPr>
          <p:cNvPr id="29" name="Shape 26"/>
          <p:cNvSpPr/>
          <p:nvPr/>
        </p:nvSpPr>
        <p:spPr>
          <a:xfrm>
            <a:off x="8229600" y="2596896"/>
            <a:ext cx="310896" cy="310896"/>
          </a:xfrm>
          <a:prstGeom prst="ellipse">
            <a:avLst/>
          </a:prstGeom>
          <a:solidFill>
            <a:srgbClr val="255A4C"/>
          </a:solidFill>
          <a:ln w="12700">
            <a:solidFill>
              <a:srgbClr val="255A4C"/>
            </a:solidFill>
            <a:prstDash val="solid"/>
          </a:ln>
        </p:spPr>
      </p:sp>
      <p:sp>
        <p:nvSpPr>
          <p:cNvPr id="30" name="Text 27"/>
          <p:cNvSpPr txBox="1"/>
          <p:nvPr/>
        </p:nvSpPr>
        <p:spPr>
          <a:xfrm>
            <a:off x="8229600" y="2596896"/>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Aptos" pitchFamily="34" charset="0"/>
                <a:ea typeface="Aptos" pitchFamily="34" charset="-122"/>
                <a:cs typeface="Aptos" pitchFamily="34" charset="-120"/>
              </a:rPr>
              <a:t>3</a:t>
            </a:r>
            <a:endParaRPr lang="en-US" sz="1150" dirty="0"/>
          </a:p>
        </p:txBody>
      </p:sp>
      <p:sp>
        <p:nvSpPr>
          <p:cNvPr id="31" name="Text 28"/>
          <p:cNvSpPr txBox="1"/>
          <p:nvPr/>
        </p:nvSpPr>
        <p:spPr>
          <a:xfrm>
            <a:off x="8631936" y="2615184"/>
            <a:ext cx="2560320" cy="457200"/>
          </a:xfrm>
          <a:prstGeom prst="rect">
            <a:avLst/>
          </a:prstGeom>
          <a:noFill/>
          <a:ln/>
        </p:spPr>
        <p:txBody>
          <a:bodyPr wrap="square" lIns="0" tIns="0" rIns="0" bIns="0" rtlCol="0" anchor="t"/>
          <a:lstStyle/>
          <a:p>
            <a:pPr algn="l" indent="0" marL="0">
              <a:lnSpc>
                <a:spcPct val="108000"/>
              </a:lnSpc>
              <a:buNone/>
            </a:pPr>
            <a:r>
              <a:rPr lang="en-US" sz="1280" b="1" dirty="0">
                <a:solidFill>
                  <a:srgbClr val="243B53"/>
                </a:solidFill>
                <a:latin typeface="Aptos" pitchFamily="34" charset="0"/>
                <a:ea typeface="Aptos" pitchFamily="34" charset="-122"/>
                <a:cs typeface="Aptos" pitchFamily="34" charset="-120"/>
              </a:rPr>
              <a:t>La propia característica</a:t>
            </a:r>
            <a:endParaRPr lang="en-US" sz="1280" dirty="0"/>
          </a:p>
        </p:txBody>
      </p:sp>
      <p:sp>
        <p:nvSpPr>
          <p:cNvPr id="32" name="Text 29"/>
          <p:cNvSpPr txBox="1"/>
          <p:nvPr/>
        </p:nvSpPr>
        <p:spPr>
          <a:xfrm>
            <a:off x="8229600" y="3127248"/>
            <a:ext cx="2926080" cy="256032"/>
          </a:xfrm>
          <a:prstGeom prst="rect">
            <a:avLst/>
          </a:prstGeom>
          <a:noFill/>
          <a:ln/>
        </p:spPr>
        <p:txBody>
          <a:bodyPr wrap="square" lIns="0" tIns="0" rIns="0" bIns="0" rtlCol="0" anchor="t"/>
          <a:lstStyle/>
          <a:p>
            <a:pPr algn="l" indent="0" marL="0">
              <a:buNone/>
            </a:pPr>
            <a:r>
              <a:rPr lang="en-US" sz="1120" dirty="0">
                <a:solidFill>
                  <a:srgbClr val="52606D"/>
                </a:solidFill>
                <a:latin typeface="Aptos" pitchFamily="34" charset="0"/>
                <a:ea typeface="Aptos" pitchFamily="34" charset="-122"/>
                <a:cs typeface="Aptos" pitchFamily="34" charset="-120"/>
              </a:rPr>
              <a:t>El umbral se sigue del significado.</a:t>
            </a:r>
            <a:endParaRPr lang="en-US" sz="1120" dirty="0"/>
          </a:p>
        </p:txBody>
      </p:sp>
      <p:sp>
        <p:nvSpPr>
          <p:cNvPr id="33" name="Shape 30"/>
          <p:cNvSpPr/>
          <p:nvPr/>
        </p:nvSpPr>
        <p:spPr>
          <a:xfrm>
            <a:off x="8229600" y="3383280"/>
            <a:ext cx="2926080" cy="256032"/>
          </a:xfrm>
          <a:prstGeom prst="rect">
            <a:avLst/>
          </a:prstGeom>
          <a:solidFill>
            <a:srgbClr val="F2E7D9"/>
          </a:solidFill>
          <a:ln w="12700">
            <a:solidFill>
              <a:srgbClr val="F2E7D9"/>
            </a:solidFill>
            <a:prstDash val="solid"/>
          </a:ln>
        </p:spPr>
      </p:sp>
      <p:sp>
        <p:nvSpPr>
          <p:cNvPr id="34" name="Text 31"/>
          <p:cNvSpPr txBox="1"/>
          <p:nvPr/>
        </p:nvSpPr>
        <p:spPr>
          <a:xfrm>
            <a:off x="8339328" y="3419856"/>
            <a:ext cx="2706624" cy="201168"/>
          </a:xfrm>
          <a:prstGeom prst="rect">
            <a:avLst/>
          </a:prstGeom>
          <a:noFill/>
          <a:ln/>
        </p:spPr>
        <p:txBody>
          <a:bodyPr wrap="square" lIns="0" tIns="0" rIns="0" bIns="0" rtlCol="0" anchor="t"/>
          <a:lstStyle/>
          <a:p>
            <a:pPr algn="l" indent="0" marL="0">
              <a:buNone/>
            </a:pPr>
            <a:r>
              <a:rPr lang="en-US" sz="1040" i="1" dirty="0">
                <a:solidFill>
                  <a:srgbClr val="255A4C"/>
                </a:solidFill>
                <a:latin typeface="Aptos" pitchFamily="34" charset="0"/>
                <a:ea typeface="Aptos" pitchFamily="34" charset="-122"/>
                <a:cs typeface="Aptos" pitchFamily="34" charset="-120"/>
              </a:rPr>
              <a:t>confidencialidad ⇒ no se expone</a:t>
            </a:r>
            <a:endParaRPr lang="en-US" sz="1040" dirty="0"/>
          </a:p>
        </p:txBody>
      </p:sp>
      <p:sp>
        <p:nvSpPr>
          <p:cNvPr id="35" name="Text 32"/>
          <p:cNvSpPr txBox="1"/>
          <p:nvPr/>
        </p:nvSpPr>
        <p:spPr>
          <a:xfrm>
            <a:off x="658368" y="3877056"/>
            <a:ext cx="10874959" cy="256032"/>
          </a:xfrm>
          <a:prstGeom prst="rect">
            <a:avLst/>
          </a:prstGeom>
          <a:noFill/>
          <a:ln/>
        </p:spPr>
        <p:txBody>
          <a:bodyPr wrap="square" lIns="0" tIns="0" rIns="0" bIns="0" rtlCol="0" anchor="t"/>
          <a:lstStyle/>
          <a:p>
            <a:pPr algn="l" indent="0" marL="0">
              <a:buNone/>
            </a:pPr>
            <a:r>
              <a:rPr lang="en-US" sz="1300" dirty="0">
                <a:solidFill>
                  <a:srgbClr val="52606D"/>
                </a:solidFill>
                <a:latin typeface="Aptos" pitchFamily="34" charset="0"/>
                <a:ea typeface="Aptos" pitchFamily="34" charset="-122"/>
                <a:cs typeface="Aptos" pitchFamily="34" charset="-120"/>
              </a:rPr>
              <a:t>Si no cae en ninguna de las tres, no es un criterio: es una sugerencia bien redactada. Aplicada a la tabla del agente:</a:t>
            </a:r>
            <a:endParaRPr lang="en-US" sz="1300" dirty="0"/>
          </a:p>
        </p:txBody>
      </p:sp>
      <p:sp>
        <p:nvSpPr>
          <p:cNvPr id="36" name="Text 33"/>
          <p:cNvSpPr txBox="1"/>
          <p:nvPr/>
        </p:nvSpPr>
        <p:spPr>
          <a:xfrm>
            <a:off x="658368" y="4224528"/>
            <a:ext cx="2743200" cy="201168"/>
          </a:xfrm>
          <a:prstGeom prst="rect">
            <a:avLst/>
          </a:prstGeom>
          <a:noFill/>
          <a:ln/>
        </p:spPr>
        <p:txBody>
          <a:bodyPr wrap="square" lIns="0" tIns="0" rIns="0" bIns="0" rtlCol="0" anchor="t"/>
          <a:lstStyle/>
          <a:p>
            <a:pPr algn="l" indent="0" marL="0">
              <a:buNone/>
            </a:pPr>
            <a:r>
              <a:rPr lang="en-US" sz="960" b="1" spc="130" kern="0" dirty="0">
                <a:solidFill>
                  <a:srgbClr val="52606D"/>
                </a:solidFill>
                <a:latin typeface="Aptos" pitchFamily="34" charset="0"/>
                <a:ea typeface="Aptos" pitchFamily="34" charset="-122"/>
                <a:cs typeface="Aptos" pitchFamily="34" charset="-120"/>
              </a:rPr>
              <a:t>CRITERIO</a:t>
            </a:r>
            <a:endParaRPr lang="en-US" sz="960" dirty="0"/>
          </a:p>
        </p:txBody>
      </p:sp>
      <p:sp>
        <p:nvSpPr>
          <p:cNvPr id="37" name="Text 34"/>
          <p:cNvSpPr txBox="1"/>
          <p:nvPr/>
        </p:nvSpPr>
        <p:spPr>
          <a:xfrm>
            <a:off x="4206240" y="4224528"/>
            <a:ext cx="3291840" cy="201168"/>
          </a:xfrm>
          <a:prstGeom prst="rect">
            <a:avLst/>
          </a:prstGeom>
          <a:noFill/>
          <a:ln/>
        </p:spPr>
        <p:txBody>
          <a:bodyPr wrap="square" lIns="0" tIns="0" rIns="0" bIns="0" rtlCol="0" anchor="t"/>
          <a:lstStyle/>
          <a:p>
            <a:pPr algn="l" indent="0" marL="0">
              <a:buNone/>
            </a:pPr>
            <a:r>
              <a:rPr lang="en-US" sz="960" b="1" spc="130" kern="0" dirty="0">
                <a:solidFill>
                  <a:srgbClr val="52606D"/>
                </a:solidFill>
                <a:latin typeface="Aptos" pitchFamily="34" charset="0"/>
                <a:ea typeface="Aptos" pitchFamily="34" charset="-122"/>
                <a:cs typeface="Aptos" pitchFamily="34" charset="-120"/>
              </a:rPr>
              <a:t>¿QUIÉN FIJÓ EL UMBRAL?</a:t>
            </a:r>
            <a:endParaRPr lang="en-US" sz="960" dirty="0"/>
          </a:p>
        </p:txBody>
      </p:sp>
      <p:sp>
        <p:nvSpPr>
          <p:cNvPr id="38" name="Text 35"/>
          <p:cNvSpPr txBox="1"/>
          <p:nvPr/>
        </p:nvSpPr>
        <p:spPr>
          <a:xfrm>
            <a:off x="8778240" y="4224528"/>
            <a:ext cx="1828800" cy="201168"/>
          </a:xfrm>
          <a:prstGeom prst="rect">
            <a:avLst/>
          </a:prstGeom>
          <a:noFill/>
          <a:ln/>
        </p:spPr>
        <p:txBody>
          <a:bodyPr wrap="square" lIns="0" tIns="0" rIns="0" bIns="0" rtlCol="0" anchor="t"/>
          <a:lstStyle/>
          <a:p>
            <a:pPr algn="l" indent="0" marL="0">
              <a:buNone/>
            </a:pPr>
            <a:r>
              <a:rPr lang="en-US" sz="960" b="1" spc="130" kern="0" dirty="0">
                <a:solidFill>
                  <a:srgbClr val="52606D"/>
                </a:solidFill>
                <a:latin typeface="Aptos" pitchFamily="34" charset="0"/>
                <a:ea typeface="Aptos" pitchFamily="34" charset="-122"/>
                <a:cs typeface="Aptos" pitchFamily="34" charset="-120"/>
              </a:rPr>
              <a:t>VEREDICTO</a:t>
            </a:r>
            <a:endParaRPr lang="en-US" sz="960" dirty="0"/>
          </a:p>
        </p:txBody>
      </p:sp>
      <p:sp>
        <p:nvSpPr>
          <p:cNvPr id="39" name="Shape 36"/>
          <p:cNvSpPr/>
          <p:nvPr/>
        </p:nvSpPr>
        <p:spPr>
          <a:xfrm>
            <a:off x="658368" y="4480560"/>
            <a:ext cx="10874959" cy="329184"/>
          </a:xfrm>
          <a:prstGeom prst="rect">
            <a:avLst/>
          </a:prstGeom>
          <a:solidFill>
            <a:srgbClr val="FFFFFF"/>
          </a:solidFill>
          <a:ln w="12700">
            <a:solidFill>
              <a:srgbClr val="FFFFFF"/>
            </a:solidFill>
            <a:prstDash val="solid"/>
          </a:ln>
        </p:spPr>
      </p:sp>
      <p:sp>
        <p:nvSpPr>
          <p:cNvPr id="40" name="Text 37"/>
          <p:cNvSpPr txBox="1"/>
          <p:nvPr/>
        </p:nvSpPr>
        <p:spPr>
          <a:xfrm>
            <a:off x="804672" y="4544568"/>
            <a:ext cx="3291840" cy="219456"/>
          </a:xfrm>
          <a:prstGeom prst="rect">
            <a:avLst/>
          </a:prstGeom>
          <a:noFill/>
          <a:ln/>
        </p:spPr>
        <p:txBody>
          <a:bodyPr wrap="square" lIns="0" tIns="0" rIns="0" bIns="0" rtlCol="0" anchor="t"/>
          <a:lstStyle/>
          <a:p>
            <a:pPr algn="l" indent="0" marL="0">
              <a:buNone/>
            </a:pPr>
            <a:r>
              <a:rPr lang="en-US" sz="1140" b="1" dirty="0">
                <a:solidFill>
                  <a:srgbClr val="243B53"/>
                </a:solidFill>
                <a:latin typeface="Aptos" pitchFamily="34" charset="0"/>
                <a:ea typeface="Aptos" pitchFamily="34" charset="-122"/>
                <a:cs typeface="Aptos" pitchFamily="34" charset="-120"/>
              </a:rPr>
              <a:t>S1 · RUT no expuesto</a:t>
            </a:r>
            <a:endParaRPr lang="en-US" sz="1140" dirty="0"/>
          </a:p>
        </p:txBody>
      </p:sp>
      <p:sp>
        <p:nvSpPr>
          <p:cNvPr id="41" name="Text 38"/>
          <p:cNvSpPr txBox="1"/>
          <p:nvPr/>
        </p:nvSpPr>
        <p:spPr>
          <a:xfrm>
            <a:off x="4206240" y="4544568"/>
            <a:ext cx="4389120" cy="219456"/>
          </a:xfrm>
          <a:prstGeom prst="rect">
            <a:avLst/>
          </a:prstGeom>
          <a:noFill/>
          <a:ln/>
        </p:spPr>
        <p:txBody>
          <a:bodyPr wrap="square" lIns="0" tIns="0" rIns="0" bIns="0" rtlCol="0" anchor="t"/>
          <a:lstStyle/>
          <a:p>
            <a:pPr algn="l" indent="0" marL="0">
              <a:buNone/>
            </a:pPr>
            <a:r>
              <a:rPr lang="en-US" sz="1120" dirty="0">
                <a:solidFill>
                  <a:srgbClr val="52606D"/>
                </a:solidFill>
                <a:latin typeface="Aptos" pitchFamily="34" charset="0"/>
                <a:ea typeface="Aptos" pitchFamily="34" charset="-122"/>
                <a:cs typeface="Aptos" pitchFamily="34" charset="-120"/>
              </a:rPr>
              <a:t>la ley de protección de datos</a:t>
            </a:r>
            <a:endParaRPr lang="en-US" sz="1120" dirty="0"/>
          </a:p>
        </p:txBody>
      </p:sp>
      <p:sp>
        <p:nvSpPr>
          <p:cNvPr id="42" name="Shape 39"/>
          <p:cNvSpPr/>
          <p:nvPr/>
        </p:nvSpPr>
        <p:spPr>
          <a:xfrm>
            <a:off x="8778240" y="4517136"/>
            <a:ext cx="1463040" cy="256032"/>
          </a:xfrm>
          <a:prstGeom prst="rect">
            <a:avLst/>
          </a:prstGeom>
          <a:solidFill>
            <a:srgbClr val="B3181E"/>
          </a:solidFill>
          <a:ln w="12700">
            <a:solidFill>
              <a:srgbClr val="B3181E"/>
            </a:solidFill>
            <a:prstDash val="solid"/>
          </a:ln>
        </p:spPr>
      </p:sp>
      <p:sp>
        <p:nvSpPr>
          <p:cNvPr id="43" name="Text 40"/>
          <p:cNvSpPr txBox="1"/>
          <p:nvPr/>
        </p:nvSpPr>
        <p:spPr>
          <a:xfrm>
            <a:off x="8778240" y="4535424"/>
            <a:ext cx="1463040" cy="219456"/>
          </a:xfrm>
          <a:prstGeom prst="rect">
            <a:avLst/>
          </a:prstGeom>
          <a:noFill/>
          <a:ln/>
        </p:spPr>
        <p:txBody>
          <a:bodyPr wrap="square" lIns="0" tIns="0" rIns="0" bIns="0" rtlCol="0" anchor="t"/>
          <a:lstStyle/>
          <a:p>
            <a:pPr algn="ctr" indent="0" marL="0">
              <a:buNone/>
            </a:pPr>
            <a:r>
              <a:rPr lang="en-US" sz="1040" b="1" dirty="0">
                <a:solidFill>
                  <a:srgbClr val="FFFFFF"/>
                </a:solidFill>
                <a:latin typeface="Aptos" pitchFamily="34" charset="0"/>
                <a:ea typeface="Aptos" pitchFamily="34" charset="-122"/>
                <a:cs typeface="Aptos" pitchFamily="34" charset="-120"/>
              </a:rPr>
              <a:t>Criterio</a:t>
            </a:r>
            <a:endParaRPr lang="en-US" sz="1040" dirty="0"/>
          </a:p>
        </p:txBody>
      </p:sp>
      <p:sp>
        <p:nvSpPr>
          <p:cNvPr id="44" name="Text 41"/>
          <p:cNvSpPr txBox="1"/>
          <p:nvPr/>
        </p:nvSpPr>
        <p:spPr>
          <a:xfrm>
            <a:off x="804672" y="4910328"/>
            <a:ext cx="3291840" cy="219456"/>
          </a:xfrm>
          <a:prstGeom prst="rect">
            <a:avLst/>
          </a:prstGeom>
          <a:noFill/>
          <a:ln/>
        </p:spPr>
        <p:txBody>
          <a:bodyPr wrap="square" lIns="0" tIns="0" rIns="0" bIns="0" rtlCol="0" anchor="t"/>
          <a:lstStyle/>
          <a:p>
            <a:pPr algn="l" indent="0" marL="0">
              <a:buNone/>
            </a:pPr>
            <a:r>
              <a:rPr lang="en-US" sz="1140" dirty="0">
                <a:solidFill>
                  <a:srgbClr val="243B53"/>
                </a:solidFill>
                <a:latin typeface="Aptos" pitchFamily="34" charset="0"/>
                <a:ea typeface="Aptos" pitchFamily="34" charset="-122"/>
                <a:cs typeface="Aptos" pitchFamily="34" charset="-120"/>
              </a:rPr>
              <a:t>S2 · notas fuera de 1,0 a 7,0</a:t>
            </a:r>
            <a:endParaRPr lang="en-US" sz="1140" dirty="0"/>
          </a:p>
        </p:txBody>
      </p:sp>
      <p:sp>
        <p:nvSpPr>
          <p:cNvPr id="45" name="Text 42"/>
          <p:cNvSpPr txBox="1"/>
          <p:nvPr/>
        </p:nvSpPr>
        <p:spPr>
          <a:xfrm>
            <a:off x="4206240" y="4910328"/>
            <a:ext cx="4389120" cy="219456"/>
          </a:xfrm>
          <a:prstGeom prst="rect">
            <a:avLst/>
          </a:prstGeom>
          <a:noFill/>
          <a:ln/>
        </p:spPr>
        <p:txBody>
          <a:bodyPr wrap="square" lIns="0" tIns="0" rIns="0" bIns="0" rtlCol="0" anchor="t"/>
          <a:lstStyle/>
          <a:p>
            <a:pPr algn="l" indent="0" marL="0">
              <a:buNone/>
            </a:pPr>
            <a:r>
              <a:rPr lang="en-US" sz="1120" dirty="0">
                <a:solidFill>
                  <a:srgbClr val="52606D"/>
                </a:solidFill>
                <a:latin typeface="Aptos" pitchFamily="34" charset="0"/>
                <a:ea typeface="Aptos" pitchFamily="34" charset="-122"/>
                <a:cs typeface="Aptos" pitchFamily="34" charset="-120"/>
              </a:rPr>
              <a:t>nadie todavía: el rango no está escrito</a:t>
            </a:r>
            <a:endParaRPr lang="en-US" sz="1120" dirty="0"/>
          </a:p>
        </p:txBody>
      </p:sp>
      <p:sp>
        <p:nvSpPr>
          <p:cNvPr id="46" name="Shape 43"/>
          <p:cNvSpPr/>
          <p:nvPr/>
        </p:nvSpPr>
        <p:spPr>
          <a:xfrm>
            <a:off x="8778240" y="4882896"/>
            <a:ext cx="1463040" cy="256032"/>
          </a:xfrm>
          <a:prstGeom prst="rect">
            <a:avLst/>
          </a:prstGeom>
          <a:solidFill>
            <a:srgbClr val="8A6A12"/>
          </a:solidFill>
          <a:ln w="12700">
            <a:solidFill>
              <a:srgbClr val="8A6A12"/>
            </a:solidFill>
            <a:prstDash val="solid"/>
          </a:ln>
        </p:spPr>
      </p:sp>
      <p:sp>
        <p:nvSpPr>
          <p:cNvPr id="47" name="Text 44"/>
          <p:cNvSpPr txBox="1"/>
          <p:nvPr/>
        </p:nvSpPr>
        <p:spPr>
          <a:xfrm>
            <a:off x="8778240" y="4901184"/>
            <a:ext cx="1463040" cy="219456"/>
          </a:xfrm>
          <a:prstGeom prst="rect">
            <a:avLst/>
          </a:prstGeom>
          <a:noFill/>
          <a:ln/>
        </p:spPr>
        <p:txBody>
          <a:bodyPr wrap="square" lIns="0" tIns="0" rIns="0" bIns="0" rtlCol="0" anchor="t"/>
          <a:lstStyle/>
          <a:p>
            <a:pPr algn="ctr" indent="0" marL="0">
              <a:buNone/>
            </a:pPr>
            <a:r>
              <a:rPr lang="en-US" sz="1040" b="1" dirty="0">
                <a:solidFill>
                  <a:srgbClr val="FFFFFF"/>
                </a:solidFill>
                <a:latin typeface="Aptos" pitchFamily="34" charset="0"/>
                <a:ea typeface="Aptos" pitchFamily="34" charset="-122"/>
                <a:cs typeface="Aptos" pitchFamily="34" charset="-120"/>
              </a:rPr>
              <a:t>Sugerencia</a:t>
            </a:r>
            <a:endParaRPr lang="en-US" sz="1040" dirty="0"/>
          </a:p>
        </p:txBody>
      </p:sp>
      <p:sp>
        <p:nvSpPr>
          <p:cNvPr id="48" name="Shape 45"/>
          <p:cNvSpPr/>
          <p:nvPr/>
        </p:nvSpPr>
        <p:spPr>
          <a:xfrm>
            <a:off x="658368" y="5212080"/>
            <a:ext cx="10874959" cy="329184"/>
          </a:xfrm>
          <a:prstGeom prst="rect">
            <a:avLst/>
          </a:prstGeom>
          <a:solidFill>
            <a:srgbClr val="FFFFFF"/>
          </a:solidFill>
          <a:ln w="12700">
            <a:solidFill>
              <a:srgbClr val="FFFFFF"/>
            </a:solidFill>
            <a:prstDash val="solid"/>
          </a:ln>
        </p:spPr>
      </p:sp>
      <p:sp>
        <p:nvSpPr>
          <p:cNvPr id="49" name="Text 46"/>
          <p:cNvSpPr txBox="1"/>
          <p:nvPr/>
        </p:nvSpPr>
        <p:spPr>
          <a:xfrm>
            <a:off x="804672" y="5276088"/>
            <a:ext cx="3291840" cy="219456"/>
          </a:xfrm>
          <a:prstGeom prst="rect">
            <a:avLst/>
          </a:prstGeom>
          <a:noFill/>
          <a:ln/>
        </p:spPr>
        <p:txBody>
          <a:bodyPr wrap="square" lIns="0" tIns="0" rIns="0" bIns="0" rtlCol="0" anchor="t"/>
          <a:lstStyle/>
          <a:p>
            <a:pPr algn="l" indent="0" marL="0">
              <a:buNone/>
            </a:pPr>
            <a:r>
              <a:rPr lang="en-US" sz="1140" dirty="0">
                <a:solidFill>
                  <a:srgbClr val="243B53"/>
                </a:solidFill>
                <a:latin typeface="Aptos" pitchFamily="34" charset="0"/>
                <a:ea typeface="Aptos" pitchFamily="34" charset="-122"/>
                <a:cs typeface="Aptos" pitchFamily="34" charset="-120"/>
              </a:rPr>
              <a:t>S5 · registro de auditoría</a:t>
            </a:r>
            <a:endParaRPr lang="en-US" sz="1140" dirty="0"/>
          </a:p>
        </p:txBody>
      </p:sp>
      <p:sp>
        <p:nvSpPr>
          <p:cNvPr id="50" name="Text 47"/>
          <p:cNvSpPr txBox="1"/>
          <p:nvPr/>
        </p:nvSpPr>
        <p:spPr>
          <a:xfrm>
            <a:off x="4206240" y="5276088"/>
            <a:ext cx="4389120" cy="219456"/>
          </a:xfrm>
          <a:prstGeom prst="rect">
            <a:avLst/>
          </a:prstGeom>
          <a:noFill/>
          <a:ln/>
        </p:spPr>
        <p:txBody>
          <a:bodyPr wrap="square" lIns="0" tIns="0" rIns="0" bIns="0" rtlCol="0" anchor="t"/>
          <a:lstStyle/>
          <a:p>
            <a:pPr algn="l" indent="0" marL="0">
              <a:buNone/>
            </a:pPr>
            <a:r>
              <a:rPr lang="en-US" sz="1120" dirty="0">
                <a:solidFill>
                  <a:srgbClr val="52606D"/>
                </a:solidFill>
                <a:latin typeface="Aptos" pitchFamily="34" charset="0"/>
                <a:ea typeface="Aptos" pitchFamily="34" charset="-122"/>
                <a:cs typeface="Aptos" pitchFamily="34" charset="-120"/>
              </a:rPr>
              <a:t>nadie</a:t>
            </a:r>
            <a:endParaRPr lang="en-US" sz="1120" dirty="0"/>
          </a:p>
        </p:txBody>
      </p:sp>
      <p:sp>
        <p:nvSpPr>
          <p:cNvPr id="51" name="Shape 48"/>
          <p:cNvSpPr/>
          <p:nvPr/>
        </p:nvSpPr>
        <p:spPr>
          <a:xfrm>
            <a:off x="8778240" y="5248656"/>
            <a:ext cx="1463040" cy="256032"/>
          </a:xfrm>
          <a:prstGeom prst="rect">
            <a:avLst/>
          </a:prstGeom>
          <a:solidFill>
            <a:srgbClr val="8A6A12"/>
          </a:solidFill>
          <a:ln w="12700">
            <a:solidFill>
              <a:srgbClr val="8A6A12"/>
            </a:solidFill>
            <a:prstDash val="solid"/>
          </a:ln>
        </p:spPr>
      </p:sp>
      <p:sp>
        <p:nvSpPr>
          <p:cNvPr id="52" name="Text 49"/>
          <p:cNvSpPr txBox="1"/>
          <p:nvPr/>
        </p:nvSpPr>
        <p:spPr>
          <a:xfrm>
            <a:off x="8778240" y="5266944"/>
            <a:ext cx="1463040" cy="219456"/>
          </a:xfrm>
          <a:prstGeom prst="rect">
            <a:avLst/>
          </a:prstGeom>
          <a:noFill/>
          <a:ln/>
        </p:spPr>
        <p:txBody>
          <a:bodyPr wrap="square" lIns="0" tIns="0" rIns="0" bIns="0" rtlCol="0" anchor="t"/>
          <a:lstStyle/>
          <a:p>
            <a:pPr algn="ctr" indent="0" marL="0">
              <a:buNone/>
            </a:pPr>
            <a:r>
              <a:rPr lang="en-US" sz="1040" b="1" dirty="0">
                <a:solidFill>
                  <a:srgbClr val="FFFFFF"/>
                </a:solidFill>
                <a:latin typeface="Aptos" pitchFamily="34" charset="0"/>
                <a:ea typeface="Aptos" pitchFamily="34" charset="-122"/>
                <a:cs typeface="Aptos" pitchFamily="34" charset="-120"/>
              </a:rPr>
              <a:t>Sugerencia</a:t>
            </a:r>
            <a:endParaRPr lang="en-US" sz="1040" dirty="0"/>
          </a:p>
        </p:txBody>
      </p:sp>
      <p:sp>
        <p:nvSpPr>
          <p:cNvPr id="53" name="Text 50"/>
          <p:cNvSpPr txBox="1"/>
          <p:nvPr/>
        </p:nvSpPr>
        <p:spPr>
          <a:xfrm>
            <a:off x="804672" y="5641848"/>
            <a:ext cx="3291840" cy="219456"/>
          </a:xfrm>
          <a:prstGeom prst="rect">
            <a:avLst/>
          </a:prstGeom>
          <a:noFill/>
          <a:ln/>
        </p:spPr>
        <p:txBody>
          <a:bodyPr wrap="square" lIns="0" tIns="0" rIns="0" bIns="0" rtlCol="0" anchor="t"/>
          <a:lstStyle/>
          <a:p>
            <a:pPr algn="l" indent="0" marL="0">
              <a:buNone/>
            </a:pPr>
            <a:r>
              <a:rPr lang="en-US" sz="1140" dirty="0">
                <a:solidFill>
                  <a:srgbClr val="243B53"/>
                </a:solidFill>
                <a:latin typeface="Aptos" pitchFamily="34" charset="0"/>
                <a:ea typeface="Aptos" pitchFamily="34" charset="-122"/>
                <a:cs typeface="Aptos" pitchFamily="34" charset="-120"/>
              </a:rPr>
              <a:t>S6 · cadena de hashes</a:t>
            </a:r>
            <a:endParaRPr lang="en-US" sz="1140" dirty="0"/>
          </a:p>
        </p:txBody>
      </p:sp>
      <p:sp>
        <p:nvSpPr>
          <p:cNvPr id="54" name="Text 51"/>
          <p:cNvSpPr txBox="1"/>
          <p:nvPr/>
        </p:nvSpPr>
        <p:spPr>
          <a:xfrm>
            <a:off x="4206240" y="5641848"/>
            <a:ext cx="4389120" cy="219456"/>
          </a:xfrm>
          <a:prstGeom prst="rect">
            <a:avLst/>
          </a:prstGeom>
          <a:noFill/>
          <a:ln/>
        </p:spPr>
        <p:txBody>
          <a:bodyPr wrap="square" lIns="0" tIns="0" rIns="0" bIns="0" rtlCol="0" anchor="t"/>
          <a:lstStyle/>
          <a:p>
            <a:pPr algn="l" indent="0" marL="0">
              <a:buNone/>
            </a:pPr>
            <a:r>
              <a:rPr lang="en-US" sz="1120" dirty="0">
                <a:solidFill>
                  <a:srgbClr val="52606D"/>
                </a:solidFill>
                <a:latin typeface="Aptos" pitchFamily="34" charset="0"/>
                <a:ea typeface="Aptos" pitchFamily="34" charset="-122"/>
                <a:cs typeface="Aptos" pitchFamily="34" charset="-120"/>
              </a:rPr>
              <a:t>nadie</a:t>
            </a:r>
            <a:endParaRPr lang="en-US" sz="1120" dirty="0"/>
          </a:p>
        </p:txBody>
      </p:sp>
      <p:sp>
        <p:nvSpPr>
          <p:cNvPr id="55" name="Shape 52"/>
          <p:cNvSpPr/>
          <p:nvPr/>
        </p:nvSpPr>
        <p:spPr>
          <a:xfrm>
            <a:off x="8778240" y="5614416"/>
            <a:ext cx="1463040" cy="256032"/>
          </a:xfrm>
          <a:prstGeom prst="rect">
            <a:avLst/>
          </a:prstGeom>
          <a:solidFill>
            <a:srgbClr val="8A6A12"/>
          </a:solidFill>
          <a:ln w="12700">
            <a:solidFill>
              <a:srgbClr val="8A6A12"/>
            </a:solidFill>
            <a:prstDash val="solid"/>
          </a:ln>
        </p:spPr>
      </p:sp>
      <p:sp>
        <p:nvSpPr>
          <p:cNvPr id="56" name="Text 53"/>
          <p:cNvSpPr txBox="1"/>
          <p:nvPr/>
        </p:nvSpPr>
        <p:spPr>
          <a:xfrm>
            <a:off x="8778240" y="5632704"/>
            <a:ext cx="1463040" cy="219456"/>
          </a:xfrm>
          <a:prstGeom prst="rect">
            <a:avLst/>
          </a:prstGeom>
          <a:noFill/>
          <a:ln/>
        </p:spPr>
        <p:txBody>
          <a:bodyPr wrap="square" lIns="0" tIns="0" rIns="0" bIns="0" rtlCol="0" anchor="t"/>
          <a:lstStyle/>
          <a:p>
            <a:pPr algn="ctr" indent="0" marL="0">
              <a:buNone/>
            </a:pPr>
            <a:r>
              <a:rPr lang="en-US" sz="1040" b="1" dirty="0">
                <a:solidFill>
                  <a:srgbClr val="FFFFFF"/>
                </a:solidFill>
                <a:latin typeface="Aptos" pitchFamily="34" charset="0"/>
                <a:ea typeface="Aptos" pitchFamily="34" charset="-122"/>
                <a:cs typeface="Aptos" pitchFamily="34" charset="-120"/>
              </a:rPr>
              <a:t>Sugerencia</a:t>
            </a:r>
            <a:endParaRPr lang="en-US" sz="1040" dirty="0"/>
          </a:p>
        </p:txBody>
      </p:sp>
      <p:sp>
        <p:nvSpPr>
          <p:cNvPr id="57" name="Shape 54"/>
          <p:cNvSpPr/>
          <p:nvPr/>
        </p:nvSpPr>
        <p:spPr>
          <a:xfrm>
            <a:off x="658368" y="5943600"/>
            <a:ext cx="10874959" cy="420624"/>
          </a:xfrm>
          <a:prstGeom prst="rect">
            <a:avLst/>
          </a:prstGeom>
          <a:solidFill>
            <a:srgbClr val="102A43"/>
          </a:solidFill>
          <a:ln w="12700">
            <a:solidFill>
              <a:srgbClr val="102A43"/>
            </a:solidFill>
            <a:prstDash val="solid"/>
          </a:ln>
        </p:spPr>
      </p:sp>
      <p:sp>
        <p:nvSpPr>
          <p:cNvPr id="58" name="Text 55"/>
          <p:cNvSpPr txBox="1"/>
          <p:nvPr/>
        </p:nvSpPr>
        <p:spPr>
          <a:xfrm>
            <a:off x="969264" y="5989320"/>
            <a:ext cx="10253167" cy="329184"/>
          </a:xfrm>
          <a:prstGeom prst="rect">
            <a:avLst/>
          </a:prstGeom>
          <a:noFill/>
          <a:ln/>
        </p:spPr>
        <p:txBody>
          <a:bodyPr wrap="square" lIns="0" tIns="0" rIns="0" bIns="0" rtlCol="0" anchor="ctr"/>
          <a:lstStyle/>
          <a:p>
            <a:pPr algn="ctr" indent="0" marL="0">
              <a:lnSpc>
                <a:spcPct val="112000"/>
              </a:lnSpc>
              <a:buNone/>
            </a:pPr>
            <a:r>
              <a:rPr lang="en-US" sz="1260" b="1" dirty="0">
                <a:solidFill>
                  <a:srgbClr val="FFFFFF"/>
                </a:solidFill>
                <a:latin typeface="Aptos" pitchFamily="34" charset="0"/>
                <a:ea typeface="Aptos" pitchFamily="34" charset="-122"/>
                <a:cs typeface="Aptos" pitchFamily="34" charset="-120"/>
              </a:rPr>
              <a:t>El agente no decide umbrales, porque no son datos técnicos sino decisiones de producto. Sirve para producir la lista de decisiones pendientes.</a:t>
            </a:r>
            <a:endParaRPr lang="en-US" sz="126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32</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CIERRE</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Preguntas para llevarse del Bloque 3</a:t>
            </a:r>
            <a:endParaRPr lang="en-US" sz="3000" dirty="0"/>
          </a:p>
        </p:txBody>
      </p:sp>
      <p:sp>
        <p:nvSpPr>
          <p:cNvPr id="10" name="Shape 7"/>
          <p:cNvSpPr/>
          <p:nvPr/>
        </p:nvSpPr>
        <p:spPr>
          <a:xfrm>
            <a:off x="658368" y="2231136"/>
            <a:ext cx="10874959" cy="1188720"/>
          </a:xfrm>
          <a:prstGeom prst="rect">
            <a:avLst/>
          </a:prstGeom>
          <a:solidFill>
            <a:srgbClr val="F2E7D9"/>
          </a:solidFill>
          <a:ln w="12700">
            <a:solidFill>
              <a:srgbClr val="F2E7D9"/>
            </a:solidFill>
            <a:prstDash val="solid"/>
          </a:ln>
        </p:spPr>
      </p:sp>
      <p:sp>
        <p:nvSpPr>
          <p:cNvPr id="11" name="Shape 8"/>
          <p:cNvSpPr/>
          <p:nvPr/>
        </p:nvSpPr>
        <p:spPr>
          <a:xfrm>
            <a:off x="658368" y="2231136"/>
            <a:ext cx="54864" cy="1188720"/>
          </a:xfrm>
          <a:prstGeom prst="rect">
            <a:avLst/>
          </a:prstGeom>
          <a:solidFill>
            <a:srgbClr val="B3181E"/>
          </a:solidFill>
          <a:ln w="12700">
            <a:solidFill>
              <a:srgbClr val="B3181E"/>
            </a:solidFill>
            <a:prstDash val="solid"/>
          </a:ln>
        </p:spPr>
      </p:sp>
      <p:sp>
        <p:nvSpPr>
          <p:cNvPr id="12" name="Text 9"/>
          <p:cNvSpPr txBox="1"/>
          <p:nvPr/>
        </p:nvSpPr>
        <p:spPr>
          <a:xfrm>
            <a:off x="932688" y="2377440"/>
            <a:ext cx="475488" cy="457200"/>
          </a:xfrm>
          <a:prstGeom prst="rect">
            <a:avLst/>
          </a:prstGeom>
          <a:noFill/>
          <a:ln/>
        </p:spPr>
        <p:txBody>
          <a:bodyPr wrap="square" lIns="0" tIns="0" rIns="0" bIns="0" rtlCol="0" anchor="t"/>
          <a:lstStyle/>
          <a:p>
            <a:pPr algn="l"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3" name="Text 10"/>
          <p:cNvSpPr txBox="1"/>
          <p:nvPr/>
        </p:nvSpPr>
        <p:spPr>
          <a:xfrm>
            <a:off x="1572768" y="2368296"/>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El dato personal expuesto sobrevivió a tres auditorías y a dos suites completas, y cayó apenas se escribió el criterio. ¿Qué tenía el criterio que no tenían las auditorías?</a:t>
            </a:r>
            <a:endParaRPr lang="en-US" sz="1400" dirty="0"/>
          </a:p>
        </p:txBody>
      </p:sp>
      <p:sp>
        <p:nvSpPr>
          <p:cNvPr id="14" name="Shape 11"/>
          <p:cNvSpPr/>
          <p:nvPr/>
        </p:nvSpPr>
        <p:spPr>
          <a:xfrm>
            <a:off x="1572768" y="2999232"/>
            <a:ext cx="9631375" cy="0"/>
          </a:xfrm>
          <a:prstGeom prst="line">
            <a:avLst/>
          </a:prstGeom>
          <a:noFill/>
          <a:ln w="12700">
            <a:solidFill>
              <a:srgbClr val="D8CFC4"/>
            </a:solidFill>
            <a:prstDash val="solid"/>
            <a:headEnd type="none"/>
            <a:tailEnd type="none"/>
          </a:ln>
        </p:spPr>
      </p:sp>
      <p:sp>
        <p:nvSpPr>
          <p:cNvPr id="15" name="Text 12"/>
          <p:cNvSpPr txBox="1"/>
          <p:nvPr/>
        </p:nvSpPr>
        <p:spPr>
          <a:xfrm>
            <a:off x="1572768" y="3090672"/>
            <a:ext cx="640080" cy="182880"/>
          </a:xfrm>
          <a:prstGeom prst="rect">
            <a:avLst/>
          </a:prstGeom>
          <a:noFill/>
          <a:ln/>
        </p:spPr>
        <p:txBody>
          <a:bodyPr wrap="square" lIns="0" tIns="0" rIns="0" bIns="0" rtlCol="0" anchor="t"/>
          <a:lstStyle/>
          <a:p>
            <a:pPr algn="l" indent="0" marL="0">
              <a:buNone/>
            </a:pPr>
            <a:r>
              <a:rPr lang="en-US" sz="860" b="1" spc="110" kern="0" dirty="0">
                <a:solidFill>
                  <a:srgbClr val="B3181E"/>
                </a:solidFill>
                <a:latin typeface="Aptos" pitchFamily="34" charset="0"/>
                <a:ea typeface="Aptos" pitchFamily="34" charset="-122"/>
                <a:cs typeface="Aptos" pitchFamily="34" charset="-120"/>
              </a:rPr>
              <a:t>PISTA</a:t>
            </a:r>
            <a:endParaRPr lang="en-US" sz="860" dirty="0"/>
          </a:p>
        </p:txBody>
      </p:sp>
      <p:sp>
        <p:nvSpPr>
          <p:cNvPr id="16" name="Text 13"/>
          <p:cNvSpPr txBox="1"/>
          <p:nvPr/>
        </p:nvSpPr>
        <p:spPr>
          <a:xfrm>
            <a:off x="2286000" y="3072384"/>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Compara la frase «el sistema debe ser seguro» con la frase del criterio, pieza por pieza.</a:t>
            </a:r>
            <a:endParaRPr lang="en-US" sz="1200" dirty="0"/>
          </a:p>
        </p:txBody>
      </p:sp>
      <p:sp>
        <p:nvSpPr>
          <p:cNvPr id="17" name="Shape 14"/>
          <p:cNvSpPr/>
          <p:nvPr/>
        </p:nvSpPr>
        <p:spPr>
          <a:xfrm>
            <a:off x="658368" y="3529584"/>
            <a:ext cx="10874959" cy="1188720"/>
          </a:xfrm>
          <a:prstGeom prst="rect">
            <a:avLst/>
          </a:prstGeom>
          <a:solidFill>
            <a:srgbClr val="EDE6DA"/>
          </a:solidFill>
          <a:ln w="12700">
            <a:solidFill>
              <a:srgbClr val="EDE6DA"/>
            </a:solidFill>
            <a:prstDash val="solid"/>
          </a:ln>
        </p:spPr>
      </p:sp>
      <p:sp>
        <p:nvSpPr>
          <p:cNvPr id="18" name="Shape 15"/>
          <p:cNvSpPr/>
          <p:nvPr/>
        </p:nvSpPr>
        <p:spPr>
          <a:xfrm>
            <a:off x="658368" y="3529584"/>
            <a:ext cx="54864" cy="1188720"/>
          </a:xfrm>
          <a:prstGeom prst="rect">
            <a:avLst/>
          </a:prstGeom>
          <a:solidFill>
            <a:srgbClr val="255A4C"/>
          </a:solidFill>
          <a:ln w="12700">
            <a:solidFill>
              <a:srgbClr val="255A4C"/>
            </a:solidFill>
            <a:prstDash val="solid"/>
          </a:ln>
        </p:spPr>
      </p:sp>
      <p:sp>
        <p:nvSpPr>
          <p:cNvPr id="19" name="Text 16"/>
          <p:cNvSpPr txBox="1"/>
          <p:nvPr/>
        </p:nvSpPr>
        <p:spPr>
          <a:xfrm>
            <a:off x="932688" y="3675888"/>
            <a:ext cx="475488" cy="457200"/>
          </a:xfrm>
          <a:prstGeom prst="rect">
            <a:avLst/>
          </a:prstGeom>
          <a:noFill/>
          <a:ln/>
        </p:spPr>
        <p:txBody>
          <a:bodyPr wrap="square" lIns="0" tIns="0" rIns="0" bIns="0" rtlCol="0" anchor="t"/>
          <a:lstStyle/>
          <a:p>
            <a:pPr algn="l" indent="0" marL="0">
              <a:buNone/>
            </a:pPr>
            <a:r>
              <a:rPr lang="en-US" sz="2600" b="1" dirty="0">
                <a:solidFill>
                  <a:srgbClr val="255A4C"/>
                </a:solidFill>
                <a:latin typeface="Aptos Display" pitchFamily="34" charset="0"/>
                <a:ea typeface="Aptos Display" pitchFamily="34" charset="-122"/>
                <a:cs typeface="Aptos Display" pitchFamily="34" charset="-120"/>
              </a:rPr>
              <a:t>2</a:t>
            </a:r>
            <a:endParaRPr lang="en-US" sz="2600" dirty="0"/>
          </a:p>
        </p:txBody>
      </p:sp>
      <p:sp>
        <p:nvSpPr>
          <p:cNvPr id="20" name="Text 17"/>
          <p:cNvSpPr txBox="1"/>
          <p:nvPr/>
        </p:nvSpPr>
        <p:spPr>
          <a:xfrm>
            <a:off x="1572768" y="3666744"/>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El agente encontró la fuga cuando se le preguntó por la característica de calidad, y no cuando se le pidió revisar o probar el código. ¿Qué dice eso sobre la relación entre la pregunta que haces y lo que un auditor automático puede encontrar?</a:t>
            </a:r>
            <a:endParaRPr lang="en-US" sz="1400" dirty="0"/>
          </a:p>
        </p:txBody>
      </p:sp>
      <p:sp>
        <p:nvSpPr>
          <p:cNvPr id="21" name="Shape 18"/>
          <p:cNvSpPr/>
          <p:nvPr/>
        </p:nvSpPr>
        <p:spPr>
          <a:xfrm>
            <a:off x="1572768" y="4297680"/>
            <a:ext cx="9631375" cy="0"/>
          </a:xfrm>
          <a:prstGeom prst="line">
            <a:avLst/>
          </a:prstGeom>
          <a:noFill/>
          <a:ln w="12700">
            <a:solidFill>
              <a:srgbClr val="D8CFC4"/>
            </a:solidFill>
            <a:prstDash val="solid"/>
            <a:headEnd type="none"/>
            <a:tailEnd type="none"/>
          </a:ln>
        </p:spPr>
      </p:sp>
      <p:sp>
        <p:nvSpPr>
          <p:cNvPr id="22" name="Text 19"/>
          <p:cNvSpPr txBox="1"/>
          <p:nvPr/>
        </p:nvSpPr>
        <p:spPr>
          <a:xfrm>
            <a:off x="1572768" y="4389120"/>
            <a:ext cx="640080" cy="182880"/>
          </a:xfrm>
          <a:prstGeom prst="rect">
            <a:avLst/>
          </a:prstGeom>
          <a:noFill/>
          <a:ln/>
        </p:spPr>
        <p:txBody>
          <a:bodyPr wrap="square" lIns="0" tIns="0" rIns="0" bIns="0" rtlCol="0" anchor="t"/>
          <a:lstStyle/>
          <a:p>
            <a:pPr algn="l" indent="0" marL="0">
              <a:buNone/>
            </a:pPr>
            <a:r>
              <a:rPr lang="en-US" sz="860" b="1" spc="110" kern="0" dirty="0">
                <a:solidFill>
                  <a:srgbClr val="255A4C"/>
                </a:solidFill>
                <a:latin typeface="Aptos" pitchFamily="34" charset="0"/>
                <a:ea typeface="Aptos" pitchFamily="34" charset="-122"/>
                <a:cs typeface="Aptos" pitchFamily="34" charset="-120"/>
              </a:rPr>
              <a:t>PISTA</a:t>
            </a:r>
            <a:endParaRPr lang="en-US" sz="860" dirty="0"/>
          </a:p>
        </p:txBody>
      </p:sp>
      <p:sp>
        <p:nvSpPr>
          <p:cNvPr id="23" name="Text 20"/>
          <p:cNvSpPr txBox="1"/>
          <p:nvPr/>
        </p:nvSpPr>
        <p:spPr>
          <a:xfrm>
            <a:off x="2286000" y="4370832"/>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Fíjate de dónde sacaba su información cada una de las dos preguntas.</a:t>
            </a:r>
            <a:endParaRPr lang="en-US" sz="1200" dirty="0"/>
          </a:p>
        </p:txBody>
      </p:sp>
      <p:sp>
        <p:nvSpPr>
          <p:cNvPr id="24" name="Shape 21"/>
          <p:cNvSpPr/>
          <p:nvPr/>
        </p:nvSpPr>
        <p:spPr>
          <a:xfrm>
            <a:off x="658368" y="4828032"/>
            <a:ext cx="10874959" cy="1188720"/>
          </a:xfrm>
          <a:prstGeom prst="rect">
            <a:avLst/>
          </a:prstGeom>
          <a:solidFill>
            <a:srgbClr val="F2E7D9"/>
          </a:solidFill>
          <a:ln w="12700">
            <a:solidFill>
              <a:srgbClr val="F2E7D9"/>
            </a:solidFill>
            <a:prstDash val="solid"/>
          </a:ln>
        </p:spPr>
      </p:sp>
      <p:sp>
        <p:nvSpPr>
          <p:cNvPr id="25" name="Shape 22"/>
          <p:cNvSpPr/>
          <p:nvPr/>
        </p:nvSpPr>
        <p:spPr>
          <a:xfrm>
            <a:off x="658368" y="4828032"/>
            <a:ext cx="54864" cy="1188720"/>
          </a:xfrm>
          <a:prstGeom prst="rect">
            <a:avLst/>
          </a:prstGeom>
          <a:solidFill>
            <a:srgbClr val="8A6A12"/>
          </a:solidFill>
          <a:ln w="12700">
            <a:solidFill>
              <a:srgbClr val="8A6A12"/>
            </a:solidFill>
            <a:prstDash val="solid"/>
          </a:ln>
        </p:spPr>
      </p:sp>
      <p:sp>
        <p:nvSpPr>
          <p:cNvPr id="26" name="Text 23"/>
          <p:cNvSpPr txBox="1"/>
          <p:nvPr/>
        </p:nvSpPr>
        <p:spPr>
          <a:xfrm>
            <a:off x="932688" y="4974336"/>
            <a:ext cx="475488" cy="457200"/>
          </a:xfrm>
          <a:prstGeom prst="rect">
            <a:avLst/>
          </a:prstGeom>
          <a:noFill/>
          <a:ln/>
        </p:spPr>
        <p:txBody>
          <a:bodyPr wrap="square" lIns="0" tIns="0" rIns="0" bIns="0" rtlCol="0" anchor="t"/>
          <a:lstStyle/>
          <a:p>
            <a:pPr algn="l"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7" name="Text 24"/>
          <p:cNvSpPr txBox="1"/>
          <p:nvPr/>
        </p:nvSpPr>
        <p:spPr>
          <a:xfrm>
            <a:off x="1572768" y="4965192"/>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Los criterios S5 y S6 están perfectamente formulados y aun así se descartaron. ¿Podrías haber notado la diferencia mirando solo la tabla?</a:t>
            </a:r>
            <a:endParaRPr lang="en-US" sz="1400" dirty="0"/>
          </a:p>
        </p:txBody>
      </p:sp>
      <p:sp>
        <p:nvSpPr>
          <p:cNvPr id="28" name="Shape 25"/>
          <p:cNvSpPr/>
          <p:nvPr/>
        </p:nvSpPr>
        <p:spPr>
          <a:xfrm>
            <a:off x="1572768" y="5596128"/>
            <a:ext cx="9631375" cy="0"/>
          </a:xfrm>
          <a:prstGeom prst="line">
            <a:avLst/>
          </a:prstGeom>
          <a:noFill/>
          <a:ln w="12700">
            <a:solidFill>
              <a:srgbClr val="D8CFC4"/>
            </a:solidFill>
            <a:prstDash val="solid"/>
            <a:headEnd type="none"/>
            <a:tailEnd type="none"/>
          </a:ln>
        </p:spPr>
      </p:sp>
      <p:sp>
        <p:nvSpPr>
          <p:cNvPr id="29" name="Text 26"/>
          <p:cNvSpPr txBox="1"/>
          <p:nvPr/>
        </p:nvSpPr>
        <p:spPr>
          <a:xfrm>
            <a:off x="1572768" y="5687568"/>
            <a:ext cx="640080" cy="182880"/>
          </a:xfrm>
          <a:prstGeom prst="rect">
            <a:avLst/>
          </a:prstGeom>
          <a:noFill/>
          <a:ln/>
        </p:spPr>
        <p:txBody>
          <a:bodyPr wrap="square" lIns="0" tIns="0" rIns="0" bIns="0" rtlCol="0" anchor="t"/>
          <a:lstStyle/>
          <a:p>
            <a:pPr algn="l" indent="0" marL="0">
              <a:buNone/>
            </a:pPr>
            <a:r>
              <a:rPr lang="en-US" sz="860" b="1" spc="110" kern="0" dirty="0">
                <a:solidFill>
                  <a:srgbClr val="8A6A12"/>
                </a:solidFill>
                <a:latin typeface="Aptos" pitchFamily="34" charset="0"/>
                <a:ea typeface="Aptos" pitchFamily="34" charset="-122"/>
                <a:cs typeface="Aptos" pitchFamily="34" charset="-120"/>
              </a:rPr>
              <a:t>PISTA</a:t>
            </a:r>
            <a:endParaRPr lang="en-US" sz="860" dirty="0"/>
          </a:p>
        </p:txBody>
      </p:sp>
      <p:sp>
        <p:nvSpPr>
          <p:cNvPr id="30" name="Text 27"/>
          <p:cNvSpPr txBox="1"/>
          <p:nvPr/>
        </p:nvSpPr>
        <p:spPr>
          <a:xfrm>
            <a:off x="2286000" y="5669280"/>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La diferencia no está en cómo están escritos, sino en algo que no aparece en la tabla.</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3\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33</a:t>
            </a:r>
            <a:endParaRPr lang="en-US" sz="1400" dirty="0"/>
          </a:p>
        </p:txBody>
      </p:sp>
      <p:sp>
        <p:nvSpPr>
          <p:cNvPr id="8" name="Text 5"/>
          <p:cNvSpPr txBox="1"/>
          <p:nvPr/>
        </p:nvSpPr>
        <p:spPr>
          <a:xfrm>
            <a:off x="658368" y="1517904"/>
            <a:ext cx="3657600" cy="237744"/>
          </a:xfrm>
          <a:prstGeom prst="rect">
            <a:avLst/>
          </a:prstGeom>
          <a:noFill/>
          <a:ln/>
        </p:spPr>
        <p:txBody>
          <a:bodyPr wrap="square" lIns="0" tIns="0" rIns="0" bIns="0" rtlCol="0" anchor="t"/>
          <a:lstStyle/>
          <a:p>
            <a:pPr algn="l" indent="0" marL="0">
              <a:buNone/>
            </a:pPr>
            <a:r>
              <a:rPr lang="en-US" sz="1140" b="1" spc="210" kern="0" dirty="0">
                <a:solidFill>
                  <a:srgbClr val="E0BC5A"/>
                </a:solidFill>
                <a:latin typeface="Aptos" pitchFamily="34" charset="0"/>
                <a:ea typeface="Aptos" pitchFamily="34" charset="-122"/>
                <a:cs typeface="Aptos" pitchFamily="34" charset="-120"/>
              </a:rPr>
              <a:t>BLOQUE 4</a:t>
            </a:r>
            <a:endParaRPr lang="en-US" sz="1140" dirty="0"/>
          </a:p>
        </p:txBody>
      </p:sp>
      <p:sp>
        <p:nvSpPr>
          <p:cNvPr id="9" name="Text 6"/>
          <p:cNvSpPr txBox="1"/>
          <p:nvPr/>
        </p:nvSpPr>
        <p:spPr>
          <a:xfrm>
            <a:off x="658368" y="1828800"/>
            <a:ext cx="7772400" cy="1700784"/>
          </a:xfrm>
          <a:prstGeom prst="rect">
            <a:avLst/>
          </a:prstGeom>
          <a:noFill/>
          <a:ln/>
        </p:spPr>
        <p:txBody>
          <a:bodyPr wrap="square" lIns="0" tIns="0" rIns="0" bIns="0" rtlCol="0" anchor="t"/>
          <a:lstStyle/>
          <a:p>
            <a:pPr algn="l" indent="0" marL="0">
              <a:lnSpc>
                <a:spcPct val="106000"/>
              </a:lnSpc>
              <a:buNone/>
            </a:pPr>
            <a:r>
              <a:rPr lang="en-US" sz="3800" b="1" dirty="0">
                <a:solidFill>
                  <a:srgbClr val="FFFFFF"/>
                </a:solidFill>
                <a:latin typeface="Aptos Display" pitchFamily="34" charset="0"/>
                <a:ea typeface="Aptos Display" pitchFamily="34" charset="-122"/>
                <a:cs typeface="Aptos Display" pitchFamily="34" charset="-120"/>
              </a:rPr>
              <a:t>La finalidad</a:t>
            </a:r>
            <a:endParaRPr lang="en-US" sz="3800" dirty="0"/>
          </a:p>
          <a:p>
            <a:pPr algn="l" indent="0" marL="0">
              <a:lnSpc>
                <a:spcPct val="106000"/>
              </a:lnSpc>
              <a:buNone/>
            </a:pPr>
            <a:r>
              <a:rPr lang="en-US" sz="3800" b="1" dirty="0">
                <a:solidFill>
                  <a:srgbClr val="FFFFFF"/>
                </a:solidFill>
                <a:latin typeface="Aptos Display" pitchFamily="34" charset="0"/>
                <a:ea typeface="Aptos Display" pitchFamily="34" charset="-122"/>
                <a:cs typeface="Aptos Display" pitchFamily="34" charset="-120"/>
              </a:rPr>
              <a:t>se escribe antes</a:t>
            </a:r>
            <a:endParaRPr lang="en-US" sz="3800" dirty="0"/>
          </a:p>
          <a:p>
            <a:pPr algn="l" indent="0" marL="0">
              <a:lnSpc>
                <a:spcPct val="106000"/>
              </a:lnSpc>
              <a:buNone/>
            </a:pPr>
            <a:r>
              <a:rPr lang="en-US" sz="3800" b="1" dirty="0">
                <a:solidFill>
                  <a:srgbClr val="FFFFFF"/>
                </a:solidFill>
                <a:latin typeface="Aptos Display" pitchFamily="34" charset="0"/>
                <a:ea typeface="Aptos Display" pitchFamily="34" charset="-122"/>
                <a:cs typeface="Aptos Display" pitchFamily="34" charset="-120"/>
              </a:rPr>
              <a:t>que el código</a:t>
            </a:r>
            <a:endParaRPr lang="en-US" sz="3800" dirty="0"/>
          </a:p>
        </p:txBody>
      </p:sp>
      <p:sp>
        <p:nvSpPr>
          <p:cNvPr id="10" name="Shape 7"/>
          <p:cNvSpPr/>
          <p:nvPr/>
        </p:nvSpPr>
        <p:spPr>
          <a:xfrm>
            <a:off x="658368" y="3675888"/>
            <a:ext cx="2011680" cy="73152"/>
          </a:xfrm>
          <a:prstGeom prst="rect">
            <a:avLst/>
          </a:prstGeom>
          <a:solidFill>
            <a:srgbClr val="D62027"/>
          </a:solidFill>
          <a:ln w="12700">
            <a:solidFill>
              <a:srgbClr val="D62027"/>
            </a:solidFill>
            <a:prstDash val="solid"/>
          </a:ln>
        </p:spPr>
      </p:sp>
      <p:sp>
        <p:nvSpPr>
          <p:cNvPr id="11" name="Text 8"/>
          <p:cNvSpPr txBox="1"/>
          <p:nvPr/>
        </p:nvSpPr>
        <p:spPr>
          <a:xfrm>
            <a:off x="658368" y="4005072"/>
            <a:ext cx="4572000" cy="201168"/>
          </a:xfrm>
          <a:prstGeom prst="rect">
            <a:avLst/>
          </a:prstGeom>
          <a:noFill/>
          <a:ln/>
        </p:spPr>
        <p:txBody>
          <a:bodyPr wrap="square" lIns="0" tIns="0" rIns="0" bIns="0" rtlCol="0" anchor="t"/>
          <a:lstStyle/>
          <a:p>
            <a:pPr algn="l" indent="0" marL="0">
              <a:buNone/>
            </a:pPr>
            <a:r>
              <a:rPr lang="en-US" sz="960" b="1" spc="130" kern="0" dirty="0">
                <a:solidFill>
                  <a:srgbClr val="7FC9B4"/>
                </a:solidFill>
                <a:latin typeface="Aptos" pitchFamily="34" charset="0"/>
                <a:ea typeface="Aptos" pitchFamily="34" charset="-122"/>
                <a:cs typeface="Aptos" pitchFamily="34" charset="-120"/>
              </a:rPr>
              <a:t>LA PREGUNTA DEL BLOQUE</a:t>
            </a:r>
            <a:endParaRPr lang="en-US" sz="960" dirty="0"/>
          </a:p>
        </p:txBody>
      </p:sp>
      <p:sp>
        <p:nvSpPr>
          <p:cNvPr id="12" name="Text 9"/>
          <p:cNvSpPr txBox="1"/>
          <p:nvPr/>
        </p:nvSpPr>
        <p:spPr>
          <a:xfrm>
            <a:off x="658368" y="4279392"/>
            <a:ext cx="6766560" cy="896112"/>
          </a:xfrm>
          <a:prstGeom prst="rect">
            <a:avLst/>
          </a:prstGeom>
          <a:noFill/>
          <a:ln/>
        </p:spPr>
        <p:txBody>
          <a:bodyPr wrap="square" lIns="0" tIns="0" rIns="0" bIns="0" rtlCol="0" anchor="t"/>
          <a:lstStyle/>
          <a:p>
            <a:pPr algn="l" indent="0" marL="0">
              <a:lnSpc>
                <a:spcPct val="118000"/>
              </a:lnSpc>
              <a:buNone/>
            </a:pPr>
            <a:r>
              <a:rPr lang="en-US" sz="1900" dirty="0">
                <a:solidFill>
                  <a:srgbClr val="FFFFFF"/>
                </a:solidFill>
                <a:latin typeface="Aptos" pitchFamily="34" charset="0"/>
                <a:ea typeface="Aptos" pitchFamily="34" charset="-122"/>
                <a:cs typeface="Aptos" pitchFamily="34" charset="-120"/>
              </a:rPr>
              <a:t>El umbral de «cero datos personales expuestos» no lo fijó nadie de este curso. ¿Quién lo fijó, y cuándo exige que se decida?</a:t>
            </a:r>
            <a:endParaRPr lang="en-US" sz="1900" dirty="0"/>
          </a:p>
        </p:txBody>
      </p:sp>
      <p:sp>
        <p:nvSpPr>
          <p:cNvPr id="13" name="Shape 10"/>
          <p:cNvSpPr/>
          <p:nvPr/>
        </p:nvSpPr>
        <p:spPr>
          <a:xfrm>
            <a:off x="8321040" y="1572768"/>
            <a:ext cx="0" cy="3566160"/>
          </a:xfrm>
          <a:prstGeom prst="line">
            <a:avLst/>
          </a:prstGeom>
          <a:noFill/>
          <a:ln w="12700">
            <a:solidFill>
              <a:srgbClr val="2C4A66"/>
            </a:solidFill>
            <a:prstDash val="solid"/>
            <a:headEnd type="none"/>
            <a:tailEnd type="none"/>
          </a:ln>
        </p:spPr>
      </p:sp>
      <p:sp>
        <p:nvSpPr>
          <p:cNvPr id="14" name="Text 11"/>
          <p:cNvSpPr txBox="1"/>
          <p:nvPr/>
        </p:nvSpPr>
        <p:spPr>
          <a:xfrm>
            <a:off x="8686800" y="1572768"/>
            <a:ext cx="310896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CON QUÉ SALES</a:t>
            </a:r>
            <a:endParaRPr lang="en-US" sz="960" dirty="0"/>
          </a:p>
        </p:txBody>
      </p:sp>
      <p:sp>
        <p:nvSpPr>
          <p:cNvPr id="15" name="Shape 12"/>
          <p:cNvSpPr/>
          <p:nvPr/>
        </p:nvSpPr>
        <p:spPr>
          <a:xfrm>
            <a:off x="8686800" y="1920240"/>
            <a:ext cx="274320" cy="274320"/>
          </a:xfrm>
          <a:prstGeom prst="ellipse">
            <a:avLst/>
          </a:prstGeom>
          <a:solidFill>
            <a:srgbClr val="1D3A57"/>
          </a:solidFill>
          <a:ln w="12700">
            <a:solidFill>
              <a:srgbClr val="1D3A57"/>
            </a:solidFill>
            <a:prstDash val="solid"/>
          </a:ln>
        </p:spPr>
      </p:sp>
      <p:sp>
        <p:nvSpPr>
          <p:cNvPr id="16" name="Text 13"/>
          <p:cNvSpPr txBox="1"/>
          <p:nvPr/>
        </p:nvSpPr>
        <p:spPr>
          <a:xfrm>
            <a:off x="8686800" y="1920240"/>
            <a:ext cx="274320" cy="274320"/>
          </a:xfrm>
          <a:prstGeom prst="rect">
            <a:avLst/>
          </a:prstGeom>
          <a:noFill/>
          <a:ln/>
        </p:spPr>
        <p:txBody>
          <a:bodyPr wrap="square" lIns="0" tIns="0" rIns="0" bIns="0" rtlCol="0" anchor="ctr"/>
          <a:lstStyle/>
          <a:p>
            <a:pPr algn="ctr" indent="0" marL="0">
              <a:buNone/>
            </a:pPr>
            <a:r>
              <a:rPr lang="en-US" sz="1050" b="1" dirty="0">
                <a:solidFill>
                  <a:srgbClr val="7FC9B4"/>
                </a:solidFill>
                <a:latin typeface="Aptos" pitchFamily="34" charset="0"/>
                <a:ea typeface="Aptos" pitchFamily="34" charset="-122"/>
                <a:cs typeface="Aptos" pitchFamily="34" charset="-120"/>
              </a:rPr>
              <a:t>1</a:t>
            </a:r>
            <a:endParaRPr lang="en-US" sz="1050" dirty="0"/>
          </a:p>
        </p:txBody>
      </p:sp>
      <p:sp>
        <p:nvSpPr>
          <p:cNvPr id="17" name="Text 14"/>
          <p:cNvSpPr txBox="1"/>
          <p:nvPr/>
        </p:nvSpPr>
        <p:spPr>
          <a:xfrm>
            <a:off x="9089136" y="1901952"/>
            <a:ext cx="2651760" cy="603504"/>
          </a:xfrm>
          <a:prstGeom prst="rect">
            <a:avLst/>
          </a:prstGeom>
          <a:noFill/>
          <a:ln/>
        </p:spPr>
        <p:txBody>
          <a:bodyPr wrap="square" lIns="0" tIns="0" rIns="0" bIns="0" rtlCol="0" anchor="t"/>
          <a:lstStyle/>
          <a:p>
            <a:pPr algn="l" indent="0" marL="0">
              <a:lnSpc>
                <a:spcPct val="114000"/>
              </a:lnSpc>
              <a:buNone/>
            </a:pPr>
            <a:r>
              <a:rPr lang="en-US" sz="1220" dirty="0">
                <a:solidFill>
                  <a:srgbClr val="E6EEF7"/>
                </a:solidFill>
                <a:latin typeface="Aptos" pitchFamily="34" charset="0"/>
                <a:ea typeface="Aptos" pitchFamily="34" charset="-122"/>
                <a:cs typeface="Aptos" pitchFamily="34" charset="-120"/>
              </a:rPr>
              <a:t>Los dos principios legales que resuelven el caso</a:t>
            </a:r>
            <a:endParaRPr lang="en-US" sz="1220" dirty="0"/>
          </a:p>
        </p:txBody>
      </p:sp>
      <p:sp>
        <p:nvSpPr>
          <p:cNvPr id="18" name="Shape 15"/>
          <p:cNvSpPr/>
          <p:nvPr/>
        </p:nvSpPr>
        <p:spPr>
          <a:xfrm>
            <a:off x="8686800" y="2633472"/>
            <a:ext cx="274320" cy="274320"/>
          </a:xfrm>
          <a:prstGeom prst="ellipse">
            <a:avLst/>
          </a:prstGeom>
          <a:solidFill>
            <a:srgbClr val="1D3A57"/>
          </a:solidFill>
          <a:ln w="12700">
            <a:solidFill>
              <a:srgbClr val="1D3A57"/>
            </a:solidFill>
            <a:prstDash val="solid"/>
          </a:ln>
        </p:spPr>
      </p:sp>
      <p:sp>
        <p:nvSpPr>
          <p:cNvPr id="19" name="Text 16"/>
          <p:cNvSpPr txBox="1"/>
          <p:nvPr/>
        </p:nvSpPr>
        <p:spPr>
          <a:xfrm>
            <a:off x="8686800" y="2633472"/>
            <a:ext cx="274320" cy="274320"/>
          </a:xfrm>
          <a:prstGeom prst="rect">
            <a:avLst/>
          </a:prstGeom>
          <a:noFill/>
          <a:ln/>
        </p:spPr>
        <p:txBody>
          <a:bodyPr wrap="square" lIns="0" tIns="0" rIns="0" bIns="0" rtlCol="0" anchor="ctr"/>
          <a:lstStyle/>
          <a:p>
            <a:pPr algn="ctr" indent="0" marL="0">
              <a:buNone/>
            </a:pPr>
            <a:r>
              <a:rPr lang="en-US" sz="1050" b="1" dirty="0">
                <a:solidFill>
                  <a:srgbClr val="7FC9B4"/>
                </a:solidFill>
                <a:latin typeface="Aptos" pitchFamily="34" charset="0"/>
                <a:ea typeface="Aptos" pitchFamily="34" charset="-122"/>
                <a:cs typeface="Aptos" pitchFamily="34" charset="-120"/>
              </a:rPr>
              <a:t>2</a:t>
            </a:r>
            <a:endParaRPr lang="en-US" sz="1050" dirty="0"/>
          </a:p>
        </p:txBody>
      </p:sp>
      <p:sp>
        <p:nvSpPr>
          <p:cNvPr id="20" name="Text 17"/>
          <p:cNvSpPr txBox="1"/>
          <p:nvPr/>
        </p:nvSpPr>
        <p:spPr>
          <a:xfrm>
            <a:off x="9089136" y="2615184"/>
            <a:ext cx="2651760" cy="603504"/>
          </a:xfrm>
          <a:prstGeom prst="rect">
            <a:avLst/>
          </a:prstGeom>
          <a:noFill/>
          <a:ln/>
        </p:spPr>
        <p:txBody>
          <a:bodyPr wrap="square" lIns="0" tIns="0" rIns="0" bIns="0" rtlCol="0" anchor="t"/>
          <a:lstStyle/>
          <a:p>
            <a:pPr algn="l" indent="0" marL="0">
              <a:lnSpc>
                <a:spcPct val="114000"/>
              </a:lnSpc>
              <a:buNone/>
            </a:pPr>
            <a:r>
              <a:rPr lang="en-US" sz="1220" dirty="0">
                <a:solidFill>
                  <a:srgbClr val="E6EEF7"/>
                </a:solidFill>
                <a:latin typeface="Aptos" pitchFamily="34" charset="0"/>
                <a:ea typeface="Aptos" pitchFamily="34" charset="-122"/>
                <a:cs typeface="Aptos" pitchFamily="34" charset="-120"/>
              </a:rPr>
              <a:t>El requisito que faltaba, escrito en cuatro líneas</a:t>
            </a:r>
            <a:endParaRPr lang="en-US" sz="1220" dirty="0"/>
          </a:p>
        </p:txBody>
      </p:sp>
      <p:sp>
        <p:nvSpPr>
          <p:cNvPr id="21" name="Shape 18"/>
          <p:cNvSpPr/>
          <p:nvPr/>
        </p:nvSpPr>
        <p:spPr>
          <a:xfrm>
            <a:off x="8686800" y="3346704"/>
            <a:ext cx="274320" cy="274320"/>
          </a:xfrm>
          <a:prstGeom prst="ellipse">
            <a:avLst/>
          </a:prstGeom>
          <a:solidFill>
            <a:srgbClr val="1D3A57"/>
          </a:solidFill>
          <a:ln w="12700">
            <a:solidFill>
              <a:srgbClr val="1D3A57"/>
            </a:solidFill>
            <a:prstDash val="solid"/>
          </a:ln>
        </p:spPr>
      </p:sp>
      <p:sp>
        <p:nvSpPr>
          <p:cNvPr id="22" name="Text 19"/>
          <p:cNvSpPr txBox="1"/>
          <p:nvPr/>
        </p:nvSpPr>
        <p:spPr>
          <a:xfrm>
            <a:off x="8686800" y="3346704"/>
            <a:ext cx="274320" cy="274320"/>
          </a:xfrm>
          <a:prstGeom prst="rect">
            <a:avLst/>
          </a:prstGeom>
          <a:noFill/>
          <a:ln/>
        </p:spPr>
        <p:txBody>
          <a:bodyPr wrap="square" lIns="0" tIns="0" rIns="0" bIns="0" rtlCol="0" anchor="ctr"/>
          <a:lstStyle/>
          <a:p>
            <a:pPr algn="ctr" indent="0" marL="0">
              <a:buNone/>
            </a:pPr>
            <a:r>
              <a:rPr lang="en-US" sz="1050" b="1" dirty="0">
                <a:solidFill>
                  <a:srgbClr val="7FC9B4"/>
                </a:solidFill>
                <a:latin typeface="Aptos" pitchFamily="34" charset="0"/>
                <a:ea typeface="Aptos" pitchFamily="34" charset="-122"/>
                <a:cs typeface="Aptos" pitchFamily="34" charset="-120"/>
              </a:rPr>
              <a:t>3</a:t>
            </a:r>
            <a:endParaRPr lang="en-US" sz="1050" dirty="0"/>
          </a:p>
        </p:txBody>
      </p:sp>
      <p:sp>
        <p:nvSpPr>
          <p:cNvPr id="23" name="Text 20"/>
          <p:cNvSpPr txBox="1"/>
          <p:nvPr/>
        </p:nvSpPr>
        <p:spPr>
          <a:xfrm>
            <a:off x="9089136" y="3328416"/>
            <a:ext cx="2651760" cy="603504"/>
          </a:xfrm>
          <a:prstGeom prst="rect">
            <a:avLst/>
          </a:prstGeom>
          <a:noFill/>
          <a:ln/>
        </p:spPr>
        <p:txBody>
          <a:bodyPr wrap="square" lIns="0" tIns="0" rIns="0" bIns="0" rtlCol="0" anchor="t"/>
          <a:lstStyle/>
          <a:p>
            <a:pPr algn="l" indent="0" marL="0">
              <a:lnSpc>
                <a:spcPct val="114000"/>
              </a:lnSpc>
              <a:buNone/>
            </a:pPr>
            <a:r>
              <a:rPr lang="en-US" sz="1220" dirty="0">
                <a:solidFill>
                  <a:srgbClr val="E6EEF7"/>
                </a:solidFill>
                <a:latin typeface="Aptos" pitchFamily="34" charset="0"/>
                <a:ea typeface="Aptos" pitchFamily="34" charset="-122"/>
                <a:cs typeface="Aptos" pitchFamily="34" charset="-120"/>
              </a:rPr>
              <a:t>La comprobación de que ese documento cambia el resultado</a:t>
            </a:r>
            <a:endParaRPr lang="en-US" sz="122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34</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LA FUENTE</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Dos principios de la ley deciden el caso</a:t>
            </a:r>
            <a:endParaRPr lang="en-US" sz="3000" dirty="0"/>
          </a:p>
        </p:txBody>
      </p:sp>
      <p:sp>
        <p:nvSpPr>
          <p:cNvPr id="10" name="Text 7"/>
          <p:cNvSpPr txBox="1"/>
          <p:nvPr/>
        </p:nvSpPr>
        <p:spPr>
          <a:xfrm>
            <a:off x="658368" y="1773936"/>
            <a:ext cx="10424160" cy="640080"/>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La Ley 21.719 regula el tratamiento de datos personales en Chile y entra en vigencia el 1 de diciembre de 2026. Su definición de dato personal nombra el número de cédula de identidad: el RUT queda dentro por texto expreso.</a:t>
            </a:r>
            <a:endParaRPr lang="en-US" sz="1450" dirty="0"/>
          </a:p>
        </p:txBody>
      </p:sp>
      <p:sp>
        <p:nvSpPr>
          <p:cNvPr id="11" name="Shape 8"/>
          <p:cNvSpPr/>
          <p:nvPr/>
        </p:nvSpPr>
        <p:spPr>
          <a:xfrm>
            <a:off x="658368" y="2542032"/>
            <a:ext cx="5266944" cy="1664208"/>
          </a:xfrm>
          <a:prstGeom prst="rect">
            <a:avLst/>
          </a:prstGeom>
          <a:solidFill>
            <a:srgbClr val="FFFFFF"/>
          </a:solidFill>
          <a:ln w="12700">
            <a:solidFill>
              <a:srgbClr val="FFFFFF"/>
            </a:solidFill>
            <a:prstDash val="solid"/>
          </a:ln>
        </p:spPr>
      </p:sp>
      <p:sp>
        <p:nvSpPr>
          <p:cNvPr id="12" name="Shape 9"/>
          <p:cNvSpPr/>
          <p:nvPr/>
        </p:nvSpPr>
        <p:spPr>
          <a:xfrm>
            <a:off x="658368" y="2542032"/>
            <a:ext cx="64008" cy="1664208"/>
          </a:xfrm>
          <a:prstGeom prst="rect">
            <a:avLst/>
          </a:prstGeom>
          <a:solidFill>
            <a:srgbClr val="102A43"/>
          </a:solidFill>
          <a:ln w="12700">
            <a:solidFill>
              <a:srgbClr val="102A43"/>
            </a:solidFill>
            <a:prstDash val="solid"/>
          </a:ln>
        </p:spPr>
      </p:sp>
      <p:sp>
        <p:nvSpPr>
          <p:cNvPr id="13" name="Text 10"/>
          <p:cNvSpPr txBox="1"/>
          <p:nvPr/>
        </p:nvSpPr>
        <p:spPr>
          <a:xfrm>
            <a:off x="932688" y="2670048"/>
            <a:ext cx="2103120" cy="274320"/>
          </a:xfrm>
          <a:prstGeom prst="rect">
            <a:avLst/>
          </a:prstGeom>
          <a:noFill/>
          <a:ln/>
        </p:spPr>
        <p:txBody>
          <a:bodyPr wrap="square" lIns="0" tIns="0" rIns="0" bIns="0" rtlCol="0" anchor="t"/>
          <a:lstStyle/>
          <a:p>
            <a:pPr algn="l" indent="0" marL="0">
              <a:buNone/>
            </a:pPr>
            <a:r>
              <a:rPr lang="en-US" sz="1500" b="1" dirty="0">
                <a:solidFill>
                  <a:srgbClr val="102A43"/>
                </a:solidFill>
                <a:latin typeface="Aptos Display" pitchFamily="34" charset="0"/>
                <a:ea typeface="Aptos Display" pitchFamily="34" charset="-122"/>
                <a:cs typeface="Aptos Display" pitchFamily="34" charset="-120"/>
              </a:rPr>
              <a:t>Artículo 3º, letra b)</a:t>
            </a:r>
            <a:endParaRPr lang="en-US" sz="1500" dirty="0"/>
          </a:p>
        </p:txBody>
      </p:sp>
      <p:sp>
        <p:nvSpPr>
          <p:cNvPr id="14" name="Text 11"/>
          <p:cNvSpPr txBox="1"/>
          <p:nvPr/>
        </p:nvSpPr>
        <p:spPr>
          <a:xfrm>
            <a:off x="932688" y="2944368"/>
            <a:ext cx="4718304" cy="237744"/>
          </a:xfrm>
          <a:prstGeom prst="rect">
            <a:avLst/>
          </a:prstGeom>
          <a:noFill/>
          <a:ln/>
        </p:spPr>
        <p:txBody>
          <a:bodyPr wrap="square" lIns="0" tIns="0" rIns="0" bIns="0" rtlCol="0" anchor="t"/>
          <a:lstStyle/>
          <a:p>
            <a:pPr algn="l" indent="0" marL="0">
              <a:buNone/>
            </a:pPr>
            <a:r>
              <a:rPr lang="en-US" sz="1240" b="1" dirty="0">
                <a:solidFill>
                  <a:srgbClr val="243B53"/>
                </a:solidFill>
                <a:latin typeface="Aptos" pitchFamily="34" charset="0"/>
                <a:ea typeface="Aptos" pitchFamily="34" charset="-122"/>
                <a:cs typeface="Aptos" pitchFamily="34" charset="-120"/>
              </a:rPr>
              <a:t>Principio de finalidad</a:t>
            </a:r>
            <a:endParaRPr lang="en-US" sz="1240" dirty="0"/>
          </a:p>
        </p:txBody>
      </p:sp>
      <p:sp>
        <p:nvSpPr>
          <p:cNvPr id="15" name="Shape 12"/>
          <p:cNvSpPr/>
          <p:nvPr/>
        </p:nvSpPr>
        <p:spPr>
          <a:xfrm>
            <a:off x="932688" y="3236976"/>
            <a:ext cx="4718304" cy="0"/>
          </a:xfrm>
          <a:prstGeom prst="line">
            <a:avLst/>
          </a:prstGeom>
          <a:noFill/>
          <a:ln w="12700">
            <a:solidFill>
              <a:srgbClr val="D8CFC4"/>
            </a:solidFill>
            <a:prstDash val="solid"/>
            <a:headEnd type="none"/>
            <a:tailEnd type="none"/>
          </a:ln>
        </p:spPr>
      </p:sp>
      <p:sp>
        <p:nvSpPr>
          <p:cNvPr id="16" name="Text 13"/>
          <p:cNvSpPr txBox="1"/>
          <p:nvPr/>
        </p:nvSpPr>
        <p:spPr>
          <a:xfrm>
            <a:off x="932688" y="3328416"/>
            <a:ext cx="4718304" cy="749808"/>
          </a:xfrm>
          <a:prstGeom prst="rect">
            <a:avLst/>
          </a:prstGeom>
          <a:noFill/>
          <a:ln/>
        </p:spPr>
        <p:txBody>
          <a:bodyPr wrap="square" lIns="0" tIns="0" rIns="0" bIns="0" rtlCol="0" anchor="t"/>
          <a:lstStyle/>
          <a:p>
            <a:pPr algn="l" indent="0" marL="0">
              <a:lnSpc>
                <a:spcPct val="116000"/>
              </a:lnSpc>
              <a:buNone/>
            </a:pPr>
            <a:r>
              <a:rPr lang="en-US" sz="1200" i="1" dirty="0">
                <a:solidFill>
                  <a:srgbClr val="52606D"/>
                </a:solidFill>
                <a:latin typeface="Aptos" pitchFamily="34" charset="0"/>
                <a:ea typeface="Aptos" pitchFamily="34" charset="-122"/>
                <a:cs typeface="Aptos" pitchFamily="34" charset="-120"/>
              </a:rPr>
              <a:t>“Los datos personales deben ser recolectados con fines específicos, explícitos y lícitos. El tratamiento debe limitarse al cumplimiento de estos fines.”</a:t>
            </a:r>
            <a:endParaRPr lang="en-US" sz="1200" dirty="0"/>
          </a:p>
        </p:txBody>
      </p:sp>
      <p:sp>
        <p:nvSpPr>
          <p:cNvPr id="17" name="Shape 14"/>
          <p:cNvSpPr/>
          <p:nvPr/>
        </p:nvSpPr>
        <p:spPr>
          <a:xfrm>
            <a:off x="6291072" y="2542032"/>
            <a:ext cx="5239512" cy="1664208"/>
          </a:xfrm>
          <a:prstGeom prst="rect">
            <a:avLst/>
          </a:prstGeom>
          <a:solidFill>
            <a:srgbClr val="FFFFFF"/>
          </a:solidFill>
          <a:ln w="12700">
            <a:solidFill>
              <a:srgbClr val="FFFFFF"/>
            </a:solidFill>
            <a:prstDash val="solid"/>
          </a:ln>
        </p:spPr>
      </p:sp>
      <p:sp>
        <p:nvSpPr>
          <p:cNvPr id="18" name="Shape 15"/>
          <p:cNvSpPr/>
          <p:nvPr/>
        </p:nvSpPr>
        <p:spPr>
          <a:xfrm>
            <a:off x="6291072" y="2542032"/>
            <a:ext cx="64008" cy="1664208"/>
          </a:xfrm>
          <a:prstGeom prst="rect">
            <a:avLst/>
          </a:prstGeom>
          <a:solidFill>
            <a:srgbClr val="B3181E"/>
          </a:solidFill>
          <a:ln w="12700">
            <a:solidFill>
              <a:srgbClr val="B3181E"/>
            </a:solidFill>
            <a:prstDash val="solid"/>
          </a:ln>
        </p:spPr>
      </p:sp>
      <p:sp>
        <p:nvSpPr>
          <p:cNvPr id="19" name="Text 16"/>
          <p:cNvSpPr txBox="1"/>
          <p:nvPr/>
        </p:nvSpPr>
        <p:spPr>
          <a:xfrm>
            <a:off x="6565392" y="2670048"/>
            <a:ext cx="2103120" cy="274320"/>
          </a:xfrm>
          <a:prstGeom prst="rect">
            <a:avLst/>
          </a:prstGeom>
          <a:noFill/>
          <a:ln/>
        </p:spPr>
        <p:txBody>
          <a:bodyPr wrap="square" lIns="0" tIns="0" rIns="0" bIns="0" rtlCol="0" anchor="t"/>
          <a:lstStyle/>
          <a:p>
            <a:pPr algn="l" indent="0" marL="0">
              <a:buNone/>
            </a:pPr>
            <a:r>
              <a:rPr lang="en-US" sz="1500" b="1" dirty="0">
                <a:solidFill>
                  <a:srgbClr val="B3181E"/>
                </a:solidFill>
                <a:latin typeface="Aptos Display" pitchFamily="34" charset="0"/>
                <a:ea typeface="Aptos Display" pitchFamily="34" charset="-122"/>
                <a:cs typeface="Aptos Display" pitchFamily="34" charset="-120"/>
              </a:rPr>
              <a:t>Artículo 3º, letra c)</a:t>
            </a:r>
            <a:endParaRPr lang="en-US" sz="1500" dirty="0"/>
          </a:p>
        </p:txBody>
      </p:sp>
      <p:sp>
        <p:nvSpPr>
          <p:cNvPr id="20" name="Text 17"/>
          <p:cNvSpPr txBox="1"/>
          <p:nvPr/>
        </p:nvSpPr>
        <p:spPr>
          <a:xfrm>
            <a:off x="6565392" y="2944368"/>
            <a:ext cx="4690872" cy="237744"/>
          </a:xfrm>
          <a:prstGeom prst="rect">
            <a:avLst/>
          </a:prstGeom>
          <a:noFill/>
          <a:ln/>
        </p:spPr>
        <p:txBody>
          <a:bodyPr wrap="square" lIns="0" tIns="0" rIns="0" bIns="0" rtlCol="0" anchor="t"/>
          <a:lstStyle/>
          <a:p>
            <a:pPr algn="l" indent="0" marL="0">
              <a:buNone/>
            </a:pPr>
            <a:r>
              <a:rPr lang="en-US" sz="1240" b="1" dirty="0">
                <a:solidFill>
                  <a:srgbClr val="243B53"/>
                </a:solidFill>
                <a:latin typeface="Aptos" pitchFamily="34" charset="0"/>
                <a:ea typeface="Aptos" pitchFamily="34" charset="-122"/>
                <a:cs typeface="Aptos" pitchFamily="34" charset="-120"/>
              </a:rPr>
              <a:t>Principio de proporcionalidad</a:t>
            </a:r>
            <a:endParaRPr lang="en-US" sz="1240" dirty="0"/>
          </a:p>
        </p:txBody>
      </p:sp>
      <p:sp>
        <p:nvSpPr>
          <p:cNvPr id="21" name="Shape 18"/>
          <p:cNvSpPr/>
          <p:nvPr/>
        </p:nvSpPr>
        <p:spPr>
          <a:xfrm>
            <a:off x="6565392" y="3236976"/>
            <a:ext cx="4690872" cy="0"/>
          </a:xfrm>
          <a:prstGeom prst="line">
            <a:avLst/>
          </a:prstGeom>
          <a:noFill/>
          <a:ln w="12700">
            <a:solidFill>
              <a:srgbClr val="D8CFC4"/>
            </a:solidFill>
            <a:prstDash val="solid"/>
            <a:headEnd type="none"/>
            <a:tailEnd type="none"/>
          </a:ln>
        </p:spPr>
      </p:sp>
      <p:sp>
        <p:nvSpPr>
          <p:cNvPr id="22" name="Text 19"/>
          <p:cNvSpPr txBox="1"/>
          <p:nvPr/>
        </p:nvSpPr>
        <p:spPr>
          <a:xfrm>
            <a:off x="6565392" y="3328416"/>
            <a:ext cx="4690872" cy="749808"/>
          </a:xfrm>
          <a:prstGeom prst="rect">
            <a:avLst/>
          </a:prstGeom>
          <a:noFill/>
          <a:ln/>
        </p:spPr>
        <p:txBody>
          <a:bodyPr wrap="square" lIns="0" tIns="0" rIns="0" bIns="0" rtlCol="0" anchor="t"/>
          <a:lstStyle/>
          <a:p>
            <a:pPr algn="l" indent="0" marL="0">
              <a:lnSpc>
                <a:spcPct val="116000"/>
              </a:lnSpc>
              <a:buNone/>
            </a:pPr>
            <a:r>
              <a:rPr lang="en-US" sz="1200" i="1" dirty="0">
                <a:solidFill>
                  <a:srgbClr val="52606D"/>
                </a:solidFill>
                <a:latin typeface="Aptos" pitchFamily="34" charset="0"/>
                <a:ea typeface="Aptos" pitchFamily="34" charset="-122"/>
                <a:cs typeface="Aptos" pitchFamily="34" charset="-120"/>
              </a:rPr>
              <a:t>“Los datos personales que se traten deben limitarse estrictamente a aquéllos que resulten necesarios, adecuados y pertinentes en relación con los fines del tratamiento.”</a:t>
            </a:r>
            <a:endParaRPr lang="en-US" sz="1200" dirty="0"/>
          </a:p>
        </p:txBody>
      </p:sp>
      <p:sp>
        <p:nvSpPr>
          <p:cNvPr id="23" name="Text 20"/>
          <p:cNvSpPr txBox="1"/>
          <p:nvPr/>
        </p:nvSpPr>
        <p:spPr>
          <a:xfrm>
            <a:off x="658368" y="4315968"/>
            <a:ext cx="10874959" cy="237744"/>
          </a:xfrm>
          <a:prstGeom prst="rect">
            <a:avLst/>
          </a:prstGeom>
          <a:noFill/>
          <a:ln/>
        </p:spPr>
        <p:txBody>
          <a:bodyPr wrap="square" lIns="0" tIns="0" rIns="0" bIns="0" rtlCol="0" anchor="t"/>
          <a:lstStyle/>
          <a:p>
            <a:pPr algn="l" indent="0" marL="0">
              <a:buNone/>
            </a:pPr>
            <a:r>
              <a:rPr lang="en-US" sz="1260" dirty="0">
                <a:solidFill>
                  <a:srgbClr val="52606D"/>
                </a:solidFill>
                <a:latin typeface="Aptos" pitchFamily="34" charset="0"/>
                <a:ea typeface="Aptos" pitchFamily="34" charset="-122"/>
                <a:cs typeface="Aptos" pitchFamily="34" charset="-120"/>
              </a:rPr>
              <a:t>La proporcionalidad no se evalúa sola: se juzga «en relación con los fines». Primero hay que declararlos.</a:t>
            </a:r>
            <a:endParaRPr lang="en-US" sz="1260" dirty="0"/>
          </a:p>
        </p:txBody>
      </p:sp>
      <p:sp>
        <p:nvSpPr>
          <p:cNvPr id="24" name="Shape 21"/>
          <p:cNvSpPr/>
          <p:nvPr/>
        </p:nvSpPr>
        <p:spPr>
          <a:xfrm>
            <a:off x="658368" y="4626864"/>
            <a:ext cx="5266944" cy="914400"/>
          </a:xfrm>
          <a:prstGeom prst="rect">
            <a:avLst/>
          </a:prstGeom>
          <a:solidFill>
            <a:srgbClr val="FFFFFF"/>
          </a:solidFill>
          <a:ln w="12700">
            <a:solidFill>
              <a:srgbClr val="FFFFFF"/>
            </a:solidFill>
            <a:prstDash val="solid"/>
          </a:ln>
        </p:spPr>
      </p:sp>
      <p:sp>
        <p:nvSpPr>
          <p:cNvPr id="25" name="Shape 22"/>
          <p:cNvSpPr/>
          <p:nvPr/>
        </p:nvSpPr>
        <p:spPr>
          <a:xfrm>
            <a:off x="658368" y="4626864"/>
            <a:ext cx="54864" cy="914400"/>
          </a:xfrm>
          <a:prstGeom prst="rect">
            <a:avLst/>
          </a:prstGeom>
          <a:solidFill>
            <a:srgbClr val="102A43"/>
          </a:solidFill>
          <a:ln w="12700">
            <a:solidFill>
              <a:srgbClr val="102A43"/>
            </a:solidFill>
            <a:prstDash val="solid"/>
          </a:ln>
        </p:spPr>
      </p:sp>
      <p:sp>
        <p:nvSpPr>
          <p:cNvPr id="26" name="Shape 23"/>
          <p:cNvSpPr/>
          <p:nvPr/>
        </p:nvSpPr>
        <p:spPr>
          <a:xfrm>
            <a:off x="896112" y="4773168"/>
            <a:ext cx="329184" cy="329184"/>
          </a:xfrm>
          <a:prstGeom prst="ellipse">
            <a:avLst/>
          </a:prstGeom>
          <a:solidFill>
            <a:srgbClr val="102A43"/>
          </a:solidFill>
          <a:ln w="12700">
            <a:solidFill>
              <a:srgbClr val="102A43"/>
            </a:solidFill>
            <a:prstDash val="solid"/>
          </a:ln>
        </p:spPr>
      </p:sp>
      <p:sp>
        <p:nvSpPr>
          <p:cNvPr id="27" name="Text 24"/>
          <p:cNvSpPr txBox="1"/>
          <p:nvPr/>
        </p:nvSpPr>
        <p:spPr>
          <a:xfrm>
            <a:off x="896112" y="47731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28" name="Text 25"/>
          <p:cNvSpPr txBox="1"/>
          <p:nvPr/>
        </p:nvSpPr>
        <p:spPr>
          <a:xfrm>
            <a:off x="1335024" y="4773168"/>
            <a:ext cx="4389120" cy="256032"/>
          </a:xfrm>
          <a:prstGeom prst="rect">
            <a:avLst/>
          </a:prstGeom>
          <a:noFill/>
          <a:ln/>
        </p:spPr>
        <p:txBody>
          <a:bodyPr wrap="square" lIns="0" tIns="0" rIns="0" bIns="0" rtlCol="0" anchor="t"/>
          <a:lstStyle/>
          <a:p>
            <a:pPr algn="l" indent="0" marL="0">
              <a:buNone/>
            </a:pPr>
            <a:r>
              <a:rPr lang="en-US" sz="1360" b="1" dirty="0">
                <a:solidFill>
                  <a:srgbClr val="243B53"/>
                </a:solidFill>
                <a:latin typeface="Aptos" pitchFamily="34" charset="0"/>
                <a:ea typeface="Aptos" pitchFamily="34" charset="-122"/>
                <a:cs typeface="Aptos" pitchFamily="34" charset="-120"/>
              </a:rPr>
              <a:t>¿Cuál es la finalidad?</a:t>
            </a:r>
            <a:endParaRPr lang="en-US" sz="1360" dirty="0"/>
          </a:p>
        </p:txBody>
      </p:sp>
      <p:sp>
        <p:nvSpPr>
          <p:cNvPr id="29" name="Text 26"/>
          <p:cNvSpPr txBox="1"/>
          <p:nvPr/>
        </p:nvSpPr>
        <p:spPr>
          <a:xfrm>
            <a:off x="896112" y="5102352"/>
            <a:ext cx="4791456" cy="365760"/>
          </a:xfrm>
          <a:prstGeom prst="rect">
            <a:avLst/>
          </a:prstGeom>
          <a:noFill/>
          <a:ln/>
        </p:spPr>
        <p:txBody>
          <a:bodyPr wrap="square" lIns="0" tIns="0" rIns="0" bIns="0" rtlCol="0" anchor="t"/>
          <a:lstStyle/>
          <a:p>
            <a:pPr algn="l" indent="0" marL="0">
              <a:lnSpc>
                <a:spcPct val="114000"/>
              </a:lnSpc>
              <a:buNone/>
            </a:pPr>
            <a:r>
              <a:rPr lang="en-US" sz="1140" dirty="0">
                <a:solidFill>
                  <a:srgbClr val="52606D"/>
                </a:solidFill>
                <a:latin typeface="Aptos" pitchFamily="34" charset="0"/>
                <a:ea typeface="Aptos" pitchFamily="34" charset="-122"/>
                <a:cs typeface="Aptos" pitchFamily="34" charset="-120"/>
              </a:rPr>
              <a:t>Informar quién aprueba y quién reprueba la asignatura. Específica, explícita y lícita.</a:t>
            </a:r>
            <a:endParaRPr lang="en-US" sz="1140" dirty="0"/>
          </a:p>
        </p:txBody>
      </p:sp>
      <p:sp>
        <p:nvSpPr>
          <p:cNvPr id="30" name="Shape 27"/>
          <p:cNvSpPr/>
          <p:nvPr/>
        </p:nvSpPr>
        <p:spPr>
          <a:xfrm>
            <a:off x="6291072" y="4626864"/>
            <a:ext cx="5266944" cy="914400"/>
          </a:xfrm>
          <a:prstGeom prst="rect">
            <a:avLst/>
          </a:prstGeom>
          <a:solidFill>
            <a:srgbClr val="FFFFFF"/>
          </a:solidFill>
          <a:ln w="12700">
            <a:solidFill>
              <a:srgbClr val="FFFFFF"/>
            </a:solidFill>
            <a:prstDash val="solid"/>
          </a:ln>
        </p:spPr>
      </p:sp>
      <p:sp>
        <p:nvSpPr>
          <p:cNvPr id="31" name="Shape 28"/>
          <p:cNvSpPr/>
          <p:nvPr/>
        </p:nvSpPr>
        <p:spPr>
          <a:xfrm>
            <a:off x="6291072" y="4626864"/>
            <a:ext cx="54864" cy="914400"/>
          </a:xfrm>
          <a:prstGeom prst="rect">
            <a:avLst/>
          </a:prstGeom>
          <a:solidFill>
            <a:srgbClr val="B3181E"/>
          </a:solidFill>
          <a:ln w="12700">
            <a:solidFill>
              <a:srgbClr val="B3181E"/>
            </a:solidFill>
            <a:prstDash val="solid"/>
          </a:ln>
        </p:spPr>
      </p:sp>
      <p:sp>
        <p:nvSpPr>
          <p:cNvPr id="32" name="Shape 29"/>
          <p:cNvSpPr/>
          <p:nvPr/>
        </p:nvSpPr>
        <p:spPr>
          <a:xfrm>
            <a:off x="6528816" y="4773168"/>
            <a:ext cx="329184" cy="329184"/>
          </a:xfrm>
          <a:prstGeom prst="ellipse">
            <a:avLst/>
          </a:prstGeom>
          <a:solidFill>
            <a:srgbClr val="B3181E"/>
          </a:solidFill>
          <a:ln w="12700">
            <a:solidFill>
              <a:srgbClr val="B3181E"/>
            </a:solidFill>
            <a:prstDash val="solid"/>
          </a:ln>
        </p:spPr>
      </p:sp>
      <p:sp>
        <p:nvSpPr>
          <p:cNvPr id="33" name="Text 30"/>
          <p:cNvSpPr txBox="1"/>
          <p:nvPr/>
        </p:nvSpPr>
        <p:spPr>
          <a:xfrm>
            <a:off x="6528816" y="47731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34" name="Text 31"/>
          <p:cNvSpPr txBox="1"/>
          <p:nvPr/>
        </p:nvSpPr>
        <p:spPr>
          <a:xfrm>
            <a:off x="6967728" y="4773168"/>
            <a:ext cx="4389120" cy="256032"/>
          </a:xfrm>
          <a:prstGeom prst="rect">
            <a:avLst/>
          </a:prstGeom>
          <a:noFill/>
          <a:ln/>
        </p:spPr>
        <p:txBody>
          <a:bodyPr wrap="square" lIns="0" tIns="0" rIns="0" bIns="0" rtlCol="0" anchor="t"/>
          <a:lstStyle/>
          <a:p>
            <a:pPr algn="l" indent="0" marL="0">
              <a:buNone/>
            </a:pPr>
            <a:r>
              <a:rPr lang="en-US" sz="1360" b="1" dirty="0">
                <a:solidFill>
                  <a:srgbClr val="243B53"/>
                </a:solidFill>
                <a:latin typeface="Aptos" pitchFamily="34" charset="0"/>
                <a:ea typeface="Aptos" pitchFamily="34" charset="-122"/>
                <a:cs typeface="Aptos" pitchFamily="34" charset="-120"/>
              </a:rPr>
              <a:t>¿El RUT completo es necesario para eso?</a:t>
            </a:r>
            <a:endParaRPr lang="en-US" sz="1360" dirty="0"/>
          </a:p>
        </p:txBody>
      </p:sp>
      <p:sp>
        <p:nvSpPr>
          <p:cNvPr id="35" name="Text 32"/>
          <p:cNvSpPr txBox="1"/>
          <p:nvPr/>
        </p:nvSpPr>
        <p:spPr>
          <a:xfrm>
            <a:off x="6528816" y="5102352"/>
            <a:ext cx="4791456" cy="365760"/>
          </a:xfrm>
          <a:prstGeom prst="rect">
            <a:avLst/>
          </a:prstGeom>
          <a:noFill/>
          <a:ln/>
        </p:spPr>
        <p:txBody>
          <a:bodyPr wrap="square" lIns="0" tIns="0" rIns="0" bIns="0" rtlCol="0" anchor="t"/>
          <a:lstStyle/>
          <a:p>
            <a:pPr algn="l" indent="0" marL="0">
              <a:lnSpc>
                <a:spcPct val="114000"/>
              </a:lnSpc>
              <a:buNone/>
            </a:pPr>
            <a:r>
              <a:rPr lang="en-US" sz="1140" dirty="0">
                <a:solidFill>
                  <a:srgbClr val="52606D"/>
                </a:solidFill>
                <a:latin typeface="Aptos" pitchFamily="34" charset="0"/>
                <a:ea typeface="Aptos" pitchFamily="34" charset="-122"/>
                <a:cs typeface="Aptos" pitchFamily="34" charset="-120"/>
              </a:rPr>
              <a:t>No. El listado identifica al estudiante por su nombre; el RUT no aporta al propósito declarado.</a:t>
            </a:r>
            <a:endParaRPr lang="en-US" sz="1140" dirty="0"/>
          </a:p>
        </p:txBody>
      </p:sp>
      <p:sp>
        <p:nvSpPr>
          <p:cNvPr id="36" name="Shape 33"/>
          <p:cNvSpPr/>
          <p:nvPr/>
        </p:nvSpPr>
        <p:spPr>
          <a:xfrm>
            <a:off x="658368" y="5669280"/>
            <a:ext cx="45720" cy="182880"/>
          </a:xfrm>
          <a:prstGeom prst="rect">
            <a:avLst/>
          </a:prstGeom>
          <a:solidFill>
            <a:srgbClr val="8A6A12"/>
          </a:solidFill>
          <a:ln w="12700">
            <a:solidFill>
              <a:srgbClr val="8A6A12"/>
            </a:solidFill>
            <a:prstDash val="solid"/>
          </a:ln>
        </p:spPr>
      </p:sp>
      <p:sp>
        <p:nvSpPr>
          <p:cNvPr id="37" name="Text 34"/>
          <p:cNvSpPr txBox="1"/>
          <p:nvPr/>
        </p:nvSpPr>
        <p:spPr>
          <a:xfrm>
            <a:off x="804672" y="5660136"/>
            <a:ext cx="822960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Ley 21.719 · Diario Oficial de la República de Chile, núm. 44.023, 13 de diciembre de 2024.</a:t>
            </a:r>
            <a:endParaRPr lang="en-US" sz="920" dirty="0"/>
          </a:p>
        </p:txBody>
      </p:sp>
      <p:sp>
        <p:nvSpPr>
          <p:cNvPr id="38" name="Shape 35"/>
          <p:cNvSpPr/>
          <p:nvPr/>
        </p:nvSpPr>
        <p:spPr>
          <a:xfrm>
            <a:off x="658368" y="5907024"/>
            <a:ext cx="10874959" cy="475488"/>
          </a:xfrm>
          <a:prstGeom prst="rect">
            <a:avLst/>
          </a:prstGeom>
          <a:solidFill>
            <a:srgbClr val="102A43"/>
          </a:solidFill>
          <a:ln w="12700">
            <a:solidFill>
              <a:srgbClr val="102A43"/>
            </a:solidFill>
            <a:prstDash val="solid"/>
          </a:ln>
        </p:spPr>
      </p:sp>
      <p:sp>
        <p:nvSpPr>
          <p:cNvPr id="39" name="Text 36"/>
          <p:cNvSpPr txBox="1"/>
          <p:nvPr/>
        </p:nvSpPr>
        <p:spPr>
          <a:xfrm>
            <a:off x="969264" y="5952744"/>
            <a:ext cx="10253167" cy="384048"/>
          </a:xfrm>
          <a:prstGeom prst="rect">
            <a:avLst/>
          </a:prstGeom>
          <a:noFill/>
          <a:ln/>
        </p:spPr>
        <p:txBody>
          <a:bodyPr wrap="square" lIns="0" tIns="0" rIns="0" bIns="0" rtlCol="0" anchor="ctr"/>
          <a:lstStyle/>
          <a:p>
            <a:pPr algn="ctr" indent="0" marL="0">
              <a:lnSpc>
                <a:spcPct val="112000"/>
              </a:lnSpc>
              <a:buNone/>
            </a:pPr>
            <a:r>
              <a:rPr lang="en-US" sz="1280" b="1" dirty="0">
                <a:solidFill>
                  <a:srgbClr val="FFFFFF"/>
                </a:solidFill>
                <a:latin typeface="Aptos" pitchFamily="34" charset="0"/>
                <a:ea typeface="Aptos" pitchFamily="34" charset="-122"/>
                <a:cs typeface="Aptos" pitchFamily="34" charset="-120"/>
              </a:rPr>
              <a:t>Con esas dos respuestas el caso queda resuelto por la ley, y no por una opinión sobre cuánto importa la privacidad.</a:t>
            </a:r>
            <a:endParaRPr lang="en-US" sz="128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35</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CUÁNDO</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2800" b="1" dirty="0">
                <a:solidFill>
                  <a:srgbClr val="243B53"/>
                </a:solidFill>
                <a:latin typeface="Aptos Display" pitchFamily="34" charset="0"/>
                <a:ea typeface="Aptos Display" pitchFamily="34" charset="-122"/>
                <a:cs typeface="Aptos Display" pitchFamily="34" charset="-120"/>
              </a:rPr>
              <a:t>La ley exige decidirlo antes de que el sistema trate el dato</a:t>
            </a:r>
            <a:endParaRPr lang="en-US" sz="2800" dirty="0"/>
          </a:p>
        </p:txBody>
      </p:sp>
      <p:sp>
        <p:nvSpPr>
          <p:cNvPr id="10" name="Shape 7"/>
          <p:cNvSpPr/>
          <p:nvPr/>
        </p:nvSpPr>
        <p:spPr>
          <a:xfrm>
            <a:off x="658368" y="2048256"/>
            <a:ext cx="6126480" cy="2286000"/>
          </a:xfrm>
          <a:prstGeom prst="rect">
            <a:avLst/>
          </a:prstGeom>
          <a:solidFill>
            <a:srgbClr val="FFFFFF"/>
          </a:solidFill>
          <a:ln w="12700">
            <a:solidFill>
              <a:srgbClr val="FFFFFF"/>
            </a:solidFill>
            <a:prstDash val="solid"/>
          </a:ln>
        </p:spPr>
      </p:sp>
      <p:sp>
        <p:nvSpPr>
          <p:cNvPr id="11" name="Shape 8"/>
          <p:cNvSpPr/>
          <p:nvPr/>
        </p:nvSpPr>
        <p:spPr>
          <a:xfrm>
            <a:off x="658368" y="2048256"/>
            <a:ext cx="64008" cy="2286000"/>
          </a:xfrm>
          <a:prstGeom prst="rect">
            <a:avLst/>
          </a:prstGeom>
          <a:solidFill>
            <a:srgbClr val="B3181E"/>
          </a:solidFill>
          <a:ln w="12700">
            <a:solidFill>
              <a:srgbClr val="B3181E"/>
            </a:solidFill>
            <a:prstDash val="solid"/>
          </a:ln>
        </p:spPr>
      </p:sp>
      <p:sp>
        <p:nvSpPr>
          <p:cNvPr id="12" name="Text 9"/>
          <p:cNvSpPr txBox="1"/>
          <p:nvPr/>
        </p:nvSpPr>
        <p:spPr>
          <a:xfrm>
            <a:off x="932688" y="2176272"/>
            <a:ext cx="2743200" cy="274320"/>
          </a:xfrm>
          <a:prstGeom prst="rect">
            <a:avLst/>
          </a:prstGeom>
          <a:noFill/>
          <a:ln/>
        </p:spPr>
        <p:txBody>
          <a:bodyPr wrap="square" lIns="0" tIns="0" rIns="0" bIns="0" rtlCol="0" anchor="t"/>
          <a:lstStyle/>
          <a:p>
            <a:pPr algn="l" indent="0" marL="0">
              <a:buNone/>
            </a:pPr>
            <a:r>
              <a:rPr lang="en-US" sz="1500" b="1" dirty="0">
                <a:solidFill>
                  <a:srgbClr val="B3181E"/>
                </a:solidFill>
                <a:latin typeface="Aptos Display" pitchFamily="34" charset="0"/>
                <a:ea typeface="Aptos Display" pitchFamily="34" charset="-122"/>
                <a:cs typeface="Aptos Display" pitchFamily="34" charset="-120"/>
              </a:rPr>
              <a:t>Artículo 14 quáter</a:t>
            </a:r>
            <a:endParaRPr lang="en-US" sz="1500" dirty="0"/>
          </a:p>
        </p:txBody>
      </p:sp>
      <p:sp>
        <p:nvSpPr>
          <p:cNvPr id="13" name="Text 10"/>
          <p:cNvSpPr txBox="1"/>
          <p:nvPr/>
        </p:nvSpPr>
        <p:spPr>
          <a:xfrm>
            <a:off x="932688" y="2450592"/>
            <a:ext cx="5577840" cy="237744"/>
          </a:xfrm>
          <a:prstGeom prst="rect">
            <a:avLst/>
          </a:prstGeom>
          <a:noFill/>
          <a:ln/>
        </p:spPr>
        <p:txBody>
          <a:bodyPr wrap="square" lIns="0" tIns="0" rIns="0" bIns="0" rtlCol="0" anchor="t"/>
          <a:lstStyle/>
          <a:p>
            <a:pPr algn="l" indent="0" marL="0">
              <a:buNone/>
            </a:pPr>
            <a:r>
              <a:rPr lang="en-US" sz="1240" b="1" dirty="0">
                <a:solidFill>
                  <a:srgbClr val="243B53"/>
                </a:solidFill>
                <a:latin typeface="Aptos" pitchFamily="34" charset="0"/>
                <a:ea typeface="Aptos" pitchFamily="34" charset="-122"/>
                <a:cs typeface="Aptos" pitchFamily="34" charset="-120"/>
              </a:rPr>
              <a:t>Deber de protección desde el diseño y por defecto</a:t>
            </a:r>
            <a:endParaRPr lang="en-US" sz="1240" dirty="0"/>
          </a:p>
        </p:txBody>
      </p:sp>
      <p:sp>
        <p:nvSpPr>
          <p:cNvPr id="14" name="Shape 11"/>
          <p:cNvSpPr/>
          <p:nvPr/>
        </p:nvSpPr>
        <p:spPr>
          <a:xfrm>
            <a:off x="932688" y="2743200"/>
            <a:ext cx="5577840" cy="0"/>
          </a:xfrm>
          <a:prstGeom prst="line">
            <a:avLst/>
          </a:prstGeom>
          <a:noFill/>
          <a:ln w="12700">
            <a:solidFill>
              <a:srgbClr val="D8CFC4"/>
            </a:solidFill>
            <a:prstDash val="solid"/>
            <a:headEnd type="none"/>
            <a:tailEnd type="none"/>
          </a:ln>
        </p:spPr>
      </p:sp>
      <p:sp>
        <p:nvSpPr>
          <p:cNvPr id="15" name="Text 12"/>
          <p:cNvSpPr txBox="1"/>
          <p:nvPr/>
        </p:nvSpPr>
        <p:spPr>
          <a:xfrm>
            <a:off x="932688" y="2834640"/>
            <a:ext cx="5577840" cy="1371600"/>
          </a:xfrm>
          <a:prstGeom prst="rect">
            <a:avLst/>
          </a:prstGeom>
          <a:noFill/>
          <a:ln/>
        </p:spPr>
        <p:txBody>
          <a:bodyPr wrap="square" lIns="0" tIns="0" rIns="0" bIns="0" rtlCol="0" anchor="t"/>
          <a:lstStyle/>
          <a:p>
            <a:pPr algn="l" indent="0" marL="0">
              <a:lnSpc>
                <a:spcPct val="116000"/>
              </a:lnSpc>
              <a:buNone/>
            </a:pPr>
            <a:r>
              <a:rPr lang="en-US" sz="1140" i="1" dirty="0">
                <a:solidFill>
                  <a:srgbClr val="52606D"/>
                </a:solidFill>
                <a:latin typeface="Aptos" pitchFamily="34" charset="0"/>
                <a:ea typeface="Aptos" pitchFamily="34" charset="-122"/>
                <a:cs typeface="Aptos" pitchFamily="34" charset="-120"/>
              </a:rPr>
              <a:t>“…el responsable debe aplicar medidas técnicas y organizativas adecuadas desde el diseño con anterioridad y durante el tratamiento de los datos personales. […] deberá aplicar medidas […] para garantizar que, por defecto, sólo sean objeto de tratamiento los datos personales específicos y estrictamente necesarios para dicha actividad.”</a:t>
            </a:r>
            <a:endParaRPr lang="en-US" sz="1140" dirty="0"/>
          </a:p>
        </p:txBody>
      </p:sp>
      <p:sp>
        <p:nvSpPr>
          <p:cNvPr id="16" name="Shape 13"/>
          <p:cNvSpPr/>
          <p:nvPr/>
        </p:nvSpPr>
        <p:spPr>
          <a:xfrm>
            <a:off x="8339328" y="2048256"/>
            <a:ext cx="3191256" cy="1097280"/>
          </a:xfrm>
          <a:prstGeom prst="rect">
            <a:avLst/>
          </a:prstGeom>
          <a:solidFill>
            <a:srgbClr val="FFFFFF"/>
          </a:solidFill>
          <a:ln w="12700">
            <a:solidFill>
              <a:srgbClr val="FFFFFF"/>
            </a:solidFill>
            <a:prstDash val="solid"/>
          </a:ln>
        </p:spPr>
      </p:sp>
      <p:sp>
        <p:nvSpPr>
          <p:cNvPr id="17" name="Shape 14"/>
          <p:cNvSpPr/>
          <p:nvPr/>
        </p:nvSpPr>
        <p:spPr>
          <a:xfrm>
            <a:off x="8339328" y="2048256"/>
            <a:ext cx="3191256" cy="54864"/>
          </a:xfrm>
          <a:prstGeom prst="rect">
            <a:avLst/>
          </a:prstGeom>
          <a:solidFill>
            <a:srgbClr val="B3181E"/>
          </a:solidFill>
          <a:ln w="12700">
            <a:solidFill>
              <a:srgbClr val="B3181E"/>
            </a:solidFill>
            <a:prstDash val="solid"/>
          </a:ln>
        </p:spPr>
      </p:sp>
      <p:sp>
        <p:nvSpPr>
          <p:cNvPr id="18" name="Text 15"/>
          <p:cNvSpPr txBox="1"/>
          <p:nvPr/>
        </p:nvSpPr>
        <p:spPr>
          <a:xfrm>
            <a:off x="8577072" y="2212848"/>
            <a:ext cx="2788920" cy="256032"/>
          </a:xfrm>
          <a:prstGeom prst="rect">
            <a:avLst/>
          </a:prstGeom>
          <a:noFill/>
          <a:ln/>
        </p:spPr>
        <p:txBody>
          <a:bodyPr wrap="square" lIns="0" tIns="0" rIns="0" bIns="0" rtlCol="0" anchor="t"/>
          <a:lstStyle/>
          <a:p>
            <a:pPr algn="l" indent="0" marL="0">
              <a:buNone/>
            </a:pPr>
            <a:r>
              <a:rPr lang="en-US" sz="1220" b="1" dirty="0">
                <a:solidFill>
                  <a:srgbClr val="B3181E"/>
                </a:solidFill>
                <a:latin typeface="Aptos" pitchFamily="34" charset="0"/>
                <a:ea typeface="Aptos" pitchFamily="34" charset="-122"/>
                <a:cs typeface="Aptos" pitchFamily="34" charset="-120"/>
              </a:rPr>
              <a:t>«Con anterioridad y durante»</a:t>
            </a:r>
            <a:endParaRPr lang="en-US" sz="1220" dirty="0"/>
          </a:p>
        </p:txBody>
      </p:sp>
      <p:sp>
        <p:nvSpPr>
          <p:cNvPr id="19" name="Text 16"/>
          <p:cNvSpPr txBox="1"/>
          <p:nvPr/>
        </p:nvSpPr>
        <p:spPr>
          <a:xfrm>
            <a:off x="8577072" y="2505456"/>
            <a:ext cx="2788920" cy="566928"/>
          </a:xfrm>
          <a:prstGeom prst="rect">
            <a:avLst/>
          </a:prstGeom>
          <a:noFill/>
          <a:ln/>
        </p:spPr>
        <p:txBody>
          <a:bodyPr wrap="square" lIns="0" tIns="0" rIns="0" bIns="0" rtlCol="0" anchor="t"/>
          <a:lstStyle/>
          <a:p>
            <a:pPr algn="l" indent="0" marL="0">
              <a:lnSpc>
                <a:spcPct val="114000"/>
              </a:lnSpc>
              <a:buNone/>
            </a:pPr>
            <a:r>
              <a:rPr lang="en-US" sz="1080" dirty="0">
                <a:solidFill>
                  <a:srgbClr val="52606D"/>
                </a:solidFill>
                <a:latin typeface="Aptos" pitchFamily="34" charset="0"/>
                <a:ea typeface="Aptos" pitchFamily="34" charset="-122"/>
                <a:cs typeface="Aptos" pitchFamily="34" charset="-120"/>
              </a:rPr>
              <a:t>No es revisar la privacidad al final. Es aplicar las medidas antes de que el tratamiento empiece.</a:t>
            </a:r>
            <a:endParaRPr lang="en-US" sz="1080" dirty="0"/>
          </a:p>
        </p:txBody>
      </p:sp>
      <p:sp>
        <p:nvSpPr>
          <p:cNvPr id="20" name="Shape 17"/>
          <p:cNvSpPr/>
          <p:nvPr/>
        </p:nvSpPr>
        <p:spPr>
          <a:xfrm>
            <a:off x="8339328" y="3236976"/>
            <a:ext cx="3191256" cy="1097280"/>
          </a:xfrm>
          <a:prstGeom prst="rect">
            <a:avLst/>
          </a:prstGeom>
          <a:solidFill>
            <a:srgbClr val="FFFFFF"/>
          </a:solidFill>
          <a:ln w="12700">
            <a:solidFill>
              <a:srgbClr val="FFFFFF"/>
            </a:solidFill>
            <a:prstDash val="solid"/>
          </a:ln>
        </p:spPr>
      </p:sp>
      <p:sp>
        <p:nvSpPr>
          <p:cNvPr id="21" name="Shape 18"/>
          <p:cNvSpPr/>
          <p:nvPr/>
        </p:nvSpPr>
        <p:spPr>
          <a:xfrm>
            <a:off x="8339328" y="3236976"/>
            <a:ext cx="3191256" cy="54864"/>
          </a:xfrm>
          <a:prstGeom prst="rect">
            <a:avLst/>
          </a:prstGeom>
          <a:solidFill>
            <a:srgbClr val="255A4C"/>
          </a:solidFill>
          <a:ln w="12700">
            <a:solidFill>
              <a:srgbClr val="255A4C"/>
            </a:solidFill>
            <a:prstDash val="solid"/>
          </a:ln>
        </p:spPr>
      </p:sp>
      <p:sp>
        <p:nvSpPr>
          <p:cNvPr id="22" name="Text 19"/>
          <p:cNvSpPr txBox="1"/>
          <p:nvPr/>
        </p:nvSpPr>
        <p:spPr>
          <a:xfrm>
            <a:off x="8577072" y="3401568"/>
            <a:ext cx="2788920" cy="256032"/>
          </a:xfrm>
          <a:prstGeom prst="rect">
            <a:avLst/>
          </a:prstGeom>
          <a:noFill/>
          <a:ln/>
        </p:spPr>
        <p:txBody>
          <a:bodyPr wrap="square" lIns="0" tIns="0" rIns="0" bIns="0" rtlCol="0" anchor="t"/>
          <a:lstStyle/>
          <a:p>
            <a:pPr algn="l" indent="0" marL="0">
              <a:buNone/>
            </a:pPr>
            <a:r>
              <a:rPr lang="en-US" sz="1220" b="1" dirty="0">
                <a:solidFill>
                  <a:srgbClr val="255A4C"/>
                </a:solidFill>
                <a:latin typeface="Aptos" pitchFamily="34" charset="0"/>
                <a:ea typeface="Aptos" pitchFamily="34" charset="-122"/>
                <a:cs typeface="Aptos" pitchFamily="34" charset="-120"/>
              </a:rPr>
              <a:t>«Estrictamente necesarios»</a:t>
            </a:r>
            <a:endParaRPr lang="en-US" sz="1220" dirty="0"/>
          </a:p>
        </p:txBody>
      </p:sp>
      <p:sp>
        <p:nvSpPr>
          <p:cNvPr id="23" name="Text 20"/>
          <p:cNvSpPr txBox="1"/>
          <p:nvPr/>
        </p:nvSpPr>
        <p:spPr>
          <a:xfrm>
            <a:off x="8577072" y="3694176"/>
            <a:ext cx="2788920" cy="566928"/>
          </a:xfrm>
          <a:prstGeom prst="rect">
            <a:avLst/>
          </a:prstGeom>
          <a:noFill/>
          <a:ln/>
        </p:spPr>
        <p:txBody>
          <a:bodyPr wrap="square" lIns="0" tIns="0" rIns="0" bIns="0" rtlCol="0" anchor="t"/>
          <a:lstStyle/>
          <a:p>
            <a:pPr algn="l" indent="0" marL="0">
              <a:lnSpc>
                <a:spcPct val="114000"/>
              </a:lnSpc>
              <a:buNone/>
            </a:pPr>
            <a:r>
              <a:rPr lang="en-US" sz="1080" dirty="0">
                <a:solidFill>
                  <a:srgbClr val="52606D"/>
                </a:solidFill>
                <a:latin typeface="Aptos" pitchFamily="34" charset="0"/>
                <a:ea typeface="Aptos" pitchFamily="34" charset="-122"/>
                <a:cs typeface="Aptos" pitchFamily="34" charset="-120"/>
              </a:rPr>
              <a:t>Ese inciso es un criterio de aceptación redactado por el legislador: tiene magnitud, dirección y umbral.</a:t>
            </a:r>
            <a:endParaRPr lang="en-US" sz="1080" dirty="0"/>
          </a:p>
        </p:txBody>
      </p:sp>
      <p:sp>
        <p:nvSpPr>
          <p:cNvPr id="24" name="Shape 21"/>
          <p:cNvSpPr/>
          <p:nvPr/>
        </p:nvSpPr>
        <p:spPr>
          <a:xfrm>
            <a:off x="658368" y="4498848"/>
            <a:ext cx="10874959" cy="603504"/>
          </a:xfrm>
          <a:prstGeom prst="rect">
            <a:avLst/>
          </a:prstGeom>
          <a:solidFill>
            <a:srgbClr val="F8E4E5"/>
          </a:solidFill>
          <a:ln w="12700">
            <a:solidFill>
              <a:srgbClr val="F8E4E5"/>
            </a:solidFill>
            <a:prstDash val="solid"/>
          </a:ln>
        </p:spPr>
      </p:sp>
      <p:sp>
        <p:nvSpPr>
          <p:cNvPr id="25" name="Shape 22"/>
          <p:cNvSpPr/>
          <p:nvPr/>
        </p:nvSpPr>
        <p:spPr>
          <a:xfrm>
            <a:off x="658368" y="4498848"/>
            <a:ext cx="64008" cy="603504"/>
          </a:xfrm>
          <a:prstGeom prst="rect">
            <a:avLst/>
          </a:prstGeom>
          <a:solidFill>
            <a:srgbClr val="B3181E"/>
          </a:solidFill>
          <a:ln w="12700">
            <a:solidFill>
              <a:srgbClr val="B3181E"/>
            </a:solidFill>
            <a:prstDash val="solid"/>
          </a:ln>
        </p:spPr>
      </p:sp>
      <p:sp>
        <p:nvSpPr>
          <p:cNvPr id="26" name="Text 23"/>
          <p:cNvSpPr txBox="1"/>
          <p:nvPr/>
        </p:nvSpPr>
        <p:spPr>
          <a:xfrm>
            <a:off x="969264" y="4626864"/>
            <a:ext cx="1554480" cy="274320"/>
          </a:xfrm>
          <a:prstGeom prst="rect">
            <a:avLst/>
          </a:prstGeom>
          <a:noFill/>
          <a:ln/>
        </p:spPr>
        <p:txBody>
          <a:bodyPr wrap="square" lIns="0" tIns="0" rIns="0" bIns="0" rtlCol="0" anchor="t"/>
          <a:lstStyle/>
          <a:p>
            <a:pPr algn="l" indent="0" marL="0">
              <a:buNone/>
            </a:pPr>
            <a:r>
              <a:rPr lang="en-US" sz="1450" b="1" dirty="0">
                <a:solidFill>
                  <a:srgbClr val="B3181E"/>
                </a:solidFill>
                <a:latin typeface="Aptos" pitchFamily="34" charset="0"/>
                <a:ea typeface="Aptos" pitchFamily="34" charset="-122"/>
                <a:cs typeface="Aptos" pitchFamily="34" charset="-120"/>
              </a:rPr>
              <a:t>Requisitos</a:t>
            </a:r>
            <a:endParaRPr lang="en-US" sz="1450" dirty="0"/>
          </a:p>
        </p:txBody>
      </p:sp>
      <p:sp>
        <p:nvSpPr>
          <p:cNvPr id="27" name="Shape 24"/>
          <p:cNvSpPr/>
          <p:nvPr/>
        </p:nvSpPr>
        <p:spPr>
          <a:xfrm>
            <a:off x="2286000" y="4608576"/>
            <a:ext cx="0" cy="384048"/>
          </a:xfrm>
          <a:prstGeom prst="line">
            <a:avLst/>
          </a:prstGeom>
          <a:noFill/>
          <a:ln w="12700">
            <a:solidFill>
              <a:srgbClr val="D8CFC4"/>
            </a:solidFill>
            <a:prstDash val="solid"/>
            <a:headEnd type="none"/>
            <a:tailEnd type="none"/>
          </a:ln>
        </p:spPr>
      </p:sp>
      <p:sp>
        <p:nvSpPr>
          <p:cNvPr id="28" name="Text 25"/>
          <p:cNvSpPr txBox="1"/>
          <p:nvPr/>
        </p:nvSpPr>
        <p:spPr>
          <a:xfrm>
            <a:off x="2578608" y="4645152"/>
            <a:ext cx="8686800" cy="274320"/>
          </a:xfrm>
          <a:prstGeom prst="rect">
            <a:avLst/>
          </a:prstGeom>
          <a:noFill/>
          <a:ln/>
        </p:spPr>
        <p:txBody>
          <a:bodyPr wrap="square" lIns="0" tIns="0" rIns="0" bIns="0" rtlCol="0" anchor="t"/>
          <a:lstStyle/>
          <a:p>
            <a:pPr algn="l" indent="0" marL="0">
              <a:buNone/>
            </a:pPr>
            <a:r>
              <a:rPr lang="en-US" sz="1260" dirty="0">
                <a:solidFill>
                  <a:srgbClr val="243B53"/>
                </a:solidFill>
                <a:latin typeface="Aptos" pitchFamily="34" charset="0"/>
                <a:ea typeface="Aptos" pitchFamily="34" charset="-122"/>
                <a:cs typeface="Aptos" pitchFamily="34" charset="-120"/>
              </a:rPr>
              <a:t>la única etapa sin nada que ejecutar, donde la única prueba posible es que alguien lea un documento. La ley ubica su exigencia exactamente ahí.</a:t>
            </a:r>
            <a:endParaRPr lang="en-US" sz="1260" dirty="0"/>
          </a:p>
        </p:txBody>
      </p:sp>
      <p:sp>
        <p:nvSpPr>
          <p:cNvPr id="29" name="Shape 26"/>
          <p:cNvSpPr/>
          <p:nvPr/>
        </p:nvSpPr>
        <p:spPr>
          <a:xfrm>
            <a:off x="658368" y="5230368"/>
            <a:ext cx="10874959" cy="658368"/>
          </a:xfrm>
          <a:prstGeom prst="rect">
            <a:avLst/>
          </a:prstGeom>
          <a:solidFill>
            <a:srgbClr val="102A43"/>
          </a:solidFill>
          <a:ln w="12700">
            <a:solidFill>
              <a:srgbClr val="102A43"/>
            </a:solidFill>
            <a:prstDash val="solid"/>
          </a:ln>
        </p:spPr>
      </p:sp>
      <p:sp>
        <p:nvSpPr>
          <p:cNvPr id="30" name="Text 27"/>
          <p:cNvSpPr txBox="1"/>
          <p:nvPr/>
        </p:nvSpPr>
        <p:spPr>
          <a:xfrm>
            <a:off x="969264" y="5340096"/>
            <a:ext cx="5852160" cy="182880"/>
          </a:xfrm>
          <a:prstGeom prst="rect">
            <a:avLst/>
          </a:prstGeom>
          <a:noFill/>
          <a:ln/>
        </p:spPr>
        <p:txBody>
          <a:bodyPr wrap="square" lIns="0" tIns="0" rIns="0" bIns="0" rtlCol="0" anchor="t"/>
          <a:lstStyle/>
          <a:p>
            <a:pPr algn="l" indent="0" marL="0">
              <a:buNone/>
            </a:pPr>
            <a:r>
              <a:rPr lang="en-US" sz="880" b="1" spc="120" kern="0" dirty="0">
                <a:solidFill>
                  <a:srgbClr val="E0BC5A"/>
                </a:solidFill>
                <a:latin typeface="Aptos" pitchFamily="34" charset="0"/>
                <a:ea typeface="Aptos" pitchFamily="34" charset="-122"/>
                <a:cs typeface="Aptos" pitchFamily="34" charset="-120"/>
              </a:rPr>
              <a:t>Y QUEDA RESPONDIDA LA PREGUNTA QUE ABRIÓ EL BLOQUE ANTERIOR</a:t>
            </a:r>
            <a:endParaRPr lang="en-US" sz="880" dirty="0"/>
          </a:p>
        </p:txBody>
      </p:sp>
      <p:sp>
        <p:nvSpPr>
          <p:cNvPr id="31" name="Text 28"/>
          <p:cNvSpPr txBox="1"/>
          <p:nvPr/>
        </p:nvSpPr>
        <p:spPr>
          <a:xfrm>
            <a:off x="969264" y="5559552"/>
            <a:ext cx="10234879" cy="237744"/>
          </a:xfrm>
          <a:prstGeom prst="rect">
            <a:avLst/>
          </a:prstGeom>
          <a:noFill/>
          <a:ln/>
        </p:spPr>
        <p:txBody>
          <a:bodyPr wrap="square" lIns="0" tIns="0" rIns="0" bIns="0" rtlCol="0" anchor="t"/>
          <a:lstStyle/>
          <a:p>
            <a:pPr algn="l" indent="0" marL="0">
              <a:buNone/>
            </a:pPr>
            <a:r>
              <a:rPr lang="en-US" sz="1300" dirty="0">
                <a:solidFill>
                  <a:srgbClr val="FFFFFF"/>
                </a:solidFill>
                <a:latin typeface="Aptos" pitchFamily="34" charset="0"/>
                <a:ea typeface="Aptos" pitchFamily="34" charset="-122"/>
                <a:cs typeface="Aptos" pitchFamily="34" charset="-120"/>
              </a:rPr>
              <a:t>El umbral de cero RUT expuestos no lo fijó nadie de este curso: se sigue de la ley aplicada a una finalidad que sí se decidió aquí.</a:t>
            </a:r>
            <a:endParaRPr lang="en-US" sz="1300" dirty="0"/>
          </a:p>
        </p:txBody>
      </p:sp>
      <p:sp>
        <p:nvSpPr>
          <p:cNvPr id="32" name="Shape 29"/>
          <p:cNvSpPr/>
          <p:nvPr/>
        </p:nvSpPr>
        <p:spPr>
          <a:xfrm>
            <a:off x="658368" y="5998464"/>
            <a:ext cx="45720" cy="182880"/>
          </a:xfrm>
          <a:prstGeom prst="rect">
            <a:avLst/>
          </a:prstGeom>
          <a:solidFill>
            <a:srgbClr val="8A6A12"/>
          </a:solidFill>
          <a:ln w="12700">
            <a:solidFill>
              <a:srgbClr val="8A6A12"/>
            </a:solidFill>
            <a:prstDash val="solid"/>
          </a:ln>
        </p:spPr>
      </p:sp>
      <p:sp>
        <p:nvSpPr>
          <p:cNvPr id="33" name="Text 30"/>
          <p:cNvSpPr txBox="1"/>
          <p:nvPr/>
        </p:nvSpPr>
        <p:spPr>
          <a:xfrm>
            <a:off x="804672" y="5989320"/>
            <a:ext cx="6400800" cy="201168"/>
          </a:xfrm>
          <a:prstGeom prst="rect">
            <a:avLst/>
          </a:prstGeom>
          <a:noFill/>
          <a:ln/>
        </p:spPr>
        <p:txBody>
          <a:bodyPr wrap="square" lIns="0" tIns="0" rIns="0" bIns="0" rtlCol="0" anchor="t"/>
          <a:lstStyle/>
          <a:p>
            <a:pPr algn="l" indent="0" marL="0">
              <a:buNone/>
            </a:pPr>
            <a:r>
              <a:rPr lang="en-US" sz="920" i="1" dirty="0">
                <a:solidFill>
                  <a:srgbClr val="52606D"/>
                </a:solidFill>
                <a:latin typeface="Aptos" pitchFamily="34" charset="0"/>
                <a:ea typeface="Aptos" pitchFamily="34" charset="-122"/>
                <a:cs typeface="Aptos" pitchFamily="34" charset="-120"/>
              </a:rPr>
              <a:t>Ley 21.719 · Diario Oficial núm. 44.023, 13 de diciembre de 2024.</a:t>
            </a:r>
            <a:endParaRPr lang="en-US" sz="92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36</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EL ENTREGABLE</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Cuatro líneas que llevaban dos sesiones sin existir</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Empieza por la finalidad, porque sin ella la regla no se puede justificar ni evaluar.</a:t>
            </a:r>
            <a:endParaRPr lang="en-US" sz="1450" dirty="0"/>
          </a:p>
        </p:txBody>
      </p:sp>
      <p:sp>
        <p:nvSpPr>
          <p:cNvPr id="11" name="Shape 8"/>
          <p:cNvSpPr/>
          <p:nvPr/>
        </p:nvSpPr>
        <p:spPr>
          <a:xfrm>
            <a:off x="658368" y="2377440"/>
            <a:ext cx="6492240" cy="2048256"/>
          </a:xfrm>
          <a:prstGeom prst="roundRect">
            <a:avLst>
              <a:gd name="adj" fmla="val 1786"/>
            </a:avLst>
          </a:prstGeom>
          <a:solidFill>
            <a:srgbClr val="102A43"/>
          </a:solidFill>
          <a:ln w="12700">
            <a:solidFill>
              <a:srgbClr val="102A43"/>
            </a:solidFill>
            <a:prstDash val="solid"/>
          </a:ln>
        </p:spPr>
      </p:sp>
      <p:sp>
        <p:nvSpPr>
          <p:cNvPr id="12" name="Shape 9"/>
          <p:cNvSpPr/>
          <p:nvPr/>
        </p:nvSpPr>
        <p:spPr>
          <a:xfrm>
            <a:off x="786384" y="2487168"/>
            <a:ext cx="623620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560320"/>
            <a:ext cx="601675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REQUISITOS.md · la sección que faltaba</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944368"/>
            <a:ext cx="6071616" cy="1298448"/>
          </a:xfrm>
          <a:prstGeom prst="rect">
            <a:avLst/>
          </a:prstGeom>
        </p:spPr>
      </p:pic>
      <p:sp>
        <p:nvSpPr>
          <p:cNvPr id="15" name="Text 11"/>
          <p:cNvSpPr txBox="1"/>
          <p:nvPr/>
        </p:nvSpPr>
        <p:spPr>
          <a:xfrm>
            <a:off x="7278624" y="2377440"/>
            <a:ext cx="4023360" cy="201168"/>
          </a:xfrm>
          <a:prstGeom prst="rect">
            <a:avLst/>
          </a:prstGeom>
          <a:noFill/>
          <a:ln/>
        </p:spPr>
        <p:txBody>
          <a:bodyPr wrap="square" lIns="0" tIns="0" rIns="0" bIns="0" rtlCol="0" anchor="t"/>
          <a:lstStyle/>
          <a:p>
            <a:pPr algn="l" indent="0" marL="0">
              <a:buNone/>
            </a:pPr>
            <a:r>
              <a:rPr lang="en-US" sz="960" b="1" spc="130" kern="0" dirty="0">
                <a:solidFill>
                  <a:srgbClr val="52606D"/>
                </a:solidFill>
                <a:latin typeface="Aptos" pitchFamily="34" charset="0"/>
                <a:ea typeface="Aptos" pitchFamily="34" charset="-122"/>
                <a:cs typeface="Aptos" pitchFamily="34" charset="-120"/>
              </a:rPr>
              <a:t>QUÉ APORTA CADA LÍNEA</a:t>
            </a:r>
            <a:endParaRPr lang="en-US" sz="960" dirty="0"/>
          </a:p>
        </p:txBody>
      </p:sp>
      <p:sp>
        <p:nvSpPr>
          <p:cNvPr id="16" name="Shape 12"/>
          <p:cNvSpPr/>
          <p:nvPr/>
        </p:nvSpPr>
        <p:spPr>
          <a:xfrm>
            <a:off x="7278624" y="2651760"/>
            <a:ext cx="45720" cy="365760"/>
          </a:xfrm>
          <a:prstGeom prst="rect">
            <a:avLst/>
          </a:prstGeom>
          <a:solidFill>
            <a:srgbClr val="102A43"/>
          </a:solidFill>
          <a:ln w="12700">
            <a:solidFill>
              <a:srgbClr val="102A43"/>
            </a:solidFill>
            <a:prstDash val="solid"/>
          </a:ln>
        </p:spPr>
      </p:sp>
      <p:sp>
        <p:nvSpPr>
          <p:cNvPr id="17" name="Text 13"/>
          <p:cNvSpPr txBox="1"/>
          <p:nvPr/>
        </p:nvSpPr>
        <p:spPr>
          <a:xfrm>
            <a:off x="7461504" y="2651760"/>
            <a:ext cx="4023360" cy="201168"/>
          </a:xfrm>
          <a:prstGeom prst="rect">
            <a:avLst/>
          </a:prstGeom>
          <a:noFill/>
          <a:ln/>
        </p:spPr>
        <p:txBody>
          <a:bodyPr wrap="square" lIns="0" tIns="0" rIns="0" bIns="0" rtlCol="0" anchor="t"/>
          <a:lstStyle/>
          <a:p>
            <a:pPr algn="l" indent="0" marL="0">
              <a:buNone/>
            </a:pPr>
            <a:r>
              <a:rPr lang="en-US" sz="1200" b="1" dirty="0">
                <a:solidFill>
                  <a:srgbClr val="243B53"/>
                </a:solidFill>
                <a:latin typeface="Aptos" pitchFamily="34" charset="0"/>
                <a:ea typeface="Aptos" pitchFamily="34" charset="-122"/>
                <a:cs typeface="Aptos" pitchFamily="34" charset="-120"/>
              </a:rPr>
              <a:t>Declara la finalidad</a:t>
            </a:r>
            <a:endParaRPr lang="en-US" sz="1200" dirty="0"/>
          </a:p>
        </p:txBody>
      </p:sp>
      <p:sp>
        <p:nvSpPr>
          <p:cNvPr id="18" name="Text 14"/>
          <p:cNvSpPr txBox="1"/>
          <p:nvPr/>
        </p:nvSpPr>
        <p:spPr>
          <a:xfrm>
            <a:off x="7461504" y="2834640"/>
            <a:ext cx="4023360" cy="182880"/>
          </a:xfrm>
          <a:prstGeom prst="rect">
            <a:avLst/>
          </a:prstGeom>
          <a:noFill/>
          <a:ln/>
        </p:spPr>
        <p:txBody>
          <a:bodyPr wrap="square" lIns="0" tIns="0" rIns="0" bIns="0" rtlCol="0" anchor="t"/>
          <a:lstStyle/>
          <a:p>
            <a:pPr algn="l" indent="0" marL="0">
              <a:buNone/>
            </a:pPr>
            <a:r>
              <a:rPr lang="en-US" sz="1060" dirty="0">
                <a:solidFill>
                  <a:srgbClr val="52606D"/>
                </a:solidFill>
                <a:latin typeface="Aptos" pitchFamily="34" charset="0"/>
                <a:ea typeface="Aptos" pitchFamily="34" charset="-122"/>
                <a:cs typeface="Aptos" pitchFamily="34" charset="-120"/>
              </a:rPr>
              <a:t>sin ella no se puede aplicar la proporcionalidad</a:t>
            </a:r>
            <a:endParaRPr lang="en-US" sz="1060" dirty="0"/>
          </a:p>
        </p:txBody>
      </p:sp>
      <p:sp>
        <p:nvSpPr>
          <p:cNvPr id="19" name="Shape 15"/>
          <p:cNvSpPr/>
          <p:nvPr/>
        </p:nvSpPr>
        <p:spPr>
          <a:xfrm>
            <a:off x="7278624" y="3108960"/>
            <a:ext cx="45720" cy="365760"/>
          </a:xfrm>
          <a:prstGeom prst="rect">
            <a:avLst/>
          </a:prstGeom>
          <a:solidFill>
            <a:srgbClr val="B3181E"/>
          </a:solidFill>
          <a:ln w="12700">
            <a:solidFill>
              <a:srgbClr val="B3181E"/>
            </a:solidFill>
            <a:prstDash val="solid"/>
          </a:ln>
        </p:spPr>
      </p:sp>
      <p:sp>
        <p:nvSpPr>
          <p:cNvPr id="20" name="Text 16"/>
          <p:cNvSpPr txBox="1"/>
          <p:nvPr/>
        </p:nvSpPr>
        <p:spPr>
          <a:xfrm>
            <a:off x="7461504" y="3108960"/>
            <a:ext cx="4023360" cy="201168"/>
          </a:xfrm>
          <a:prstGeom prst="rect">
            <a:avLst/>
          </a:prstGeom>
          <a:noFill/>
          <a:ln/>
        </p:spPr>
        <p:txBody>
          <a:bodyPr wrap="square" lIns="0" tIns="0" rIns="0" bIns="0" rtlCol="0" anchor="t"/>
          <a:lstStyle/>
          <a:p>
            <a:pPr algn="l" indent="0" marL="0">
              <a:buNone/>
            </a:pPr>
            <a:r>
              <a:rPr lang="en-US" sz="1200" b="1" dirty="0">
                <a:solidFill>
                  <a:srgbClr val="243B53"/>
                </a:solidFill>
                <a:latin typeface="Aptos" pitchFamily="34" charset="0"/>
                <a:ea typeface="Aptos" pitchFamily="34" charset="-122"/>
                <a:cs typeface="Aptos" pitchFamily="34" charset="-120"/>
              </a:rPr>
              <a:t>Hace el juicio de necesidad</a:t>
            </a:r>
            <a:endParaRPr lang="en-US" sz="1200" dirty="0"/>
          </a:p>
        </p:txBody>
      </p:sp>
      <p:sp>
        <p:nvSpPr>
          <p:cNvPr id="21" name="Text 17"/>
          <p:cNvSpPr txBox="1"/>
          <p:nvPr/>
        </p:nvSpPr>
        <p:spPr>
          <a:xfrm>
            <a:off x="7461504" y="3291840"/>
            <a:ext cx="4023360" cy="182880"/>
          </a:xfrm>
          <a:prstGeom prst="rect">
            <a:avLst/>
          </a:prstGeom>
          <a:noFill/>
          <a:ln/>
        </p:spPr>
        <p:txBody>
          <a:bodyPr wrap="square" lIns="0" tIns="0" rIns="0" bIns="0" rtlCol="0" anchor="t"/>
          <a:lstStyle/>
          <a:p>
            <a:pPr algn="l" indent="0" marL="0">
              <a:buNone/>
            </a:pPr>
            <a:r>
              <a:rPr lang="en-US" sz="1060" dirty="0">
                <a:solidFill>
                  <a:srgbClr val="52606D"/>
                </a:solidFill>
                <a:latin typeface="Aptos" pitchFamily="34" charset="0"/>
                <a:ea typeface="Aptos" pitchFamily="34" charset="-122"/>
                <a:cs typeface="Aptos" pitchFamily="34" charset="-120"/>
              </a:rPr>
              <a:t>explícito, no implícito</a:t>
            </a:r>
            <a:endParaRPr lang="en-US" sz="1060" dirty="0"/>
          </a:p>
        </p:txBody>
      </p:sp>
      <p:sp>
        <p:nvSpPr>
          <p:cNvPr id="22" name="Shape 18"/>
          <p:cNvSpPr/>
          <p:nvPr/>
        </p:nvSpPr>
        <p:spPr>
          <a:xfrm>
            <a:off x="7278624" y="3566160"/>
            <a:ext cx="45720" cy="365760"/>
          </a:xfrm>
          <a:prstGeom prst="rect">
            <a:avLst/>
          </a:prstGeom>
          <a:solidFill>
            <a:srgbClr val="255A4C"/>
          </a:solidFill>
          <a:ln w="12700">
            <a:solidFill>
              <a:srgbClr val="255A4C"/>
            </a:solidFill>
            <a:prstDash val="solid"/>
          </a:ln>
        </p:spPr>
      </p:sp>
      <p:sp>
        <p:nvSpPr>
          <p:cNvPr id="23" name="Text 19"/>
          <p:cNvSpPr txBox="1"/>
          <p:nvPr/>
        </p:nvSpPr>
        <p:spPr>
          <a:xfrm>
            <a:off x="7461504" y="3566160"/>
            <a:ext cx="4023360" cy="201168"/>
          </a:xfrm>
          <a:prstGeom prst="rect">
            <a:avLst/>
          </a:prstGeom>
          <a:noFill/>
          <a:ln/>
        </p:spPr>
        <p:txBody>
          <a:bodyPr wrap="square" lIns="0" tIns="0" rIns="0" bIns="0" rtlCol="0" anchor="t"/>
          <a:lstStyle/>
          <a:p>
            <a:pPr algn="l" indent="0" marL="0">
              <a:buNone/>
            </a:pPr>
            <a:r>
              <a:rPr lang="en-US" sz="1200" b="1" dirty="0">
                <a:solidFill>
                  <a:srgbClr val="243B53"/>
                </a:solidFill>
                <a:latin typeface="Aptos" pitchFamily="34" charset="0"/>
                <a:ea typeface="Aptos" pitchFamily="34" charset="-122"/>
                <a:cs typeface="Aptos" pitchFamily="34" charset="-120"/>
              </a:rPr>
              <a:t>Fija el comportamiento</a:t>
            </a:r>
            <a:endParaRPr lang="en-US" sz="1200" dirty="0"/>
          </a:p>
        </p:txBody>
      </p:sp>
      <p:sp>
        <p:nvSpPr>
          <p:cNvPr id="24" name="Text 20"/>
          <p:cNvSpPr txBox="1"/>
          <p:nvPr/>
        </p:nvSpPr>
        <p:spPr>
          <a:xfrm>
            <a:off x="7461504" y="3749040"/>
            <a:ext cx="4023360" cy="182880"/>
          </a:xfrm>
          <a:prstGeom prst="rect">
            <a:avLst/>
          </a:prstGeom>
          <a:noFill/>
          <a:ln/>
        </p:spPr>
        <p:txBody>
          <a:bodyPr wrap="square" lIns="0" tIns="0" rIns="0" bIns="0" rtlCol="0" anchor="t"/>
          <a:lstStyle/>
          <a:p>
            <a:pPr algn="l" indent="0" marL="0">
              <a:buNone/>
            </a:pPr>
            <a:r>
              <a:rPr lang="en-US" sz="1060" dirty="0">
                <a:solidFill>
                  <a:srgbClr val="52606D"/>
                </a:solidFill>
                <a:latin typeface="Aptos" pitchFamily="34" charset="0"/>
                <a:ea typeface="Aptos" pitchFamily="34" charset="-122"/>
                <a:cs typeface="Aptos" pitchFamily="34" charset="-120"/>
              </a:rPr>
              <a:t>observable en la salida</a:t>
            </a:r>
            <a:endParaRPr lang="en-US" sz="1060" dirty="0"/>
          </a:p>
        </p:txBody>
      </p:sp>
      <p:sp>
        <p:nvSpPr>
          <p:cNvPr id="25" name="Shape 21"/>
          <p:cNvSpPr/>
          <p:nvPr/>
        </p:nvSpPr>
        <p:spPr>
          <a:xfrm>
            <a:off x="7278624" y="4023360"/>
            <a:ext cx="45720" cy="365760"/>
          </a:xfrm>
          <a:prstGeom prst="rect">
            <a:avLst/>
          </a:prstGeom>
          <a:solidFill>
            <a:srgbClr val="8A6A12"/>
          </a:solidFill>
          <a:ln w="12700">
            <a:solidFill>
              <a:srgbClr val="8A6A12"/>
            </a:solidFill>
            <a:prstDash val="solid"/>
          </a:ln>
        </p:spPr>
      </p:sp>
      <p:sp>
        <p:nvSpPr>
          <p:cNvPr id="26" name="Text 22"/>
          <p:cNvSpPr txBox="1"/>
          <p:nvPr/>
        </p:nvSpPr>
        <p:spPr>
          <a:xfrm>
            <a:off x="7461504" y="4023360"/>
            <a:ext cx="4023360" cy="201168"/>
          </a:xfrm>
          <a:prstGeom prst="rect">
            <a:avLst/>
          </a:prstGeom>
          <a:noFill/>
          <a:ln/>
        </p:spPr>
        <p:txBody>
          <a:bodyPr wrap="square" lIns="0" tIns="0" rIns="0" bIns="0" rtlCol="0" anchor="t"/>
          <a:lstStyle/>
          <a:p>
            <a:pPr algn="l" indent="0" marL="0">
              <a:buNone/>
            </a:pPr>
            <a:r>
              <a:rPr lang="en-US" sz="1200" b="1" dirty="0">
                <a:solidFill>
                  <a:srgbClr val="243B53"/>
                </a:solidFill>
                <a:latin typeface="Aptos" pitchFamily="34" charset="0"/>
                <a:ea typeface="Aptos" pitchFamily="34" charset="-122"/>
                <a:cs typeface="Aptos" pitchFamily="34" charset="-120"/>
              </a:rPr>
              <a:t>Extiende el alcance</a:t>
            </a:r>
            <a:endParaRPr lang="en-US" sz="1200" dirty="0"/>
          </a:p>
        </p:txBody>
      </p:sp>
      <p:sp>
        <p:nvSpPr>
          <p:cNvPr id="27" name="Text 23"/>
          <p:cNvSpPr txBox="1"/>
          <p:nvPr/>
        </p:nvSpPr>
        <p:spPr>
          <a:xfrm>
            <a:off x="7461504" y="4206240"/>
            <a:ext cx="4023360" cy="182880"/>
          </a:xfrm>
          <a:prstGeom prst="rect">
            <a:avLst/>
          </a:prstGeom>
          <a:noFill/>
          <a:ln/>
        </p:spPr>
        <p:txBody>
          <a:bodyPr wrap="square" lIns="0" tIns="0" rIns="0" bIns="0" rtlCol="0" anchor="t"/>
          <a:lstStyle/>
          <a:p>
            <a:pPr algn="l" indent="0" marL="0">
              <a:buNone/>
            </a:pPr>
            <a:r>
              <a:rPr lang="en-US" sz="1060" dirty="0">
                <a:solidFill>
                  <a:srgbClr val="52606D"/>
                </a:solidFill>
                <a:latin typeface="Aptos" pitchFamily="34" charset="0"/>
                <a:ea typeface="Aptos" pitchFamily="34" charset="-122"/>
                <a:cs typeface="Aptos" pitchFamily="34" charset="-120"/>
              </a:rPr>
              <a:t>a los registros de ejecución</a:t>
            </a:r>
            <a:endParaRPr lang="en-US" sz="1060" dirty="0"/>
          </a:p>
        </p:txBody>
      </p:sp>
      <p:sp>
        <p:nvSpPr>
          <p:cNvPr id="28" name="Text 24"/>
          <p:cNvSpPr txBox="1"/>
          <p:nvPr/>
        </p:nvSpPr>
        <p:spPr>
          <a:xfrm>
            <a:off x="658368" y="4608576"/>
            <a:ext cx="5486400" cy="201168"/>
          </a:xfrm>
          <a:prstGeom prst="rect">
            <a:avLst/>
          </a:prstGeom>
          <a:noFill/>
          <a:ln/>
        </p:spPr>
        <p:txBody>
          <a:bodyPr wrap="square" lIns="0" tIns="0" rIns="0" bIns="0" rtlCol="0" anchor="t"/>
          <a:lstStyle/>
          <a:p>
            <a:pPr algn="l" indent="0" marL="0">
              <a:buNone/>
            </a:pPr>
            <a:r>
              <a:rPr lang="en-US" sz="960" b="1" spc="130" kern="0" dirty="0">
                <a:solidFill>
                  <a:srgbClr val="52606D"/>
                </a:solidFill>
                <a:latin typeface="Aptos" pitchFamily="34" charset="0"/>
                <a:ea typeface="Aptos" pitchFamily="34" charset="-122"/>
                <a:cs typeface="Aptos" pitchFamily="34" charset="-120"/>
              </a:rPr>
              <a:t>EL RECORRIDO COMPLETO, DE LA LEY A LA EVIDENCIA</a:t>
            </a:r>
            <a:endParaRPr lang="en-US" sz="960" dirty="0"/>
          </a:p>
        </p:txBody>
      </p:sp>
      <p:sp>
        <p:nvSpPr>
          <p:cNvPr id="29" name="Shape 25"/>
          <p:cNvSpPr/>
          <p:nvPr/>
        </p:nvSpPr>
        <p:spPr>
          <a:xfrm>
            <a:off x="658368" y="4882896"/>
            <a:ext cx="2048256" cy="713232"/>
          </a:xfrm>
          <a:prstGeom prst="rect">
            <a:avLst/>
          </a:prstGeom>
          <a:solidFill>
            <a:srgbClr val="FFFFFF"/>
          </a:solidFill>
          <a:ln w="12700">
            <a:solidFill>
              <a:srgbClr val="FFFFFF"/>
            </a:solidFill>
            <a:prstDash val="solid"/>
          </a:ln>
        </p:spPr>
      </p:sp>
      <p:sp>
        <p:nvSpPr>
          <p:cNvPr id="30" name="Shape 26"/>
          <p:cNvSpPr/>
          <p:nvPr/>
        </p:nvSpPr>
        <p:spPr>
          <a:xfrm>
            <a:off x="658368" y="4882896"/>
            <a:ext cx="2048256" cy="54864"/>
          </a:xfrm>
          <a:prstGeom prst="rect">
            <a:avLst/>
          </a:prstGeom>
          <a:solidFill>
            <a:srgbClr val="102A43"/>
          </a:solidFill>
          <a:ln w="12700">
            <a:solidFill>
              <a:srgbClr val="102A43"/>
            </a:solidFill>
            <a:prstDash val="solid"/>
          </a:ln>
        </p:spPr>
      </p:sp>
      <p:sp>
        <p:nvSpPr>
          <p:cNvPr id="31" name="Text 27"/>
          <p:cNvSpPr txBox="1"/>
          <p:nvPr/>
        </p:nvSpPr>
        <p:spPr>
          <a:xfrm>
            <a:off x="804672" y="4992624"/>
            <a:ext cx="1755648" cy="182880"/>
          </a:xfrm>
          <a:prstGeom prst="rect">
            <a:avLst/>
          </a:prstGeom>
          <a:noFill/>
          <a:ln/>
        </p:spPr>
        <p:txBody>
          <a:bodyPr wrap="square" lIns="0" tIns="0" rIns="0" bIns="0" rtlCol="0" anchor="t"/>
          <a:lstStyle/>
          <a:p>
            <a:pPr algn="l" indent="0" marL="0">
              <a:buNone/>
            </a:pPr>
            <a:r>
              <a:rPr lang="en-US" sz="860" b="1" spc="100" kern="0" dirty="0">
                <a:solidFill>
                  <a:srgbClr val="102A43"/>
                </a:solidFill>
                <a:latin typeface="Aptos" pitchFamily="34" charset="0"/>
                <a:ea typeface="Aptos" pitchFamily="34" charset="-122"/>
                <a:cs typeface="Aptos" pitchFamily="34" charset="-120"/>
              </a:rPr>
              <a:t>PRINCIPIO</a:t>
            </a:r>
            <a:endParaRPr lang="en-US" sz="860" dirty="0"/>
          </a:p>
        </p:txBody>
      </p:sp>
      <p:sp>
        <p:nvSpPr>
          <p:cNvPr id="32" name="Text 28"/>
          <p:cNvSpPr txBox="1"/>
          <p:nvPr/>
        </p:nvSpPr>
        <p:spPr>
          <a:xfrm>
            <a:off x="804672" y="5193792"/>
            <a:ext cx="1755648" cy="347472"/>
          </a:xfrm>
          <a:prstGeom prst="rect">
            <a:avLst/>
          </a:prstGeom>
          <a:noFill/>
          <a:ln/>
        </p:spPr>
        <p:txBody>
          <a:bodyPr wrap="square" lIns="0" tIns="0" rIns="0" bIns="0" rtlCol="0" anchor="t"/>
          <a:lstStyle/>
          <a:p>
            <a:pPr algn="l" indent="0" marL="0">
              <a:lnSpc>
                <a:spcPct val="110000"/>
              </a:lnSpc>
              <a:buNone/>
            </a:pPr>
            <a:r>
              <a:rPr lang="en-US" sz="1060" dirty="0">
                <a:solidFill>
                  <a:srgbClr val="243B53"/>
                </a:solidFill>
                <a:latin typeface="Aptos" pitchFamily="34" charset="0"/>
                <a:ea typeface="Aptos" pitchFamily="34" charset="-122"/>
                <a:cs typeface="Aptos" pitchFamily="34" charset="-120"/>
              </a:rPr>
              <a:t>Proporcionalidad</a:t>
            </a:r>
            <a:endParaRPr lang="en-US" sz="1060" dirty="0"/>
          </a:p>
        </p:txBody>
      </p:sp>
      <p:sp>
        <p:nvSpPr>
          <p:cNvPr id="33" name="Shape 29"/>
          <p:cNvSpPr/>
          <p:nvPr/>
        </p:nvSpPr>
        <p:spPr>
          <a:xfrm>
            <a:off x="2724912" y="5230368"/>
            <a:ext cx="137160" cy="0"/>
          </a:xfrm>
          <a:prstGeom prst="line">
            <a:avLst/>
          </a:prstGeom>
          <a:noFill/>
          <a:ln w="12700">
            <a:solidFill>
              <a:srgbClr val="52606D"/>
            </a:solidFill>
            <a:prstDash val="solid"/>
            <a:headEnd type="none"/>
            <a:tailEnd type="triangle"/>
          </a:ln>
        </p:spPr>
      </p:sp>
      <p:sp>
        <p:nvSpPr>
          <p:cNvPr id="34" name="Shape 30"/>
          <p:cNvSpPr/>
          <p:nvPr/>
        </p:nvSpPr>
        <p:spPr>
          <a:xfrm>
            <a:off x="2880360" y="4882896"/>
            <a:ext cx="2048256" cy="713232"/>
          </a:xfrm>
          <a:prstGeom prst="rect">
            <a:avLst/>
          </a:prstGeom>
          <a:solidFill>
            <a:srgbClr val="FFFFFF"/>
          </a:solidFill>
          <a:ln w="12700">
            <a:solidFill>
              <a:srgbClr val="FFFFFF"/>
            </a:solidFill>
            <a:prstDash val="solid"/>
          </a:ln>
        </p:spPr>
      </p:sp>
      <p:sp>
        <p:nvSpPr>
          <p:cNvPr id="35" name="Shape 31"/>
          <p:cNvSpPr/>
          <p:nvPr/>
        </p:nvSpPr>
        <p:spPr>
          <a:xfrm>
            <a:off x="2880360" y="4882896"/>
            <a:ext cx="2048256" cy="54864"/>
          </a:xfrm>
          <a:prstGeom prst="rect">
            <a:avLst/>
          </a:prstGeom>
          <a:solidFill>
            <a:srgbClr val="B3181E"/>
          </a:solidFill>
          <a:ln w="12700">
            <a:solidFill>
              <a:srgbClr val="B3181E"/>
            </a:solidFill>
            <a:prstDash val="solid"/>
          </a:ln>
        </p:spPr>
      </p:sp>
      <p:sp>
        <p:nvSpPr>
          <p:cNvPr id="36" name="Text 32"/>
          <p:cNvSpPr txBox="1"/>
          <p:nvPr/>
        </p:nvSpPr>
        <p:spPr>
          <a:xfrm>
            <a:off x="3026664" y="4992624"/>
            <a:ext cx="1755648" cy="182880"/>
          </a:xfrm>
          <a:prstGeom prst="rect">
            <a:avLst/>
          </a:prstGeom>
          <a:noFill/>
          <a:ln/>
        </p:spPr>
        <p:txBody>
          <a:bodyPr wrap="square" lIns="0" tIns="0" rIns="0" bIns="0" rtlCol="0" anchor="t"/>
          <a:lstStyle/>
          <a:p>
            <a:pPr algn="l" indent="0" marL="0">
              <a:buNone/>
            </a:pPr>
            <a:r>
              <a:rPr lang="en-US" sz="860" b="1" spc="100" kern="0" dirty="0">
                <a:solidFill>
                  <a:srgbClr val="B3181E"/>
                </a:solidFill>
                <a:latin typeface="Aptos" pitchFamily="34" charset="0"/>
                <a:ea typeface="Aptos" pitchFamily="34" charset="-122"/>
                <a:cs typeface="Aptos" pitchFamily="34" charset="-120"/>
              </a:rPr>
              <a:t>REQUISITO</a:t>
            </a:r>
            <a:endParaRPr lang="en-US" sz="860" dirty="0"/>
          </a:p>
        </p:txBody>
      </p:sp>
      <p:sp>
        <p:nvSpPr>
          <p:cNvPr id="37" name="Text 33"/>
          <p:cNvSpPr txBox="1"/>
          <p:nvPr/>
        </p:nvSpPr>
        <p:spPr>
          <a:xfrm>
            <a:off x="3026664" y="5193792"/>
            <a:ext cx="1755648" cy="347472"/>
          </a:xfrm>
          <a:prstGeom prst="rect">
            <a:avLst/>
          </a:prstGeom>
          <a:noFill/>
          <a:ln/>
        </p:spPr>
        <p:txBody>
          <a:bodyPr wrap="square" lIns="0" tIns="0" rIns="0" bIns="0" rtlCol="0" anchor="t"/>
          <a:lstStyle/>
          <a:p>
            <a:pPr algn="l" indent="0" marL="0">
              <a:lnSpc>
                <a:spcPct val="110000"/>
              </a:lnSpc>
              <a:buNone/>
            </a:pPr>
            <a:r>
              <a:rPr lang="en-US" sz="1060" dirty="0">
                <a:solidFill>
                  <a:srgbClr val="243B53"/>
                </a:solidFill>
                <a:latin typeface="Aptos" pitchFamily="34" charset="0"/>
                <a:ea typeface="Aptos" pitchFamily="34" charset="-122"/>
                <a:cs typeface="Aptos" pitchFamily="34" charset="-120"/>
              </a:rPr>
              <a:t>solo el dígito verificador</a:t>
            </a:r>
            <a:endParaRPr lang="en-US" sz="1060" dirty="0"/>
          </a:p>
        </p:txBody>
      </p:sp>
      <p:sp>
        <p:nvSpPr>
          <p:cNvPr id="38" name="Shape 34"/>
          <p:cNvSpPr/>
          <p:nvPr/>
        </p:nvSpPr>
        <p:spPr>
          <a:xfrm>
            <a:off x="4946904" y="5230368"/>
            <a:ext cx="137160" cy="0"/>
          </a:xfrm>
          <a:prstGeom prst="line">
            <a:avLst/>
          </a:prstGeom>
          <a:noFill/>
          <a:ln w="12700">
            <a:solidFill>
              <a:srgbClr val="52606D"/>
            </a:solidFill>
            <a:prstDash val="solid"/>
            <a:headEnd type="none"/>
            <a:tailEnd type="triangle"/>
          </a:ln>
        </p:spPr>
      </p:sp>
      <p:sp>
        <p:nvSpPr>
          <p:cNvPr id="39" name="Shape 35"/>
          <p:cNvSpPr/>
          <p:nvPr/>
        </p:nvSpPr>
        <p:spPr>
          <a:xfrm>
            <a:off x="5102352" y="4882896"/>
            <a:ext cx="2048256" cy="713232"/>
          </a:xfrm>
          <a:prstGeom prst="rect">
            <a:avLst/>
          </a:prstGeom>
          <a:solidFill>
            <a:srgbClr val="FFFFFF"/>
          </a:solidFill>
          <a:ln w="12700">
            <a:solidFill>
              <a:srgbClr val="FFFFFF"/>
            </a:solidFill>
            <a:prstDash val="solid"/>
          </a:ln>
        </p:spPr>
      </p:sp>
      <p:sp>
        <p:nvSpPr>
          <p:cNvPr id="40" name="Shape 36"/>
          <p:cNvSpPr/>
          <p:nvPr/>
        </p:nvSpPr>
        <p:spPr>
          <a:xfrm>
            <a:off x="5102352" y="4882896"/>
            <a:ext cx="2048256" cy="54864"/>
          </a:xfrm>
          <a:prstGeom prst="rect">
            <a:avLst/>
          </a:prstGeom>
          <a:solidFill>
            <a:srgbClr val="255A4C"/>
          </a:solidFill>
          <a:ln w="12700">
            <a:solidFill>
              <a:srgbClr val="255A4C"/>
            </a:solidFill>
            <a:prstDash val="solid"/>
          </a:ln>
        </p:spPr>
      </p:sp>
      <p:sp>
        <p:nvSpPr>
          <p:cNvPr id="41" name="Text 37"/>
          <p:cNvSpPr txBox="1"/>
          <p:nvPr/>
        </p:nvSpPr>
        <p:spPr>
          <a:xfrm>
            <a:off x="5248656" y="4992624"/>
            <a:ext cx="1755648" cy="182880"/>
          </a:xfrm>
          <a:prstGeom prst="rect">
            <a:avLst/>
          </a:prstGeom>
          <a:noFill/>
          <a:ln/>
        </p:spPr>
        <p:txBody>
          <a:bodyPr wrap="square" lIns="0" tIns="0" rIns="0" bIns="0" rtlCol="0" anchor="t"/>
          <a:lstStyle/>
          <a:p>
            <a:pPr algn="l" indent="0" marL="0">
              <a:buNone/>
            </a:pPr>
            <a:r>
              <a:rPr lang="en-US" sz="860" b="1" spc="100" kern="0" dirty="0">
                <a:solidFill>
                  <a:srgbClr val="255A4C"/>
                </a:solidFill>
                <a:latin typeface="Aptos" pitchFamily="34" charset="0"/>
                <a:ea typeface="Aptos" pitchFamily="34" charset="-122"/>
                <a:cs typeface="Aptos" pitchFamily="34" charset="-120"/>
              </a:rPr>
              <a:t>COMPORTAMIENTO</a:t>
            </a:r>
            <a:endParaRPr lang="en-US" sz="860" dirty="0"/>
          </a:p>
        </p:txBody>
      </p:sp>
      <p:sp>
        <p:nvSpPr>
          <p:cNvPr id="42" name="Text 38"/>
          <p:cNvSpPr txBox="1"/>
          <p:nvPr/>
        </p:nvSpPr>
        <p:spPr>
          <a:xfrm>
            <a:off x="5248656" y="5193792"/>
            <a:ext cx="1755648" cy="347472"/>
          </a:xfrm>
          <a:prstGeom prst="rect">
            <a:avLst/>
          </a:prstGeom>
          <a:noFill/>
          <a:ln/>
        </p:spPr>
        <p:txBody>
          <a:bodyPr wrap="square" lIns="0" tIns="0" rIns="0" bIns="0" rtlCol="0" anchor="t"/>
          <a:lstStyle/>
          <a:p>
            <a:pPr algn="l" indent="0" marL="0">
              <a:lnSpc>
                <a:spcPct val="110000"/>
              </a:lnSpc>
              <a:buNone/>
            </a:pPr>
            <a:r>
              <a:rPr lang="en-US" sz="1060" dirty="0">
                <a:solidFill>
                  <a:srgbClr val="243B53"/>
                </a:solidFill>
                <a:latin typeface="Aptos" pitchFamily="34" charset="0"/>
                <a:ea typeface="Aptos" pitchFamily="34" charset="-122"/>
                <a:cs typeface="Aptos" pitchFamily="34" charset="-120"/>
              </a:rPr>
              <a:t>resumen() no lo devuelve</a:t>
            </a:r>
            <a:endParaRPr lang="en-US" sz="1060" dirty="0"/>
          </a:p>
        </p:txBody>
      </p:sp>
      <p:sp>
        <p:nvSpPr>
          <p:cNvPr id="43" name="Shape 39"/>
          <p:cNvSpPr/>
          <p:nvPr/>
        </p:nvSpPr>
        <p:spPr>
          <a:xfrm>
            <a:off x="7168896" y="5230368"/>
            <a:ext cx="137160" cy="0"/>
          </a:xfrm>
          <a:prstGeom prst="line">
            <a:avLst/>
          </a:prstGeom>
          <a:noFill/>
          <a:ln w="12700">
            <a:solidFill>
              <a:srgbClr val="52606D"/>
            </a:solidFill>
            <a:prstDash val="solid"/>
            <a:headEnd type="none"/>
            <a:tailEnd type="triangle"/>
          </a:ln>
        </p:spPr>
      </p:sp>
      <p:sp>
        <p:nvSpPr>
          <p:cNvPr id="44" name="Shape 40"/>
          <p:cNvSpPr/>
          <p:nvPr/>
        </p:nvSpPr>
        <p:spPr>
          <a:xfrm>
            <a:off x="7324344" y="4882896"/>
            <a:ext cx="2048256" cy="713232"/>
          </a:xfrm>
          <a:prstGeom prst="rect">
            <a:avLst/>
          </a:prstGeom>
          <a:solidFill>
            <a:srgbClr val="FFFFFF"/>
          </a:solidFill>
          <a:ln w="12700">
            <a:solidFill>
              <a:srgbClr val="FFFFFF"/>
            </a:solidFill>
            <a:prstDash val="solid"/>
          </a:ln>
        </p:spPr>
      </p:sp>
      <p:sp>
        <p:nvSpPr>
          <p:cNvPr id="45" name="Shape 41"/>
          <p:cNvSpPr/>
          <p:nvPr/>
        </p:nvSpPr>
        <p:spPr>
          <a:xfrm>
            <a:off x="7324344" y="4882896"/>
            <a:ext cx="2048256" cy="54864"/>
          </a:xfrm>
          <a:prstGeom prst="rect">
            <a:avLst/>
          </a:prstGeom>
          <a:solidFill>
            <a:srgbClr val="8A6A12"/>
          </a:solidFill>
          <a:ln w="12700">
            <a:solidFill>
              <a:srgbClr val="8A6A12"/>
            </a:solidFill>
            <a:prstDash val="solid"/>
          </a:ln>
        </p:spPr>
      </p:sp>
      <p:sp>
        <p:nvSpPr>
          <p:cNvPr id="46" name="Text 42"/>
          <p:cNvSpPr txBox="1"/>
          <p:nvPr/>
        </p:nvSpPr>
        <p:spPr>
          <a:xfrm>
            <a:off x="7470648" y="4992624"/>
            <a:ext cx="1755648" cy="182880"/>
          </a:xfrm>
          <a:prstGeom prst="rect">
            <a:avLst/>
          </a:prstGeom>
          <a:noFill/>
          <a:ln/>
        </p:spPr>
        <p:txBody>
          <a:bodyPr wrap="square" lIns="0" tIns="0" rIns="0" bIns="0" rtlCol="0" anchor="t"/>
          <a:lstStyle/>
          <a:p>
            <a:pPr algn="l" indent="0" marL="0">
              <a:buNone/>
            </a:pPr>
            <a:r>
              <a:rPr lang="en-US" sz="860" b="1" spc="100" kern="0" dirty="0">
                <a:solidFill>
                  <a:srgbClr val="8A6A12"/>
                </a:solidFill>
                <a:latin typeface="Aptos" pitchFamily="34" charset="0"/>
                <a:ea typeface="Aptos" pitchFamily="34" charset="-122"/>
                <a:cs typeface="Aptos" pitchFamily="34" charset="-120"/>
              </a:rPr>
              <a:t>PRUEBA</a:t>
            </a:r>
            <a:endParaRPr lang="en-US" sz="860" dirty="0"/>
          </a:p>
        </p:txBody>
      </p:sp>
      <p:sp>
        <p:nvSpPr>
          <p:cNvPr id="47" name="Text 43"/>
          <p:cNvSpPr txBox="1"/>
          <p:nvPr/>
        </p:nvSpPr>
        <p:spPr>
          <a:xfrm>
            <a:off x="7470648" y="5193792"/>
            <a:ext cx="1755648" cy="347472"/>
          </a:xfrm>
          <a:prstGeom prst="rect">
            <a:avLst/>
          </a:prstGeom>
          <a:noFill/>
          <a:ln/>
        </p:spPr>
        <p:txBody>
          <a:bodyPr wrap="square" lIns="0" tIns="0" rIns="0" bIns="0" rtlCol="0" anchor="t"/>
          <a:lstStyle/>
          <a:p>
            <a:pPr algn="l" indent="0" marL="0">
              <a:lnSpc>
                <a:spcPct val="110000"/>
              </a:lnSpc>
              <a:buNone/>
            </a:pPr>
            <a:r>
              <a:rPr lang="en-US" sz="1060" dirty="0">
                <a:solidFill>
                  <a:srgbClr val="243B53"/>
                </a:solidFill>
                <a:latin typeface="Aptos" pitchFamily="34" charset="0"/>
                <a:ea typeface="Aptos" pitchFamily="34" charset="-122"/>
                <a:cs typeface="Aptos" pitchFamily="34" charset="-120"/>
              </a:rPr>
              <a:t>test_no_informa_el_rut</a:t>
            </a:r>
            <a:endParaRPr lang="en-US" sz="1060" dirty="0"/>
          </a:p>
        </p:txBody>
      </p:sp>
      <p:sp>
        <p:nvSpPr>
          <p:cNvPr id="48" name="Shape 44"/>
          <p:cNvSpPr/>
          <p:nvPr/>
        </p:nvSpPr>
        <p:spPr>
          <a:xfrm>
            <a:off x="9390888" y="5230368"/>
            <a:ext cx="137160" cy="0"/>
          </a:xfrm>
          <a:prstGeom prst="line">
            <a:avLst/>
          </a:prstGeom>
          <a:noFill/>
          <a:ln w="12700">
            <a:solidFill>
              <a:srgbClr val="52606D"/>
            </a:solidFill>
            <a:prstDash val="solid"/>
            <a:headEnd type="none"/>
            <a:tailEnd type="triangle"/>
          </a:ln>
        </p:spPr>
      </p:sp>
      <p:sp>
        <p:nvSpPr>
          <p:cNvPr id="49" name="Shape 45"/>
          <p:cNvSpPr/>
          <p:nvPr/>
        </p:nvSpPr>
        <p:spPr>
          <a:xfrm>
            <a:off x="9546336" y="4882896"/>
            <a:ext cx="2048256" cy="713232"/>
          </a:xfrm>
          <a:prstGeom prst="rect">
            <a:avLst/>
          </a:prstGeom>
          <a:solidFill>
            <a:srgbClr val="FFFFFF"/>
          </a:solidFill>
          <a:ln w="12700">
            <a:solidFill>
              <a:srgbClr val="FFFFFF"/>
            </a:solidFill>
            <a:prstDash val="solid"/>
          </a:ln>
        </p:spPr>
      </p:sp>
      <p:sp>
        <p:nvSpPr>
          <p:cNvPr id="50" name="Shape 46"/>
          <p:cNvSpPr/>
          <p:nvPr/>
        </p:nvSpPr>
        <p:spPr>
          <a:xfrm>
            <a:off x="9546336" y="4882896"/>
            <a:ext cx="2048256" cy="54864"/>
          </a:xfrm>
          <a:prstGeom prst="rect">
            <a:avLst/>
          </a:prstGeom>
          <a:solidFill>
            <a:srgbClr val="2E7D4F"/>
          </a:solidFill>
          <a:ln w="12700">
            <a:solidFill>
              <a:srgbClr val="2E7D4F"/>
            </a:solidFill>
            <a:prstDash val="solid"/>
          </a:ln>
        </p:spPr>
      </p:sp>
      <p:sp>
        <p:nvSpPr>
          <p:cNvPr id="51" name="Text 47"/>
          <p:cNvSpPr txBox="1"/>
          <p:nvPr/>
        </p:nvSpPr>
        <p:spPr>
          <a:xfrm>
            <a:off x="9692640" y="4992624"/>
            <a:ext cx="1755648" cy="182880"/>
          </a:xfrm>
          <a:prstGeom prst="rect">
            <a:avLst/>
          </a:prstGeom>
          <a:noFill/>
          <a:ln/>
        </p:spPr>
        <p:txBody>
          <a:bodyPr wrap="square" lIns="0" tIns="0" rIns="0" bIns="0" rtlCol="0" anchor="t"/>
          <a:lstStyle/>
          <a:p>
            <a:pPr algn="l" indent="0" marL="0">
              <a:buNone/>
            </a:pPr>
            <a:r>
              <a:rPr lang="en-US" sz="860" b="1" spc="100" kern="0" dirty="0">
                <a:solidFill>
                  <a:srgbClr val="2E7D4F"/>
                </a:solidFill>
                <a:latin typeface="Aptos" pitchFamily="34" charset="0"/>
                <a:ea typeface="Aptos" pitchFamily="34" charset="-122"/>
                <a:cs typeface="Aptos" pitchFamily="34" charset="-120"/>
              </a:rPr>
              <a:t>EVIDENCIA</a:t>
            </a:r>
            <a:endParaRPr lang="en-US" sz="860" dirty="0"/>
          </a:p>
        </p:txBody>
      </p:sp>
      <p:sp>
        <p:nvSpPr>
          <p:cNvPr id="52" name="Text 48"/>
          <p:cNvSpPr txBox="1"/>
          <p:nvPr/>
        </p:nvSpPr>
        <p:spPr>
          <a:xfrm>
            <a:off x="9692640" y="5193792"/>
            <a:ext cx="1755648" cy="347472"/>
          </a:xfrm>
          <a:prstGeom prst="rect">
            <a:avLst/>
          </a:prstGeom>
          <a:noFill/>
          <a:ln/>
        </p:spPr>
        <p:txBody>
          <a:bodyPr wrap="square" lIns="0" tIns="0" rIns="0" bIns="0" rtlCol="0" anchor="t"/>
          <a:lstStyle/>
          <a:p>
            <a:pPr algn="l" indent="0" marL="0">
              <a:lnSpc>
                <a:spcPct val="110000"/>
              </a:lnSpc>
              <a:buNone/>
            </a:pPr>
            <a:r>
              <a:rPr lang="en-US" sz="1060" dirty="0">
                <a:solidFill>
                  <a:srgbClr val="243B53"/>
                </a:solidFill>
                <a:latin typeface="Aptos" pitchFamily="34" charset="0"/>
                <a:ea typeface="Aptos" pitchFamily="34" charset="-122"/>
                <a:cs typeface="Aptos" pitchFamily="34" charset="-120"/>
              </a:rPr>
              <a:t>la salida de la suite, fechada</a:t>
            </a:r>
            <a:endParaRPr lang="en-US" sz="1060" dirty="0"/>
          </a:p>
        </p:txBody>
      </p:sp>
      <p:sp>
        <p:nvSpPr>
          <p:cNvPr id="53" name="Shape 49"/>
          <p:cNvSpPr/>
          <p:nvPr/>
        </p:nvSpPr>
        <p:spPr>
          <a:xfrm>
            <a:off x="658368" y="5742432"/>
            <a:ext cx="10874959" cy="512064"/>
          </a:xfrm>
          <a:prstGeom prst="rect">
            <a:avLst/>
          </a:prstGeom>
          <a:solidFill>
            <a:srgbClr val="102A43"/>
          </a:solidFill>
          <a:ln w="12700">
            <a:solidFill>
              <a:srgbClr val="102A43"/>
            </a:solidFill>
            <a:prstDash val="solid"/>
          </a:ln>
        </p:spPr>
      </p:sp>
      <p:sp>
        <p:nvSpPr>
          <p:cNvPr id="54" name="Text 50"/>
          <p:cNvSpPr txBox="1"/>
          <p:nvPr/>
        </p:nvSpPr>
        <p:spPr>
          <a:xfrm>
            <a:off x="969264" y="5788152"/>
            <a:ext cx="10253167" cy="420624"/>
          </a:xfrm>
          <a:prstGeom prst="rect">
            <a:avLst/>
          </a:prstGeom>
          <a:noFill/>
          <a:ln/>
        </p:spPr>
        <p:txBody>
          <a:bodyPr wrap="square" lIns="0" tIns="0" rIns="0" bIns="0" rtlCol="0" anchor="ctr"/>
          <a:lstStyle/>
          <a:p>
            <a:pPr algn="ctr" indent="0" marL="0">
              <a:lnSpc>
                <a:spcPct val="112000"/>
              </a:lnSpc>
              <a:buNone/>
            </a:pPr>
            <a:r>
              <a:rPr lang="en-US" sz="1340" b="1" dirty="0">
                <a:solidFill>
                  <a:srgbClr val="FFFFFF"/>
                </a:solidFill>
                <a:latin typeface="Aptos" pitchFamily="34" charset="0"/>
                <a:ea typeface="Aptos" pitchFamily="34" charset="-122"/>
                <a:cs typeface="Aptos" pitchFamily="34" charset="-120"/>
              </a:rPr>
              <a:t>El primer paso es el que hace que el umbral no sea tuyo. El último es el que te permite demostrarlo.</a:t>
            </a:r>
            <a:endParaRPr lang="en-US" sz="134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37</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LA COMPROBACIÓN</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La misma auditoría, sobre el mismo código sin corregir</a:t>
            </a:r>
            <a:endParaRPr lang="en-US" sz="3000" dirty="0"/>
          </a:p>
        </p:txBody>
      </p:sp>
      <p:sp>
        <p:nvSpPr>
          <p:cNvPr id="10" name="Text 7"/>
          <p:cNvSpPr txBox="1"/>
          <p:nvPr/>
        </p:nvSpPr>
        <p:spPr>
          <a:xfrm>
            <a:off x="658368" y="1773936"/>
            <a:ext cx="10424160" cy="402336"/>
          </a:xfrm>
          <a:prstGeom prst="rect">
            <a:avLst/>
          </a:prstGeom>
          <a:noFill/>
          <a:ln/>
        </p:spPr>
        <p:txBody>
          <a:bodyPr wrap="square" lIns="0" tIns="0" rIns="0" bIns="0" rtlCol="0" anchor="t"/>
          <a:lstStyle/>
          <a:p>
            <a:pPr algn="l" indent="0" marL="0">
              <a:lnSpc>
                <a:spcPct val="114000"/>
              </a:lnSpc>
              <a:buNone/>
            </a:pPr>
            <a:r>
              <a:rPr lang="en-US" sz="1450" dirty="0">
                <a:solidFill>
                  <a:srgbClr val="52606D"/>
                </a:solidFill>
                <a:latin typeface="Aptos" pitchFamily="34" charset="0"/>
                <a:ea typeface="Aptos" pitchFamily="34" charset="-122"/>
                <a:cs typeface="Aptos" pitchFamily="34" charset="-120"/>
              </a:rPr>
              <a:t>Cambió una sola cosa: ahora el documento de requisitos contiene esas cuatro líneas.</a:t>
            </a:r>
            <a:endParaRPr lang="en-US" sz="1450" dirty="0"/>
          </a:p>
        </p:txBody>
      </p:sp>
      <p:sp>
        <p:nvSpPr>
          <p:cNvPr id="11" name="Shape 8"/>
          <p:cNvSpPr/>
          <p:nvPr/>
        </p:nvSpPr>
        <p:spPr>
          <a:xfrm>
            <a:off x="658368" y="2377440"/>
            <a:ext cx="5120640" cy="1097280"/>
          </a:xfrm>
          <a:prstGeom prst="roundRect">
            <a:avLst>
              <a:gd name="adj" fmla="val 3333"/>
            </a:avLst>
          </a:prstGeom>
          <a:solidFill>
            <a:srgbClr val="102A43"/>
          </a:solidFill>
          <a:ln w="12700">
            <a:solidFill>
              <a:srgbClr val="102A43"/>
            </a:solidFill>
            <a:prstDash val="solid"/>
          </a:ln>
        </p:spPr>
      </p:sp>
      <p:sp>
        <p:nvSpPr>
          <p:cNvPr id="12" name="Shape 9"/>
          <p:cNvSpPr/>
          <p:nvPr/>
        </p:nvSpPr>
        <p:spPr>
          <a:xfrm>
            <a:off x="786384" y="2487168"/>
            <a:ext cx="486460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560320"/>
            <a:ext cx="464515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PowerShell · el mismo comando de siempre</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944368"/>
            <a:ext cx="4700016" cy="347472"/>
          </a:xfrm>
          <a:prstGeom prst="rect">
            <a:avLst/>
          </a:prstGeom>
        </p:spPr>
      </p:pic>
      <p:sp>
        <p:nvSpPr>
          <p:cNvPr id="15" name="Shape 11"/>
          <p:cNvSpPr/>
          <p:nvPr/>
        </p:nvSpPr>
        <p:spPr>
          <a:xfrm>
            <a:off x="5888736" y="2377440"/>
            <a:ext cx="5641848" cy="1810512"/>
          </a:xfrm>
          <a:prstGeom prst="roundRect">
            <a:avLst>
              <a:gd name="adj" fmla="val 2020"/>
            </a:avLst>
          </a:prstGeom>
          <a:solidFill>
            <a:srgbClr val="0F1720"/>
          </a:solidFill>
          <a:ln w="12700">
            <a:solidFill>
              <a:srgbClr val="0F1720"/>
            </a:solidFill>
            <a:prstDash val="solid"/>
          </a:ln>
        </p:spPr>
      </p:sp>
      <p:sp>
        <p:nvSpPr>
          <p:cNvPr id="16" name="Shape 12"/>
          <p:cNvSpPr/>
          <p:nvPr/>
        </p:nvSpPr>
        <p:spPr>
          <a:xfrm>
            <a:off x="6016752" y="2487168"/>
            <a:ext cx="5385816" cy="310896"/>
          </a:xfrm>
          <a:prstGeom prst="roundRect">
            <a:avLst>
              <a:gd name="adj" fmla="val 8824"/>
            </a:avLst>
          </a:prstGeom>
          <a:solidFill>
            <a:srgbClr val="1E2937"/>
          </a:solidFill>
          <a:ln w="12700">
            <a:solidFill>
              <a:srgbClr val="1E2937"/>
            </a:solidFill>
            <a:prstDash val="solid"/>
          </a:ln>
        </p:spPr>
      </p:sp>
      <p:sp>
        <p:nvSpPr>
          <p:cNvPr id="17" name="Text 13"/>
          <p:cNvSpPr/>
          <p:nvPr/>
        </p:nvSpPr>
        <p:spPr>
          <a:xfrm>
            <a:off x="6144768" y="2560320"/>
            <a:ext cx="5129784"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lo primero que reportó, literal</a:t>
            </a:r>
            <a:endParaRPr lang="en-US" sz="1000" dirty="0"/>
          </a:p>
        </p:txBody>
      </p:sp>
      <p:sp>
        <p:nvSpPr>
          <p:cNvPr id="18" name="Text 14"/>
          <p:cNvSpPr/>
          <p:nvPr/>
        </p:nvSpPr>
        <p:spPr>
          <a:xfrm>
            <a:off x="6108192" y="2944368"/>
            <a:ext cx="4892040" cy="164592"/>
          </a:xfrm>
          <a:prstGeom prst="rect">
            <a:avLst/>
          </a:prstGeom>
          <a:noFill/>
          <a:ln/>
        </p:spPr>
        <p:txBody>
          <a:bodyPr wrap="square" lIns="0" tIns="0" rIns="0" bIns="0" rtlCol="0" anchor="ctr"/>
          <a:lstStyle/>
          <a:p>
            <a:pPr indent="0" marL="0">
              <a:buNone/>
            </a:pPr>
            <a:r>
              <a:rPr lang="en-US" sz="1000" dirty="0">
                <a:solidFill>
                  <a:srgbClr val="E6EEF7"/>
                </a:solidFill>
                <a:latin typeface="Consolas" pitchFamily="34" charset="0"/>
                <a:ea typeface="Consolas" pitchFamily="34" charset="-122"/>
                <a:cs typeface="Consolas" pitchFamily="34" charset="-120"/>
              </a:rPr>
              <a:t>## Diferencia con el requisito</a:t>
            </a:r>
            <a:endParaRPr lang="en-US" sz="1000" dirty="0"/>
          </a:p>
        </p:txBody>
      </p:sp>
      <p:sp>
        <p:nvSpPr>
          <p:cNvPr id="19" name="Text 15"/>
          <p:cNvSpPr/>
          <p:nvPr/>
        </p:nvSpPr>
        <p:spPr>
          <a:xfrm>
            <a:off x="6108192" y="3200400"/>
            <a:ext cx="4892040" cy="164592"/>
          </a:xfrm>
          <a:prstGeom prst="rect">
            <a:avLst/>
          </a:prstGeom>
          <a:noFill/>
          <a:ln/>
        </p:spPr>
        <p:txBody>
          <a:bodyPr wrap="square" lIns="0" tIns="0" rIns="0" bIns="0" rtlCol="0" anchor="ctr"/>
          <a:lstStyle/>
          <a:p>
            <a:pPr indent="0" marL="0">
              <a:buNone/>
            </a:pPr>
            <a:endParaRPr lang="en-US" sz="1000" dirty="0"/>
          </a:p>
        </p:txBody>
      </p:sp>
      <p:sp>
        <p:nvSpPr>
          <p:cNvPr id="20" name="Text 16"/>
          <p:cNvSpPr/>
          <p:nvPr/>
        </p:nvSpPr>
        <p:spPr>
          <a:xfrm>
            <a:off x="6108192" y="3456432"/>
            <a:ext cx="4892040" cy="164592"/>
          </a:xfrm>
          <a:prstGeom prst="rect">
            <a:avLst/>
          </a:prstGeom>
          <a:noFill/>
          <a:ln/>
        </p:spPr>
        <p:txBody>
          <a:bodyPr wrap="square" lIns="0" tIns="0" rIns="0" bIns="0" rtlCol="0" anchor="ctr"/>
          <a:lstStyle/>
          <a:p>
            <a:pPr indent="0" marL="0">
              <a:buNone/>
            </a:pPr>
            <a:r>
              <a:rPr lang="en-US" sz="1000" dirty="0">
                <a:solidFill>
                  <a:srgbClr val="E6EEF7"/>
                </a:solidFill>
                <a:latin typeface="Consolas" pitchFamily="34" charset="0"/>
                <a:ea typeface="Consolas" pitchFamily="34" charset="-122"/>
                <a:cs typeface="Consolas" pitchFamily="34" charset="-120"/>
              </a:rPr>
              <a:t>**resumen() expone el RUT completo**</a:t>
            </a:r>
            <a:endParaRPr lang="en-US" sz="1000" dirty="0"/>
          </a:p>
        </p:txBody>
      </p:sp>
      <p:sp>
        <p:nvSpPr>
          <p:cNvPr id="21" name="Text 17"/>
          <p:cNvSpPr/>
          <p:nvPr/>
        </p:nvSpPr>
        <p:spPr>
          <a:xfrm>
            <a:off x="6108192" y="3712464"/>
            <a:ext cx="4892040" cy="164592"/>
          </a:xfrm>
          <a:prstGeom prst="rect">
            <a:avLst/>
          </a:prstGeom>
          <a:noFill/>
          <a:ln/>
        </p:spPr>
        <p:txBody>
          <a:bodyPr wrap="square" lIns="0" tIns="0" rIns="0" bIns="0" rtlCol="0" anchor="ctr"/>
          <a:lstStyle/>
          <a:p>
            <a:pPr indent="0" marL="0">
              <a:buNone/>
            </a:pPr>
            <a:r>
              <a:rPr lang="en-US" sz="1000" dirty="0">
                <a:solidFill>
                  <a:srgbClr val="E6EEF7"/>
                </a:solidFill>
                <a:latin typeface="Consolas" pitchFamily="34" charset="0"/>
                <a:ea typeface="Consolas" pitchFamily="34" charset="-122"/>
                <a:cs typeface="Consolas" pitchFamily="34" charset="-120"/>
              </a:rPr>
              <a:t>(src/curso.py:24)</a:t>
            </a:r>
            <a:endParaRPr lang="en-US" sz="1000" dirty="0"/>
          </a:p>
        </p:txBody>
      </p:sp>
      <p:sp>
        <p:nvSpPr>
          <p:cNvPr id="22" name="Shape 18"/>
          <p:cNvSpPr/>
          <p:nvPr/>
        </p:nvSpPr>
        <p:spPr>
          <a:xfrm>
            <a:off x="658368" y="3621024"/>
            <a:ext cx="5120640" cy="566928"/>
          </a:xfrm>
          <a:prstGeom prst="rect">
            <a:avLst/>
          </a:prstGeom>
          <a:solidFill>
            <a:srgbClr val="F8E4E5"/>
          </a:solidFill>
          <a:ln w="12700">
            <a:solidFill>
              <a:srgbClr val="F8E4E5"/>
            </a:solidFill>
            <a:prstDash val="solid"/>
          </a:ln>
        </p:spPr>
      </p:sp>
      <p:sp>
        <p:nvSpPr>
          <p:cNvPr id="23" name="Text 19"/>
          <p:cNvSpPr txBox="1"/>
          <p:nvPr/>
        </p:nvSpPr>
        <p:spPr>
          <a:xfrm>
            <a:off x="896112" y="3749040"/>
            <a:ext cx="4663440" cy="310896"/>
          </a:xfrm>
          <a:prstGeom prst="rect">
            <a:avLst/>
          </a:prstGeom>
          <a:noFill/>
          <a:ln/>
        </p:spPr>
        <p:txBody>
          <a:bodyPr wrap="square" lIns="0" tIns="0" rIns="0" bIns="0" rtlCol="0" anchor="t"/>
          <a:lstStyle/>
          <a:p>
            <a:pPr algn="l" indent="0" marL="0">
              <a:buNone/>
            </a:pPr>
            <a:r>
              <a:rPr lang="en-US" sz="1360" b="1" dirty="0">
                <a:solidFill>
                  <a:srgbClr val="B3181E"/>
                </a:solidFill>
                <a:latin typeface="Aptos" pitchFamily="34" charset="0"/>
                <a:ea typeface="Aptos" pitchFamily="34" charset="-122"/>
                <a:cs typeface="Aptos" pitchFamily="34" charset="-120"/>
              </a:rPr>
              <a:t>Apareció de inmediato y en primer lugar.</a:t>
            </a:r>
            <a:endParaRPr lang="en-US" sz="1360" dirty="0"/>
          </a:p>
        </p:txBody>
      </p:sp>
      <p:sp>
        <p:nvSpPr>
          <p:cNvPr id="24" name="Shape 20"/>
          <p:cNvSpPr/>
          <p:nvPr/>
        </p:nvSpPr>
        <p:spPr>
          <a:xfrm>
            <a:off x="658368" y="4352544"/>
            <a:ext cx="2615184" cy="603504"/>
          </a:xfrm>
          <a:prstGeom prst="rect">
            <a:avLst/>
          </a:prstGeom>
          <a:solidFill>
            <a:srgbClr val="EDE6DA"/>
          </a:solidFill>
          <a:ln w="12700">
            <a:solidFill>
              <a:srgbClr val="EDE6DA"/>
            </a:solidFill>
            <a:prstDash val="solid"/>
          </a:ln>
        </p:spPr>
      </p:sp>
      <p:sp>
        <p:nvSpPr>
          <p:cNvPr id="25" name="Text 21"/>
          <p:cNvSpPr txBox="1"/>
          <p:nvPr/>
        </p:nvSpPr>
        <p:spPr>
          <a:xfrm>
            <a:off x="841248" y="4443984"/>
            <a:ext cx="2286000" cy="182880"/>
          </a:xfrm>
          <a:prstGeom prst="rect">
            <a:avLst/>
          </a:prstGeom>
          <a:noFill/>
          <a:ln/>
        </p:spPr>
        <p:txBody>
          <a:bodyPr wrap="square" lIns="0" tIns="0" rIns="0" bIns="0" rtlCol="0" anchor="t"/>
          <a:lstStyle/>
          <a:p>
            <a:pPr algn="l" indent="0" marL="0">
              <a:buNone/>
            </a:pPr>
            <a:r>
              <a:rPr lang="en-US" sz="860" b="1" spc="100" kern="0" dirty="0">
                <a:solidFill>
                  <a:srgbClr val="52606D"/>
                </a:solidFill>
                <a:latin typeface="Aptos" pitchFamily="34" charset="0"/>
                <a:ea typeface="Aptos" pitchFamily="34" charset="-122"/>
                <a:cs typeface="Aptos" pitchFamily="34" charset="-120"/>
              </a:rPr>
              <a:t>LA HERRAMIENTA</a:t>
            </a:r>
            <a:endParaRPr lang="en-US" sz="860" dirty="0"/>
          </a:p>
        </p:txBody>
      </p:sp>
      <p:sp>
        <p:nvSpPr>
          <p:cNvPr id="26" name="Text 22"/>
          <p:cNvSpPr txBox="1"/>
          <p:nvPr/>
        </p:nvSpPr>
        <p:spPr>
          <a:xfrm>
            <a:off x="841248" y="4645152"/>
            <a:ext cx="2286000" cy="237744"/>
          </a:xfrm>
          <a:prstGeom prst="rect">
            <a:avLst/>
          </a:prstGeom>
          <a:noFill/>
          <a:ln/>
        </p:spPr>
        <p:txBody>
          <a:bodyPr wrap="square" lIns="0" tIns="0" rIns="0" bIns="0" rtlCol="0" anchor="t"/>
          <a:lstStyle/>
          <a:p>
            <a:pPr algn="l" indent="0" marL="0">
              <a:buNone/>
            </a:pPr>
            <a:r>
              <a:rPr lang="en-US" sz="1240" b="1" dirty="0">
                <a:solidFill>
                  <a:srgbClr val="243B53"/>
                </a:solidFill>
                <a:latin typeface="Aptos" pitchFamily="34" charset="0"/>
                <a:ea typeface="Aptos" pitchFamily="34" charset="-122"/>
                <a:cs typeface="Aptos" pitchFamily="34" charset="-120"/>
              </a:rPr>
              <a:t>la misma</a:t>
            </a:r>
            <a:endParaRPr lang="en-US" sz="1240" dirty="0"/>
          </a:p>
        </p:txBody>
      </p:sp>
      <p:sp>
        <p:nvSpPr>
          <p:cNvPr id="27" name="Shape 23"/>
          <p:cNvSpPr/>
          <p:nvPr/>
        </p:nvSpPr>
        <p:spPr>
          <a:xfrm>
            <a:off x="3419856" y="4352544"/>
            <a:ext cx="2615184" cy="603504"/>
          </a:xfrm>
          <a:prstGeom prst="rect">
            <a:avLst/>
          </a:prstGeom>
          <a:solidFill>
            <a:srgbClr val="EDE6DA"/>
          </a:solidFill>
          <a:ln w="12700">
            <a:solidFill>
              <a:srgbClr val="EDE6DA"/>
            </a:solidFill>
            <a:prstDash val="solid"/>
          </a:ln>
        </p:spPr>
      </p:sp>
      <p:sp>
        <p:nvSpPr>
          <p:cNvPr id="28" name="Text 24"/>
          <p:cNvSpPr txBox="1"/>
          <p:nvPr/>
        </p:nvSpPr>
        <p:spPr>
          <a:xfrm>
            <a:off x="3602736" y="4443984"/>
            <a:ext cx="2286000" cy="182880"/>
          </a:xfrm>
          <a:prstGeom prst="rect">
            <a:avLst/>
          </a:prstGeom>
          <a:noFill/>
          <a:ln/>
        </p:spPr>
        <p:txBody>
          <a:bodyPr wrap="square" lIns="0" tIns="0" rIns="0" bIns="0" rtlCol="0" anchor="t"/>
          <a:lstStyle/>
          <a:p>
            <a:pPr algn="l" indent="0" marL="0">
              <a:buNone/>
            </a:pPr>
            <a:r>
              <a:rPr lang="en-US" sz="860" b="1" spc="100" kern="0" dirty="0">
                <a:solidFill>
                  <a:srgbClr val="52606D"/>
                </a:solidFill>
                <a:latin typeface="Aptos" pitchFamily="34" charset="0"/>
                <a:ea typeface="Aptos" pitchFamily="34" charset="-122"/>
                <a:cs typeface="Aptos" pitchFamily="34" charset="-120"/>
              </a:rPr>
              <a:t>EL CÓDIGO</a:t>
            </a:r>
            <a:endParaRPr lang="en-US" sz="860" dirty="0"/>
          </a:p>
        </p:txBody>
      </p:sp>
      <p:sp>
        <p:nvSpPr>
          <p:cNvPr id="29" name="Text 25"/>
          <p:cNvSpPr txBox="1"/>
          <p:nvPr/>
        </p:nvSpPr>
        <p:spPr>
          <a:xfrm>
            <a:off x="3602736" y="4645152"/>
            <a:ext cx="2286000" cy="237744"/>
          </a:xfrm>
          <a:prstGeom prst="rect">
            <a:avLst/>
          </a:prstGeom>
          <a:noFill/>
          <a:ln/>
        </p:spPr>
        <p:txBody>
          <a:bodyPr wrap="square" lIns="0" tIns="0" rIns="0" bIns="0" rtlCol="0" anchor="t"/>
          <a:lstStyle/>
          <a:p>
            <a:pPr algn="l" indent="0" marL="0">
              <a:buNone/>
            </a:pPr>
            <a:r>
              <a:rPr lang="en-US" sz="1240" b="1" dirty="0">
                <a:solidFill>
                  <a:srgbClr val="243B53"/>
                </a:solidFill>
                <a:latin typeface="Aptos" pitchFamily="34" charset="0"/>
                <a:ea typeface="Aptos" pitchFamily="34" charset="-122"/>
                <a:cs typeface="Aptos" pitchFamily="34" charset="-120"/>
              </a:rPr>
              <a:t>el mismo, sin corregir</a:t>
            </a:r>
            <a:endParaRPr lang="en-US" sz="1240" dirty="0"/>
          </a:p>
        </p:txBody>
      </p:sp>
      <p:sp>
        <p:nvSpPr>
          <p:cNvPr id="30" name="Shape 26"/>
          <p:cNvSpPr/>
          <p:nvPr/>
        </p:nvSpPr>
        <p:spPr>
          <a:xfrm>
            <a:off x="6181344" y="4352544"/>
            <a:ext cx="2615184" cy="603504"/>
          </a:xfrm>
          <a:prstGeom prst="rect">
            <a:avLst/>
          </a:prstGeom>
          <a:solidFill>
            <a:srgbClr val="EDE6DA"/>
          </a:solidFill>
          <a:ln w="12700">
            <a:solidFill>
              <a:srgbClr val="EDE6DA"/>
            </a:solidFill>
            <a:prstDash val="solid"/>
          </a:ln>
        </p:spPr>
      </p:sp>
      <p:sp>
        <p:nvSpPr>
          <p:cNvPr id="31" name="Text 27"/>
          <p:cNvSpPr txBox="1"/>
          <p:nvPr/>
        </p:nvSpPr>
        <p:spPr>
          <a:xfrm>
            <a:off x="6364224" y="4443984"/>
            <a:ext cx="2286000" cy="182880"/>
          </a:xfrm>
          <a:prstGeom prst="rect">
            <a:avLst/>
          </a:prstGeom>
          <a:noFill/>
          <a:ln/>
        </p:spPr>
        <p:txBody>
          <a:bodyPr wrap="square" lIns="0" tIns="0" rIns="0" bIns="0" rtlCol="0" anchor="t"/>
          <a:lstStyle/>
          <a:p>
            <a:pPr algn="l" indent="0" marL="0">
              <a:buNone/>
            </a:pPr>
            <a:r>
              <a:rPr lang="en-US" sz="860" b="1" spc="100" kern="0" dirty="0">
                <a:solidFill>
                  <a:srgbClr val="52606D"/>
                </a:solidFill>
                <a:latin typeface="Aptos" pitchFamily="34" charset="0"/>
                <a:ea typeface="Aptos" pitchFamily="34" charset="-122"/>
                <a:cs typeface="Aptos" pitchFamily="34" charset="-120"/>
              </a:rPr>
              <a:t>LA PREGUNTA</a:t>
            </a:r>
            <a:endParaRPr lang="en-US" sz="860" dirty="0"/>
          </a:p>
        </p:txBody>
      </p:sp>
      <p:sp>
        <p:nvSpPr>
          <p:cNvPr id="32" name="Text 28"/>
          <p:cNvSpPr txBox="1"/>
          <p:nvPr/>
        </p:nvSpPr>
        <p:spPr>
          <a:xfrm>
            <a:off x="6364224" y="4645152"/>
            <a:ext cx="2286000" cy="237744"/>
          </a:xfrm>
          <a:prstGeom prst="rect">
            <a:avLst/>
          </a:prstGeom>
          <a:noFill/>
          <a:ln/>
        </p:spPr>
        <p:txBody>
          <a:bodyPr wrap="square" lIns="0" tIns="0" rIns="0" bIns="0" rtlCol="0" anchor="t"/>
          <a:lstStyle/>
          <a:p>
            <a:pPr algn="l" indent="0" marL="0">
              <a:buNone/>
            </a:pPr>
            <a:r>
              <a:rPr lang="en-US" sz="1240" b="1" dirty="0">
                <a:solidFill>
                  <a:srgbClr val="243B53"/>
                </a:solidFill>
                <a:latin typeface="Aptos" pitchFamily="34" charset="0"/>
                <a:ea typeface="Aptos" pitchFamily="34" charset="-122"/>
                <a:cs typeface="Aptos" pitchFamily="34" charset="-120"/>
              </a:rPr>
              <a:t>la misma</a:t>
            </a:r>
            <a:endParaRPr lang="en-US" sz="1240" dirty="0"/>
          </a:p>
        </p:txBody>
      </p:sp>
      <p:sp>
        <p:nvSpPr>
          <p:cNvPr id="33" name="Shape 29"/>
          <p:cNvSpPr/>
          <p:nvPr/>
        </p:nvSpPr>
        <p:spPr>
          <a:xfrm>
            <a:off x="8942832" y="4352544"/>
            <a:ext cx="2615184" cy="603504"/>
          </a:xfrm>
          <a:prstGeom prst="rect">
            <a:avLst/>
          </a:prstGeom>
          <a:solidFill>
            <a:srgbClr val="102A43"/>
          </a:solidFill>
          <a:ln w="12700">
            <a:solidFill>
              <a:srgbClr val="102A43"/>
            </a:solidFill>
            <a:prstDash val="solid"/>
          </a:ln>
        </p:spPr>
      </p:sp>
      <p:sp>
        <p:nvSpPr>
          <p:cNvPr id="34" name="Text 30"/>
          <p:cNvSpPr txBox="1"/>
          <p:nvPr/>
        </p:nvSpPr>
        <p:spPr>
          <a:xfrm>
            <a:off x="9125712" y="4443984"/>
            <a:ext cx="2286000" cy="182880"/>
          </a:xfrm>
          <a:prstGeom prst="rect">
            <a:avLst/>
          </a:prstGeom>
          <a:noFill/>
          <a:ln/>
        </p:spPr>
        <p:txBody>
          <a:bodyPr wrap="square" lIns="0" tIns="0" rIns="0" bIns="0" rtlCol="0" anchor="t"/>
          <a:lstStyle/>
          <a:p>
            <a:pPr algn="l" indent="0" marL="0">
              <a:buNone/>
            </a:pPr>
            <a:r>
              <a:rPr lang="en-US" sz="860" b="1" spc="100" kern="0" dirty="0">
                <a:solidFill>
                  <a:srgbClr val="E0BC5A"/>
                </a:solidFill>
                <a:latin typeface="Aptos" pitchFamily="34" charset="0"/>
                <a:ea typeface="Aptos" pitchFamily="34" charset="-122"/>
                <a:cs typeface="Aptos" pitchFamily="34" charset="-120"/>
              </a:rPr>
              <a:t>EL DOCUMENTO</a:t>
            </a:r>
            <a:endParaRPr lang="en-US" sz="860" dirty="0"/>
          </a:p>
        </p:txBody>
      </p:sp>
      <p:sp>
        <p:nvSpPr>
          <p:cNvPr id="35" name="Text 31"/>
          <p:cNvSpPr txBox="1"/>
          <p:nvPr/>
        </p:nvSpPr>
        <p:spPr>
          <a:xfrm>
            <a:off x="9125712" y="4645152"/>
            <a:ext cx="2286000" cy="237744"/>
          </a:xfrm>
          <a:prstGeom prst="rect">
            <a:avLst/>
          </a:prstGeom>
          <a:noFill/>
          <a:ln/>
        </p:spPr>
        <p:txBody>
          <a:bodyPr wrap="square" lIns="0" tIns="0" rIns="0" bIns="0" rtlCol="0" anchor="t"/>
          <a:lstStyle/>
          <a:p>
            <a:pPr algn="l" indent="0" marL="0">
              <a:buNone/>
            </a:pPr>
            <a:r>
              <a:rPr lang="en-US" sz="1240" b="1" dirty="0">
                <a:solidFill>
                  <a:srgbClr val="FFFFFF"/>
                </a:solidFill>
                <a:latin typeface="Aptos" pitchFamily="34" charset="0"/>
                <a:ea typeface="Aptos" pitchFamily="34" charset="-122"/>
                <a:cs typeface="Aptos" pitchFamily="34" charset="-120"/>
              </a:rPr>
              <a:t>ahora existe</a:t>
            </a:r>
            <a:endParaRPr lang="en-US" sz="1240" dirty="0"/>
          </a:p>
        </p:txBody>
      </p:sp>
      <p:sp>
        <p:nvSpPr>
          <p:cNvPr id="36" name="Shape 32"/>
          <p:cNvSpPr/>
          <p:nvPr/>
        </p:nvSpPr>
        <p:spPr>
          <a:xfrm>
            <a:off x="658368" y="5102352"/>
            <a:ext cx="10874959" cy="566928"/>
          </a:xfrm>
          <a:prstGeom prst="rect">
            <a:avLst/>
          </a:prstGeom>
          <a:solidFill>
            <a:srgbClr val="EDE6DA"/>
          </a:solidFill>
          <a:ln w="12700">
            <a:solidFill>
              <a:srgbClr val="EDE6DA"/>
            </a:solidFill>
            <a:prstDash val="solid"/>
          </a:ln>
        </p:spPr>
      </p:sp>
      <p:sp>
        <p:nvSpPr>
          <p:cNvPr id="37" name="Text 33"/>
          <p:cNvSpPr txBox="1"/>
          <p:nvPr/>
        </p:nvSpPr>
        <p:spPr>
          <a:xfrm>
            <a:off x="969264" y="5212080"/>
            <a:ext cx="10253167" cy="347472"/>
          </a:xfrm>
          <a:prstGeom prst="rect">
            <a:avLst/>
          </a:prstGeom>
          <a:noFill/>
          <a:ln/>
        </p:spPr>
        <p:txBody>
          <a:bodyPr wrap="square" lIns="0" tIns="0" rIns="0" bIns="0" rtlCol="0" anchor="t"/>
          <a:lstStyle/>
          <a:p>
            <a:pPr algn="ctr" indent="0" marL="0">
              <a:buNone/>
            </a:pPr>
            <a:r>
              <a:rPr lang="en-US" sz="1280" dirty="0">
                <a:solidFill>
                  <a:srgbClr val="243B53"/>
                </a:solidFill>
                <a:latin typeface="Aptos" pitchFamily="34" charset="0"/>
                <a:ea typeface="Aptos" pitchFamily="34" charset="-122"/>
                <a:cs typeface="Aptos" pitchFamily="34" charset="-120"/>
              </a:rPr>
              <a:t>Y abrió dos preguntas que antes no podía formular: en qué formato llega el RUT, y qué hace quien llame a la función.</a:t>
            </a:r>
            <a:endParaRPr lang="en-US" sz="1280" dirty="0"/>
          </a:p>
        </p:txBody>
      </p:sp>
      <p:sp>
        <p:nvSpPr>
          <p:cNvPr id="38" name="Shape 34"/>
          <p:cNvSpPr/>
          <p:nvPr/>
        </p:nvSpPr>
        <p:spPr>
          <a:xfrm>
            <a:off x="658368" y="5815584"/>
            <a:ext cx="10874959" cy="512064"/>
          </a:xfrm>
          <a:prstGeom prst="rect">
            <a:avLst/>
          </a:prstGeom>
          <a:solidFill>
            <a:srgbClr val="102A43"/>
          </a:solidFill>
          <a:ln w="12700">
            <a:solidFill>
              <a:srgbClr val="102A43"/>
            </a:solidFill>
            <a:prstDash val="solid"/>
          </a:ln>
        </p:spPr>
      </p:sp>
      <p:sp>
        <p:nvSpPr>
          <p:cNvPr id="39" name="Text 35"/>
          <p:cNvSpPr txBox="1"/>
          <p:nvPr/>
        </p:nvSpPr>
        <p:spPr>
          <a:xfrm>
            <a:off x="969264" y="5861304"/>
            <a:ext cx="10253167" cy="420624"/>
          </a:xfrm>
          <a:prstGeom prst="rect">
            <a:avLst/>
          </a:prstGeom>
          <a:noFill/>
          <a:ln/>
        </p:spPr>
        <p:txBody>
          <a:bodyPr wrap="square" lIns="0" tIns="0" rIns="0" bIns="0" rtlCol="0" anchor="ctr"/>
          <a:lstStyle/>
          <a:p>
            <a:pPr algn="ctr" indent="0" marL="0">
              <a:lnSpc>
                <a:spcPct val="112000"/>
              </a:lnSpc>
              <a:buNone/>
            </a:pPr>
            <a:r>
              <a:rPr lang="en-US" sz="1360" b="1" dirty="0">
                <a:solidFill>
                  <a:srgbClr val="FFFFFF"/>
                </a:solidFill>
                <a:latin typeface="Aptos" pitchFamily="34" charset="0"/>
                <a:ea typeface="Aptos" pitchFamily="34" charset="-122"/>
                <a:cs typeface="Aptos" pitchFamily="34" charset="-120"/>
              </a:rPr>
              <a:t>Un requisito escrito no elimina la incertidumbre: la convierte en preguntas que se pueden responder.</a:t>
            </a:r>
            <a:endParaRPr lang="en-US" sz="136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38</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CIERRE</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3000" b="1" dirty="0">
                <a:solidFill>
                  <a:srgbClr val="243B53"/>
                </a:solidFill>
                <a:latin typeface="Aptos Display" pitchFamily="34" charset="0"/>
                <a:ea typeface="Aptos Display" pitchFamily="34" charset="-122"/>
                <a:cs typeface="Aptos Display" pitchFamily="34" charset="-120"/>
              </a:rPr>
              <a:t>Preguntas para llevarse del Bloque 4</a:t>
            </a:r>
            <a:endParaRPr lang="en-US" sz="3000" dirty="0"/>
          </a:p>
        </p:txBody>
      </p:sp>
      <p:sp>
        <p:nvSpPr>
          <p:cNvPr id="10" name="Shape 7"/>
          <p:cNvSpPr/>
          <p:nvPr/>
        </p:nvSpPr>
        <p:spPr>
          <a:xfrm>
            <a:off x="658368" y="2231136"/>
            <a:ext cx="10874959" cy="1188720"/>
          </a:xfrm>
          <a:prstGeom prst="rect">
            <a:avLst/>
          </a:prstGeom>
          <a:solidFill>
            <a:srgbClr val="F2E7D9"/>
          </a:solidFill>
          <a:ln w="12700">
            <a:solidFill>
              <a:srgbClr val="F2E7D9"/>
            </a:solidFill>
            <a:prstDash val="solid"/>
          </a:ln>
        </p:spPr>
      </p:sp>
      <p:sp>
        <p:nvSpPr>
          <p:cNvPr id="11" name="Shape 8"/>
          <p:cNvSpPr/>
          <p:nvPr/>
        </p:nvSpPr>
        <p:spPr>
          <a:xfrm>
            <a:off x="658368" y="2231136"/>
            <a:ext cx="54864" cy="1188720"/>
          </a:xfrm>
          <a:prstGeom prst="rect">
            <a:avLst/>
          </a:prstGeom>
          <a:solidFill>
            <a:srgbClr val="B3181E"/>
          </a:solidFill>
          <a:ln w="12700">
            <a:solidFill>
              <a:srgbClr val="B3181E"/>
            </a:solidFill>
            <a:prstDash val="solid"/>
          </a:ln>
        </p:spPr>
      </p:sp>
      <p:sp>
        <p:nvSpPr>
          <p:cNvPr id="12" name="Text 9"/>
          <p:cNvSpPr txBox="1"/>
          <p:nvPr/>
        </p:nvSpPr>
        <p:spPr>
          <a:xfrm>
            <a:off x="932688" y="2377440"/>
            <a:ext cx="475488" cy="457200"/>
          </a:xfrm>
          <a:prstGeom prst="rect">
            <a:avLst/>
          </a:prstGeom>
          <a:noFill/>
          <a:ln/>
        </p:spPr>
        <p:txBody>
          <a:bodyPr wrap="square" lIns="0" tIns="0" rIns="0" bIns="0" rtlCol="0" anchor="t"/>
          <a:lstStyle/>
          <a:p>
            <a:pPr algn="l"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3" name="Text 10"/>
          <p:cNvSpPr txBox="1"/>
          <p:nvPr/>
        </p:nvSpPr>
        <p:spPr>
          <a:xfrm>
            <a:off x="1572768" y="2368296"/>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El principio de proporcionalidad dice «necesarios en relación con los fines». ¿Por qué es imposible aplicarlo en un proyecto que no ha declarado sus finalidades?</a:t>
            </a:r>
            <a:endParaRPr lang="en-US" sz="1400" dirty="0"/>
          </a:p>
        </p:txBody>
      </p:sp>
      <p:sp>
        <p:nvSpPr>
          <p:cNvPr id="14" name="Shape 11"/>
          <p:cNvSpPr/>
          <p:nvPr/>
        </p:nvSpPr>
        <p:spPr>
          <a:xfrm>
            <a:off x="1572768" y="2999232"/>
            <a:ext cx="9631375" cy="0"/>
          </a:xfrm>
          <a:prstGeom prst="line">
            <a:avLst/>
          </a:prstGeom>
          <a:noFill/>
          <a:ln w="12700">
            <a:solidFill>
              <a:srgbClr val="D8CFC4"/>
            </a:solidFill>
            <a:prstDash val="solid"/>
            <a:headEnd type="none"/>
            <a:tailEnd type="none"/>
          </a:ln>
        </p:spPr>
      </p:sp>
      <p:sp>
        <p:nvSpPr>
          <p:cNvPr id="15" name="Text 12"/>
          <p:cNvSpPr txBox="1"/>
          <p:nvPr/>
        </p:nvSpPr>
        <p:spPr>
          <a:xfrm>
            <a:off x="1572768" y="3090672"/>
            <a:ext cx="640080" cy="182880"/>
          </a:xfrm>
          <a:prstGeom prst="rect">
            <a:avLst/>
          </a:prstGeom>
          <a:noFill/>
          <a:ln/>
        </p:spPr>
        <p:txBody>
          <a:bodyPr wrap="square" lIns="0" tIns="0" rIns="0" bIns="0" rtlCol="0" anchor="t"/>
          <a:lstStyle/>
          <a:p>
            <a:pPr algn="l" indent="0" marL="0">
              <a:buNone/>
            </a:pPr>
            <a:r>
              <a:rPr lang="en-US" sz="860" b="1" spc="110" kern="0" dirty="0">
                <a:solidFill>
                  <a:srgbClr val="B3181E"/>
                </a:solidFill>
                <a:latin typeface="Aptos" pitchFamily="34" charset="0"/>
                <a:ea typeface="Aptos" pitchFamily="34" charset="-122"/>
                <a:cs typeface="Aptos" pitchFamily="34" charset="-120"/>
              </a:rPr>
              <a:t>PISTA</a:t>
            </a:r>
            <a:endParaRPr lang="en-US" sz="860" dirty="0"/>
          </a:p>
        </p:txBody>
      </p:sp>
      <p:sp>
        <p:nvSpPr>
          <p:cNvPr id="16" name="Text 13"/>
          <p:cNvSpPr txBox="1"/>
          <p:nvPr/>
        </p:nvSpPr>
        <p:spPr>
          <a:xfrm>
            <a:off x="2286000" y="3072384"/>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Intenta juzgar si un dato sobra, sin saber para qué existe el producto.</a:t>
            </a:r>
            <a:endParaRPr lang="en-US" sz="1200" dirty="0"/>
          </a:p>
        </p:txBody>
      </p:sp>
      <p:sp>
        <p:nvSpPr>
          <p:cNvPr id="17" name="Shape 14"/>
          <p:cNvSpPr/>
          <p:nvPr/>
        </p:nvSpPr>
        <p:spPr>
          <a:xfrm>
            <a:off x="658368" y="3529584"/>
            <a:ext cx="10874959" cy="1188720"/>
          </a:xfrm>
          <a:prstGeom prst="rect">
            <a:avLst/>
          </a:prstGeom>
          <a:solidFill>
            <a:srgbClr val="EDE6DA"/>
          </a:solidFill>
          <a:ln w="12700">
            <a:solidFill>
              <a:srgbClr val="EDE6DA"/>
            </a:solidFill>
            <a:prstDash val="solid"/>
          </a:ln>
        </p:spPr>
      </p:sp>
      <p:sp>
        <p:nvSpPr>
          <p:cNvPr id="18" name="Shape 15"/>
          <p:cNvSpPr/>
          <p:nvPr/>
        </p:nvSpPr>
        <p:spPr>
          <a:xfrm>
            <a:off x="658368" y="3529584"/>
            <a:ext cx="54864" cy="1188720"/>
          </a:xfrm>
          <a:prstGeom prst="rect">
            <a:avLst/>
          </a:prstGeom>
          <a:solidFill>
            <a:srgbClr val="255A4C"/>
          </a:solidFill>
          <a:ln w="12700">
            <a:solidFill>
              <a:srgbClr val="255A4C"/>
            </a:solidFill>
            <a:prstDash val="solid"/>
          </a:ln>
        </p:spPr>
      </p:sp>
      <p:sp>
        <p:nvSpPr>
          <p:cNvPr id="19" name="Text 16"/>
          <p:cNvSpPr txBox="1"/>
          <p:nvPr/>
        </p:nvSpPr>
        <p:spPr>
          <a:xfrm>
            <a:off x="932688" y="3675888"/>
            <a:ext cx="475488" cy="457200"/>
          </a:xfrm>
          <a:prstGeom prst="rect">
            <a:avLst/>
          </a:prstGeom>
          <a:noFill/>
          <a:ln/>
        </p:spPr>
        <p:txBody>
          <a:bodyPr wrap="square" lIns="0" tIns="0" rIns="0" bIns="0" rtlCol="0" anchor="t"/>
          <a:lstStyle/>
          <a:p>
            <a:pPr algn="l" indent="0" marL="0">
              <a:buNone/>
            </a:pPr>
            <a:r>
              <a:rPr lang="en-US" sz="2600" b="1" dirty="0">
                <a:solidFill>
                  <a:srgbClr val="255A4C"/>
                </a:solidFill>
                <a:latin typeface="Aptos Display" pitchFamily="34" charset="0"/>
                <a:ea typeface="Aptos Display" pitchFamily="34" charset="-122"/>
                <a:cs typeface="Aptos Display" pitchFamily="34" charset="-120"/>
              </a:rPr>
              <a:t>2</a:t>
            </a:r>
            <a:endParaRPr lang="en-US" sz="2600" dirty="0"/>
          </a:p>
        </p:txBody>
      </p:sp>
      <p:sp>
        <p:nvSpPr>
          <p:cNvPr id="20" name="Text 17"/>
          <p:cNvSpPr txBox="1"/>
          <p:nvPr/>
        </p:nvSpPr>
        <p:spPr>
          <a:xfrm>
            <a:off x="1572768" y="3666744"/>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La ley exige medidas «con anterioridad y durante» el tratamiento. Si tu proyecto ya está escrito y funcionando, ¿qué significa cumplir esa exigencia hoy?</a:t>
            </a:r>
            <a:endParaRPr lang="en-US" sz="1400" dirty="0"/>
          </a:p>
        </p:txBody>
      </p:sp>
      <p:sp>
        <p:nvSpPr>
          <p:cNvPr id="21" name="Shape 18"/>
          <p:cNvSpPr/>
          <p:nvPr/>
        </p:nvSpPr>
        <p:spPr>
          <a:xfrm>
            <a:off x="1572768" y="4297680"/>
            <a:ext cx="9631375" cy="0"/>
          </a:xfrm>
          <a:prstGeom prst="line">
            <a:avLst/>
          </a:prstGeom>
          <a:noFill/>
          <a:ln w="12700">
            <a:solidFill>
              <a:srgbClr val="D8CFC4"/>
            </a:solidFill>
            <a:prstDash val="solid"/>
            <a:headEnd type="none"/>
            <a:tailEnd type="none"/>
          </a:ln>
        </p:spPr>
      </p:sp>
      <p:sp>
        <p:nvSpPr>
          <p:cNvPr id="22" name="Text 19"/>
          <p:cNvSpPr txBox="1"/>
          <p:nvPr/>
        </p:nvSpPr>
        <p:spPr>
          <a:xfrm>
            <a:off x="1572768" y="4389120"/>
            <a:ext cx="640080" cy="182880"/>
          </a:xfrm>
          <a:prstGeom prst="rect">
            <a:avLst/>
          </a:prstGeom>
          <a:noFill/>
          <a:ln/>
        </p:spPr>
        <p:txBody>
          <a:bodyPr wrap="square" lIns="0" tIns="0" rIns="0" bIns="0" rtlCol="0" anchor="t"/>
          <a:lstStyle/>
          <a:p>
            <a:pPr algn="l" indent="0" marL="0">
              <a:buNone/>
            </a:pPr>
            <a:r>
              <a:rPr lang="en-US" sz="860" b="1" spc="110" kern="0" dirty="0">
                <a:solidFill>
                  <a:srgbClr val="255A4C"/>
                </a:solidFill>
                <a:latin typeface="Aptos" pitchFamily="34" charset="0"/>
                <a:ea typeface="Aptos" pitchFamily="34" charset="-122"/>
                <a:cs typeface="Aptos" pitchFamily="34" charset="-120"/>
              </a:rPr>
              <a:t>PISTA</a:t>
            </a:r>
            <a:endParaRPr lang="en-US" sz="860" dirty="0"/>
          </a:p>
        </p:txBody>
      </p:sp>
      <p:sp>
        <p:nvSpPr>
          <p:cNvPr id="23" name="Text 20"/>
          <p:cNvSpPr txBox="1"/>
          <p:nvPr/>
        </p:nvSpPr>
        <p:spPr>
          <a:xfrm>
            <a:off x="2286000" y="4370832"/>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Nadie puede volver atrás en el tiempo. Pregúntate qué queda por hacer que sí sea posible.</a:t>
            </a:r>
            <a:endParaRPr lang="en-US" sz="1200" dirty="0"/>
          </a:p>
        </p:txBody>
      </p:sp>
      <p:sp>
        <p:nvSpPr>
          <p:cNvPr id="24" name="Shape 21"/>
          <p:cNvSpPr/>
          <p:nvPr/>
        </p:nvSpPr>
        <p:spPr>
          <a:xfrm>
            <a:off x="658368" y="4828032"/>
            <a:ext cx="10874959" cy="1188720"/>
          </a:xfrm>
          <a:prstGeom prst="rect">
            <a:avLst/>
          </a:prstGeom>
          <a:solidFill>
            <a:srgbClr val="F2E7D9"/>
          </a:solidFill>
          <a:ln w="12700">
            <a:solidFill>
              <a:srgbClr val="F2E7D9"/>
            </a:solidFill>
            <a:prstDash val="solid"/>
          </a:ln>
        </p:spPr>
      </p:sp>
      <p:sp>
        <p:nvSpPr>
          <p:cNvPr id="25" name="Shape 22"/>
          <p:cNvSpPr/>
          <p:nvPr/>
        </p:nvSpPr>
        <p:spPr>
          <a:xfrm>
            <a:off x="658368" y="4828032"/>
            <a:ext cx="54864" cy="1188720"/>
          </a:xfrm>
          <a:prstGeom prst="rect">
            <a:avLst/>
          </a:prstGeom>
          <a:solidFill>
            <a:srgbClr val="8A6A12"/>
          </a:solidFill>
          <a:ln w="12700">
            <a:solidFill>
              <a:srgbClr val="8A6A12"/>
            </a:solidFill>
            <a:prstDash val="solid"/>
          </a:ln>
        </p:spPr>
      </p:sp>
      <p:sp>
        <p:nvSpPr>
          <p:cNvPr id="26" name="Text 23"/>
          <p:cNvSpPr txBox="1"/>
          <p:nvPr/>
        </p:nvSpPr>
        <p:spPr>
          <a:xfrm>
            <a:off x="932688" y="4974336"/>
            <a:ext cx="475488" cy="457200"/>
          </a:xfrm>
          <a:prstGeom prst="rect">
            <a:avLst/>
          </a:prstGeom>
          <a:noFill/>
          <a:ln/>
        </p:spPr>
        <p:txBody>
          <a:bodyPr wrap="square" lIns="0" tIns="0" rIns="0" bIns="0" rtlCol="0" anchor="t"/>
          <a:lstStyle/>
          <a:p>
            <a:pPr algn="l"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7" name="Text 24"/>
          <p:cNvSpPr txBox="1"/>
          <p:nvPr/>
        </p:nvSpPr>
        <p:spPr>
          <a:xfrm>
            <a:off x="1572768" y="4965192"/>
            <a:ext cx="9631375" cy="548640"/>
          </a:xfrm>
          <a:prstGeom prst="rect">
            <a:avLst/>
          </a:prstGeom>
          <a:noFill/>
          <a:ln/>
        </p:spPr>
        <p:txBody>
          <a:bodyPr wrap="square" lIns="0" tIns="0" rIns="0" bIns="0" rtlCol="0" anchor="t"/>
          <a:lstStyle/>
          <a:p>
            <a:pPr algn="l" indent="0" marL="0">
              <a:lnSpc>
                <a:spcPct val="116000"/>
              </a:lnSpc>
              <a:buNone/>
            </a:pPr>
            <a:r>
              <a:rPr lang="en-US" sz="1400" dirty="0">
                <a:solidFill>
                  <a:srgbClr val="243B53"/>
                </a:solidFill>
                <a:latin typeface="Aptos" pitchFamily="34" charset="0"/>
                <a:ea typeface="Aptos" pitchFamily="34" charset="-122"/>
                <a:cs typeface="Aptos" pitchFamily="34" charset="-120"/>
              </a:rPr>
              <a:t>La misma auditoría, sobre el mismo código, encontró el defecto solo cuando existía el documento. ¿Cuánto puedes confiar en un informe de auditoría que no declara contra qué comparó?</a:t>
            </a:r>
            <a:endParaRPr lang="en-US" sz="1400" dirty="0"/>
          </a:p>
        </p:txBody>
      </p:sp>
      <p:sp>
        <p:nvSpPr>
          <p:cNvPr id="28" name="Shape 25"/>
          <p:cNvSpPr/>
          <p:nvPr/>
        </p:nvSpPr>
        <p:spPr>
          <a:xfrm>
            <a:off x="1572768" y="5596128"/>
            <a:ext cx="9631375" cy="0"/>
          </a:xfrm>
          <a:prstGeom prst="line">
            <a:avLst/>
          </a:prstGeom>
          <a:noFill/>
          <a:ln w="12700">
            <a:solidFill>
              <a:srgbClr val="D8CFC4"/>
            </a:solidFill>
            <a:prstDash val="solid"/>
            <a:headEnd type="none"/>
            <a:tailEnd type="none"/>
          </a:ln>
        </p:spPr>
      </p:sp>
      <p:sp>
        <p:nvSpPr>
          <p:cNvPr id="29" name="Text 26"/>
          <p:cNvSpPr txBox="1"/>
          <p:nvPr/>
        </p:nvSpPr>
        <p:spPr>
          <a:xfrm>
            <a:off x="1572768" y="5687568"/>
            <a:ext cx="640080" cy="182880"/>
          </a:xfrm>
          <a:prstGeom prst="rect">
            <a:avLst/>
          </a:prstGeom>
          <a:noFill/>
          <a:ln/>
        </p:spPr>
        <p:txBody>
          <a:bodyPr wrap="square" lIns="0" tIns="0" rIns="0" bIns="0" rtlCol="0" anchor="t"/>
          <a:lstStyle/>
          <a:p>
            <a:pPr algn="l" indent="0" marL="0">
              <a:buNone/>
            </a:pPr>
            <a:r>
              <a:rPr lang="en-US" sz="860" b="1" spc="110" kern="0" dirty="0">
                <a:solidFill>
                  <a:srgbClr val="8A6A12"/>
                </a:solidFill>
                <a:latin typeface="Aptos" pitchFamily="34" charset="0"/>
                <a:ea typeface="Aptos" pitchFamily="34" charset="-122"/>
                <a:cs typeface="Aptos" pitchFamily="34" charset="-120"/>
              </a:rPr>
              <a:t>PISTA</a:t>
            </a:r>
            <a:endParaRPr lang="en-US" sz="860" dirty="0"/>
          </a:p>
        </p:txBody>
      </p:sp>
      <p:sp>
        <p:nvSpPr>
          <p:cNvPr id="30" name="Text 27"/>
          <p:cNvSpPr txBox="1"/>
          <p:nvPr/>
        </p:nvSpPr>
        <p:spPr>
          <a:xfrm>
            <a:off x="2286000" y="5669280"/>
            <a:ext cx="8918143" cy="256032"/>
          </a:xfrm>
          <a:prstGeom prst="rect">
            <a:avLst/>
          </a:prstGeom>
          <a:noFill/>
          <a:ln/>
        </p:spPr>
        <p:txBody>
          <a:bodyPr wrap="square" lIns="0" tIns="0" rIns="0" bIns="0" rtlCol="0" anchor="t"/>
          <a:lstStyle/>
          <a:p>
            <a:pPr algn="l" indent="0" marL="0">
              <a:buNone/>
            </a:pPr>
            <a:r>
              <a:rPr lang="en-US" sz="1200" i="1" dirty="0">
                <a:solidFill>
                  <a:srgbClr val="52606D"/>
                </a:solidFill>
                <a:latin typeface="Aptos" pitchFamily="34" charset="0"/>
                <a:ea typeface="Aptos" pitchFamily="34" charset="-122"/>
                <a:cs typeface="Aptos" pitchFamily="34" charset="-120"/>
              </a:rPr>
              <a:t>Piensa qué te falta saber para poder repetir esa auditoría y obtener el mismo resultado.</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3\01\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39</a:t>
            </a:r>
            <a:endParaRPr lang="en-US" sz="1400" dirty="0"/>
          </a:p>
        </p:txBody>
      </p:sp>
      <p:sp>
        <p:nvSpPr>
          <p:cNvPr id="8" name="Text 5"/>
          <p:cNvSpPr txBox="1"/>
          <p:nvPr/>
        </p:nvSpPr>
        <p:spPr>
          <a:xfrm>
            <a:off x="658368" y="402336"/>
            <a:ext cx="694944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CIERRE DE LA SESIÓN</a:t>
            </a:r>
            <a:endParaRPr lang="en-US" sz="1030" dirty="0"/>
          </a:p>
        </p:txBody>
      </p:sp>
      <p:sp>
        <p:nvSpPr>
          <p:cNvPr id="9" name="Text 6"/>
          <p:cNvSpPr txBox="1"/>
          <p:nvPr/>
        </p:nvSpPr>
        <p:spPr>
          <a:xfrm>
            <a:off x="658368" y="749808"/>
            <a:ext cx="9418320" cy="969264"/>
          </a:xfrm>
          <a:prstGeom prst="rect">
            <a:avLst/>
          </a:prstGeom>
          <a:noFill/>
          <a:ln/>
        </p:spPr>
        <p:txBody>
          <a:bodyPr wrap="square" lIns="0" tIns="0" rIns="0" bIns="0" rtlCol="0" anchor="t"/>
          <a:lstStyle/>
          <a:p>
            <a:pPr algn="l" indent="0" marL="0">
              <a:buNone/>
            </a:pPr>
            <a:r>
              <a:rPr lang="en-US" sz="2800" b="1" dirty="0">
                <a:solidFill>
                  <a:srgbClr val="243B53"/>
                </a:solidFill>
                <a:latin typeface="Aptos Display" pitchFamily="34" charset="0"/>
                <a:ea typeface="Aptos Display" pitchFamily="34" charset="-122"/>
                <a:cs typeface="Aptos Display" pitchFamily="34" charset="-120"/>
              </a:rPr>
              <a:t>Qué puede afirmarse hoy, y qué sigue sin poder afirmarse</a:t>
            </a:r>
            <a:endParaRPr lang="en-US" sz="2800" dirty="0"/>
          </a:p>
        </p:txBody>
      </p:sp>
      <p:sp>
        <p:nvSpPr>
          <p:cNvPr id="10" name="Shape 7"/>
          <p:cNvSpPr/>
          <p:nvPr/>
        </p:nvSpPr>
        <p:spPr>
          <a:xfrm>
            <a:off x="658368" y="2011680"/>
            <a:ext cx="5358384" cy="1298448"/>
          </a:xfrm>
          <a:prstGeom prst="roundRect">
            <a:avLst>
              <a:gd name="adj" fmla="val 2817"/>
            </a:avLst>
          </a:prstGeom>
          <a:solidFill>
            <a:srgbClr val="0F1720"/>
          </a:solidFill>
          <a:ln w="12700">
            <a:solidFill>
              <a:srgbClr val="0F1720"/>
            </a:solidFill>
            <a:prstDash val="solid"/>
          </a:ln>
        </p:spPr>
      </p:sp>
      <p:sp>
        <p:nvSpPr>
          <p:cNvPr id="11" name="Shape 8"/>
          <p:cNvSpPr/>
          <p:nvPr/>
        </p:nvSpPr>
        <p:spPr>
          <a:xfrm>
            <a:off x="786384" y="2121408"/>
            <a:ext cx="5102352" cy="310896"/>
          </a:xfrm>
          <a:prstGeom prst="roundRect">
            <a:avLst>
              <a:gd name="adj" fmla="val 8824"/>
            </a:avLst>
          </a:prstGeom>
          <a:solidFill>
            <a:srgbClr val="1E2937"/>
          </a:solidFill>
          <a:ln w="12700">
            <a:solidFill>
              <a:srgbClr val="1E2937"/>
            </a:solidFill>
            <a:prstDash val="solid"/>
          </a:ln>
        </p:spPr>
      </p:sp>
      <p:sp>
        <p:nvSpPr>
          <p:cNvPr id="12" name="Text 9"/>
          <p:cNvSpPr/>
          <p:nvPr/>
        </p:nvSpPr>
        <p:spPr>
          <a:xfrm>
            <a:off x="914400" y="2194560"/>
            <a:ext cx="4846320"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lo que se podía afirmar al terminar la sesión anterior</a:t>
            </a:r>
            <a:endParaRPr lang="en-US" sz="1000" dirty="0"/>
          </a:p>
        </p:txBody>
      </p:sp>
      <p:sp>
        <p:nvSpPr>
          <p:cNvPr id="13" name="Text 10"/>
          <p:cNvSpPr/>
          <p:nvPr/>
        </p:nvSpPr>
        <p:spPr>
          <a:xfrm>
            <a:off x="877824" y="2578608"/>
            <a:ext cx="4608576" cy="164592"/>
          </a:xfrm>
          <a:prstGeom prst="rect">
            <a:avLst/>
          </a:prstGeom>
          <a:noFill/>
          <a:ln/>
        </p:spPr>
        <p:txBody>
          <a:bodyPr wrap="square" lIns="0" tIns="0" rIns="0" bIns="0" rtlCol="0" anchor="ctr"/>
          <a:lstStyle/>
          <a:p>
            <a:pPr indent="0" marL="0">
              <a:buNone/>
            </a:pPr>
            <a:r>
              <a:rPr lang="en-US" sz="1020" dirty="0">
                <a:solidFill>
                  <a:srgbClr val="E6EEF7"/>
                </a:solidFill>
                <a:latin typeface="Consolas" pitchFamily="34" charset="0"/>
                <a:ea typeface="Consolas" pitchFamily="34" charset="-122"/>
                <a:cs typeface="Consolas" pitchFamily="34" charset="-120"/>
              </a:rPr>
              <a:t>El codigo fue comparado contra el</a:t>
            </a:r>
            <a:endParaRPr lang="en-US" sz="1020" dirty="0"/>
          </a:p>
        </p:txBody>
      </p:sp>
      <p:sp>
        <p:nvSpPr>
          <p:cNvPr id="14" name="Text 11"/>
          <p:cNvSpPr/>
          <p:nvPr/>
        </p:nvSpPr>
        <p:spPr>
          <a:xfrm>
            <a:off x="877824" y="2834640"/>
            <a:ext cx="4608576" cy="164592"/>
          </a:xfrm>
          <a:prstGeom prst="rect">
            <a:avLst/>
          </a:prstGeom>
          <a:noFill/>
          <a:ln/>
        </p:spPr>
        <p:txBody>
          <a:bodyPr wrap="square" lIns="0" tIns="0" rIns="0" bIns="0" rtlCol="0" anchor="ctr"/>
          <a:lstStyle/>
          <a:p>
            <a:pPr indent="0" marL="0">
              <a:buNone/>
            </a:pPr>
            <a:r>
              <a:rPr lang="en-US" sz="1020" dirty="0">
                <a:solidFill>
                  <a:srgbClr val="E6EEF7"/>
                </a:solidFill>
                <a:latin typeface="Consolas" pitchFamily="34" charset="0"/>
                <a:ea typeface="Consolas" pitchFamily="34" charset="-122"/>
                <a:cs typeface="Consolas" pitchFamily="34" charset="-120"/>
              </a:rPr>
              <a:t>requisito escrito, y las diferencias</a:t>
            </a:r>
            <a:endParaRPr lang="en-US" sz="1020" dirty="0"/>
          </a:p>
        </p:txBody>
      </p:sp>
      <p:sp>
        <p:nvSpPr>
          <p:cNvPr id="15" name="Text 12"/>
          <p:cNvSpPr/>
          <p:nvPr/>
        </p:nvSpPr>
        <p:spPr>
          <a:xfrm>
            <a:off x="877824" y="3090672"/>
            <a:ext cx="4608576" cy="164592"/>
          </a:xfrm>
          <a:prstGeom prst="rect">
            <a:avLst/>
          </a:prstGeom>
          <a:noFill/>
          <a:ln/>
        </p:spPr>
        <p:txBody>
          <a:bodyPr wrap="square" lIns="0" tIns="0" rIns="0" bIns="0" rtlCol="0" anchor="ctr"/>
          <a:lstStyle/>
          <a:p>
            <a:pPr indent="0" marL="0">
              <a:buNone/>
            </a:pPr>
            <a:r>
              <a:rPr lang="en-US" sz="1020" dirty="0">
                <a:solidFill>
                  <a:srgbClr val="E6EEF7"/>
                </a:solidFill>
                <a:latin typeface="Consolas" pitchFamily="34" charset="0"/>
                <a:ea typeface="Consolas" pitchFamily="34" charset="-122"/>
                <a:cs typeface="Consolas" pitchFamily="34" charset="-120"/>
              </a:rPr>
              <a:t>estan corregidas o registradas.</a:t>
            </a:r>
            <a:endParaRPr lang="en-US" sz="1020" dirty="0"/>
          </a:p>
        </p:txBody>
      </p:sp>
      <p:sp>
        <p:nvSpPr>
          <p:cNvPr id="16" name="Shape 13"/>
          <p:cNvSpPr/>
          <p:nvPr/>
        </p:nvSpPr>
        <p:spPr>
          <a:xfrm>
            <a:off x="6163056" y="2011680"/>
            <a:ext cx="5367528" cy="1298448"/>
          </a:xfrm>
          <a:prstGeom prst="roundRect">
            <a:avLst>
              <a:gd name="adj" fmla="val 2817"/>
            </a:avLst>
          </a:prstGeom>
          <a:solidFill>
            <a:srgbClr val="0F1720"/>
          </a:solidFill>
          <a:ln w="12700">
            <a:solidFill>
              <a:srgbClr val="0F1720"/>
            </a:solidFill>
            <a:prstDash val="solid"/>
          </a:ln>
        </p:spPr>
      </p:sp>
      <p:sp>
        <p:nvSpPr>
          <p:cNvPr id="17" name="Shape 14"/>
          <p:cNvSpPr/>
          <p:nvPr/>
        </p:nvSpPr>
        <p:spPr>
          <a:xfrm>
            <a:off x="6291072" y="2121408"/>
            <a:ext cx="5111496" cy="310896"/>
          </a:xfrm>
          <a:prstGeom prst="roundRect">
            <a:avLst>
              <a:gd name="adj" fmla="val 8824"/>
            </a:avLst>
          </a:prstGeom>
          <a:solidFill>
            <a:srgbClr val="1E2937"/>
          </a:solidFill>
          <a:ln w="12700">
            <a:solidFill>
              <a:srgbClr val="1E2937"/>
            </a:solidFill>
            <a:prstDash val="solid"/>
          </a:ln>
        </p:spPr>
      </p:sp>
      <p:sp>
        <p:nvSpPr>
          <p:cNvPr id="18" name="Text 15"/>
          <p:cNvSpPr/>
          <p:nvPr/>
        </p:nvSpPr>
        <p:spPr>
          <a:xfrm>
            <a:off x="6419088" y="2194560"/>
            <a:ext cx="4855464"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lo que puede afirmarse ahora</a:t>
            </a:r>
            <a:endParaRPr lang="en-US" sz="1000" dirty="0"/>
          </a:p>
        </p:txBody>
      </p:sp>
      <p:sp>
        <p:nvSpPr>
          <p:cNvPr id="19" name="Text 16"/>
          <p:cNvSpPr/>
          <p:nvPr/>
        </p:nvSpPr>
        <p:spPr>
          <a:xfrm>
            <a:off x="6382512" y="2578608"/>
            <a:ext cx="4617720" cy="164592"/>
          </a:xfrm>
          <a:prstGeom prst="rect">
            <a:avLst/>
          </a:prstGeom>
          <a:noFill/>
          <a:ln/>
        </p:spPr>
        <p:txBody>
          <a:bodyPr wrap="square" lIns="0" tIns="0" rIns="0" bIns="0" rtlCol="0" anchor="ctr"/>
          <a:lstStyle/>
          <a:p>
            <a:pPr indent="0" marL="0">
              <a:buNone/>
            </a:pPr>
            <a:r>
              <a:rPr lang="en-US" sz="1020" dirty="0">
                <a:solidFill>
                  <a:srgbClr val="E6EEF7"/>
                </a:solidFill>
                <a:latin typeface="Consolas" pitchFamily="34" charset="0"/>
                <a:ea typeface="Consolas" pitchFamily="34" charset="-122"/>
                <a:cs typeface="Consolas" pitchFamily="34" charset="-120"/>
              </a:rPr>
              <a:t>El requisito fue comparado contra un</a:t>
            </a:r>
            <a:endParaRPr lang="en-US" sz="1020" dirty="0"/>
          </a:p>
        </p:txBody>
      </p:sp>
      <p:sp>
        <p:nvSpPr>
          <p:cNvPr id="20" name="Text 17"/>
          <p:cNvSpPr/>
          <p:nvPr/>
        </p:nvSpPr>
        <p:spPr>
          <a:xfrm>
            <a:off x="6382512" y="2834640"/>
            <a:ext cx="4617720" cy="164592"/>
          </a:xfrm>
          <a:prstGeom prst="rect">
            <a:avLst/>
          </a:prstGeom>
          <a:noFill/>
          <a:ln/>
        </p:spPr>
        <p:txBody>
          <a:bodyPr wrap="square" lIns="0" tIns="0" rIns="0" bIns="0" rtlCol="0" anchor="ctr"/>
          <a:lstStyle/>
          <a:p>
            <a:pPr indent="0" marL="0">
              <a:buNone/>
            </a:pPr>
            <a:r>
              <a:rPr lang="en-US" sz="1020" dirty="0">
                <a:solidFill>
                  <a:srgbClr val="E6EEF7"/>
                </a:solidFill>
                <a:latin typeface="Consolas" pitchFamily="34" charset="0"/>
                <a:ea typeface="Consolas" pitchFamily="34" charset="-122"/>
                <a:cs typeface="Consolas" pitchFamily="34" charset="-120"/>
              </a:rPr>
              <a:t>modelo de calidad y contra la ley, y lo</a:t>
            </a:r>
            <a:endParaRPr lang="en-US" sz="1020" dirty="0"/>
          </a:p>
        </p:txBody>
      </p:sp>
      <p:sp>
        <p:nvSpPr>
          <p:cNvPr id="21" name="Text 18"/>
          <p:cNvSpPr/>
          <p:nvPr/>
        </p:nvSpPr>
        <p:spPr>
          <a:xfrm>
            <a:off x="6382512" y="3090672"/>
            <a:ext cx="4617720" cy="164592"/>
          </a:xfrm>
          <a:prstGeom prst="rect">
            <a:avLst/>
          </a:prstGeom>
          <a:noFill/>
          <a:ln/>
        </p:spPr>
        <p:txBody>
          <a:bodyPr wrap="square" lIns="0" tIns="0" rIns="0" bIns="0" rtlCol="0" anchor="ctr"/>
          <a:lstStyle/>
          <a:p>
            <a:pPr indent="0" marL="0">
              <a:buNone/>
            </a:pPr>
            <a:r>
              <a:rPr lang="en-US" sz="1020" dirty="0">
                <a:solidFill>
                  <a:srgbClr val="E6EEF7"/>
                </a:solidFill>
                <a:latin typeface="Consolas" pitchFamily="34" charset="0"/>
                <a:ea typeface="Consolas" pitchFamily="34" charset="-122"/>
                <a:cs typeface="Consolas" pitchFamily="34" charset="-120"/>
              </a:rPr>
              <a:t>que faltaba esta escrito y tiene prueba.</a:t>
            </a:r>
            <a:endParaRPr lang="en-US" sz="1020" dirty="0"/>
          </a:p>
        </p:txBody>
      </p:sp>
      <p:sp>
        <p:nvSpPr>
          <p:cNvPr id="22" name="Shape 19"/>
          <p:cNvSpPr/>
          <p:nvPr/>
        </p:nvSpPr>
        <p:spPr>
          <a:xfrm>
            <a:off x="658368" y="3493008"/>
            <a:ext cx="10874959" cy="676656"/>
          </a:xfrm>
          <a:prstGeom prst="rect">
            <a:avLst/>
          </a:prstGeom>
          <a:solidFill>
            <a:srgbClr val="F8E4E5"/>
          </a:solidFill>
          <a:ln w="12700">
            <a:solidFill>
              <a:srgbClr val="F8E4E5"/>
            </a:solidFill>
            <a:prstDash val="solid"/>
          </a:ln>
        </p:spPr>
      </p:sp>
      <p:sp>
        <p:nvSpPr>
          <p:cNvPr id="23" name="Shape 20"/>
          <p:cNvSpPr/>
          <p:nvPr/>
        </p:nvSpPr>
        <p:spPr>
          <a:xfrm>
            <a:off x="658368" y="3493008"/>
            <a:ext cx="64008" cy="676656"/>
          </a:xfrm>
          <a:prstGeom prst="rect">
            <a:avLst/>
          </a:prstGeom>
          <a:solidFill>
            <a:srgbClr val="B3181E"/>
          </a:solidFill>
          <a:ln w="12700">
            <a:solidFill>
              <a:srgbClr val="B3181E"/>
            </a:solidFill>
            <a:prstDash val="solid"/>
          </a:ln>
        </p:spPr>
      </p:sp>
      <p:sp>
        <p:nvSpPr>
          <p:cNvPr id="24" name="Text 21"/>
          <p:cNvSpPr txBox="1"/>
          <p:nvPr/>
        </p:nvSpPr>
        <p:spPr>
          <a:xfrm>
            <a:off x="969264" y="3621024"/>
            <a:ext cx="45720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Y LO QUE SIGUE SIN PODER AFIRMARSE</a:t>
            </a:r>
            <a:endParaRPr lang="en-US" sz="960" dirty="0"/>
          </a:p>
        </p:txBody>
      </p:sp>
      <p:sp>
        <p:nvSpPr>
          <p:cNvPr id="25" name="Text 22"/>
          <p:cNvSpPr txBox="1"/>
          <p:nvPr/>
        </p:nvSpPr>
        <p:spPr>
          <a:xfrm>
            <a:off x="969264" y="3840480"/>
            <a:ext cx="10234879" cy="274320"/>
          </a:xfrm>
          <a:prstGeom prst="rect">
            <a:avLst/>
          </a:prstGeom>
          <a:noFill/>
          <a:ln/>
        </p:spPr>
        <p:txBody>
          <a:bodyPr wrap="square" lIns="0" tIns="0" rIns="0" bIns="0" rtlCol="0" anchor="t"/>
          <a:lstStyle/>
          <a:p>
            <a:pPr algn="l" indent="0" marL="0">
              <a:buNone/>
            </a:pPr>
            <a:r>
              <a:rPr lang="en-US" sz="1600" b="1" dirty="0">
                <a:solidFill>
                  <a:srgbClr val="B3181E"/>
                </a:solidFill>
                <a:latin typeface="Aptos" pitchFamily="34" charset="0"/>
                <a:ea typeface="Aptos" pitchFamily="34" charset="-122"/>
                <a:cs typeface="Aptos" pitchFamily="34" charset="-120"/>
              </a:rPr>
              <a:t>El requisito está completo.</a:t>
            </a:r>
            <a:endParaRPr lang="en-US" sz="1600" dirty="0"/>
          </a:p>
        </p:txBody>
      </p:sp>
      <p:sp>
        <p:nvSpPr>
          <p:cNvPr id="26" name="Text 23"/>
          <p:cNvSpPr txBox="1"/>
          <p:nvPr/>
        </p:nvSpPr>
        <p:spPr>
          <a:xfrm>
            <a:off x="658368" y="4352544"/>
            <a:ext cx="10874959" cy="438912"/>
          </a:xfrm>
          <a:prstGeom prst="rect">
            <a:avLst/>
          </a:prstGeom>
          <a:noFill/>
          <a:ln/>
        </p:spPr>
        <p:txBody>
          <a:bodyPr wrap="square" lIns="0" tIns="0" rIns="0" bIns="0" rtlCol="0" anchor="t"/>
          <a:lstStyle/>
          <a:p>
            <a:pPr algn="l" indent="0" marL="0">
              <a:lnSpc>
                <a:spcPct val="118000"/>
              </a:lnSpc>
              <a:buNone/>
            </a:pPr>
            <a:r>
              <a:rPr lang="en-US" sz="1340" dirty="0">
                <a:solidFill>
                  <a:srgbClr val="243B53"/>
                </a:solidFill>
                <a:latin typeface="Aptos" pitchFamily="34" charset="0"/>
                <a:ea typeface="Aptos" pitchFamily="34" charset="-122"/>
                <a:cs typeface="Aptos" pitchFamily="34" charset="-120"/>
              </a:rPr>
              <a:t>Esa frase no tiene prueba posible, y ahora se sabe por qué: un vacío en el requisito es invisible para todo lo que viene después, porque todo lo que viene después lo usa como referencia.</a:t>
            </a:r>
            <a:endParaRPr lang="en-US" sz="1340" dirty="0"/>
          </a:p>
        </p:txBody>
      </p:sp>
      <p:sp>
        <p:nvSpPr>
          <p:cNvPr id="27" name="Shape 24"/>
          <p:cNvSpPr/>
          <p:nvPr/>
        </p:nvSpPr>
        <p:spPr>
          <a:xfrm>
            <a:off x="658368" y="4901184"/>
            <a:ext cx="3401568" cy="786384"/>
          </a:xfrm>
          <a:prstGeom prst="rect">
            <a:avLst/>
          </a:prstGeom>
          <a:solidFill>
            <a:srgbClr val="FFFFFF"/>
          </a:solidFill>
          <a:ln w="12700">
            <a:solidFill>
              <a:srgbClr val="FFFFFF"/>
            </a:solidFill>
            <a:prstDash val="solid"/>
          </a:ln>
        </p:spPr>
      </p:sp>
      <p:sp>
        <p:nvSpPr>
          <p:cNvPr id="28" name="Shape 25"/>
          <p:cNvSpPr/>
          <p:nvPr/>
        </p:nvSpPr>
        <p:spPr>
          <a:xfrm>
            <a:off x="658368" y="4901184"/>
            <a:ext cx="3401568" cy="54864"/>
          </a:xfrm>
          <a:prstGeom prst="rect">
            <a:avLst/>
          </a:prstGeom>
          <a:solidFill>
            <a:srgbClr val="255A4C"/>
          </a:solidFill>
          <a:ln w="12700">
            <a:solidFill>
              <a:srgbClr val="255A4C"/>
            </a:solidFill>
            <a:prstDash val="solid"/>
          </a:ln>
        </p:spPr>
      </p:sp>
      <p:sp>
        <p:nvSpPr>
          <p:cNvPr id="29" name="Text 26"/>
          <p:cNvSpPr txBox="1"/>
          <p:nvPr/>
        </p:nvSpPr>
        <p:spPr>
          <a:xfrm>
            <a:off x="877824" y="5029200"/>
            <a:ext cx="2962656" cy="219456"/>
          </a:xfrm>
          <a:prstGeom prst="rect">
            <a:avLst/>
          </a:prstGeom>
          <a:noFill/>
          <a:ln/>
        </p:spPr>
        <p:txBody>
          <a:bodyPr wrap="square" lIns="0" tIns="0" rIns="0" bIns="0" rtlCol="0" anchor="t"/>
          <a:lstStyle/>
          <a:p>
            <a:pPr algn="l" indent="0" marL="0">
              <a:buNone/>
            </a:pPr>
            <a:r>
              <a:rPr lang="en-US" sz="1260" b="1" dirty="0">
                <a:solidFill>
                  <a:srgbClr val="255A4C"/>
                </a:solidFill>
                <a:latin typeface="Aptos" pitchFamily="34" charset="0"/>
                <a:ea typeface="Aptos" pitchFamily="34" charset="-122"/>
                <a:cs typeface="Aptos" pitchFamily="34" charset="-120"/>
              </a:rPr>
              <a:t>El modelo de calidad</a:t>
            </a:r>
            <a:endParaRPr lang="en-US" sz="1260" dirty="0"/>
          </a:p>
        </p:txBody>
      </p:sp>
      <p:sp>
        <p:nvSpPr>
          <p:cNvPr id="30" name="Text 27"/>
          <p:cNvSpPr txBox="1"/>
          <p:nvPr/>
        </p:nvSpPr>
        <p:spPr>
          <a:xfrm>
            <a:off x="877824" y="5266944"/>
            <a:ext cx="2962656" cy="365760"/>
          </a:xfrm>
          <a:prstGeom prst="rect">
            <a:avLst/>
          </a:prstGeom>
          <a:noFill/>
          <a:ln/>
        </p:spPr>
        <p:txBody>
          <a:bodyPr wrap="square" lIns="0" tIns="0" rIns="0" bIns="0" rtlCol="0" anchor="t"/>
          <a:lstStyle/>
          <a:p>
            <a:pPr algn="l" indent="0" marL="0">
              <a:lnSpc>
                <a:spcPct val="112000"/>
              </a:lnSpc>
              <a:buNone/>
            </a:pPr>
            <a:r>
              <a:rPr lang="en-US" sz="1080" dirty="0">
                <a:solidFill>
                  <a:srgbClr val="52606D"/>
                </a:solidFill>
                <a:latin typeface="Aptos" pitchFamily="34" charset="0"/>
                <a:ea typeface="Aptos" pitchFamily="34" charset="-122"/>
                <a:cs typeface="Aptos" pitchFamily="34" charset="-120"/>
              </a:rPr>
              <a:t>aportó la palabra «confidencialidad»,</a:t>
            </a:r>
            <a:endParaRPr lang="en-US" sz="1080" dirty="0"/>
          </a:p>
          <a:p>
            <a:pPr algn="l" indent="0" marL="0">
              <a:lnSpc>
                <a:spcPct val="112000"/>
              </a:lnSpc>
              <a:buNone/>
            </a:pPr>
            <a:r>
              <a:rPr lang="en-US" sz="1080" dirty="0">
                <a:solidFill>
                  <a:srgbClr val="52606D"/>
                </a:solidFill>
                <a:latin typeface="Aptos" pitchFamily="34" charset="0"/>
                <a:ea typeface="Aptos" pitchFamily="34" charset="-122"/>
                <a:cs typeface="Aptos" pitchFamily="34" charset="-120"/>
              </a:rPr>
              <a:t>que el repositorio no tenía</a:t>
            </a:r>
            <a:endParaRPr lang="en-US" sz="1080" dirty="0"/>
          </a:p>
        </p:txBody>
      </p:sp>
      <p:sp>
        <p:nvSpPr>
          <p:cNvPr id="31" name="Shape 28"/>
          <p:cNvSpPr/>
          <p:nvPr/>
        </p:nvSpPr>
        <p:spPr>
          <a:xfrm>
            <a:off x="4334256" y="4901184"/>
            <a:ext cx="3401568" cy="786384"/>
          </a:xfrm>
          <a:prstGeom prst="rect">
            <a:avLst/>
          </a:prstGeom>
          <a:solidFill>
            <a:srgbClr val="FFFFFF"/>
          </a:solidFill>
          <a:ln w="12700">
            <a:solidFill>
              <a:srgbClr val="FFFFFF"/>
            </a:solidFill>
            <a:prstDash val="solid"/>
          </a:ln>
        </p:spPr>
      </p:sp>
      <p:sp>
        <p:nvSpPr>
          <p:cNvPr id="32" name="Shape 29"/>
          <p:cNvSpPr/>
          <p:nvPr/>
        </p:nvSpPr>
        <p:spPr>
          <a:xfrm>
            <a:off x="4334256" y="4901184"/>
            <a:ext cx="3401568" cy="54864"/>
          </a:xfrm>
          <a:prstGeom prst="rect">
            <a:avLst/>
          </a:prstGeom>
          <a:solidFill>
            <a:srgbClr val="B3181E"/>
          </a:solidFill>
          <a:ln w="12700">
            <a:solidFill>
              <a:srgbClr val="B3181E"/>
            </a:solidFill>
            <a:prstDash val="solid"/>
          </a:ln>
        </p:spPr>
      </p:sp>
      <p:sp>
        <p:nvSpPr>
          <p:cNvPr id="33" name="Text 30"/>
          <p:cNvSpPr txBox="1"/>
          <p:nvPr/>
        </p:nvSpPr>
        <p:spPr>
          <a:xfrm>
            <a:off x="4553712" y="5029200"/>
            <a:ext cx="2962656" cy="219456"/>
          </a:xfrm>
          <a:prstGeom prst="rect">
            <a:avLst/>
          </a:prstGeom>
          <a:noFill/>
          <a:ln/>
        </p:spPr>
        <p:txBody>
          <a:bodyPr wrap="square" lIns="0" tIns="0" rIns="0" bIns="0" rtlCol="0" anchor="t"/>
          <a:lstStyle/>
          <a:p>
            <a:pPr algn="l" indent="0" marL="0">
              <a:buNone/>
            </a:pPr>
            <a:r>
              <a:rPr lang="en-US" sz="1260" b="1" dirty="0">
                <a:solidFill>
                  <a:srgbClr val="B3181E"/>
                </a:solidFill>
                <a:latin typeface="Aptos" pitchFamily="34" charset="0"/>
                <a:ea typeface="Aptos" pitchFamily="34" charset="-122"/>
                <a:cs typeface="Aptos" pitchFamily="34" charset="-120"/>
              </a:rPr>
              <a:t>La ley</a:t>
            </a:r>
            <a:endParaRPr lang="en-US" sz="1260" dirty="0"/>
          </a:p>
        </p:txBody>
      </p:sp>
      <p:sp>
        <p:nvSpPr>
          <p:cNvPr id="34" name="Text 31"/>
          <p:cNvSpPr txBox="1"/>
          <p:nvPr/>
        </p:nvSpPr>
        <p:spPr>
          <a:xfrm>
            <a:off x="4553712" y="5266944"/>
            <a:ext cx="2962656" cy="365760"/>
          </a:xfrm>
          <a:prstGeom prst="rect">
            <a:avLst/>
          </a:prstGeom>
          <a:noFill/>
          <a:ln/>
        </p:spPr>
        <p:txBody>
          <a:bodyPr wrap="square" lIns="0" tIns="0" rIns="0" bIns="0" rtlCol="0" anchor="t"/>
          <a:lstStyle/>
          <a:p>
            <a:pPr algn="l" indent="0" marL="0">
              <a:lnSpc>
                <a:spcPct val="112000"/>
              </a:lnSpc>
              <a:buNone/>
            </a:pPr>
            <a:r>
              <a:rPr lang="en-US" sz="1080" dirty="0">
                <a:solidFill>
                  <a:srgbClr val="52606D"/>
                </a:solidFill>
                <a:latin typeface="Aptos" pitchFamily="34" charset="0"/>
                <a:ea typeface="Aptos" pitchFamily="34" charset="-122"/>
                <a:cs typeface="Aptos" pitchFamily="34" charset="-120"/>
              </a:rPr>
              <a:t>aportó el umbral,</a:t>
            </a:r>
            <a:endParaRPr lang="en-US" sz="1080" dirty="0"/>
          </a:p>
          <a:p>
            <a:pPr algn="l" indent="0" marL="0">
              <a:lnSpc>
                <a:spcPct val="112000"/>
              </a:lnSpc>
              <a:buNone/>
            </a:pPr>
            <a:r>
              <a:rPr lang="en-US" sz="1080" dirty="0">
                <a:solidFill>
                  <a:srgbClr val="52606D"/>
                </a:solidFill>
                <a:latin typeface="Aptos" pitchFamily="34" charset="0"/>
                <a:ea typeface="Aptos" pitchFamily="34" charset="-122"/>
                <a:cs typeface="Aptos" pitchFamily="34" charset="-120"/>
              </a:rPr>
              <a:t>que no era nuestro</a:t>
            </a:r>
            <a:endParaRPr lang="en-US" sz="1080" dirty="0"/>
          </a:p>
        </p:txBody>
      </p:sp>
      <p:sp>
        <p:nvSpPr>
          <p:cNvPr id="35" name="Shape 32"/>
          <p:cNvSpPr/>
          <p:nvPr/>
        </p:nvSpPr>
        <p:spPr>
          <a:xfrm>
            <a:off x="8010144" y="4901184"/>
            <a:ext cx="3401568" cy="786384"/>
          </a:xfrm>
          <a:prstGeom prst="rect">
            <a:avLst/>
          </a:prstGeom>
          <a:solidFill>
            <a:srgbClr val="FFFFFF"/>
          </a:solidFill>
          <a:ln w="12700">
            <a:solidFill>
              <a:srgbClr val="FFFFFF"/>
            </a:solidFill>
            <a:prstDash val="solid"/>
          </a:ln>
        </p:spPr>
      </p:sp>
      <p:sp>
        <p:nvSpPr>
          <p:cNvPr id="36" name="Shape 33"/>
          <p:cNvSpPr/>
          <p:nvPr/>
        </p:nvSpPr>
        <p:spPr>
          <a:xfrm>
            <a:off x="8010144" y="4901184"/>
            <a:ext cx="3401568" cy="54864"/>
          </a:xfrm>
          <a:prstGeom prst="rect">
            <a:avLst/>
          </a:prstGeom>
          <a:solidFill>
            <a:srgbClr val="52606D"/>
          </a:solidFill>
          <a:ln w="12700">
            <a:solidFill>
              <a:srgbClr val="52606D"/>
            </a:solidFill>
            <a:prstDash val="solid"/>
          </a:ln>
        </p:spPr>
      </p:sp>
      <p:sp>
        <p:nvSpPr>
          <p:cNvPr id="37" name="Text 34"/>
          <p:cNvSpPr txBox="1"/>
          <p:nvPr/>
        </p:nvSpPr>
        <p:spPr>
          <a:xfrm>
            <a:off x="8229600" y="5029200"/>
            <a:ext cx="2962656" cy="219456"/>
          </a:xfrm>
          <a:prstGeom prst="rect">
            <a:avLst/>
          </a:prstGeom>
          <a:noFill/>
          <a:ln/>
        </p:spPr>
        <p:txBody>
          <a:bodyPr wrap="square" lIns="0" tIns="0" rIns="0" bIns="0" rtlCol="0" anchor="t"/>
          <a:lstStyle/>
          <a:p>
            <a:pPr algn="l" indent="0" marL="0">
              <a:buNone/>
            </a:pPr>
            <a:r>
              <a:rPr lang="en-US" sz="1260" b="1" dirty="0">
                <a:solidFill>
                  <a:srgbClr val="52606D"/>
                </a:solidFill>
                <a:latin typeface="Aptos" pitchFamily="34" charset="0"/>
                <a:ea typeface="Aptos" pitchFamily="34" charset="-122"/>
                <a:cs typeface="Aptos" pitchFamily="34" charset="-120"/>
              </a:rPr>
              <a:t>Lo que falte</a:t>
            </a:r>
            <a:endParaRPr lang="en-US" sz="1260" dirty="0"/>
          </a:p>
        </p:txBody>
      </p:sp>
      <p:sp>
        <p:nvSpPr>
          <p:cNvPr id="38" name="Text 35"/>
          <p:cNvSpPr txBox="1"/>
          <p:nvPr/>
        </p:nvSpPr>
        <p:spPr>
          <a:xfrm>
            <a:off x="8229600" y="5266944"/>
            <a:ext cx="2962656" cy="365760"/>
          </a:xfrm>
          <a:prstGeom prst="rect">
            <a:avLst/>
          </a:prstGeom>
          <a:noFill/>
          <a:ln/>
        </p:spPr>
        <p:txBody>
          <a:bodyPr wrap="square" lIns="0" tIns="0" rIns="0" bIns="0" rtlCol="0" anchor="t"/>
          <a:lstStyle/>
          <a:p>
            <a:pPr algn="l" indent="0" marL="0">
              <a:lnSpc>
                <a:spcPct val="112000"/>
              </a:lnSpc>
              <a:buNone/>
            </a:pPr>
            <a:r>
              <a:rPr lang="en-US" sz="1080" dirty="0">
                <a:solidFill>
                  <a:srgbClr val="52606D"/>
                </a:solidFill>
                <a:latin typeface="Aptos" pitchFamily="34" charset="0"/>
                <a:ea typeface="Aptos" pitchFamily="34" charset="-122"/>
                <a:cs typeface="Aptos" pitchFamily="34" charset="-120"/>
              </a:rPr>
              <a:t>cada fuente externa achica el hueco.</a:t>
            </a:r>
            <a:endParaRPr lang="en-US" sz="1080" dirty="0"/>
          </a:p>
          <a:p>
            <a:pPr algn="l" indent="0" marL="0">
              <a:lnSpc>
                <a:spcPct val="112000"/>
              </a:lnSpc>
              <a:buNone/>
            </a:pPr>
            <a:r>
              <a:rPr lang="en-US" sz="1080" dirty="0">
                <a:solidFill>
                  <a:srgbClr val="52606D"/>
                </a:solidFill>
                <a:latin typeface="Aptos" pitchFamily="34" charset="0"/>
                <a:ea typeface="Aptos" pitchFamily="34" charset="-122"/>
                <a:cs typeface="Aptos" pitchFamily="34" charset="-120"/>
              </a:rPr>
              <a:t>Ninguna lo cierra</a:t>
            </a:r>
            <a:endParaRPr lang="en-US" sz="1080" dirty="0"/>
          </a:p>
        </p:txBody>
      </p:sp>
      <p:sp>
        <p:nvSpPr>
          <p:cNvPr id="39" name="Shape 36"/>
          <p:cNvSpPr/>
          <p:nvPr/>
        </p:nvSpPr>
        <p:spPr>
          <a:xfrm>
            <a:off x="658368" y="5833872"/>
            <a:ext cx="10874959" cy="493776"/>
          </a:xfrm>
          <a:prstGeom prst="rect">
            <a:avLst/>
          </a:prstGeom>
          <a:solidFill>
            <a:srgbClr val="102A43"/>
          </a:solidFill>
          <a:ln w="12700">
            <a:solidFill>
              <a:srgbClr val="102A43"/>
            </a:solidFill>
            <a:prstDash val="solid"/>
          </a:ln>
        </p:spPr>
      </p:sp>
      <p:sp>
        <p:nvSpPr>
          <p:cNvPr id="40" name="Text 37"/>
          <p:cNvSpPr txBox="1"/>
          <p:nvPr/>
        </p:nvSpPr>
        <p:spPr>
          <a:xfrm>
            <a:off x="969264" y="5879592"/>
            <a:ext cx="10253167" cy="402336"/>
          </a:xfrm>
          <a:prstGeom prst="rect">
            <a:avLst/>
          </a:prstGeom>
          <a:noFill/>
          <a:ln/>
        </p:spPr>
        <p:txBody>
          <a:bodyPr wrap="square" lIns="0" tIns="0" rIns="0" bIns="0" rtlCol="0" anchor="ctr"/>
          <a:lstStyle/>
          <a:p>
            <a:pPr algn="ctr" indent="0" marL="0">
              <a:lnSpc>
                <a:spcPct val="112000"/>
              </a:lnSpc>
              <a:buNone/>
            </a:pPr>
            <a:r>
              <a:rPr lang="en-US" sz="1340" b="1" dirty="0">
                <a:solidFill>
                  <a:srgbClr val="FFFFFF"/>
                </a:solidFill>
                <a:latin typeface="Aptos" pitchFamily="34" charset="0"/>
                <a:ea typeface="Aptos" pitchFamily="34" charset="-122"/>
                <a:cs typeface="Aptos" pitchFamily="34" charset="-120"/>
              </a:rPr>
              <a:t>Lo único que se puede hacer con la primera fila del ciclo de vida es traerle referencias de afuera.</a:t>
            </a:r>
            <a:endParaRPr lang="en-US" sz="134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3\01\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30352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40</a:t>
            </a:r>
            <a:endParaRPr lang="en-US" sz="1400" dirty="0"/>
          </a:p>
        </p:txBody>
      </p:sp>
      <p:sp>
        <p:nvSpPr>
          <p:cNvPr id="8" name="Text 5"/>
          <p:cNvSpPr txBox="1"/>
          <p:nvPr/>
        </p:nvSpPr>
        <p:spPr>
          <a:xfrm>
            <a:off x="658368" y="1207008"/>
            <a:ext cx="4572000" cy="219456"/>
          </a:xfrm>
          <a:prstGeom prst="rect">
            <a:avLst/>
          </a:prstGeom>
          <a:noFill/>
          <a:ln/>
        </p:spPr>
        <p:txBody>
          <a:bodyPr wrap="square" lIns="0" tIns="0" rIns="0" bIns="0" rtlCol="0" anchor="t"/>
          <a:lstStyle/>
          <a:p>
            <a:pPr algn="l" indent="0" marL="0">
              <a:buNone/>
            </a:pPr>
            <a:r>
              <a:rPr lang="en-US" sz="1060" b="1" spc="200" kern="0" dirty="0">
                <a:solidFill>
                  <a:srgbClr val="E0BC5A"/>
                </a:solidFill>
                <a:latin typeface="Aptos" pitchFamily="34" charset="0"/>
                <a:ea typeface="Aptos" pitchFamily="34" charset="-122"/>
                <a:cs typeface="Aptos" pitchFamily="34" charset="-120"/>
              </a:rPr>
              <a:t>CIERRE DE LA SESIÓN</a:t>
            </a:r>
            <a:endParaRPr lang="en-US" sz="1060" dirty="0"/>
          </a:p>
        </p:txBody>
      </p:sp>
      <p:sp>
        <p:nvSpPr>
          <p:cNvPr id="9" name="Text 6"/>
          <p:cNvSpPr txBox="1"/>
          <p:nvPr/>
        </p:nvSpPr>
        <p:spPr>
          <a:xfrm>
            <a:off x="658368" y="1572768"/>
            <a:ext cx="6766560" cy="1005840"/>
          </a:xfrm>
          <a:prstGeom prst="rect">
            <a:avLst/>
          </a:prstGeom>
          <a:noFill/>
          <a:ln/>
        </p:spPr>
        <p:txBody>
          <a:bodyPr wrap="square" lIns="0" tIns="0" rIns="0" bIns="0" rtlCol="0" anchor="t"/>
          <a:lstStyle/>
          <a:p>
            <a:pPr algn="l" indent="0" marL="0">
              <a:lnSpc>
                <a:spcPct val="122000"/>
              </a:lnSpc>
              <a:buNone/>
            </a:pPr>
            <a:r>
              <a:rPr lang="en-US" sz="1700" dirty="0">
                <a:solidFill>
                  <a:srgbClr val="FFFFFF"/>
                </a:solidFill>
                <a:latin typeface="Aptos" pitchFamily="34" charset="0"/>
                <a:ea typeface="Aptos" pitchFamily="34" charset="-122"/>
                <a:cs typeface="Aptos" pitchFamily="34" charset="-120"/>
              </a:rPr>
              <a:t>Ese dato estaba a la vista, en la línea más corta del archivo. Sobrevivió a tres auditorías con dos herramientas distintas y a dos suites de pruebas completas escritas sobre él.</a:t>
            </a:r>
            <a:endParaRPr lang="en-US" sz="1700" dirty="0"/>
          </a:p>
        </p:txBody>
      </p:sp>
      <p:sp>
        <p:nvSpPr>
          <p:cNvPr id="10" name="Shape 7"/>
          <p:cNvSpPr/>
          <p:nvPr/>
        </p:nvSpPr>
        <p:spPr>
          <a:xfrm>
            <a:off x="658368" y="2724912"/>
            <a:ext cx="2011680" cy="73152"/>
          </a:xfrm>
          <a:prstGeom prst="rect">
            <a:avLst/>
          </a:prstGeom>
          <a:solidFill>
            <a:srgbClr val="D62027"/>
          </a:solidFill>
          <a:ln w="12700">
            <a:solidFill>
              <a:srgbClr val="D62027"/>
            </a:solidFill>
            <a:prstDash val="solid"/>
          </a:ln>
        </p:spPr>
      </p:sp>
      <p:sp>
        <p:nvSpPr>
          <p:cNvPr id="11" name="Text 8"/>
          <p:cNvSpPr txBox="1"/>
          <p:nvPr/>
        </p:nvSpPr>
        <p:spPr>
          <a:xfrm>
            <a:off x="658368" y="2999232"/>
            <a:ext cx="6766560" cy="786384"/>
          </a:xfrm>
          <a:prstGeom prst="rect">
            <a:avLst/>
          </a:prstGeom>
          <a:noFill/>
          <a:ln/>
        </p:spPr>
        <p:txBody>
          <a:bodyPr wrap="square" lIns="0" tIns="0" rIns="0" bIns="0" rtlCol="0" anchor="t"/>
          <a:lstStyle/>
          <a:p>
            <a:pPr algn="l" indent="0" marL="0">
              <a:lnSpc>
                <a:spcPct val="120000"/>
              </a:lnSpc>
              <a:buNone/>
            </a:pPr>
            <a:r>
              <a:rPr lang="en-US" sz="1500" dirty="0">
                <a:solidFill>
                  <a:srgbClr val="E6EEF7"/>
                </a:solidFill>
                <a:latin typeface="Aptos" pitchFamily="34" charset="0"/>
                <a:ea typeface="Aptos" pitchFamily="34" charset="-122"/>
                <a:cs typeface="Aptos" pitchFamily="34" charset="-120"/>
              </a:rPr>
              <a:t>Ninguna de esas barreras falló por incompetencia: todas hicieron correctamente lo único que podían hacer, que era comparar el código contra lo que estaba escrito.</a:t>
            </a:r>
            <a:endParaRPr lang="en-US" sz="1500" dirty="0"/>
          </a:p>
        </p:txBody>
      </p:sp>
      <p:sp>
        <p:nvSpPr>
          <p:cNvPr id="12" name="Text 9"/>
          <p:cNvSpPr txBox="1"/>
          <p:nvPr/>
        </p:nvSpPr>
        <p:spPr>
          <a:xfrm>
            <a:off x="658368" y="3931920"/>
            <a:ext cx="6766560" cy="950976"/>
          </a:xfrm>
          <a:prstGeom prst="rect">
            <a:avLst/>
          </a:prstGeom>
          <a:noFill/>
          <a:ln/>
        </p:spPr>
        <p:txBody>
          <a:bodyPr wrap="square" lIns="0" tIns="0" rIns="0" bIns="0" rtlCol="0" anchor="t"/>
          <a:lstStyle/>
          <a:p>
            <a:pPr algn="l" indent="0" marL="0">
              <a:lnSpc>
                <a:spcPct val="120000"/>
              </a:lnSpc>
              <a:buNone/>
            </a:pPr>
            <a:r>
              <a:rPr lang="en-US" sz="1550" b="1" dirty="0">
                <a:solidFill>
                  <a:srgbClr val="FFFFFF"/>
                </a:solidFill>
                <a:latin typeface="Aptos" pitchFamily="34" charset="0"/>
                <a:ea typeface="Aptos" pitchFamily="34" charset="-122"/>
                <a:cs typeface="Aptos" pitchFamily="34" charset="-120"/>
              </a:rPr>
              <a:t>Lo que finalmente lo encontró no fue una herramienta mejor ni un modelo más nuevo. Fueron cuatro líneas de texto que alguien tuvo que sentarse a escribir, decidiendo para qué existe cada dato.</a:t>
            </a:r>
            <a:endParaRPr lang="en-US" sz="1550" dirty="0"/>
          </a:p>
        </p:txBody>
      </p:sp>
      <p:sp>
        <p:nvSpPr>
          <p:cNvPr id="13" name="Shape 10"/>
          <p:cNvSpPr/>
          <p:nvPr/>
        </p:nvSpPr>
        <p:spPr>
          <a:xfrm>
            <a:off x="658368" y="5193792"/>
            <a:ext cx="6766560" cy="530352"/>
          </a:xfrm>
          <a:prstGeom prst="rect">
            <a:avLst/>
          </a:prstGeom>
          <a:solidFill>
            <a:srgbClr val="255A4C"/>
          </a:solidFill>
          <a:ln w="12700">
            <a:solidFill>
              <a:srgbClr val="255A4C"/>
            </a:solidFill>
            <a:prstDash val="solid"/>
          </a:ln>
        </p:spPr>
      </p:sp>
      <p:sp>
        <p:nvSpPr>
          <p:cNvPr id="14" name="Text 11"/>
          <p:cNvSpPr txBox="1"/>
          <p:nvPr/>
        </p:nvSpPr>
        <p:spPr>
          <a:xfrm>
            <a:off x="932688" y="5266944"/>
            <a:ext cx="6309360" cy="384048"/>
          </a:xfrm>
          <a:prstGeom prst="rect">
            <a:avLst/>
          </a:prstGeom>
          <a:noFill/>
          <a:ln/>
        </p:spPr>
        <p:txBody>
          <a:bodyPr wrap="square" lIns="0" tIns="0" rIns="0" bIns="0" rtlCol="0" anchor="ctr"/>
          <a:lstStyle/>
          <a:p>
            <a:pPr algn="l" indent="0" marL="0">
              <a:buNone/>
            </a:pPr>
            <a:r>
              <a:rPr lang="en-US" sz="1360" b="1" dirty="0">
                <a:solidFill>
                  <a:srgbClr val="FFFFFF"/>
                </a:solidFill>
                <a:latin typeface="Aptos" pitchFamily="34" charset="0"/>
                <a:ea typeface="Aptos" pitchFamily="34" charset="-122"/>
                <a:cs typeface="Aptos" pitchFamily="34" charset="-120"/>
              </a:rPr>
              <a:t>Ese trabajo no lo acelera ningún agente: no consiste en escribir más rápido, sino en saber qué se quiere.</a:t>
            </a:r>
            <a:endParaRPr lang="en-US" sz="1360" dirty="0"/>
          </a:p>
        </p:txBody>
      </p:sp>
      <p:sp>
        <p:nvSpPr>
          <p:cNvPr id="15" name="Shape 12"/>
          <p:cNvSpPr/>
          <p:nvPr/>
        </p:nvSpPr>
        <p:spPr>
          <a:xfrm>
            <a:off x="7772400" y="1280160"/>
            <a:ext cx="0" cy="4389120"/>
          </a:xfrm>
          <a:prstGeom prst="line">
            <a:avLst/>
          </a:prstGeom>
          <a:noFill/>
          <a:ln w="12700">
            <a:solidFill>
              <a:srgbClr val="2C4A66"/>
            </a:solidFill>
            <a:prstDash val="solid"/>
            <a:headEnd type="none"/>
            <a:tailEnd type="none"/>
          </a:ln>
        </p:spPr>
      </p:sp>
      <p:sp>
        <p:nvSpPr>
          <p:cNvPr id="16" name="Text 13"/>
          <p:cNvSpPr txBox="1"/>
          <p:nvPr/>
        </p:nvSpPr>
        <p:spPr>
          <a:xfrm>
            <a:off x="8138160" y="1280160"/>
            <a:ext cx="329184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TICKET DE SALIDA</a:t>
            </a:r>
            <a:endParaRPr lang="en-US" sz="960" dirty="0"/>
          </a:p>
        </p:txBody>
      </p:sp>
      <p:sp>
        <p:nvSpPr>
          <p:cNvPr id="17" name="Text 14"/>
          <p:cNvSpPr txBox="1"/>
          <p:nvPr/>
        </p:nvSpPr>
        <p:spPr>
          <a:xfrm>
            <a:off x="8138160" y="1536192"/>
            <a:ext cx="3383280" cy="219456"/>
          </a:xfrm>
          <a:prstGeom prst="rect">
            <a:avLst/>
          </a:prstGeom>
          <a:noFill/>
          <a:ln/>
        </p:spPr>
        <p:txBody>
          <a:bodyPr wrap="square" lIns="0" tIns="0" rIns="0" bIns="0" rtlCol="0" anchor="t"/>
          <a:lstStyle/>
          <a:p>
            <a:pPr algn="l" indent="0" marL="0">
              <a:buNone/>
            </a:pPr>
            <a:r>
              <a:rPr lang="en-US" sz="1140" i="1" dirty="0">
                <a:solidFill>
                  <a:srgbClr val="E6EEF7"/>
                </a:solidFill>
                <a:latin typeface="Aptos" pitchFamily="34" charset="0"/>
                <a:ea typeface="Aptos" pitchFamily="34" charset="-122"/>
                <a:cs typeface="Aptos" pitchFamily="34" charset="-120"/>
              </a:rPr>
              <a:t>Una línea para cada una, antes de salir.</a:t>
            </a:r>
            <a:endParaRPr lang="en-US" sz="1140" dirty="0"/>
          </a:p>
        </p:txBody>
      </p:sp>
      <p:sp>
        <p:nvSpPr>
          <p:cNvPr id="18" name="Shape 15"/>
          <p:cNvSpPr/>
          <p:nvPr/>
        </p:nvSpPr>
        <p:spPr>
          <a:xfrm>
            <a:off x="8138160" y="1956816"/>
            <a:ext cx="3392424" cy="914400"/>
          </a:xfrm>
          <a:prstGeom prst="rect">
            <a:avLst/>
          </a:prstGeom>
          <a:solidFill>
            <a:srgbClr val="1D3A57"/>
          </a:solidFill>
          <a:ln w="12700">
            <a:solidFill>
              <a:srgbClr val="1D3A57"/>
            </a:solidFill>
            <a:prstDash val="solid"/>
          </a:ln>
        </p:spPr>
      </p:sp>
      <p:sp>
        <p:nvSpPr>
          <p:cNvPr id="19" name="Shape 16"/>
          <p:cNvSpPr/>
          <p:nvPr/>
        </p:nvSpPr>
        <p:spPr>
          <a:xfrm>
            <a:off x="8357616" y="2121408"/>
            <a:ext cx="310896" cy="310896"/>
          </a:xfrm>
          <a:prstGeom prst="ellipse">
            <a:avLst/>
          </a:prstGeom>
          <a:solidFill>
            <a:srgbClr val="E0BC5A"/>
          </a:solidFill>
          <a:ln w="12700">
            <a:solidFill>
              <a:srgbClr val="E0BC5A"/>
            </a:solidFill>
            <a:prstDash val="solid"/>
          </a:ln>
        </p:spPr>
      </p:sp>
      <p:sp>
        <p:nvSpPr>
          <p:cNvPr id="20" name="Text 17"/>
          <p:cNvSpPr txBox="1"/>
          <p:nvPr/>
        </p:nvSpPr>
        <p:spPr>
          <a:xfrm>
            <a:off x="8357616" y="2121408"/>
            <a:ext cx="310896" cy="310896"/>
          </a:xfrm>
          <a:prstGeom prst="rect">
            <a:avLst/>
          </a:prstGeom>
          <a:noFill/>
          <a:ln/>
        </p:spPr>
        <p:txBody>
          <a:bodyPr wrap="square" lIns="0" tIns="0" rIns="0" bIns="0" rtlCol="0" anchor="ctr"/>
          <a:lstStyle/>
          <a:p>
            <a:pPr algn="ctr" indent="0" marL="0">
              <a:buNone/>
            </a:pPr>
            <a:r>
              <a:rPr lang="en-US" sz="1100" b="1" dirty="0">
                <a:solidFill>
                  <a:srgbClr val="102A43"/>
                </a:solidFill>
                <a:latin typeface="Aptos" pitchFamily="34" charset="0"/>
                <a:ea typeface="Aptos" pitchFamily="34" charset="-122"/>
                <a:cs typeface="Aptos" pitchFamily="34" charset="-120"/>
              </a:rPr>
              <a:t>1</a:t>
            </a:r>
            <a:endParaRPr lang="en-US" sz="1100" dirty="0"/>
          </a:p>
        </p:txBody>
      </p:sp>
      <p:sp>
        <p:nvSpPr>
          <p:cNvPr id="21" name="Text 18"/>
          <p:cNvSpPr txBox="1"/>
          <p:nvPr/>
        </p:nvSpPr>
        <p:spPr>
          <a:xfrm>
            <a:off x="8759952" y="2103120"/>
            <a:ext cx="2615184" cy="658368"/>
          </a:xfrm>
          <a:prstGeom prst="rect">
            <a:avLst/>
          </a:prstGeom>
          <a:noFill/>
          <a:ln/>
        </p:spPr>
        <p:txBody>
          <a:bodyPr wrap="square" lIns="0" tIns="0" rIns="0" bIns="0" rtlCol="0" anchor="t"/>
          <a:lstStyle/>
          <a:p>
            <a:pPr algn="l" indent="0" marL="0">
              <a:lnSpc>
                <a:spcPct val="114000"/>
              </a:lnSpc>
              <a:buNone/>
            </a:pPr>
            <a:r>
              <a:rPr lang="en-US" sz="1140" dirty="0">
                <a:solidFill>
                  <a:srgbClr val="FFFFFF"/>
                </a:solidFill>
                <a:latin typeface="Aptos" pitchFamily="34" charset="0"/>
                <a:ea typeface="Aptos" pitchFamily="34" charset="-122"/>
                <a:cs typeface="Aptos" pitchFamily="34" charset="-120"/>
              </a:rPr>
              <a:t>¿Contra qué compara la prueba más importante de tu proyecto, y quién escribió eso?</a:t>
            </a:r>
            <a:endParaRPr lang="en-US" sz="1140" dirty="0"/>
          </a:p>
        </p:txBody>
      </p:sp>
      <p:sp>
        <p:nvSpPr>
          <p:cNvPr id="22" name="Shape 19"/>
          <p:cNvSpPr/>
          <p:nvPr/>
        </p:nvSpPr>
        <p:spPr>
          <a:xfrm>
            <a:off x="8138160" y="3017520"/>
            <a:ext cx="3392424" cy="914400"/>
          </a:xfrm>
          <a:prstGeom prst="rect">
            <a:avLst/>
          </a:prstGeom>
          <a:solidFill>
            <a:srgbClr val="1D3A57"/>
          </a:solidFill>
          <a:ln w="12700">
            <a:solidFill>
              <a:srgbClr val="1D3A57"/>
            </a:solidFill>
            <a:prstDash val="solid"/>
          </a:ln>
        </p:spPr>
      </p:sp>
      <p:sp>
        <p:nvSpPr>
          <p:cNvPr id="23" name="Shape 20"/>
          <p:cNvSpPr/>
          <p:nvPr/>
        </p:nvSpPr>
        <p:spPr>
          <a:xfrm>
            <a:off x="8357616" y="3182112"/>
            <a:ext cx="310896" cy="310896"/>
          </a:xfrm>
          <a:prstGeom prst="ellipse">
            <a:avLst/>
          </a:prstGeom>
          <a:solidFill>
            <a:srgbClr val="E0BC5A"/>
          </a:solidFill>
          <a:ln w="12700">
            <a:solidFill>
              <a:srgbClr val="E0BC5A"/>
            </a:solidFill>
            <a:prstDash val="solid"/>
          </a:ln>
        </p:spPr>
      </p:sp>
      <p:sp>
        <p:nvSpPr>
          <p:cNvPr id="24" name="Text 21"/>
          <p:cNvSpPr txBox="1"/>
          <p:nvPr/>
        </p:nvSpPr>
        <p:spPr>
          <a:xfrm>
            <a:off x="8357616" y="3182112"/>
            <a:ext cx="310896" cy="310896"/>
          </a:xfrm>
          <a:prstGeom prst="rect">
            <a:avLst/>
          </a:prstGeom>
          <a:noFill/>
          <a:ln/>
        </p:spPr>
        <p:txBody>
          <a:bodyPr wrap="square" lIns="0" tIns="0" rIns="0" bIns="0" rtlCol="0" anchor="ctr"/>
          <a:lstStyle/>
          <a:p>
            <a:pPr algn="ctr" indent="0" marL="0">
              <a:buNone/>
            </a:pPr>
            <a:r>
              <a:rPr lang="en-US" sz="1100" b="1" dirty="0">
                <a:solidFill>
                  <a:srgbClr val="102A43"/>
                </a:solidFill>
                <a:latin typeface="Aptos" pitchFamily="34" charset="0"/>
                <a:ea typeface="Aptos" pitchFamily="34" charset="-122"/>
                <a:cs typeface="Aptos" pitchFamily="34" charset="-120"/>
              </a:rPr>
              <a:t>2</a:t>
            </a:r>
            <a:endParaRPr lang="en-US" sz="1100" dirty="0"/>
          </a:p>
        </p:txBody>
      </p:sp>
      <p:sp>
        <p:nvSpPr>
          <p:cNvPr id="25" name="Text 22"/>
          <p:cNvSpPr txBox="1"/>
          <p:nvPr/>
        </p:nvSpPr>
        <p:spPr>
          <a:xfrm>
            <a:off x="8759952" y="3163824"/>
            <a:ext cx="2615184" cy="658368"/>
          </a:xfrm>
          <a:prstGeom prst="rect">
            <a:avLst/>
          </a:prstGeom>
          <a:noFill/>
          <a:ln/>
        </p:spPr>
        <p:txBody>
          <a:bodyPr wrap="square" lIns="0" tIns="0" rIns="0" bIns="0" rtlCol="0" anchor="t"/>
          <a:lstStyle/>
          <a:p>
            <a:pPr algn="l" indent="0" marL="0">
              <a:lnSpc>
                <a:spcPct val="114000"/>
              </a:lnSpc>
              <a:buNone/>
            </a:pPr>
            <a:r>
              <a:rPr lang="en-US" sz="1140" dirty="0">
                <a:solidFill>
                  <a:srgbClr val="FFFFFF"/>
                </a:solidFill>
                <a:latin typeface="Aptos" pitchFamily="34" charset="0"/>
                <a:ea typeface="Aptos" pitchFamily="34" charset="-122"/>
                <a:cs typeface="Aptos" pitchFamily="34" charset="-120"/>
              </a:rPr>
              <a:t>¿Qué criterio escribiste hoy, y quién fijó su umbral?</a:t>
            </a:r>
            <a:endParaRPr lang="en-US" sz="1140" dirty="0"/>
          </a:p>
        </p:txBody>
      </p:sp>
      <p:sp>
        <p:nvSpPr>
          <p:cNvPr id="26" name="Shape 23"/>
          <p:cNvSpPr/>
          <p:nvPr/>
        </p:nvSpPr>
        <p:spPr>
          <a:xfrm>
            <a:off x="8138160" y="4078224"/>
            <a:ext cx="3392424" cy="914400"/>
          </a:xfrm>
          <a:prstGeom prst="rect">
            <a:avLst/>
          </a:prstGeom>
          <a:solidFill>
            <a:srgbClr val="1D3A57"/>
          </a:solidFill>
          <a:ln w="12700">
            <a:solidFill>
              <a:srgbClr val="1D3A57"/>
            </a:solidFill>
            <a:prstDash val="solid"/>
          </a:ln>
        </p:spPr>
      </p:sp>
      <p:sp>
        <p:nvSpPr>
          <p:cNvPr id="27" name="Shape 24"/>
          <p:cNvSpPr/>
          <p:nvPr/>
        </p:nvSpPr>
        <p:spPr>
          <a:xfrm>
            <a:off x="8357616" y="4242816"/>
            <a:ext cx="310896" cy="310896"/>
          </a:xfrm>
          <a:prstGeom prst="ellipse">
            <a:avLst/>
          </a:prstGeom>
          <a:solidFill>
            <a:srgbClr val="E0BC5A"/>
          </a:solidFill>
          <a:ln w="12700">
            <a:solidFill>
              <a:srgbClr val="E0BC5A"/>
            </a:solidFill>
            <a:prstDash val="solid"/>
          </a:ln>
        </p:spPr>
      </p:sp>
      <p:sp>
        <p:nvSpPr>
          <p:cNvPr id="28" name="Text 25"/>
          <p:cNvSpPr txBox="1"/>
          <p:nvPr/>
        </p:nvSpPr>
        <p:spPr>
          <a:xfrm>
            <a:off x="8357616" y="4242816"/>
            <a:ext cx="310896" cy="310896"/>
          </a:xfrm>
          <a:prstGeom prst="rect">
            <a:avLst/>
          </a:prstGeom>
          <a:noFill/>
          <a:ln/>
        </p:spPr>
        <p:txBody>
          <a:bodyPr wrap="square" lIns="0" tIns="0" rIns="0" bIns="0" rtlCol="0" anchor="ctr"/>
          <a:lstStyle/>
          <a:p>
            <a:pPr algn="ctr" indent="0" marL="0">
              <a:buNone/>
            </a:pPr>
            <a:r>
              <a:rPr lang="en-US" sz="1100" b="1" dirty="0">
                <a:solidFill>
                  <a:srgbClr val="102A43"/>
                </a:solidFill>
                <a:latin typeface="Aptos" pitchFamily="34" charset="0"/>
                <a:ea typeface="Aptos" pitchFamily="34" charset="-122"/>
                <a:cs typeface="Aptos" pitchFamily="34" charset="-120"/>
              </a:rPr>
              <a:t>3</a:t>
            </a:r>
            <a:endParaRPr lang="en-US" sz="1100" dirty="0"/>
          </a:p>
        </p:txBody>
      </p:sp>
      <p:sp>
        <p:nvSpPr>
          <p:cNvPr id="29" name="Text 26"/>
          <p:cNvSpPr txBox="1"/>
          <p:nvPr/>
        </p:nvSpPr>
        <p:spPr>
          <a:xfrm>
            <a:off x="8759952" y="4224528"/>
            <a:ext cx="2615184" cy="658368"/>
          </a:xfrm>
          <a:prstGeom prst="rect">
            <a:avLst/>
          </a:prstGeom>
          <a:noFill/>
          <a:ln/>
        </p:spPr>
        <p:txBody>
          <a:bodyPr wrap="square" lIns="0" tIns="0" rIns="0" bIns="0" rtlCol="0" anchor="t"/>
          <a:lstStyle/>
          <a:p>
            <a:pPr algn="l" indent="0" marL="0">
              <a:lnSpc>
                <a:spcPct val="114000"/>
              </a:lnSpc>
              <a:buNone/>
            </a:pPr>
            <a:r>
              <a:rPr lang="en-US" sz="1140" dirty="0">
                <a:solidFill>
                  <a:srgbClr val="FFFFFF"/>
                </a:solidFill>
                <a:latin typeface="Aptos" pitchFamily="34" charset="0"/>
                <a:ea typeface="Aptos" pitchFamily="34" charset="-122"/>
                <a:cs typeface="Aptos" pitchFamily="34" charset="-120"/>
              </a:rPr>
              <a:t>¿Qué dato personal trata tu proyecto sin que exista una finalidad escrita que lo justifique?</a:t>
            </a:r>
            <a:endParaRPr lang="en-US" sz="1140" dirty="0"/>
          </a:p>
        </p:txBody>
      </p:sp>
      <p:sp>
        <p:nvSpPr>
          <p:cNvPr id="30" name="Text 27"/>
          <p:cNvSpPr txBox="1"/>
          <p:nvPr/>
        </p:nvSpPr>
        <p:spPr>
          <a:xfrm>
            <a:off x="8138160" y="5175504"/>
            <a:ext cx="3392424" cy="658368"/>
          </a:xfrm>
          <a:prstGeom prst="rect">
            <a:avLst/>
          </a:prstGeom>
          <a:noFill/>
          <a:ln/>
        </p:spPr>
        <p:txBody>
          <a:bodyPr wrap="square" lIns="0" tIns="0" rIns="0" bIns="0" rtlCol="0" anchor="t"/>
          <a:lstStyle/>
          <a:p>
            <a:pPr algn="l" indent="0" marL="0">
              <a:lnSpc>
                <a:spcPct val="114000"/>
              </a:lnSpc>
              <a:buNone/>
            </a:pPr>
            <a:r>
              <a:rPr lang="en-US" sz="1060" i="1" dirty="0">
                <a:solidFill>
                  <a:srgbClr val="E6EEF7"/>
                </a:solidFill>
                <a:latin typeface="Aptos" pitchFamily="34" charset="0"/>
                <a:ea typeface="Aptos" pitchFamily="34" charset="-122"/>
                <a:cs typeface="Aptos" pitchFamily="34" charset="-120"/>
              </a:rPr>
              <a:t>Próxima sesión: cómo se conduce una auditoría de verificación y validación de principio a fin, qué se mira en cada paso y qué evidencia tiene que quedar registrada.</a:t>
            </a:r>
            <a:endParaRPr lang="en-US" sz="10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AIEP Osorno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 que no está escrito no se puede probar</dc:title>
  <dc:subject>PRO402 · Clase 07</dc:subject>
  <dc:creator>Diego Obando</dc:creator>
  <cp:lastModifiedBy>Diego Obando</cp:lastModifiedBy>
  <cp:revision>1</cp:revision>
  <dcterms:created xsi:type="dcterms:W3CDTF">2026-09-04T02:33:53Z</dcterms:created>
  <dcterms:modified xsi:type="dcterms:W3CDTF">2026-09-04T02:33:53Z</dcterms:modified>
</cp:coreProperties>
</file>