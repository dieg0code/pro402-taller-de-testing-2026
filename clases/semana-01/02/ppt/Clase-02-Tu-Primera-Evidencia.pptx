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</p:sldIdLst>
  <p:notesMasterIdLst>
    <p:notesMasterId r:id="rId8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notesMaster" Target="notesMasters/notesMaster1.xml"/><Relationship Id="rId86" Type="http://schemas.openxmlformats.org/officeDocument/2006/relationships/presProps" Target="presProps.xml"/><Relationship Id="rId87" Type="http://schemas.openxmlformats.org/officeDocument/2006/relationships/viewProps" Target="viewProps.xml"/><Relationship Id="rId88" Type="http://schemas.openxmlformats.org/officeDocument/2006/relationships/theme" Target="theme/theme1.xml"/><Relationship Id="rId8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svg"/><Relationship Id="rId4" Type="http://schemas.openxmlformats.org/officeDocument/2006/relationships/image" Target="../media/image-1-4.png"/><Relationship Id="rId5" Type="http://schemas.openxmlformats.org/officeDocument/2006/relationships/image" Target="../media/image-1-5.svg"/><Relationship Id="rId6" Type="http://schemas.openxmlformats.org/officeDocument/2006/relationships/image" Target="../media/image-1-6.png"/><Relationship Id="rId7" Type="http://schemas.openxmlformats.org/officeDocument/2006/relationships/image" Target="../media/image-1-7.svg"/><Relationship Id="rId8" Type="http://schemas.openxmlformats.org/officeDocument/2006/relationships/image" Target="../media/image-1-8.png"/><Relationship Id="rId9" Type="http://schemas.openxmlformats.org/officeDocument/2006/relationships/image" Target="../media/image-1-9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svg"/><Relationship Id="rId4" Type="http://schemas.openxmlformats.org/officeDocument/2006/relationships/image" Target="../media/image-14-4.png"/><Relationship Id="rId5" Type="http://schemas.openxmlformats.org/officeDocument/2006/relationships/image" Target="../media/image-14-5.svg"/><Relationship Id="rId6" Type="http://schemas.openxmlformats.org/officeDocument/2006/relationships/image" Target="../media/image-14-6.png"/><Relationship Id="rId7" Type="http://schemas.openxmlformats.org/officeDocument/2006/relationships/image" Target="../media/image-14-7.sv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image" Target="../media/image-15-3.png"/><Relationship Id="rId4" Type="http://schemas.openxmlformats.org/officeDocument/2006/relationships/image" Target="../media/image-15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image" Target="../media/image-16-3.png"/><Relationship Id="rId4" Type="http://schemas.openxmlformats.org/officeDocument/2006/relationships/image" Target="../media/image-16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svg"/><Relationship Id="rId4" Type="http://schemas.openxmlformats.org/officeDocument/2006/relationships/image" Target="../media/image-20-4.png"/><Relationship Id="rId5" Type="http://schemas.openxmlformats.org/officeDocument/2006/relationships/image" Target="../media/image-20-5.svg"/><Relationship Id="rId6" Type="http://schemas.openxmlformats.org/officeDocument/2006/relationships/image" Target="../media/image-20-6.png"/><Relationship Id="rId7" Type="http://schemas.openxmlformats.org/officeDocument/2006/relationships/image" Target="../media/image-20-7.svg"/><Relationship Id="rId8" Type="http://schemas.openxmlformats.org/officeDocument/2006/relationships/image" Target="../media/image-20-8.png"/><Relationship Id="rId9" Type="http://schemas.openxmlformats.org/officeDocument/2006/relationships/image" Target="../media/image-20-9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svg"/><Relationship Id="rId4" Type="http://schemas.openxmlformats.org/officeDocument/2006/relationships/image" Target="../media/image-21-4.png"/><Relationship Id="rId5" Type="http://schemas.openxmlformats.org/officeDocument/2006/relationships/image" Target="../media/image-21-5.svg"/><Relationship Id="rId6" Type="http://schemas.openxmlformats.org/officeDocument/2006/relationships/image" Target="../media/image-21-6.png"/><Relationship Id="rId7" Type="http://schemas.openxmlformats.org/officeDocument/2006/relationships/image" Target="../media/image-21-7.svg"/><Relationship Id="rId8" Type="http://schemas.openxmlformats.org/officeDocument/2006/relationships/image" Target="../media/image-21-8.png"/><Relationship Id="rId9" Type="http://schemas.openxmlformats.org/officeDocument/2006/relationships/image" Target="../media/image-21-9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svg"/><Relationship Id="rId4" Type="http://schemas.openxmlformats.org/officeDocument/2006/relationships/image" Target="../media/image-23-4.png"/><Relationship Id="rId5" Type="http://schemas.openxmlformats.org/officeDocument/2006/relationships/image" Target="../media/image-23-5.svg"/><Relationship Id="rId6" Type="http://schemas.openxmlformats.org/officeDocument/2006/relationships/image" Target="../media/image-23-6.png"/><Relationship Id="rId7" Type="http://schemas.openxmlformats.org/officeDocument/2006/relationships/image" Target="../media/image-23-7.svg"/><Relationship Id="rId8" Type="http://schemas.openxmlformats.org/officeDocument/2006/relationships/image" Target="../media/image-23-8.png"/><Relationship Id="rId9" Type="http://schemas.openxmlformats.org/officeDocument/2006/relationships/image" Target="../media/image-23-9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svg"/><Relationship Id="rId3" Type="http://schemas.openxmlformats.org/officeDocument/2006/relationships/image" Target="../media/image-29-3.png"/><Relationship Id="rId4" Type="http://schemas.openxmlformats.org/officeDocument/2006/relationships/image" Target="../media/image-29-4.svg"/><Relationship Id="rId5" Type="http://schemas.openxmlformats.org/officeDocument/2006/relationships/image" Target="../media/image-29-5.png"/><Relationship Id="rId6" Type="http://schemas.openxmlformats.org/officeDocument/2006/relationships/image" Target="../media/image-29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svg"/><Relationship Id="rId3" Type="http://schemas.openxmlformats.org/officeDocument/2006/relationships/image" Target="../media/image-32-3.png"/><Relationship Id="rId4" Type="http://schemas.openxmlformats.org/officeDocument/2006/relationships/image" Target="../media/image-32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svg"/><Relationship Id="rId3" Type="http://schemas.openxmlformats.org/officeDocument/2006/relationships/image" Target="../media/image-35-3.png"/><Relationship Id="rId4" Type="http://schemas.openxmlformats.org/officeDocument/2006/relationships/image" Target="../media/image-35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svg"/><Relationship Id="rId4" Type="http://schemas.openxmlformats.org/officeDocument/2006/relationships/image" Target="../media/image-36-4.png"/><Relationship Id="rId5" Type="http://schemas.openxmlformats.org/officeDocument/2006/relationships/image" Target="../media/image-36-5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image" Target="../media/image-40-3.svg"/><Relationship Id="rId4" Type="http://schemas.openxmlformats.org/officeDocument/2006/relationships/image" Target="../media/image-40-4.png"/><Relationship Id="rId5" Type="http://schemas.openxmlformats.org/officeDocument/2006/relationships/image" Target="../media/image-40-5.svg"/><Relationship Id="rId6" Type="http://schemas.openxmlformats.org/officeDocument/2006/relationships/image" Target="../media/image-40-6.png"/><Relationship Id="rId7" Type="http://schemas.openxmlformats.org/officeDocument/2006/relationships/image" Target="../media/image-40-7.sv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svg"/><Relationship Id="rId3" Type="http://schemas.openxmlformats.org/officeDocument/2006/relationships/image" Target="../media/image-44-3.png"/><Relationship Id="rId4" Type="http://schemas.openxmlformats.org/officeDocument/2006/relationships/image" Target="../media/image-44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svg"/><Relationship Id="rId3" Type="http://schemas.openxmlformats.org/officeDocument/2006/relationships/image" Target="../media/image-47-3.png"/><Relationship Id="rId4" Type="http://schemas.openxmlformats.org/officeDocument/2006/relationships/image" Target="../media/image-47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svg"/><Relationship Id="rId3" Type="http://schemas.openxmlformats.org/officeDocument/2006/relationships/image" Target="../media/image-54-3.png"/><Relationship Id="rId4" Type="http://schemas.openxmlformats.org/officeDocument/2006/relationships/image" Target="../media/image-54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svg"/><Relationship Id="rId3" Type="http://schemas.openxmlformats.org/officeDocument/2006/relationships/image" Target="../media/image-66-3.png"/><Relationship Id="rId4" Type="http://schemas.openxmlformats.org/officeDocument/2006/relationships/image" Target="../media/image-66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69-2.svg"/><Relationship Id="rId3" Type="http://schemas.openxmlformats.org/officeDocument/2006/relationships/image" Target="../media/image-69-3.png"/><Relationship Id="rId4" Type="http://schemas.openxmlformats.org/officeDocument/2006/relationships/image" Target="../media/image-69-4.svg"/><Relationship Id="rId5" Type="http://schemas.openxmlformats.org/officeDocument/2006/relationships/image" Target="../media/image-69-5.png"/><Relationship Id="rId6" Type="http://schemas.openxmlformats.org/officeDocument/2006/relationships/image" Target="../media/image-69-6.svg"/><Relationship Id="rId7" Type="http://schemas.openxmlformats.org/officeDocument/2006/relationships/image" Target="../media/image-69-7.png"/><Relationship Id="rId8" Type="http://schemas.openxmlformats.org/officeDocument/2006/relationships/image" Target="../media/image-69-8.svg"/><Relationship Id="rId9" Type="http://schemas.openxmlformats.org/officeDocument/2006/relationships/image" Target="../media/image-69-9.png"/><Relationship Id="rId10" Type="http://schemas.openxmlformats.org/officeDocument/2006/relationships/image" Target="../media/image-69-10.sv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71-2.svg"/><Relationship Id="rId3" Type="http://schemas.openxmlformats.org/officeDocument/2006/relationships/image" Target="../media/image-71-3.png"/><Relationship Id="rId4" Type="http://schemas.openxmlformats.org/officeDocument/2006/relationships/image" Target="../media/image-71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72-2.svg"/><Relationship Id="rId3" Type="http://schemas.openxmlformats.org/officeDocument/2006/relationships/image" Target="../media/image-72-3.png"/><Relationship Id="rId4" Type="http://schemas.openxmlformats.org/officeDocument/2006/relationships/image" Target="../media/image-72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image" Target="../media/image-7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image" Target="../media/image-7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image" Target="../media/image-7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image" Target="../media/image-7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image" Target="../media/image-8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image" Target="../media/image-8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image" Target="../media/image-8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0" y="313516"/>
            <a:ext cx="1298448" cy="4519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658368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SEMANA 01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1426464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Tu primera</a:t>
            </a:r>
            <a:endParaRPr lang="en-US" sz="49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2267712"/>
            <a:ext cx="7498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1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evidencia</a:t>
            </a:r>
            <a:endParaRPr lang="en-US" sz="510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3273552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Entorno reproducible y primer test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658368" y="38404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Martes 11 de agosto de 2026 · Laboratorio PC · Diego Obando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58368" y="4681728"/>
            <a:ext cx="1225296" cy="1024128"/>
          </a:xfrm>
          <a:prstGeom prst="roundRect">
            <a:avLst>
              <a:gd name="adj" fmla="val 714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14" name="Image 1" descr="C:\Users\Diego Obando\dev\pro402-taller-de-testing-2026\clases\semana-01\02\ppt\source\assets\tools\uv-mark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45708" y="4828032"/>
            <a:ext cx="450616" cy="45061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49808" y="5385816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uv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2103120" y="4681728"/>
            <a:ext cx="1225296" cy="1024128"/>
          </a:xfrm>
          <a:prstGeom prst="roundRect">
            <a:avLst>
              <a:gd name="adj" fmla="val 714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17" name="Image 2" descr="C:\Users\Diego Obando\dev\pro402-taller-de-testing-2026\clases\semana-01\02\ppt\source\assets\tools\ruff-mark.sv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31387" y="4828032"/>
            <a:ext cx="368761" cy="45061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2194560" y="5385816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ruff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3547872" y="4681728"/>
            <a:ext cx="1225296" cy="1024128"/>
          </a:xfrm>
          <a:prstGeom prst="roundRect">
            <a:avLst>
              <a:gd name="adj" fmla="val 714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20" name="Image 3" descr="C:\Users\Diego Obando\dev\pro402-taller-de-testing-2026\clases\semana-01\02\ppt\source\assets\tools\pyrefly-mark-invert.sv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875243" y="4828032"/>
            <a:ext cx="570554" cy="45061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3639312" y="5385816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Pyrefly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4992624" y="4681728"/>
            <a:ext cx="1225296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pic>
        <p:nvPicPr>
          <p:cNvPr id="23" name="Image 4" descr="C:\Users\Diego Obando\dev\pro402-taller-de-testing-2026\clases\semana-01\02\ppt\source\assets\tools\pytest-logo.sv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23637" y="4754880"/>
            <a:ext cx="563270" cy="56327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084064" y="5385816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pytest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8613648" y="1481328"/>
            <a:ext cx="2542032" cy="3401568"/>
          </a:xfrm>
          <a:prstGeom prst="roundRect">
            <a:avLst>
              <a:gd name="adj" fmla="val 2878"/>
            </a:avLst>
          </a:prstGeom>
          <a:solidFill>
            <a:srgbClr val="102A43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8942832" y="190195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0BC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evidencia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8942832" y="2450592"/>
            <a:ext cx="190195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entorno  ✓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lint     ✓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tipos    ✓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tests    ✓</a:t>
            </a:r>
            <a:endParaRPr lang="en-US" sz="1800" dirty="0"/>
          </a:p>
        </p:txBody>
      </p:sp>
      <p:sp>
        <p:nvSpPr>
          <p:cNvPr id="28" name="Text 21"/>
          <p:cNvSpPr txBox="1"/>
          <p:nvPr/>
        </p:nvSpPr>
        <p:spPr>
          <a:xfrm>
            <a:off x="8942832" y="429768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confiar. Comprobar.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0" y="313312"/>
            <a:ext cx="1298448" cy="452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PUNTO DE PARTIDA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86384"/>
            <a:ext cx="8869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Ayer encontramos un defecto</a:t>
            </a:r>
            <a:endParaRPr lang="en-US" sz="31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490472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Funcionaba manualmente, pero la evidencia desaparecía al cerrar la terminal.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58368" y="2176272"/>
            <a:ext cx="6565392" cy="2157984"/>
          </a:xfrm>
          <a:prstGeom prst="roundRect">
            <a:avLst>
              <a:gd name="adj" fmla="val 1695"/>
            </a:avLst>
          </a:prstGeom>
          <a:solidFill>
            <a:srgbClr val="0F1720"/>
          </a:solidFill>
          <a:ln w="12700">
            <a:solidFill>
              <a:srgbClr val="0F172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86384" y="2286000"/>
            <a:ext cx="6309360" cy="310896"/>
          </a:xfrm>
          <a:prstGeom prst="roundRect">
            <a:avLst>
              <a:gd name="adj" fmla="val 8824"/>
            </a:avLst>
          </a:prstGeom>
          <a:solidFill>
            <a:srgbClr val="1E2937"/>
          </a:solidFill>
          <a:ln w="12700">
            <a:solidFill>
              <a:srgbClr val="1E293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2359152"/>
            <a:ext cx="6053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PowerShell · comprobación manual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77824" y="2743200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0BC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1188720" y="2743200"/>
            <a:ext cx="58155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-c "from notas import nota_final; ..."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877824" y="2999232"/>
            <a:ext cx="58155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AA0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3.9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7772400" y="2249424"/>
            <a:ext cx="32004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3.9</a:t>
            </a:r>
            <a:endParaRPr lang="en-US" sz="5800" dirty="0"/>
          </a:p>
        </p:txBody>
      </p:sp>
      <p:sp>
        <p:nvSpPr>
          <p:cNvPr id="18" name="Shape 15"/>
          <p:cNvSpPr/>
          <p:nvPr/>
        </p:nvSpPr>
        <p:spPr>
          <a:xfrm>
            <a:off x="8101584" y="3310128"/>
            <a:ext cx="2560320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  <a:headEnd type="none"/>
            <a:tailEnd type="none"/>
          </a:ln>
        </p:spPr>
      </p:sp>
      <p:sp>
        <p:nvSpPr>
          <p:cNvPr id="19" name="Text 16"/>
          <p:cNvSpPr txBox="1"/>
          <p:nvPr/>
        </p:nvSpPr>
        <p:spPr>
          <a:xfrm>
            <a:off x="7772400" y="354787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esperábamos 4.0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658368" y="4882896"/>
            <a:ext cx="10863072" cy="804672"/>
          </a:xfrm>
          <a:prstGeom prst="roundRect">
            <a:avLst>
              <a:gd name="adj" fmla="val 6818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50976" y="5138928"/>
            <a:ext cx="10277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hallazgo fue real. El problema es que todavía depende de nuestra memoria.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0" y="313516"/>
            <a:ext cx="1298448" cy="4519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1225296"/>
            <a:ext cx="10698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E6EEF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“En mi computador funciona”</a:t>
            </a:r>
            <a:endParaRPr lang="en-US" sz="3900" dirty="0"/>
          </a:p>
        </p:txBody>
      </p:sp>
      <p:sp>
        <p:nvSpPr>
          <p:cNvPr id="9" name="Shape 6"/>
          <p:cNvSpPr/>
          <p:nvPr/>
        </p:nvSpPr>
        <p:spPr>
          <a:xfrm>
            <a:off x="2011680" y="2212848"/>
            <a:ext cx="8174736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none"/>
            <a:tailEnd type="none"/>
          </a:ln>
        </p:spPr>
      </p:sp>
      <p:sp>
        <p:nvSpPr>
          <p:cNvPr id="10" name="Text 7"/>
          <p:cNvSpPr txBox="1"/>
          <p:nvPr/>
        </p:nvSpPr>
        <p:spPr>
          <a:xfrm>
            <a:off x="658368" y="2523744"/>
            <a:ext cx="10698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 es evidencia suficiente</a:t>
            </a:r>
            <a:endParaRPr lang="en-US" sz="3500" dirty="0"/>
          </a:p>
        </p:txBody>
      </p:sp>
      <p:sp>
        <p:nvSpPr>
          <p:cNvPr id="11" name="Text 8"/>
          <p:cNvSpPr txBox="1"/>
          <p:nvPr/>
        </p:nvSpPr>
        <p:spPr>
          <a:xfrm>
            <a:off x="1847088" y="3785616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10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Hoy construiremos una forma que otra persona pueda repetir, inspeccionar y discutir.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4169664" y="4919472"/>
            <a:ext cx="3840480" cy="585216"/>
          </a:xfrm>
          <a:prstGeom prst="roundRect">
            <a:avLst>
              <a:gd name="adj" fmla="val 9375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352544" y="5102352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spc="12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REPETIBLE → REVISABLE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0" y="313312"/>
            <a:ext cx="1298448" cy="452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RESULTADO DE LA SESIÓN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86384"/>
            <a:ext cx="8869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Al salir podrás mostrar evidencia</a:t>
            </a:r>
            <a:endParaRPr lang="en-US" sz="31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490472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Cuatro controles distintos; ninguna promesa vaga.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58368" y="2249424"/>
            <a:ext cx="2395728" cy="1261872"/>
          </a:xfrm>
          <a:prstGeom prst="roundRect">
            <a:avLst>
              <a:gd name="adj" fmla="val 579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12" name="Image 1" descr="C:\Users\Diego Obando\dev\pro402-taller-de-testing-2026\clases\semana-01\02\ppt\source\assets\tools\uv-mark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78620" y="2395728"/>
            <a:ext cx="555224" cy="55522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49808" y="3191256"/>
            <a:ext cx="22128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uv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58368" y="3858768"/>
            <a:ext cx="239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Entorno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768096" y="4334256"/>
            <a:ext cx="217627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Otra persona puede reconstruirlo.</a:t>
            </a:r>
            <a:endParaRPr lang="en-US" sz="1450" dirty="0"/>
          </a:p>
        </p:txBody>
      </p:sp>
      <p:sp>
        <p:nvSpPr>
          <p:cNvPr id="16" name="Shape 12"/>
          <p:cNvSpPr/>
          <p:nvPr/>
        </p:nvSpPr>
        <p:spPr>
          <a:xfrm>
            <a:off x="3419856" y="2249424"/>
            <a:ext cx="2395728" cy="1261872"/>
          </a:xfrm>
          <a:prstGeom prst="roundRect">
            <a:avLst>
              <a:gd name="adj" fmla="val 579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17" name="Image 2" descr="C:\Users\Diego Obando\dev\pro402-taller-de-testing-2026\clases\semana-01\02\ppt\source\assets\tools\ruff-mark.sv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390537" y="2395728"/>
            <a:ext cx="454367" cy="55522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3511296" y="3191256"/>
            <a:ext cx="22128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ruff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3419856" y="3858768"/>
            <a:ext cx="239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Estructura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3529584" y="4334256"/>
            <a:ext cx="217627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linter no encuentra las infracciones activas.</a:t>
            </a:r>
            <a:endParaRPr lang="en-US" sz="1450" dirty="0"/>
          </a:p>
        </p:txBody>
      </p:sp>
      <p:sp>
        <p:nvSpPr>
          <p:cNvPr id="21" name="Shape 16"/>
          <p:cNvSpPr/>
          <p:nvPr/>
        </p:nvSpPr>
        <p:spPr>
          <a:xfrm>
            <a:off x="6181344" y="2249424"/>
            <a:ext cx="2395728" cy="1261872"/>
          </a:xfrm>
          <a:prstGeom prst="roundRect">
            <a:avLst>
              <a:gd name="adj" fmla="val 579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22" name="Image 3" descr="C:\Users\Diego Obando\dev\pro402-taller-de-testing-2026\clases\semana-01\02\ppt\source\assets\tools\pyrefly-mark-invert.sv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027706" y="2395728"/>
            <a:ext cx="703005" cy="55522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272784" y="3191256"/>
            <a:ext cx="22128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Pyrefly</a:t>
            </a:r>
            <a:endParaRPr lang="en-US" sz="1300" dirty="0"/>
          </a:p>
        </p:txBody>
      </p:sp>
      <p:sp>
        <p:nvSpPr>
          <p:cNvPr id="24" name="Text 18"/>
          <p:cNvSpPr txBox="1"/>
          <p:nvPr/>
        </p:nvSpPr>
        <p:spPr>
          <a:xfrm>
            <a:off x="6181344" y="3858768"/>
            <a:ext cx="239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Contratos</a:t>
            </a:r>
            <a:endParaRPr lang="en-US" sz="1800" dirty="0"/>
          </a:p>
        </p:txBody>
      </p:sp>
      <p:sp>
        <p:nvSpPr>
          <p:cNvPr id="25" name="Text 19"/>
          <p:cNvSpPr txBox="1"/>
          <p:nvPr/>
        </p:nvSpPr>
        <p:spPr>
          <a:xfrm>
            <a:off x="6291072" y="4334256"/>
            <a:ext cx="217627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Los tipos declarados son coherentes.</a:t>
            </a:r>
            <a:endParaRPr lang="en-US" sz="1450" dirty="0"/>
          </a:p>
        </p:txBody>
      </p:sp>
      <p:sp>
        <p:nvSpPr>
          <p:cNvPr id="26" name="Shape 20"/>
          <p:cNvSpPr/>
          <p:nvPr/>
        </p:nvSpPr>
        <p:spPr>
          <a:xfrm>
            <a:off x="8942832" y="2249424"/>
            <a:ext cx="2395728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pic>
        <p:nvPicPr>
          <p:cNvPr id="27" name="Image 4" descr="C:\Users\Diego Obando\dev\pro402-taller-de-testing-2026\clases\semana-01\02\ppt\source\assets\tools\pytest-logo.sv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793681" y="2322576"/>
            <a:ext cx="694030" cy="69403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9034272" y="3191256"/>
            <a:ext cx="22128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pytest</a:t>
            </a:r>
            <a:endParaRPr lang="en-US" sz="1300" dirty="0"/>
          </a:p>
        </p:txBody>
      </p:sp>
      <p:sp>
        <p:nvSpPr>
          <p:cNvPr id="29" name="Text 22"/>
          <p:cNvSpPr txBox="1"/>
          <p:nvPr/>
        </p:nvSpPr>
        <p:spPr>
          <a:xfrm>
            <a:off x="8942832" y="3858768"/>
            <a:ext cx="239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Comportamiento</a:t>
            </a:r>
            <a:endParaRPr lang="en-US" sz="1800" dirty="0"/>
          </a:p>
        </p:txBody>
      </p:sp>
      <p:sp>
        <p:nvSpPr>
          <p:cNvPr id="30" name="Text 23"/>
          <p:cNvSpPr txBox="1"/>
          <p:nvPr/>
        </p:nvSpPr>
        <p:spPr>
          <a:xfrm>
            <a:off x="9052560" y="4334256"/>
            <a:ext cx="217627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Los casos ejecutados cumplen su expectativa.</a:t>
            </a:r>
            <a:endParaRPr lang="en-US" sz="1450" dirty="0"/>
          </a:p>
        </p:txBody>
      </p:sp>
      <p:sp>
        <p:nvSpPr>
          <p:cNvPr id="31" name="Text 24"/>
          <p:cNvSpPr txBox="1"/>
          <p:nvPr/>
        </p:nvSpPr>
        <p:spPr>
          <a:xfrm>
            <a:off x="658368" y="5614416"/>
            <a:ext cx="10863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Verde siempre necesita apellido.</a:t>
            </a:r>
            <a:endParaRPr lang="en-US" sz="2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0" y="313312"/>
            <a:ext cx="1298448" cy="452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05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OBJETIVOS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86384"/>
            <a:ext cx="8869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Operar y juzgar</a:t>
            </a:r>
            <a:endParaRPr lang="en-US" sz="31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490472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técnica y el criterio avanzan juntos.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58368" y="2139696"/>
            <a:ext cx="5029200" cy="420624"/>
          </a:xfrm>
          <a:prstGeom prst="roundRect">
            <a:avLst>
              <a:gd name="adj" fmla="val 1304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510528" y="2139696"/>
            <a:ext cx="5029200" cy="420624"/>
          </a:xfrm>
          <a:prstGeom prst="roundRect">
            <a:avLst>
              <a:gd name="adj" fmla="val 13043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32688" y="226771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16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OPERAR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784848" y="226771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160" kern="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JUZGAR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58368" y="2724912"/>
            <a:ext cx="5029200" cy="768096"/>
          </a:xfrm>
          <a:prstGeom prst="roundRect">
            <a:avLst>
              <a:gd name="adj" fmla="val 714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510528" y="2724912"/>
            <a:ext cx="5029200" cy="768096"/>
          </a:xfrm>
          <a:prstGeom prst="roundRect">
            <a:avLst>
              <a:gd name="adj" fmla="val 7143"/>
            </a:avLst>
          </a:prstGeom>
          <a:solidFill>
            <a:srgbClr val="FBF3DE"/>
          </a:solidFill>
          <a:ln w="12700">
            <a:solidFill>
              <a:srgbClr val="FBF3D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41248" y="2889504"/>
            <a:ext cx="438912" cy="438912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41248" y="28895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1481328" y="2834640"/>
            <a:ext cx="1261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Crear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2743200" y="2843784"/>
            <a:ext cx="2688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proyecto reproducible con uv</a:t>
            </a:r>
            <a:endParaRPr 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5696712" y="2798064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2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ENTORNO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5833872" y="3044952"/>
            <a:ext cx="438912" cy="42062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693408" y="2889504"/>
            <a:ext cx="438912" cy="438912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693408" y="28895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7333488" y="2834640"/>
            <a:ext cx="1335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Distinguir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8705088" y="2843784"/>
            <a:ext cx="25420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pregunta responde cada herramienta</a:t>
            </a:r>
            <a:endParaRPr lang="en-US" sz="1350" dirty="0"/>
          </a:p>
        </p:txBody>
      </p:sp>
      <p:sp>
        <p:nvSpPr>
          <p:cNvPr id="27" name="Shape 24"/>
          <p:cNvSpPr/>
          <p:nvPr/>
        </p:nvSpPr>
        <p:spPr>
          <a:xfrm>
            <a:off x="658368" y="3675888"/>
            <a:ext cx="5029200" cy="768096"/>
          </a:xfrm>
          <a:prstGeom prst="roundRect">
            <a:avLst>
              <a:gd name="adj" fmla="val 714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510528" y="3675888"/>
            <a:ext cx="5029200" cy="768096"/>
          </a:xfrm>
          <a:prstGeom prst="roundRect">
            <a:avLst>
              <a:gd name="adj" fmla="val 7143"/>
            </a:avLst>
          </a:prstGeom>
          <a:solidFill>
            <a:srgbClr val="FBF3DE"/>
          </a:solidFill>
          <a:ln w="12700">
            <a:solidFill>
              <a:srgbClr val="FBF3D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41248" y="3840480"/>
            <a:ext cx="438912" cy="438912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41248" y="38404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1481328" y="3785616"/>
            <a:ext cx="1261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Ejecutar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2743200" y="3794760"/>
            <a:ext cx="2688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Ruff y Pyrefly leyendo sus diagnósticos</a:t>
            </a:r>
            <a:endParaRPr lang="en-US" sz="1350" dirty="0"/>
          </a:p>
        </p:txBody>
      </p:sp>
      <p:sp>
        <p:nvSpPr>
          <p:cNvPr id="33" name="Text 30"/>
          <p:cNvSpPr txBox="1"/>
          <p:nvPr/>
        </p:nvSpPr>
        <p:spPr>
          <a:xfrm>
            <a:off x="5696712" y="3749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2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SEÑALES</a:t>
            </a:r>
            <a:endParaRPr lang="en-US" sz="800" dirty="0"/>
          </a:p>
        </p:txBody>
      </p:sp>
      <p:sp>
        <p:nvSpPr>
          <p:cNvPr id="34" name="Shape 31"/>
          <p:cNvSpPr/>
          <p:nvPr/>
        </p:nvSpPr>
        <p:spPr>
          <a:xfrm>
            <a:off x="5833872" y="3995928"/>
            <a:ext cx="438912" cy="42062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6693408" y="3840480"/>
            <a:ext cx="438912" cy="438912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693408" y="38404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1050" dirty="0"/>
          </a:p>
        </p:txBody>
      </p:sp>
      <p:sp>
        <p:nvSpPr>
          <p:cNvPr id="37" name="Text 34"/>
          <p:cNvSpPr txBox="1"/>
          <p:nvPr/>
        </p:nvSpPr>
        <p:spPr>
          <a:xfrm>
            <a:off x="7333488" y="3785616"/>
            <a:ext cx="1335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Interpretar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8705088" y="3794760"/>
            <a:ext cx="25420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falla antes de modificar el código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58368" y="4626864"/>
            <a:ext cx="5029200" cy="768096"/>
          </a:xfrm>
          <a:prstGeom prst="roundRect">
            <a:avLst>
              <a:gd name="adj" fmla="val 714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510528" y="4626864"/>
            <a:ext cx="5029200" cy="768096"/>
          </a:xfrm>
          <a:prstGeom prst="roundRect">
            <a:avLst>
              <a:gd name="adj" fmla="val 7143"/>
            </a:avLst>
          </a:prstGeom>
          <a:solidFill>
            <a:srgbClr val="FBF3DE"/>
          </a:solidFill>
          <a:ln w="12700">
            <a:solidFill>
              <a:srgbClr val="FBF3DE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841248" y="4791456"/>
            <a:ext cx="438912" cy="438912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1248" y="479145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1481328" y="4736592"/>
            <a:ext cx="1261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Escribir</a:t>
            </a:r>
            <a:endParaRPr lang="en-US" sz="1600" dirty="0"/>
          </a:p>
        </p:txBody>
      </p:sp>
      <p:sp>
        <p:nvSpPr>
          <p:cNvPr id="44" name="Text 41"/>
          <p:cNvSpPr txBox="1"/>
          <p:nvPr/>
        </p:nvSpPr>
        <p:spPr>
          <a:xfrm>
            <a:off x="2743200" y="4745736"/>
            <a:ext cx="2688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primera prueba con pytest</a:t>
            </a:r>
            <a:endParaRPr lang="en-US" sz="1350" dirty="0"/>
          </a:p>
        </p:txBody>
      </p:sp>
      <p:sp>
        <p:nvSpPr>
          <p:cNvPr id="45" name="Text 42"/>
          <p:cNvSpPr txBox="1"/>
          <p:nvPr/>
        </p:nvSpPr>
        <p:spPr>
          <a:xfrm>
            <a:off x="5696712" y="4700016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2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ALCANCE</a:t>
            </a:r>
            <a:endParaRPr lang="en-US" sz="800" dirty="0"/>
          </a:p>
        </p:txBody>
      </p:sp>
      <p:sp>
        <p:nvSpPr>
          <p:cNvPr id="46" name="Shape 43"/>
          <p:cNvSpPr/>
          <p:nvPr/>
        </p:nvSpPr>
        <p:spPr>
          <a:xfrm>
            <a:off x="5833872" y="4946904"/>
            <a:ext cx="438912" cy="42062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6693408" y="4791456"/>
            <a:ext cx="438912" cy="438912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6693408" y="479145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7333488" y="4736592"/>
            <a:ext cx="1335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Auditar</a:t>
            </a:r>
            <a:endParaRPr lang="en-US" sz="1600" dirty="0"/>
          </a:p>
        </p:txBody>
      </p:sp>
      <p:sp>
        <p:nvSpPr>
          <p:cNvPr id="50" name="Text 47"/>
          <p:cNvSpPr txBox="1"/>
          <p:nvPr/>
        </p:nvSpPr>
        <p:spPr>
          <a:xfrm>
            <a:off x="8705088" y="4745736"/>
            <a:ext cx="25420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casos sugeridos por un agente</a:t>
            </a:r>
            <a:endParaRPr lang="en-US" sz="1350" dirty="0"/>
          </a:p>
        </p:txBody>
      </p:sp>
      <p:sp>
        <p:nvSpPr>
          <p:cNvPr id="51" name="Shape 48"/>
          <p:cNvSpPr/>
          <p:nvPr/>
        </p:nvSpPr>
        <p:spPr>
          <a:xfrm>
            <a:off x="658368" y="5650992"/>
            <a:ext cx="10881360" cy="457200"/>
          </a:xfrm>
          <a:prstGeom prst="roundRect">
            <a:avLst>
              <a:gd name="adj" fmla="val 1200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950976" y="5788152"/>
            <a:ext cx="102961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spc="25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OPERAR produce señales  →  JUZGAR las convierte en decisiones defendibles.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0" y="313312"/>
            <a:ext cx="1298448" cy="452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06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MAPA DE LA CLASE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86384"/>
            <a:ext cx="8869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Del entorno a la evidencia</a:t>
            </a:r>
            <a:endParaRPr lang="en-US" sz="31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490472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140 minutos · cuatro bloques · una cadena de comprobación.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58368" y="2542032"/>
            <a:ext cx="1261872" cy="226771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58368" y="2542032"/>
            <a:ext cx="1261872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04672" y="2816352"/>
            <a:ext cx="969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08:30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804672" y="3401568"/>
            <a:ext cx="969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ENCUADRE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04672" y="3877056"/>
            <a:ext cx="96926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Defecto manual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2066544" y="2542032"/>
            <a:ext cx="2286000" cy="2267712"/>
          </a:xfrm>
          <a:prstGeom prst="roundRect">
            <a:avLst>
              <a:gd name="adj" fmla="val 241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066544" y="2542032"/>
            <a:ext cx="2286000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212848" y="2816352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08:40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2212848" y="340156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80" kern="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2212848" y="3877056"/>
            <a:ext cx="19933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Entorno reproducible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4498848" y="2542032"/>
            <a:ext cx="1956816" cy="2267712"/>
          </a:xfrm>
          <a:prstGeom prst="roundRect">
            <a:avLst>
              <a:gd name="adj" fmla="val 280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498848" y="2542032"/>
            <a:ext cx="1956816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645152" y="2816352"/>
            <a:ext cx="1664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09:10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4645152" y="3401568"/>
            <a:ext cx="1664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8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4645152" y="3877056"/>
            <a:ext cx="16642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Ruff + Pyrefly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6601968" y="2542032"/>
            <a:ext cx="1078992" cy="2267712"/>
          </a:xfrm>
          <a:prstGeom prst="roundRect">
            <a:avLst>
              <a:gd name="adj" fmla="val 5085"/>
            </a:avLst>
          </a:prstGeom>
          <a:solidFill>
            <a:srgbClr val="EDE6DA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601968" y="2542032"/>
            <a:ext cx="1078992" cy="109728"/>
          </a:xfrm>
          <a:prstGeom prst="rect">
            <a:avLst/>
          </a:prstGeom>
          <a:solidFill>
            <a:srgbClr val="EADFD0"/>
          </a:solidFill>
          <a:ln w="12700">
            <a:solidFill>
              <a:srgbClr val="EADFD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748272" y="2816352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09:35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6748272" y="3401568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8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PAUSA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748272" y="3877056"/>
            <a:ext cx="7863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minutos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7827264" y="2542032"/>
            <a:ext cx="1993392" cy="2267712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7827264" y="2542032"/>
            <a:ext cx="1993392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973568" y="2816352"/>
            <a:ext cx="1700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09:45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7973568" y="3401568"/>
            <a:ext cx="1700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7973568" y="3877056"/>
            <a:ext cx="1700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Primera prueba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966960" y="2542032"/>
            <a:ext cx="1865376" cy="2267712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9966960" y="2542032"/>
            <a:ext cx="186537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10113264" y="2816352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10:15</a:t>
            </a:r>
            <a:endParaRPr lang="en-US" sz="1500" dirty="0"/>
          </a:p>
        </p:txBody>
      </p:sp>
      <p:sp>
        <p:nvSpPr>
          <p:cNvPr id="39" name="Text 36"/>
          <p:cNvSpPr txBox="1"/>
          <p:nvPr/>
        </p:nvSpPr>
        <p:spPr>
          <a:xfrm>
            <a:off x="10113264" y="3401568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80" kern="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10113264" y="3877056"/>
            <a:ext cx="15727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Agente + sabotaje</a:t>
            </a:r>
            <a:endParaRPr lang="en-US" sz="1500" dirty="0"/>
          </a:p>
        </p:txBody>
      </p:sp>
      <p:sp>
        <p:nvSpPr>
          <p:cNvPr id="41" name="Shape 38"/>
          <p:cNvSpPr/>
          <p:nvPr/>
        </p:nvSpPr>
        <p:spPr>
          <a:xfrm>
            <a:off x="658368" y="5340096"/>
            <a:ext cx="10863072" cy="566928"/>
          </a:xfrm>
          <a:prstGeom prst="roundRect">
            <a:avLst>
              <a:gd name="adj" fmla="val 645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914400" y="5513832"/>
            <a:ext cx="10351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spc="4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HOY: cada resultado debe poder explicarse, no solo mostrarse en verde.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0" y="313516"/>
            <a:ext cx="1298448" cy="4519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07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74980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8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30 MINUTOS</a:t>
            </a:r>
            <a:endParaRPr lang="en-US" sz="1100" dirty="0"/>
          </a:p>
        </p:txBody>
      </p:sp>
      <p:pic>
        <p:nvPicPr>
          <p:cNvPr id="9" name="Image 1" descr="C:\Users\Diego Obando\dev\pro402-taller-de-testing-2026\clases\semana-01\02\ppt\source\assets\tools\uv-mark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613648" y="1444752"/>
            <a:ext cx="2340864" cy="234086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58368" y="1591056"/>
            <a:ext cx="7132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entorno</a:t>
            </a:r>
            <a:endParaRPr lang="en-US" sz="4300" dirty="0"/>
          </a:p>
        </p:txBody>
      </p:sp>
      <p:sp>
        <p:nvSpPr>
          <p:cNvPr id="11" name="Text 7"/>
          <p:cNvSpPr txBox="1"/>
          <p:nvPr/>
        </p:nvSpPr>
        <p:spPr>
          <a:xfrm>
            <a:off x="658368" y="2414016"/>
            <a:ext cx="7498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también es evidencia</a:t>
            </a:r>
            <a:endParaRPr lang="en-US" sz="4300" dirty="0"/>
          </a:p>
        </p:txBody>
      </p:sp>
      <p:sp>
        <p:nvSpPr>
          <p:cNvPr id="12" name="Text 8"/>
          <p:cNvSpPr txBox="1"/>
          <p:nvPr/>
        </p:nvSpPr>
        <p:spPr>
          <a:xfrm>
            <a:off x="658368" y="3822192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Objetivo: crear un proyecto que otra persona pueda reconstruir sin adivinar.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658368" y="4919472"/>
            <a:ext cx="7132320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none"/>
            <a:tailEnd type="none"/>
          </a:ln>
        </p:spPr>
      </p:sp>
      <p:sp>
        <p:nvSpPr>
          <p:cNvPr id="14" name="Text 10"/>
          <p:cNvSpPr txBox="1"/>
          <p:nvPr/>
        </p:nvSpPr>
        <p:spPr>
          <a:xfrm>
            <a:off x="658368" y="5175504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Condiciones controladas antes de hablar de comportamiento.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0" y="313312"/>
            <a:ext cx="1298448" cy="452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08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1.1 · EL PROBLEMA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86384"/>
            <a:ext cx="88696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mismo archivo puede vivir en mundos distintos</a:t>
            </a:r>
            <a:endParaRPr lang="en-US" sz="29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737360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Copiar notas.py no copia las condiciones que lo rodean.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58368" y="2359152"/>
            <a:ext cx="5321808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22960" y="2560320"/>
            <a:ext cx="640080" cy="640080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1700784" y="25603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700784" y="2999232"/>
            <a:ext cx="3968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versión ejecutó el archivo?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163056" y="2359152"/>
            <a:ext cx="5321808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327648" y="2560320"/>
            <a:ext cx="640080" cy="64008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327648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7205472" y="25603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HERRAMIENTAS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205472" y="2999232"/>
            <a:ext cx="3968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estaba instalado?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658368" y="4169664"/>
            <a:ext cx="5321808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22960" y="4370832"/>
            <a:ext cx="640080" cy="640080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22960" y="437083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1700784" y="437083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DEPENDENCIAS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700784" y="4809744"/>
            <a:ext cx="3968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versiones resolvió?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6163056" y="4169664"/>
            <a:ext cx="5321808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327648" y="4370832"/>
            <a:ext cx="640080" cy="640080"/>
          </a:xfrm>
          <a:prstGeom prst="ellipse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327648" y="437083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7205472" y="437083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PASOS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205472" y="4809744"/>
            <a:ext cx="3968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comandos debemos repetir?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0" y="313516"/>
            <a:ext cx="1298448" cy="4519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09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950976"/>
            <a:ext cx="10863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4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primera pregunta de calidad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335024" y="1901952"/>
            <a:ext cx="9509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 otra persona recibe esta carpeta…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1170432" y="2852928"/>
            <a:ext cx="9857232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¿puede reconstruir las mismas condiciones sin adivinar?</a:t>
            </a:r>
            <a:endParaRPr lang="en-US" sz="3800" dirty="0"/>
          </a:p>
        </p:txBody>
      </p:sp>
      <p:sp>
        <p:nvSpPr>
          <p:cNvPr id="11" name="Shape 8"/>
          <p:cNvSpPr/>
          <p:nvPr/>
        </p:nvSpPr>
        <p:spPr>
          <a:xfrm>
            <a:off x="2907792" y="4645152"/>
            <a:ext cx="6382512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127248" y="4873752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20" kern="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REPRODUCIBLE = SIN ADIVINAR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0" y="313312"/>
            <a:ext cx="1298448" cy="452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1.2 · COMPROBACIÓN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86384"/>
            <a:ext cx="8869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Primero: ¿uv está disponible?</a:t>
            </a:r>
            <a:endParaRPr lang="en-US" sz="31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490472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instalación es una contingencia, no el centro de la clase.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58368" y="2249424"/>
            <a:ext cx="5870448" cy="1993392"/>
          </a:xfrm>
          <a:prstGeom prst="roundRect">
            <a:avLst>
              <a:gd name="adj" fmla="val 1835"/>
            </a:avLst>
          </a:prstGeom>
          <a:solidFill>
            <a:srgbClr val="0F1720"/>
          </a:solidFill>
          <a:ln w="12700">
            <a:solidFill>
              <a:srgbClr val="0F172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86384" y="2359152"/>
            <a:ext cx="5614416" cy="310896"/>
          </a:xfrm>
          <a:prstGeom prst="roundRect">
            <a:avLst>
              <a:gd name="adj" fmla="val 8824"/>
            </a:avLst>
          </a:prstGeom>
          <a:solidFill>
            <a:srgbClr val="1E2937"/>
          </a:solidFill>
          <a:ln w="12700">
            <a:solidFill>
              <a:srgbClr val="1E293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2432304"/>
            <a:ext cx="5358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PowerShell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77824" y="281635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BC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188720" y="2816352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--version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77824" y="3072384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A0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0.x.x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6912864" y="230428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responde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912864" y="268833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continúa al proyecto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6912864" y="3310128"/>
            <a:ext cx="4279392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  <a:headEnd type="none"/>
            <a:tailEnd type="none"/>
          </a:ln>
        </p:spPr>
      </p:sp>
      <p:sp>
        <p:nvSpPr>
          <p:cNvPr id="20" name="Text 17"/>
          <p:cNvSpPr txBox="1"/>
          <p:nvPr/>
        </p:nvSpPr>
        <p:spPr>
          <a:xfrm>
            <a:off x="6912864" y="358444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no existe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6912864" y="3968496"/>
            <a:ext cx="4315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winget install --id=astral-sh.uv -e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658368" y="4992624"/>
            <a:ext cx="10863072" cy="676656"/>
          </a:xfrm>
          <a:prstGeom prst="roundRect">
            <a:avLst>
              <a:gd name="adj" fmla="val 6757"/>
            </a:avLst>
          </a:prstGeom>
          <a:solidFill>
            <a:srgbClr val="FBF3DE"/>
          </a:solidFill>
          <a:ln w="12700">
            <a:solidFill>
              <a:srgbClr val="FBF3DE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14400" y="5212080"/>
            <a:ext cx="10351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Después de instalar: cerrar y volver a abrir la terminal antes de repetir uv --version.</a:t>
            </a:r>
            <a:endParaRPr lang="en-US" sz="15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0" y="313312"/>
            <a:ext cx="1298448" cy="452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1.3 · CREAR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86384"/>
            <a:ext cx="88696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instrucción, una estructura compartida</a:t>
            </a:r>
            <a:endParaRPr lang="en-US" sz="29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737360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Todos parten desde el mismo comando.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1042416" y="2340864"/>
            <a:ext cx="10113264" cy="2286000"/>
          </a:xfrm>
          <a:prstGeom prst="roundRect">
            <a:avLst>
              <a:gd name="adj" fmla="val 1600"/>
            </a:avLst>
          </a:prstGeom>
          <a:solidFill>
            <a:srgbClr val="0F1720"/>
          </a:solidFill>
          <a:ln w="12700">
            <a:solidFill>
              <a:srgbClr val="0F172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70432" y="2450592"/>
            <a:ext cx="9857232" cy="310896"/>
          </a:xfrm>
          <a:prstGeom prst="roundRect">
            <a:avLst>
              <a:gd name="adj" fmla="val 8824"/>
            </a:avLst>
          </a:prstGeom>
          <a:solidFill>
            <a:srgbClr val="1E2937"/>
          </a:solidFill>
          <a:ln w="12700">
            <a:solidFill>
              <a:srgbClr val="1E293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298448" y="2523744"/>
            <a:ext cx="9601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PowerShell · carpeta de trabajo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261872" y="290779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BC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572768" y="2907792"/>
            <a:ext cx="9363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init evidencia-testing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3163824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BC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572768" y="3163824"/>
            <a:ext cx="9363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evidencia-testing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261872" y="3419856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BC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572768" y="3419856"/>
            <a:ext cx="9363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Get-ChildItem -Force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042416" y="5047488"/>
            <a:ext cx="5084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uv init no descarga una solución terminada.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6291072" y="5047488"/>
            <a:ext cx="48646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 una base mínima y explícita que podemos inspeccionar.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0" y="313312"/>
            <a:ext cx="1298448" cy="452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1.3 · INSPECCIONAR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86384"/>
            <a:ext cx="8869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apareció en la carpeta?</a:t>
            </a:r>
            <a:endParaRPr lang="en-US" sz="31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490472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archivo responde una pregunta distinta.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58368" y="2194560"/>
            <a:ext cx="4864608" cy="3602736"/>
          </a:xfrm>
          <a:prstGeom prst="roundRect">
            <a:avLst>
              <a:gd name="adj" fmla="val 203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87552" y="257860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0BC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evidencia-testing/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987552" y="3127248"/>
            <a:ext cx="4059936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70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.gitignore</a:t>
            </a:r>
            <a:endParaRPr lang="en-US" sz="17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70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.python-version</a:t>
            </a:r>
            <a:endParaRPr lang="en-US" sz="17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70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README.md</a:t>
            </a:r>
            <a:endParaRPr lang="en-US" sz="17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70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main.py</a:t>
            </a:r>
            <a:endParaRPr lang="en-US" sz="17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70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pyproject.toml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5980176" y="2340864"/>
            <a:ext cx="109728" cy="5303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27648" y="2340864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.python-version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503920" y="2340864"/>
            <a:ext cx="2816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esperado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5980176" y="3163824"/>
            <a:ext cx="109728" cy="53035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327648" y="3163824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pyproject.toml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8503920" y="3163824"/>
            <a:ext cx="2816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Contrato del proyecto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5980176" y="3986784"/>
            <a:ext cx="109728" cy="5303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27648" y="3986784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main.py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503920" y="3986784"/>
            <a:ext cx="2816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Código inicial ejecutable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5980176" y="4809744"/>
            <a:ext cx="109728" cy="5303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327648" y="4809744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.gitignore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8503920" y="4809744"/>
            <a:ext cx="2816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Ruido local que no se comparte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5980176" y="5504688"/>
            <a:ext cx="5340096" cy="402336"/>
          </a:xfrm>
          <a:prstGeom prst="roundRect">
            <a:avLst>
              <a:gd name="adj" fmla="val 9091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163056" y="5614416"/>
            <a:ext cx="4974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Todavía no aparece uv.lock: llegará al resolver dependencias.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0" y="313312"/>
            <a:ext cx="1298448" cy="452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13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1.3 · EJECUTAR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86384"/>
            <a:ext cx="8869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uv run controla el contexto</a:t>
            </a:r>
            <a:endParaRPr lang="en-US" sz="31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490472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depende del primer Python que encuentre el sistema.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58368" y="2212848"/>
            <a:ext cx="5065776" cy="1993392"/>
          </a:xfrm>
          <a:prstGeom prst="roundRect">
            <a:avLst>
              <a:gd name="adj" fmla="val 1835"/>
            </a:avLst>
          </a:prstGeom>
          <a:solidFill>
            <a:srgbClr val="0F1720"/>
          </a:solidFill>
          <a:ln w="12700">
            <a:solidFill>
              <a:srgbClr val="0F172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86384" y="2322576"/>
            <a:ext cx="4809744" cy="310896"/>
          </a:xfrm>
          <a:prstGeom prst="roundRect">
            <a:avLst>
              <a:gd name="adj" fmla="val 8824"/>
            </a:avLst>
          </a:prstGeom>
          <a:solidFill>
            <a:srgbClr val="1E2937"/>
          </a:solidFill>
          <a:ln w="12700">
            <a:solidFill>
              <a:srgbClr val="1E293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2395728"/>
            <a:ext cx="45537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PowerShell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77824" y="2779776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BC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188720" y="2779776"/>
            <a:ext cx="43159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run main.py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77824" y="3035808"/>
            <a:ext cx="43159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A0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Hello from evidencia-testing!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181344" y="2304288"/>
            <a:ext cx="1389888" cy="182880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327648" y="256032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6272784" y="3054096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40" kern="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BUSCA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272784" y="349300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proyecto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7607808" y="2999232"/>
            <a:ext cx="219456" cy="420624"/>
          </a:xfrm>
          <a:prstGeom prst="chevron">
            <a:avLst/>
          </a:prstGeom>
          <a:solidFill>
            <a:srgbClr val="EADFD0"/>
          </a:solidFill>
          <a:ln w="12700">
            <a:solidFill>
              <a:srgbClr val="EADFD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845552" y="2304288"/>
            <a:ext cx="1389888" cy="1828800"/>
          </a:xfrm>
          <a:prstGeom prst="roundRect">
            <a:avLst>
              <a:gd name="adj" fmla="val 394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991856" y="256032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936992" y="3054096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4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SINCRONIZA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7936992" y="349300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entorno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9272016" y="2999232"/>
            <a:ext cx="219456" cy="420624"/>
          </a:xfrm>
          <a:prstGeom prst="chevron">
            <a:avLst/>
          </a:prstGeom>
          <a:solidFill>
            <a:srgbClr val="EADFD0"/>
          </a:solidFill>
          <a:ln w="12700">
            <a:solidFill>
              <a:srgbClr val="EADFD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9509760" y="2304288"/>
            <a:ext cx="1389888" cy="182880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656064" y="256032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9601200" y="3054096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40" kern="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EJECUTA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9601200" y="349300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comando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658368" y="4809744"/>
            <a:ext cx="10863072" cy="841248"/>
          </a:xfrm>
          <a:prstGeom prst="roundRect">
            <a:avLst>
              <a:gd name="adj" fmla="val 6522"/>
            </a:avLst>
          </a:prstGeom>
          <a:solidFill>
            <a:srgbClr val="FBF3DE"/>
          </a:solidFill>
          <a:ln w="12700">
            <a:solidFill>
              <a:srgbClr val="FBF3DE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69264" y="5029200"/>
            <a:ext cx="10241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primera ejecución puede tardar: uv está construyendo condiciones declaradas. Las siguientes reutilizan el entorno.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0" y="313516"/>
            <a:ext cx="1298448" cy="4519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14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1.4 · DECLARAR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86384"/>
            <a:ext cx="8869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Las herramientas entran al proyecto</a:t>
            </a:r>
            <a:endParaRPr lang="en-US" sz="31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490472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dependen de instalaciones invisibles ni de nuestra memoria.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58368" y="2139696"/>
            <a:ext cx="10863072" cy="1243584"/>
          </a:xfrm>
          <a:prstGeom prst="roundRect">
            <a:avLst>
              <a:gd name="adj" fmla="val 2941"/>
            </a:avLst>
          </a:prstGeom>
          <a:solidFill>
            <a:srgbClr val="0F1720"/>
          </a:solidFill>
          <a:ln w="12700">
            <a:solidFill>
              <a:srgbClr val="0F172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86384" y="2249424"/>
            <a:ext cx="10607040" cy="310896"/>
          </a:xfrm>
          <a:prstGeom prst="roundRect">
            <a:avLst>
              <a:gd name="adj" fmla="val 8824"/>
            </a:avLst>
          </a:prstGeom>
          <a:solidFill>
            <a:srgbClr val="1E2937"/>
          </a:solidFill>
          <a:ln w="12700">
            <a:solidFill>
              <a:srgbClr val="1E293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2322576"/>
            <a:ext cx="103510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PowerShell · dependencias de desarrollo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77824" y="2706624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BC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188720" y="2706624"/>
            <a:ext cx="101132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add --dev pytest ruff pyrefly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1170432" y="3913632"/>
            <a:ext cx="290779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pic>
        <p:nvPicPr>
          <p:cNvPr id="17" name="Image 1" descr="C:\Users\Diego Obando\dev\pro402-taller-de-testing-2026\clases\semana-01\02\ppt\source\assets\tools\pytest-logo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16963" y="3986784"/>
            <a:ext cx="814730" cy="81473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261872" y="5074920"/>
            <a:ext cx="2724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pytest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4572000" y="3913632"/>
            <a:ext cx="2907792" cy="1481328"/>
          </a:xfrm>
          <a:prstGeom prst="roundRect">
            <a:avLst>
              <a:gd name="adj" fmla="val 4938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20" name="Image 2" descr="C:\Users\Diego Obando\dev\pro402-taller-de-testing-2026\clases\semana-01\02\ppt\source\assets\tools\ruff-mark.sv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759203" y="4059936"/>
            <a:ext cx="533387" cy="65178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4663440" y="5074920"/>
            <a:ext cx="2724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ruff</a:t>
            </a:r>
            <a:endParaRPr lang="en-US" sz="1300" dirty="0"/>
          </a:p>
        </p:txBody>
      </p:sp>
      <p:sp>
        <p:nvSpPr>
          <p:cNvPr id="22" name="Shape 17"/>
          <p:cNvSpPr/>
          <p:nvPr/>
        </p:nvSpPr>
        <p:spPr>
          <a:xfrm>
            <a:off x="7973568" y="3913632"/>
            <a:ext cx="2907792" cy="1481328"/>
          </a:xfrm>
          <a:prstGeom prst="roundRect">
            <a:avLst>
              <a:gd name="adj" fmla="val 4938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23" name="Image 3" descr="C:\Users\Diego Obando\dev\pro402-taller-de-testing-2026\clases\semana-01\02\ppt\source\assets\tools\pyrefly-mark-invert.sv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014831" y="4059936"/>
            <a:ext cx="825266" cy="65178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8065008" y="5074920"/>
            <a:ext cx="2724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Pyrefly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1298448" y="5705856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--dev = herramientas para construir y verificar; no forman parte del producto entregado.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0" y="313312"/>
            <a:ext cx="1298448" cy="452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15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1.4 · CONTRATO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86384"/>
            <a:ext cx="8869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pyproject.toml declara el proyecto</a:t>
            </a:r>
            <a:endParaRPr lang="en-US" sz="31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490472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necesita y bajo qué condiciones espera ejecutarse.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58368" y="2157984"/>
            <a:ext cx="6510528" cy="3511296"/>
          </a:xfrm>
          <a:prstGeom prst="roundRect">
            <a:avLst>
              <a:gd name="adj" fmla="val 104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86384" y="2267712"/>
            <a:ext cx="6254496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96112" y="2340864"/>
            <a:ext cx="6035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pyproject.toml · lectura conceptual</a:t>
            </a:r>
            <a:endParaRPr lang="en-US" sz="10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7824" y="2724912"/>
            <a:ext cx="6089904" cy="276148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7534656" y="2359152"/>
            <a:ext cx="109728" cy="65836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845552" y="2359152"/>
            <a:ext cx="3273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IDENTIDAD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7845552" y="2706624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nombre y versión del proyecto</a:t>
            </a:r>
            <a:endParaRPr lang="en-US" sz="1650" dirty="0"/>
          </a:p>
        </p:txBody>
      </p:sp>
      <p:sp>
        <p:nvSpPr>
          <p:cNvPr id="18" name="Shape 14"/>
          <p:cNvSpPr/>
          <p:nvPr/>
        </p:nvSpPr>
        <p:spPr>
          <a:xfrm>
            <a:off x="7534656" y="3364992"/>
            <a:ext cx="109728" cy="65836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845552" y="3364992"/>
            <a:ext cx="3273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80" kern="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7845552" y="3712464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rango admitido</a:t>
            </a:r>
            <a:endParaRPr lang="en-US" sz="1650" dirty="0"/>
          </a:p>
        </p:txBody>
      </p:sp>
      <p:sp>
        <p:nvSpPr>
          <p:cNvPr id="21" name="Shape 17"/>
          <p:cNvSpPr/>
          <p:nvPr/>
        </p:nvSpPr>
        <p:spPr>
          <a:xfrm>
            <a:off x="7534656" y="4370832"/>
            <a:ext cx="109728" cy="65836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845552" y="4370832"/>
            <a:ext cx="3273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80" kern="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DEPENDENCIAS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7845552" y="4718304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producto versus desarrollo</a:t>
            </a:r>
            <a:endParaRPr lang="en-US" sz="1650" dirty="0"/>
          </a:p>
        </p:txBody>
      </p:sp>
      <p:sp>
        <p:nvSpPr>
          <p:cNvPr id="24" name="Shape 20"/>
          <p:cNvSpPr/>
          <p:nvPr/>
        </p:nvSpPr>
        <p:spPr>
          <a:xfrm>
            <a:off x="7534656" y="5431536"/>
            <a:ext cx="3749040" cy="457200"/>
          </a:xfrm>
          <a:prstGeom prst="roundRect">
            <a:avLst>
              <a:gd name="adj" fmla="val 8000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717536" y="553212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versiones concretas pueden cambiar; la declaración no puede faltar.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0" y="313312"/>
            <a:ext cx="1298448" cy="452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16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1.4 · RESOLVER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86384"/>
            <a:ext cx="8869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uv.lock conserva la resolución concreta</a:t>
            </a:r>
            <a:endParaRPr lang="en-US" sz="31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490472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declaración permite; el lockfile registra qué quedó resuelto.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58368" y="2304288"/>
            <a:ext cx="3054096" cy="2432304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0" y="2304288"/>
            <a:ext cx="3054096" cy="2432304"/>
          </a:xfrm>
          <a:prstGeom prst="roundRect">
            <a:avLst>
              <a:gd name="adj" fmla="val 263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394192" y="2304288"/>
            <a:ext cx="3054096" cy="2432304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32688" y="2706624"/>
            <a:ext cx="2487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pyproject.toml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969264" y="3401568"/>
            <a:ext cx="24140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declara rangos y grupos</a:t>
            </a:r>
            <a:endParaRPr lang="en-US" sz="1700" dirty="0"/>
          </a:p>
        </p:txBody>
      </p:sp>
      <p:pic>
        <p:nvPicPr>
          <p:cNvPr id="16" name="Image 1" descr="C:\Users\Diego Obando\dev\pro402-taller-de-testing-2026\clases\semana-01\02\ppt\source\assets\tools\uv-mark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59552" y="2615184"/>
            <a:ext cx="1078992" cy="107899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065776" y="4005072"/>
            <a:ext cx="2066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RESUELVE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8833104" y="2706624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uv.lock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8796528" y="3401568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 versiones concretas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3968496" y="3310128"/>
            <a:ext cx="384048" cy="420624"/>
          </a:xfrm>
          <a:prstGeom prst="chevron">
            <a:avLst/>
          </a:prstGeom>
          <a:solidFill>
            <a:srgbClr val="EADFD0"/>
          </a:solidFill>
          <a:ln w="12700">
            <a:solidFill>
              <a:srgbClr val="EADFD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790688" y="3310128"/>
            <a:ext cx="384048" cy="420624"/>
          </a:xfrm>
          <a:prstGeom prst="chevron">
            <a:avLst/>
          </a:prstGeom>
          <a:solidFill>
            <a:srgbClr val="EADFD0"/>
          </a:solidFill>
          <a:ln w="12700">
            <a:solidFill>
              <a:srgbClr val="EADFD0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1993392" y="5340096"/>
            <a:ext cx="8211312" cy="566928"/>
          </a:xfrm>
          <a:prstGeom prst="roundRect">
            <a:avLst>
              <a:gd name="adj" fmla="val 8065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2231136" y="5513832"/>
            <a:ext cx="7735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uv.lock se comparte y lo administra uv; no se edita manualmente.</a:t>
            </a:r>
            <a:endParaRPr lang="en-US" sz="15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0" y="313312"/>
            <a:ext cx="1298448" cy="452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17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1.5 · DECIDIR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86384"/>
            <a:ext cx="8869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Compartimos la receta, no la cocina</a:t>
            </a:r>
            <a:endParaRPr lang="en-US" sz="31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490472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repositorio conserva instrucciones y código; el equipo reconstruye el entorno local.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226771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110" kern="0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COMPARTE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949440" y="226771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11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RECONSTRUYE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58368" y="2761488"/>
            <a:ext cx="5065776" cy="2542032"/>
          </a:xfrm>
          <a:prstGeom prst="roundRect">
            <a:avLst>
              <a:gd name="adj" fmla="val 2878"/>
            </a:avLst>
          </a:prstGeom>
          <a:solidFill>
            <a:srgbClr val="E9F6EE"/>
          </a:solidFill>
          <a:ln w="12700">
            <a:solidFill>
              <a:srgbClr val="E9F6E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55664" y="2761488"/>
            <a:ext cx="5065776" cy="2542032"/>
          </a:xfrm>
          <a:prstGeom prst="roundRect">
            <a:avLst>
              <a:gd name="adj" fmla="val 2878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87552" y="312724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87552" y="3154680"/>
            <a:ext cx="2560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1444752" y="3099816"/>
            <a:ext cx="3621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pyproject.toml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987552" y="362102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87552" y="3648456"/>
            <a:ext cx="2560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1444752" y="3593592"/>
            <a:ext cx="3621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uv.lock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987552" y="411480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87552" y="4142232"/>
            <a:ext cx="2560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1444752" y="4087368"/>
            <a:ext cx="3621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.python-version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987552" y="4608576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87552" y="4636008"/>
            <a:ext cx="2560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1444752" y="4581144"/>
            <a:ext cx="3621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código fuente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6967728" y="3182112"/>
            <a:ext cx="4041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620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.venv/</a:t>
            </a:r>
            <a:endParaRPr lang="en-US" sz="2800" dirty="0"/>
          </a:p>
        </p:txBody>
      </p:sp>
      <p:sp>
        <p:nvSpPr>
          <p:cNvPr id="28" name="Text 25"/>
          <p:cNvSpPr txBox="1"/>
          <p:nvPr/>
        </p:nvSpPr>
        <p:spPr>
          <a:xfrm>
            <a:off x="7040880" y="3913632"/>
            <a:ext cx="38953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contiene rutas y ejecutables locales</a:t>
            </a:r>
            <a:endParaRPr lang="en-US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7040880" y="4608576"/>
            <a:ext cx="3895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uv la vuelve a crear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658368" y="5705856"/>
            <a:ext cx="10863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Receta + ingredientes exactos → sí. Cocina completa → no.</a:t>
            </a:r>
            <a:endParaRPr lang="en-US" sz="2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0" y="313312"/>
            <a:ext cx="1298448" cy="452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PUNTO DE CONTROL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86384"/>
            <a:ext cx="8869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Detenerse también es parte del trabajo</a:t>
            </a:r>
            <a:endParaRPr lang="en-US" sz="31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490472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avanzamos hasta poder mostrar y explicar estas tres evidencias.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58368" y="2249424"/>
            <a:ext cx="5961888" cy="2523744"/>
          </a:xfrm>
          <a:prstGeom prst="roundRect">
            <a:avLst>
              <a:gd name="adj" fmla="val 1449"/>
            </a:avLst>
          </a:prstGeom>
          <a:solidFill>
            <a:srgbClr val="0F1720"/>
          </a:solidFill>
          <a:ln w="12700">
            <a:solidFill>
              <a:srgbClr val="0F172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86384" y="2359152"/>
            <a:ext cx="5705856" cy="310896"/>
          </a:xfrm>
          <a:prstGeom prst="roundRect">
            <a:avLst>
              <a:gd name="adj" fmla="val 8824"/>
            </a:avLst>
          </a:prstGeom>
          <a:solidFill>
            <a:srgbClr val="1E2937"/>
          </a:solidFill>
          <a:ln w="12700">
            <a:solidFill>
              <a:srgbClr val="1E293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2432304"/>
            <a:ext cx="54498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PowerShell · comprobación del bloque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77824" y="281635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BC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188720" y="2816352"/>
            <a:ext cx="5212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run main.py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77824" y="3072384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BC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188720" y="3072384"/>
            <a:ext cx="5212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Get-Content pyproject.toml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877824" y="3328416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BC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188720" y="3328416"/>
            <a:ext cx="5212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Get-ChildItem -Force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7040880" y="2322576"/>
            <a:ext cx="420624" cy="420624"/>
          </a:xfrm>
          <a:prstGeom prst="ellipse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040880" y="23225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368296"/>
            <a:ext cx="3401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main.py se ejecuta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7040880" y="3108960"/>
            <a:ext cx="420624" cy="420624"/>
          </a:xfrm>
          <a:prstGeom prst="ellipse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040880" y="31089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7699248" y="3154680"/>
            <a:ext cx="3401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tres herramientas están declaradas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7040880" y="3895344"/>
            <a:ext cx="420624" cy="420624"/>
          </a:xfrm>
          <a:prstGeom prst="ellipse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040880" y="38953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7699248" y="3941064"/>
            <a:ext cx="3401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uv.lock y .venv existen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7040880" y="4681728"/>
            <a:ext cx="420624" cy="420624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040880" y="46817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7699248" y="4727448"/>
            <a:ext cx="3401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puedo explicar cuál se comparte</a:t>
            </a:r>
            <a:endParaRPr lang="en-US" sz="1700" dirty="0"/>
          </a:p>
        </p:txBody>
      </p:sp>
      <p:sp>
        <p:nvSpPr>
          <p:cNvPr id="32" name="Shape 29"/>
          <p:cNvSpPr/>
          <p:nvPr/>
        </p:nvSpPr>
        <p:spPr>
          <a:xfrm>
            <a:off x="658368" y="5340096"/>
            <a:ext cx="10863072" cy="566928"/>
          </a:xfrm>
          <a:prstGeom prst="roundRect">
            <a:avLst>
              <a:gd name="adj" fmla="val 8065"/>
            </a:avLst>
          </a:prstGeom>
          <a:solidFill>
            <a:srgbClr val="FBF3DE"/>
          </a:solidFill>
          <a:ln w="12700">
            <a:solidFill>
              <a:srgbClr val="FBF3D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14400" y="5513832"/>
            <a:ext cx="10351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algo falla: conservar el mensaje, identificar el comando y corregir sin borrar el proyecto.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0" y="313312"/>
            <a:ext cx="1298448" cy="452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19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PREGUNTAS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86384"/>
            <a:ext cx="8869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Tres preguntas para llevarse</a:t>
            </a:r>
            <a:endParaRPr lang="en-US" sz="31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490472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pista orienta; la respuesta todavía la construyes tú.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58368" y="2267712"/>
            <a:ext cx="475488" cy="475488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8368" y="22677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371600" y="2249424"/>
            <a:ext cx="9966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necesitamos uv.lock si pyproject.toml ya enumera dependencias?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1371600" y="2980944"/>
            <a:ext cx="9966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PISTA → distingue lo permitido de la versión concreta resuelta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658368" y="3456432"/>
            <a:ext cx="475488" cy="475488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8368" y="3456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371600" y="3438144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no conviene compartir la carpeta .venv?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1371600" y="3895344"/>
            <a:ext cx="9966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PISTA → piensa en rutas, ejecutables y sistema operativo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658368" y="4645152"/>
            <a:ext cx="475488" cy="475488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58368" y="46451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371600" y="4626864"/>
            <a:ext cx="9966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uv run main.py termina bien, ¿ya demostramos que nota_final() calcula correctamente?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1371600" y="5358384"/>
            <a:ext cx="9966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PISTA → separa condiciones de ejecución y comportamiento</a:t>
            </a:r>
            <a:endParaRPr lang="en-US" sz="14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0" y="313516"/>
            <a:ext cx="1298448" cy="4519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74980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8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 CLAVE · BLOQUE 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1517904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Controlamos dónde</a:t>
            </a:r>
            <a:endParaRPr lang="en-US" sz="39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2267712"/>
            <a:ext cx="71323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 con qué se ejecuta</a:t>
            </a:r>
            <a:endParaRPr lang="en-US" sz="390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3364992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Todavía no hemos demostrado que el comportamiento sea correcto.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8174736" y="1408176"/>
            <a:ext cx="1280160" cy="1097280"/>
          </a:xfrm>
          <a:prstGeom prst="roundRect">
            <a:avLst>
              <a:gd name="adj" fmla="val 666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13" name="Image 1" descr="C:\Users\Diego Obando\dev\pro402-taller-de-testing-2026\clases\semana-01\02\ppt\source\assets\tools\uv-mark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573414" y="1554480"/>
            <a:ext cx="482803" cy="482803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8266176" y="2185416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uv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9656064" y="1408176"/>
            <a:ext cx="1280160" cy="1097280"/>
          </a:xfrm>
          <a:prstGeom prst="roundRect">
            <a:avLst>
              <a:gd name="adj" fmla="val 666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16" name="Image 2" descr="C:\Users\Diego Obando\dev\pro402-taller-de-testing-2026\clases\semana-01\02\ppt\source\assets\tools\ruff-mark.sv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98593" y="1554480"/>
            <a:ext cx="395101" cy="48280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747504" y="2185416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ruff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8174736" y="2852928"/>
            <a:ext cx="1280160" cy="1097280"/>
          </a:xfrm>
          <a:prstGeom prst="roundRect">
            <a:avLst>
              <a:gd name="adj" fmla="val 666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19" name="Image 3" descr="C:\Users\Diego Obando\dev\pro402-taller-de-testing-2026\clases\semana-01\02\ppt\source\assets\tools\pyrefly-mark-invert.sv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509162" y="2999232"/>
            <a:ext cx="611308" cy="482803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266176" y="363016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Pyrefly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9656064" y="2852928"/>
            <a:ext cx="128016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pic>
        <p:nvPicPr>
          <p:cNvPr id="22" name="Image 4" descr="C:\Users\Diego Obando\dev\pro402-taller-de-testing-2026\clases\semana-01\02\ppt\source\assets\tools\pytest-logo.sv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994392" y="2926080"/>
            <a:ext cx="603504" cy="60350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747504" y="363016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pytest</a:t>
            </a:r>
            <a:endParaRPr lang="en-US" sz="1300" dirty="0"/>
          </a:p>
        </p:txBody>
      </p:sp>
      <p:sp>
        <p:nvSpPr>
          <p:cNvPr id="24" name="Shape 17"/>
          <p:cNvSpPr/>
          <p:nvPr/>
        </p:nvSpPr>
        <p:spPr>
          <a:xfrm>
            <a:off x="658368" y="4645152"/>
            <a:ext cx="10863072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969264" y="4919472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SIGUE → cuatro herramientas, cuatro preguntas distintas</a:t>
            </a:r>
            <a:endParaRPr lang="en-US" sz="1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0" y="313516"/>
            <a:ext cx="1298448" cy="4519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74980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8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25 MINUTOS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1426464"/>
            <a:ext cx="7772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Cuatro capas,</a:t>
            </a:r>
            <a:endParaRPr lang="en-US" sz="42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2212848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evidencias distintas</a:t>
            </a:r>
            <a:endParaRPr lang="en-US" sz="420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321868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mismo color verde no significa la misma afirmación.</a:t>
            </a:r>
            <a:endParaRPr lang="en-US" sz="1900" dirty="0"/>
          </a:p>
        </p:txBody>
      </p:sp>
      <p:sp>
        <p:nvSpPr>
          <p:cNvPr id="12" name="Shape 9"/>
          <p:cNvSpPr/>
          <p:nvPr/>
        </p:nvSpPr>
        <p:spPr>
          <a:xfrm>
            <a:off x="658368" y="4151376"/>
            <a:ext cx="2395728" cy="1261872"/>
          </a:xfrm>
          <a:prstGeom prst="roundRect">
            <a:avLst>
              <a:gd name="adj" fmla="val 579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13" name="Image 1" descr="C:\Users\Diego Obando\dev\pro402-taller-de-testing-2026\clases\semana-01\02\ppt\source\assets\tools\uv-mark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78620" y="4297680"/>
            <a:ext cx="555224" cy="55522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49808" y="5093208"/>
            <a:ext cx="22128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uv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658368" y="5559552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ENTORNO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3419856" y="4151376"/>
            <a:ext cx="2395728" cy="1261872"/>
          </a:xfrm>
          <a:prstGeom prst="roundRect">
            <a:avLst>
              <a:gd name="adj" fmla="val 579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17" name="Image 2" descr="C:\Users\Diego Obando\dev\pro402-taller-de-testing-2026\clases\semana-01\02\ppt\source\assets\tools\ruff-mark.sv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90537" y="4297680"/>
            <a:ext cx="454367" cy="55522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3511296" y="5093208"/>
            <a:ext cx="22128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ruff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3419856" y="5559552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CÓDIGO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6181344" y="4151376"/>
            <a:ext cx="2395728" cy="1261872"/>
          </a:xfrm>
          <a:prstGeom prst="roundRect">
            <a:avLst>
              <a:gd name="adj" fmla="val 579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21" name="Image 3" descr="C:\Users\Diego Obando\dev\pro402-taller-de-testing-2026\clases\semana-01\02\ppt\source\assets\tools\pyrefly-mark-invert.sv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027706" y="4297680"/>
            <a:ext cx="703005" cy="55522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272784" y="5093208"/>
            <a:ext cx="22128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Pyrefly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6181344" y="5559552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CONTRATOS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8942832" y="4151376"/>
            <a:ext cx="2395728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pic>
        <p:nvPicPr>
          <p:cNvPr id="25" name="Image 4" descr="C:\Users\Diego Obando\dev\pro402-taller-de-testing-2026\clases\semana-01\02\ppt\source\assets\tools\pytest-logo.sv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93681" y="4224528"/>
            <a:ext cx="694030" cy="69403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034272" y="5093208"/>
            <a:ext cx="22128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pytest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8942832" y="5559552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COMPORTAMIENTO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0" y="313312"/>
            <a:ext cx="1298448" cy="452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22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2.1 · PRINCIPIO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86384"/>
            <a:ext cx="8869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Verde siempre necesita apellido</a:t>
            </a:r>
            <a:endParaRPr lang="en-US" sz="31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490472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control permite una conclusión distinta y limitada.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2267712"/>
            <a:ext cx="43891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3FAE6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VERDE</a:t>
            </a:r>
            <a:endParaRPr lang="en-US" sz="4800" dirty="0"/>
          </a:p>
        </p:txBody>
      </p:sp>
      <p:sp>
        <p:nvSpPr>
          <p:cNvPr id="12" name="Text 9"/>
          <p:cNvSpPr txBox="1"/>
          <p:nvPr/>
        </p:nvSpPr>
        <p:spPr>
          <a:xfrm>
            <a:off x="658368" y="3127248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significa</a:t>
            </a:r>
            <a:endParaRPr lang="en-US" sz="2300" dirty="0"/>
          </a:p>
        </p:txBody>
      </p:sp>
      <p:sp>
        <p:nvSpPr>
          <p:cNvPr id="13" name="Text 10"/>
          <p:cNvSpPr txBox="1"/>
          <p:nvPr/>
        </p:nvSpPr>
        <p:spPr>
          <a:xfrm>
            <a:off x="658368" y="3694176"/>
            <a:ext cx="4736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«todo está correcto»</a:t>
            </a:r>
            <a:endParaRPr lang="en-US" sz="2900" dirty="0"/>
          </a:p>
        </p:txBody>
      </p:sp>
      <p:sp>
        <p:nvSpPr>
          <p:cNvPr id="14" name="Shape 11"/>
          <p:cNvSpPr/>
          <p:nvPr/>
        </p:nvSpPr>
        <p:spPr>
          <a:xfrm>
            <a:off x="658368" y="4608576"/>
            <a:ext cx="4425696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none"/>
            <a:tailEnd type="none"/>
          </a:ln>
        </p:spPr>
      </p:sp>
      <p:sp>
        <p:nvSpPr>
          <p:cNvPr id="15" name="Text 12"/>
          <p:cNvSpPr txBox="1"/>
          <p:nvPr/>
        </p:nvSpPr>
        <p:spPr>
          <a:xfrm>
            <a:off x="658368" y="4882896"/>
            <a:ext cx="4590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conclusión debe nombrar qué observó realmente la herramienta.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797296" y="2176272"/>
            <a:ext cx="5742432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998464" y="2304288"/>
            <a:ext cx="987552" cy="438912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998464" y="2432304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uv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7242048" y="2377440"/>
            <a:ext cx="3986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entorno está sincronizado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797296" y="3035808"/>
            <a:ext cx="5742432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998464" y="3163824"/>
            <a:ext cx="987552" cy="438912"/>
          </a:xfrm>
          <a:prstGeom prst="roundRect">
            <a:avLst>
              <a:gd name="adj" fmla="val 50000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998464" y="3291840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Ruff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7242048" y="3236976"/>
            <a:ext cx="3986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encontró infracciones activas</a:t>
            </a:r>
            <a:endParaRPr lang="en-US" sz="1550" dirty="0"/>
          </a:p>
        </p:txBody>
      </p:sp>
      <p:sp>
        <p:nvSpPr>
          <p:cNvPr id="24" name="Shape 21"/>
          <p:cNvSpPr/>
          <p:nvPr/>
        </p:nvSpPr>
        <p:spPr>
          <a:xfrm>
            <a:off x="5797296" y="3895344"/>
            <a:ext cx="5742432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998464" y="4023360"/>
            <a:ext cx="987552" cy="438912"/>
          </a:xfrm>
          <a:prstGeom prst="roundRect">
            <a:avLst>
              <a:gd name="adj" fmla="val 50000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998464" y="4151376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Pyrefly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7242048" y="4096512"/>
            <a:ext cx="3986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encontró contradicciones de tipos</a:t>
            </a:r>
            <a:endParaRPr lang="en-US" sz="1550" dirty="0"/>
          </a:p>
        </p:txBody>
      </p:sp>
      <p:sp>
        <p:nvSpPr>
          <p:cNvPr id="28" name="Shape 25"/>
          <p:cNvSpPr/>
          <p:nvPr/>
        </p:nvSpPr>
        <p:spPr>
          <a:xfrm>
            <a:off x="5797296" y="4754880"/>
            <a:ext cx="5742432" cy="694944"/>
          </a:xfrm>
          <a:prstGeom prst="roundRect">
            <a:avLst>
              <a:gd name="adj" fmla="val 7895"/>
            </a:avLst>
          </a:prstGeom>
          <a:solidFill>
            <a:srgbClr val="E9F6EE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998464" y="4882896"/>
            <a:ext cx="987552" cy="438912"/>
          </a:xfrm>
          <a:prstGeom prst="roundRect">
            <a:avLst>
              <a:gd name="adj" fmla="val 50000"/>
            </a:avLst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998464" y="501091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pytest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7242048" y="4956048"/>
            <a:ext cx="3986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los casos ejecutados cumplieron su expectativa</a:t>
            </a:r>
            <a:endParaRPr lang="en-US" sz="15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0" y="313516"/>
            <a:ext cx="1298448" cy="4519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23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2.1 · MAPA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86384"/>
            <a:ext cx="8869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cadena de preguntas</a:t>
            </a:r>
            <a:endParaRPr lang="en-US" sz="31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490472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herramienta en verde no cancela la necesidad de la siguiente.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58368" y="2231136"/>
            <a:ext cx="2395728" cy="2889504"/>
          </a:xfrm>
          <a:prstGeom prst="roundRect">
            <a:avLst>
              <a:gd name="adj" fmla="val 3053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42416" y="2487168"/>
            <a:ext cx="1627632" cy="1078992"/>
          </a:xfrm>
          <a:prstGeom prst="roundRect">
            <a:avLst>
              <a:gd name="adj" fmla="val 678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13" name="Image 1" descr="C:\Users\Diego Obando\dev\pro402-taller-de-testing-2026\clases\semana-01\02\ppt\source\assets\tools\uv-mark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18854" y="2633472"/>
            <a:ext cx="474756" cy="47475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133856" y="3246120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uv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859536" y="3785616"/>
            <a:ext cx="19933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ENTORNO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932688" y="4187952"/>
            <a:ext cx="18470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¿se reproduce?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3118104" y="3401568"/>
            <a:ext cx="237744" cy="42062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3419856" y="2231136"/>
            <a:ext cx="2395728" cy="2889504"/>
          </a:xfrm>
          <a:prstGeom prst="roundRect">
            <a:avLst>
              <a:gd name="adj" fmla="val 3053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3803904" y="2487168"/>
            <a:ext cx="1627632" cy="1078992"/>
          </a:xfrm>
          <a:prstGeom prst="roundRect">
            <a:avLst>
              <a:gd name="adj" fmla="val 678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20" name="Image 2" descr="C:\Users\Diego Obando\dev\pro402-taller-de-testing-2026\clases\semana-01\02\ppt\source\assets\tools\ruff-mark.sv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23462" y="2633472"/>
            <a:ext cx="388516" cy="474756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3895344" y="3246120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ruff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621024" y="3785616"/>
            <a:ext cx="19933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CÓDIGO</a:t>
            </a:r>
            <a:endParaRPr lang="en-US" sz="1050" dirty="0"/>
          </a:p>
        </p:txBody>
      </p:sp>
      <p:sp>
        <p:nvSpPr>
          <p:cNvPr id="23" name="Text 18"/>
          <p:cNvSpPr txBox="1"/>
          <p:nvPr/>
        </p:nvSpPr>
        <p:spPr>
          <a:xfrm>
            <a:off x="3694176" y="4187952"/>
            <a:ext cx="18470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¿hay señales de problema?</a:t>
            </a:r>
            <a:endParaRPr lang="en-US" sz="1700" dirty="0"/>
          </a:p>
        </p:txBody>
      </p:sp>
      <p:sp>
        <p:nvSpPr>
          <p:cNvPr id="24" name="Shape 19"/>
          <p:cNvSpPr/>
          <p:nvPr/>
        </p:nvSpPr>
        <p:spPr>
          <a:xfrm>
            <a:off x="5879592" y="3401568"/>
            <a:ext cx="237744" cy="42062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6181344" y="2231136"/>
            <a:ext cx="2395728" cy="2889504"/>
          </a:xfrm>
          <a:prstGeom prst="roundRect">
            <a:avLst>
              <a:gd name="adj" fmla="val 3053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6565392" y="2487168"/>
            <a:ext cx="1627632" cy="1078992"/>
          </a:xfrm>
          <a:prstGeom prst="roundRect">
            <a:avLst>
              <a:gd name="adj" fmla="val 678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27" name="Image 3" descr="C:\Users\Diego Obando\dev\pro402-taller-de-testing-2026\clases\semana-01\02\ppt\source\assets\tools\pyrefly-mark-invert.sv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078648" y="2633472"/>
            <a:ext cx="601120" cy="474756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6656832" y="3246120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Pyrefly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6382512" y="3785616"/>
            <a:ext cx="19933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CONTRATOS</a:t>
            </a:r>
            <a:endParaRPr lang="en-US" sz="1050" dirty="0"/>
          </a:p>
        </p:txBody>
      </p:sp>
      <p:sp>
        <p:nvSpPr>
          <p:cNvPr id="30" name="Text 24"/>
          <p:cNvSpPr txBox="1"/>
          <p:nvPr/>
        </p:nvSpPr>
        <p:spPr>
          <a:xfrm>
            <a:off x="6455664" y="4187952"/>
            <a:ext cx="18470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¿los tipos son coherentes?</a:t>
            </a:r>
            <a:endParaRPr lang="en-US" sz="1700" dirty="0"/>
          </a:p>
        </p:txBody>
      </p:sp>
      <p:sp>
        <p:nvSpPr>
          <p:cNvPr id="31" name="Shape 25"/>
          <p:cNvSpPr/>
          <p:nvPr/>
        </p:nvSpPr>
        <p:spPr>
          <a:xfrm>
            <a:off x="8641080" y="3401568"/>
            <a:ext cx="237744" cy="42062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8942832" y="2231136"/>
            <a:ext cx="2395728" cy="2889504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9326880" y="2487168"/>
            <a:ext cx="1627632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pic>
        <p:nvPicPr>
          <p:cNvPr id="34" name="Image 4" descr="C:\Users\Diego Obando\dev\pro402-taller-de-testing-2026\clases\semana-01\02\ppt\source\assets\tools\pytest-logo.sv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843973" y="2560320"/>
            <a:ext cx="593446" cy="593446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9418320" y="3246120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pytest</a:t>
            </a:r>
            <a:endParaRPr lang="en-US" sz="1300" dirty="0"/>
          </a:p>
        </p:txBody>
      </p:sp>
      <p:sp>
        <p:nvSpPr>
          <p:cNvPr id="36" name="Text 29"/>
          <p:cNvSpPr txBox="1"/>
          <p:nvPr/>
        </p:nvSpPr>
        <p:spPr>
          <a:xfrm>
            <a:off x="9144000" y="3785616"/>
            <a:ext cx="19933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COMPORTAMIENTO</a:t>
            </a:r>
            <a:endParaRPr lang="en-US" sz="1050" dirty="0"/>
          </a:p>
        </p:txBody>
      </p:sp>
      <p:sp>
        <p:nvSpPr>
          <p:cNvPr id="37" name="Text 30"/>
          <p:cNvSpPr txBox="1"/>
          <p:nvPr/>
        </p:nvSpPr>
        <p:spPr>
          <a:xfrm>
            <a:off x="9217152" y="4187952"/>
            <a:ext cx="18470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¿hace lo esperado?</a:t>
            </a:r>
            <a:endParaRPr lang="en-US" sz="1700" dirty="0"/>
          </a:p>
        </p:txBody>
      </p:sp>
      <p:sp>
        <p:nvSpPr>
          <p:cNvPr id="38" name="Shape 31"/>
          <p:cNvSpPr/>
          <p:nvPr/>
        </p:nvSpPr>
        <p:spPr>
          <a:xfrm>
            <a:off x="658368" y="5504688"/>
            <a:ext cx="10863072" cy="530352"/>
          </a:xfrm>
          <a:prstGeom prst="roundRect">
            <a:avLst>
              <a:gd name="adj" fmla="val 6897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914400" y="5669280"/>
            <a:ext cx="10351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capa agrega evidencia; ninguna obtiene permiso para prometer más de lo que observó.</a:t>
            </a:r>
            <a:endParaRPr lang="en-US" sz="14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0" y="313312"/>
            <a:ext cx="1298448" cy="452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24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2.2 · PREPARAR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86384"/>
            <a:ext cx="8869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Dos problemas viven en capas distintas</a:t>
            </a:r>
            <a:endParaRPr lang="en-US" sz="31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490472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Leemos el archivo antes de pedirle una respuesta a las herramientas.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58368" y="2139696"/>
            <a:ext cx="6547104" cy="3621024"/>
          </a:xfrm>
          <a:prstGeom prst="roundRect">
            <a:avLst>
              <a:gd name="adj" fmla="val 101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86384" y="2249424"/>
            <a:ext cx="629107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96112" y="2322576"/>
            <a:ext cx="60716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notas.py · versión deliberadamente defectuosa</a:t>
            </a:r>
            <a:endParaRPr lang="en-US" sz="10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7824" y="2706624"/>
            <a:ext cx="6126480" cy="2871216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7882128" y="2139696"/>
            <a:ext cx="3438144" cy="3621024"/>
          </a:xfrm>
          <a:prstGeom prst="roundRect">
            <a:avLst>
              <a:gd name="adj" fmla="val 186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119872" y="2377440"/>
            <a:ext cx="73152" cy="25603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339328" y="23957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DOS SEÑALES, DOS CAPAS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672084" y="2713551"/>
            <a:ext cx="219456" cy="21945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72084" y="2713551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840" dirty="0"/>
          </a:p>
        </p:txBody>
      </p:sp>
      <p:sp>
        <p:nvSpPr>
          <p:cNvPr id="20" name="Shape 16"/>
          <p:cNvSpPr/>
          <p:nvPr/>
        </p:nvSpPr>
        <p:spPr>
          <a:xfrm>
            <a:off x="8119872" y="2944368"/>
            <a:ext cx="292608" cy="292608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8119872" y="29443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20" dirty="0"/>
          </a:p>
        </p:txBody>
      </p:sp>
      <p:sp>
        <p:nvSpPr>
          <p:cNvPr id="22" name="Text 18"/>
          <p:cNvSpPr/>
          <p:nvPr/>
        </p:nvSpPr>
        <p:spPr>
          <a:xfrm>
            <a:off x="8522208" y="2990088"/>
            <a:ext cx="2542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L1 · SEÑAL ESTRUCTURAL</a:t>
            </a:r>
            <a:endParaRPr lang="en-US" sz="880" dirty="0"/>
          </a:p>
        </p:txBody>
      </p:sp>
      <p:sp>
        <p:nvSpPr>
          <p:cNvPr id="23" name="Text 19"/>
          <p:cNvSpPr/>
          <p:nvPr/>
        </p:nvSpPr>
        <p:spPr>
          <a:xfrm>
            <a:off x="8119872" y="3328416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Importación sin uso</a:t>
            </a:r>
            <a:endParaRPr lang="en-US" sz="1650" dirty="0"/>
          </a:p>
        </p:txBody>
      </p:sp>
      <p:sp>
        <p:nvSpPr>
          <p:cNvPr id="24" name="Text 20"/>
          <p:cNvSpPr/>
          <p:nvPr/>
        </p:nvSpPr>
        <p:spPr>
          <a:xfrm>
            <a:off x="8119872" y="3730752"/>
            <a:ext cx="296265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math está presente, pero ninguna línea del archivo lo necesita.</a:t>
            </a:r>
            <a:endParaRPr lang="en-US" sz="1280" dirty="0"/>
          </a:p>
        </p:txBody>
      </p:sp>
      <p:sp>
        <p:nvSpPr>
          <p:cNvPr id="25" name="Shape 21"/>
          <p:cNvSpPr/>
          <p:nvPr/>
        </p:nvSpPr>
        <p:spPr>
          <a:xfrm>
            <a:off x="672084" y="3793686"/>
            <a:ext cx="219456" cy="21945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72084" y="379368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840" dirty="0"/>
          </a:p>
        </p:txBody>
      </p:sp>
      <p:sp>
        <p:nvSpPr>
          <p:cNvPr id="27" name="Shape 23"/>
          <p:cNvSpPr/>
          <p:nvPr/>
        </p:nvSpPr>
        <p:spPr>
          <a:xfrm>
            <a:off x="8119872" y="4197096"/>
            <a:ext cx="2962656" cy="0"/>
          </a:xfrm>
          <a:prstGeom prst="line">
            <a:avLst/>
          </a:prstGeom>
          <a:noFill/>
          <a:ln w="12700">
            <a:solidFill>
              <a:srgbClr val="284B75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8119872" y="4343400"/>
            <a:ext cx="292608" cy="292608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8119872" y="43434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20" dirty="0"/>
          </a:p>
        </p:txBody>
      </p:sp>
      <p:sp>
        <p:nvSpPr>
          <p:cNvPr id="30" name="Text 26"/>
          <p:cNvSpPr/>
          <p:nvPr/>
        </p:nvSpPr>
        <p:spPr>
          <a:xfrm>
            <a:off x="8522208" y="4389120"/>
            <a:ext cx="2542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8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L6 · CONTRATO DE TIPOS</a:t>
            </a:r>
            <a:endParaRPr lang="en-US" sz="880" dirty="0"/>
          </a:p>
        </p:txBody>
      </p:sp>
      <p:sp>
        <p:nvSpPr>
          <p:cNvPr id="31" name="Text 27"/>
          <p:cNvSpPr/>
          <p:nvPr/>
        </p:nvSpPr>
        <p:spPr>
          <a:xfrm>
            <a:off x="8119872" y="4727448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Anotación contradictoria</a:t>
            </a:r>
            <a:endParaRPr lang="en-US" sz="1600" dirty="0"/>
          </a:p>
        </p:txBody>
      </p:sp>
      <p:sp>
        <p:nvSpPr>
          <p:cNvPr id="32" name="Text 28"/>
          <p:cNvSpPr/>
          <p:nvPr/>
        </p:nvSpPr>
        <p:spPr>
          <a:xfrm>
            <a:off x="8119872" y="5129784"/>
            <a:ext cx="296265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división produce un número; promedio declara str.</a:t>
            </a:r>
            <a:endParaRPr lang="en-US" sz="128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0" y="313312"/>
            <a:ext cx="1298448" cy="452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25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2.2 · ANTES DE EJECUTAR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86384"/>
            <a:ext cx="8869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Primero formulamos una hipótesis</a:t>
            </a:r>
            <a:endParaRPr lang="en-US" sz="31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490472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buscamos adivinar el mensaje exacto; buscamos saber qué evidencia esperamos.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58368" y="2212848"/>
            <a:ext cx="5212080" cy="2468880"/>
          </a:xfrm>
          <a:prstGeom prst="roundRect">
            <a:avLst>
              <a:gd name="adj" fmla="val 296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32688" y="2487168"/>
            <a:ext cx="585216" cy="58521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32688" y="248716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1773936" y="2468880"/>
            <a:ext cx="37307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línea parece innecesaria?</a:t>
            </a:r>
            <a:endParaRPr lang="en-US" sz="2300" dirty="0"/>
          </a:p>
        </p:txBody>
      </p:sp>
      <p:sp>
        <p:nvSpPr>
          <p:cNvPr id="15" name="Text 12"/>
          <p:cNvSpPr txBox="1"/>
          <p:nvPr/>
        </p:nvSpPr>
        <p:spPr>
          <a:xfrm>
            <a:off x="969264" y="3438144"/>
            <a:ext cx="4535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Busca algo presente en el archivo que no participa en ningún cálculo.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6291072" y="2212848"/>
            <a:ext cx="5212080" cy="2468880"/>
          </a:xfrm>
          <a:prstGeom prst="roundRect">
            <a:avLst>
              <a:gd name="adj" fmla="val 2963"/>
            </a:avLst>
          </a:prstGeom>
          <a:solidFill>
            <a:srgbClr val="FBF3DE"/>
          </a:solidFill>
          <a:ln w="12700">
            <a:solidFill>
              <a:srgbClr val="FBF3D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565392" y="2487168"/>
            <a:ext cx="585216" cy="58521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65392" y="248716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7406640" y="2468880"/>
            <a:ext cx="37307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afirmación contradice el valor real?</a:t>
            </a:r>
            <a:endParaRPr lang="en-US" sz="2300" dirty="0"/>
          </a:p>
        </p:txBody>
      </p:sp>
      <p:sp>
        <p:nvSpPr>
          <p:cNvPr id="20" name="Text 17"/>
          <p:cNvSpPr txBox="1"/>
          <p:nvPr/>
        </p:nvSpPr>
        <p:spPr>
          <a:xfrm>
            <a:off x="6601968" y="3438144"/>
            <a:ext cx="4535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Compara el tipo declarado de promedio con el resultado de una división.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658368" y="5084064"/>
            <a:ext cx="10844784" cy="841248"/>
          </a:xfrm>
          <a:prstGeom prst="roundRect">
            <a:avLst>
              <a:gd name="adj" fmla="val 652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243584" y="537667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HIPÓTESIS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3346704" y="5266944"/>
            <a:ext cx="658368" cy="42062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187952" y="537667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6291072" y="5266944"/>
            <a:ext cx="658368" cy="42062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150608" y="537667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EVIDENCIA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9290304" y="5394960"/>
            <a:ext cx="1536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 decisión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0" y="313516"/>
            <a:ext cx="1298448" cy="4519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26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786384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8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PRIMERA CAPA ESTÁTICA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1591056"/>
            <a:ext cx="71323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Ruff busca</a:t>
            </a:r>
            <a:endParaRPr lang="en-US" sz="41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2359152"/>
            <a:ext cx="7406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1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señales de código</a:t>
            </a:r>
            <a:endParaRPr lang="en-US" sz="410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3383280"/>
            <a:ext cx="70774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necesita ejecutar nota_final() para descubrir una importación innecesaria.</a:t>
            </a:r>
            <a:endParaRPr lang="en-US" sz="1900" dirty="0"/>
          </a:p>
        </p:txBody>
      </p:sp>
      <p:sp>
        <p:nvSpPr>
          <p:cNvPr id="12" name="Shape 9"/>
          <p:cNvSpPr/>
          <p:nvPr/>
        </p:nvSpPr>
        <p:spPr>
          <a:xfrm>
            <a:off x="658368" y="4608576"/>
            <a:ext cx="6967728" cy="786384"/>
          </a:xfrm>
          <a:prstGeom prst="roundRect">
            <a:avLst>
              <a:gd name="adj" fmla="val 6977"/>
            </a:avLst>
          </a:prstGeom>
          <a:solidFill>
            <a:srgbClr val="0F1720"/>
          </a:solidFill>
          <a:ln w="12700">
            <a:solidFill>
              <a:srgbClr val="0F17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87552" y="4855464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0BC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 uv run ruff check .</a:t>
            </a:r>
            <a:endParaRPr lang="en-US" sz="1800" dirty="0"/>
          </a:p>
        </p:txBody>
      </p:sp>
      <p:pic>
        <p:nvPicPr>
          <p:cNvPr id="14" name="Image 1" descr="C:\Users\Diego Obando\dev\pro402-taller-de-testing-2026\clases\semana-01\02\ppt\source\assets\tools\ruff-mark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94192" y="1470462"/>
            <a:ext cx="2487168" cy="303925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8540496" y="471830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LINTER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0" y="313312"/>
            <a:ext cx="1298448" cy="452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27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2.3 · EJECUTAR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86384"/>
            <a:ext cx="8869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Ruff entrega un hallazgo localizado</a:t>
            </a:r>
            <a:endParaRPr lang="en-US" sz="31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490472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Leemos la salida antes de tocar el archivo.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58368" y="2157984"/>
            <a:ext cx="7333488" cy="3236976"/>
          </a:xfrm>
          <a:prstGeom prst="roundRect">
            <a:avLst>
              <a:gd name="adj" fmla="val 1130"/>
            </a:avLst>
          </a:prstGeom>
          <a:solidFill>
            <a:srgbClr val="0F1720"/>
          </a:solidFill>
          <a:ln w="12700">
            <a:solidFill>
              <a:srgbClr val="0F172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86384" y="2267712"/>
            <a:ext cx="7077456" cy="310896"/>
          </a:xfrm>
          <a:prstGeom prst="roundRect">
            <a:avLst>
              <a:gd name="adj" fmla="val 8824"/>
            </a:avLst>
          </a:prstGeom>
          <a:solidFill>
            <a:srgbClr val="1E2937"/>
          </a:solidFill>
          <a:ln w="12700">
            <a:solidFill>
              <a:srgbClr val="1E293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2340864"/>
            <a:ext cx="68214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PowerShell · evidencia de Ruff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77824" y="272491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0BC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1188720" y="2724912"/>
            <a:ext cx="6583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run ruff check .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877824" y="2980944"/>
            <a:ext cx="6583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notas.py:1:8: F401 `math` imported but unused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877824" y="3236976"/>
            <a:ext cx="6583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Found 1 error.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8302752" y="2286000"/>
            <a:ext cx="3236976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467344" y="2487168"/>
            <a:ext cx="438912" cy="438912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467344" y="24871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9107424" y="2432304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UBICACIÓN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9107424" y="2706624"/>
            <a:ext cx="2084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notas.py · línea 1 · columna 8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8302752" y="3328416"/>
            <a:ext cx="3236976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467344" y="3529584"/>
            <a:ext cx="438912" cy="438912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467344" y="35295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9107424" y="347472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REGLA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9107424" y="3749040"/>
            <a:ext cx="2084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F401 identifica la categoría</a:t>
            </a:r>
            <a:endParaRPr lang="en-US" sz="1350" dirty="0"/>
          </a:p>
        </p:txBody>
      </p:sp>
      <p:sp>
        <p:nvSpPr>
          <p:cNvPr id="28" name="Shape 25"/>
          <p:cNvSpPr/>
          <p:nvPr/>
        </p:nvSpPr>
        <p:spPr>
          <a:xfrm>
            <a:off x="8302752" y="4370832"/>
            <a:ext cx="3236976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467344" y="4572000"/>
            <a:ext cx="438912" cy="438912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467344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9107424" y="4517136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MENSAJE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9107424" y="4791456"/>
            <a:ext cx="2084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math fue importado, pero no usado</a:t>
            </a:r>
            <a:endParaRPr lang="en-US" sz="1350" dirty="0"/>
          </a:p>
        </p:txBody>
      </p:sp>
      <p:sp>
        <p:nvSpPr>
          <p:cNvPr id="33" name="Shape 30"/>
          <p:cNvSpPr/>
          <p:nvPr/>
        </p:nvSpPr>
        <p:spPr>
          <a:xfrm>
            <a:off x="658368" y="5650992"/>
            <a:ext cx="10863072" cy="438912"/>
          </a:xfrm>
          <a:prstGeom prst="roundRect">
            <a:avLst>
              <a:gd name="adj" fmla="val 8333"/>
            </a:avLst>
          </a:prstGeom>
          <a:solidFill>
            <a:srgbClr val="FBF3DE"/>
          </a:solidFill>
          <a:ln w="12700">
            <a:solidFill>
              <a:srgbClr val="FBF3DE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32688" y="5788152"/>
            <a:ext cx="102961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Hallazgo concreto: código innecesario. Ruff todavía no ha evaluado el resultado de la función.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0" y="313312"/>
            <a:ext cx="1298448" cy="452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28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2.3 · INTERPRETAR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86384"/>
            <a:ext cx="8869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diagnóstico tiene anatomía</a:t>
            </a:r>
            <a:endParaRPr lang="en-US" sz="31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490472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Separar sus piezas evita reaccionar a ciegas.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58368" y="2139696"/>
            <a:ext cx="10863072" cy="841248"/>
          </a:xfrm>
          <a:prstGeom prst="roundRect">
            <a:avLst>
              <a:gd name="adj" fmla="val 6522"/>
            </a:avLst>
          </a:prstGeom>
          <a:solidFill>
            <a:srgbClr val="0F1720"/>
          </a:solidFill>
          <a:ln w="12700">
            <a:solidFill>
              <a:srgbClr val="0F172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32688" y="2414016"/>
            <a:ext cx="10314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notas.py:1:8     F401     `math` imported but unused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58368" y="3456432"/>
            <a:ext cx="2395728" cy="1865376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58368" y="3456432"/>
            <a:ext cx="239572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59536" y="3803904"/>
            <a:ext cx="1993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9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ARCHIVO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" y="4242816"/>
            <a:ext cx="2066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notas.py</a:t>
            </a:r>
            <a:endParaRPr lang="en-US" sz="2100" dirty="0"/>
          </a:p>
        </p:txBody>
      </p:sp>
      <p:sp>
        <p:nvSpPr>
          <p:cNvPr id="17" name="Text 14"/>
          <p:cNvSpPr txBox="1"/>
          <p:nvPr/>
        </p:nvSpPr>
        <p:spPr>
          <a:xfrm>
            <a:off x="859536" y="4901184"/>
            <a:ext cx="1993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dónde mirar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3419856" y="3456432"/>
            <a:ext cx="2395728" cy="1865376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419856" y="3456432"/>
            <a:ext cx="2395728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621024" y="3803904"/>
            <a:ext cx="1993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90" kern="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COORDENADAS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3584448" y="4242816"/>
            <a:ext cx="2066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: 8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3621024" y="4901184"/>
            <a:ext cx="1993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línea y columna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181344" y="3456432"/>
            <a:ext cx="2395728" cy="1865376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181344" y="3456432"/>
            <a:ext cx="239572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382512" y="3803904"/>
            <a:ext cx="1993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90" kern="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REGLA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6345936" y="4242816"/>
            <a:ext cx="2066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F401</a:t>
            </a:r>
            <a:endParaRPr lang="en-US" sz="2100" dirty="0"/>
          </a:p>
        </p:txBody>
      </p:sp>
      <p:sp>
        <p:nvSpPr>
          <p:cNvPr id="27" name="Text 24"/>
          <p:cNvSpPr txBox="1"/>
          <p:nvPr/>
        </p:nvSpPr>
        <p:spPr>
          <a:xfrm>
            <a:off x="6382512" y="4901184"/>
            <a:ext cx="1993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cómo clasificar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8942832" y="3456432"/>
            <a:ext cx="2395728" cy="1865376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942832" y="3456432"/>
            <a:ext cx="2395728" cy="109728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144000" y="3803904"/>
            <a:ext cx="1993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90" kern="0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EXPLICACIÓN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9107424" y="4242816"/>
            <a:ext cx="2066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imported but unused</a:t>
            </a:r>
            <a:endParaRPr lang="en-US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9144000" y="4901184"/>
            <a:ext cx="1993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observó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658368" y="5650992"/>
            <a:ext cx="10863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Leer ubicación → regla → explicación antes de corregir.</a:t>
            </a:r>
            <a:endParaRPr lang="en-US" sz="17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0" y="313312"/>
            <a:ext cx="1298448" cy="452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29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2.3 · CORREGIR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86384"/>
            <a:ext cx="88696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corrección debe ser mínima y verificable</a:t>
            </a:r>
            <a:endParaRPr lang="en-US" sz="29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737360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Eliminamos solo el hallazgo que Ruff explicó.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58368" y="2322576"/>
            <a:ext cx="4736592" cy="2523744"/>
          </a:xfrm>
          <a:prstGeom prst="roundRect">
            <a:avLst>
              <a:gd name="adj" fmla="val 1449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86384" y="2432304"/>
            <a:ext cx="4480560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96112" y="2505456"/>
            <a:ext cx="42611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ANTES · notas.py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1011253" y="2916835"/>
            <a:ext cx="999037" cy="164592"/>
          </a:xfrm>
          <a:prstGeom prst="roundRect">
            <a:avLst>
              <a:gd name="adj" fmla="val 22222"/>
            </a:avLst>
          </a:prstGeom>
          <a:solidFill>
            <a:srgbClr val="F8E4E5">
              <a:alpha val="32000"/>
            </a:srgbClr>
          </a:solidFill>
          <a:ln w="12700">
            <a:solidFill>
              <a:srgbClr val="F8E4E5">
                <a:alpha val="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7824" y="2889504"/>
            <a:ext cx="4315968" cy="1773936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5596128" y="3364992"/>
            <a:ext cx="658368" cy="42062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547104" y="2322576"/>
            <a:ext cx="4992624" cy="2523744"/>
          </a:xfrm>
          <a:prstGeom prst="roundRect">
            <a:avLst>
              <a:gd name="adj" fmla="val 1449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675120" y="2432304"/>
            <a:ext cx="473659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784848" y="2505456"/>
            <a:ext cx="45171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DESPUÉS · notas.py</a:t>
            </a:r>
            <a:endParaRPr lang="en-US" sz="1000" dirty="0"/>
          </a:p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66560" y="2889504"/>
            <a:ext cx="4572000" cy="1773936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658368" y="5102352"/>
            <a:ext cx="10863072" cy="987552"/>
          </a:xfrm>
          <a:prstGeom prst="roundRect">
            <a:avLst>
              <a:gd name="adj" fmla="val 3704"/>
            </a:avLst>
          </a:prstGeom>
          <a:solidFill>
            <a:srgbClr val="0F1720"/>
          </a:solidFill>
          <a:ln w="12700">
            <a:solidFill>
              <a:srgbClr val="0F1720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786384" y="5212080"/>
            <a:ext cx="10607040" cy="310896"/>
          </a:xfrm>
          <a:prstGeom prst="roundRect">
            <a:avLst>
              <a:gd name="adj" fmla="val 8824"/>
            </a:avLst>
          </a:prstGeom>
          <a:solidFill>
            <a:srgbClr val="1E2937"/>
          </a:solidFill>
          <a:ln w="12700">
            <a:solidFill>
              <a:srgbClr val="1E2937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914400" y="5285232"/>
            <a:ext cx="103510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PowerShell · repetir el mismo control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877824" y="5669280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0BC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350" dirty="0"/>
          </a:p>
        </p:txBody>
      </p:sp>
      <p:sp>
        <p:nvSpPr>
          <p:cNvPr id="25" name="Text 20"/>
          <p:cNvSpPr/>
          <p:nvPr/>
        </p:nvSpPr>
        <p:spPr>
          <a:xfrm>
            <a:off x="1188720" y="5669280"/>
            <a:ext cx="101132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run ruff check .</a:t>
            </a:r>
            <a:endParaRPr lang="en-US" sz="1350" dirty="0"/>
          </a:p>
        </p:txBody>
      </p:sp>
      <p:sp>
        <p:nvSpPr>
          <p:cNvPr id="26" name="Text 21"/>
          <p:cNvSpPr/>
          <p:nvPr/>
        </p:nvSpPr>
        <p:spPr>
          <a:xfrm>
            <a:off x="877824" y="5925312"/>
            <a:ext cx="101132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checks passed!</a:t>
            </a:r>
            <a:endParaRPr lang="en-US" sz="13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0" y="313516"/>
            <a:ext cx="1298448" cy="4519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30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74980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8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VERDE CON APELLIDO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1463040"/>
            <a:ext cx="24871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RUFF</a:t>
            </a:r>
            <a:endParaRPr 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3200400" y="1389888"/>
            <a:ext cx="7863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420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2432304"/>
            <a:ext cx="42611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encontró infracciones entre las reglas activas.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658368" y="3675888"/>
            <a:ext cx="4407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Eso es evidencia útil. No es una garantía universal.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5907024" y="1499616"/>
            <a:ext cx="5230368" cy="987552"/>
          </a:xfrm>
          <a:prstGeom prst="roundRect">
            <a:avLst>
              <a:gd name="adj" fmla="val 5556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108192" y="1700784"/>
            <a:ext cx="1024128" cy="475488"/>
          </a:xfrm>
          <a:prstGeom prst="roundRect">
            <a:avLst>
              <a:gd name="adj" fmla="val 50000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108192" y="1837944"/>
            <a:ext cx="1024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TIPOS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7388352" y="1737360"/>
            <a:ext cx="3401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promedio todavía declara str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5907024" y="2798064"/>
            <a:ext cx="5230368" cy="987552"/>
          </a:xfrm>
          <a:prstGeom prst="roundRect">
            <a:avLst>
              <a:gd name="adj" fmla="val 5556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108192" y="2999232"/>
            <a:ext cx="1024128" cy="475488"/>
          </a:xfrm>
          <a:prstGeom prst="roundRect">
            <a:avLst>
              <a:gd name="adj" fmla="val 50000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108192" y="3136392"/>
            <a:ext cx="1024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NEGOCIO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7388352" y="3035808"/>
            <a:ext cx="3401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3.95 todavía puede convertirse en 3.9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5907024" y="4096512"/>
            <a:ext cx="5230368" cy="987552"/>
          </a:xfrm>
          <a:prstGeom prst="roundRect">
            <a:avLst>
              <a:gd name="adj" fmla="val 5556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108192" y="4297680"/>
            <a:ext cx="1024128" cy="475488"/>
          </a:xfrm>
          <a:prstGeom prst="roundRect">
            <a:avLst>
              <a:gd name="adj" fmla="val 50000"/>
            </a:avLst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108192" y="4434840"/>
            <a:ext cx="1024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CASOS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7388352" y="4334256"/>
            <a:ext cx="3401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ningún ejemplo funcional fue ejecutado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658368" y="5468112"/>
            <a:ext cx="10479024" cy="530352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32688" y="5641848"/>
            <a:ext cx="9930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SIGUE → una contradicción que pertenece a otra capa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0" y="313516"/>
            <a:ext cx="1298448" cy="4519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786384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8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SEGUNDA CAPA ESTÁTICA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1517904"/>
            <a:ext cx="7223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Pyrefly observa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228600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contratos de tipos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3291840"/>
            <a:ext cx="7022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Primero dejamos visible y compartible el criterio de análisis del proyecto.</a:t>
            </a:r>
            <a:endParaRPr lang="en-US" sz="1900" dirty="0"/>
          </a:p>
        </p:txBody>
      </p:sp>
      <p:sp>
        <p:nvSpPr>
          <p:cNvPr id="12" name="Shape 9"/>
          <p:cNvSpPr/>
          <p:nvPr/>
        </p:nvSpPr>
        <p:spPr>
          <a:xfrm>
            <a:off x="658368" y="4407408"/>
            <a:ext cx="6912864" cy="749808"/>
          </a:xfrm>
          <a:prstGeom prst="roundRect">
            <a:avLst>
              <a:gd name="adj" fmla="val 7317"/>
            </a:avLst>
          </a:prstGeom>
          <a:solidFill>
            <a:srgbClr val="0F1720"/>
          </a:solidFill>
          <a:ln w="12700">
            <a:solidFill>
              <a:srgbClr val="0F17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87552" y="4645152"/>
            <a:ext cx="6163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0BC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 uv run pyrefly init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658368" y="5358384"/>
            <a:ext cx="6912864" cy="530352"/>
          </a:xfrm>
          <a:prstGeom prst="roundRect">
            <a:avLst>
              <a:gd name="adj" fmla="val 6897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32688" y="5522976"/>
            <a:ext cx="6327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¿Agregar supresiones para ocultar los errores?  →  N</a:t>
            </a:r>
            <a:endParaRPr lang="en-US" sz="1400" dirty="0"/>
          </a:p>
        </p:txBody>
      </p:sp>
      <p:pic>
        <p:nvPicPr>
          <p:cNvPr id="16" name="Image 1" descr="C:\Users\Diego Obando\dev\pro402-taller-de-testing-2026\clases\semana-01\02\ppt\source\assets\tools\pyrefly-mark-invert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29600" y="1837509"/>
            <a:ext cx="2779776" cy="219543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7973568" y="4773168"/>
            <a:ext cx="33101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TIPOS DECLARADOS ↔ VALORES INFERIDOS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0" y="313312"/>
            <a:ext cx="1298448" cy="452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32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2.4 · CONTRATO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86384"/>
            <a:ext cx="88696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línea afirma dos cosas incompatibles</a:t>
            </a:r>
            <a:endParaRPr lang="en-US" sz="29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737360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anotación escrita y el valor producido no pueden ser verdad al mismo tiempo.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58368" y="2340864"/>
            <a:ext cx="6565392" cy="3346704"/>
          </a:xfrm>
          <a:prstGeom prst="roundRect">
            <a:avLst>
              <a:gd name="adj" fmla="val 109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86384" y="2450592"/>
            <a:ext cx="6309360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96112" y="2523744"/>
            <a:ext cx="60899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notas.py · contrato declarado</a:t>
            </a:r>
            <a:endParaRPr lang="en-US" sz="10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7824" y="2907792"/>
            <a:ext cx="6144768" cy="2596896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7845552" y="2340864"/>
            <a:ext cx="3474720" cy="3346704"/>
          </a:xfrm>
          <a:prstGeom prst="roundRect">
            <a:avLst>
              <a:gd name="adj" fmla="val 191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083296" y="2578608"/>
            <a:ext cx="73152" cy="25603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302752" y="2596896"/>
            <a:ext cx="27797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CONTRATO BAJO LECTURA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672084" y="3579794"/>
            <a:ext cx="219456" cy="21945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72084" y="357979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840" dirty="0"/>
          </a:p>
        </p:txBody>
      </p:sp>
      <p:sp>
        <p:nvSpPr>
          <p:cNvPr id="20" name="Shape 16"/>
          <p:cNvSpPr/>
          <p:nvPr/>
        </p:nvSpPr>
        <p:spPr>
          <a:xfrm>
            <a:off x="8083296" y="3145536"/>
            <a:ext cx="292608" cy="292608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8083296" y="3145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20" dirty="0"/>
          </a:p>
        </p:txBody>
      </p:sp>
      <p:sp>
        <p:nvSpPr>
          <p:cNvPr id="22" name="Text 18"/>
          <p:cNvSpPr/>
          <p:nvPr/>
        </p:nvSpPr>
        <p:spPr>
          <a:xfrm>
            <a:off x="8485632" y="3191256"/>
            <a:ext cx="2578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L4 · CONTRATO INCOMPATIBLE</a:t>
            </a:r>
            <a:endParaRPr lang="en-US" sz="880" dirty="0"/>
          </a:p>
        </p:txBody>
      </p:sp>
      <p:sp>
        <p:nvSpPr>
          <p:cNvPr id="23" name="Text 19"/>
          <p:cNvSpPr/>
          <p:nvPr/>
        </p:nvSpPr>
        <p:spPr>
          <a:xfrm>
            <a:off x="8083296" y="3529584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 ≠ float</a:t>
            </a:r>
            <a:endParaRPr lang="en-US" sz="2500" dirty="0"/>
          </a:p>
        </p:txBody>
      </p:sp>
      <p:sp>
        <p:nvSpPr>
          <p:cNvPr id="24" name="Text 20"/>
          <p:cNvSpPr/>
          <p:nvPr/>
        </p:nvSpPr>
        <p:spPr>
          <a:xfrm>
            <a:off x="8083296" y="4041648"/>
            <a:ext cx="299923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Declarado:  str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Inferido:    float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división produce un número, no texto.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0" y="313312"/>
            <a:ext cx="1298448" cy="452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33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2.4 · EJECUTAR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86384"/>
            <a:ext cx="8869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Pyrefly confronta el contrato</a:t>
            </a:r>
            <a:endParaRPr lang="en-US" sz="31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490472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forma exacta del mensaje puede variar; la contradicción permanece.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58368" y="2139696"/>
            <a:ext cx="7516368" cy="3383280"/>
          </a:xfrm>
          <a:prstGeom prst="roundRect">
            <a:avLst>
              <a:gd name="adj" fmla="val 1081"/>
            </a:avLst>
          </a:prstGeom>
          <a:solidFill>
            <a:srgbClr val="0F1720"/>
          </a:solidFill>
          <a:ln w="12700">
            <a:solidFill>
              <a:srgbClr val="0F172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86384" y="2249424"/>
            <a:ext cx="7260336" cy="310896"/>
          </a:xfrm>
          <a:prstGeom prst="roundRect">
            <a:avLst>
              <a:gd name="adj" fmla="val 8824"/>
            </a:avLst>
          </a:prstGeom>
          <a:solidFill>
            <a:srgbClr val="1E2937"/>
          </a:solidFill>
          <a:ln w="12700">
            <a:solidFill>
              <a:srgbClr val="1E293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2322576"/>
            <a:ext cx="70043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PowerShell · salida representativa de Pyrefly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77824" y="2706624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70" b="1" dirty="0">
                <a:solidFill>
                  <a:srgbClr val="E0BC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270" dirty="0"/>
          </a:p>
        </p:txBody>
      </p:sp>
      <p:sp>
        <p:nvSpPr>
          <p:cNvPr id="15" name="Text 12"/>
          <p:cNvSpPr/>
          <p:nvPr/>
        </p:nvSpPr>
        <p:spPr>
          <a:xfrm>
            <a:off x="1188720" y="2706624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7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run pyrefly check</a:t>
            </a:r>
            <a:endParaRPr lang="en-US" sz="1270" dirty="0"/>
          </a:p>
        </p:txBody>
      </p:sp>
      <p:sp>
        <p:nvSpPr>
          <p:cNvPr id="16" name="Text 13"/>
          <p:cNvSpPr/>
          <p:nvPr/>
        </p:nvSpPr>
        <p:spPr>
          <a:xfrm>
            <a:off x="877824" y="2962656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7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notas.py:4  incompatible assignment</a:t>
            </a:r>
            <a:endParaRPr lang="en-US" sz="1270" dirty="0"/>
          </a:p>
        </p:txBody>
      </p:sp>
      <p:sp>
        <p:nvSpPr>
          <p:cNvPr id="17" name="Text 14"/>
          <p:cNvSpPr/>
          <p:nvPr/>
        </p:nvSpPr>
        <p:spPr>
          <a:xfrm>
            <a:off x="877824" y="3218688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7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declared: str</a:t>
            </a:r>
            <a:endParaRPr lang="en-US" sz="1270" dirty="0"/>
          </a:p>
        </p:txBody>
      </p:sp>
      <p:sp>
        <p:nvSpPr>
          <p:cNvPr id="18" name="Text 15"/>
          <p:cNvSpPr/>
          <p:nvPr/>
        </p:nvSpPr>
        <p:spPr>
          <a:xfrm>
            <a:off x="877824" y="3474720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7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inferred: float</a:t>
            </a:r>
            <a:endParaRPr lang="en-US" sz="1270" dirty="0"/>
          </a:p>
        </p:txBody>
      </p:sp>
      <p:sp>
        <p:nvSpPr>
          <p:cNvPr id="19" name="Text 16"/>
          <p:cNvSpPr/>
          <p:nvPr/>
        </p:nvSpPr>
        <p:spPr>
          <a:xfrm>
            <a:off x="877824" y="3730752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7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notas.py:5  round() received str</a:t>
            </a:r>
            <a:endParaRPr lang="en-US" sz="1270" dirty="0"/>
          </a:p>
        </p:txBody>
      </p:sp>
      <p:sp>
        <p:nvSpPr>
          <p:cNvPr id="20" name="Shape 17"/>
          <p:cNvSpPr/>
          <p:nvPr/>
        </p:nvSpPr>
        <p:spPr>
          <a:xfrm>
            <a:off x="8449056" y="2340864"/>
            <a:ext cx="3090672" cy="1225296"/>
          </a:xfrm>
          <a:prstGeom prst="roundRect">
            <a:avLst>
              <a:gd name="adj" fmla="val 4478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05088" y="2578608"/>
            <a:ext cx="2596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HALLAZGO 1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8705088" y="2907792"/>
            <a:ext cx="2596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float asignado a str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8449056" y="3858768"/>
            <a:ext cx="3090672" cy="1225296"/>
          </a:xfrm>
          <a:prstGeom prst="roundRect">
            <a:avLst>
              <a:gd name="adj" fmla="val 4478"/>
            </a:avLst>
          </a:prstGeom>
          <a:solidFill>
            <a:srgbClr val="FBF3DE"/>
          </a:solidFill>
          <a:ln w="12700">
            <a:solidFill>
              <a:srgbClr val="FBF3D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705088" y="4096512"/>
            <a:ext cx="2596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HALLAZGO 2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8705088" y="4425696"/>
            <a:ext cx="2596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round() recibe texto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658368" y="5705856"/>
            <a:ext cx="10881360" cy="384048"/>
          </a:xfrm>
          <a:prstGeom prst="roundRect">
            <a:avLst>
              <a:gd name="adj" fmla="val 9524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32688" y="5815584"/>
            <a:ext cx="10314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contrato incoherente puede generar más de un síntoma; buscamos la causa común.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0" y="313312"/>
            <a:ext cx="1298448" cy="452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34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2.4 · INTERPRETAR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86384"/>
            <a:ext cx="8869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incompatibilidad se reconstruye</a:t>
            </a:r>
            <a:endParaRPr lang="en-US" sz="31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490472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herramienta entrega evidencia; nosotros hacemos explícito el razonamiento.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58368" y="2176272"/>
            <a:ext cx="10863072" cy="3493008"/>
          </a:xfrm>
          <a:prstGeom prst="roundRect">
            <a:avLst>
              <a:gd name="adj" fmla="val 2094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69264" y="246888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4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TRAZA DE RAZONAMIENTO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8394192" y="2395728"/>
            <a:ext cx="2688336" cy="420624"/>
          </a:xfrm>
          <a:prstGeom prst="roundRect">
            <a:avLst>
              <a:gd name="adj" fmla="val 10870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394192" y="2395728"/>
            <a:ext cx="2688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· notas.py · línea 4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950976" y="2999232"/>
            <a:ext cx="3822192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50976" y="2999232"/>
            <a:ext cx="100584" cy="8961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261872" y="3200400"/>
            <a:ext cx="1536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· DECLARADO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2779776" y="3145536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50" b="1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promedio: str</a:t>
            </a:r>
            <a:endParaRPr lang="en-US" sz="1750" dirty="0"/>
          </a:p>
        </p:txBody>
      </p:sp>
      <p:sp>
        <p:nvSpPr>
          <p:cNvPr id="19" name="Text 16"/>
          <p:cNvSpPr txBox="1"/>
          <p:nvPr/>
        </p:nvSpPr>
        <p:spPr>
          <a:xfrm>
            <a:off x="1261872" y="3493008"/>
            <a:ext cx="31455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anotación promete texto.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950976" y="4169664"/>
            <a:ext cx="3822192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50976" y="4169664"/>
            <a:ext cx="100584" cy="89611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261872" y="4370832"/>
            <a:ext cx="1536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80" kern="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· INFERIDO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2578608" y="43159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5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división → float</a:t>
            </a:r>
            <a:endParaRPr lang="en-US" sz="1750" dirty="0"/>
          </a:p>
        </p:txBody>
      </p:sp>
      <p:sp>
        <p:nvSpPr>
          <p:cNvPr id="24" name="Text 21"/>
          <p:cNvSpPr txBox="1"/>
          <p:nvPr/>
        </p:nvSpPr>
        <p:spPr>
          <a:xfrm>
            <a:off x="1261872" y="4663440"/>
            <a:ext cx="31455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expresión produce un número.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5010912" y="3438144"/>
            <a:ext cx="804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3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≠</a:t>
            </a:r>
            <a:endParaRPr lang="en-US" sz="4300" dirty="0"/>
          </a:p>
        </p:txBody>
      </p:sp>
      <p:sp>
        <p:nvSpPr>
          <p:cNvPr id="26" name="Shape 23"/>
          <p:cNvSpPr/>
          <p:nvPr/>
        </p:nvSpPr>
        <p:spPr>
          <a:xfrm>
            <a:off x="4956048" y="4279392"/>
            <a:ext cx="896112" cy="42062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144768" y="2999232"/>
            <a:ext cx="4919472" cy="2066544"/>
          </a:xfrm>
          <a:prstGeom prst="roundRect">
            <a:avLst>
              <a:gd name="adj" fmla="val 26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144768" y="2999232"/>
            <a:ext cx="4919472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455664" y="3364992"/>
            <a:ext cx="20848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· CONFLICTO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455664" y="3730752"/>
            <a:ext cx="42793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 y float no pueden describir el mismo valor</a:t>
            </a:r>
            <a:endParaRPr lang="en-US" sz="2000" dirty="0"/>
          </a:p>
        </p:txBody>
      </p:sp>
      <p:sp>
        <p:nvSpPr>
          <p:cNvPr id="31" name="Shape 28"/>
          <p:cNvSpPr/>
          <p:nvPr/>
        </p:nvSpPr>
        <p:spPr>
          <a:xfrm>
            <a:off x="6455664" y="4407408"/>
            <a:ext cx="4279392" cy="438912"/>
          </a:xfrm>
          <a:prstGeom prst="roundRect">
            <a:avLst>
              <a:gd name="adj" fmla="val 8333"/>
            </a:avLst>
          </a:prstGeom>
          <a:solidFill>
            <a:srgbClr val="E9F6EE"/>
          </a:solidFill>
          <a:ln w="12700">
            <a:solidFill>
              <a:srgbClr val="E9F6EE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455664" y="4407408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FAE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CORRECCIÓN MÍNIMA  ·  str → float</a:t>
            </a:r>
            <a:endParaRPr lang="en-US" sz="1250" dirty="0"/>
          </a:p>
        </p:txBody>
      </p:sp>
      <p:sp>
        <p:nvSpPr>
          <p:cNvPr id="33" name="Text 30"/>
          <p:cNvSpPr txBox="1"/>
          <p:nvPr/>
        </p:nvSpPr>
        <p:spPr>
          <a:xfrm>
            <a:off x="658368" y="5833872"/>
            <a:ext cx="10863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Ubicar → comparar lo declarado con lo inferido → explicar → recién entonces corregir.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0" y="313312"/>
            <a:ext cx="1298448" cy="452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35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2.4 · CORREGIR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86384"/>
            <a:ext cx="8869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Cambiamos la afirmación, no el cálculo</a:t>
            </a:r>
            <a:endParaRPr lang="en-US" sz="31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490472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corrección mínima hace visible el tipo que la operación realmente produce.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58368" y="2157984"/>
            <a:ext cx="6473952" cy="2633472"/>
          </a:xfrm>
          <a:prstGeom prst="roundRect">
            <a:avLst>
              <a:gd name="adj" fmla="val 1389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86384" y="2267712"/>
            <a:ext cx="6217920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96112" y="2340864"/>
            <a:ext cx="59984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notas.py · contrato corregido</a:t>
            </a:r>
            <a:endParaRPr lang="en-US" sz="10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7824" y="2724912"/>
            <a:ext cx="6053328" cy="1883664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7808976" y="2157984"/>
            <a:ext cx="3511296" cy="2633472"/>
          </a:xfrm>
          <a:prstGeom prst="roundRect">
            <a:avLst>
              <a:gd name="adj" fmla="val 243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046720" y="2395728"/>
            <a:ext cx="73152" cy="256032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266176" y="2414016"/>
            <a:ext cx="2816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CORRECCIÓN MÍNIMA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672084" y="3151699"/>
            <a:ext cx="219456" cy="219456"/>
          </a:xfrm>
          <a:prstGeom prst="ellipse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72084" y="315169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840" dirty="0"/>
          </a:p>
        </p:txBody>
      </p:sp>
      <p:sp>
        <p:nvSpPr>
          <p:cNvPr id="20" name="Shape 16"/>
          <p:cNvSpPr/>
          <p:nvPr/>
        </p:nvSpPr>
        <p:spPr>
          <a:xfrm>
            <a:off x="8046720" y="2962656"/>
            <a:ext cx="292608" cy="292608"/>
          </a:xfrm>
          <a:prstGeom prst="ellipse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8046720" y="29626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20" dirty="0"/>
          </a:p>
        </p:txBody>
      </p:sp>
      <p:sp>
        <p:nvSpPr>
          <p:cNvPr id="22" name="Text 18"/>
          <p:cNvSpPr/>
          <p:nvPr/>
        </p:nvSpPr>
        <p:spPr>
          <a:xfrm>
            <a:off x="8449056" y="3008376"/>
            <a:ext cx="2615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80" kern="0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L3 · CONTRATO ALINEADO</a:t>
            </a:r>
            <a:endParaRPr lang="en-US" sz="880" dirty="0"/>
          </a:p>
        </p:txBody>
      </p:sp>
      <p:sp>
        <p:nvSpPr>
          <p:cNvPr id="23" name="Text 19"/>
          <p:cNvSpPr/>
          <p:nvPr/>
        </p:nvSpPr>
        <p:spPr>
          <a:xfrm>
            <a:off x="8046720" y="3346704"/>
            <a:ext cx="3035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promedio: float</a:t>
            </a:r>
            <a:endParaRPr lang="en-US" sz="2100" dirty="0"/>
          </a:p>
        </p:txBody>
      </p:sp>
      <p:sp>
        <p:nvSpPr>
          <p:cNvPr id="24" name="Text 20"/>
          <p:cNvSpPr/>
          <p:nvPr/>
        </p:nvSpPr>
        <p:spPr>
          <a:xfrm>
            <a:off x="8046720" y="3877056"/>
            <a:ext cx="3035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cálculo no cambió. La declaración ahora describe el valor real.</a:t>
            </a:r>
            <a:endParaRPr lang="en-US" sz="1450" dirty="0"/>
          </a:p>
        </p:txBody>
      </p:sp>
      <p:sp>
        <p:nvSpPr>
          <p:cNvPr id="25" name="Shape 21"/>
          <p:cNvSpPr/>
          <p:nvPr/>
        </p:nvSpPr>
        <p:spPr>
          <a:xfrm>
            <a:off x="658368" y="5047488"/>
            <a:ext cx="10863072" cy="1024128"/>
          </a:xfrm>
          <a:prstGeom prst="roundRect">
            <a:avLst>
              <a:gd name="adj" fmla="val 3571"/>
            </a:avLst>
          </a:prstGeom>
          <a:solidFill>
            <a:srgbClr val="0F1720"/>
          </a:solidFill>
          <a:ln w="12700">
            <a:solidFill>
              <a:srgbClr val="0F1720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786384" y="5157216"/>
            <a:ext cx="10607040" cy="310896"/>
          </a:xfrm>
          <a:prstGeom prst="roundRect">
            <a:avLst>
              <a:gd name="adj" fmla="val 8824"/>
            </a:avLst>
          </a:prstGeom>
          <a:solidFill>
            <a:srgbClr val="1E2937"/>
          </a:solidFill>
          <a:ln w="12700">
            <a:solidFill>
              <a:srgbClr val="1E2937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914400" y="5230368"/>
            <a:ext cx="103510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PowerShell · volver a comprobar ambas capas estáticas</a:t>
            </a:r>
            <a:endParaRPr lang="en-US" sz="1000" dirty="0"/>
          </a:p>
        </p:txBody>
      </p:sp>
      <p:sp>
        <p:nvSpPr>
          <p:cNvPr id="28" name="Text 24"/>
          <p:cNvSpPr/>
          <p:nvPr/>
        </p:nvSpPr>
        <p:spPr>
          <a:xfrm>
            <a:off x="877824" y="5614416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E0BC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280" dirty="0"/>
          </a:p>
        </p:txBody>
      </p:sp>
      <p:sp>
        <p:nvSpPr>
          <p:cNvPr id="29" name="Text 25"/>
          <p:cNvSpPr/>
          <p:nvPr/>
        </p:nvSpPr>
        <p:spPr>
          <a:xfrm>
            <a:off x="1188720" y="5614416"/>
            <a:ext cx="101132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run ruff check .      → All checks passed!</a:t>
            </a:r>
            <a:endParaRPr lang="en-US" sz="1280" dirty="0"/>
          </a:p>
        </p:txBody>
      </p:sp>
      <p:sp>
        <p:nvSpPr>
          <p:cNvPr id="30" name="Text 26"/>
          <p:cNvSpPr/>
          <p:nvPr/>
        </p:nvSpPr>
        <p:spPr>
          <a:xfrm>
            <a:off x="877824" y="5870448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E0BC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280" dirty="0"/>
          </a:p>
        </p:txBody>
      </p:sp>
      <p:sp>
        <p:nvSpPr>
          <p:cNvPr id="31" name="Text 27"/>
          <p:cNvSpPr/>
          <p:nvPr/>
        </p:nvSpPr>
        <p:spPr>
          <a:xfrm>
            <a:off x="1188720" y="5870448"/>
            <a:ext cx="101132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run pyrefly check     → 0 errors</a:t>
            </a:r>
            <a:endParaRPr lang="en-US" sz="128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0" y="313516"/>
            <a:ext cx="1298448" cy="4519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36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74980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8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DOS CONTROLES VERDES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1371600"/>
            <a:ext cx="7187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comportamiento</a:t>
            </a:r>
            <a:endParaRPr lang="en-US" sz="37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2048256"/>
            <a:ext cx="746150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todavía puede estar equivocado</a:t>
            </a:r>
            <a:endParaRPr lang="en-US" sz="3700" dirty="0"/>
          </a:p>
        </p:txBody>
      </p:sp>
      <p:sp>
        <p:nvSpPr>
          <p:cNvPr id="11" name="Shape 8"/>
          <p:cNvSpPr/>
          <p:nvPr/>
        </p:nvSpPr>
        <p:spPr>
          <a:xfrm>
            <a:off x="8339328" y="1243584"/>
            <a:ext cx="1298448" cy="1060704"/>
          </a:xfrm>
          <a:prstGeom prst="roundRect">
            <a:avLst>
              <a:gd name="adj" fmla="val 689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12" name="Image 1" descr="C:\Users\Diego Obando\dev\pro402-taller-de-testing-2026\clases\semana-01\02\ppt\source\assets\tools\ruff-mark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97586" y="1389888"/>
            <a:ext cx="381931" cy="46671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8430768" y="1984248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ruff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9948672" y="1243584"/>
            <a:ext cx="1298448" cy="1060704"/>
          </a:xfrm>
          <a:prstGeom prst="roundRect">
            <a:avLst>
              <a:gd name="adj" fmla="val 689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15" name="Image 2" descr="C:\Users\Diego Obando\dev\pro402-taller-de-testing-2026\clases\semana-01\02\ppt\source\assets\tools\pyrefly-mark-invert.sv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02430" y="1389888"/>
            <a:ext cx="590931" cy="46671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0040112" y="1984248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Pyrefly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58368" y="3127248"/>
            <a:ext cx="4773168" cy="1901952"/>
          </a:xfrm>
          <a:prstGeom prst="roundRect">
            <a:avLst>
              <a:gd name="adj" fmla="val 2885"/>
            </a:avLst>
          </a:prstGeom>
          <a:solidFill>
            <a:srgbClr val="0F1720"/>
          </a:solidFill>
          <a:ln w="12700">
            <a:solidFill>
              <a:srgbClr val="0F1720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932688" y="3419856"/>
            <a:ext cx="4187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0BC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uv run python -c "...nota_final(...)"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969264" y="4005072"/>
            <a:ext cx="4096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3.9</a:t>
            </a:r>
            <a:endParaRPr lang="en-US" sz="3400" dirty="0"/>
          </a:p>
        </p:txBody>
      </p:sp>
      <p:sp>
        <p:nvSpPr>
          <p:cNvPr id="20" name="Text 15"/>
          <p:cNvSpPr txBox="1"/>
          <p:nvPr/>
        </p:nvSpPr>
        <p:spPr>
          <a:xfrm>
            <a:off x="5577840" y="3712464"/>
            <a:ext cx="822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≠</a:t>
            </a:r>
            <a:endParaRPr lang="en-US" sz="3800" dirty="0"/>
          </a:p>
        </p:txBody>
      </p:sp>
      <p:sp>
        <p:nvSpPr>
          <p:cNvPr id="21" name="Shape 16"/>
          <p:cNvSpPr/>
          <p:nvPr/>
        </p:nvSpPr>
        <p:spPr>
          <a:xfrm>
            <a:off x="6803136" y="3127248"/>
            <a:ext cx="4736592" cy="1901952"/>
          </a:xfrm>
          <a:prstGeom prst="roundRect">
            <a:avLst>
              <a:gd name="adj" fmla="val 28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150608" y="3456432"/>
            <a:ext cx="4041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REGLA ACORDADA</a:t>
            </a:r>
            <a:endParaRPr lang="en-US" sz="1000" dirty="0"/>
          </a:p>
        </p:txBody>
      </p:sp>
      <p:sp>
        <p:nvSpPr>
          <p:cNvPr id="23" name="Text 18"/>
          <p:cNvSpPr txBox="1"/>
          <p:nvPr/>
        </p:nvSpPr>
        <p:spPr>
          <a:xfrm>
            <a:off x="7150608" y="3913632"/>
            <a:ext cx="40416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4.0</a:t>
            </a:r>
            <a:endParaRPr lang="en-US" sz="3400" dirty="0"/>
          </a:p>
        </p:txBody>
      </p:sp>
      <p:sp>
        <p:nvSpPr>
          <p:cNvPr id="24" name="Text 19"/>
          <p:cNvSpPr txBox="1"/>
          <p:nvPr/>
        </p:nvSpPr>
        <p:spPr>
          <a:xfrm>
            <a:off x="658368" y="5413248"/>
            <a:ext cx="10863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defecto contradice una expectativa de negocio, no una regla de linting ni un tipo.</a:t>
            </a:r>
            <a:endParaRPr lang="en-US" sz="17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0" y="313312"/>
            <a:ext cx="1298448" cy="452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37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2.6 · USO DEL AGENTE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86384"/>
            <a:ext cx="88696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Traductor de diagnósticos, no piloto automático</a:t>
            </a:r>
            <a:endParaRPr lang="en-US" sz="29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737360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explicación puede delegarse; la decisión y la verificación no.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58368" y="2414016"/>
            <a:ext cx="6803136" cy="2834640"/>
          </a:xfrm>
          <a:prstGeom prst="roundRect">
            <a:avLst>
              <a:gd name="adj" fmla="val 25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69264" y="2523744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2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SOLICITUD ÚTIL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969264" y="2944368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«Explica este diagnóstico indicando…»</a:t>
            </a:r>
            <a:endParaRPr lang="en-US" sz="2100" dirty="0"/>
          </a:p>
        </p:txBody>
      </p:sp>
      <p:sp>
        <p:nvSpPr>
          <p:cNvPr id="14" name="Shape 11"/>
          <p:cNvSpPr/>
          <p:nvPr/>
        </p:nvSpPr>
        <p:spPr>
          <a:xfrm>
            <a:off x="987552" y="3694176"/>
            <a:ext cx="2615184" cy="457200"/>
          </a:xfrm>
          <a:prstGeom prst="roundRect">
            <a:avLst>
              <a:gd name="adj" fmla="val 50000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52144" y="3831336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archivo y ubicación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3931920" y="3694176"/>
            <a:ext cx="2615184" cy="457200"/>
          </a:xfrm>
          <a:prstGeom prst="roundRect">
            <a:avLst>
              <a:gd name="adj" fmla="val 50000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096512" y="3831336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regla o contrato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987552" y="4352544"/>
            <a:ext cx="2615184" cy="457200"/>
          </a:xfrm>
          <a:prstGeom prst="roundRect">
            <a:avLst>
              <a:gd name="adj" fmla="val 50000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152144" y="44897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causa probable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3931920" y="4352544"/>
            <a:ext cx="2615184" cy="457200"/>
          </a:xfrm>
          <a:prstGeom prst="roundRect">
            <a:avLst>
              <a:gd name="adj" fmla="val 50000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096512" y="44897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dos correcciones posibles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7808976" y="2414016"/>
            <a:ext cx="3730752" cy="2834640"/>
          </a:xfrm>
          <a:prstGeom prst="roundRect">
            <a:avLst>
              <a:gd name="adj" fmla="val 258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138160" y="2651760"/>
            <a:ext cx="12984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2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EVITAR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8138160" y="3127248"/>
            <a:ext cx="30723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«Arregla todos los errores»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8193024" y="4078224"/>
            <a:ext cx="29626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Puede producir verde sin dejar claro qué cambió, por qué era válido ni qué riesgo sigue abierto.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658368" y="5559552"/>
            <a:ext cx="10881360" cy="475488"/>
          </a:xfrm>
          <a:prstGeom prst="roundRect">
            <a:avLst>
              <a:gd name="adj" fmla="val 7692"/>
            </a:avLst>
          </a:prstGeom>
          <a:solidFill>
            <a:srgbClr val="E9F6EE"/>
          </a:solidFill>
          <a:ln w="12700">
            <a:solidFill>
              <a:srgbClr val="E9F6EE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14400" y="5705856"/>
            <a:ext cx="10332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diagnóstico completo  →  explicación  →  decisión humana  →  repetir el control original</a:t>
            </a:r>
            <a:endParaRPr lang="en-US" sz="13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0" y="313312"/>
            <a:ext cx="1298448" cy="452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38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PUNTO DE CONTROL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86384"/>
            <a:ext cx="8869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Mostrar no basta: hay que explicar</a:t>
            </a:r>
            <a:endParaRPr lang="en-US" sz="31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490472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Dos comandos verdes y tres diferencias comprendidas.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58368" y="2194560"/>
            <a:ext cx="5815584" cy="2615184"/>
          </a:xfrm>
          <a:prstGeom prst="roundRect">
            <a:avLst>
              <a:gd name="adj" fmla="val 1399"/>
            </a:avLst>
          </a:prstGeom>
          <a:solidFill>
            <a:srgbClr val="0F1720"/>
          </a:solidFill>
          <a:ln w="12700">
            <a:solidFill>
              <a:srgbClr val="0F172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86384" y="2304288"/>
            <a:ext cx="5559552" cy="310896"/>
          </a:xfrm>
          <a:prstGeom prst="roundRect">
            <a:avLst>
              <a:gd name="adj" fmla="val 8824"/>
            </a:avLst>
          </a:prstGeom>
          <a:solidFill>
            <a:srgbClr val="1E2937"/>
          </a:solidFill>
          <a:ln w="12700">
            <a:solidFill>
              <a:srgbClr val="1E293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2377440"/>
            <a:ext cx="5303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PowerShell · comprobación del bloque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77824" y="2761488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0BC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1188720" y="2761488"/>
            <a:ext cx="5065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run ruff check .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877824" y="3017520"/>
            <a:ext cx="5065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checks passed!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877824" y="327355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0BC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1188720" y="3273552"/>
            <a:ext cx="5065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run pyrefly check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877824" y="3529584"/>
            <a:ext cx="5065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errors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6839712" y="2249424"/>
            <a:ext cx="4700016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040880" y="2450592"/>
            <a:ext cx="438912" cy="438912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040880" y="245059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7699248" y="2395728"/>
            <a:ext cx="1060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Ruff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8759952" y="2414016"/>
            <a:ext cx="24323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problema estructural detectó</a:t>
            </a:r>
            <a:endParaRPr lang="en-US" sz="1350" dirty="0"/>
          </a:p>
        </p:txBody>
      </p:sp>
      <p:sp>
        <p:nvSpPr>
          <p:cNvPr id="25" name="Shape 22"/>
          <p:cNvSpPr/>
          <p:nvPr/>
        </p:nvSpPr>
        <p:spPr>
          <a:xfrm>
            <a:off x="6839712" y="3291840"/>
            <a:ext cx="4700016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040880" y="3493008"/>
            <a:ext cx="438912" cy="438912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040880" y="3493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7699248" y="3438144"/>
            <a:ext cx="1060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Pyrefly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8759952" y="3456432"/>
            <a:ext cx="24323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contradicción de tipos detectó</a:t>
            </a:r>
            <a:endParaRPr lang="en-US" sz="1350" dirty="0"/>
          </a:p>
        </p:txBody>
      </p:sp>
      <p:sp>
        <p:nvSpPr>
          <p:cNvPr id="30" name="Shape 27"/>
          <p:cNvSpPr/>
          <p:nvPr/>
        </p:nvSpPr>
        <p:spPr>
          <a:xfrm>
            <a:off x="6839712" y="4334256"/>
            <a:ext cx="4700016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040880" y="4535424"/>
            <a:ext cx="438912" cy="438912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040880" y="45354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7699248" y="4480560"/>
            <a:ext cx="1060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Límite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8759952" y="4498848"/>
            <a:ext cx="24323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 qué ninguno encontró el redondeo</a:t>
            </a:r>
            <a:endParaRPr lang="en-US" sz="1350" dirty="0"/>
          </a:p>
        </p:txBody>
      </p:sp>
      <p:sp>
        <p:nvSpPr>
          <p:cNvPr id="35" name="Shape 32"/>
          <p:cNvSpPr/>
          <p:nvPr/>
        </p:nvSpPr>
        <p:spPr>
          <a:xfrm>
            <a:off x="658368" y="5230368"/>
            <a:ext cx="10881360" cy="749808"/>
          </a:xfrm>
          <a:prstGeom prst="roundRect">
            <a:avLst>
              <a:gd name="adj" fmla="val 731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14400" y="5413248"/>
            <a:ext cx="21579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EVIDENCIA DEL BLOQUE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3200400" y="5394960"/>
            <a:ext cx="7936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hallazgo de linting + una contradicción de tipos + un límite demostrado</a:t>
            </a:r>
            <a:endParaRPr lang="en-US" sz="15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0" y="313312"/>
            <a:ext cx="1298448" cy="452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39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PREGUNTAS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86384"/>
            <a:ext cx="8869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Tres preguntas para llevarse</a:t>
            </a:r>
            <a:endParaRPr lang="en-US" sz="31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490472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pista orienta; la respuesta debe nombrar la capa y la evidencia.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58368" y="2249424"/>
            <a:ext cx="475488" cy="475488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8368" y="224942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371600" y="2231136"/>
            <a:ext cx="9966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¿Cómo puede Ruff quedar en verde mientras Pyrefly todavía encuentra un problema?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1371600" y="2962656"/>
            <a:ext cx="9966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PISTA → compara estructura del código y contratos de tipos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658368" y="3474720"/>
            <a:ext cx="475488" cy="475488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8368" y="34747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371600" y="3456432"/>
            <a:ext cx="9966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debemos repetir el mismo comando después de modificar el archivo?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1371600" y="4187952"/>
            <a:ext cx="9966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PISTA → distingue una edición de la evidencia que confirma su efecto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58368" y="46634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371600" y="4645152"/>
            <a:ext cx="9966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Ruff y Pyrefly quedan en verde, ¿qué defecto de nota_final() sigue sin estar cubierto?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1371600" y="5376672"/>
            <a:ext cx="9966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PISTA → recuerda la regla de redondeo del contexto educativo chileno</a:t>
            </a:r>
            <a:endParaRPr lang="en-US" sz="14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0" y="313516"/>
            <a:ext cx="1298448" cy="4519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40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74980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8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 CLAVE · BLOQUE 2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1444752"/>
            <a:ext cx="5486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Dos verdes</a:t>
            </a:r>
            <a:endParaRPr lang="en-US" sz="41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2212848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1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todavía no bastan</a:t>
            </a:r>
            <a:endParaRPr lang="en-US" sz="410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3255264"/>
            <a:ext cx="665683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Ruff observa señales. Pyrefly observa contratos. La expectativa 3.95 → 4.0 pertenece al comportamiento.</a:t>
            </a:r>
            <a:endParaRPr lang="en-US" sz="1900" dirty="0"/>
          </a:p>
        </p:txBody>
      </p:sp>
      <p:sp>
        <p:nvSpPr>
          <p:cNvPr id="12" name="Shape 9"/>
          <p:cNvSpPr/>
          <p:nvPr/>
        </p:nvSpPr>
        <p:spPr>
          <a:xfrm>
            <a:off x="7461504" y="1426464"/>
            <a:ext cx="1664208" cy="1243584"/>
          </a:xfrm>
          <a:prstGeom prst="roundRect">
            <a:avLst>
              <a:gd name="adj" fmla="val 588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13" name="Image 1" descr="C:\Users\Diego Obando\dev\pro402-taller-de-testing-2026\clases\semana-01\02\ppt\source\assets\tools\ruff-mark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69717" y="1572768"/>
            <a:ext cx="447782" cy="547177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552944" y="2350008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ruff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7406640" y="2852928"/>
            <a:ext cx="1773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spc="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SEÑALES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9454896" y="1426464"/>
            <a:ext cx="1664208" cy="1243584"/>
          </a:xfrm>
          <a:prstGeom prst="roundRect">
            <a:avLst>
              <a:gd name="adj" fmla="val 588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17" name="Image 2" descr="C:\Users\Diego Obando\dev\pro402-taller-de-testing-2026\clases\semana-01\02\ppt\source\assets\tools\pyrefly-mark-invert.sv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940592" y="1572768"/>
            <a:ext cx="692816" cy="54717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546336" y="2350008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Pyrefly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9400032" y="2852928"/>
            <a:ext cx="1773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spc="8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CONTRATOS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7461504" y="3273552"/>
            <a:ext cx="1664208" cy="1243584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pic>
        <p:nvPicPr>
          <p:cNvPr id="21" name="Image 3" descr="C:\Users\Diego Obando\dev\pro402-taller-de-testing-2026\clases\semana-01\02\ppt\source\assets\tools\pytest-logo.sv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951622" y="3346704"/>
            <a:ext cx="683971" cy="683971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552944" y="4197096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pytest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7406640" y="4700016"/>
            <a:ext cx="1773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spc="80" kern="0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COMPORTAMIENTO</a:t>
            </a:r>
            <a:endParaRPr lang="en-US" sz="950" dirty="0"/>
          </a:p>
        </p:txBody>
      </p:sp>
      <p:sp>
        <p:nvSpPr>
          <p:cNvPr id="24" name="Shape 18"/>
          <p:cNvSpPr/>
          <p:nvPr/>
        </p:nvSpPr>
        <p:spPr>
          <a:xfrm>
            <a:off x="658368" y="4901184"/>
            <a:ext cx="10863072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932688" y="5102352"/>
            <a:ext cx="1993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PAUSA · 10 MIN</a:t>
            </a:r>
            <a:endParaRPr lang="en-US" sz="1100" dirty="0"/>
          </a:p>
        </p:txBody>
      </p:sp>
      <p:sp>
        <p:nvSpPr>
          <p:cNvPr id="26" name="Text 20"/>
          <p:cNvSpPr txBox="1"/>
          <p:nvPr/>
        </p:nvSpPr>
        <p:spPr>
          <a:xfrm>
            <a:off x="2926080" y="5065776"/>
            <a:ext cx="7808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DESPUÉS → convertimos 3.95 → 4.0 en una prueba repetible</a:t>
            </a:r>
            <a:endParaRPr lang="en-US" sz="17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0" y="313516"/>
            <a:ext cx="1298448" cy="4519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74980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8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30 MINUTOS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148132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prueba conserva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2286000"/>
            <a:ext cx="74615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 que el equipo decidió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3419856"/>
            <a:ext cx="70774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Objetivo: convertir el defecto 3.95 → 3.9 en evidencia roja, corregir la causa y demostrar el cambio.</a:t>
            </a:r>
            <a:endParaRPr lang="en-US" sz="1900" dirty="0"/>
          </a:p>
        </p:txBody>
      </p:sp>
      <p:pic>
        <p:nvPicPr>
          <p:cNvPr id="12" name="Image 1" descr="C:\Users\Diego Obando\dev\pro402-taller-de-testing-2026\clases\semana-01\02\ppt\source\assets\tools\pytest-logo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58200" y="1353312"/>
            <a:ext cx="2468880" cy="24688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8065008" y="4114800"/>
            <a:ext cx="3273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COMPORTAMIENTO EJECUTABLE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58368" y="4882896"/>
            <a:ext cx="10863072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1078992" y="5157216"/>
            <a:ext cx="1078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ROJO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2340864" y="5065776"/>
            <a:ext cx="676656" cy="42062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3255264" y="5157216"/>
            <a:ext cx="1426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DECIDIR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4919472" y="5065776"/>
            <a:ext cx="676656" cy="42062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870448" y="5157216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CORREGIR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7699248" y="5065776"/>
            <a:ext cx="676656" cy="42062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577072" y="5157216"/>
            <a:ext cx="23225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VERDE CON EVIDENCIA</a:t>
            </a:r>
            <a:endParaRPr lang="en-US" sz="15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0" y="313312"/>
            <a:ext cx="1298448" cy="452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42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3.1 · PERSISTIR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86384"/>
            <a:ext cx="8869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comprobación manual se pierde</a:t>
            </a:r>
            <a:endParaRPr lang="en-US" sz="31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490472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prueba conserva entrada, acción y expectativa dentro del proyecto.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58368" y="2212848"/>
            <a:ext cx="4315968" cy="3182112"/>
          </a:xfrm>
          <a:prstGeom prst="roundRect">
            <a:avLst>
              <a:gd name="adj" fmla="val 2299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69264" y="2523744"/>
            <a:ext cx="2066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1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MOMENTO MANUAL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969264" y="2962656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Alguien debe recordar…</a:t>
            </a:r>
            <a:endParaRPr lang="en-US" sz="2300" dirty="0"/>
          </a:p>
        </p:txBody>
      </p:sp>
      <p:sp>
        <p:nvSpPr>
          <p:cNvPr id="14" name="Text 11"/>
          <p:cNvSpPr txBox="1"/>
          <p:nvPr/>
        </p:nvSpPr>
        <p:spPr>
          <a:xfrm>
            <a:off x="987552" y="3602736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1499616" y="3694176"/>
            <a:ext cx="457200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none"/>
            <a:tailEnd type="none"/>
          </a:ln>
        </p:spPr>
      </p:sp>
      <p:sp>
        <p:nvSpPr>
          <p:cNvPr id="16" name="Text 13"/>
          <p:cNvSpPr txBox="1"/>
          <p:nvPr/>
        </p:nvSpPr>
        <p:spPr>
          <a:xfrm>
            <a:off x="2103120" y="358444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comando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987552" y="4041648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1499616" y="4133088"/>
            <a:ext cx="457200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none"/>
            <a:tailEnd type="none"/>
          </a:ln>
        </p:spPr>
      </p:sp>
      <p:sp>
        <p:nvSpPr>
          <p:cNvPr id="19" name="Text 16"/>
          <p:cNvSpPr txBox="1"/>
          <p:nvPr/>
        </p:nvSpPr>
        <p:spPr>
          <a:xfrm>
            <a:off x="2103120" y="40233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los datos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987552" y="448056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1499616" y="4572000"/>
            <a:ext cx="457200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none"/>
            <a:tailEnd type="none"/>
          </a:ln>
        </p:spPr>
      </p:sp>
      <p:sp>
        <p:nvSpPr>
          <p:cNvPr id="22" name="Text 19"/>
          <p:cNvSpPr txBox="1"/>
          <p:nvPr/>
        </p:nvSpPr>
        <p:spPr>
          <a:xfrm>
            <a:off x="2103120" y="446227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resultado esperado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5230368" y="3511296"/>
            <a:ext cx="859536" cy="42062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327648" y="2212848"/>
            <a:ext cx="5212080" cy="3182112"/>
          </a:xfrm>
          <a:prstGeom prst="roundRect">
            <a:avLst>
              <a:gd name="adj" fmla="val 2299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675120" y="2523744"/>
            <a:ext cx="2615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1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EVIDENCIA PERSISTENTE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6675120" y="2999232"/>
            <a:ext cx="43708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test_notas.py</a:t>
            </a:r>
            <a:endParaRPr lang="en-US" sz="2500" dirty="0"/>
          </a:p>
        </p:txBody>
      </p:sp>
      <p:sp>
        <p:nvSpPr>
          <p:cNvPr id="27" name="Text 24"/>
          <p:cNvSpPr txBox="1"/>
          <p:nvPr/>
        </p:nvSpPr>
        <p:spPr>
          <a:xfrm>
            <a:off x="6675120" y="3749040"/>
            <a:ext cx="42611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Entrada + acción + expectativa quedan juntas, versionables y repetibles.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6675120" y="4663440"/>
            <a:ext cx="4224528" cy="420624"/>
          </a:xfrm>
          <a:prstGeom prst="roundRect">
            <a:avLst>
              <a:gd name="adj" fmla="val 10870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675120" y="4663440"/>
            <a:ext cx="42245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PRUEBA DE REGRESIÓN  ·  el defecto no vuelve en silencio</a:t>
            </a:r>
            <a:endParaRPr lang="en-US" sz="11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0" y="313312"/>
            <a:ext cx="1298448" cy="452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43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3.1 · ESTRUCTURA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86384"/>
            <a:ext cx="8869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Toda prueba responde tres preguntas</a:t>
            </a:r>
            <a:endParaRPr lang="en-US" sz="31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490472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caso deja de depender de la memoria cuando cada pieza queda escrita.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58368" y="2286000"/>
            <a:ext cx="10863072" cy="2322576"/>
          </a:xfrm>
          <a:prstGeom prst="roundRect">
            <a:avLst>
              <a:gd name="adj" fmla="val 315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69264" y="257860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1572768" y="2670048"/>
            <a:ext cx="566928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none"/>
            <a:tailEnd type="none"/>
          </a:ln>
        </p:spPr>
      </p:sp>
      <p:sp>
        <p:nvSpPr>
          <p:cNvPr id="14" name="Text 11"/>
          <p:cNvSpPr txBox="1"/>
          <p:nvPr/>
        </p:nvSpPr>
        <p:spPr>
          <a:xfrm>
            <a:off x="2286000" y="25603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ENTRADA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969264" y="3127248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¿Con qué datos?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969264" y="3785616"/>
            <a:ext cx="3090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[3.8, 4.1, 3.95]</a:t>
            </a:r>
            <a:endParaRPr lang="en-US" sz="1650" dirty="0"/>
          </a:p>
        </p:txBody>
      </p:sp>
      <p:sp>
        <p:nvSpPr>
          <p:cNvPr id="17" name="Shape 14"/>
          <p:cNvSpPr/>
          <p:nvPr/>
        </p:nvSpPr>
        <p:spPr>
          <a:xfrm>
            <a:off x="4133088" y="3273552"/>
            <a:ext cx="310896" cy="42062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626864" y="257860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230368" y="2670048"/>
            <a:ext cx="566928" cy="0"/>
          </a:xfrm>
          <a:prstGeom prst="line">
            <a:avLst/>
          </a:prstGeom>
          <a:noFill/>
          <a:ln w="12700">
            <a:solidFill>
              <a:srgbClr val="E0BC5A"/>
            </a:solidFill>
            <a:prstDash val="solid"/>
            <a:headEnd type="none"/>
            <a:tailEnd type="none"/>
          </a:ln>
        </p:spPr>
      </p:sp>
      <p:sp>
        <p:nvSpPr>
          <p:cNvPr id="20" name="Text 17"/>
          <p:cNvSpPr txBox="1"/>
          <p:nvPr/>
        </p:nvSpPr>
        <p:spPr>
          <a:xfrm>
            <a:off x="5943600" y="25603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ACCIÓN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4626864" y="3127248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ejecutamos?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4626864" y="3785616"/>
            <a:ext cx="3090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nota_final(...) </a:t>
            </a:r>
            <a:endParaRPr lang="en-US" sz="2000" dirty="0"/>
          </a:p>
        </p:txBody>
      </p:sp>
      <p:sp>
        <p:nvSpPr>
          <p:cNvPr id="23" name="Shape 20"/>
          <p:cNvSpPr/>
          <p:nvPr/>
        </p:nvSpPr>
        <p:spPr>
          <a:xfrm>
            <a:off x="7790688" y="3273552"/>
            <a:ext cx="310896" cy="42062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84464" y="257860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8887968" y="2670048"/>
            <a:ext cx="566928" cy="0"/>
          </a:xfrm>
          <a:prstGeom prst="line">
            <a:avLst/>
          </a:prstGeom>
          <a:noFill/>
          <a:ln w="12700">
            <a:solidFill>
              <a:srgbClr val="3FAE6A"/>
            </a:solidFill>
            <a:prstDash val="solid"/>
            <a:headEnd type="none"/>
            <a:tailEnd type="none"/>
          </a:ln>
        </p:spPr>
      </p:sp>
      <p:sp>
        <p:nvSpPr>
          <p:cNvPr id="26" name="Text 23"/>
          <p:cNvSpPr txBox="1"/>
          <p:nvPr/>
        </p:nvSpPr>
        <p:spPr>
          <a:xfrm>
            <a:off x="9601200" y="25603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EXPECTATIVA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8284464" y="3127248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debe ocurrir?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8284464" y="3785616"/>
            <a:ext cx="3090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 4.0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658368" y="4992624"/>
            <a:ext cx="10863072" cy="822960"/>
          </a:xfrm>
          <a:prstGeom prst="roundRect">
            <a:avLst>
              <a:gd name="adj" fmla="val 5556"/>
            </a:avLst>
          </a:prstGeom>
          <a:solidFill>
            <a:srgbClr val="FBF3DE"/>
          </a:solidFill>
          <a:ln w="12700">
            <a:solidFill>
              <a:srgbClr val="FBF3DE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50976" y="5248656"/>
            <a:ext cx="10259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prueba no demuestra todo: demuestra una expectativa concreta para una entrada concreta.</a:t>
            </a:r>
            <a:endParaRPr lang="en-US" sz="16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0" y="313312"/>
            <a:ext cx="1298448" cy="452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44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3.2 · ESCRIBIR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86384"/>
            <a:ext cx="88696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primera prueba documenta un caso normal</a:t>
            </a:r>
            <a:endParaRPr lang="en-US" sz="29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737360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nombre expresa el comportamiento; el assert vuelve ejecutable la expectativa.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58368" y="2194560"/>
            <a:ext cx="6601968" cy="3584448"/>
          </a:xfrm>
          <a:prstGeom prst="roundRect">
            <a:avLst>
              <a:gd name="adj" fmla="val 102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86384" y="2304288"/>
            <a:ext cx="6345936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96112" y="2377440"/>
            <a:ext cx="6126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test_notas.py · primera prueba</a:t>
            </a:r>
            <a:endParaRPr lang="en-US" sz="10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7824" y="2761488"/>
            <a:ext cx="6181344" cy="28346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7918704" y="2194560"/>
            <a:ext cx="3401568" cy="3584448"/>
          </a:xfrm>
          <a:prstGeom prst="roundRect">
            <a:avLst>
              <a:gd name="adj" fmla="val 188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156448" y="2432304"/>
            <a:ext cx="73152" cy="25603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375904" y="2450592"/>
            <a:ext cx="2706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CÓMO LEER ESTA PRUEBA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672084" y="3405166"/>
            <a:ext cx="219456" cy="21945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72084" y="340516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840" dirty="0"/>
          </a:p>
        </p:txBody>
      </p:sp>
      <p:sp>
        <p:nvSpPr>
          <p:cNvPr id="20" name="Shape 16"/>
          <p:cNvSpPr/>
          <p:nvPr/>
        </p:nvSpPr>
        <p:spPr>
          <a:xfrm>
            <a:off x="8156448" y="2999232"/>
            <a:ext cx="292608" cy="292608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8156448" y="2999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20" dirty="0"/>
          </a:p>
        </p:txBody>
      </p:sp>
      <p:sp>
        <p:nvSpPr>
          <p:cNvPr id="22" name="Text 18"/>
          <p:cNvSpPr/>
          <p:nvPr/>
        </p:nvSpPr>
        <p:spPr>
          <a:xfrm>
            <a:off x="8558784" y="3044952"/>
            <a:ext cx="2505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8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L4 · COMPORTAMIENTO</a:t>
            </a:r>
            <a:endParaRPr lang="en-US" sz="880" dirty="0"/>
          </a:p>
        </p:txBody>
      </p:sp>
      <p:sp>
        <p:nvSpPr>
          <p:cNvPr id="23" name="Text 19"/>
          <p:cNvSpPr/>
          <p:nvPr/>
        </p:nvSpPr>
        <p:spPr>
          <a:xfrm>
            <a:off x="8156448" y="338328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Nombre que explica</a:t>
            </a:r>
            <a:endParaRPr lang="en-US" sz="1650" dirty="0"/>
          </a:p>
        </p:txBody>
      </p:sp>
      <p:sp>
        <p:nvSpPr>
          <p:cNvPr id="24" name="Text 20"/>
          <p:cNvSpPr/>
          <p:nvPr/>
        </p:nvSpPr>
        <p:spPr>
          <a:xfrm>
            <a:off x="8156448" y="3785616"/>
            <a:ext cx="2926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prueba dice qué capacidad está verificando.</a:t>
            </a:r>
            <a:endParaRPr lang="en-US" sz="1280" dirty="0"/>
          </a:p>
        </p:txBody>
      </p:sp>
      <p:sp>
        <p:nvSpPr>
          <p:cNvPr id="25" name="Shape 21"/>
          <p:cNvSpPr/>
          <p:nvPr/>
        </p:nvSpPr>
        <p:spPr>
          <a:xfrm>
            <a:off x="672084" y="3617993"/>
            <a:ext cx="219456" cy="219456"/>
          </a:xfrm>
          <a:prstGeom prst="ellipse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72084" y="3617993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840" dirty="0"/>
          </a:p>
        </p:txBody>
      </p:sp>
      <p:sp>
        <p:nvSpPr>
          <p:cNvPr id="27" name="Shape 23"/>
          <p:cNvSpPr/>
          <p:nvPr/>
        </p:nvSpPr>
        <p:spPr>
          <a:xfrm>
            <a:off x="8156448" y="4233672"/>
            <a:ext cx="2926080" cy="0"/>
          </a:xfrm>
          <a:prstGeom prst="line">
            <a:avLst/>
          </a:prstGeom>
          <a:noFill/>
          <a:ln w="12700">
            <a:solidFill>
              <a:srgbClr val="284B75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8156448" y="4379976"/>
            <a:ext cx="292608" cy="292608"/>
          </a:xfrm>
          <a:prstGeom prst="ellipse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8156448" y="43799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20" dirty="0"/>
          </a:p>
        </p:txBody>
      </p:sp>
      <p:sp>
        <p:nvSpPr>
          <p:cNvPr id="30" name="Text 26"/>
          <p:cNvSpPr/>
          <p:nvPr/>
        </p:nvSpPr>
        <p:spPr>
          <a:xfrm>
            <a:off x="8558784" y="4425696"/>
            <a:ext cx="2505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80" kern="0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L5 · EXPECTATIVA</a:t>
            </a:r>
            <a:endParaRPr lang="en-US" sz="880" dirty="0"/>
          </a:p>
        </p:txBody>
      </p:sp>
      <p:sp>
        <p:nvSpPr>
          <p:cNvPr id="31" name="Text 27"/>
          <p:cNvSpPr/>
          <p:nvPr/>
        </p:nvSpPr>
        <p:spPr>
          <a:xfrm>
            <a:off x="8156448" y="476402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obtenido == esperado</a:t>
            </a:r>
            <a:endParaRPr lang="en-US" sz="1600" dirty="0"/>
          </a:p>
        </p:txBody>
      </p:sp>
      <p:sp>
        <p:nvSpPr>
          <p:cNvPr id="32" name="Text 28"/>
          <p:cNvSpPr/>
          <p:nvPr/>
        </p:nvSpPr>
        <p:spPr>
          <a:xfrm>
            <a:off x="8156448" y="5166360"/>
            <a:ext cx="2926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la igualdad no se cumple, pytest conserva el desacuerdo.</a:t>
            </a:r>
            <a:endParaRPr lang="en-US" sz="128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0" y="313312"/>
            <a:ext cx="1298448" cy="452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45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3.2 · DESCUBRIR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86384"/>
            <a:ext cx="88696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pytest encuentra la prueba por convención</a:t>
            </a:r>
            <a:endParaRPr lang="en-US" sz="29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737360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registramos el caso manualmente: el nombre del archivo y de la función lo hacen descubrible.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58368" y="2231136"/>
            <a:ext cx="3858768" cy="3255264"/>
          </a:xfrm>
          <a:prstGeom prst="roundRect">
            <a:avLst>
              <a:gd name="adj" fmla="val 224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69264" y="2523744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PROYECTO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987552" y="312724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notas.py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896112" y="3675888"/>
            <a:ext cx="3419856" cy="621792"/>
          </a:xfrm>
          <a:prstGeom prst="roundRect">
            <a:avLst>
              <a:gd name="adj" fmla="val 7353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78992" y="384048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test_notas.py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078992" y="4572000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2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└── test_calcula_promedio_normal</a:t>
            </a:r>
            <a:endParaRPr lang="en-US" sz="1320" dirty="0"/>
          </a:p>
        </p:txBody>
      </p:sp>
      <p:sp>
        <p:nvSpPr>
          <p:cNvPr id="17" name="Shape 14"/>
          <p:cNvSpPr/>
          <p:nvPr/>
        </p:nvSpPr>
        <p:spPr>
          <a:xfrm>
            <a:off x="4882896" y="2322576"/>
            <a:ext cx="665683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882896" y="2322576"/>
            <a:ext cx="91440" cy="82296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193792" y="257860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5907024" y="2505456"/>
            <a:ext cx="1536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8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ARCHIVO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7552944" y="2505456"/>
            <a:ext cx="3547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comienza con test_</a:t>
            </a:r>
            <a:endParaRPr lang="en-US" sz="1700" dirty="0"/>
          </a:p>
        </p:txBody>
      </p:sp>
      <p:sp>
        <p:nvSpPr>
          <p:cNvPr id="22" name="Shape 19"/>
          <p:cNvSpPr/>
          <p:nvPr/>
        </p:nvSpPr>
        <p:spPr>
          <a:xfrm>
            <a:off x="4882896" y="3346704"/>
            <a:ext cx="665683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882896" y="3346704"/>
            <a:ext cx="91440" cy="82296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193792" y="360273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5907024" y="3529584"/>
            <a:ext cx="1536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8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FUNCIÓN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7552944" y="3529584"/>
            <a:ext cx="3547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comienza con test_</a:t>
            </a:r>
            <a:endParaRPr lang="en-US" sz="1700" dirty="0"/>
          </a:p>
        </p:txBody>
      </p:sp>
      <p:sp>
        <p:nvSpPr>
          <p:cNvPr id="27" name="Shape 24"/>
          <p:cNvSpPr/>
          <p:nvPr/>
        </p:nvSpPr>
        <p:spPr>
          <a:xfrm>
            <a:off x="4882896" y="4370832"/>
            <a:ext cx="665683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882896" y="4370832"/>
            <a:ext cx="91440" cy="82296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193792" y="462686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5907024" y="4553712"/>
            <a:ext cx="1536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8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EXPECTATIVA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7552944" y="4553712"/>
            <a:ext cx="3547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 assert de Python</a:t>
            </a:r>
            <a:endParaRPr lang="en-US" sz="1700" dirty="0"/>
          </a:p>
        </p:txBody>
      </p:sp>
      <p:sp>
        <p:nvSpPr>
          <p:cNvPr id="32" name="Shape 29"/>
          <p:cNvSpPr/>
          <p:nvPr/>
        </p:nvSpPr>
        <p:spPr>
          <a:xfrm>
            <a:off x="4882896" y="5468112"/>
            <a:ext cx="6656832" cy="438912"/>
          </a:xfrm>
          <a:prstGeom prst="roundRect">
            <a:avLst>
              <a:gd name="adj" fmla="val 10417"/>
            </a:avLst>
          </a:prstGeom>
          <a:solidFill>
            <a:srgbClr val="E9F6EE"/>
          </a:solidFill>
          <a:ln w="12700">
            <a:solidFill>
              <a:srgbClr val="E9F6E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4882896" y="5468112"/>
            <a:ext cx="6656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FAE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run pytest -q  →  descubre y ejecuta</a:t>
            </a:r>
            <a:endParaRPr lang="en-US" sz="13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0" y="313312"/>
            <a:ext cx="1298448" cy="452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46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3.2 · EJECUTAR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86384"/>
            <a:ext cx="8869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primer verde tiene alcance limitado</a:t>
            </a:r>
            <a:endParaRPr lang="en-US" sz="31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490472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herramienta confirma un ejemplo; nosotros debemos nombrar qué quedó cubierto.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58368" y="2231136"/>
            <a:ext cx="7479792" cy="3054096"/>
          </a:xfrm>
          <a:prstGeom prst="roundRect">
            <a:avLst>
              <a:gd name="adj" fmla="val 1198"/>
            </a:avLst>
          </a:prstGeom>
          <a:solidFill>
            <a:srgbClr val="0F1720"/>
          </a:solidFill>
          <a:ln w="12700">
            <a:solidFill>
              <a:srgbClr val="0F172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86384" y="2340864"/>
            <a:ext cx="7223760" cy="310896"/>
          </a:xfrm>
          <a:prstGeom prst="roundRect">
            <a:avLst>
              <a:gd name="adj" fmla="val 8824"/>
            </a:avLst>
          </a:prstGeom>
          <a:solidFill>
            <a:srgbClr val="1E2937"/>
          </a:solidFill>
          <a:ln w="12700">
            <a:solidFill>
              <a:srgbClr val="1E293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2414016"/>
            <a:ext cx="69677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PowerShell · primera ejecución de pytest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77824" y="2798064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BC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188720" y="2798064"/>
            <a:ext cx="67299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run pytest -q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77824" y="3054096"/>
            <a:ext cx="67299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                                      [100%]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77824" y="3310128"/>
            <a:ext cx="67299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passed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8430768" y="2432304"/>
            <a:ext cx="3108960" cy="1078992"/>
          </a:xfrm>
          <a:prstGeom prst="roundRect">
            <a:avLst>
              <a:gd name="adj" fmla="val 5932"/>
            </a:avLst>
          </a:prstGeom>
          <a:solidFill>
            <a:srgbClr val="E9F6EE"/>
          </a:solidFill>
          <a:ln w="12700">
            <a:solidFill>
              <a:srgbClr val="E9F6E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759952" y="2688336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3FAE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PASSED</a:t>
            </a:r>
            <a:endParaRPr lang="en-US" sz="2300" dirty="0"/>
          </a:p>
        </p:txBody>
      </p:sp>
      <p:sp>
        <p:nvSpPr>
          <p:cNvPr id="20" name="Text 17"/>
          <p:cNvSpPr txBox="1"/>
          <p:nvPr/>
        </p:nvSpPr>
        <p:spPr>
          <a:xfrm>
            <a:off x="8686800" y="3840480"/>
            <a:ext cx="2578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demuestra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8613648" y="4224528"/>
            <a:ext cx="2724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caso normal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8741664" y="4773168"/>
            <a:ext cx="2468880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  <a:headEnd type="none"/>
            <a:tailEnd type="none"/>
          </a:ln>
        </p:spPr>
      </p:sp>
      <p:sp>
        <p:nvSpPr>
          <p:cNvPr id="23" name="Text 20"/>
          <p:cNvSpPr txBox="1"/>
          <p:nvPr/>
        </p:nvSpPr>
        <p:spPr>
          <a:xfrm>
            <a:off x="8650224" y="4992624"/>
            <a:ext cx="26700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demuestra todos los valores posibles.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658368" y="5596128"/>
            <a:ext cx="10863072" cy="438912"/>
          </a:xfrm>
          <a:prstGeom prst="roundRect">
            <a:avLst>
              <a:gd name="adj" fmla="val 8333"/>
            </a:avLst>
          </a:prstGeom>
          <a:solidFill>
            <a:srgbClr val="FBF3DE"/>
          </a:solidFill>
          <a:ln w="12700">
            <a:solidFill>
              <a:srgbClr val="FBF3DE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32688" y="5596128"/>
            <a:ext cx="10314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VERDE CON APELLIDO  ·  pasó el promedio normal [6.0, 5.5, 6.5] → 6.0</a:t>
            </a:r>
            <a:endParaRPr lang="en-US" sz="13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0" y="313312"/>
            <a:ext cx="1298448" cy="452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47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3.3 · REGRESIÓN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86384"/>
            <a:ext cx="88696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defecto conocido se vuelve una prueba</a:t>
            </a:r>
            <a:endParaRPr lang="en-US" sz="29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737360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Conservamos el caso normal y agregamos una expectativa que hoy la implementación no cumple.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58368" y="2377440"/>
            <a:ext cx="6711696" cy="3474720"/>
          </a:xfrm>
          <a:prstGeom prst="roundRect">
            <a:avLst>
              <a:gd name="adj" fmla="val 105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86384" y="2487168"/>
            <a:ext cx="6455664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96112" y="2560320"/>
            <a:ext cx="62362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test_notas.py · caso normal + regresión</a:t>
            </a:r>
            <a:endParaRPr lang="en-US" sz="10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7824" y="2944368"/>
            <a:ext cx="6291072" cy="2724912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8010144" y="2377440"/>
            <a:ext cx="3310128" cy="3474720"/>
          </a:xfrm>
          <a:prstGeom prst="roundRect">
            <a:avLst>
              <a:gd name="adj" fmla="val 1934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247888" y="2615184"/>
            <a:ext cx="73152" cy="25603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467344" y="2633472"/>
            <a:ext cx="2615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CONSERVA LA REGRESIÓN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672084" y="4294566"/>
            <a:ext cx="219456" cy="21945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72084" y="429456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840" dirty="0"/>
          </a:p>
        </p:txBody>
      </p:sp>
      <p:sp>
        <p:nvSpPr>
          <p:cNvPr id="20" name="Shape 16"/>
          <p:cNvSpPr/>
          <p:nvPr/>
        </p:nvSpPr>
        <p:spPr>
          <a:xfrm>
            <a:off x="8247888" y="3182112"/>
            <a:ext cx="292608" cy="292608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8247888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20" dirty="0"/>
          </a:p>
        </p:txBody>
      </p:sp>
      <p:sp>
        <p:nvSpPr>
          <p:cNvPr id="22" name="Text 18"/>
          <p:cNvSpPr/>
          <p:nvPr/>
        </p:nvSpPr>
        <p:spPr>
          <a:xfrm>
            <a:off x="8650224" y="3227832"/>
            <a:ext cx="2414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L8 · NOMBRE ESPECÍFICO</a:t>
            </a:r>
            <a:endParaRPr lang="en-US" sz="880" dirty="0"/>
          </a:p>
        </p:txBody>
      </p:sp>
      <p:sp>
        <p:nvSpPr>
          <p:cNvPr id="23" name="Text 19"/>
          <p:cNvSpPr/>
          <p:nvPr/>
        </p:nvSpPr>
        <p:spPr>
          <a:xfrm>
            <a:off x="8247888" y="356616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Defecto identificable</a:t>
            </a:r>
            <a:endParaRPr lang="en-US" sz="1600" dirty="0"/>
          </a:p>
        </p:txBody>
      </p:sp>
      <p:sp>
        <p:nvSpPr>
          <p:cNvPr id="24" name="Text 20"/>
          <p:cNvSpPr/>
          <p:nvPr/>
        </p:nvSpPr>
        <p:spPr>
          <a:xfrm>
            <a:off x="8247888" y="395020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falla, sabemos qué regla está en disputa.</a:t>
            </a:r>
            <a:endParaRPr lang="en-US" sz="1250" dirty="0"/>
          </a:p>
        </p:txBody>
      </p:sp>
      <p:sp>
        <p:nvSpPr>
          <p:cNvPr id="25" name="Shape 21"/>
          <p:cNvSpPr/>
          <p:nvPr/>
        </p:nvSpPr>
        <p:spPr>
          <a:xfrm>
            <a:off x="672084" y="4488191"/>
            <a:ext cx="219456" cy="219456"/>
          </a:xfrm>
          <a:prstGeom prst="ellipse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72084" y="4488191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840" dirty="0"/>
          </a:p>
        </p:txBody>
      </p:sp>
      <p:sp>
        <p:nvSpPr>
          <p:cNvPr id="27" name="Shape 23"/>
          <p:cNvSpPr/>
          <p:nvPr/>
        </p:nvSpPr>
        <p:spPr>
          <a:xfrm>
            <a:off x="8247888" y="4361688"/>
            <a:ext cx="2834640" cy="0"/>
          </a:xfrm>
          <a:prstGeom prst="line">
            <a:avLst/>
          </a:prstGeom>
          <a:noFill/>
          <a:ln w="12700">
            <a:solidFill>
              <a:srgbClr val="284B75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8247888" y="4507992"/>
            <a:ext cx="292608" cy="292608"/>
          </a:xfrm>
          <a:prstGeom prst="ellipse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8247888" y="45079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20" dirty="0"/>
          </a:p>
        </p:txBody>
      </p:sp>
      <p:sp>
        <p:nvSpPr>
          <p:cNvPr id="30" name="Text 26"/>
          <p:cNvSpPr/>
          <p:nvPr/>
        </p:nvSpPr>
        <p:spPr>
          <a:xfrm>
            <a:off x="8650224" y="4553712"/>
            <a:ext cx="2414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80" kern="0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L9 · FUENTE DE VERDAD</a:t>
            </a:r>
            <a:endParaRPr lang="en-US" sz="880" dirty="0"/>
          </a:p>
        </p:txBody>
      </p:sp>
      <p:sp>
        <p:nvSpPr>
          <p:cNvPr id="31" name="Text 27"/>
          <p:cNvSpPr/>
          <p:nvPr/>
        </p:nvSpPr>
        <p:spPr>
          <a:xfrm>
            <a:off x="8247888" y="489204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4.0 permanece fijo</a:t>
            </a:r>
            <a:endParaRPr lang="en-US" sz="1900" dirty="0"/>
          </a:p>
        </p:txBody>
      </p:sp>
      <p:sp>
        <p:nvSpPr>
          <p:cNvPr id="32" name="Text 28"/>
          <p:cNvSpPr/>
          <p:nvPr/>
        </p:nvSpPr>
        <p:spPr>
          <a:xfrm>
            <a:off x="8247888" y="529437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prueba guarda la regla acordada; no el resultado defectuoso.</a:t>
            </a:r>
            <a:endParaRPr lang="en-US" sz="12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0" y="313516"/>
            <a:ext cx="1298448" cy="4519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48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74980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6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3.3 · EJECUTAR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1298448"/>
            <a:ext cx="70591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Rojo no significa fracaso</a:t>
            </a:r>
            <a:endParaRPr lang="en-US" sz="37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2029968"/>
            <a:ext cx="6894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5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Significa que la prueba encontró una diferencia real.</a:t>
            </a:r>
            <a:endParaRPr lang="en-US" sz="1850" dirty="0"/>
          </a:p>
        </p:txBody>
      </p:sp>
      <p:sp>
        <p:nvSpPr>
          <p:cNvPr id="11" name="Shape 8"/>
          <p:cNvSpPr/>
          <p:nvPr/>
        </p:nvSpPr>
        <p:spPr>
          <a:xfrm>
            <a:off x="658368" y="2688336"/>
            <a:ext cx="7424928" cy="2907792"/>
          </a:xfrm>
          <a:prstGeom prst="roundRect">
            <a:avLst>
              <a:gd name="adj" fmla="val 1258"/>
            </a:avLst>
          </a:prstGeom>
          <a:solidFill>
            <a:srgbClr val="0F1720"/>
          </a:solidFill>
          <a:ln w="12700">
            <a:solidFill>
              <a:srgbClr val="0F172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86384" y="2798064"/>
            <a:ext cx="7168896" cy="310896"/>
          </a:xfrm>
          <a:prstGeom prst="roundRect">
            <a:avLst>
              <a:gd name="adj" fmla="val 8824"/>
            </a:avLst>
          </a:prstGeom>
          <a:solidFill>
            <a:srgbClr val="1E2937"/>
          </a:solidFill>
          <a:ln w="12700">
            <a:solidFill>
              <a:srgbClr val="1E293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2871216"/>
            <a:ext cx="69128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PowerShell · evidencia roja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77824" y="3255264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60" b="1" dirty="0">
                <a:solidFill>
                  <a:srgbClr val="E0BC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260" dirty="0"/>
          </a:p>
        </p:txBody>
      </p:sp>
      <p:sp>
        <p:nvSpPr>
          <p:cNvPr id="15" name="Text 12"/>
          <p:cNvSpPr/>
          <p:nvPr/>
        </p:nvSpPr>
        <p:spPr>
          <a:xfrm>
            <a:off x="1188720" y="3255264"/>
            <a:ext cx="6675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6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run pytest -q</a:t>
            </a:r>
            <a:endParaRPr lang="en-US" sz="1260" dirty="0"/>
          </a:p>
        </p:txBody>
      </p:sp>
      <p:sp>
        <p:nvSpPr>
          <p:cNvPr id="16" name="Text 13"/>
          <p:cNvSpPr/>
          <p:nvPr/>
        </p:nvSpPr>
        <p:spPr>
          <a:xfrm>
            <a:off x="877824" y="3511296"/>
            <a:ext cx="6675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6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.F                                     [100%]</a:t>
            </a:r>
            <a:endParaRPr lang="en-US" sz="1260" dirty="0"/>
          </a:p>
        </p:txBody>
      </p:sp>
      <p:sp>
        <p:nvSpPr>
          <p:cNvPr id="17" name="Text 14"/>
          <p:cNvSpPr/>
          <p:nvPr/>
        </p:nvSpPr>
        <p:spPr>
          <a:xfrm>
            <a:off x="877824" y="3767328"/>
            <a:ext cx="6675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6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       assert 3.9 == 4.0</a:t>
            </a:r>
            <a:endParaRPr lang="en-US" sz="1260" dirty="0"/>
          </a:p>
        </p:txBody>
      </p:sp>
      <p:sp>
        <p:nvSpPr>
          <p:cNvPr id="18" name="Text 15"/>
          <p:cNvSpPr/>
          <p:nvPr/>
        </p:nvSpPr>
        <p:spPr>
          <a:xfrm>
            <a:off x="877824" y="4023360"/>
            <a:ext cx="6675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6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FAILED test_notas.py::test_redondea_395_a_40</a:t>
            </a:r>
            <a:endParaRPr lang="en-US" sz="1260" dirty="0"/>
          </a:p>
        </p:txBody>
      </p:sp>
      <p:sp>
        <p:nvSpPr>
          <p:cNvPr id="19" name="Text 16"/>
          <p:cNvSpPr/>
          <p:nvPr/>
        </p:nvSpPr>
        <p:spPr>
          <a:xfrm>
            <a:off x="877824" y="4279392"/>
            <a:ext cx="6675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6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failed, 1 passed</a:t>
            </a:r>
            <a:endParaRPr lang="en-US" sz="1260" dirty="0"/>
          </a:p>
        </p:txBody>
      </p:sp>
      <p:sp>
        <p:nvSpPr>
          <p:cNvPr id="20" name="Shape 17"/>
          <p:cNvSpPr/>
          <p:nvPr/>
        </p:nvSpPr>
        <p:spPr>
          <a:xfrm>
            <a:off x="8394192" y="2688336"/>
            <a:ext cx="3145536" cy="2907792"/>
          </a:xfrm>
          <a:prstGeom prst="roundRect">
            <a:avLst>
              <a:gd name="adj" fmla="val 251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05088" y="2999232"/>
            <a:ext cx="1060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OBTENIDO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9802368" y="2889504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700" b="1" dirty="0">
                <a:solidFill>
                  <a:srgbClr val="D620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3.9</a:t>
            </a:r>
            <a:endParaRPr lang="en-US" sz="2700" dirty="0"/>
          </a:p>
        </p:txBody>
      </p:sp>
      <p:sp>
        <p:nvSpPr>
          <p:cNvPr id="23" name="Shape 20"/>
          <p:cNvSpPr/>
          <p:nvPr/>
        </p:nvSpPr>
        <p:spPr>
          <a:xfrm>
            <a:off x="8705088" y="3529584"/>
            <a:ext cx="2340864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  <a:headEnd type="none"/>
            <a:tailEnd type="none"/>
          </a:ln>
        </p:spPr>
      </p:sp>
      <p:sp>
        <p:nvSpPr>
          <p:cNvPr id="24" name="Text 21"/>
          <p:cNvSpPr txBox="1"/>
          <p:nvPr/>
        </p:nvSpPr>
        <p:spPr>
          <a:xfrm>
            <a:off x="8705088" y="3803904"/>
            <a:ext cx="1170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80" kern="0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ESPERADO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9802368" y="3694176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700" b="1" dirty="0">
                <a:solidFill>
                  <a:srgbClr val="3FAE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4.0</a:t>
            </a:r>
            <a:endParaRPr lang="en-US" sz="2700" dirty="0"/>
          </a:p>
        </p:txBody>
      </p:sp>
      <p:sp>
        <p:nvSpPr>
          <p:cNvPr id="26" name="Shape 23"/>
          <p:cNvSpPr/>
          <p:nvPr/>
        </p:nvSpPr>
        <p:spPr>
          <a:xfrm>
            <a:off x="8668512" y="4407408"/>
            <a:ext cx="2578608" cy="530352"/>
          </a:xfrm>
          <a:prstGeom prst="roundRect">
            <a:avLst>
              <a:gd name="adj" fmla="val 862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668512" y="4407408"/>
            <a:ext cx="25786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DESACUERDO CAPTURADO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8705088" y="5010912"/>
            <a:ext cx="25420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7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prueba funciona: detectó lo que debía detectar.</a:t>
            </a:r>
            <a:endParaRPr lang="en-US" sz="127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0" y="313312"/>
            <a:ext cx="1298448" cy="452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49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3.3 · INTERPRETAR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86384"/>
            <a:ext cx="8869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falla se lee en un orden</a:t>
            </a:r>
            <a:endParaRPr lang="en-US" sz="31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490472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Antes de editar, reconstruimos qué se probó, qué ocurrió y dónde quedó registrado.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58368" y="2212848"/>
            <a:ext cx="10863072" cy="749808"/>
          </a:xfrm>
          <a:prstGeom prst="roundRect">
            <a:avLst>
              <a:gd name="adj" fmla="val 7317"/>
            </a:avLst>
          </a:prstGeom>
          <a:solidFill>
            <a:srgbClr val="0F1720"/>
          </a:solidFill>
          <a:ln w="12700">
            <a:solidFill>
              <a:srgbClr val="0F172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32688" y="2450592"/>
            <a:ext cx="10296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FAILED test_notas.py::test_redondea_395_a_40  ·  assert 3.9 == 4.0  ·  1 failed, 1 passed</a:t>
            </a:r>
            <a:endParaRPr lang="en-US" sz="1320" dirty="0"/>
          </a:p>
        </p:txBody>
      </p:sp>
      <p:sp>
        <p:nvSpPr>
          <p:cNvPr id="13" name="Shape 10"/>
          <p:cNvSpPr/>
          <p:nvPr/>
        </p:nvSpPr>
        <p:spPr>
          <a:xfrm>
            <a:off x="841248" y="3273552"/>
            <a:ext cx="420624" cy="42062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41248" y="32735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1499616" y="329184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COMPORTAMIENTO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3255264" y="3255264"/>
            <a:ext cx="3822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test_redondea_395_a_40</a:t>
            </a:r>
            <a:endParaRPr lang="en-US" sz="1550" dirty="0"/>
          </a:p>
        </p:txBody>
      </p:sp>
      <p:sp>
        <p:nvSpPr>
          <p:cNvPr id="17" name="Text 14"/>
          <p:cNvSpPr txBox="1"/>
          <p:nvPr/>
        </p:nvSpPr>
        <p:spPr>
          <a:xfrm>
            <a:off x="7351776" y="3255264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regla estaba bajo prueba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1499616" y="3767328"/>
            <a:ext cx="9582912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  <a:headEnd type="none"/>
            <a:tailEnd type="none"/>
          </a:ln>
        </p:spPr>
      </p:sp>
      <p:sp>
        <p:nvSpPr>
          <p:cNvPr id="19" name="Shape 16"/>
          <p:cNvSpPr/>
          <p:nvPr/>
        </p:nvSpPr>
        <p:spPr>
          <a:xfrm>
            <a:off x="841248" y="3913632"/>
            <a:ext cx="420624" cy="42062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41248" y="39136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1499616" y="393192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80" kern="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DIFERENCIA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3255264" y="3895344"/>
            <a:ext cx="3822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3.9 ≠ 4.0</a:t>
            </a:r>
            <a:endParaRPr lang="en-US" sz="1550" dirty="0"/>
          </a:p>
        </p:txBody>
      </p:sp>
      <p:sp>
        <p:nvSpPr>
          <p:cNvPr id="23" name="Text 20"/>
          <p:cNvSpPr txBox="1"/>
          <p:nvPr/>
        </p:nvSpPr>
        <p:spPr>
          <a:xfrm>
            <a:off x="7351776" y="3895344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obtenido frente a esperado</a:t>
            </a:r>
            <a:endParaRPr lang="en-US" sz="1450" dirty="0"/>
          </a:p>
        </p:txBody>
      </p:sp>
      <p:sp>
        <p:nvSpPr>
          <p:cNvPr id="24" name="Shape 21"/>
          <p:cNvSpPr/>
          <p:nvPr/>
        </p:nvSpPr>
        <p:spPr>
          <a:xfrm>
            <a:off x="1499616" y="4407408"/>
            <a:ext cx="9582912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  <a:headEnd type="none"/>
            <a:tailEnd type="none"/>
          </a:ln>
        </p:spPr>
      </p:sp>
      <p:sp>
        <p:nvSpPr>
          <p:cNvPr id="25" name="Shape 22"/>
          <p:cNvSpPr/>
          <p:nvPr/>
        </p:nvSpPr>
        <p:spPr>
          <a:xfrm>
            <a:off x="841248" y="4553712"/>
            <a:ext cx="420624" cy="420624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1248" y="45537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499616" y="457200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80" kern="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UBICACIÓN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3255264" y="4535424"/>
            <a:ext cx="3822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test_notas.py::...</a:t>
            </a:r>
            <a:endParaRPr lang="en-US" sz="1550" dirty="0"/>
          </a:p>
        </p:txBody>
      </p:sp>
      <p:sp>
        <p:nvSpPr>
          <p:cNvPr id="29" name="Text 26"/>
          <p:cNvSpPr txBox="1"/>
          <p:nvPr/>
        </p:nvSpPr>
        <p:spPr>
          <a:xfrm>
            <a:off x="7351776" y="4535424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archivo y prueba exacta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1499616" y="5047488"/>
            <a:ext cx="9582912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  <a:headEnd type="none"/>
            <a:tailEnd type="none"/>
          </a:ln>
        </p:spPr>
      </p:sp>
      <p:sp>
        <p:nvSpPr>
          <p:cNvPr id="31" name="Shape 28"/>
          <p:cNvSpPr/>
          <p:nvPr/>
        </p:nvSpPr>
        <p:spPr>
          <a:xfrm>
            <a:off x="841248" y="5193792"/>
            <a:ext cx="420624" cy="420624"/>
          </a:xfrm>
          <a:prstGeom prst="ellipse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41248" y="51937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1499616" y="521208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80" kern="0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ALCANCE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3255264" y="5175504"/>
            <a:ext cx="3822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failed · 1 passed</a:t>
            </a:r>
            <a:endParaRPr lang="en-US" sz="1550" dirty="0"/>
          </a:p>
        </p:txBody>
      </p:sp>
      <p:sp>
        <p:nvSpPr>
          <p:cNvPr id="35" name="Text 32"/>
          <p:cNvSpPr txBox="1"/>
          <p:nvPr/>
        </p:nvSpPr>
        <p:spPr>
          <a:xfrm>
            <a:off x="7351776" y="5175504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caso normal sigue verde</a:t>
            </a:r>
            <a:endParaRPr lang="en-US" sz="14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0" y="313312"/>
            <a:ext cx="1298448" cy="452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50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3.3 · LOCALIZAR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86384"/>
            <a:ext cx="88696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También podemos ejecutar una sola prueba</a:t>
            </a:r>
            <a:endParaRPr lang="en-US" sz="29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737360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identificador combina archivo y función para aislar el desacuerdo sin perder trazabilidad.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58368" y="2267712"/>
            <a:ext cx="10863072" cy="1225296"/>
          </a:xfrm>
          <a:prstGeom prst="roundRect">
            <a:avLst>
              <a:gd name="adj" fmla="val 2985"/>
            </a:avLst>
          </a:prstGeom>
          <a:solidFill>
            <a:srgbClr val="0F1720"/>
          </a:solidFill>
          <a:ln w="12700">
            <a:solidFill>
              <a:srgbClr val="0F172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86384" y="2377440"/>
            <a:ext cx="10607040" cy="310896"/>
          </a:xfrm>
          <a:prstGeom prst="roundRect">
            <a:avLst>
              <a:gd name="adj" fmla="val 8824"/>
            </a:avLst>
          </a:prstGeom>
          <a:solidFill>
            <a:srgbClr val="1E2937"/>
          </a:solidFill>
          <a:ln w="12700">
            <a:solidFill>
              <a:srgbClr val="1E293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2450592"/>
            <a:ext cx="103510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PowerShell · ejecución selectiva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77824" y="2834640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BC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188720" y="2834640"/>
            <a:ext cx="101132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run pytest -q test_notas.py::test_redondea_395_a_40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914400" y="3913632"/>
            <a:ext cx="3456432" cy="1243584"/>
          </a:xfrm>
          <a:prstGeom prst="roundRect">
            <a:avLst>
              <a:gd name="adj" fmla="val 514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207008" y="4187952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ARCHIVO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1207008" y="457200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test_notas.py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4608576" y="4279392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620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::</a:t>
            </a:r>
            <a:endParaRPr lang="en-US" sz="2700" dirty="0"/>
          </a:p>
        </p:txBody>
      </p:sp>
      <p:sp>
        <p:nvSpPr>
          <p:cNvPr id="20" name="Shape 17"/>
          <p:cNvSpPr/>
          <p:nvPr/>
        </p:nvSpPr>
        <p:spPr>
          <a:xfrm>
            <a:off x="5504688" y="3913632"/>
            <a:ext cx="5522976" cy="1243584"/>
          </a:xfrm>
          <a:prstGeom prst="roundRect">
            <a:avLst>
              <a:gd name="adj" fmla="val 5147"/>
            </a:avLst>
          </a:prstGeom>
          <a:solidFill>
            <a:srgbClr val="FBF3DE"/>
          </a:solidFill>
          <a:ln w="12700">
            <a:solidFill>
              <a:srgbClr val="FBF3D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815584" y="418795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FUNCIÓN DE PRUEBA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815584" y="4572000"/>
            <a:ext cx="4882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test_redondea_395_a_40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658368" y="5596128"/>
            <a:ext cx="10863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Aislar acelera la investigación; la suite completa sigue siendo la evidencia de cierre.</a:t>
            </a:r>
            <a:endParaRPr lang="en-US" sz="16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0" y="313516"/>
            <a:ext cx="1298448" cy="4519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74980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6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3.4 · ANTES DE EDITAR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1298448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prueba roja tiene tres sospechosos</a:t>
            </a:r>
            <a:endParaRPr lang="en-US" sz="35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20116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color no decide por nosotros; la fuente de verdad sí.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58368" y="2743200"/>
            <a:ext cx="3346704" cy="2212848"/>
          </a:xfrm>
          <a:prstGeom prst="roundRect">
            <a:avLst>
              <a:gd name="adj" fmla="val 2893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58368" y="2743200"/>
            <a:ext cx="3346704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32688" y="31089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1554480" y="3090672"/>
            <a:ext cx="2066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IMPLEMENTACIÓN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969264" y="3785616"/>
            <a:ext cx="2724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código no cumple la regla.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4334256" y="2743200"/>
            <a:ext cx="3346704" cy="2212848"/>
          </a:xfrm>
          <a:prstGeom prst="roundRect">
            <a:avLst>
              <a:gd name="adj" fmla="val 2893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334256" y="2743200"/>
            <a:ext cx="3346704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608576" y="31089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5230368" y="3090672"/>
            <a:ext cx="2066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80" kern="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EXPECTATIVA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4645152" y="3785616"/>
            <a:ext cx="2724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prueba pide algo incorrecto.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8010144" y="2743200"/>
            <a:ext cx="3346704" cy="2212848"/>
          </a:xfrm>
          <a:prstGeom prst="roundRect">
            <a:avLst>
              <a:gd name="adj" fmla="val 2893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010144" y="2743200"/>
            <a:ext cx="3346704" cy="109728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284464" y="31089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8906256" y="3090672"/>
            <a:ext cx="2066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80" kern="0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PREPARACIÓN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8321040" y="3785616"/>
            <a:ext cx="2724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Los datos no representan el caso.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658368" y="5358384"/>
            <a:ext cx="10863072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32688" y="5358384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PREGUNTA PROFESIONAL  ·  ¿qué evidencia define el comportamiento correcto?</a:t>
            </a:r>
            <a:endParaRPr lang="en-US" sz="14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0" y="313312"/>
            <a:ext cx="1298448" cy="452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52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3.4 · DECIDIR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86384"/>
            <a:ext cx="8869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Aquí la expectativa no se negocia</a:t>
            </a:r>
            <a:endParaRPr lang="en-US" sz="31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490472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regla acordada exige 3.95 → 4.0; cambiar el test solo escondería el defecto.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58368" y="2267712"/>
            <a:ext cx="4334256" cy="2505456"/>
          </a:xfrm>
          <a:prstGeom prst="roundRect">
            <a:avLst>
              <a:gd name="adj" fmla="val 2920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24128" y="2596896"/>
            <a:ext cx="36027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1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IMPLEMENTACIÓN ACTUAL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024128" y="3108960"/>
            <a:ext cx="3602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300" b="1" dirty="0">
                <a:solidFill>
                  <a:srgbClr val="D620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3.9</a:t>
            </a:r>
            <a:endParaRPr lang="en-US" sz="4300" dirty="0"/>
          </a:p>
        </p:txBody>
      </p:sp>
      <p:sp>
        <p:nvSpPr>
          <p:cNvPr id="14" name="Text 11"/>
          <p:cNvSpPr txBox="1"/>
          <p:nvPr/>
        </p:nvSpPr>
        <p:spPr>
          <a:xfrm>
            <a:off x="1024128" y="4041648"/>
            <a:ext cx="36027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valor obtenido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230368" y="3127248"/>
            <a:ext cx="7863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≠</a:t>
            </a:r>
            <a:endParaRPr lang="en-US" sz="4000" dirty="0"/>
          </a:p>
        </p:txBody>
      </p:sp>
      <p:sp>
        <p:nvSpPr>
          <p:cNvPr id="16" name="Shape 13"/>
          <p:cNvSpPr/>
          <p:nvPr/>
        </p:nvSpPr>
        <p:spPr>
          <a:xfrm>
            <a:off x="6236208" y="2267712"/>
            <a:ext cx="5303520" cy="2505456"/>
          </a:xfrm>
          <a:prstGeom prst="roundRect">
            <a:avLst>
              <a:gd name="adj" fmla="val 292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601968" y="259689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1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REGLA ACORDADA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601968" y="3108960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4.0</a:t>
            </a:r>
            <a:endParaRPr lang="en-US" sz="4300" dirty="0"/>
          </a:p>
        </p:txBody>
      </p:sp>
      <p:sp>
        <p:nvSpPr>
          <p:cNvPr id="19" name="Text 16"/>
          <p:cNvSpPr txBox="1"/>
          <p:nvPr/>
        </p:nvSpPr>
        <p:spPr>
          <a:xfrm>
            <a:off x="6601968" y="404164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fuente de verdad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58368" y="5157216"/>
            <a:ext cx="10863072" cy="749808"/>
          </a:xfrm>
          <a:prstGeom prst="roundRect">
            <a:avLst>
              <a:gd name="adj" fmla="val 6098"/>
            </a:avLst>
          </a:prstGeom>
          <a:solidFill>
            <a:srgbClr val="FBF3DE"/>
          </a:solidFill>
          <a:ln w="12700">
            <a:solidFill>
              <a:srgbClr val="FBF3D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69264" y="5157216"/>
            <a:ext cx="10241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HACER  ·  cambiar == 4.0 por == 3.9 para fabricar una barra verde</a:t>
            </a:r>
            <a:endParaRPr lang="en-US" sz="14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0" y="313312"/>
            <a:ext cx="1298448" cy="452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53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3.4 · CAUSA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86384"/>
            <a:ext cx="88696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valor visible no siempre es el valor almacenado</a:t>
            </a:r>
            <a:endParaRPr lang="en-US" sz="29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737360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float representa números decimales mediante aproximaciones binarias.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58368" y="2231136"/>
            <a:ext cx="6967728" cy="3182112"/>
          </a:xfrm>
          <a:prstGeom prst="roundRect">
            <a:avLst>
              <a:gd name="adj" fmla="val 1149"/>
            </a:avLst>
          </a:prstGeom>
          <a:solidFill>
            <a:srgbClr val="0F1720"/>
          </a:solidFill>
          <a:ln w="12700">
            <a:solidFill>
              <a:srgbClr val="0F172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86384" y="2340864"/>
            <a:ext cx="6711696" cy="310896"/>
          </a:xfrm>
          <a:prstGeom prst="roundRect">
            <a:avLst>
              <a:gd name="adj" fmla="val 8824"/>
            </a:avLst>
          </a:prstGeom>
          <a:solidFill>
            <a:srgbClr val="1E2937"/>
          </a:solidFill>
          <a:ln w="12700">
            <a:solidFill>
              <a:srgbClr val="1E293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2414016"/>
            <a:ext cx="64556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· inspeccionar antes de corregir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77824" y="2798064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0BC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&gt;&gt;&gt;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1188720" y="2798064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valor = sum([3.8, 4.1, 3.95]) / 3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877824" y="3054096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0BC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&gt;&gt;&gt;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1188720" y="3054096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valor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877824" y="33101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3.9499999999999997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877824" y="3566160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0BC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&gt;&gt;&gt;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1188720" y="3566160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round(valor, 1)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877824" y="3822192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3.9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7973568" y="2414016"/>
            <a:ext cx="3566160" cy="1225296"/>
          </a:xfrm>
          <a:prstGeom prst="roundRect">
            <a:avLst>
              <a:gd name="adj" fmla="val 5224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302752" y="2688336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80" kern="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PARECE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9418320" y="2596896"/>
            <a:ext cx="16824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3.95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8302752" y="3182112"/>
            <a:ext cx="2761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pero el cálculo queda apenas por debajo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9400032" y="3913632"/>
            <a:ext cx="658368" cy="42062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973568" y="4517136"/>
            <a:ext cx="3566160" cy="914400"/>
          </a:xfrm>
          <a:prstGeom prst="roundRect">
            <a:avLst>
              <a:gd name="adj" fmla="val 7000"/>
            </a:avLst>
          </a:prstGeom>
          <a:solidFill>
            <a:srgbClr val="FBF3DE"/>
          </a:solidFill>
          <a:ln w="12700">
            <a:solidFill>
              <a:srgbClr val="FBF3D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84464" y="4736592"/>
            <a:ext cx="16093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80" kern="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REGLA DE NEGOCIO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5029200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debe ser explícita</a:t>
            </a:r>
            <a:endParaRPr lang="en-US" sz="1700" dirty="0"/>
          </a:p>
        </p:txBody>
      </p:sp>
      <p:sp>
        <p:nvSpPr>
          <p:cNvPr id="30" name="Text 27"/>
          <p:cNvSpPr txBox="1"/>
          <p:nvPr/>
        </p:nvSpPr>
        <p:spPr>
          <a:xfrm>
            <a:off x="658368" y="5669280"/>
            <a:ext cx="10863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buscamos un parche para 3.95; buscamos una representación y un criterio coherentes.</a:t>
            </a:r>
            <a:endParaRPr lang="en-US" sz="15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0" y="313312"/>
            <a:ext cx="1298448" cy="452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54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3.4 · CORREGIR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86384"/>
            <a:ext cx="88696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regla queda visible en el código</a:t>
            </a:r>
            <a:endParaRPr lang="en-US" sz="29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737360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Decimal evita arrastrar la aproximación binaria y ROUND_HALF_UP declara cómo resolver empates.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58368" y="2322576"/>
            <a:ext cx="7552944" cy="3547872"/>
          </a:xfrm>
          <a:prstGeom prst="roundRect">
            <a:avLst>
              <a:gd name="adj" fmla="val 103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86384" y="2432304"/>
            <a:ext cx="72969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96112" y="2505456"/>
            <a:ext cx="70774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notas.py · implementación corregida</a:t>
            </a:r>
            <a:endParaRPr lang="en-US" sz="10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7824" y="2889504"/>
            <a:ext cx="7132320" cy="2798064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8613648" y="2322576"/>
            <a:ext cx="2706624" cy="3547872"/>
          </a:xfrm>
          <a:prstGeom prst="roundRect">
            <a:avLst>
              <a:gd name="adj" fmla="val 2365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851392" y="2560320"/>
            <a:ext cx="73152" cy="25603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9070848" y="257860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1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DOS DECISIONES EXPLÍCITAS</a:t>
            </a:r>
            <a:endParaRPr lang="en-US" sz="880" dirty="0"/>
          </a:p>
        </p:txBody>
      </p:sp>
      <p:sp>
        <p:nvSpPr>
          <p:cNvPr id="18" name="Shape 14"/>
          <p:cNvSpPr/>
          <p:nvPr/>
        </p:nvSpPr>
        <p:spPr>
          <a:xfrm>
            <a:off x="672084" y="3728343"/>
            <a:ext cx="219456" cy="21945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72084" y="3728343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840" dirty="0"/>
          </a:p>
        </p:txBody>
      </p:sp>
      <p:sp>
        <p:nvSpPr>
          <p:cNvPr id="20" name="Shape 16"/>
          <p:cNvSpPr/>
          <p:nvPr/>
        </p:nvSpPr>
        <p:spPr>
          <a:xfrm>
            <a:off x="8851392" y="3127248"/>
            <a:ext cx="292608" cy="292608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8851392" y="31272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20" dirty="0"/>
          </a:p>
        </p:txBody>
      </p:sp>
      <p:sp>
        <p:nvSpPr>
          <p:cNvPr id="22" name="Text 18"/>
          <p:cNvSpPr/>
          <p:nvPr/>
        </p:nvSpPr>
        <p:spPr>
          <a:xfrm>
            <a:off x="9253728" y="3172968"/>
            <a:ext cx="18105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8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L6 · REPRESENTACIÓN</a:t>
            </a:r>
            <a:endParaRPr lang="en-US" sz="880" dirty="0"/>
          </a:p>
        </p:txBody>
      </p:sp>
      <p:sp>
        <p:nvSpPr>
          <p:cNvPr id="23" name="Text 19"/>
          <p:cNvSpPr/>
          <p:nvPr/>
        </p:nvSpPr>
        <p:spPr>
          <a:xfrm>
            <a:off x="8851392" y="3511296"/>
            <a:ext cx="2231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Decimal(str(nota))</a:t>
            </a:r>
            <a:endParaRPr lang="en-US" sz="1500" dirty="0"/>
          </a:p>
        </p:txBody>
      </p:sp>
      <p:sp>
        <p:nvSpPr>
          <p:cNvPr id="24" name="Text 20"/>
          <p:cNvSpPr/>
          <p:nvPr/>
        </p:nvSpPr>
        <p:spPr>
          <a:xfrm>
            <a:off x="8851392" y="3913632"/>
            <a:ext cx="223113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2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del decimal visible y evita heredar el artefacto binario.</a:t>
            </a:r>
            <a:endParaRPr lang="en-US" sz="1220" dirty="0"/>
          </a:p>
        </p:txBody>
      </p:sp>
      <p:sp>
        <p:nvSpPr>
          <p:cNvPr id="25" name="Shape 21"/>
          <p:cNvSpPr/>
          <p:nvPr/>
        </p:nvSpPr>
        <p:spPr>
          <a:xfrm>
            <a:off x="672084" y="4242007"/>
            <a:ext cx="219456" cy="219456"/>
          </a:xfrm>
          <a:prstGeom prst="ellipse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72084" y="4242007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840" dirty="0"/>
          </a:p>
        </p:txBody>
      </p:sp>
      <p:sp>
        <p:nvSpPr>
          <p:cNvPr id="27" name="Shape 23"/>
          <p:cNvSpPr/>
          <p:nvPr/>
        </p:nvSpPr>
        <p:spPr>
          <a:xfrm>
            <a:off x="8851392" y="4343400"/>
            <a:ext cx="2231136" cy="0"/>
          </a:xfrm>
          <a:prstGeom prst="line">
            <a:avLst/>
          </a:prstGeom>
          <a:noFill/>
          <a:ln w="12700">
            <a:solidFill>
              <a:srgbClr val="284B75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8851392" y="4489704"/>
            <a:ext cx="292608" cy="292608"/>
          </a:xfrm>
          <a:prstGeom prst="ellipse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8851392" y="4489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20" dirty="0"/>
          </a:p>
        </p:txBody>
      </p:sp>
      <p:sp>
        <p:nvSpPr>
          <p:cNvPr id="30" name="Text 26"/>
          <p:cNvSpPr/>
          <p:nvPr/>
        </p:nvSpPr>
        <p:spPr>
          <a:xfrm>
            <a:off x="9253728" y="4535424"/>
            <a:ext cx="18105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80" kern="0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L9 · CRITERIO</a:t>
            </a:r>
            <a:endParaRPr lang="en-US" sz="880" dirty="0"/>
          </a:p>
        </p:txBody>
      </p:sp>
      <p:sp>
        <p:nvSpPr>
          <p:cNvPr id="31" name="Text 27"/>
          <p:cNvSpPr/>
          <p:nvPr/>
        </p:nvSpPr>
        <p:spPr>
          <a:xfrm>
            <a:off x="8851392" y="4873752"/>
            <a:ext cx="2231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ROUND_HALF_UP</a:t>
            </a:r>
            <a:endParaRPr lang="en-US" sz="1550" dirty="0"/>
          </a:p>
        </p:txBody>
      </p:sp>
      <p:sp>
        <p:nvSpPr>
          <p:cNvPr id="32" name="Text 28"/>
          <p:cNvSpPr/>
          <p:nvPr/>
        </p:nvSpPr>
        <p:spPr>
          <a:xfrm>
            <a:off x="8851392" y="5276088"/>
            <a:ext cx="223113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2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Los empates se redondean alejándose de cero.</a:t>
            </a:r>
            <a:endParaRPr lang="en-US" sz="122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0" y="313312"/>
            <a:ext cx="1298448" cy="452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55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3.5 · VERIFICAR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86384"/>
            <a:ext cx="88696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verde vale porque repetimos los controles</a:t>
            </a:r>
            <a:endParaRPr lang="en-US" sz="29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737360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corrección satisface ambos casos sin introducir señales estructurales ni contradicciones de tipos.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58368" y="2194560"/>
            <a:ext cx="7534656" cy="3547872"/>
          </a:xfrm>
          <a:prstGeom prst="roundRect">
            <a:avLst>
              <a:gd name="adj" fmla="val 1031"/>
            </a:avLst>
          </a:prstGeom>
          <a:solidFill>
            <a:srgbClr val="0F1720"/>
          </a:solidFill>
          <a:ln w="12700">
            <a:solidFill>
              <a:srgbClr val="0F172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86384" y="2304288"/>
            <a:ext cx="7278624" cy="310896"/>
          </a:xfrm>
          <a:prstGeom prst="roundRect">
            <a:avLst>
              <a:gd name="adj" fmla="val 8824"/>
            </a:avLst>
          </a:prstGeom>
          <a:solidFill>
            <a:srgbClr val="1E2937"/>
          </a:solidFill>
          <a:ln w="12700">
            <a:solidFill>
              <a:srgbClr val="1E293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2377440"/>
            <a:ext cx="70225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PowerShell · evidencia de cierre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77824" y="2761488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E0BC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320" dirty="0"/>
          </a:p>
        </p:txBody>
      </p:sp>
      <p:sp>
        <p:nvSpPr>
          <p:cNvPr id="15" name="Text 12"/>
          <p:cNvSpPr/>
          <p:nvPr/>
        </p:nvSpPr>
        <p:spPr>
          <a:xfrm>
            <a:off x="1188720" y="2761488"/>
            <a:ext cx="6784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run pytest -q</a:t>
            </a:r>
            <a:endParaRPr lang="en-US" sz="1320" dirty="0"/>
          </a:p>
        </p:txBody>
      </p:sp>
      <p:sp>
        <p:nvSpPr>
          <p:cNvPr id="16" name="Text 13"/>
          <p:cNvSpPr/>
          <p:nvPr/>
        </p:nvSpPr>
        <p:spPr>
          <a:xfrm>
            <a:off x="877824" y="3017520"/>
            <a:ext cx="6784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                                     [100%]</a:t>
            </a:r>
            <a:endParaRPr lang="en-US" sz="1320" dirty="0"/>
          </a:p>
        </p:txBody>
      </p:sp>
      <p:sp>
        <p:nvSpPr>
          <p:cNvPr id="17" name="Text 14"/>
          <p:cNvSpPr/>
          <p:nvPr/>
        </p:nvSpPr>
        <p:spPr>
          <a:xfrm>
            <a:off x="877824" y="3273552"/>
            <a:ext cx="6784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passed</a:t>
            </a:r>
            <a:endParaRPr lang="en-US" sz="1320" dirty="0"/>
          </a:p>
        </p:txBody>
      </p:sp>
      <p:sp>
        <p:nvSpPr>
          <p:cNvPr id="18" name="Text 15"/>
          <p:cNvSpPr/>
          <p:nvPr/>
        </p:nvSpPr>
        <p:spPr>
          <a:xfrm>
            <a:off x="877824" y="3529584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E0BC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320" dirty="0"/>
          </a:p>
        </p:txBody>
      </p:sp>
      <p:sp>
        <p:nvSpPr>
          <p:cNvPr id="19" name="Text 16"/>
          <p:cNvSpPr/>
          <p:nvPr/>
        </p:nvSpPr>
        <p:spPr>
          <a:xfrm>
            <a:off x="1188720" y="3529584"/>
            <a:ext cx="6784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run ruff check .      → All checks passed!</a:t>
            </a:r>
            <a:endParaRPr lang="en-US" sz="1320" dirty="0"/>
          </a:p>
        </p:txBody>
      </p:sp>
      <p:sp>
        <p:nvSpPr>
          <p:cNvPr id="20" name="Text 17"/>
          <p:cNvSpPr/>
          <p:nvPr/>
        </p:nvSpPr>
        <p:spPr>
          <a:xfrm>
            <a:off x="877824" y="3785616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E0BC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320" dirty="0"/>
          </a:p>
        </p:txBody>
      </p:sp>
      <p:sp>
        <p:nvSpPr>
          <p:cNvPr id="21" name="Text 18"/>
          <p:cNvSpPr/>
          <p:nvPr/>
        </p:nvSpPr>
        <p:spPr>
          <a:xfrm>
            <a:off x="1188720" y="3785616"/>
            <a:ext cx="6784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run pyrefly check     → 0 errors</a:t>
            </a:r>
            <a:endParaRPr lang="en-US" sz="1320" dirty="0"/>
          </a:p>
        </p:txBody>
      </p:sp>
      <p:sp>
        <p:nvSpPr>
          <p:cNvPr id="22" name="Shape 19"/>
          <p:cNvSpPr/>
          <p:nvPr/>
        </p:nvSpPr>
        <p:spPr>
          <a:xfrm>
            <a:off x="8412480" y="2322576"/>
            <a:ext cx="3127248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613648" y="2523744"/>
            <a:ext cx="438912" cy="438912"/>
          </a:xfrm>
          <a:prstGeom prst="ellipse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613648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9272016" y="2450592"/>
            <a:ext cx="1060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pytest</a:t>
            </a:r>
            <a:endParaRPr lang="en-US" sz="1550" dirty="0"/>
          </a:p>
        </p:txBody>
      </p:sp>
      <p:sp>
        <p:nvSpPr>
          <p:cNvPr id="26" name="Text 23"/>
          <p:cNvSpPr txBox="1"/>
          <p:nvPr/>
        </p:nvSpPr>
        <p:spPr>
          <a:xfrm>
            <a:off x="9272016" y="2761488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comportamientos</a:t>
            </a:r>
            <a:endParaRPr lang="en-US" sz="1280" dirty="0"/>
          </a:p>
        </p:txBody>
      </p:sp>
      <p:sp>
        <p:nvSpPr>
          <p:cNvPr id="27" name="Shape 24"/>
          <p:cNvSpPr/>
          <p:nvPr/>
        </p:nvSpPr>
        <p:spPr>
          <a:xfrm>
            <a:off x="8412480" y="3364992"/>
            <a:ext cx="3127248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613648" y="3566160"/>
            <a:ext cx="438912" cy="438912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613648" y="35661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9272016" y="3493008"/>
            <a:ext cx="1060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Ruff</a:t>
            </a:r>
            <a:endParaRPr lang="en-US" sz="1550" dirty="0"/>
          </a:p>
        </p:txBody>
      </p:sp>
      <p:sp>
        <p:nvSpPr>
          <p:cNvPr id="31" name="Text 28"/>
          <p:cNvSpPr txBox="1"/>
          <p:nvPr/>
        </p:nvSpPr>
        <p:spPr>
          <a:xfrm>
            <a:off x="9272016" y="3803904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estructura limpia</a:t>
            </a:r>
            <a:endParaRPr lang="en-US" sz="1280" dirty="0"/>
          </a:p>
        </p:txBody>
      </p:sp>
      <p:sp>
        <p:nvSpPr>
          <p:cNvPr id="32" name="Shape 29"/>
          <p:cNvSpPr/>
          <p:nvPr/>
        </p:nvSpPr>
        <p:spPr>
          <a:xfrm>
            <a:off x="8412480" y="4407408"/>
            <a:ext cx="3127248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613648" y="4608576"/>
            <a:ext cx="438912" cy="438912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613648" y="46085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9272016" y="4535424"/>
            <a:ext cx="1060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Pyrefly</a:t>
            </a:r>
            <a:endParaRPr lang="en-US" sz="1550" dirty="0"/>
          </a:p>
        </p:txBody>
      </p:sp>
      <p:sp>
        <p:nvSpPr>
          <p:cNvPr id="36" name="Text 33"/>
          <p:cNvSpPr txBox="1"/>
          <p:nvPr/>
        </p:nvSpPr>
        <p:spPr>
          <a:xfrm>
            <a:off x="9272016" y="4846320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contratos coherentes</a:t>
            </a:r>
            <a:endParaRPr lang="en-US" sz="1280" dirty="0"/>
          </a:p>
        </p:txBody>
      </p:sp>
      <p:sp>
        <p:nvSpPr>
          <p:cNvPr id="37" name="Shape 34"/>
          <p:cNvSpPr/>
          <p:nvPr/>
        </p:nvSpPr>
        <p:spPr>
          <a:xfrm>
            <a:off x="8412480" y="5486400"/>
            <a:ext cx="3127248" cy="438912"/>
          </a:xfrm>
          <a:prstGeom prst="roundRect">
            <a:avLst>
              <a:gd name="adj" fmla="val 8333"/>
            </a:avLst>
          </a:prstGeom>
          <a:solidFill>
            <a:srgbClr val="E9F6EE"/>
          </a:solidFill>
          <a:ln w="12700">
            <a:solidFill>
              <a:srgbClr val="E9F6EE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412480" y="5486400"/>
            <a:ext cx="31272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70" kern="0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ROJO → CORRECCIÓN → VERDE</a:t>
            </a:r>
            <a:endParaRPr lang="en-US" sz="10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0" y="313312"/>
            <a:ext cx="1298448" cy="452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56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3.6 · USO DEL AGENTE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86384"/>
            <a:ext cx="88696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agente investiga; la regla permanece fija</a:t>
            </a:r>
            <a:endParaRPr lang="en-US" sz="29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737360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buena solicitud protege la expectativa y exige alternativas antes de modificar.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58368" y="2249424"/>
            <a:ext cx="10863072" cy="2505456"/>
          </a:xfrm>
          <a:prstGeom prst="roundRect">
            <a:avLst>
              <a:gd name="adj" fmla="val 292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87552" y="2542032"/>
            <a:ext cx="19568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1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SOLICITUD ÚTIL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987552" y="2962656"/>
            <a:ext cx="9985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«La prueba exige que 3.95 se informe como 4.0, pero la implementación devuelve 3.9.»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1225296" y="3675888"/>
            <a:ext cx="9473184" cy="694944"/>
          </a:xfrm>
          <a:prstGeom prst="roundRect">
            <a:avLst>
              <a:gd name="adj" fmla="val 6579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225296" y="3675888"/>
            <a:ext cx="94731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Explica la causa · propone dos correcciones · no cambia la prueba · señala riesgos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658368" y="5084064"/>
            <a:ext cx="2999232" cy="603504"/>
          </a:xfrm>
          <a:prstGeom prst="roundRect">
            <a:avLst>
              <a:gd name="adj" fmla="val 7576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58368" y="5084064"/>
            <a:ext cx="2999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EVITAR  ·  «haz que pase»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005072" y="5212080"/>
            <a:ext cx="7150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 fuente de verdad, el agente también podría debilitar el test y fabricar verde.</a:t>
            </a:r>
            <a:endParaRPr lang="en-US" sz="16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0" y="313312"/>
            <a:ext cx="1298448" cy="452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57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PUNTO DE CONTROL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86384"/>
            <a:ext cx="8869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evidencia debe contar toda la historia</a:t>
            </a:r>
            <a:endParaRPr lang="en-US" sz="31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490472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test rojo aislado no basta; necesitamos mostrar la causa, la decisión y la comprobación final.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58368" y="2304288"/>
            <a:ext cx="5340096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77824" y="2578608"/>
            <a:ext cx="585216" cy="58521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77824" y="257860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700784" y="2523744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ARCHIVO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1700784" y="2907792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test_notas.py con dos pruebas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199632" y="2304288"/>
            <a:ext cx="5340096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419088" y="2578608"/>
            <a:ext cx="585216" cy="58521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19088" y="257860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7242048" y="2523744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ROJO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242048" y="2907792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3.9 == 4.0 visible en la falla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658368" y="3913632"/>
            <a:ext cx="5340096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77824" y="4187952"/>
            <a:ext cx="585216" cy="585216"/>
          </a:xfrm>
          <a:prstGeom prst="ellipse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77824" y="418795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1700784" y="4133088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VERDE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1700784" y="4517136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passed después de corregir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6199632" y="3913632"/>
            <a:ext cx="5340096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419088" y="4187952"/>
            <a:ext cx="585216" cy="58521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419088" y="418795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242048" y="4133088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CONTROLES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7242048" y="4517136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Ruff y Pyrefly nuevamente verdes</a:t>
            </a:r>
            <a:endParaRPr lang="en-US" sz="1700" dirty="0"/>
          </a:p>
        </p:txBody>
      </p:sp>
      <p:sp>
        <p:nvSpPr>
          <p:cNvPr id="31" name="Shape 28"/>
          <p:cNvSpPr/>
          <p:nvPr/>
        </p:nvSpPr>
        <p:spPr>
          <a:xfrm>
            <a:off x="658368" y="5577840"/>
            <a:ext cx="10881360" cy="457200"/>
          </a:xfrm>
          <a:prstGeom prst="roundRect">
            <a:avLst>
              <a:gd name="adj" fmla="val 800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32688" y="5577840"/>
            <a:ext cx="10296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Además: explicar por qué cambiamos notas.py y no la expectativa == 4.0</a:t>
            </a:r>
            <a:endParaRPr lang="en-US" sz="14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0" y="313312"/>
            <a:ext cx="1298448" cy="452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PREGUNTAS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86384"/>
            <a:ext cx="8869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Tres preguntas para llevarse</a:t>
            </a:r>
            <a:endParaRPr lang="en-US" sz="31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490472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pista orienta; la respuesta debe distinguir evidencia, regla y alcance.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58368" y="2231136"/>
            <a:ext cx="475488" cy="475488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8368" y="22311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371600" y="2212848"/>
            <a:ext cx="9966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una prueba verde no demuestra que una función sea correcta para todos los casos?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1371600" y="2944368"/>
            <a:ext cx="9966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PISTA → cuenta cuántas entradas ejecutó realmente y cuáles siguen sin estar representadas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658368" y="3474720"/>
            <a:ext cx="475488" cy="475488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8368" y="34747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371600" y="3456432"/>
            <a:ext cx="9966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Cuando una prueba queda roja, ¿cómo decidimos si debemos cambiar el código o la expectativa?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1371600" y="4187952"/>
            <a:ext cx="9966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PISTA → busca primero dónde está definida la regla que funciona como fuente de verdad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658368" y="4681728"/>
            <a:ext cx="475488" cy="475488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58368" y="46817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371600" y="4663440"/>
            <a:ext cx="9966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riesgo existe si cambiamos 4.0 por 3.9 solo para obtener verde?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1371600" y="5394960"/>
            <a:ext cx="9966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PISTA → el indicador puede verse saludable porque debilitamos la regla, no porque corregimos el sistema</a:t>
            </a:r>
            <a:endParaRPr lang="en-US" sz="14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0" y="313516"/>
            <a:ext cx="1298448" cy="4519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59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74980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8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 CLAVE · BLOQUE 3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1408176"/>
            <a:ext cx="6492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rojo captura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2176272"/>
            <a:ext cx="6839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desacuerdo útil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3218688"/>
            <a:ext cx="687628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5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verde adquiere valor cuando aparece después de una corrección coherente con la regla, no cuando debilitamos la expectativa.</a:t>
            </a:r>
            <a:endParaRPr lang="en-US" sz="1850" dirty="0"/>
          </a:p>
        </p:txBody>
      </p:sp>
      <p:sp>
        <p:nvSpPr>
          <p:cNvPr id="12" name="Shape 9"/>
          <p:cNvSpPr/>
          <p:nvPr/>
        </p:nvSpPr>
        <p:spPr>
          <a:xfrm>
            <a:off x="7772400" y="1408176"/>
            <a:ext cx="3474720" cy="3182112"/>
          </a:xfrm>
          <a:prstGeom prst="roundRect">
            <a:avLst>
              <a:gd name="adj" fmla="val 2299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119872" y="1773936"/>
            <a:ext cx="27797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620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.F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8119872" y="2615184"/>
            <a:ext cx="2779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3.9 ≠ 4.0</a:t>
            </a:r>
            <a:endParaRPr lang="en-US" sz="2300" dirty="0"/>
          </a:p>
        </p:txBody>
      </p:sp>
      <p:sp>
        <p:nvSpPr>
          <p:cNvPr id="15" name="Shape 12"/>
          <p:cNvSpPr/>
          <p:nvPr/>
        </p:nvSpPr>
        <p:spPr>
          <a:xfrm>
            <a:off x="9125712" y="3310128"/>
            <a:ext cx="768096" cy="42062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119872" y="3913632"/>
            <a:ext cx="2779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FAE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passed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658368" y="4956048"/>
            <a:ext cx="10863072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50976" y="4956048"/>
            <a:ext cx="102595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SIGUE → el agente propondrá casos; el equipo decidirá cuáles merecen convertirse en pruebas</a:t>
            </a:r>
            <a:endParaRPr lang="en-US" sz="15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0" y="313516"/>
            <a:ext cx="1298448" cy="4519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60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749808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8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25 MINUTOS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1353312"/>
            <a:ext cx="6400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agente propone</a:t>
            </a:r>
            <a:endParaRPr lang="en-US" sz="41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2139696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1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equipo decide</a:t>
            </a:r>
            <a:endParaRPr lang="en-US" sz="410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3236976"/>
            <a:ext cx="61447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Velocidad para explorar; criterio para convertir una posibilidad en evidencia.</a:t>
            </a:r>
            <a:endParaRPr lang="en-US" sz="1900" dirty="0"/>
          </a:p>
        </p:txBody>
      </p:sp>
      <p:sp>
        <p:nvSpPr>
          <p:cNvPr id="12" name="Shape 9"/>
          <p:cNvSpPr/>
          <p:nvPr/>
        </p:nvSpPr>
        <p:spPr>
          <a:xfrm>
            <a:off x="7479792" y="1298448"/>
            <a:ext cx="3749040" cy="3511296"/>
          </a:xfrm>
          <a:prstGeom prst="roundRect">
            <a:avLst>
              <a:gd name="adj" fmla="val 234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845552" y="16276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</a:t>
            </a:r>
            <a:endParaRPr lang="en-US" sz="3800" dirty="0"/>
          </a:p>
        </p:txBody>
      </p:sp>
      <p:sp>
        <p:nvSpPr>
          <p:cNvPr id="14" name="Text 11"/>
          <p:cNvSpPr txBox="1"/>
          <p:nvPr/>
        </p:nvSpPr>
        <p:spPr>
          <a:xfrm>
            <a:off x="8796528" y="1792224"/>
            <a:ext cx="19933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1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CASOS PROPUESTOS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7882128" y="2432304"/>
            <a:ext cx="2944368" cy="0"/>
          </a:xfrm>
          <a:prstGeom prst="line">
            <a:avLst/>
          </a:prstGeom>
          <a:noFill/>
          <a:ln w="12700">
            <a:solidFill>
              <a:srgbClr val="96A3B2"/>
            </a:solidFill>
            <a:prstDash val="solid"/>
            <a:headEnd type="none"/>
            <a:tailEnd type="none"/>
          </a:ln>
        </p:spPr>
      </p:sp>
      <p:sp>
        <p:nvSpPr>
          <p:cNvPr id="16" name="Shape 13"/>
          <p:cNvSpPr/>
          <p:nvPr/>
        </p:nvSpPr>
        <p:spPr>
          <a:xfrm>
            <a:off x="7882128" y="2724912"/>
            <a:ext cx="73152" cy="237744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156448" y="274320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80" kern="0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ACEPTAR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7882128" y="3182112"/>
            <a:ext cx="73152" cy="23774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156448" y="320040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8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MODIFICAR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7882128" y="3639312"/>
            <a:ext cx="73152" cy="237744"/>
          </a:xfrm>
          <a:prstGeom prst="rect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156448" y="365760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80" kern="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POSPONER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7882128" y="4096512"/>
            <a:ext cx="73152" cy="23774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156448" y="411480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RECHAZAR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658368" y="5138928"/>
            <a:ext cx="10863072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50976" y="513892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AUTORIDAD FINAL  ·  la especificación sigue perteneciendo al equipo</a:t>
            </a:r>
            <a:endParaRPr lang="en-US" sz="15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0" y="313312"/>
            <a:ext cx="1298448" cy="452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4.1 · CONTEXTO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86384"/>
            <a:ext cx="8869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buen prompt empieza con límites</a:t>
            </a:r>
            <a:endParaRPr lang="en-US" sz="31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490472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agente necesita distinguir reglas conocidas de decisiones que todavía no existen.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217627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20" kern="0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YA SABEMOS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58368" y="2578608"/>
            <a:ext cx="384048" cy="384048"/>
          </a:xfrm>
          <a:prstGeom prst="ellipse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8368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1243584" y="263347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calcula el promedio de una lista de float</a:t>
            </a:r>
            <a:endParaRPr lang="en-US" sz="1550" dirty="0"/>
          </a:p>
        </p:txBody>
      </p:sp>
      <p:sp>
        <p:nvSpPr>
          <p:cNvPr id="15" name="Shape 12"/>
          <p:cNvSpPr/>
          <p:nvPr/>
        </p:nvSpPr>
        <p:spPr>
          <a:xfrm>
            <a:off x="658368" y="3236976"/>
            <a:ext cx="384048" cy="384048"/>
          </a:xfrm>
          <a:prstGeom prst="ellipse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8368" y="3236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1243584" y="32918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 el resultado con un decimal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658368" y="3895344"/>
            <a:ext cx="384048" cy="384048"/>
          </a:xfrm>
          <a:prstGeom prst="ellipse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" y="38953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1243584" y="39502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 el criterio ROUND_HALF_UP</a:t>
            </a:r>
            <a:endParaRPr lang="en-US" sz="1550" dirty="0"/>
          </a:p>
        </p:txBody>
      </p:sp>
      <p:sp>
        <p:nvSpPr>
          <p:cNvPr id="21" name="Shape 18"/>
          <p:cNvSpPr/>
          <p:nvPr/>
        </p:nvSpPr>
        <p:spPr>
          <a:xfrm>
            <a:off x="658368" y="4553712"/>
            <a:ext cx="384048" cy="384048"/>
          </a:xfrm>
          <a:prstGeom prst="ellipse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553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1243584" y="4608576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ya cubrimos el caso normal y 3.95 → 4.0</a:t>
            </a:r>
            <a:endParaRPr lang="en-US" sz="1550" dirty="0"/>
          </a:p>
        </p:txBody>
      </p:sp>
      <p:sp>
        <p:nvSpPr>
          <p:cNvPr id="24" name="Shape 21"/>
          <p:cNvSpPr/>
          <p:nvPr/>
        </p:nvSpPr>
        <p:spPr>
          <a:xfrm>
            <a:off x="6419088" y="2139696"/>
            <a:ext cx="5120640" cy="3218688"/>
          </a:xfrm>
          <a:prstGeom prst="roundRect">
            <a:avLst>
              <a:gd name="adj" fmla="val 227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784848" y="2468880"/>
            <a:ext cx="2852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1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AÚN NO ESTÁ DEFINIDO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6784848" y="2999232"/>
            <a:ext cx="1005840" cy="585216"/>
          </a:xfrm>
          <a:prstGeom prst="roundRect">
            <a:avLst>
              <a:gd name="adj" fmla="val 7813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784848" y="2999232"/>
            <a:ext cx="1005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[]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8083296" y="3054096"/>
            <a:ext cx="29077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¿devuelve un valor o produce un error?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6784848" y="3986784"/>
            <a:ext cx="1005840" cy="585216"/>
          </a:xfrm>
          <a:prstGeom prst="roundRect">
            <a:avLst>
              <a:gd name="adj" fmla="val 7813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784848" y="3986784"/>
            <a:ext cx="1005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texto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8083296" y="4041648"/>
            <a:ext cx="29077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¿la función convierte datos o los rechaza?</a:t>
            </a:r>
            <a:endParaRPr lang="en-US" sz="1600" dirty="0"/>
          </a:p>
        </p:txBody>
      </p:sp>
      <p:sp>
        <p:nvSpPr>
          <p:cNvPr id="32" name="Shape 29"/>
          <p:cNvSpPr/>
          <p:nvPr/>
        </p:nvSpPr>
        <p:spPr>
          <a:xfrm>
            <a:off x="658368" y="5650992"/>
            <a:ext cx="10881360" cy="438912"/>
          </a:xfrm>
          <a:prstGeom prst="roundRect">
            <a:avLst>
              <a:gd name="adj" fmla="val 8333"/>
            </a:avLst>
          </a:prstGeom>
          <a:solidFill>
            <a:srgbClr val="FBF3DE"/>
          </a:solidFill>
          <a:ln w="12700">
            <a:solidFill>
              <a:srgbClr val="FBF3D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32688" y="5650992"/>
            <a:ext cx="10314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falta la regla, el resultado correcto es declarar la ambigüedad, no inventar una expectativa.</a:t>
            </a:r>
            <a:endParaRPr lang="en-US" sz="14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0" y="313312"/>
            <a:ext cx="1298448" cy="452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62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4.1 · SOLICITUD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86384"/>
            <a:ext cx="8869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Pedir casos no es delegar la especificación</a:t>
            </a:r>
            <a:endParaRPr lang="en-US" sz="29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737360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solicitud obliga al agente a mostrar propósito, expectativa y ambigüedades.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58368" y="2267712"/>
            <a:ext cx="10863072" cy="2377440"/>
          </a:xfrm>
          <a:prstGeom prst="roundRect">
            <a:avLst>
              <a:gd name="adj" fmla="val 307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87552" y="256032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1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 DE TRABAJO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987552" y="2980944"/>
            <a:ext cx="10003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«Propón cinco casos para nota_final(). Incluye nombre, entrada, resultado esperado y riesgo. No escribas código, no repitas casos existentes y marca “requiere decisión” cuando falte una regla.»</a:t>
            </a:r>
            <a:endParaRPr lang="en-US" sz="1850" dirty="0"/>
          </a:p>
        </p:txBody>
      </p:sp>
      <p:sp>
        <p:nvSpPr>
          <p:cNvPr id="14" name="Shape 11"/>
          <p:cNvSpPr/>
          <p:nvPr/>
        </p:nvSpPr>
        <p:spPr>
          <a:xfrm>
            <a:off x="658368" y="4956048"/>
            <a:ext cx="2487168" cy="804672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22960" y="5138928"/>
            <a:ext cx="420624" cy="42062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960" y="51389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920" dirty="0"/>
          </a:p>
        </p:txBody>
      </p:sp>
      <p:sp>
        <p:nvSpPr>
          <p:cNvPr id="17" name="Text 14"/>
          <p:cNvSpPr txBox="1"/>
          <p:nvPr/>
        </p:nvSpPr>
        <p:spPr>
          <a:xfrm>
            <a:off x="1408176" y="521208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20" b="1" spc="70" kern="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NOMBRE</a:t>
            </a:r>
            <a:endParaRPr lang="en-US" sz="1020" dirty="0"/>
          </a:p>
        </p:txBody>
      </p:sp>
      <p:sp>
        <p:nvSpPr>
          <p:cNvPr id="18" name="Shape 15"/>
          <p:cNvSpPr/>
          <p:nvPr/>
        </p:nvSpPr>
        <p:spPr>
          <a:xfrm>
            <a:off x="3401568" y="4956048"/>
            <a:ext cx="2487168" cy="804672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566160" y="5138928"/>
            <a:ext cx="420624" cy="420624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566160" y="51389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20" dirty="0"/>
          </a:p>
        </p:txBody>
      </p:sp>
      <p:sp>
        <p:nvSpPr>
          <p:cNvPr id="21" name="Text 18"/>
          <p:cNvSpPr txBox="1"/>
          <p:nvPr/>
        </p:nvSpPr>
        <p:spPr>
          <a:xfrm>
            <a:off x="4151376" y="521208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20" b="1" spc="70" kern="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ENTRADA + RESULTADO</a:t>
            </a:r>
            <a:endParaRPr lang="en-US" sz="1020" dirty="0"/>
          </a:p>
        </p:txBody>
      </p:sp>
      <p:sp>
        <p:nvSpPr>
          <p:cNvPr id="22" name="Shape 19"/>
          <p:cNvSpPr/>
          <p:nvPr/>
        </p:nvSpPr>
        <p:spPr>
          <a:xfrm>
            <a:off x="6144768" y="4956048"/>
            <a:ext cx="2487168" cy="804672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09360" y="5138928"/>
            <a:ext cx="420624" cy="420624"/>
          </a:xfrm>
          <a:prstGeom prst="ellipse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309360" y="51389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20" dirty="0"/>
          </a:p>
        </p:txBody>
      </p:sp>
      <p:sp>
        <p:nvSpPr>
          <p:cNvPr id="25" name="Text 22"/>
          <p:cNvSpPr txBox="1"/>
          <p:nvPr/>
        </p:nvSpPr>
        <p:spPr>
          <a:xfrm>
            <a:off x="6894576" y="521208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20" b="1" spc="70" kern="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RIESGO</a:t>
            </a:r>
            <a:endParaRPr lang="en-US" sz="1020" dirty="0"/>
          </a:p>
        </p:txBody>
      </p:sp>
      <p:sp>
        <p:nvSpPr>
          <p:cNvPr id="26" name="Shape 23"/>
          <p:cNvSpPr/>
          <p:nvPr/>
        </p:nvSpPr>
        <p:spPr>
          <a:xfrm>
            <a:off x="8887968" y="4956048"/>
            <a:ext cx="2487168" cy="804672"/>
          </a:xfrm>
          <a:prstGeom prst="roundRect">
            <a:avLst>
              <a:gd name="adj" fmla="val 6818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9052560" y="5138928"/>
            <a:ext cx="420624" cy="42062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052560" y="51389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920" dirty="0"/>
          </a:p>
        </p:txBody>
      </p:sp>
      <p:sp>
        <p:nvSpPr>
          <p:cNvPr id="29" name="Text 26"/>
          <p:cNvSpPr txBox="1"/>
          <p:nvPr/>
        </p:nvSpPr>
        <p:spPr>
          <a:xfrm>
            <a:off x="9637776" y="521208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20" b="1" spc="70" kern="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REQUIERE DECISIÓN</a:t>
            </a:r>
            <a:endParaRPr lang="en-US" sz="102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0" y="313312"/>
            <a:ext cx="1298448" cy="452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63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4.2 · AUDITAR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86384"/>
            <a:ext cx="8869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Cada propuesta recibe una decisión</a:t>
            </a:r>
            <a:endParaRPr lang="en-US" sz="31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490472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calificamos al agente: evaluamos si el caso merece entrar a la suite.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58368" y="2267712"/>
            <a:ext cx="2487168" cy="3090672"/>
          </a:xfrm>
          <a:prstGeom prst="roundRect">
            <a:avLst>
              <a:gd name="adj" fmla="val 2941"/>
            </a:avLst>
          </a:prstGeom>
          <a:solidFill>
            <a:srgbClr val="E9F6EE"/>
          </a:solidFill>
          <a:ln w="12700">
            <a:solidFill>
              <a:srgbClr val="E9F6E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58368" y="2267712"/>
            <a:ext cx="2487168" cy="109728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536192" y="2688336"/>
            <a:ext cx="731520" cy="731520"/>
          </a:xfrm>
          <a:prstGeom prst="ellipse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536192" y="2688336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96112" y="36758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spc="80" kern="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ACEPTAR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932688" y="4224528"/>
            <a:ext cx="19385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riesgo distinto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 regla conocida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3401568" y="2267712"/>
            <a:ext cx="2487168" cy="3090672"/>
          </a:xfrm>
          <a:prstGeom prst="roundRect">
            <a:avLst>
              <a:gd name="adj" fmla="val 2941"/>
            </a:avLst>
          </a:prstGeom>
          <a:solidFill>
            <a:srgbClr val="FBF3DE"/>
          </a:solidFill>
          <a:ln w="12700">
            <a:solidFill>
              <a:srgbClr val="FBF3D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401568" y="2267712"/>
            <a:ext cx="2487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279392" y="2688336"/>
            <a:ext cx="731520" cy="731520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279392" y="2688336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3639312" y="36758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spc="80" kern="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MODIFICAR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3675888" y="4224528"/>
            <a:ext cx="19385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riesgo útil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 caso impreciso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6144768" y="2267712"/>
            <a:ext cx="2487168" cy="3090672"/>
          </a:xfrm>
          <a:prstGeom prst="roundRect">
            <a:avLst>
              <a:gd name="adj" fmla="val 294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144768" y="2267712"/>
            <a:ext cx="2487168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022592" y="2688336"/>
            <a:ext cx="731520" cy="73152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022592" y="2688336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6382512" y="36758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spc="80" kern="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POSPONER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6419088" y="4224528"/>
            <a:ext cx="19385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descubre una regla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 todavía pendiente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8887968" y="2267712"/>
            <a:ext cx="2487168" cy="3090672"/>
          </a:xfrm>
          <a:prstGeom prst="roundRect">
            <a:avLst>
              <a:gd name="adj" fmla="val 294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8887968" y="2267712"/>
            <a:ext cx="24871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765792" y="2688336"/>
            <a:ext cx="731520" cy="731520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765792" y="2688336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9125712" y="36758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spc="80" kern="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RECHAZAR</a:t>
            </a:r>
            <a:endParaRPr lang="en-US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9162288" y="4224528"/>
            <a:ext cx="19385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repite, contradice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 o carece de propósito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658368" y="5687568"/>
            <a:ext cx="10863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decisión debe poder explicarse con una frase: «lo acepto / pospongo porque…»</a:t>
            </a:r>
            <a:endParaRPr lang="en-US" sz="15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0" y="313312"/>
            <a:ext cx="1298448" cy="452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64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4.2 · DECIDIR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86384"/>
            <a:ext cx="8869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Cinco propuestas, tres destinos</a:t>
            </a:r>
            <a:endParaRPr lang="en-US" sz="31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490472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entrada por sí sola no basta: cada decisión queda acompañada por su razón.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58368" y="2176272"/>
            <a:ext cx="10863072" cy="566928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41248" y="2359152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408176" y="231343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[5.5] → 5.5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4608576" y="2276856"/>
            <a:ext cx="1408176" cy="365760"/>
          </a:xfrm>
          <a:prstGeom prst="roundRect">
            <a:avLst>
              <a:gd name="adj" fmla="val 10000"/>
            </a:avLst>
          </a:prstGeom>
          <a:solidFill>
            <a:srgbClr val="E9F6EE"/>
          </a:solidFill>
          <a:ln w="12700">
            <a:solidFill>
              <a:srgbClr val="E9F6E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608576" y="2276856"/>
            <a:ext cx="1408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60" kern="0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ACEPTAR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309360" y="2322576"/>
            <a:ext cx="4626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caso mínimo: una sola nota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58368" y="2889504"/>
            <a:ext cx="10863072" cy="566928"/>
          </a:xfrm>
          <a:prstGeom prst="roundRect">
            <a:avLst>
              <a:gd name="adj" fmla="val 6452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41248" y="307238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1408176" y="302666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[3.94] → 3.9</a:t>
            </a:r>
            <a:endParaRPr lang="en-US" sz="1450" dirty="0"/>
          </a:p>
        </p:txBody>
      </p:sp>
      <p:sp>
        <p:nvSpPr>
          <p:cNvPr id="20" name="Shape 17"/>
          <p:cNvSpPr/>
          <p:nvPr/>
        </p:nvSpPr>
        <p:spPr>
          <a:xfrm>
            <a:off x="4608576" y="2990088"/>
            <a:ext cx="1408176" cy="365760"/>
          </a:xfrm>
          <a:prstGeom prst="roundRect">
            <a:avLst>
              <a:gd name="adj" fmla="val 10000"/>
            </a:avLst>
          </a:prstGeom>
          <a:solidFill>
            <a:srgbClr val="E9F6EE"/>
          </a:solidFill>
          <a:ln w="12700">
            <a:solidFill>
              <a:srgbClr val="E9F6E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608576" y="2990088"/>
            <a:ext cx="1408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60" kern="0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ACEPTAR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6309360" y="3035808"/>
            <a:ext cx="4626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valor inmediatamente inferior al empate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58368" y="3602736"/>
            <a:ext cx="10863072" cy="566928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41248" y="3785616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1408176" y="373989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[3.8, 4.1, 3.95] → 4.0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4608576" y="3703320"/>
            <a:ext cx="1408176" cy="365760"/>
          </a:xfrm>
          <a:prstGeom prst="roundRect">
            <a:avLst>
              <a:gd name="adj" fmla="val 10000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608576" y="3703320"/>
            <a:ext cx="1408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6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RECHAZAR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6309360" y="3749040"/>
            <a:ext cx="4626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ya existe como regresión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658368" y="4315968"/>
            <a:ext cx="10863072" cy="566928"/>
          </a:xfrm>
          <a:prstGeom prst="roundRect">
            <a:avLst>
              <a:gd name="adj" fmla="val 6452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41248" y="4498848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1408176" y="445312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[] → 0.0</a:t>
            </a:r>
            <a:endParaRPr lang="en-US" sz="1450" dirty="0"/>
          </a:p>
        </p:txBody>
      </p:sp>
      <p:sp>
        <p:nvSpPr>
          <p:cNvPr id="32" name="Shape 29"/>
          <p:cNvSpPr/>
          <p:nvPr/>
        </p:nvSpPr>
        <p:spPr>
          <a:xfrm>
            <a:off x="4608576" y="4416552"/>
            <a:ext cx="1408176" cy="365760"/>
          </a:xfrm>
          <a:prstGeom prst="roundRect">
            <a:avLst>
              <a:gd name="adj" fmla="val 10000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4608576" y="4416552"/>
            <a:ext cx="1408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60" kern="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POSPONER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6309360" y="4462272"/>
            <a:ext cx="4626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respuesta correcta aún no está definida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658368" y="5029200"/>
            <a:ext cx="10863072" cy="566928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1248" y="5212080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1408176" y="51663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['4.0', '5.0'] → 4.5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4608576" y="5129784"/>
            <a:ext cx="1408176" cy="365760"/>
          </a:xfrm>
          <a:prstGeom prst="roundRect">
            <a:avLst>
              <a:gd name="adj" fmla="val 10000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4608576" y="5129784"/>
            <a:ext cx="1408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6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RECHAZAR</a:t>
            </a:r>
            <a:endParaRPr lang="en-US" sz="950" dirty="0"/>
          </a:p>
        </p:txBody>
      </p:sp>
      <p:sp>
        <p:nvSpPr>
          <p:cNvPr id="40" name="Text 37"/>
          <p:cNvSpPr txBox="1"/>
          <p:nvPr/>
        </p:nvSpPr>
        <p:spPr>
          <a:xfrm>
            <a:off x="6309360" y="5175504"/>
            <a:ext cx="4626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contradice el contrato list[float]</a:t>
            </a:r>
            <a:endParaRPr lang="en-US" sz="14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0" y="313516"/>
            <a:ext cx="1298448" cy="4519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65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74980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6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CRITERIO DE AUDITORÍA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182880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Riesgo nuevo</a:t>
            </a:r>
            <a:endParaRPr lang="en-US" sz="3100" dirty="0"/>
          </a:p>
        </p:txBody>
      </p:sp>
      <p:sp>
        <p:nvSpPr>
          <p:cNvPr id="10" name="Text 7"/>
          <p:cNvSpPr txBox="1"/>
          <p:nvPr/>
        </p:nvSpPr>
        <p:spPr>
          <a:xfrm>
            <a:off x="3730752" y="1755648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</a:t>
            </a:r>
            <a:endParaRPr lang="en-US" sz="3800" dirty="0"/>
          </a:p>
        </p:txBody>
      </p:sp>
      <p:sp>
        <p:nvSpPr>
          <p:cNvPr id="11" name="Text 8"/>
          <p:cNvSpPr txBox="1"/>
          <p:nvPr/>
        </p:nvSpPr>
        <p:spPr>
          <a:xfrm>
            <a:off x="4498848" y="1828800"/>
            <a:ext cx="2852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Regla conocida</a:t>
            </a:r>
            <a:endParaRPr lang="en-US" sz="3100" dirty="0"/>
          </a:p>
        </p:txBody>
      </p:sp>
      <p:sp>
        <p:nvSpPr>
          <p:cNvPr id="12" name="Text 9"/>
          <p:cNvSpPr txBox="1"/>
          <p:nvPr/>
        </p:nvSpPr>
        <p:spPr>
          <a:xfrm>
            <a:off x="7479792" y="1755648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=</a:t>
            </a:r>
            <a:endParaRPr lang="en-US" sz="3800" dirty="0"/>
          </a:p>
        </p:txBody>
      </p:sp>
      <p:sp>
        <p:nvSpPr>
          <p:cNvPr id="13" name="Shape 10"/>
          <p:cNvSpPr/>
          <p:nvPr/>
        </p:nvSpPr>
        <p:spPr>
          <a:xfrm>
            <a:off x="8266176" y="1481328"/>
            <a:ext cx="2907792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467344" y="1828800"/>
            <a:ext cx="2505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CASO DEFENDIBLE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932688" y="2926080"/>
            <a:ext cx="10222992" cy="0"/>
          </a:xfrm>
          <a:prstGeom prst="line">
            <a:avLst/>
          </a:prstGeom>
          <a:noFill/>
          <a:ln w="12700">
            <a:solidFill>
              <a:srgbClr val="284B75"/>
            </a:solidFill>
            <a:prstDash val="solid"/>
            <a:headEnd type="none"/>
            <a:tailEnd type="none"/>
          </a:ln>
        </p:spPr>
      </p:sp>
      <p:sp>
        <p:nvSpPr>
          <p:cNvPr id="16" name="Text 13"/>
          <p:cNvSpPr txBox="1"/>
          <p:nvPr/>
        </p:nvSpPr>
        <p:spPr>
          <a:xfrm>
            <a:off x="1024128" y="343814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cantidad no decide la calidad</a:t>
            </a:r>
            <a:endParaRPr lang="en-US" sz="2900" dirty="0"/>
          </a:p>
        </p:txBody>
      </p:sp>
      <p:sp>
        <p:nvSpPr>
          <p:cNvPr id="17" name="Text 14"/>
          <p:cNvSpPr txBox="1"/>
          <p:nvPr/>
        </p:nvSpPr>
        <p:spPr>
          <a:xfrm>
            <a:off x="5925312" y="3401568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suite crece cuando hace visible un riesgo distinto, no cuando acumula variaciones sin propósito.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658368" y="4937760"/>
            <a:ext cx="10863072" cy="713232"/>
          </a:xfrm>
          <a:prstGeom prst="roundRect">
            <a:avLst>
              <a:gd name="adj" fmla="val 6410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50976" y="4937760"/>
            <a:ext cx="102778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PREGUNTA PROFESIONAL  ·  ¿qué riesgo nuevo vuelve visible?</a:t>
            </a:r>
            <a:endParaRPr lang="en-US" sz="155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0" y="313312"/>
            <a:ext cx="1298448" cy="452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66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4.3 · INCORPORAR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86384"/>
            <a:ext cx="8869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Dos pruebas, dos riesgos identificables</a:t>
            </a:r>
            <a:endParaRPr lang="en-US" sz="29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737360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Conservamos funciones separadas para que el nombre explique qué evidencia aporta cada caso.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58368" y="2267712"/>
            <a:ext cx="6821424" cy="3566160"/>
          </a:xfrm>
          <a:prstGeom prst="roundRect">
            <a:avLst>
              <a:gd name="adj" fmla="val 1026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86384" y="2377440"/>
            <a:ext cx="656539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96112" y="2450592"/>
            <a:ext cx="6345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test_notas.py · casos aceptados</a:t>
            </a:r>
            <a:endParaRPr lang="en-US" sz="10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7824" y="2834640"/>
            <a:ext cx="6400800" cy="2816352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7808976" y="2267712"/>
            <a:ext cx="3511296" cy="3566160"/>
          </a:xfrm>
          <a:prstGeom prst="roundRect">
            <a:avLst>
              <a:gd name="adj" fmla="val 182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046720" y="2505456"/>
            <a:ext cx="73152" cy="256032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266176" y="2523744"/>
            <a:ext cx="2816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DOS RIESGOS DISTINTOS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672084" y="2835518"/>
            <a:ext cx="219456" cy="21945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72084" y="283551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840" dirty="0"/>
          </a:p>
        </p:txBody>
      </p:sp>
      <p:sp>
        <p:nvSpPr>
          <p:cNvPr id="20" name="Shape 16"/>
          <p:cNvSpPr/>
          <p:nvPr/>
        </p:nvSpPr>
        <p:spPr>
          <a:xfrm>
            <a:off x="8046720" y="3072384"/>
            <a:ext cx="292608" cy="292608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8046720" y="30723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20" dirty="0"/>
          </a:p>
        </p:txBody>
      </p:sp>
      <p:sp>
        <p:nvSpPr>
          <p:cNvPr id="22" name="Text 18"/>
          <p:cNvSpPr/>
          <p:nvPr/>
        </p:nvSpPr>
        <p:spPr>
          <a:xfrm>
            <a:off x="8449056" y="3118104"/>
            <a:ext cx="2615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8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L1 · CASO MÍNIMO</a:t>
            </a:r>
            <a:endParaRPr lang="en-US" sz="880" dirty="0"/>
          </a:p>
        </p:txBody>
      </p:sp>
      <p:sp>
        <p:nvSpPr>
          <p:cNvPr id="23" name="Text 19"/>
          <p:cNvSpPr/>
          <p:nvPr/>
        </p:nvSpPr>
        <p:spPr>
          <a:xfrm>
            <a:off x="8046720" y="3456432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única nota</a:t>
            </a:r>
            <a:endParaRPr lang="en-US" sz="1650" dirty="0"/>
          </a:p>
        </p:txBody>
      </p:sp>
      <p:sp>
        <p:nvSpPr>
          <p:cNvPr id="24" name="Text 20"/>
          <p:cNvSpPr/>
          <p:nvPr/>
        </p:nvSpPr>
        <p:spPr>
          <a:xfrm>
            <a:off x="8046720" y="3858768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4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Comprueba que el promedio conserva el único valor disponible.</a:t>
            </a:r>
            <a:endParaRPr lang="en-US" sz="1240" dirty="0"/>
          </a:p>
        </p:txBody>
      </p:sp>
      <p:sp>
        <p:nvSpPr>
          <p:cNvPr id="25" name="Shape 21"/>
          <p:cNvSpPr/>
          <p:nvPr/>
        </p:nvSpPr>
        <p:spPr>
          <a:xfrm>
            <a:off x="672084" y="3654820"/>
            <a:ext cx="219456" cy="219456"/>
          </a:xfrm>
          <a:prstGeom prst="ellipse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72084" y="365482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840" dirty="0"/>
          </a:p>
        </p:txBody>
      </p:sp>
      <p:sp>
        <p:nvSpPr>
          <p:cNvPr id="27" name="Shape 23"/>
          <p:cNvSpPr/>
          <p:nvPr/>
        </p:nvSpPr>
        <p:spPr>
          <a:xfrm>
            <a:off x="8046720" y="4297680"/>
            <a:ext cx="3035808" cy="0"/>
          </a:xfrm>
          <a:prstGeom prst="line">
            <a:avLst/>
          </a:prstGeom>
          <a:noFill/>
          <a:ln w="12700">
            <a:solidFill>
              <a:srgbClr val="284B75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8046720" y="4443984"/>
            <a:ext cx="292608" cy="292608"/>
          </a:xfrm>
          <a:prstGeom prst="ellipse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8046720" y="44439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20" dirty="0"/>
          </a:p>
        </p:txBody>
      </p:sp>
      <p:sp>
        <p:nvSpPr>
          <p:cNvPr id="30" name="Text 26"/>
          <p:cNvSpPr/>
          <p:nvPr/>
        </p:nvSpPr>
        <p:spPr>
          <a:xfrm>
            <a:off x="8449056" y="4489704"/>
            <a:ext cx="2615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80" kern="0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L5 · BAJO EL EMPATE</a:t>
            </a:r>
            <a:endParaRPr lang="en-US" sz="880" dirty="0"/>
          </a:p>
        </p:txBody>
      </p:sp>
      <p:sp>
        <p:nvSpPr>
          <p:cNvPr id="31" name="Text 27"/>
          <p:cNvSpPr/>
          <p:nvPr/>
        </p:nvSpPr>
        <p:spPr>
          <a:xfrm>
            <a:off x="8046720" y="4828032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3.94 → 3.9</a:t>
            </a:r>
            <a:endParaRPr lang="en-US" sz="1650" dirty="0"/>
          </a:p>
        </p:txBody>
      </p:sp>
      <p:sp>
        <p:nvSpPr>
          <p:cNvPr id="32" name="Text 28"/>
          <p:cNvSpPr/>
          <p:nvPr/>
        </p:nvSpPr>
        <p:spPr>
          <a:xfrm>
            <a:off x="8046720" y="5230368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4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Observa el valor inmediatamente inferior a 3.95.</a:t>
            </a:r>
            <a:endParaRPr lang="en-US" sz="124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0" y="313312"/>
            <a:ext cx="1298448" cy="452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67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4.3 · EJECUTAR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86384"/>
            <a:ext cx="8869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Cuatro verdes con propósito nombrado</a:t>
            </a:r>
            <a:endParaRPr lang="en-US" sz="31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490472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nueva evidencia se suma sin borrar los dos comportamientos que ya estaban protegidos.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58368" y="2249424"/>
            <a:ext cx="7479792" cy="3255264"/>
          </a:xfrm>
          <a:prstGeom prst="roundRect">
            <a:avLst>
              <a:gd name="adj" fmla="val 1124"/>
            </a:avLst>
          </a:prstGeom>
          <a:solidFill>
            <a:srgbClr val="0F1720"/>
          </a:solidFill>
          <a:ln w="12700">
            <a:solidFill>
              <a:srgbClr val="0F172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86384" y="2359152"/>
            <a:ext cx="7223760" cy="310896"/>
          </a:xfrm>
          <a:prstGeom prst="roundRect">
            <a:avLst>
              <a:gd name="adj" fmla="val 8824"/>
            </a:avLst>
          </a:prstGeom>
          <a:solidFill>
            <a:srgbClr val="1E2937"/>
          </a:solidFill>
          <a:ln w="12700">
            <a:solidFill>
              <a:srgbClr val="1E293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2432304"/>
            <a:ext cx="69677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PowerShell · suite ampliada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77824" y="281635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BC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188720" y="2816352"/>
            <a:ext cx="67299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run pytest -q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77824" y="3072384"/>
            <a:ext cx="67299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....                                   [100%]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77824" y="3328416"/>
            <a:ext cx="67299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passed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8430768" y="2249424"/>
            <a:ext cx="3108960" cy="3255264"/>
          </a:xfrm>
          <a:prstGeom prst="roundRect">
            <a:avLst>
              <a:gd name="adj" fmla="val 235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741664" y="2724912"/>
            <a:ext cx="24871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FAE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PASSED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796528" y="3401568"/>
            <a:ext cx="2395728" cy="0"/>
          </a:xfrm>
          <a:prstGeom prst="line">
            <a:avLst/>
          </a:prstGeom>
          <a:noFill/>
          <a:ln w="12700">
            <a:solidFill>
              <a:srgbClr val="284B75"/>
            </a:solidFill>
            <a:prstDash val="solid"/>
            <a:headEnd type="none"/>
            <a:tailEnd type="none"/>
          </a:ln>
        </p:spPr>
      </p:sp>
      <p:sp>
        <p:nvSpPr>
          <p:cNvPr id="21" name="Text 18"/>
          <p:cNvSpPr txBox="1"/>
          <p:nvPr/>
        </p:nvSpPr>
        <p:spPr>
          <a:xfrm>
            <a:off x="8759952" y="3694176"/>
            <a:ext cx="2450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 promedio normal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8759952" y="4078224"/>
            <a:ext cx="2450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 empate 3.95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8759952" y="4462272"/>
            <a:ext cx="2450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 una sola nota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8759952" y="4846320"/>
            <a:ext cx="2450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 valor 3.94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658368" y="5724144"/>
            <a:ext cx="10863072" cy="384048"/>
          </a:xfrm>
          <a:prstGeom prst="roundRect">
            <a:avLst>
              <a:gd name="adj" fmla="val 9524"/>
            </a:avLst>
          </a:prstGeom>
          <a:solidFill>
            <a:srgbClr val="FBF3DE"/>
          </a:solidFill>
          <a:ln w="12700">
            <a:solidFill>
              <a:srgbClr val="FBF3DE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32688" y="5724144"/>
            <a:ext cx="10314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verde creció porque crecieron los riesgos observados, no porque repetimos el mismo ejemplo.</a:t>
            </a:r>
            <a:endParaRPr lang="en-US" sz="135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0" y="313516"/>
            <a:ext cx="1298448" cy="4519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68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749808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6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4.4 · DESAFÍO CONTROLADO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1316736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Predice antes de ejecutar</a:t>
            </a:r>
            <a:endParaRPr lang="en-US" sz="38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2048256"/>
            <a:ext cx="8375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sabotaje sirve para comprobar si entendemos qué observa cada barrera.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822960" y="3090672"/>
            <a:ext cx="621792" cy="621792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309067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85216" y="393192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spc="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CAMBIO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1645920" y="3374136"/>
            <a:ext cx="987552" cy="42062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072384" y="3090672"/>
            <a:ext cx="621792" cy="621792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072384" y="309067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834640" y="393192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spc="7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HIPÓTESIS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3895344" y="3374136"/>
            <a:ext cx="987552" cy="42062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321808" y="3090672"/>
            <a:ext cx="621792" cy="6217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321808" y="309067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5084064" y="393192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spc="7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144768" y="3374136"/>
            <a:ext cx="987552" cy="42062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571232" y="3090672"/>
            <a:ext cx="621792" cy="621792"/>
          </a:xfrm>
          <a:prstGeom prst="ellipse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571232" y="309067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7333488" y="393192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spc="70" kern="0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DIAGNÓSTICO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8394192" y="3374136"/>
            <a:ext cx="987552" cy="42062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9820656" y="3090672"/>
            <a:ext cx="621792" cy="621792"/>
          </a:xfrm>
          <a:prstGeom prst="ellipse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820656" y="309067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9582912" y="393192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spc="70" kern="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RESTAURAR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58368" y="4864608"/>
            <a:ext cx="10863072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32688" y="4864608"/>
            <a:ext cx="10314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ANTES DE TOCAR EL CÓDIGO  ·  anota qué control debería reaccionar y qué señal esperas leer</a:t>
            </a:r>
            <a:endParaRPr lang="en-US" sz="14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0" y="313312"/>
            <a:ext cx="1298448" cy="452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69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4.4 · ELEGIR BARRERA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86384"/>
            <a:ext cx="88696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Cuatro sabotajes, cuatro primeras hipótesis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773936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asociación muestra el control más directo; no una frontera absoluta.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58368" y="2176272"/>
            <a:ext cx="2487168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pic>
        <p:nvPicPr>
          <p:cNvPr id="12" name="Image 1" descr="C:\Users\Diego Obando\dev\pro402-taller-de-testing-2026\clases\semana-01\02\ppt\source\assets\tools\uv-mark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40434" y="2322576"/>
            <a:ext cx="523037" cy="52303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49808" y="3044952"/>
            <a:ext cx="2304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uv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58368" y="3602736"/>
            <a:ext cx="2487168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59536" y="3822192"/>
            <a:ext cx="475488" cy="475488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59536" y="38221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1517904" y="378561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lockfile desalineado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914400" y="4498848"/>
            <a:ext cx="1975104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  <a:headEnd type="none"/>
            <a:tailEnd type="none"/>
          </a:ln>
        </p:spPr>
      </p:sp>
      <p:sp>
        <p:nvSpPr>
          <p:cNvPr id="19" name="Text 15"/>
          <p:cNvSpPr txBox="1"/>
          <p:nvPr/>
        </p:nvSpPr>
        <p:spPr>
          <a:xfrm>
            <a:off x="877824" y="4791456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lock --check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3401568" y="2176272"/>
            <a:ext cx="2487168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pic>
        <p:nvPicPr>
          <p:cNvPr id="21" name="Image 2" descr="C:\Users\Diego Obando\dev\pro402-taller-de-testing-2026\clases\semana-01\02\ppt\source\assets\tools\ruff-mark.sv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431139" y="2322576"/>
            <a:ext cx="428026" cy="523037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3493008" y="3044952"/>
            <a:ext cx="2304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ruff</a:t>
            </a:r>
            <a:endParaRPr lang="en-US" sz="1300" dirty="0"/>
          </a:p>
        </p:txBody>
      </p:sp>
      <p:sp>
        <p:nvSpPr>
          <p:cNvPr id="23" name="Shape 18"/>
          <p:cNvSpPr/>
          <p:nvPr/>
        </p:nvSpPr>
        <p:spPr>
          <a:xfrm>
            <a:off x="3401568" y="3602736"/>
            <a:ext cx="2487168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3602736" y="3822192"/>
            <a:ext cx="475488" cy="475488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3602736" y="38221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</a:t>
            </a:r>
            <a:endParaRPr lang="en-US" sz="1100" dirty="0"/>
          </a:p>
        </p:txBody>
      </p:sp>
      <p:sp>
        <p:nvSpPr>
          <p:cNvPr id="26" name="Text 21"/>
          <p:cNvSpPr txBox="1"/>
          <p:nvPr/>
        </p:nvSpPr>
        <p:spPr>
          <a:xfrm>
            <a:off x="4261104" y="378561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import sin uso</a:t>
            </a:r>
            <a:endParaRPr lang="en-US" sz="1500" dirty="0"/>
          </a:p>
        </p:txBody>
      </p:sp>
      <p:sp>
        <p:nvSpPr>
          <p:cNvPr id="27" name="Shape 22"/>
          <p:cNvSpPr/>
          <p:nvPr/>
        </p:nvSpPr>
        <p:spPr>
          <a:xfrm>
            <a:off x="3657600" y="4498848"/>
            <a:ext cx="1975104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  <a:headEnd type="none"/>
            <a:tailEnd type="none"/>
          </a:ln>
        </p:spPr>
      </p:sp>
      <p:sp>
        <p:nvSpPr>
          <p:cNvPr id="28" name="Text 23"/>
          <p:cNvSpPr txBox="1"/>
          <p:nvPr/>
        </p:nvSpPr>
        <p:spPr>
          <a:xfrm>
            <a:off x="3621024" y="4791456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620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ruff check .</a:t>
            </a:r>
            <a:endParaRPr lang="en-US" sz="1150" dirty="0"/>
          </a:p>
        </p:txBody>
      </p:sp>
      <p:sp>
        <p:nvSpPr>
          <p:cNvPr id="29" name="Shape 24"/>
          <p:cNvSpPr/>
          <p:nvPr/>
        </p:nvSpPr>
        <p:spPr>
          <a:xfrm>
            <a:off x="6144768" y="2176272"/>
            <a:ext cx="2487168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pic>
        <p:nvPicPr>
          <p:cNvPr id="30" name="Image 3" descr="C:\Users\Diego Obando\dev\pro402-taller-de-testing-2026\clases\semana-01\02\ppt\source\assets\tools\pyrefly-mark.sv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057227" y="2322576"/>
            <a:ext cx="662251" cy="523037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6236208" y="3044952"/>
            <a:ext cx="2304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Pyrefly</a:t>
            </a:r>
            <a:endParaRPr lang="en-US" sz="1300" dirty="0"/>
          </a:p>
        </p:txBody>
      </p:sp>
      <p:sp>
        <p:nvSpPr>
          <p:cNvPr id="32" name="Shape 26"/>
          <p:cNvSpPr/>
          <p:nvPr/>
        </p:nvSpPr>
        <p:spPr>
          <a:xfrm>
            <a:off x="6144768" y="3602736"/>
            <a:ext cx="2487168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6345936" y="3822192"/>
            <a:ext cx="475488" cy="475488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6345936" y="38221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</a:t>
            </a:r>
            <a:endParaRPr lang="en-US" sz="1100" dirty="0"/>
          </a:p>
        </p:txBody>
      </p:sp>
      <p:sp>
        <p:nvSpPr>
          <p:cNvPr id="35" name="Text 29"/>
          <p:cNvSpPr txBox="1"/>
          <p:nvPr/>
        </p:nvSpPr>
        <p:spPr>
          <a:xfrm>
            <a:off x="7004304" y="378561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firma incompatible</a:t>
            </a:r>
            <a:endParaRPr lang="en-US" sz="1500" dirty="0"/>
          </a:p>
        </p:txBody>
      </p:sp>
      <p:sp>
        <p:nvSpPr>
          <p:cNvPr id="36" name="Shape 30"/>
          <p:cNvSpPr/>
          <p:nvPr/>
        </p:nvSpPr>
        <p:spPr>
          <a:xfrm>
            <a:off x="6400800" y="4498848"/>
            <a:ext cx="1975104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  <a:headEnd type="none"/>
            <a:tailEnd type="none"/>
          </a:ln>
        </p:spPr>
      </p:sp>
      <p:sp>
        <p:nvSpPr>
          <p:cNvPr id="37" name="Text 31"/>
          <p:cNvSpPr txBox="1"/>
          <p:nvPr/>
        </p:nvSpPr>
        <p:spPr>
          <a:xfrm>
            <a:off x="6364224" y="4791456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pyrefly check</a:t>
            </a:r>
            <a:endParaRPr lang="en-US" sz="1150" dirty="0"/>
          </a:p>
        </p:txBody>
      </p:sp>
      <p:sp>
        <p:nvSpPr>
          <p:cNvPr id="38" name="Shape 32"/>
          <p:cNvSpPr/>
          <p:nvPr/>
        </p:nvSpPr>
        <p:spPr>
          <a:xfrm>
            <a:off x="8887968" y="2176272"/>
            <a:ext cx="2487168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pic>
        <p:nvPicPr>
          <p:cNvPr id="39" name="Image 4" descr="C:\Users\Diego Obando\dev\pro402-taller-de-testing-2026\clases\semana-01\02\ppt\source\assets\tools\pytest-logo.sv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804654" y="2249424"/>
            <a:ext cx="653796" cy="653796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8979408" y="3044952"/>
            <a:ext cx="2304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pytest</a:t>
            </a:r>
            <a:endParaRPr lang="en-US" sz="1300" dirty="0"/>
          </a:p>
        </p:txBody>
      </p:sp>
      <p:sp>
        <p:nvSpPr>
          <p:cNvPr id="41" name="Shape 34"/>
          <p:cNvSpPr/>
          <p:nvPr/>
        </p:nvSpPr>
        <p:spPr>
          <a:xfrm>
            <a:off x="8887968" y="3602736"/>
            <a:ext cx="2487168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2" name="Shape 35"/>
          <p:cNvSpPr/>
          <p:nvPr/>
        </p:nvSpPr>
        <p:spPr>
          <a:xfrm>
            <a:off x="9089136" y="3822192"/>
            <a:ext cx="475488" cy="475488"/>
          </a:xfrm>
          <a:prstGeom prst="ellipse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9089136" y="38221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</a:t>
            </a:r>
            <a:endParaRPr lang="en-US" sz="1100" dirty="0"/>
          </a:p>
        </p:txBody>
      </p:sp>
      <p:sp>
        <p:nvSpPr>
          <p:cNvPr id="44" name="Text 37"/>
          <p:cNvSpPr txBox="1"/>
          <p:nvPr/>
        </p:nvSpPr>
        <p:spPr>
          <a:xfrm>
            <a:off x="9747504" y="378561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redondeo incorrecto</a:t>
            </a:r>
            <a:endParaRPr lang="en-US" sz="1500" dirty="0"/>
          </a:p>
        </p:txBody>
      </p:sp>
      <p:sp>
        <p:nvSpPr>
          <p:cNvPr id="45" name="Shape 38"/>
          <p:cNvSpPr/>
          <p:nvPr/>
        </p:nvSpPr>
        <p:spPr>
          <a:xfrm>
            <a:off x="9144000" y="4498848"/>
            <a:ext cx="1975104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  <a:headEnd type="none"/>
            <a:tailEnd type="none"/>
          </a:ln>
        </p:spPr>
      </p:sp>
      <p:sp>
        <p:nvSpPr>
          <p:cNvPr id="46" name="Text 39"/>
          <p:cNvSpPr txBox="1"/>
          <p:nvPr/>
        </p:nvSpPr>
        <p:spPr>
          <a:xfrm>
            <a:off x="9107424" y="4791456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AE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pytest -q</a:t>
            </a:r>
            <a:endParaRPr lang="en-US" sz="1150" dirty="0"/>
          </a:p>
        </p:txBody>
      </p:sp>
      <p:sp>
        <p:nvSpPr>
          <p:cNvPr id="47" name="Text 40"/>
          <p:cNvSpPr txBox="1"/>
          <p:nvPr/>
        </p:nvSpPr>
        <p:spPr>
          <a:xfrm>
            <a:off x="658368" y="5797296"/>
            <a:ext cx="10863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Primero ejecutamos el control que mejor responde a nuestra hipótesis.</a:t>
            </a:r>
            <a:endParaRPr lang="en-US" sz="15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0" y="313312"/>
            <a:ext cx="1298448" cy="452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70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4.4 · SABOTAJES A + B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86384"/>
            <a:ext cx="8869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Entorno y estructura dejan señales distintas</a:t>
            </a:r>
            <a:endParaRPr lang="en-US" sz="29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737360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pareja compara el cambio temporal, el control esperado y la restauración mínima.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58368" y="2249424"/>
            <a:ext cx="5340096" cy="3602736"/>
          </a:xfrm>
          <a:prstGeom prst="roundRect">
            <a:avLst>
              <a:gd name="adj" fmla="val 2030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69264" y="2523744"/>
            <a:ext cx="585216" cy="58521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69264" y="2523744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1755648" y="267004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80" kern="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LOCKFILE DESALINEADO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987552" y="3255264"/>
            <a:ext cx="987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20" b="1" spc="70" kern="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CAMBIO</a:t>
            </a:r>
            <a:endParaRPr lang="en-US" sz="920" dirty="0"/>
          </a:p>
        </p:txBody>
      </p:sp>
      <p:sp>
        <p:nvSpPr>
          <p:cNvPr id="16" name="Text 13"/>
          <p:cNvSpPr txBox="1"/>
          <p:nvPr/>
        </p:nvSpPr>
        <p:spPr>
          <a:xfrm>
            <a:off x="2066544" y="3218688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Agregar una dependencia solo en pyproject.toml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987552" y="3694176"/>
            <a:ext cx="4645152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18" name="Text 15"/>
          <p:cNvSpPr txBox="1"/>
          <p:nvPr/>
        </p:nvSpPr>
        <p:spPr>
          <a:xfrm>
            <a:off x="987552" y="3877056"/>
            <a:ext cx="987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20" b="1" spc="70" kern="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920" dirty="0"/>
          </a:p>
        </p:txBody>
      </p:sp>
      <p:sp>
        <p:nvSpPr>
          <p:cNvPr id="19" name="Text 16"/>
          <p:cNvSpPr txBox="1"/>
          <p:nvPr/>
        </p:nvSpPr>
        <p:spPr>
          <a:xfrm>
            <a:off x="2066544" y="3840480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lock --check</a:t>
            </a:r>
            <a:endParaRPr lang="en-US" sz="1320" dirty="0"/>
          </a:p>
        </p:txBody>
      </p:sp>
      <p:sp>
        <p:nvSpPr>
          <p:cNvPr id="20" name="Shape 17"/>
          <p:cNvSpPr/>
          <p:nvPr/>
        </p:nvSpPr>
        <p:spPr>
          <a:xfrm>
            <a:off x="987552" y="4315968"/>
            <a:ext cx="4645152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21" name="Text 18"/>
          <p:cNvSpPr txBox="1"/>
          <p:nvPr/>
        </p:nvSpPr>
        <p:spPr>
          <a:xfrm>
            <a:off x="987552" y="4498848"/>
            <a:ext cx="987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20" b="1" spc="70" kern="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SEÑAL</a:t>
            </a:r>
            <a:endParaRPr lang="en-US" sz="920" dirty="0"/>
          </a:p>
        </p:txBody>
      </p:sp>
      <p:sp>
        <p:nvSpPr>
          <p:cNvPr id="22" name="Text 19"/>
          <p:cNvSpPr txBox="1"/>
          <p:nvPr/>
        </p:nvSpPr>
        <p:spPr>
          <a:xfrm>
            <a:off x="2066544" y="4462272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lockfile desactualizado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987552" y="4937760"/>
            <a:ext cx="4645152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24" name="Text 21"/>
          <p:cNvSpPr txBox="1"/>
          <p:nvPr/>
        </p:nvSpPr>
        <p:spPr>
          <a:xfrm>
            <a:off x="987552" y="5120640"/>
            <a:ext cx="987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20" b="1" spc="70" kern="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RESTAURAR</a:t>
            </a:r>
            <a:endParaRPr lang="en-US" sz="920" dirty="0"/>
          </a:p>
        </p:txBody>
      </p:sp>
      <p:sp>
        <p:nvSpPr>
          <p:cNvPr id="25" name="Text 22"/>
          <p:cNvSpPr txBox="1"/>
          <p:nvPr/>
        </p:nvSpPr>
        <p:spPr>
          <a:xfrm>
            <a:off x="2066544" y="5084064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deshacer la línea agregada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6199632" y="2249424"/>
            <a:ext cx="5340096" cy="3602736"/>
          </a:xfrm>
          <a:prstGeom prst="roundRect">
            <a:avLst>
              <a:gd name="adj" fmla="val 203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510528" y="2523744"/>
            <a:ext cx="585216" cy="58521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10528" y="2523744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296912" y="267004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IMPORT SIN USO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6528816" y="3255264"/>
            <a:ext cx="987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20" b="1" spc="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CAMBIO</a:t>
            </a:r>
            <a:endParaRPr lang="en-US" sz="920" dirty="0"/>
          </a:p>
        </p:txBody>
      </p:sp>
      <p:sp>
        <p:nvSpPr>
          <p:cNvPr id="31" name="Text 28"/>
          <p:cNvSpPr txBox="1"/>
          <p:nvPr/>
        </p:nvSpPr>
        <p:spPr>
          <a:xfrm>
            <a:off x="7607808" y="3218688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Agregar import math en notas.py</a:t>
            </a:r>
            <a:endParaRPr lang="en-US" sz="1350" dirty="0"/>
          </a:p>
        </p:txBody>
      </p:sp>
      <p:sp>
        <p:nvSpPr>
          <p:cNvPr id="32" name="Shape 29"/>
          <p:cNvSpPr/>
          <p:nvPr/>
        </p:nvSpPr>
        <p:spPr>
          <a:xfrm>
            <a:off x="6528816" y="3694176"/>
            <a:ext cx="4645152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  <a:headEnd type="none"/>
            <a:tailEnd type="none"/>
          </a:ln>
        </p:spPr>
      </p:sp>
      <p:sp>
        <p:nvSpPr>
          <p:cNvPr id="33" name="Text 30"/>
          <p:cNvSpPr txBox="1"/>
          <p:nvPr/>
        </p:nvSpPr>
        <p:spPr>
          <a:xfrm>
            <a:off x="6528816" y="3877056"/>
            <a:ext cx="987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20" b="1" spc="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920" dirty="0"/>
          </a:p>
        </p:txBody>
      </p:sp>
      <p:sp>
        <p:nvSpPr>
          <p:cNvPr id="34" name="Text 31"/>
          <p:cNvSpPr txBox="1"/>
          <p:nvPr/>
        </p:nvSpPr>
        <p:spPr>
          <a:xfrm>
            <a:off x="7607808" y="3840480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run ruff check .</a:t>
            </a:r>
            <a:endParaRPr lang="en-US" sz="1320" dirty="0"/>
          </a:p>
        </p:txBody>
      </p:sp>
      <p:sp>
        <p:nvSpPr>
          <p:cNvPr id="35" name="Shape 32"/>
          <p:cNvSpPr/>
          <p:nvPr/>
        </p:nvSpPr>
        <p:spPr>
          <a:xfrm>
            <a:off x="6528816" y="4315968"/>
            <a:ext cx="4645152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  <a:headEnd type="none"/>
            <a:tailEnd type="none"/>
          </a:ln>
        </p:spPr>
      </p:sp>
      <p:sp>
        <p:nvSpPr>
          <p:cNvPr id="36" name="Text 33"/>
          <p:cNvSpPr txBox="1"/>
          <p:nvPr/>
        </p:nvSpPr>
        <p:spPr>
          <a:xfrm>
            <a:off x="6528816" y="4498848"/>
            <a:ext cx="987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20" b="1" spc="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SEÑAL</a:t>
            </a:r>
            <a:endParaRPr lang="en-US" sz="920" dirty="0"/>
          </a:p>
        </p:txBody>
      </p:sp>
      <p:sp>
        <p:nvSpPr>
          <p:cNvPr id="37" name="Text 34"/>
          <p:cNvSpPr txBox="1"/>
          <p:nvPr/>
        </p:nvSpPr>
        <p:spPr>
          <a:xfrm>
            <a:off x="7607808" y="4462272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F401 · import no utilizado</a:t>
            </a:r>
            <a:endParaRPr lang="en-US" sz="1350" dirty="0"/>
          </a:p>
        </p:txBody>
      </p:sp>
      <p:sp>
        <p:nvSpPr>
          <p:cNvPr id="38" name="Shape 35"/>
          <p:cNvSpPr/>
          <p:nvPr/>
        </p:nvSpPr>
        <p:spPr>
          <a:xfrm>
            <a:off x="6528816" y="4937760"/>
            <a:ext cx="4645152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  <a:headEnd type="none"/>
            <a:tailEnd type="none"/>
          </a:ln>
        </p:spPr>
      </p:sp>
      <p:sp>
        <p:nvSpPr>
          <p:cNvPr id="39" name="Text 36"/>
          <p:cNvSpPr txBox="1"/>
          <p:nvPr/>
        </p:nvSpPr>
        <p:spPr>
          <a:xfrm>
            <a:off x="6528816" y="5120640"/>
            <a:ext cx="987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20" b="1" spc="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RESTAURAR</a:t>
            </a:r>
            <a:endParaRPr lang="en-US" sz="920" dirty="0"/>
          </a:p>
        </p:txBody>
      </p:sp>
      <p:sp>
        <p:nvSpPr>
          <p:cNvPr id="40" name="Text 37"/>
          <p:cNvSpPr txBox="1"/>
          <p:nvPr/>
        </p:nvSpPr>
        <p:spPr>
          <a:xfrm>
            <a:off x="7607808" y="5084064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eliminar el import</a:t>
            </a:r>
            <a:endParaRPr lang="en-US" sz="135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0" y="313312"/>
            <a:ext cx="1298448" cy="452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4.4 · SABOTAJE C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86384"/>
            <a:ext cx="8869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contrato puede fallar aunque pytest siga verde</a:t>
            </a:r>
            <a:endParaRPr lang="en-US" sz="29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737360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Cambiar la firma altera lo declarado; no necesariamente impide que Python ejecute el cuerpo.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58368" y="2286000"/>
            <a:ext cx="6784848" cy="2651760"/>
          </a:xfrm>
          <a:prstGeom prst="roundRect">
            <a:avLst>
              <a:gd name="adj" fmla="val 1379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86384" y="2395728"/>
            <a:ext cx="6528816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96112" y="2468880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notas.py · firma saboteada</a:t>
            </a:r>
            <a:endParaRPr lang="en-US" sz="10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7824" y="2852928"/>
            <a:ext cx="6364224" cy="1901952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7772400" y="2286000"/>
            <a:ext cx="3547872" cy="2651760"/>
          </a:xfrm>
          <a:prstGeom prst="roundRect">
            <a:avLst>
              <a:gd name="adj" fmla="val 2414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010144" y="2523744"/>
            <a:ext cx="73152" cy="25603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229600" y="2542032"/>
            <a:ext cx="2852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CONTRADICCIÓN DECLARADA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672084" y="2833931"/>
            <a:ext cx="219456" cy="21945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72084" y="2833931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840" dirty="0"/>
          </a:p>
        </p:txBody>
      </p:sp>
      <p:sp>
        <p:nvSpPr>
          <p:cNvPr id="20" name="Shape 16"/>
          <p:cNvSpPr/>
          <p:nvPr/>
        </p:nvSpPr>
        <p:spPr>
          <a:xfrm>
            <a:off x="8010144" y="3090672"/>
            <a:ext cx="292608" cy="292608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8010144" y="30906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20" dirty="0"/>
          </a:p>
        </p:txBody>
      </p:sp>
      <p:sp>
        <p:nvSpPr>
          <p:cNvPr id="22" name="Text 18"/>
          <p:cNvSpPr/>
          <p:nvPr/>
        </p:nvSpPr>
        <p:spPr>
          <a:xfrm>
            <a:off x="8412480" y="3136392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8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L1 · FIRMA TEMPORAL</a:t>
            </a:r>
            <a:endParaRPr lang="en-US" sz="880" dirty="0"/>
          </a:p>
        </p:txBody>
      </p:sp>
      <p:sp>
        <p:nvSpPr>
          <p:cNvPr id="23" name="Text 19"/>
          <p:cNvSpPr/>
          <p:nvPr/>
        </p:nvSpPr>
        <p:spPr>
          <a:xfrm>
            <a:off x="8010144" y="3474720"/>
            <a:ext cx="3072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list[str]</a:t>
            </a:r>
            <a:endParaRPr lang="en-US" sz="2200" dirty="0"/>
          </a:p>
        </p:txBody>
      </p:sp>
      <p:sp>
        <p:nvSpPr>
          <p:cNvPr id="24" name="Text 20"/>
          <p:cNvSpPr/>
          <p:nvPr/>
        </p:nvSpPr>
        <p:spPr>
          <a:xfrm>
            <a:off x="8010144" y="3968496"/>
            <a:ext cx="3072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2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pruebas siguen entregando float. Pyrefly confronta ambos contratos.</a:t>
            </a:r>
            <a:endParaRPr lang="en-US" sz="1320" dirty="0"/>
          </a:p>
        </p:txBody>
      </p:sp>
      <p:sp>
        <p:nvSpPr>
          <p:cNvPr id="25" name="Shape 21"/>
          <p:cNvSpPr/>
          <p:nvPr/>
        </p:nvSpPr>
        <p:spPr>
          <a:xfrm>
            <a:off x="658368" y="5212080"/>
            <a:ext cx="5248656" cy="658368"/>
          </a:xfrm>
          <a:prstGeom prst="roundRect">
            <a:avLst>
              <a:gd name="adj" fmla="val 6944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932688" y="5212080"/>
            <a:ext cx="4718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D620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PYREFLY  ·  incompatibilidades de tipos</a:t>
            </a:r>
            <a:endParaRPr lang="en-US" sz="1350" dirty="0"/>
          </a:p>
        </p:txBody>
      </p:sp>
      <p:sp>
        <p:nvSpPr>
          <p:cNvPr id="27" name="Shape 23"/>
          <p:cNvSpPr/>
          <p:nvPr/>
        </p:nvSpPr>
        <p:spPr>
          <a:xfrm>
            <a:off x="6291072" y="5212080"/>
            <a:ext cx="5248656" cy="658368"/>
          </a:xfrm>
          <a:prstGeom prst="roundRect">
            <a:avLst>
              <a:gd name="adj" fmla="val 6944"/>
            </a:avLst>
          </a:prstGeom>
          <a:solidFill>
            <a:srgbClr val="E9F6EE"/>
          </a:solidFill>
          <a:ln w="12700">
            <a:solidFill>
              <a:srgbClr val="E9F6EE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583680" y="5212080"/>
            <a:ext cx="4663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FAE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PYTEST  ·  4 passed</a:t>
            </a:r>
            <a:endParaRPr lang="en-US" sz="15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0" y="313312"/>
            <a:ext cx="1298448" cy="452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72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4.4 · SABOTAJE D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86384"/>
            <a:ext cx="8869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regla cambia en dos lugares</a:t>
            </a:r>
            <a:endParaRPr lang="en-US" sz="29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737360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ROUND_DOWN debe aparecer tanto en la importación como en quantize(); así falla el comportamiento y no un nombre inexistente.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58368" y="2304288"/>
            <a:ext cx="7424928" cy="3200400"/>
          </a:xfrm>
          <a:prstGeom prst="roundRect">
            <a:avLst>
              <a:gd name="adj" fmla="val 114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86384" y="2414016"/>
            <a:ext cx="7168896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96112" y="2487168"/>
            <a:ext cx="6949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notas.py · regla temporal ROUND_DOWN</a:t>
            </a:r>
            <a:endParaRPr lang="en-US" sz="10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7824" y="2871216"/>
            <a:ext cx="7004304" cy="2450592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8394192" y="2304288"/>
            <a:ext cx="2926080" cy="3200400"/>
          </a:xfrm>
          <a:prstGeom prst="roundRect">
            <a:avLst>
              <a:gd name="adj" fmla="val 2188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631936" y="2542032"/>
            <a:ext cx="73152" cy="25603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851392" y="2560320"/>
            <a:ext cx="22311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CAMBIO COHERENTE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672084" y="2850491"/>
            <a:ext cx="219456" cy="21945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72084" y="2850491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840" dirty="0"/>
          </a:p>
        </p:txBody>
      </p:sp>
      <p:sp>
        <p:nvSpPr>
          <p:cNvPr id="20" name="Shape 16"/>
          <p:cNvSpPr/>
          <p:nvPr/>
        </p:nvSpPr>
        <p:spPr>
          <a:xfrm>
            <a:off x="8631936" y="3108960"/>
            <a:ext cx="292608" cy="292608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8631936" y="3108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20" dirty="0"/>
          </a:p>
        </p:txBody>
      </p:sp>
      <p:sp>
        <p:nvSpPr>
          <p:cNvPr id="22" name="Text 18"/>
          <p:cNvSpPr/>
          <p:nvPr/>
        </p:nvSpPr>
        <p:spPr>
          <a:xfrm>
            <a:off x="9034272" y="3154680"/>
            <a:ext cx="20299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L1 · IMPORTACIÓN</a:t>
            </a:r>
            <a:endParaRPr lang="en-US" sz="880" dirty="0"/>
          </a:p>
        </p:txBody>
      </p:sp>
      <p:sp>
        <p:nvSpPr>
          <p:cNvPr id="23" name="Text 19"/>
          <p:cNvSpPr/>
          <p:nvPr/>
        </p:nvSpPr>
        <p:spPr>
          <a:xfrm>
            <a:off x="8631936" y="3493008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ROUND_DOWN</a:t>
            </a:r>
            <a:endParaRPr lang="en-US" sz="1500" dirty="0"/>
          </a:p>
        </p:txBody>
      </p:sp>
      <p:sp>
        <p:nvSpPr>
          <p:cNvPr id="24" name="Text 20"/>
          <p:cNvSpPr/>
          <p:nvPr/>
        </p:nvSpPr>
        <p:spPr>
          <a:xfrm>
            <a:off x="8631936" y="3877056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Constante válida.</a:t>
            </a:r>
            <a:endParaRPr lang="en-US" sz="1180" dirty="0"/>
          </a:p>
        </p:txBody>
      </p:sp>
      <p:sp>
        <p:nvSpPr>
          <p:cNvPr id="25" name="Shape 21"/>
          <p:cNvSpPr/>
          <p:nvPr/>
        </p:nvSpPr>
        <p:spPr>
          <a:xfrm>
            <a:off x="672084" y="4169056"/>
            <a:ext cx="219456" cy="21945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72084" y="416905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840" dirty="0"/>
          </a:p>
        </p:txBody>
      </p:sp>
      <p:sp>
        <p:nvSpPr>
          <p:cNvPr id="27" name="Shape 23"/>
          <p:cNvSpPr/>
          <p:nvPr/>
        </p:nvSpPr>
        <p:spPr>
          <a:xfrm>
            <a:off x="8631936" y="4151376"/>
            <a:ext cx="2450592" cy="0"/>
          </a:xfrm>
          <a:prstGeom prst="line">
            <a:avLst/>
          </a:prstGeom>
          <a:noFill/>
          <a:ln w="12700">
            <a:solidFill>
              <a:srgbClr val="284B75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8631936" y="4297680"/>
            <a:ext cx="292608" cy="292608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8631936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20" dirty="0"/>
          </a:p>
        </p:txBody>
      </p:sp>
      <p:sp>
        <p:nvSpPr>
          <p:cNvPr id="30" name="Text 26"/>
          <p:cNvSpPr/>
          <p:nvPr/>
        </p:nvSpPr>
        <p:spPr>
          <a:xfrm>
            <a:off x="9034272" y="4343400"/>
            <a:ext cx="20299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8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L9 · COMPORTAMIENTO</a:t>
            </a:r>
            <a:endParaRPr lang="en-US" sz="880" dirty="0"/>
          </a:p>
        </p:txBody>
      </p:sp>
      <p:sp>
        <p:nvSpPr>
          <p:cNvPr id="31" name="Text 27"/>
          <p:cNvSpPr/>
          <p:nvPr/>
        </p:nvSpPr>
        <p:spPr>
          <a:xfrm>
            <a:off x="8631936" y="4681728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rounding=...</a:t>
            </a:r>
            <a:endParaRPr lang="en-US" sz="1450" dirty="0"/>
          </a:p>
        </p:txBody>
      </p:sp>
      <p:sp>
        <p:nvSpPr>
          <p:cNvPr id="32" name="Text 28"/>
          <p:cNvSpPr/>
          <p:nvPr/>
        </p:nvSpPr>
        <p:spPr>
          <a:xfrm>
            <a:off x="8631936" y="508406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prueba 3.95 → 4.0 vuelve a quedar roja.</a:t>
            </a:r>
            <a:endParaRPr lang="en-US" sz="1180" dirty="0"/>
          </a:p>
        </p:txBody>
      </p:sp>
      <p:sp>
        <p:nvSpPr>
          <p:cNvPr id="33" name="Shape 29"/>
          <p:cNvSpPr/>
          <p:nvPr/>
        </p:nvSpPr>
        <p:spPr>
          <a:xfrm>
            <a:off x="658368" y="5687568"/>
            <a:ext cx="10863072" cy="420624"/>
          </a:xfrm>
          <a:prstGeom prst="roundRect">
            <a:avLst>
              <a:gd name="adj" fmla="val 8696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932688" y="5687568"/>
            <a:ext cx="103144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D620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pytest  ·  assert 3.9 == 4.0  ·  restaurar ROUND_HALF_UP después de interpretar la falla</a:t>
            </a:r>
            <a:endParaRPr lang="en-US" sz="126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0" y="313312"/>
            <a:ext cx="1298448" cy="452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73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PUNTO DE CONTROL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86384"/>
            <a:ext cx="8869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Restaurar también produce evidencia</a:t>
            </a:r>
            <a:endParaRPr lang="en-US" sz="31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490472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bloque termina cuando el mismo control que detectó el sabotaje vuelve a quedar verde.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58368" y="2194560"/>
            <a:ext cx="5065776" cy="3511296"/>
          </a:xfrm>
          <a:prstGeom prst="roundRect">
            <a:avLst>
              <a:gd name="adj" fmla="val 208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87552" y="2523744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 ASIGNADO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987552" y="2962656"/>
            <a:ext cx="402336" cy="402336"/>
          </a:xfrm>
          <a:prstGeom prst="ellipse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87552" y="2962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1664208" y="3017520"/>
            <a:ext cx="2395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lock --check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4242816" y="3017520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spc="70" kern="0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VERDE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987552" y="3566160"/>
            <a:ext cx="402336" cy="40233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87552" y="35661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1664208" y="3621024"/>
            <a:ext cx="2395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ruff check 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4242816" y="3621024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spc="70" kern="0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VERDE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987552" y="4169664"/>
            <a:ext cx="402336" cy="40233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87552" y="41696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664208" y="4224528"/>
            <a:ext cx="2395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pyrefly check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4242816" y="4224528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spc="70" kern="0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VERDE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987552" y="4773168"/>
            <a:ext cx="402336" cy="402336"/>
          </a:xfrm>
          <a:prstGeom prst="ellipse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87552" y="4773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1664208" y="4828032"/>
            <a:ext cx="2395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pytest -q</a:t>
            </a:r>
            <a:endParaRPr lang="en-US" sz="1350" dirty="0"/>
          </a:p>
        </p:txBody>
      </p:sp>
      <p:sp>
        <p:nvSpPr>
          <p:cNvPr id="28" name="Text 25"/>
          <p:cNvSpPr txBox="1"/>
          <p:nvPr/>
        </p:nvSpPr>
        <p:spPr>
          <a:xfrm>
            <a:off x="4242816" y="4828032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spc="70" kern="0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VERDE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6108192" y="2267712"/>
            <a:ext cx="457200" cy="457200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108192" y="2267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6803136" y="2286000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PROPUESTA AUDITADA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6803136" y="2578608"/>
            <a:ext cx="4041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decisión tiene una razón</a:t>
            </a:r>
            <a:endParaRPr lang="en-US" sz="1550" dirty="0"/>
          </a:p>
        </p:txBody>
      </p:sp>
      <p:sp>
        <p:nvSpPr>
          <p:cNvPr id="33" name="Shape 30"/>
          <p:cNvSpPr/>
          <p:nvPr/>
        </p:nvSpPr>
        <p:spPr>
          <a:xfrm>
            <a:off x="6108192" y="3108960"/>
            <a:ext cx="457200" cy="457200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108192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6803136" y="3127248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DOS CASOS NUEVOS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6803136" y="3419856"/>
            <a:ext cx="4041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cubren riesgos distintos</a:t>
            </a:r>
            <a:endParaRPr lang="en-US" sz="1550" dirty="0"/>
          </a:p>
        </p:txBody>
      </p:sp>
      <p:sp>
        <p:nvSpPr>
          <p:cNvPr id="37" name="Shape 34"/>
          <p:cNvSpPr/>
          <p:nvPr/>
        </p:nvSpPr>
        <p:spPr>
          <a:xfrm>
            <a:off x="6108192" y="3950208"/>
            <a:ext cx="457200" cy="457200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108192" y="3950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50" dirty="0"/>
          </a:p>
        </p:txBody>
      </p:sp>
      <p:sp>
        <p:nvSpPr>
          <p:cNvPr id="39" name="Text 36"/>
          <p:cNvSpPr txBox="1"/>
          <p:nvPr/>
        </p:nvSpPr>
        <p:spPr>
          <a:xfrm>
            <a:off x="6803136" y="3968496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PREDICCIÓN CONTRASTADA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6803136" y="4261104"/>
            <a:ext cx="4041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esperado versus diagnóstico real</a:t>
            </a:r>
            <a:endParaRPr lang="en-US" sz="1550" dirty="0"/>
          </a:p>
        </p:txBody>
      </p:sp>
      <p:sp>
        <p:nvSpPr>
          <p:cNvPr id="41" name="Shape 38"/>
          <p:cNvSpPr/>
          <p:nvPr/>
        </p:nvSpPr>
        <p:spPr>
          <a:xfrm>
            <a:off x="6108192" y="4791456"/>
            <a:ext cx="457200" cy="457200"/>
          </a:xfrm>
          <a:prstGeom prst="ellipse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108192" y="4791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950" dirty="0"/>
          </a:p>
        </p:txBody>
      </p:sp>
      <p:sp>
        <p:nvSpPr>
          <p:cNvPr id="43" name="Text 40"/>
          <p:cNvSpPr txBox="1"/>
          <p:nvPr/>
        </p:nvSpPr>
        <p:spPr>
          <a:xfrm>
            <a:off x="6803136" y="4809744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PROYECTO RESTAURADO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6803136" y="5102352"/>
            <a:ext cx="4041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control asignado vuelve a verde</a:t>
            </a:r>
            <a:endParaRPr lang="en-US" sz="155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0" y="313312"/>
            <a:ext cx="1298448" cy="452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74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PREGUNTAS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86384"/>
            <a:ext cx="8869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Tres preguntas para llevarse</a:t>
            </a:r>
            <a:endParaRPr lang="en-US" sz="31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490472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pista orienta; la respuesta debe conectar riesgo, regla y precisión del diagnóstico.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58368" y="2231136"/>
            <a:ext cx="475488" cy="475488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8368" y="22311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371600" y="2212848"/>
            <a:ext cx="9966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hace que un caso sugerido por un agente sea útil y no solo diferente?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1371600" y="2944368"/>
            <a:ext cx="9966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PISTA → busca el riesgo nuevo que observa y la regla que justifica su expectativa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658368" y="3474720"/>
            <a:ext cx="475488" cy="475488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8368" y="34747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371600" y="3456432"/>
            <a:ext cx="9966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no deberíamos convertir inmediatamente [] → 0.0 en una prueba?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1371600" y="4187952"/>
            <a:ext cx="9966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PISTA → descubrir una situación posible no significa conocer todavía la respuesta correcta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658368" y="4681728"/>
            <a:ext cx="475488" cy="475488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58368" y="46817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371600" y="4663440"/>
            <a:ext cx="9966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varias herramientas reaccionan al mismo cambio, ¿cuál conviene ejecutar primero?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1371600" y="5394960"/>
            <a:ext cx="9966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PISTA → vuelve a la hipótesis y elige el diagnóstico más directo para confirmarla</a:t>
            </a:r>
            <a:endParaRPr lang="en-US" sz="145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0" y="313516"/>
            <a:ext cx="1298448" cy="4519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75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74980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8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 CLAVE · BLOQUE 4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1335024"/>
            <a:ext cx="6583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agente amplía</a:t>
            </a:r>
            <a:endParaRPr lang="en-US" sz="39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2066544"/>
            <a:ext cx="6583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las posibilidades</a:t>
            </a:r>
            <a:endParaRPr lang="en-US" sz="390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3127248"/>
            <a:ext cx="6565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5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equipo conserva la autoridad sobre la especificación y exige una razón para cada prueba aceptada.</a:t>
            </a:r>
            <a:endParaRPr lang="en-US" sz="1850" dirty="0"/>
          </a:p>
        </p:txBody>
      </p:sp>
      <p:sp>
        <p:nvSpPr>
          <p:cNvPr id="12" name="Shape 9"/>
          <p:cNvSpPr/>
          <p:nvPr/>
        </p:nvSpPr>
        <p:spPr>
          <a:xfrm>
            <a:off x="7644384" y="1353312"/>
            <a:ext cx="3584448" cy="3236976"/>
          </a:xfrm>
          <a:prstGeom prst="roundRect">
            <a:avLst>
              <a:gd name="adj" fmla="val 2260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010144" y="175564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AGENTE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9034272" y="1682496"/>
            <a:ext cx="175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propone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8028432" y="2322576"/>
            <a:ext cx="2816352" cy="0"/>
          </a:xfrm>
          <a:prstGeom prst="line">
            <a:avLst/>
          </a:prstGeom>
          <a:noFill/>
          <a:ln w="12700">
            <a:solidFill>
              <a:srgbClr val="96A3B2"/>
            </a:solidFill>
            <a:prstDash val="solid"/>
            <a:headEnd type="none"/>
            <a:tailEnd type="none"/>
          </a:ln>
        </p:spPr>
      </p:sp>
      <p:sp>
        <p:nvSpPr>
          <p:cNvPr id="16" name="Text 13"/>
          <p:cNvSpPr txBox="1"/>
          <p:nvPr/>
        </p:nvSpPr>
        <p:spPr>
          <a:xfrm>
            <a:off x="8010144" y="267004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EQUIPO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9034272" y="2596896"/>
            <a:ext cx="175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decide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8028432" y="3236976"/>
            <a:ext cx="2816352" cy="0"/>
          </a:xfrm>
          <a:prstGeom prst="line">
            <a:avLst/>
          </a:prstGeom>
          <a:noFill/>
          <a:ln w="12700">
            <a:solidFill>
              <a:srgbClr val="96A3B2"/>
            </a:solidFill>
            <a:prstDash val="solid"/>
            <a:headEnd type="none"/>
            <a:tailEnd type="none"/>
          </a:ln>
        </p:spPr>
      </p:sp>
      <p:sp>
        <p:nvSpPr>
          <p:cNvPr id="19" name="Text 16"/>
          <p:cNvSpPr txBox="1"/>
          <p:nvPr/>
        </p:nvSpPr>
        <p:spPr>
          <a:xfrm>
            <a:off x="8010144" y="3584448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EVIDENCIA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9436608" y="3511296"/>
            <a:ext cx="1353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verifica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658368" y="4956048"/>
            <a:ext cx="10863072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50976" y="4956048"/>
            <a:ext cx="102595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SIGUE → reunir las cuatro barreras y formular una conclusión proporcional a la evidencia</a:t>
            </a:r>
            <a:endParaRPr lang="en-US" sz="15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0" y="313516"/>
            <a:ext cx="1298448" cy="4519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76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74980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7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 DE LA CLASE · 10 MINUTOS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1353312"/>
            <a:ext cx="6583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podemos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210312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demostrar hoy?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3182112"/>
            <a:ext cx="64190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5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Pasamos de una impresión personal a una conclusión que otra persona puede revisar.</a:t>
            </a:r>
            <a:endParaRPr lang="en-US" sz="1850" dirty="0"/>
          </a:p>
        </p:txBody>
      </p:sp>
      <p:sp>
        <p:nvSpPr>
          <p:cNvPr id="12" name="Shape 9"/>
          <p:cNvSpPr/>
          <p:nvPr/>
        </p:nvSpPr>
        <p:spPr>
          <a:xfrm>
            <a:off x="7589520" y="1371600"/>
            <a:ext cx="3639312" cy="3273552"/>
          </a:xfrm>
          <a:prstGeom prst="roundRect">
            <a:avLst>
              <a:gd name="adj" fmla="val 2235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955280" y="175564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9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DEMUESTRA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7955280" y="2103120"/>
            <a:ext cx="2889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software perfecto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7955280" y="2670048"/>
            <a:ext cx="2871216" cy="0"/>
          </a:xfrm>
          <a:prstGeom prst="line">
            <a:avLst/>
          </a:prstGeom>
          <a:noFill/>
          <a:ln w="12700">
            <a:solidFill>
              <a:srgbClr val="96A3B2"/>
            </a:solidFill>
            <a:prstDash val="solid"/>
            <a:headEnd type="none"/>
            <a:tailEnd type="none"/>
          </a:ln>
        </p:spPr>
      </p:sp>
      <p:sp>
        <p:nvSpPr>
          <p:cNvPr id="16" name="Text 13"/>
          <p:cNvSpPr txBox="1"/>
          <p:nvPr/>
        </p:nvSpPr>
        <p:spPr>
          <a:xfrm>
            <a:off x="7955280" y="298094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90" kern="0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SÍ PERMITE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955280" y="3346704"/>
            <a:ext cx="256032" cy="256032"/>
          </a:xfrm>
          <a:prstGeom prst="ellipse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955280" y="334670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8394192" y="3364992"/>
            <a:ext cx="2231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conclusión acotada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7955280" y="3730752"/>
            <a:ext cx="256032" cy="256032"/>
          </a:xfrm>
          <a:prstGeom prst="ellipse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955280" y="37307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8394192" y="3749040"/>
            <a:ext cx="2231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ejecución repetible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7955280" y="4114800"/>
            <a:ext cx="256032" cy="256032"/>
          </a:xfrm>
          <a:prstGeom prst="ellipse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955280" y="41148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8394192" y="4133088"/>
            <a:ext cx="2231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evidencia revisable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658368" y="5065776"/>
            <a:ext cx="10863072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32688" y="5065776"/>
            <a:ext cx="10314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40" kern="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«FUNCIONA» → A «ESTO ES LO QUE LA EVIDENCIA PERMITE AFIRMAR»</a:t>
            </a:r>
            <a:endParaRPr lang="en-US" sz="15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0" y="313312"/>
            <a:ext cx="1298448" cy="452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77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 · CADENA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86384"/>
            <a:ext cx="8869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conclusión se construye por capas</a:t>
            </a:r>
            <a:endParaRPr lang="en-US" sz="31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490472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eslabón aporta una evidencia distinta y limita lo que podemos afirmar.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1298448" y="2395728"/>
            <a:ext cx="658368" cy="658368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298448" y="239572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13232" y="327355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spc="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INTENCIÓN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713232" y="376732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regla explícita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2414016" y="2706624"/>
            <a:ext cx="438912" cy="42062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566160" y="2395728"/>
            <a:ext cx="658368" cy="658368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566160" y="239572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2980944" y="327355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spc="80" kern="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ENTORNO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2980944" y="376732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uv.lock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4681728" y="2706624"/>
            <a:ext cx="438912" cy="42062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833872" y="2395728"/>
            <a:ext cx="658368" cy="658368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833872" y="239572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5248656" y="327355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spc="80" kern="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ESTÁTICOS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5248656" y="376732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Ruff + Pyrefly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6949440" y="2706624"/>
            <a:ext cx="438912" cy="42062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101584" y="2395728"/>
            <a:ext cx="658368" cy="658368"/>
          </a:xfrm>
          <a:prstGeom prst="ellipse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101584" y="239572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7516368" y="327355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spc="80" kern="0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COMPORTAMIENTO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7516368" y="376732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pruebas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9217152" y="2706624"/>
            <a:ext cx="438912" cy="42062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0369296" y="2395728"/>
            <a:ext cx="658368" cy="658368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369296" y="239572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9784080" y="327355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spc="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CONCLUSIÓN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9784080" y="376732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proporcional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658368" y="4828032"/>
            <a:ext cx="10863072" cy="859536"/>
          </a:xfrm>
          <a:prstGeom prst="roundRect">
            <a:avLst>
              <a:gd name="adj" fmla="val 5319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50976" y="4828032"/>
            <a:ext cx="102412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Juntas permiten una afirmación repetible; ninguna autoriza a prometer que no existen otros defectos.</a:t>
            </a:r>
            <a:endParaRPr lang="en-US" sz="155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0" y="313312"/>
            <a:ext cx="1298448" cy="452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78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 · EJECUTAR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86384"/>
            <a:ext cx="8869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última batería reúne las cuatro barreras</a:t>
            </a:r>
            <a:endParaRPr lang="en-US" sz="29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737360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Todo el curso ejecuta el mismo estado restaurado y conserva la evidencia final.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58368" y="2249424"/>
            <a:ext cx="7479792" cy="3675888"/>
          </a:xfrm>
          <a:prstGeom prst="roundRect">
            <a:avLst>
              <a:gd name="adj" fmla="val 995"/>
            </a:avLst>
          </a:prstGeom>
          <a:solidFill>
            <a:srgbClr val="0F1720"/>
          </a:solidFill>
          <a:ln w="12700">
            <a:solidFill>
              <a:srgbClr val="0F172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86384" y="2359152"/>
            <a:ext cx="7223760" cy="310896"/>
          </a:xfrm>
          <a:prstGeom prst="roundRect">
            <a:avLst>
              <a:gd name="adj" fmla="val 8824"/>
            </a:avLst>
          </a:prstGeom>
          <a:solidFill>
            <a:srgbClr val="1E2937"/>
          </a:solidFill>
          <a:ln w="12700">
            <a:solidFill>
              <a:srgbClr val="1E293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2432304"/>
            <a:ext cx="69677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PowerShell · ejecución final compartida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77824" y="281635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0BC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1188720" y="2816352"/>
            <a:ext cx="67299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lock --check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77824" y="3072384"/>
            <a:ext cx="67299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Lockfile is up to date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877824" y="3328416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0BC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1188720" y="3328416"/>
            <a:ext cx="67299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run ruff check .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877824" y="3584448"/>
            <a:ext cx="67299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checks passed!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877824" y="3840480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0BC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1188720" y="3840480"/>
            <a:ext cx="67299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run pyrefly check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877824" y="4096512"/>
            <a:ext cx="67299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errors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877824" y="4352544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0BC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1188720" y="4352544"/>
            <a:ext cx="67299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run pytest -q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77824" y="4608576"/>
            <a:ext cx="67299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....   [100%]   4 passed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8412480" y="2249424"/>
            <a:ext cx="3127248" cy="3675888"/>
          </a:xfrm>
          <a:prstGeom prst="roundRect">
            <a:avLst>
              <a:gd name="adj" fmla="val 2339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741664" y="2578608"/>
            <a:ext cx="2487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9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BASTA DECIR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8723376" y="2926080"/>
            <a:ext cx="2523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«todo verde»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8741664" y="3584448"/>
            <a:ext cx="2450592" cy="0"/>
          </a:xfrm>
          <a:prstGeom prst="line">
            <a:avLst/>
          </a:prstGeom>
          <a:noFill/>
          <a:ln w="12700">
            <a:solidFill>
              <a:srgbClr val="284B75"/>
            </a:solidFill>
            <a:prstDash val="solid"/>
            <a:headEnd type="none"/>
            <a:tailEnd type="none"/>
          </a:ln>
        </p:spPr>
      </p:sp>
      <p:sp>
        <p:nvSpPr>
          <p:cNvPr id="30" name="Shape 27"/>
          <p:cNvSpPr/>
          <p:nvPr/>
        </p:nvSpPr>
        <p:spPr>
          <a:xfrm>
            <a:off x="8705088" y="3877056"/>
            <a:ext cx="384048" cy="384048"/>
          </a:xfrm>
          <a:prstGeom prst="ellipse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705088" y="3877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880" dirty="0"/>
          </a:p>
        </p:txBody>
      </p:sp>
      <p:sp>
        <p:nvSpPr>
          <p:cNvPr id="32" name="Text 29"/>
          <p:cNvSpPr txBox="1"/>
          <p:nvPr/>
        </p:nvSpPr>
        <p:spPr>
          <a:xfrm>
            <a:off x="9308592" y="3950208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observó</a:t>
            </a:r>
            <a:endParaRPr lang="en-US" sz="1350" dirty="0"/>
          </a:p>
        </p:txBody>
      </p:sp>
      <p:sp>
        <p:nvSpPr>
          <p:cNvPr id="33" name="Shape 30"/>
          <p:cNvSpPr/>
          <p:nvPr/>
        </p:nvSpPr>
        <p:spPr>
          <a:xfrm>
            <a:off x="8705088" y="4443984"/>
            <a:ext cx="384048" cy="384048"/>
          </a:xfrm>
          <a:prstGeom prst="ellipse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705088" y="4443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80" dirty="0"/>
          </a:p>
        </p:txBody>
      </p:sp>
      <p:sp>
        <p:nvSpPr>
          <p:cNvPr id="35" name="Text 32"/>
          <p:cNvSpPr txBox="1"/>
          <p:nvPr/>
        </p:nvSpPr>
        <p:spPr>
          <a:xfrm>
            <a:off x="9308592" y="4517136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podría detectar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8705088" y="5010912"/>
            <a:ext cx="384048" cy="384048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8705088" y="5010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80" dirty="0"/>
          </a:p>
        </p:txBody>
      </p:sp>
      <p:sp>
        <p:nvSpPr>
          <p:cNvPr id="38" name="Text 35"/>
          <p:cNvSpPr txBox="1"/>
          <p:nvPr/>
        </p:nvSpPr>
        <p:spPr>
          <a:xfrm>
            <a:off x="9308592" y="5084064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todavía no descarta</a:t>
            </a:r>
            <a:endParaRPr lang="en-US" sz="135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0" y="313516"/>
            <a:ext cx="1298448" cy="4519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79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74980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6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CONCLUSIÓN PROPORCIONAL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1261872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Cuatro verdes no equivalen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920240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software perfecto</a:t>
            </a:r>
            <a:endParaRPr lang="en-US" sz="3600" dirty="0"/>
          </a:p>
        </p:txBody>
      </p:sp>
      <p:sp>
        <p:nvSpPr>
          <p:cNvPr id="11" name="Shape 8"/>
          <p:cNvSpPr/>
          <p:nvPr/>
        </p:nvSpPr>
        <p:spPr>
          <a:xfrm>
            <a:off x="658368" y="2962656"/>
            <a:ext cx="5120640" cy="2249424"/>
          </a:xfrm>
          <a:prstGeom prst="roundRect">
            <a:avLst>
              <a:gd name="adj" fmla="val 3252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87552" y="3310128"/>
            <a:ext cx="2048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PODEMOS AFIRMAR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987552" y="3749040"/>
            <a:ext cx="44439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entorno está alineado y la implementación satisface cuatro ejemplos ejecutados.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6053328" y="2962656"/>
            <a:ext cx="5175504" cy="2249424"/>
          </a:xfrm>
          <a:prstGeom prst="roundRect">
            <a:avLst>
              <a:gd name="adj" fmla="val 32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19088" y="3310128"/>
            <a:ext cx="23591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TODAVÍA NO MEDIMOS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419088" y="3730752"/>
            <a:ext cx="1993392" cy="457200"/>
          </a:xfrm>
          <a:prstGeom prst="roundRect">
            <a:avLst>
              <a:gd name="adj" fmla="val 8000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19088" y="3730752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seguridad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650224" y="3730752"/>
            <a:ext cx="1993392" cy="457200"/>
          </a:xfrm>
          <a:prstGeom prst="roundRect">
            <a:avLst>
              <a:gd name="adj" fmla="val 8000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50224" y="3730752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rendimiento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419088" y="4389120"/>
            <a:ext cx="1993392" cy="457200"/>
          </a:xfrm>
          <a:prstGeom prst="roundRect">
            <a:avLst>
              <a:gd name="adj" fmla="val 8000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19088" y="4389120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facilidad de uso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650224" y="4389120"/>
            <a:ext cx="1993392" cy="457200"/>
          </a:xfrm>
          <a:prstGeom prst="roundRect">
            <a:avLst>
              <a:gd name="adj" fmla="val 8000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650224" y="4389120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todos los escenarios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658368" y="5596128"/>
            <a:ext cx="10863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honestidad técnica también consiste en nombrar lo que la evidencia no cubre.</a:t>
            </a:r>
            <a:endParaRPr lang="en-US" sz="155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0" y="313312"/>
            <a:ext cx="1298448" cy="452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80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 · EVIDENCIA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86384"/>
            <a:ext cx="88696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Cinco artefactos deben quedar en el proyecto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773936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salida mínima permite reconstruir, revisar y volver a ejecutar lo aprendido.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58368" y="2212848"/>
            <a:ext cx="3346704" cy="1481328"/>
          </a:xfrm>
          <a:prstGeom prst="roundRect">
            <a:avLst>
              <a:gd name="adj" fmla="val 432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58368" y="2212848"/>
            <a:ext cx="3346704" cy="9144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96112" y="2505456"/>
            <a:ext cx="493776" cy="49377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96112" y="250545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1591056" y="2468880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pyproject.toml + uv.lock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914400" y="314553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entorno reconstruible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4315968" y="2212848"/>
            <a:ext cx="3346704" cy="1481328"/>
          </a:xfrm>
          <a:prstGeom prst="roundRect">
            <a:avLst>
              <a:gd name="adj" fmla="val 432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315968" y="2212848"/>
            <a:ext cx="3346704" cy="9144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553712" y="2505456"/>
            <a:ext cx="493776" cy="49377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553712" y="250545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5248656" y="2468880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configuración de Pyrefly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4572000" y="314553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contrato analizable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7973568" y="2212848"/>
            <a:ext cx="3346704" cy="1481328"/>
          </a:xfrm>
          <a:prstGeom prst="roundRect">
            <a:avLst>
              <a:gd name="adj" fmla="val 432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973568" y="2212848"/>
            <a:ext cx="3346704" cy="914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211312" y="2505456"/>
            <a:ext cx="493776" cy="49377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11312" y="250545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8906256" y="2468880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notas.py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8229600" y="314553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ROUND_HALF_UP explícito</a:t>
            </a:r>
            <a:endParaRPr lang="en-US" sz="1350" dirty="0"/>
          </a:p>
        </p:txBody>
      </p:sp>
      <p:sp>
        <p:nvSpPr>
          <p:cNvPr id="29" name="Shape 26"/>
          <p:cNvSpPr/>
          <p:nvPr/>
        </p:nvSpPr>
        <p:spPr>
          <a:xfrm>
            <a:off x="1975104" y="4133088"/>
            <a:ext cx="3986784" cy="1481328"/>
          </a:xfrm>
          <a:prstGeom prst="roundRect">
            <a:avLst>
              <a:gd name="adj" fmla="val 432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975104" y="4133088"/>
            <a:ext cx="3986784" cy="91440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212848" y="4425696"/>
            <a:ext cx="493776" cy="493776"/>
          </a:xfrm>
          <a:prstGeom prst="ellipse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212848" y="442569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2907792" y="4389120"/>
            <a:ext cx="2816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test_notas.py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2231136" y="506577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cuatro pruebas descriptivas</a:t>
            </a:r>
            <a:endParaRPr lang="en-US" sz="1350" dirty="0"/>
          </a:p>
        </p:txBody>
      </p:sp>
      <p:sp>
        <p:nvSpPr>
          <p:cNvPr id="35" name="Shape 32"/>
          <p:cNvSpPr/>
          <p:nvPr/>
        </p:nvSpPr>
        <p:spPr>
          <a:xfrm>
            <a:off x="6400800" y="4133088"/>
            <a:ext cx="3986784" cy="1481328"/>
          </a:xfrm>
          <a:prstGeom prst="roundRect">
            <a:avLst>
              <a:gd name="adj" fmla="val 432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400800" y="4133088"/>
            <a:ext cx="3986784" cy="9144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638544" y="4425696"/>
            <a:ext cx="493776" cy="49377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638544" y="442569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950" dirty="0"/>
          </a:p>
        </p:txBody>
      </p:sp>
      <p:sp>
        <p:nvSpPr>
          <p:cNvPr id="39" name="Text 36"/>
          <p:cNvSpPr txBox="1"/>
          <p:nvPr/>
        </p:nvSpPr>
        <p:spPr>
          <a:xfrm>
            <a:off x="7333488" y="4389120"/>
            <a:ext cx="2816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 final</a:t>
            </a:r>
            <a:endParaRPr lang="en-US" sz="1500" dirty="0"/>
          </a:p>
        </p:txBody>
      </p:sp>
      <p:sp>
        <p:nvSpPr>
          <p:cNvPr id="40" name="Text 37"/>
          <p:cNvSpPr txBox="1"/>
          <p:nvPr/>
        </p:nvSpPr>
        <p:spPr>
          <a:xfrm>
            <a:off x="6656832" y="506577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cuatro barreras en verde</a:t>
            </a:r>
            <a:endParaRPr lang="en-US" sz="135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0" y="313312"/>
            <a:ext cx="1298448" cy="452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TICKET DE SALIDA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86384"/>
            <a:ext cx="8869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Completa cuatro frases en una línea</a:t>
            </a:r>
            <a:endParaRPr lang="en-US" sz="31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490472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última respuesta debe limitar la conclusión y evitar promesas que la evidencia no sostiene.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58368" y="2139696"/>
            <a:ext cx="512064" cy="5120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8368" y="2139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481328" y="2176272"/>
            <a:ext cx="8174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uv aporta evidencia de que…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1481328" y="2743200"/>
            <a:ext cx="9747504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  <a:headEnd type="none"/>
            <a:tailEnd type="none"/>
          </a:ln>
        </p:spPr>
      </p:sp>
      <p:sp>
        <p:nvSpPr>
          <p:cNvPr id="15" name="Shape 12"/>
          <p:cNvSpPr/>
          <p:nvPr/>
        </p:nvSpPr>
        <p:spPr>
          <a:xfrm>
            <a:off x="658368" y="3054096"/>
            <a:ext cx="512064" cy="5120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8368" y="30540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1481328" y="3090672"/>
            <a:ext cx="8174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Ruff y Pyrefly no son equivalentes porque…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1481328" y="3657600"/>
            <a:ext cx="9747504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  <a:headEnd type="none"/>
            <a:tailEnd type="none"/>
          </a:ln>
        </p:spPr>
      </p:sp>
      <p:sp>
        <p:nvSpPr>
          <p:cNvPr id="19" name="Shape 16"/>
          <p:cNvSpPr/>
          <p:nvPr/>
        </p:nvSpPr>
        <p:spPr>
          <a:xfrm>
            <a:off x="658368" y="3968496"/>
            <a:ext cx="512064" cy="512064"/>
          </a:xfrm>
          <a:prstGeom prst="ellipse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58368" y="39684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1481328" y="4005072"/>
            <a:ext cx="8174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prueba roja fue útil cuando…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1481328" y="4572000"/>
            <a:ext cx="9747504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  <a:headEnd type="none"/>
            <a:tailEnd type="none"/>
          </a:ln>
        </p:spPr>
      </p:sp>
      <p:sp>
        <p:nvSpPr>
          <p:cNvPr id="23" name="Shape 20"/>
          <p:cNvSpPr/>
          <p:nvPr/>
        </p:nvSpPr>
        <p:spPr>
          <a:xfrm>
            <a:off x="658368" y="4882896"/>
            <a:ext cx="512064" cy="512064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8828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1481328" y="4919472"/>
            <a:ext cx="8174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Todavía no puedo afirmar que el programa…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1481328" y="5486400"/>
            <a:ext cx="9747504" cy="0"/>
          </a:xfrm>
          <a:prstGeom prst="line">
            <a:avLst/>
          </a:prstGeom>
          <a:noFill/>
          <a:ln w="12700">
            <a:solidFill>
              <a:srgbClr val="E0BC5A"/>
            </a:solidFill>
            <a:prstDash val="solid"/>
            <a:headEnd type="none"/>
            <a:tailEnd type="none"/>
          </a:ln>
        </p:spPr>
      </p:sp>
      <p:sp>
        <p:nvSpPr>
          <p:cNvPr id="27" name="Shape 24"/>
          <p:cNvSpPr/>
          <p:nvPr/>
        </p:nvSpPr>
        <p:spPr>
          <a:xfrm>
            <a:off x="8741664" y="2304288"/>
            <a:ext cx="2468880" cy="2487168"/>
          </a:xfrm>
          <a:prstGeom prst="roundRect">
            <a:avLst>
              <a:gd name="adj" fmla="val 259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052560" y="2651760"/>
            <a:ext cx="18470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ÚLTIMA FRASE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9034272" y="3108960"/>
            <a:ext cx="1883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es modestia.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9015984" y="3639312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precisión sobre el alcance real de la evidencia.</a:t>
            </a:r>
            <a:endParaRPr lang="en-US" sz="145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0" y="313312"/>
            <a:ext cx="1298448" cy="452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82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PRÓXIMA CLASE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86384"/>
            <a:ext cx="8869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comandos verdes a dimensiones de calidad</a:t>
            </a:r>
            <a:endParaRPr lang="en-US" sz="29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737360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ISO/IEC 25010 ampliará la pregunta: ¿qué debe exhibir un producto para considerarlo de calidad?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58368" y="2322576"/>
            <a:ext cx="4114800" cy="3236976"/>
          </a:xfrm>
          <a:prstGeom prst="roundRect">
            <a:avLst>
              <a:gd name="adj" fmla="val 226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87552" y="2651760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HOY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987552" y="3072384"/>
            <a:ext cx="3273552" cy="457200"/>
          </a:xfrm>
          <a:prstGeom prst="roundRect">
            <a:avLst>
              <a:gd name="adj" fmla="val 8000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87552" y="3072384"/>
            <a:ext cx="3273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lock --check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987552" y="3712464"/>
            <a:ext cx="3273552" cy="457200"/>
          </a:xfrm>
          <a:prstGeom prst="roundRect">
            <a:avLst>
              <a:gd name="adj" fmla="val 8000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87552" y="3712464"/>
            <a:ext cx="3273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ruff + pyrefly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987552" y="4352544"/>
            <a:ext cx="3273552" cy="457200"/>
          </a:xfrm>
          <a:prstGeom prst="roundRect">
            <a:avLst>
              <a:gd name="adj" fmla="val 8000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87552" y="4352544"/>
            <a:ext cx="3273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pytest · 4 casos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5065776" y="3785616"/>
            <a:ext cx="969264" cy="42062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254496" y="2322576"/>
            <a:ext cx="5285232" cy="3236976"/>
          </a:xfrm>
          <a:prstGeom prst="roundRect">
            <a:avLst>
              <a:gd name="adj" fmla="val 226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620256" y="2651760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9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PRÓXIMA MIRADA · ISO/IEC 25010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6620256" y="3127248"/>
            <a:ext cx="2066544" cy="749808"/>
          </a:xfrm>
          <a:prstGeom prst="roundRect">
            <a:avLst>
              <a:gd name="adj" fmla="val 6098"/>
            </a:avLst>
          </a:prstGeom>
          <a:solidFill>
            <a:srgbClr val="E9F6EE"/>
          </a:solidFill>
          <a:ln w="12700">
            <a:solidFill>
              <a:srgbClr val="E9F6EE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766560" y="3273552"/>
            <a:ext cx="17739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20" b="1" spc="60" kern="0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FUNCIONAL</a:t>
            </a:r>
            <a:endParaRPr lang="en-US" sz="920" dirty="0"/>
          </a:p>
        </p:txBody>
      </p:sp>
      <p:sp>
        <p:nvSpPr>
          <p:cNvPr id="24" name="Text 21"/>
          <p:cNvSpPr txBox="1"/>
          <p:nvPr/>
        </p:nvSpPr>
        <p:spPr>
          <a:xfrm>
            <a:off x="6729984" y="3529584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¿hace lo correcto?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8924544" y="3127248"/>
            <a:ext cx="2066544" cy="749808"/>
          </a:xfrm>
          <a:prstGeom prst="roundRect">
            <a:avLst>
              <a:gd name="adj" fmla="val 6098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070848" y="3273552"/>
            <a:ext cx="17739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20" b="1" spc="6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SEGURIDAD</a:t>
            </a:r>
            <a:endParaRPr lang="en-US" sz="920" dirty="0"/>
          </a:p>
        </p:txBody>
      </p:sp>
      <p:sp>
        <p:nvSpPr>
          <p:cNvPr id="27" name="Text 24"/>
          <p:cNvSpPr txBox="1"/>
          <p:nvPr/>
        </p:nvSpPr>
        <p:spPr>
          <a:xfrm>
            <a:off x="9034272" y="3529584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¿protege lo importante?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6620256" y="4078224"/>
            <a:ext cx="2066544" cy="749808"/>
          </a:xfrm>
          <a:prstGeom prst="roundRect">
            <a:avLst>
              <a:gd name="adj" fmla="val 6098"/>
            </a:avLst>
          </a:prstGeom>
          <a:solidFill>
            <a:srgbClr val="FBF3DE"/>
          </a:solidFill>
          <a:ln w="12700">
            <a:solidFill>
              <a:srgbClr val="FBF3DE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766560" y="4224528"/>
            <a:ext cx="17739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20" b="1" spc="6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RENDIMIENTO</a:t>
            </a:r>
            <a:endParaRPr lang="en-US" sz="920" dirty="0"/>
          </a:p>
        </p:txBody>
      </p:sp>
      <p:sp>
        <p:nvSpPr>
          <p:cNvPr id="30" name="Text 27"/>
          <p:cNvSpPr txBox="1"/>
          <p:nvPr/>
        </p:nvSpPr>
        <p:spPr>
          <a:xfrm>
            <a:off x="6729984" y="4480560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¿responde adecuadamente?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8924544" y="4078224"/>
            <a:ext cx="2066544" cy="749808"/>
          </a:xfrm>
          <a:prstGeom prst="roundRect">
            <a:avLst>
              <a:gd name="adj" fmla="val 6098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070848" y="4224528"/>
            <a:ext cx="17739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20" b="1" spc="60" kern="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USABILIDAD</a:t>
            </a:r>
            <a:endParaRPr lang="en-US" sz="920" dirty="0"/>
          </a:p>
        </p:txBody>
      </p:sp>
      <p:sp>
        <p:nvSpPr>
          <p:cNvPr id="33" name="Text 30"/>
          <p:cNvSpPr txBox="1"/>
          <p:nvPr/>
        </p:nvSpPr>
        <p:spPr>
          <a:xfrm>
            <a:off x="9034272" y="4480560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¿se puede usar bien?</a:t>
            </a:r>
            <a:endParaRPr lang="en-US" sz="115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C:\Users\Diego Obando\dev\pro402-taller-de-testing-2026\clases\semana-01\02\ppt\source\assets\logo-aiep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0" y="313516"/>
            <a:ext cx="1298448" cy="4519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60" kern="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PRO402 · Taller de Testing y Calidad de Software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190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83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749808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6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 · CLASE 02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1298448"/>
            <a:ext cx="8229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calidad no consiste</a:t>
            </a:r>
            <a:endParaRPr lang="en-US" sz="37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975104"/>
            <a:ext cx="6583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 confiar más</a:t>
            </a:r>
            <a:endParaRPr lang="en-US" sz="370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2944368"/>
            <a:ext cx="7351776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Consiste en formular una expectativa, producir evidencia y limitar cada conclusión a lo que esa evidencia realmente demuestra.</a:t>
            </a:r>
            <a:endParaRPr lang="en-US" sz="1900" dirty="0"/>
          </a:p>
        </p:txBody>
      </p:sp>
      <p:sp>
        <p:nvSpPr>
          <p:cNvPr id="12" name="Shape 9"/>
          <p:cNvSpPr/>
          <p:nvPr/>
        </p:nvSpPr>
        <p:spPr>
          <a:xfrm>
            <a:off x="8247888" y="1499616"/>
            <a:ext cx="603504" cy="60350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47888" y="149961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9144000" y="166420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9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EXPECTATIVA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8449056" y="2231136"/>
            <a:ext cx="219456" cy="42062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247888" y="2523744"/>
            <a:ext cx="603504" cy="603504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47888" y="252374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9144000" y="268833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9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EVIDENCIA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8449056" y="3255264"/>
            <a:ext cx="219456" cy="42062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247888" y="3547872"/>
            <a:ext cx="603504" cy="603504"/>
          </a:xfrm>
          <a:prstGeom prst="ellipse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47888" y="354787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9144000" y="371246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90" kern="0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CONCLUSIÓN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658368" y="5010912"/>
            <a:ext cx="10863072" cy="749808"/>
          </a:xfrm>
          <a:prstGeom prst="roundRect">
            <a:avLst>
              <a:gd name="adj" fmla="val 609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50976" y="5010912"/>
            <a:ext cx="102595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PRÓXIMA CLASE  →  ISO/IEC 25010: ampliar qué entendemos por calidad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83</Slides>
  <Notes>83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83</vt:i4>
      </vt:variant>
    </vt:vector>
  </HeadingPairs>
  <TitlesOfParts>
    <vt:vector size="8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</vt:vector>
  </TitlesOfParts>
  <Company>AIEP Osorno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Tu primera evidencia: entorno reproducible y primer test</dc:title>
  <dc:subject>PRO402 · Clase 02</dc:subject>
  <dc:creator>Diego Obando</dc:creator>
  <cp:lastModifiedBy>Diego Obando</cp:lastModifiedBy>
  <cp:revision>1</cp:revision>
  <dcterms:created xsi:type="dcterms:W3CDTF">2026-08-10T02:25:08Z</dcterms:created>
  <dcterms:modified xsi:type="dcterms:W3CDTF">2026-08-10T02:25:08Z</dcterms:modified>
</cp:coreProperties>
</file>