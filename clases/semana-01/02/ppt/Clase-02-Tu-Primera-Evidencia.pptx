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svg"/><Relationship Id="rId6" Type="http://schemas.openxmlformats.org/officeDocument/2006/relationships/image" Target="../media/image-20-6.png"/><Relationship Id="rId7" Type="http://schemas.openxmlformats.org/officeDocument/2006/relationships/image" Target="../media/image-20-7.svg"/><Relationship Id="rId8" Type="http://schemas.openxmlformats.org/officeDocument/2006/relationships/image" Target="../media/image-20-8.png"/><Relationship Id="rId9" Type="http://schemas.openxmlformats.org/officeDocument/2006/relationships/image" Target="../media/image-20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image" Target="../media/image-21-6.png"/><Relationship Id="rId7" Type="http://schemas.openxmlformats.org/officeDocument/2006/relationships/image" Target="../media/image-21-7.svg"/><Relationship Id="rId8" Type="http://schemas.openxmlformats.org/officeDocument/2006/relationships/image" Target="../media/image-21-8.png"/><Relationship Id="rId9" Type="http://schemas.openxmlformats.org/officeDocument/2006/relationships/image" Target="../media/image-2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image" Target="../media/image-23-4.png"/><Relationship Id="rId5" Type="http://schemas.openxmlformats.org/officeDocument/2006/relationships/image" Target="../media/image-23-5.svg"/><Relationship Id="rId6" Type="http://schemas.openxmlformats.org/officeDocument/2006/relationships/image" Target="../media/image-23-6.png"/><Relationship Id="rId7" Type="http://schemas.openxmlformats.org/officeDocument/2006/relationships/image" Target="../media/image-23-7.svg"/><Relationship Id="rId8" Type="http://schemas.openxmlformats.org/officeDocument/2006/relationships/image" Target="../media/image-23-8.png"/><Relationship Id="rId9" Type="http://schemas.openxmlformats.org/officeDocument/2006/relationships/image" Target="../media/image-2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image" Target="../media/image-36-4.png"/><Relationship Id="rId5" Type="http://schemas.openxmlformats.org/officeDocument/2006/relationships/image" Target="../media/image-3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image" Target="../media/image-40-4.png"/><Relationship Id="rId5" Type="http://schemas.openxmlformats.org/officeDocument/2006/relationships/image" Target="../media/image-40-5.svg"/><Relationship Id="rId6" Type="http://schemas.openxmlformats.org/officeDocument/2006/relationships/image" Target="../media/image-40-6.png"/><Relationship Id="rId7" Type="http://schemas.openxmlformats.org/officeDocument/2006/relationships/image" Target="../media/image-40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image" Target="../media/image-66-3.png"/><Relationship Id="rId4" Type="http://schemas.openxmlformats.org/officeDocument/2006/relationships/image" Target="../media/image-6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image" Target="../media/image-69-9.png"/><Relationship Id="rId10" Type="http://schemas.openxmlformats.org/officeDocument/2006/relationships/image" Target="../media/image-6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image" Target="../media/image-71-3.png"/><Relationship Id="rId4" Type="http://schemas.openxmlformats.org/officeDocument/2006/relationships/image" Target="../media/image-7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58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SEMANA 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2646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 primera</a:t>
            </a:r>
            <a:endParaRPr lang="en-US" sz="4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67712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5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735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reproducible y primer test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11 de agosto de 2026 · Laboratorio PC · Diego Obando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681728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4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708" y="4828032"/>
            <a:ext cx="450616" cy="450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9808" y="53858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103120" y="4681728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7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1387" y="4828032"/>
            <a:ext cx="368761" cy="450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94560" y="53858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547872" y="4681728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0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5243" y="4828032"/>
            <a:ext cx="570554" cy="450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39312" y="53858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92624" y="4681728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3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3637" y="4754880"/>
            <a:ext cx="563270" cy="56327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084064" y="53858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613648" y="148132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942832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evidencia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8942832" y="2450592"/>
            <a:ext cx="19019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entorno  ✓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    ✓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   ✓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   ✓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942832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confiar. Comprobar.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Ayer encontramos un defecto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Funcionaba manualmente, pero la evidencia desaparecía al cerrar la terminal.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76272"/>
            <a:ext cx="6565392" cy="2157984"/>
          </a:xfrm>
          <a:prstGeom prst="roundRect">
            <a:avLst>
              <a:gd name="adj" fmla="val 169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86000"/>
            <a:ext cx="63093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59152"/>
            <a:ext cx="6053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comprobación manual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432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743200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"from notas import nota_final; ..."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7824" y="2999232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2249424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</a:t>
            </a:r>
            <a:endParaRPr lang="en-US" sz="5800" dirty="0"/>
          </a:p>
        </p:txBody>
      </p:sp>
      <p:sp>
        <p:nvSpPr>
          <p:cNvPr id="18" name="Shape 15"/>
          <p:cNvSpPr/>
          <p:nvPr/>
        </p:nvSpPr>
        <p:spPr>
          <a:xfrm>
            <a:off x="8101584" y="3310128"/>
            <a:ext cx="25603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777240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esperábamos 4.0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58368" y="4882896"/>
            <a:ext cx="10863072" cy="804672"/>
          </a:xfrm>
          <a:prstGeom prst="roundRect">
            <a:avLst>
              <a:gd name="adj" fmla="val 681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0976" y="5138928"/>
            <a:ext cx="10277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hallazgo fue real. El problema es que todavía depende de nuestra memoria.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25296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“En mi computador funciona”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2011680" y="2212848"/>
            <a:ext cx="817473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 txBox="1"/>
          <p:nvPr/>
        </p:nvSpPr>
        <p:spPr>
          <a:xfrm>
            <a:off x="658368" y="2523744"/>
            <a:ext cx="10698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evidencia suficiente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1847088" y="3785616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construiremos una forma que otra persona pueda repetir, inspeccionar y discutir.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169664" y="4919472"/>
            <a:ext cx="3840480" cy="585216"/>
          </a:xfrm>
          <a:prstGeom prst="roundRect">
            <a:avLst>
              <a:gd name="adj" fmla="val 937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52544" y="5102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REPETIBLE → REVISABLE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 LA SESIÓN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salir podrás mostrar evidencia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controles distintos; ninguna promesa vaga.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2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620" y="2395728"/>
            <a:ext cx="555224" cy="5552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" y="31912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4334256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persona puede reconstruirlo.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419856" y="2249424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7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0537" y="2395728"/>
            <a:ext cx="454367" cy="5552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11296" y="31912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419856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529584" y="4334256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linter no encuentra las infracciones activas.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181344" y="2249424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2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7706" y="2395728"/>
            <a:ext cx="703005" cy="5552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72784" y="31912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181344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291072" y="4334256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tipos declarados son coherentes.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8942832" y="2249424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7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93681" y="2322576"/>
            <a:ext cx="694030" cy="69403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034272" y="31912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942832" y="3858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052560" y="4334256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casos ejecutados cumplen su expectativa.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658368" y="5614416"/>
            <a:ext cx="10863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 siempre necesita apellido.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Operar y juzgar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técnica y el criterio avanzan juntos.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5029200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0528" y="2139696"/>
            <a:ext cx="5029200" cy="420624"/>
          </a:xfrm>
          <a:prstGeom prst="roundRect">
            <a:avLst>
              <a:gd name="adj" fmla="val 1304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6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JUZGAR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2724912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10528" y="2724912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288950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481328" y="28346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743200" y="2843784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proyecto reproducible con uv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696712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33872" y="3044952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93408" y="2889504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9340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333488" y="28346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705088" y="28437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pregunta responde cada herramienta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8368" y="3675888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10528" y="3675888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1248" y="3840480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481328" y="378561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2743200" y="3794760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y Pyrefly leyendo sus diagnósticos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696712" y="3749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833872" y="3995928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93408" y="3840480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9340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333488" y="37856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705088" y="379476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falla antes de modificar el código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58368" y="4626864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10528" y="4626864"/>
            <a:ext cx="5029200" cy="768096"/>
          </a:xfrm>
          <a:prstGeom prst="roundRect">
            <a:avLst>
              <a:gd name="adj" fmla="val 714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41248" y="4791456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1248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481328" y="47365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743200" y="4745736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primera prueba con pytest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5696712" y="47000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833872" y="4946904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93408" y="4791456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693408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7333488" y="473659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8705088" y="474573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sugeridos por un agente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58368" y="565099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50976" y="5788152"/>
            <a:ext cx="1029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 produce señales  →  JUZGAR las convierte en decisiones defendibles.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CLASE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entorno a la evidencia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minutos · cuatro bloques · una cadena de comprobación.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1261872" cy="226771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542032"/>
            <a:ext cx="126187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81635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340156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3877056"/>
            <a:ext cx="969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manual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066544" y="2542032"/>
            <a:ext cx="2286000" cy="2267712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66544" y="2542032"/>
            <a:ext cx="2286000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12848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08:40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212848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212848" y="3877056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reproducible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98848" y="2542032"/>
            <a:ext cx="1956816" cy="226771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98848" y="2542032"/>
            <a:ext cx="195681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45152" y="28163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09:10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45152" y="34015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645152" y="38770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+ Pyrefly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601968" y="2542032"/>
            <a:ext cx="1078992" cy="2267712"/>
          </a:xfrm>
          <a:prstGeom prst="roundRect">
            <a:avLst>
              <a:gd name="adj" fmla="val 5085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01968" y="2542032"/>
            <a:ext cx="1078992" cy="109728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48272" y="281635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748272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748272" y="3877056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minutos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827264" y="2542032"/>
            <a:ext cx="1993392" cy="226771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27264" y="2542032"/>
            <a:ext cx="199339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73568" y="28163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09:45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973568" y="340156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973568" y="3877056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prueba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966960" y="2542032"/>
            <a:ext cx="1865376" cy="226771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966960" y="2542032"/>
            <a:ext cx="186537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113264" y="2816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10:15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0113264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113264" y="3877056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+ sabotaje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58368" y="5340096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14400" y="5513832"/>
            <a:ext cx="10351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HOY: cada resultado debe poder explicarse, no solo mostrarse en verde.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30 MINUTOS</a:t>
            </a:r>
            <a:endParaRPr lang="en-US" sz="1100" dirty="0"/>
          </a:p>
        </p:txBody>
      </p:sp>
      <p:pic>
        <p:nvPicPr>
          <p:cNvPr id="9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3648" y="1444752"/>
            <a:ext cx="2340864" cy="234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" y="159105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entorno</a:t>
            </a:r>
            <a:endParaRPr lang="en-US" sz="4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2414016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también es evidencia</a:t>
            </a:r>
            <a:endParaRPr lang="en-US" sz="43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38221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crear un proyecto que otra persona pueda reconstruir sin adivinar.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58368" y="4919472"/>
            <a:ext cx="713232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 txBox="1"/>
          <p:nvPr/>
        </p:nvSpPr>
        <p:spPr>
          <a:xfrm>
            <a:off x="658368" y="51755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 controladas antes de hablar de comportamiento.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EL PROBLEMA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archivo puede vivir en mundos distintos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Copiar notas.py no copia las condiciones que lo rodean.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53218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700784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700784" y="299923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versión ejecutó el archivo?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63056" y="2359152"/>
            <a:ext cx="53218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27648" y="256032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764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205472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205472" y="299923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estaba instalado?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58368" y="4169664"/>
            <a:ext cx="53218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370832"/>
            <a:ext cx="640080" cy="6400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700784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700784" y="480974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versiones resolvió?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163056" y="4169664"/>
            <a:ext cx="53218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27648" y="4370832"/>
            <a:ext cx="640080" cy="64008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27648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205472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205472" y="480974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comandos debemos repetir?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950976"/>
            <a:ext cx="10863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4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pregunta de calidad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35024" y="1901952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otra persona recibe esta carpeta…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2852928"/>
            <a:ext cx="9857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¿puede reconstruir las mismas condiciones sin adivinar?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2907792" y="4645152"/>
            <a:ext cx="6382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27248" y="48737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= SIN ADIVINAR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COMPROBACIÓN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Primero: ¿uv está disponible?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instalación es una contingencia, no el centro de la clase.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870448" cy="1993392"/>
          </a:xfrm>
          <a:prstGeom prst="roundRect">
            <a:avLst>
              <a:gd name="adj" fmla="val 183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561441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5358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0.x.x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912864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responde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12864" y="2688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continúa al proyecto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912864" y="3310128"/>
            <a:ext cx="427939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6912864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existe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12864" y="396849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--id=astral-sh.uv -e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" y="4992624"/>
            <a:ext cx="10863072" cy="676656"/>
          </a:xfrm>
          <a:prstGeom prst="roundRect">
            <a:avLst>
              <a:gd name="adj" fmla="val 67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5212080"/>
            <a:ext cx="10351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instalar: cerrar y volver a abrir la terminal antes de repetir uv --version.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CREAR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instrucción, una estructura compartida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parten desde el mismo comando.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2416" y="2340864"/>
            <a:ext cx="10113264" cy="2286000"/>
          </a:xfrm>
          <a:prstGeom prst="roundRect">
            <a:avLst>
              <a:gd name="adj" fmla="val 16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70432" y="2450592"/>
            <a:ext cx="9857232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98448" y="2523744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carpeta de trabajo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61872" y="29077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72768" y="2907792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evidencia-testing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1638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72768" y="3163824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evidencia-testing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61872" y="34198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72768" y="3419856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 -Force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42416" y="5047488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init no descarga una solución terminada.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5047488"/>
            <a:ext cx="4864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una base mínima y explícita que podemos inspeccionar.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INSPECCIONAR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apareció en la carpeta?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archivo responde una pregunta distinta.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4864608" cy="3602736"/>
          </a:xfrm>
          <a:prstGeom prst="roundRect">
            <a:avLst>
              <a:gd name="adj" fmla="val 2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evidencia-testing/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127248"/>
            <a:ext cx="405993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.python-version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pyproject.toml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980176" y="2340864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7648" y="234086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.python-version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34086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esperado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80176" y="3163824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7648" y="316382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16382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del proyecto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80176" y="3986784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7648" y="398678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398678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inicial ejecutable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80176" y="4809744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27648" y="48097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503920" y="480974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Ruido local que no se comparte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80176" y="5504688"/>
            <a:ext cx="5340096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63056" y="5614416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aparece uv.lock: llegará al resolver dependencias.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uv run controla el contexto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 del primer Python que encuentre el sistema.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5065776" cy="1993392"/>
          </a:xfrm>
          <a:prstGeom prst="roundRect">
            <a:avLst>
              <a:gd name="adj" fmla="val 183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22576"/>
            <a:ext cx="480974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95728"/>
            <a:ext cx="4553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797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779776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main.py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3035808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from evidencia-testing!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81344" y="2304288"/>
            <a:ext cx="1389888" cy="1828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7648" y="2560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0540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349300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07808" y="2999232"/>
            <a:ext cx="219456" cy="420624"/>
          </a:xfrm>
          <a:prstGeom prst="chevron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45552" y="2304288"/>
            <a:ext cx="1389888" cy="1828800"/>
          </a:xfrm>
          <a:prstGeom prst="roundRect">
            <a:avLst>
              <a:gd name="adj" fmla="val 39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91856" y="2560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36992" y="30540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36992" y="349300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272016" y="2999232"/>
            <a:ext cx="219456" cy="420624"/>
          </a:xfrm>
          <a:prstGeom prst="chevron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09760" y="2304288"/>
            <a:ext cx="1389888" cy="1828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56064" y="2560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0" y="30540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601200" y="349300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comando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8368" y="4809744"/>
            <a:ext cx="10863072" cy="841248"/>
          </a:xfrm>
          <a:prstGeom prst="roundRect">
            <a:avLst>
              <a:gd name="adj" fmla="val 6522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9264" y="502920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ejecución puede tardar: uv está construyendo condiciones declaradas. Las siguientes reutilizan el entorno.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DECLARAR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entran al proyecto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dependen de instalaciones invisibles ni de nuestra memoria.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63072" cy="1243584"/>
          </a:xfrm>
          <a:prstGeom prst="roundRect">
            <a:avLst>
              <a:gd name="adj" fmla="val 294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49424"/>
            <a:ext cx="1060704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22576"/>
            <a:ext cx="10351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dependencias de desarrollo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066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--dev pytest ruff pyrefly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170432" y="3913632"/>
            <a:ext cx="29077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7" name="Image 1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6963" y="3986784"/>
            <a:ext cx="814730" cy="81473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61872" y="507492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0" y="3913632"/>
            <a:ext cx="2907792" cy="1481328"/>
          </a:xfrm>
          <a:prstGeom prst="roundRect">
            <a:avLst>
              <a:gd name="adj" fmla="val 49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0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9203" y="4059936"/>
            <a:ext cx="533387" cy="6517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3440" y="507492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973568" y="3913632"/>
            <a:ext cx="2907792" cy="1481328"/>
          </a:xfrm>
          <a:prstGeom prst="roundRect">
            <a:avLst>
              <a:gd name="adj" fmla="val 49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3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4831" y="4059936"/>
            <a:ext cx="825266" cy="6517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65008" y="507492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298448" y="570585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--dev = herramientas para construir y verificar; no forman parte del producto entregado.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CONTRATO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pyproject.toml declara el proyecto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necesita y bajo qué condiciones espera ejecutarse.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57984"/>
            <a:ext cx="6510528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67712"/>
            <a:ext cx="62544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4086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pyproject.toml · lectura conceptual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724912"/>
            <a:ext cx="6089904" cy="2761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534656" y="2359152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45552" y="235915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27066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y versión del proyecto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7534656" y="3364992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845552" y="336499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845552" y="371246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admitido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7534656" y="437083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45552" y="43708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845552" y="4718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versus desarrollo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7534656" y="5431536"/>
            <a:ext cx="374904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17536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versiones concretas pueden cambiar; la declaración no puede faltar.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RESOLVER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uv.lock conserva la resolución concreta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declaración permite; el lockfile registra qué quedó resuelto.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3054096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04288"/>
            <a:ext cx="3054096" cy="2432304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94192" y="2304288"/>
            <a:ext cx="3054096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27066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401568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rangos y grupos</a:t>
            </a:r>
            <a:endParaRPr lang="en-US" sz="1700" dirty="0"/>
          </a:p>
        </p:txBody>
      </p:sp>
      <p:pic>
        <p:nvPicPr>
          <p:cNvPr id="16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9552" y="2615184"/>
            <a:ext cx="1078992" cy="107899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65776" y="400507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33104" y="27066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796528" y="34015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versiones concretas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3968496" y="3310128"/>
            <a:ext cx="384048" cy="420624"/>
          </a:xfrm>
          <a:prstGeom prst="chevron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90688" y="3310128"/>
            <a:ext cx="384048" cy="420624"/>
          </a:xfrm>
          <a:prstGeom prst="chevron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993392" y="5340096"/>
            <a:ext cx="8211312" cy="566928"/>
          </a:xfrm>
          <a:prstGeom prst="roundRect">
            <a:avLst>
              <a:gd name="adj" fmla="val 806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231136" y="5513832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uv.lock se comparte y lo administra uv; no se edita manualmente.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· DECIDIR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Compartimos la receta, no la cocina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repositorio conserva instrucciones y código; el equipo reconstruye el entorno local.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677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1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COMPARTE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2677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RECONSTRUYE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2761488"/>
            <a:ext cx="5065776" cy="2542032"/>
          </a:xfrm>
          <a:prstGeom prst="roundRect">
            <a:avLst>
              <a:gd name="adj" fmla="val 287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55664" y="2761488"/>
            <a:ext cx="5065776" cy="2542032"/>
          </a:xfrm>
          <a:prstGeom prst="roundRect">
            <a:avLst>
              <a:gd name="adj" fmla="val 28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7552" y="31272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7552" y="31546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30998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87552" y="3621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7552" y="36484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444752" y="359359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87552" y="41148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7552" y="41422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444752" y="40873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.python-version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87552" y="460857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7552" y="46360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444752" y="458114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fuente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967728" y="3182112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91363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rutas y ejecutables locales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4608576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la vuelve a crear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5705856"/>
            <a:ext cx="10863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Receta + ingredientes exactos → sí. Cocina completa → no.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Detenerse también es parte del trabajo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avanzamos hasta poder mostrar y explicar estas tres evidencias.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961888" cy="2523744"/>
          </a:xfrm>
          <a:prstGeom prst="roundRect">
            <a:avLst>
              <a:gd name="adj" fmla="val 144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570585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5449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comprobación del bloque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main.py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07238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 pyproject.toml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7824" y="3328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32841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 -Force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040880" y="2322576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4088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36829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se ejecuta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040880" y="310896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31546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herramientas están declaradas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040880" y="3895344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699248" y="394106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uv.lock y .venv existen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040880" y="4681728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4088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699248" y="47274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puedo explicar cuál se comparte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658368" y="5340096"/>
            <a:ext cx="10863072" cy="566928"/>
          </a:xfrm>
          <a:prstGeom prst="roundRect">
            <a:avLst>
              <a:gd name="adj" fmla="val 8065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513832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falla: conservar el mensaje, identificar el comando y corregir sin borrar el proyecto.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PREGUNTAS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orienta; la respuesta todavía la construyes tú.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249424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necesitamos uv.lock si pyproject.toml ya enumera dependencias?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9809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distingue lo permitido de la versión concreta resuelta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368" y="345643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381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conviene compartir la carpeta .venv?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8953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piensa en rutas, ejecutables y sistema operativo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464515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4645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626864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uv run main.py termina bien, ¿ya demostramos que nota_final() calcula correctamente?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3583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separa condiciones de ejecución y comportamiento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· BLOQUE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Controlamos dónde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67712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con qué se ejecuta</a:t>
            </a:r>
            <a:endParaRPr lang="en-US" sz="39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36499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hemos demostrado que el comportamiento sea correcto.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174736" y="1408176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3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3414" y="1554480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66176" y="2185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56064" y="1408176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6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8593" y="1554480"/>
            <a:ext cx="395101" cy="482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747504" y="2185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74736" y="2852928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9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9162" y="2999232"/>
            <a:ext cx="611308" cy="48280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66176" y="3630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56064" y="2852928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2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94392" y="2926080"/>
            <a:ext cx="603504" cy="60350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47504" y="3630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58368" y="4645152"/>
            <a:ext cx="1086307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69264" y="49194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→ cuatro herramientas, cuatro preguntas distintas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25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2646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capas,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1284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distintas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1868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color verde no significa la misma afirmación.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" y="4151376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3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8620" y="4297680"/>
            <a:ext cx="555224" cy="5552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" y="50932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5559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19856" y="4151376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7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0537" y="4297680"/>
            <a:ext cx="454367" cy="5552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11296" y="50932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419856" y="5559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81344" y="4151376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1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7706" y="4297680"/>
            <a:ext cx="703005" cy="5552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72784" y="50932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181344" y="5559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42832" y="4151376"/>
            <a:ext cx="23957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5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3681" y="4224528"/>
            <a:ext cx="694030" cy="6940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34272" y="50932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8942832" y="5559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PRINCIPIO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 siempre necesita apellido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control permite una conclusión distinta y limitada.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67712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12724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significa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694176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«todo está correcto»</a:t>
            </a:r>
            <a:endParaRPr lang="en-US" sz="2900" dirty="0"/>
          </a:p>
        </p:txBody>
      </p:sp>
      <p:sp>
        <p:nvSpPr>
          <p:cNvPr id="14" name="Shape 11"/>
          <p:cNvSpPr/>
          <p:nvPr/>
        </p:nvSpPr>
        <p:spPr>
          <a:xfrm>
            <a:off x="658368" y="4608576"/>
            <a:ext cx="442569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658368" y="4882896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conclusión debe nombrar qué observó realmente la herramienta.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797296" y="2176272"/>
            <a:ext cx="574243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98464" y="2304288"/>
            <a:ext cx="987552" cy="438912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98464" y="243230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242048" y="23774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está sincronizado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797296" y="3035808"/>
            <a:ext cx="574243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98464" y="3163824"/>
            <a:ext cx="987552" cy="438912"/>
          </a:xfrm>
          <a:prstGeom prst="roundRect">
            <a:avLst>
              <a:gd name="adj" fmla="val 5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98464" y="32918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242048" y="32369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encontró infracciones activas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5797296" y="3895344"/>
            <a:ext cx="574243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98464" y="4023360"/>
            <a:ext cx="987552" cy="438912"/>
          </a:xfrm>
          <a:prstGeom prst="roundRect">
            <a:avLst>
              <a:gd name="adj" fmla="val 50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98464" y="41513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242048" y="409651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encontró contradicciones de tipos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5797296" y="4754880"/>
            <a:ext cx="5742432" cy="694944"/>
          </a:xfrm>
          <a:prstGeom prst="roundRect">
            <a:avLst>
              <a:gd name="adj" fmla="val 7895"/>
            </a:avLst>
          </a:prstGeom>
          <a:solidFill>
            <a:srgbClr val="E9F6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98464" y="4882896"/>
            <a:ext cx="987552" cy="438912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98464" y="501091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242048" y="49560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casos ejecutados cumplieron su expectativa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MAPA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cadena de preguntas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en verde no cancela la necesidad de la siguiente.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2395728" cy="2889504"/>
          </a:xfrm>
          <a:prstGeom prst="roundRect">
            <a:avLst>
              <a:gd name="adj" fmla="val 305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42416" y="2487168"/>
            <a:ext cx="1627632" cy="1078992"/>
          </a:xfrm>
          <a:prstGeom prst="roundRect">
            <a:avLst>
              <a:gd name="adj" fmla="val 67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3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854" y="2633472"/>
            <a:ext cx="474756" cy="4747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33856" y="324612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" y="37856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32688" y="418795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reproduce?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118104" y="3401568"/>
            <a:ext cx="23774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19856" y="2231136"/>
            <a:ext cx="2395728" cy="2889504"/>
          </a:xfrm>
          <a:prstGeom prst="roundRect">
            <a:avLst>
              <a:gd name="adj" fmla="val 305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03904" y="2487168"/>
            <a:ext cx="1627632" cy="1078992"/>
          </a:xfrm>
          <a:prstGeom prst="roundRect">
            <a:avLst>
              <a:gd name="adj" fmla="val 67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0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3462" y="2633472"/>
            <a:ext cx="388516" cy="4747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95344" y="324612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621024" y="37856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694176" y="418795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señales de problema?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879592" y="3401568"/>
            <a:ext cx="23774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81344" y="2231136"/>
            <a:ext cx="2395728" cy="2889504"/>
          </a:xfrm>
          <a:prstGeom prst="roundRect">
            <a:avLst>
              <a:gd name="adj" fmla="val 305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65392" y="2487168"/>
            <a:ext cx="1627632" cy="1078992"/>
          </a:xfrm>
          <a:prstGeom prst="roundRect">
            <a:avLst>
              <a:gd name="adj" fmla="val 67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7" name="Image 3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8648" y="2633472"/>
            <a:ext cx="601120" cy="4747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56832" y="324612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382512" y="37856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455664" y="418795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¿los tipos son coherentes?</a:t>
            </a:r>
            <a:endParaRPr lang="en-US" sz="1700" dirty="0"/>
          </a:p>
        </p:txBody>
      </p:sp>
      <p:sp>
        <p:nvSpPr>
          <p:cNvPr id="31" name="Shape 25"/>
          <p:cNvSpPr/>
          <p:nvPr/>
        </p:nvSpPr>
        <p:spPr>
          <a:xfrm>
            <a:off x="8641080" y="3401568"/>
            <a:ext cx="23774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942832" y="2231136"/>
            <a:ext cx="2395728" cy="288950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326880" y="2487168"/>
            <a:ext cx="16276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4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3973" y="2560320"/>
            <a:ext cx="593446" cy="59344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418320" y="324612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144000" y="37856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9217152" y="418795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¿hace lo esperado?</a:t>
            </a:r>
            <a:endParaRPr lang="en-US" sz="1700" dirty="0"/>
          </a:p>
        </p:txBody>
      </p:sp>
      <p:sp>
        <p:nvSpPr>
          <p:cNvPr id="38" name="Shape 31"/>
          <p:cNvSpPr/>
          <p:nvPr/>
        </p:nvSpPr>
        <p:spPr>
          <a:xfrm>
            <a:off x="658368" y="5504688"/>
            <a:ext cx="10863072" cy="530352"/>
          </a:xfrm>
          <a:prstGeom prst="roundRect">
            <a:avLst>
              <a:gd name="adj" fmla="val 689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14400" y="5669280"/>
            <a:ext cx="10351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agrega evidencia; ninguna obtiene permiso para prometer más de lo que observó.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PREPARAR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problemas viven en capas distintas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Leemos el archivo antes de pedirle una respuesta a las herramientas.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6547104" cy="3621024"/>
          </a:xfrm>
          <a:prstGeom prst="roundRect">
            <a:avLst>
              <a:gd name="adj" fmla="val 10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49424"/>
            <a:ext cx="62910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22576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versión deliberadamente defectuosa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706624"/>
            <a:ext cx="6126480" cy="28712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82128" y="2139696"/>
            <a:ext cx="3438144" cy="3621024"/>
          </a:xfrm>
          <a:prstGeom prst="roundRect">
            <a:avLst>
              <a:gd name="adj" fmla="val 18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9872" y="2377440"/>
            <a:ext cx="73152" cy="256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39328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SEÑALES, DOS CAPAS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2713551"/>
            <a:ext cx="219456" cy="2194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271355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119872" y="2944368"/>
            <a:ext cx="292608" cy="2926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1987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522208" y="299008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· SEÑAL ESTRUCTURAL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119872" y="33284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Importación sin uso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8119872" y="3730752"/>
            <a:ext cx="29626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 está presente, pero ninguna línea del archivo lo necesita.</a:t>
            </a:r>
            <a:endParaRPr lang="en-US" sz="1280" dirty="0"/>
          </a:p>
        </p:txBody>
      </p:sp>
      <p:sp>
        <p:nvSpPr>
          <p:cNvPr id="25" name="Shape 21"/>
          <p:cNvSpPr/>
          <p:nvPr/>
        </p:nvSpPr>
        <p:spPr>
          <a:xfrm>
            <a:off x="672084" y="3793686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37936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119872" y="4197096"/>
            <a:ext cx="296265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19872" y="4343400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119872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522208" y="438912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L6 · CONTRATO DE TIPOS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119872" y="472744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Anotación contradictoria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119872" y="5129784"/>
            <a:ext cx="29626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división produce un número; promedio declara str.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ANTES DE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formulamos una hipótesis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adivinar el mensaje exacto; buscamos saber qué evidencia esperamos.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487168"/>
            <a:ext cx="585216" cy="5852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487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24688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línea parece innecesaria?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438144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algo presente en el archivo que no participa en ningún cálculo.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91072" y="2212848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65392" y="2487168"/>
            <a:ext cx="585216" cy="58521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65392" y="2487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46888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afirmación contradice el valor real?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3438144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el tipo declarado de promedio con el resultado de una división.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58368" y="5084064"/>
            <a:ext cx="10844784" cy="841248"/>
          </a:xfrm>
          <a:prstGeom prst="roundRect">
            <a:avLst>
              <a:gd name="adj" fmla="val 65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43584" y="5376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346704" y="5266944"/>
            <a:ext cx="6583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87952" y="5376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291072" y="5266944"/>
            <a:ext cx="6583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50608" y="5376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90304" y="53949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decisión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863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CAPA ESTÁTICA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91056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 busca</a:t>
            </a:r>
            <a:endParaRPr lang="en-US" sz="4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5915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de código</a:t>
            </a:r>
            <a:endParaRPr lang="en-US" sz="4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383280"/>
            <a:ext cx="7077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necesita ejecutar nota_final() para descubrir una importación innecesaria.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" y="4608576"/>
            <a:ext cx="6967728" cy="786384"/>
          </a:xfrm>
          <a:prstGeom prst="roundRect">
            <a:avLst>
              <a:gd name="adj" fmla="val 697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48554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uv run ruff check .</a:t>
            </a:r>
            <a:endParaRPr lang="en-US" sz="1800" dirty="0"/>
          </a:p>
        </p:txBody>
      </p:sp>
      <p:pic>
        <p:nvPicPr>
          <p:cNvPr id="14" name="Image 1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4192" y="1470462"/>
            <a:ext cx="2487168" cy="30392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40496" y="4718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LINTER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 entrega un hallazgo localizado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Leemos la salida antes de tocar el archivo.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57984"/>
            <a:ext cx="7333488" cy="3236976"/>
          </a:xfrm>
          <a:prstGeom prst="roundRect">
            <a:avLst>
              <a:gd name="adj" fmla="val 113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67712"/>
            <a:ext cx="707745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40864"/>
            <a:ext cx="6821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evidencia de Ruff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24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72491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7824" y="29809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notas.py:1:8: F401 `math` imported but unused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77824" y="323697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302752" y="2286000"/>
            <a:ext cx="323697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67344" y="2487168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67344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07424" y="24323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UBICACIÓN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07424" y="27066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línea 1 · columna 8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02752" y="3328416"/>
            <a:ext cx="323697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67344" y="352958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67344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07424" y="3474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07424" y="37490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F401 identifica la categoría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302752" y="4370832"/>
            <a:ext cx="323697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67344" y="4572000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67344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07424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107424" y="47914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 fue importado, pero no usado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58368" y="5650992"/>
            <a:ext cx="10863072" cy="438912"/>
          </a:xfrm>
          <a:prstGeom prst="roundRect">
            <a:avLst>
              <a:gd name="adj" fmla="val 833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32688" y="5788152"/>
            <a:ext cx="1029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concreto: código innecesario. Ruff todavía no ha evaluado el resultado de la función.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INTERPRETAR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diagnóstico tiene anatomía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sus piezas evita reaccionar a ciegas.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63072" cy="841248"/>
          </a:xfrm>
          <a:prstGeom prst="roundRect">
            <a:avLst>
              <a:gd name="adj" fmla="val 652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414016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notas.py:1:8     F401     `math` imported but unused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3456432"/>
            <a:ext cx="239572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456432"/>
            <a:ext cx="239572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380390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2428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49011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mirar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19856" y="3456432"/>
            <a:ext cx="239572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19856" y="3456432"/>
            <a:ext cx="2395728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21024" y="380390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84448" y="42428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8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3621024" y="49011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y columna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81344" y="3456432"/>
            <a:ext cx="239572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1344" y="3456432"/>
            <a:ext cx="239572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82512" y="380390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345936" y="42428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F401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6382512" y="49011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clasificar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942832" y="3456432"/>
            <a:ext cx="239572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42832" y="3456432"/>
            <a:ext cx="2395728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0" y="380390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07424" y="42428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but unused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49011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observó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5650992"/>
            <a:ext cx="10863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ubicación → regla → explicación antes de corregir.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CORREGIR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corrección debe ser mínima y verificable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Eliminamos solo el hallazgo que Ruff explicó.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4736592" cy="2523744"/>
          </a:xfrm>
          <a:prstGeom prst="roundRect">
            <a:avLst>
              <a:gd name="adj" fmla="val 14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· notas.py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11253" y="2916835"/>
            <a:ext cx="999037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4315968" cy="177393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96128" y="3364992"/>
            <a:ext cx="6583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47104" y="2322576"/>
            <a:ext cx="4992624" cy="2523744"/>
          </a:xfrm>
          <a:prstGeom prst="roundRect">
            <a:avLst>
              <a:gd name="adj" fmla="val 14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75120" y="2432304"/>
            <a:ext cx="47365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84848" y="2505456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· notas.py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560" y="2889504"/>
            <a:ext cx="4572000" cy="17739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8368" y="5102352"/>
            <a:ext cx="10863072" cy="987552"/>
          </a:xfrm>
          <a:prstGeom prst="roundRect">
            <a:avLst>
              <a:gd name="adj" fmla="val 3704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86384" y="5212080"/>
            <a:ext cx="1060704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5285232"/>
            <a:ext cx="10351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repetir el mismo control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77824" y="56692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88720" y="5669280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77824" y="5925312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CON APELLIDO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6304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1389888"/>
            <a:ext cx="786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432304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encontró infracciones entre las reglas activas.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675888"/>
            <a:ext cx="4407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es evidencia útil. No es una garantía universal.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07024" y="1499616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08192" y="1700784"/>
            <a:ext cx="1024128" cy="475488"/>
          </a:xfrm>
          <a:prstGeom prst="roundRect">
            <a:avLst>
              <a:gd name="adj" fmla="val 50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08192" y="18379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388352" y="173736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todavía declara str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07024" y="2798064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192" y="2999232"/>
            <a:ext cx="1024128" cy="475488"/>
          </a:xfrm>
          <a:prstGeom prst="roundRect">
            <a:avLst>
              <a:gd name="adj" fmla="val 5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08192" y="313639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388352" y="303580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3.95 todavía puede convertirse en 3.9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07024" y="4096512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8192" y="4297680"/>
            <a:ext cx="1024128" cy="475488"/>
          </a:xfrm>
          <a:prstGeom prst="roundRect">
            <a:avLst>
              <a:gd name="adj" fmla="val 50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08192" y="443484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388352" y="433425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ningún ejemplo funcional fue ejecutado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" y="5468112"/>
            <a:ext cx="1047902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5641848"/>
            <a:ext cx="9930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→ una contradicción que pertenece a otra capa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863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CAPA ESTÁTICA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17904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Pyrefly observa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86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contratos de tipos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7022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dejamos visible y compartible el criterio de análisis del proyecto.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" y="4407408"/>
            <a:ext cx="6912864" cy="749808"/>
          </a:xfrm>
          <a:prstGeom prst="roundRect">
            <a:avLst>
              <a:gd name="adj" fmla="val 731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4645152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uv run pyrefly init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8368" y="5358384"/>
            <a:ext cx="6912864" cy="530352"/>
          </a:xfrm>
          <a:prstGeom prst="roundRect">
            <a:avLst>
              <a:gd name="adj" fmla="val 689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" y="5522976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¿Agregar supresiones para ocultar los errores?  →  N</a:t>
            </a:r>
            <a:endParaRPr lang="en-US" sz="1400" dirty="0"/>
          </a:p>
        </p:txBody>
      </p:sp>
      <p:pic>
        <p:nvPicPr>
          <p:cNvPr id="16" name="Image 1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1837509"/>
            <a:ext cx="2779776" cy="219543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973568" y="477316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DECLARADOS ↔ VALORES INFERIDOS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CONTRATO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línea afirma dos cosas incompatibles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anotación escrita y el valor producido no pueden ser verdad al mismo tiempo.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6565392" cy="3346704"/>
          </a:xfrm>
          <a:prstGeom prst="roundRect">
            <a:avLst>
              <a:gd name="adj" fmla="val 10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50592"/>
            <a:ext cx="63093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23744"/>
            <a:ext cx="6089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contrato declarado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07792"/>
            <a:ext cx="6144768" cy="2596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45552" y="2340864"/>
            <a:ext cx="3474720" cy="3346704"/>
          </a:xfrm>
          <a:prstGeom prst="roundRect">
            <a:avLst>
              <a:gd name="adj" fmla="val 19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3296" y="2578608"/>
            <a:ext cx="73152" cy="256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02752" y="259689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BAJO LECTURA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3579794"/>
            <a:ext cx="219456" cy="2194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357979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083296" y="3145536"/>
            <a:ext cx="292608" cy="2926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83296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485632" y="3191256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· CONTRATO INCOMPATIBLE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083296" y="35295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≠ float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8083296" y="4041648"/>
            <a:ext cx="29992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Declarado:  str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Inferido:    float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división produce un número, no texto.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Pyrefly confronta el contrato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exacta del mensaje puede variar; la contradicción permanece.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7516368" cy="3383280"/>
          </a:xfrm>
          <a:prstGeom prst="roundRect">
            <a:avLst>
              <a:gd name="adj" fmla="val 108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49424"/>
            <a:ext cx="726033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22576"/>
            <a:ext cx="7004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salida representativa de Pyrefly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066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7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270" dirty="0"/>
          </a:p>
        </p:txBody>
      </p:sp>
      <p:sp>
        <p:nvSpPr>
          <p:cNvPr id="16" name="Text 13"/>
          <p:cNvSpPr/>
          <p:nvPr/>
        </p:nvSpPr>
        <p:spPr>
          <a:xfrm>
            <a:off x="877824" y="2962656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notas.py:4  incompatible assignment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877824" y="321868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declared: str</a:t>
            </a:r>
            <a:endParaRPr lang="en-US" sz="1270" dirty="0"/>
          </a:p>
        </p:txBody>
      </p:sp>
      <p:sp>
        <p:nvSpPr>
          <p:cNvPr id="18" name="Text 15"/>
          <p:cNvSpPr/>
          <p:nvPr/>
        </p:nvSpPr>
        <p:spPr>
          <a:xfrm>
            <a:off x="877824" y="347472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inferred: float</a:t>
            </a:r>
            <a:endParaRPr lang="en-US" sz="1270" dirty="0"/>
          </a:p>
        </p:txBody>
      </p:sp>
      <p:sp>
        <p:nvSpPr>
          <p:cNvPr id="19" name="Text 16"/>
          <p:cNvSpPr/>
          <p:nvPr/>
        </p:nvSpPr>
        <p:spPr>
          <a:xfrm>
            <a:off x="877824" y="373075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notas.py:5  round() received str</a:t>
            </a:r>
            <a:endParaRPr lang="en-US" sz="1270" dirty="0"/>
          </a:p>
        </p:txBody>
      </p:sp>
      <p:sp>
        <p:nvSpPr>
          <p:cNvPr id="20" name="Shape 17"/>
          <p:cNvSpPr/>
          <p:nvPr/>
        </p:nvSpPr>
        <p:spPr>
          <a:xfrm>
            <a:off x="8449056" y="2340864"/>
            <a:ext cx="3090672" cy="1225296"/>
          </a:xfrm>
          <a:prstGeom prst="roundRect">
            <a:avLst>
              <a:gd name="adj" fmla="val 44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05088" y="25786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705088" y="29077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 asignado a str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449056" y="3858768"/>
            <a:ext cx="3090672" cy="1225296"/>
          </a:xfrm>
          <a:prstGeom prst="roundRect">
            <a:avLst>
              <a:gd name="adj" fmla="val 4478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05088" y="409651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44256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round() recibe texto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58368" y="5705856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2688" y="5815584"/>
            <a:ext cx="10314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contrato incoherente puede generar más de un síntoma; buscamos la causa común.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INTERPRETAR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incompatibilidad se reconstruye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entrega evidencia; nosotros hacemos explícito el razonamiento.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76272"/>
            <a:ext cx="10863072" cy="3493008"/>
          </a:xfrm>
          <a:prstGeom prst="roundRect">
            <a:avLst>
              <a:gd name="adj" fmla="val 20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468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 DE RAZONAMIENTO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94192" y="2395728"/>
            <a:ext cx="2688336" cy="420624"/>
          </a:xfrm>
          <a:prstGeom prst="roundRect">
            <a:avLst>
              <a:gd name="adj" fmla="val 1087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94192" y="239572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notas.py · línea 4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50976" y="2999232"/>
            <a:ext cx="3822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0976" y="2999232"/>
            <a:ext cx="100584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1872" y="32004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DECLARADO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779776" y="314553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promedio: str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1261872" y="34930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anotación promete texto.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50976" y="4169664"/>
            <a:ext cx="3822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0976" y="4169664"/>
            <a:ext cx="100584" cy="8961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1872" y="437083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INFERIDO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2578608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división → float</a:t>
            </a:r>
            <a:endParaRPr lang="en-US" sz="1750" dirty="0"/>
          </a:p>
        </p:txBody>
      </p:sp>
      <p:sp>
        <p:nvSpPr>
          <p:cNvPr id="24" name="Text 21"/>
          <p:cNvSpPr txBox="1"/>
          <p:nvPr/>
        </p:nvSpPr>
        <p:spPr>
          <a:xfrm>
            <a:off x="1261872" y="466344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expresión produce un número.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010912" y="3438144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≠</a:t>
            </a:r>
            <a:endParaRPr lang="en-US" sz="4300" dirty="0"/>
          </a:p>
        </p:txBody>
      </p:sp>
      <p:sp>
        <p:nvSpPr>
          <p:cNvPr id="26" name="Shape 23"/>
          <p:cNvSpPr/>
          <p:nvPr/>
        </p:nvSpPr>
        <p:spPr>
          <a:xfrm>
            <a:off x="4956048" y="4279392"/>
            <a:ext cx="8961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4768" y="2999232"/>
            <a:ext cx="4919472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44768" y="2999232"/>
            <a:ext cx="491947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55664" y="33649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CONFLICTO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55664" y="3730752"/>
            <a:ext cx="4279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 y float no pueden describir el mismo valor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455664" y="4407408"/>
            <a:ext cx="4279392" cy="438912"/>
          </a:xfrm>
          <a:prstGeom prst="roundRect">
            <a:avLst>
              <a:gd name="adj" fmla="val 83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55664" y="4407408"/>
            <a:ext cx="4279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CORRECCIÓN MÍNIMA  ·  str → float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5833872"/>
            <a:ext cx="1086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Ubicar → comparar lo declarado con lo inferido → explicar → recién entonces corregir.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CORREGIR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Cambiamos la afirmación, no el cálculo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mínima hace visible el tipo que la operación realmente produce.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57984"/>
            <a:ext cx="6473952" cy="2633472"/>
          </a:xfrm>
          <a:prstGeom prst="roundRect">
            <a:avLst>
              <a:gd name="adj" fmla="val 138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67712"/>
            <a:ext cx="62179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40864"/>
            <a:ext cx="5998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contrato corregido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724912"/>
            <a:ext cx="6053328" cy="18836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08976" y="2157984"/>
            <a:ext cx="3511296" cy="2633472"/>
          </a:xfrm>
          <a:prstGeom prst="roundRect">
            <a:avLst>
              <a:gd name="adj" fmla="val 24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0" y="2395728"/>
            <a:ext cx="73152" cy="2560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66176" y="241401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CORRECCIÓN MÍNIMA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3151699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3151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046720" y="2962656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449056" y="300837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· CONTRATO ALINEADO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046720" y="334670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promedio: float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8046720" y="387705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cálculo no cambió. La declaración ahora describe el valor real.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658368" y="5047488"/>
            <a:ext cx="10863072" cy="1024128"/>
          </a:xfrm>
          <a:prstGeom prst="roundRect">
            <a:avLst>
              <a:gd name="adj" fmla="val 357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86384" y="5157216"/>
            <a:ext cx="1060704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14400" y="5230368"/>
            <a:ext cx="10351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volver a comprobar ambas capas estáticas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77824" y="5614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80" dirty="0"/>
          </a:p>
        </p:txBody>
      </p:sp>
      <p:sp>
        <p:nvSpPr>
          <p:cNvPr id="29" name="Text 25"/>
          <p:cNvSpPr/>
          <p:nvPr/>
        </p:nvSpPr>
        <p:spPr>
          <a:xfrm>
            <a:off x="1188720" y="5614416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      → All checks passed!</a:t>
            </a:r>
            <a:endParaRPr lang="en-US" sz="1280" dirty="0"/>
          </a:p>
        </p:txBody>
      </p:sp>
      <p:sp>
        <p:nvSpPr>
          <p:cNvPr id="30" name="Text 26"/>
          <p:cNvSpPr/>
          <p:nvPr/>
        </p:nvSpPr>
        <p:spPr>
          <a:xfrm>
            <a:off x="877824" y="58704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80" dirty="0"/>
          </a:p>
        </p:txBody>
      </p:sp>
      <p:sp>
        <p:nvSpPr>
          <p:cNvPr id="31" name="Text 27"/>
          <p:cNvSpPr/>
          <p:nvPr/>
        </p:nvSpPr>
        <p:spPr>
          <a:xfrm>
            <a:off x="1188720" y="5870448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     → 0 errors</a:t>
            </a:r>
            <a:endParaRPr lang="en-US" sz="12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CONTROLES VERDES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71600"/>
            <a:ext cx="7187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comportamiento</a:t>
            </a:r>
            <a:endParaRPr lang="en-US" sz="3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48256"/>
            <a:ext cx="7461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todavía puede estar equivocado</a:t>
            </a:r>
            <a:endParaRPr lang="en-US" sz="3700" dirty="0"/>
          </a:p>
        </p:txBody>
      </p:sp>
      <p:sp>
        <p:nvSpPr>
          <p:cNvPr id="11" name="Shape 8"/>
          <p:cNvSpPr/>
          <p:nvPr/>
        </p:nvSpPr>
        <p:spPr>
          <a:xfrm>
            <a:off x="8339328" y="1243584"/>
            <a:ext cx="1298448" cy="1060704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2" name="Image 1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586" y="1389888"/>
            <a:ext cx="381931" cy="4667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30768" y="19842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948672" y="1243584"/>
            <a:ext cx="1298448" cy="1060704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5" name="Image 2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2430" y="1389888"/>
            <a:ext cx="590931" cy="4667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40112" y="19842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127248"/>
            <a:ext cx="4773168" cy="1901952"/>
          </a:xfrm>
          <a:prstGeom prst="roundRect">
            <a:avLst>
              <a:gd name="adj" fmla="val 288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32688" y="34198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uv run python -c "...nota_final(...)"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69264" y="40050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3400" dirty="0"/>
          </a:p>
        </p:txBody>
      </p:sp>
      <p:sp>
        <p:nvSpPr>
          <p:cNvPr id="20" name="Text 15"/>
          <p:cNvSpPr txBox="1"/>
          <p:nvPr/>
        </p:nvSpPr>
        <p:spPr>
          <a:xfrm>
            <a:off x="5577840" y="371246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3800" dirty="0"/>
          </a:p>
        </p:txBody>
      </p:sp>
      <p:sp>
        <p:nvSpPr>
          <p:cNvPr id="21" name="Shape 16"/>
          <p:cNvSpPr/>
          <p:nvPr/>
        </p:nvSpPr>
        <p:spPr>
          <a:xfrm>
            <a:off x="6803136" y="3127248"/>
            <a:ext cx="47365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150608" y="3456432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ACORDADA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150608" y="39136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3400" dirty="0"/>
          </a:p>
        </p:txBody>
      </p:sp>
      <p:sp>
        <p:nvSpPr>
          <p:cNvPr id="24" name="Text 19"/>
          <p:cNvSpPr txBox="1"/>
          <p:nvPr/>
        </p:nvSpPr>
        <p:spPr>
          <a:xfrm>
            <a:off x="658368" y="5413248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contradice una expectativa de negocio, no una regla de linting ni un tipo.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· USO DEL AGENTE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Traductor de diagnósticos, no piloto automático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explicación puede delegarse; la decisión y la verificación no.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6803136" cy="2834640"/>
          </a:xfrm>
          <a:prstGeom prst="roundRect">
            <a:avLst>
              <a:gd name="adj" fmla="val 25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ÚTIL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94436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«Explica este diagnóstico indicando…»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987552" y="3694176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52144" y="38313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y ubicación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931920" y="3694176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96512" y="38313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o contrato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87552" y="4352544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52144" y="4489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 probable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931920" y="4352544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96512" y="4489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correcciones posibles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808976" y="2414016"/>
            <a:ext cx="3730752" cy="2834640"/>
          </a:xfrm>
          <a:prstGeom prst="roundRect">
            <a:avLst>
              <a:gd name="adj" fmla="val 25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38160" y="265176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312724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«Arregla todos los errores»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193024" y="4078224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producir verde sin dejar claro qué cambió, por qué era válido ni qué riesgo sigue abierto.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58368" y="5559552"/>
            <a:ext cx="10881360" cy="475488"/>
          </a:xfrm>
          <a:prstGeom prst="roundRect">
            <a:avLst>
              <a:gd name="adj" fmla="val 7692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705856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completo  →  explicación  →  decisión humana  →  repetir el control original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Mostrar no basta: hay que explicar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comandos verdes y tres diferencias comprendidas.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5815584" cy="2615184"/>
          </a:xfrm>
          <a:prstGeom prst="roundRect">
            <a:avLst>
              <a:gd name="adj" fmla="val 139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04288"/>
            <a:ext cx="5559552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7744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comprobación del bloque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614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761488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7824" y="3017520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77824" y="32735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88720" y="3273552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77824" y="3529584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839712" y="2249424"/>
            <a:ext cx="47000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40880" y="2450592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699248" y="239572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759952" y="2414016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problema estructural detectó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839712" y="3291840"/>
            <a:ext cx="47000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40880" y="3493008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699248" y="343814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759952" y="3456432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contradicción de tipos detectó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839712" y="4334256"/>
            <a:ext cx="47000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40880" y="4535424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40880" y="4535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699248" y="448056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759952" y="449884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ninguno encontró el redondeo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58368" y="523036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541324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DEL BLOQUE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3200400" y="53949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hallazgo de linting + una contradicción de tipos + un límite demostrado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PREGUNTAS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orienta; la respuesta debe nombrar la capa y la evidencia.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231136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puede Ruff quedar en verde mientras Pyrefly todavía encuentra un problema?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96265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compara estructura del código y contratos de tipos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5643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debemos repetir el mismo comando después de modificar el archivo?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1879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distingue una edición de la evidencia que confirma su efecto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64515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Ruff y Pyrefly quedan en verde, ¿qué defecto de nota_final() sigue sin estar cubierto?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3766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recuerda la regla de redondeo del contexto educativo chileno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· BLOQUE 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4475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verdes</a:t>
            </a:r>
            <a:endParaRPr lang="en-US" sz="4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1284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todavía no bastan</a:t>
            </a:r>
            <a:endParaRPr lang="en-US" sz="4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55264"/>
            <a:ext cx="6656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observa señales. Pyrefly observa contratos. La expectativa 3.95 → 4.0 pertenece al comportamiento.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461504" y="1426464"/>
            <a:ext cx="1664208" cy="1243584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3" name="Image 1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717" y="1572768"/>
            <a:ext cx="447782" cy="54717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52944" y="23500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85292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9454896" y="1426464"/>
            <a:ext cx="1664208" cy="1243584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7" name="Image 2" descr="C:\Users\Diego Obando\dev\pro402-taller-de-testing-2026\clases\semana-01\02\ppt\source\assets\tools\pyrefly-mark-invert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0592" y="1572768"/>
            <a:ext cx="692816" cy="54717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46336" y="23500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400032" y="285292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461504" y="3273552"/>
            <a:ext cx="16642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1" name="Image 3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622" y="3346704"/>
            <a:ext cx="683971" cy="68397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52944" y="419709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70001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58368" y="4901184"/>
            <a:ext cx="10863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32688" y="510235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 · 10 MIN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2926080" y="5065776"/>
            <a:ext cx="7808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→ convertimos 3.95 → 4.0 en una prueba repetible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30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813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conserva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86000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equipo decidió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419856"/>
            <a:ext cx="7077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convertir el defecto 3.95 → 3.9 en evidencia roja, corregir la causa y demostrar el cambio.</a:t>
            </a:r>
            <a:endParaRPr lang="en-US" sz="1900" dirty="0"/>
          </a:p>
        </p:txBody>
      </p:sp>
      <p:pic>
        <p:nvPicPr>
          <p:cNvPr id="12" name="Image 1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200" y="1353312"/>
            <a:ext cx="2468880" cy="2468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65008" y="411480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EJECUTABLE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58368" y="4882896"/>
            <a:ext cx="1086307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78992" y="51572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340864" y="5065776"/>
            <a:ext cx="67665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255264" y="515721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919472" y="5065776"/>
            <a:ext cx="67665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70448" y="51572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699248" y="5065776"/>
            <a:ext cx="67665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577072" y="515721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CON EVIDENCIA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PERSISTIR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comprobación manual se pierde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conserva entrada, acción y expectativa dentro del proyecto.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4315968" cy="3182112"/>
          </a:xfrm>
          <a:prstGeom prst="roundRect">
            <a:avLst>
              <a:gd name="adj" fmla="val 229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2374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 MANUAL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9626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debe recordar…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36027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499616" y="3694176"/>
            <a:ext cx="4572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2103120" y="3584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comando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40416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499616" y="4133088"/>
            <a:ext cx="4572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2103120" y="4023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" y="44805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499616" y="4572000"/>
            <a:ext cx="4572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2103120" y="4462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esperado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30368" y="3511296"/>
            <a:ext cx="85953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27648" y="2212848"/>
            <a:ext cx="5212080" cy="3182112"/>
          </a:xfrm>
          <a:prstGeom prst="roundRect">
            <a:avLst>
              <a:gd name="adj" fmla="val 22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252374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PERSISTENTE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2999232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test_notas.py</a:t>
            </a:r>
            <a:endParaRPr lang="en-US" sz="25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749040"/>
            <a:ext cx="4261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+ acción + expectativa quedan juntas, versionables y repetibles.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675120" y="4663440"/>
            <a:ext cx="4224528" cy="420624"/>
          </a:xfrm>
          <a:prstGeom prst="roundRect">
            <a:avLst>
              <a:gd name="adj" fmla="val 1087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4663440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REGRESIÓN  ·  el defecto no vuelve en silencio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ESTRUCTURA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 prueba responde tres preguntas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deja de depender de la memoria cuando cada pieza queda escrita.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10863072" cy="2322576"/>
          </a:xfrm>
          <a:prstGeom prst="roundRect">
            <a:avLst>
              <a:gd name="adj" fmla="val 31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72768" y="2670048"/>
            <a:ext cx="56692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228600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1272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datos?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" y="37856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[3.8, 4.1, 3.95]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133088" y="3273552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26864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30368" y="2670048"/>
            <a:ext cx="566928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594360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26864" y="31272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ejecutamos?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626864" y="37856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nota_final(...)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790688" y="3273552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84464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887968" y="2670048"/>
            <a:ext cx="566928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960120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84464" y="31272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ocurrir?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284464" y="37856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4.0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658368" y="4992624"/>
            <a:ext cx="10863072" cy="822960"/>
          </a:xfrm>
          <a:prstGeom prst="roundRect">
            <a:avLst>
              <a:gd name="adj" fmla="val 5556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" y="5248656"/>
            <a:ext cx="10259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no demuestra todo: demuestra una expectativa concreta para una entrada concreta.</a:t>
            </a:r>
            <a:endParaRPr lang="en-US" sz="1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ESCRIBIR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primera prueba documenta un caso normal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expresa el comportamiento; el assert vuelve ejecutable la expectativa.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6601968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04288"/>
            <a:ext cx="63459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77440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primera prueba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761488"/>
            <a:ext cx="6181344" cy="2834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18704" y="2194560"/>
            <a:ext cx="3401568" cy="3584448"/>
          </a:xfrm>
          <a:prstGeom prst="roundRect">
            <a:avLst>
              <a:gd name="adj" fmla="val 1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56448" y="2432304"/>
            <a:ext cx="73152" cy="2560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75904" y="245059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LEER ESTA PRUEBA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3405166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34051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156448" y="2999232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56448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558784" y="30449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· COMPORTAMIENTO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156448" y="3383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que explica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8156448" y="378561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dice qué capacidad está verificando.</a:t>
            </a:r>
            <a:endParaRPr lang="en-US" sz="1280" dirty="0"/>
          </a:p>
        </p:txBody>
      </p:sp>
      <p:sp>
        <p:nvSpPr>
          <p:cNvPr id="25" name="Shape 21"/>
          <p:cNvSpPr/>
          <p:nvPr/>
        </p:nvSpPr>
        <p:spPr>
          <a:xfrm>
            <a:off x="672084" y="3617993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36179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156448" y="4233672"/>
            <a:ext cx="292608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56448" y="4379976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156448" y="4379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558784" y="44256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L5 · EXPECTATIVA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156448" y="47640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obtenido == esperado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156448" y="516636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igualdad no se cumple, pytest conserva el desacuerdo.</a:t>
            </a:r>
            <a:endParaRPr lang="en-US" sz="12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DESCUBRIR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pytest encuentra la prueba por convención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registramos el caso manualmente: el nombre del archivo y de la función lo hacen descubrible.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3858768" cy="3255264"/>
          </a:xfrm>
          <a:prstGeom prst="roundRect">
            <a:avLst>
              <a:gd name="adj" fmla="val 22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2374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127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notas.py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96112" y="3675888"/>
            <a:ext cx="3419856" cy="621792"/>
          </a:xfrm>
          <a:prstGeom prst="roundRect">
            <a:avLst>
              <a:gd name="adj" fmla="val 735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8992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test_notas.py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" y="45720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test_calcula_promedio_normal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882896" y="2322576"/>
            <a:ext cx="6656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82896" y="2322576"/>
            <a:ext cx="91440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93792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907024" y="25054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552944" y="250545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comienza con test_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882896" y="3346704"/>
            <a:ext cx="6656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82896" y="3346704"/>
            <a:ext cx="91440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93792" y="3602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907024" y="352958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552944" y="35295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comienza con test_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882896" y="4370832"/>
            <a:ext cx="66568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82896" y="4370832"/>
            <a:ext cx="91440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93792" y="4626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07024" y="45537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552944" y="455371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assert de Python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882896" y="5468112"/>
            <a:ext cx="6656832" cy="438912"/>
          </a:xfrm>
          <a:prstGeom prst="roundRect">
            <a:avLst>
              <a:gd name="adj" fmla="val 1041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82896" y="5468112"/>
            <a:ext cx="6656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  →  descubre y ejecuta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primer verde tiene alcance limitado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confirma un ejemplo; nosotros debemos nombrar qué quedó cubierto.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7479792" cy="3054096"/>
          </a:xfrm>
          <a:prstGeom prst="roundRect">
            <a:avLst>
              <a:gd name="adj" fmla="val 119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40864"/>
            <a:ext cx="72237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14016"/>
            <a:ext cx="6967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primera ejecución de pytest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9806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79806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305409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                                   [100%]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7824" y="3310128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30768" y="2432304"/>
            <a:ext cx="3108960" cy="1078992"/>
          </a:xfrm>
          <a:prstGeom prst="roundRect">
            <a:avLst>
              <a:gd name="adj" fmla="val 5932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59952" y="268833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384048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demuestra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613648" y="422452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caso normal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741664" y="4773168"/>
            <a:ext cx="246888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8650224" y="4992624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 todos los valores posibles.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58368" y="5596128"/>
            <a:ext cx="10863072" cy="438912"/>
          </a:xfrm>
          <a:prstGeom prst="roundRect">
            <a:avLst>
              <a:gd name="adj" fmla="val 833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2688" y="5596128"/>
            <a:ext cx="10314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CON APELLIDO  ·  pasó el promedio normal [6.0, 5.5, 6.5] → 6.0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REGRESIÓN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defecto conocido se vuelve una prueba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Conservamos el caso normal y agregamos una expectativa que hoy la implementación no cumple.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6711696" cy="3474720"/>
          </a:xfrm>
          <a:prstGeom prst="roundRect">
            <a:avLst>
              <a:gd name="adj" fmla="val 10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87168"/>
            <a:ext cx="64556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60320"/>
            <a:ext cx="6236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caso normal + regresión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44368"/>
            <a:ext cx="6291072" cy="2724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10144" y="2377440"/>
            <a:ext cx="3310128" cy="3474720"/>
          </a:xfrm>
          <a:prstGeom prst="roundRect">
            <a:avLst>
              <a:gd name="adj" fmla="val 19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47888" y="2615184"/>
            <a:ext cx="73152" cy="256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67344" y="26334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CONSERVA LA REGRESIÓN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4294566"/>
            <a:ext cx="219456" cy="2194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42945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247888" y="3182112"/>
            <a:ext cx="292608" cy="2926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47888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650224" y="3227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L8 · NOMBRE ESPECÍFICO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247888" y="35661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identificable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247888" y="39502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falla, sabemos qué regla está en disputa.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72084" y="4488191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448819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247888" y="4361688"/>
            <a:ext cx="2834640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4507992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47888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650224" y="45537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 · FUENTE DE VERDAD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247888" y="48920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permanece fijo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8247888" y="5294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guarda la regla acordada; no el resultado defectuoso.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7059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Rojo no significa fracaso</a:t>
            </a:r>
            <a:endParaRPr lang="en-US" sz="3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29968"/>
            <a:ext cx="689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 que la prueba encontró una diferencia real.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58368" y="2688336"/>
            <a:ext cx="7424928" cy="2907792"/>
          </a:xfrm>
          <a:prstGeom prst="roundRect">
            <a:avLst>
              <a:gd name="adj" fmla="val 125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798064"/>
            <a:ext cx="71688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871216"/>
            <a:ext cx="6912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evidencia roja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325526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188720" y="325526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877824" y="351129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                                     [100%]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877824" y="376732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 assert 3.9 == 4.0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877824" y="402336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test_notas.py::test_redondea_395_a_40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877824" y="427939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1 passed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8394192" y="2688336"/>
            <a:ext cx="3145536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05088" y="299923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OBTENIDO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802368" y="288950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8705088" y="3529584"/>
            <a:ext cx="234086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8705088" y="3803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802368" y="369417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2700" dirty="0"/>
          </a:p>
        </p:txBody>
      </p:sp>
      <p:sp>
        <p:nvSpPr>
          <p:cNvPr id="26" name="Shape 23"/>
          <p:cNvSpPr/>
          <p:nvPr/>
        </p:nvSpPr>
        <p:spPr>
          <a:xfrm>
            <a:off x="8668512" y="4407408"/>
            <a:ext cx="2578608" cy="530352"/>
          </a:xfrm>
          <a:prstGeom prst="roundRect">
            <a:avLst>
              <a:gd name="adj" fmla="val 862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68512" y="440740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DESACUERDO CAPTURADO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705088" y="501091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funciona: detectó lo que debía detectar.</a:t>
            </a:r>
            <a:endParaRPr lang="en-US" sz="127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INTERPRETAR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falla se lee en un orden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editar, reconstruimos qué se probó, qué ocurrió y dónde quedó registrado.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10863072" cy="749808"/>
          </a:xfrm>
          <a:prstGeom prst="roundRect">
            <a:avLst>
              <a:gd name="adj" fmla="val 731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450592"/>
            <a:ext cx="10296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test_notas.py::test_redondea_395_a_40  ·  assert 3.9 == 4.0  ·  1 failed, 1 passed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41248" y="3273552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499616" y="329184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255264" y="32552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test_redondea_395_a_40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7351776" y="325526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regla estaba bajo prueba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1499616" y="3767328"/>
            <a:ext cx="9582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841248" y="3913632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499616" y="39319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255264" y="38953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 ≠ 4.0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7351776" y="389534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obtenido frente a esperado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1499616" y="4407408"/>
            <a:ext cx="9582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841248" y="4553712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499616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UBICACIÓN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255264" y="45354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test_notas.py::...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7351776" y="453542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y prueba exacta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1499616" y="5047488"/>
            <a:ext cx="9582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841248" y="5193792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499616" y="52120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3255264" y="5175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 · 1 passed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7351776" y="517550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normal sigue verde</a:t>
            </a:r>
            <a:endParaRPr lang="en-US" sz="14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LOCALIZAR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También podemos ejecutar una sola prueba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identificador combina archivo y función para aislar el desacuerdo sin perder trazabilidad.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10863072" cy="1225296"/>
          </a:xfrm>
          <a:prstGeom prst="roundRect">
            <a:avLst>
              <a:gd name="adj" fmla="val 298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77440"/>
            <a:ext cx="1060704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50592"/>
            <a:ext cx="10351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ejecución selectiva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346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834640"/>
            <a:ext cx="10113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 test_notas.py::test_redondea_395_a_40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3913632"/>
            <a:ext cx="3456432" cy="1243584"/>
          </a:xfrm>
          <a:prstGeom prst="roundRect">
            <a:avLst>
              <a:gd name="adj" fmla="val 51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07008" y="418795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test_notas.py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08576" y="42793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2700" dirty="0"/>
          </a:p>
        </p:txBody>
      </p:sp>
      <p:sp>
        <p:nvSpPr>
          <p:cNvPr id="20" name="Shape 17"/>
          <p:cNvSpPr/>
          <p:nvPr/>
        </p:nvSpPr>
        <p:spPr>
          <a:xfrm>
            <a:off x="5504688" y="3913632"/>
            <a:ext cx="5522976" cy="1243584"/>
          </a:xfrm>
          <a:prstGeom prst="roundRect">
            <a:avLst>
              <a:gd name="adj" fmla="val 514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15584" y="4187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DE PRUEBA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815584" y="457200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test_redondea_395_a_40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5596128"/>
            <a:ext cx="1086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Aislar acelera la investigación; la suite completa sigue siendo la evidencia de cierre.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ANTES DE EDITAR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roja tiene tres sospechosos</a:t>
            </a:r>
            <a:endParaRPr lang="en-US" sz="3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color no decide por nosotros; la fuente de verdad sí.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2743200"/>
            <a:ext cx="3346704" cy="2212848"/>
          </a:xfrm>
          <a:prstGeom prst="roundRect">
            <a:avLst>
              <a:gd name="adj" fmla="val 289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743200"/>
            <a:ext cx="334670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3108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0906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78561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no cumple la regla.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34256" y="2743200"/>
            <a:ext cx="3346704" cy="2212848"/>
          </a:xfrm>
          <a:prstGeom prst="roundRect">
            <a:avLst>
              <a:gd name="adj" fmla="val 289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34256" y="2743200"/>
            <a:ext cx="3346704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08576" y="3108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230368" y="30906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645152" y="378561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pide algo incorrecto.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010144" y="2743200"/>
            <a:ext cx="3346704" cy="2212848"/>
          </a:xfrm>
          <a:prstGeom prst="roundRect">
            <a:avLst>
              <a:gd name="adj" fmla="val 289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2743200"/>
            <a:ext cx="3346704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84464" y="3108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906256" y="30906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378561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no representan el caso.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58368" y="5358384"/>
            <a:ext cx="10863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2688" y="53583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PROFESIONAL  ·  ¿qué evidencia define el comportamiento correcto?</a:t>
            </a:r>
            <a:endParaRPr lang="en-US" sz="1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DECIDIR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Aquí la expectativa no se negocia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acordada exige 3.95 → 4.0; cambiar el test solo escondería el defecto.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4334256" cy="2505456"/>
          </a:xfrm>
          <a:prstGeom prst="roundRect">
            <a:avLst>
              <a:gd name="adj" fmla="val 29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4128" y="2596896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ACTUAL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3108960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43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404164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obtenido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30368" y="3127248"/>
            <a:ext cx="786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6236208" y="2267712"/>
            <a:ext cx="5303520" cy="2505456"/>
          </a:xfrm>
          <a:prstGeom prst="roundRect">
            <a:avLst>
              <a:gd name="adj" fmla="val 29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01968" y="2596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ACORDADA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3108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43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verdad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5157216"/>
            <a:ext cx="10863072" cy="749808"/>
          </a:xfrm>
          <a:prstGeom prst="roundRect">
            <a:avLst>
              <a:gd name="adj" fmla="val 6098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5157216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HACER  ·  cambiar == 4.0 por == 3.9 para fabricar una barra verde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CAUSA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valor visible no siempre es el valor almacenado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 representa números decimales mediante aproximaciones binarias.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6967728" cy="3182112"/>
          </a:xfrm>
          <a:prstGeom prst="roundRect">
            <a:avLst>
              <a:gd name="adj" fmla="val 114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40864"/>
            <a:ext cx="67116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14016"/>
            <a:ext cx="6455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inspeccionar antes de corregir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9806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79806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= sum([3.8, 4.1, 3.95]) / 3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7824" y="30540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88720" y="305409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77824" y="3310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3.9499999999999997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77824" y="35661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88720" y="356616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round(valor, 1)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77824" y="38221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973568" y="2414016"/>
            <a:ext cx="3566160" cy="1225296"/>
          </a:xfrm>
          <a:prstGeom prst="roundRect">
            <a:avLst>
              <a:gd name="adj" fmla="val 52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02752" y="2688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259689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302752" y="31821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el cálculo queda apenas por debajo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400032" y="3913632"/>
            <a:ext cx="6583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73568" y="4517136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84464" y="47365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50292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ser explícita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5669280"/>
            <a:ext cx="10863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un parche para 3.95; buscamos una representación y un criterio coherentes.</a:t>
            </a:r>
            <a:endParaRPr lang="en-US" sz="15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CORREGIR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queda visible en el código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Decimal evita arrastrar la aproximación binaria y ROUND_HALF_UP declara cómo resolver empates.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7552944" cy="3547872"/>
          </a:xfrm>
          <a:prstGeom prst="roundRect">
            <a:avLst>
              <a:gd name="adj" fmla="val 10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7296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7077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implementación corregida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7132320" cy="27980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613648" y="2322576"/>
            <a:ext cx="2706624" cy="3547872"/>
          </a:xfrm>
          <a:prstGeom prst="roundRect">
            <a:avLst>
              <a:gd name="adj" fmla="val 23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51392" y="2560320"/>
            <a:ext cx="73152" cy="2560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2578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DECISIONES EXPLÍCITAS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72084" y="3728343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372834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851392" y="3127248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85139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9253728" y="31729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L6 · REPRESENTACIÓN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851392" y="35112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Decimal(str(nota))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851392" y="3913632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del decimal visible y evita heredar el artefacto binario.</a:t>
            </a:r>
            <a:endParaRPr lang="en-US" sz="1220" dirty="0"/>
          </a:p>
        </p:txBody>
      </p:sp>
      <p:sp>
        <p:nvSpPr>
          <p:cNvPr id="25" name="Shape 21"/>
          <p:cNvSpPr/>
          <p:nvPr/>
        </p:nvSpPr>
        <p:spPr>
          <a:xfrm>
            <a:off x="672084" y="4242007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42420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851392" y="4343400"/>
            <a:ext cx="2231136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851392" y="4489704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85139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9253728" y="453542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 · CRITERIO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851392" y="487375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ROUND_HALF_UP</a:t>
            </a:r>
            <a:endParaRPr lang="en-US" sz="1550" dirty="0"/>
          </a:p>
        </p:txBody>
      </p:sp>
      <p:sp>
        <p:nvSpPr>
          <p:cNvPr id="32" name="Text 28"/>
          <p:cNvSpPr/>
          <p:nvPr/>
        </p:nvSpPr>
        <p:spPr>
          <a:xfrm>
            <a:off x="8851392" y="5276088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empates se redondean alejándose de cero.</a:t>
            </a:r>
            <a:endParaRPr lang="en-US" sz="12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· VERIFICAR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verde vale porque repetimos los controles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satisface ambos casos sin introducir señales estructurales ni contradicciones de tipos.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7534656" cy="3547872"/>
          </a:xfrm>
          <a:prstGeom prst="roundRect">
            <a:avLst>
              <a:gd name="adj" fmla="val 103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04288"/>
            <a:ext cx="727862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77440"/>
            <a:ext cx="7022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evidencia de cierre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7614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188720" y="2761488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877824" y="3017520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                                   [100%]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77824" y="3273552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877824" y="35295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188720" y="3529584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      → All checks passed!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877824" y="37856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188720" y="3785616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     → 0 errors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8412480" y="2322576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13648" y="2523744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1364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45059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276148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comportamientos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8412480" y="3364992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13648" y="3566160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13648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272016" y="349300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9272016" y="38039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limpia</a:t>
            </a:r>
            <a:endParaRPr lang="en-US" sz="1280" dirty="0"/>
          </a:p>
        </p:txBody>
      </p:sp>
      <p:sp>
        <p:nvSpPr>
          <p:cNvPr id="32" name="Shape 29"/>
          <p:cNvSpPr/>
          <p:nvPr/>
        </p:nvSpPr>
        <p:spPr>
          <a:xfrm>
            <a:off x="8412480" y="4407408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13648" y="4608576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13648" y="4608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9272016" y="453542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9272016" y="484632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 coherentes</a:t>
            </a:r>
            <a:endParaRPr lang="en-US" sz="1280" dirty="0"/>
          </a:p>
        </p:txBody>
      </p:sp>
      <p:sp>
        <p:nvSpPr>
          <p:cNvPr id="37" name="Shape 34"/>
          <p:cNvSpPr/>
          <p:nvPr/>
        </p:nvSpPr>
        <p:spPr>
          <a:xfrm>
            <a:off x="8412480" y="5486400"/>
            <a:ext cx="3127248" cy="438912"/>
          </a:xfrm>
          <a:prstGeom prst="roundRect">
            <a:avLst>
              <a:gd name="adj" fmla="val 83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12480" y="548640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→ CORRECCIÓN → VERDE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· USO DEL AGENTE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investiga; la regla permanece fija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solicitud protege la expectativa y exige alternativas antes de modificar.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63072" cy="2505456"/>
          </a:xfrm>
          <a:prstGeom prst="roundRect">
            <a:avLst>
              <a:gd name="adj" fmla="val 29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4203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ÚTIL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2962656"/>
            <a:ext cx="9985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 prueba exige que 3.95 se informe como 4.0, pero la implementación devuelve 3.9.»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225296" y="3675888"/>
            <a:ext cx="9473184" cy="694944"/>
          </a:xfrm>
          <a:prstGeom prst="roundRect">
            <a:avLst>
              <a:gd name="adj" fmla="val 657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25296" y="3675888"/>
            <a:ext cx="9473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la causa · propone dos correcciones · no cambia la prueba · señala riesgos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" y="5084064"/>
            <a:ext cx="2999232" cy="603504"/>
          </a:xfrm>
          <a:prstGeom prst="roundRect">
            <a:avLst>
              <a:gd name="adj" fmla="val 757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084064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 ·  «haz que pase»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05072" y="5212080"/>
            <a:ext cx="7150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fuente de verdad, el agente también podría debilitar el test y fabricar verde.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debe contar toda la historia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rojo aislado no basta; necesitamos mostrar la causa, la decisión y la comprobación final.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34009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578608"/>
            <a:ext cx="585216" cy="5852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700784" y="2523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700784" y="290779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con dos pruebas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99632" y="2304288"/>
            <a:ext cx="534009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19088" y="2578608"/>
            <a:ext cx="585216" cy="58521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42048" y="2523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242048" y="290779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 == 4.0 visible en la falla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58368" y="3913632"/>
            <a:ext cx="534009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7824" y="4187952"/>
            <a:ext cx="585216" cy="58521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700784" y="41330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700784" y="451713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passed después de corregir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199632" y="3913632"/>
            <a:ext cx="5340096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088" y="4187952"/>
            <a:ext cx="585216" cy="58521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9088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242048" y="41330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242048" y="451713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y Pyrefly nuevamente verdes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58368" y="557784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2688" y="557784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Además: explicar por qué cambiamos notas.py y no la expectativa == 4.0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PREGUNTAS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orienta; la respuesta debe distinguir evidencia, regla y alcance.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21284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prueba verde no demuestra que una función sea correcta para todos los casos?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944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cuenta cuántas entradas ejecutó realmente y cuáles siguen sin estar representadas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5643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prueba queda roja, ¿cómo decidimos si debemos cambiar el código o la expectativa?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1879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busca primero dónde está definida la regla que funciona como fuente de verdad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468172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4681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66344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riesgo existe si cambiamos 4.0 por 3.9 solo para obtener verde?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39496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el indicador puede verse saludable porque debilitamos la regla, no porque corregimos el sistema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· BLOQUE 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08176"/>
            <a:ext cx="6492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rojo captura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76272"/>
            <a:ext cx="6839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desacuerdo útil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18688"/>
            <a:ext cx="6876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adquiere valor cuando aparece después de una corrección coherente con la regla, no cuando debilitamos la expectativa.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772400" y="1408176"/>
            <a:ext cx="3474720" cy="3182112"/>
          </a:xfrm>
          <a:prstGeom prst="roundRect">
            <a:avLst>
              <a:gd name="adj" fmla="val 229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9872" y="177393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119872" y="2615184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 ≠ 4.0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9125712" y="3310128"/>
            <a:ext cx="7680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19872" y="391363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8368" y="4956048"/>
            <a:ext cx="1086307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4956048"/>
            <a:ext cx="10259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→ el agente propondrá casos; el equipo decidirá cuáles merecen convertirse en pruebas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25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propone</a:t>
            </a:r>
            <a:endParaRPr lang="en-US" sz="4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3969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equipo decide</a:t>
            </a:r>
            <a:endParaRPr lang="en-US" sz="4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36976"/>
            <a:ext cx="6144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para explorar; criterio para convertir una posibilidad en evidencia.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479792" y="1298448"/>
            <a:ext cx="3749040" cy="3511296"/>
          </a:xfrm>
          <a:prstGeom prst="roundRect">
            <a:avLst>
              <a:gd name="adj" fmla="val 234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45552" y="1627632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796528" y="17922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PROPUESTOS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82128" y="2432304"/>
            <a:ext cx="294436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7882128" y="2724912"/>
            <a:ext cx="73152" cy="23774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56448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882128" y="3182112"/>
            <a:ext cx="73152" cy="237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56448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82128" y="3639312"/>
            <a:ext cx="73152" cy="237744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56448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80" kern="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POSPONER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882128" y="4096512"/>
            <a:ext cx="73152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56448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58368" y="5138928"/>
            <a:ext cx="1086307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" y="5138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FINAL  ·  la especificación sigue perteneciendo al equipo</a:t>
            </a:r>
            <a:endParaRPr lang="en-US" sz="15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CONTEXTO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buen prompt empieza con límites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necesita distinguir reglas conocidas de decisiones que todavía no existen.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176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SABEMOS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43584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el promedio de una lista de float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58368" y="3236976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43584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el resultado con un decimal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58368" y="3895344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243584" y="3950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el criterio ROUND_HALF_UP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58368" y="4553712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243584" y="46085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cubrimos el caso normal y 3.95 → 4.0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419088" y="2139696"/>
            <a:ext cx="5120640" cy="3218688"/>
          </a:xfrm>
          <a:prstGeom prst="roundRect">
            <a:avLst>
              <a:gd name="adj" fmla="val 2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84848" y="24688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AÚN NO ESTÁ DEFINIDO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84848" y="2999232"/>
            <a:ext cx="1005840" cy="585216"/>
          </a:xfrm>
          <a:prstGeom prst="roundRect">
            <a:avLst>
              <a:gd name="adj" fmla="val 781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84848" y="29992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083296" y="3054096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¿devuelve un valor o produce un error?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784848" y="3986784"/>
            <a:ext cx="1005840" cy="585216"/>
          </a:xfrm>
          <a:prstGeom prst="roundRect">
            <a:avLst>
              <a:gd name="adj" fmla="val 781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84848" y="398678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083296" y="4041648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función convierte datos o los rechaza?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58368" y="5650992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2688" y="5650992"/>
            <a:ext cx="10314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la regla, el resultado correcto es declarar la ambigüedad, no inventar una expectativa.</a:t>
            </a:r>
            <a:endParaRPr lang="en-US" sz="14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SOLICITUD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Pedir casos no es delegar la especificación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obliga al agente a mostrar propósito, expectativa y ambigüedades.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10863072" cy="2377440"/>
          </a:xfrm>
          <a:prstGeom prst="roundRect">
            <a:avLst>
              <a:gd name="adj" fmla="val 30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60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TRABAJO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2980944"/>
            <a:ext cx="10003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«Propón cinco casos para nota_final(). Incluye nombre, entrada, resultado esperado y riesgo. No escribas código, no repitas casos existentes y marca “requiere decisión” cuando falte una regla.»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658368" y="4956048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5138928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1408176" y="5212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3401568" y="4956048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5138928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4151376" y="5212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+ RESULTADO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144768" y="4956048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5138928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6894576" y="5212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887968" y="4956048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52560" y="5138928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5256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9637776" y="5212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DECISIÓN</a:t>
            </a:r>
            <a:endParaRPr lang="en-US" sz="102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AUDITAR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propuesta recibe una decisión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calificamos al agente: evaluamos si el caso merece entrar a la suite.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2487168" cy="3090672"/>
          </a:xfrm>
          <a:prstGeom prst="roundRect">
            <a:avLst>
              <a:gd name="adj" fmla="val 294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67712"/>
            <a:ext cx="2487168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36192" y="2688336"/>
            <a:ext cx="731520" cy="73152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36192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42245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distinto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regla conocida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401568" y="2267712"/>
            <a:ext cx="2487168" cy="3090672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01568" y="2267712"/>
            <a:ext cx="2487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688336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79392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39312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3675888" y="42245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útil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caso impreciso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144768" y="2267712"/>
            <a:ext cx="2487168" cy="3090672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44768" y="2267712"/>
            <a:ext cx="2487168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22592" y="2688336"/>
            <a:ext cx="731520" cy="7315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22592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82512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POSPONER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42245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descubre una regla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todavía pendiente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887968" y="2267712"/>
            <a:ext cx="2487168" cy="3090672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87968" y="2267712"/>
            <a:ext cx="24871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65792" y="2688336"/>
            <a:ext cx="731520" cy="7315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765792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125712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162288" y="42245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repite, contradice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 carece de propósito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5687568"/>
            <a:ext cx="1086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debe poder explicarse con una frase: «lo acepto / pospongo porque…»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DECIDIR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propuestas, tres destinos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entrada por sí sola no basta: cada decisión queda acompañada por su razón.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76272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3591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408176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[5.5] → 5.5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608576" y="2276856"/>
            <a:ext cx="1408176" cy="36576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08576" y="2276856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322576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mínimo: una sola nota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2889504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30723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08176" y="3026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[3.94] → 3.9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608576" y="2990088"/>
            <a:ext cx="1408176" cy="36576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08576" y="299008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035808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inmediatamente inferior al empate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3602736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408176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[3.8, 4.1, 3.95] → 4.0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4608576" y="3703320"/>
            <a:ext cx="1408176" cy="365760"/>
          </a:xfrm>
          <a:prstGeom prst="roundRect">
            <a:avLst>
              <a:gd name="adj" fmla="val 10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08576" y="3703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3749040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existe como regresión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4315968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" y="44988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408176" y="4453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→ 0.0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4608576" y="4416552"/>
            <a:ext cx="1408176" cy="365760"/>
          </a:xfrm>
          <a:prstGeom prst="roundRect">
            <a:avLst>
              <a:gd name="adj" fmla="val 10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08576" y="4416552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POSPONER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4462272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correcta aún no está definida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58368" y="5029200"/>
            <a:ext cx="1086307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" y="52120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408176" y="5166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['4.0', '5.0'] → 4.5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4608576" y="5129784"/>
            <a:ext cx="1408176" cy="365760"/>
          </a:xfrm>
          <a:prstGeom prst="roundRect">
            <a:avLst>
              <a:gd name="adj" fmla="val 10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08576" y="512978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5175504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contradice el contrato list[float]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AUDITORÍA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828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nuevo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3730752" y="17556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498848" y="182880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conocida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17556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3800" dirty="0"/>
          </a:p>
        </p:txBody>
      </p:sp>
      <p:sp>
        <p:nvSpPr>
          <p:cNvPr id="13" name="Shape 10"/>
          <p:cNvSpPr/>
          <p:nvPr/>
        </p:nvSpPr>
        <p:spPr>
          <a:xfrm>
            <a:off x="8266176" y="1481328"/>
            <a:ext cx="29077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67344" y="182880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DEFENDIBLE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32688" y="2926080"/>
            <a:ext cx="10222992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024128" y="3438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cantidad no decide la calidad</a:t>
            </a:r>
            <a:endParaRPr lang="en-US" sz="2900" dirty="0"/>
          </a:p>
        </p:txBody>
      </p:sp>
      <p:sp>
        <p:nvSpPr>
          <p:cNvPr id="17" name="Text 14"/>
          <p:cNvSpPr txBox="1"/>
          <p:nvPr/>
        </p:nvSpPr>
        <p:spPr>
          <a:xfrm>
            <a:off x="5925312" y="34015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suite crece cuando hace visible un riesgo distinto, no cuando acumula variaciones sin propósito.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58368" y="4937760"/>
            <a:ext cx="10863072" cy="713232"/>
          </a:xfrm>
          <a:prstGeom prst="roundRect">
            <a:avLst>
              <a:gd name="adj" fmla="val 641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0976" y="4937760"/>
            <a:ext cx="10277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PROFESIONAL  ·  ¿qué riesgo nuevo vuelve visible?</a:t>
            </a:r>
            <a:endParaRPr lang="en-US" sz="15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INCORPORAR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pruebas, dos riesgos identificables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Conservamos funciones separadas para que el nombre explique qué evidencia aporta cada caso.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6821424" cy="3566160"/>
          </a:xfrm>
          <a:prstGeom prst="roundRect">
            <a:avLst>
              <a:gd name="adj" fmla="val 10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77440"/>
            <a:ext cx="6565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50592"/>
            <a:ext cx="6345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casos aceptados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34640"/>
            <a:ext cx="6400800" cy="28163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08976" y="2267712"/>
            <a:ext cx="3511296" cy="3566160"/>
          </a:xfrm>
          <a:prstGeom prst="roundRect">
            <a:avLst>
              <a:gd name="adj" fmla="val 182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0" y="2505456"/>
            <a:ext cx="73152" cy="2560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66176" y="2523744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RIESGOS DISTINTOS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2835518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28355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046720" y="3072384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449056" y="311810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· CASO MÍNIMO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046720" y="34564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única nota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8046720" y="385876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que el promedio conserva el único valor disponible.</a:t>
            </a:r>
            <a:endParaRPr lang="en-US" sz="1240" dirty="0"/>
          </a:p>
        </p:txBody>
      </p:sp>
      <p:sp>
        <p:nvSpPr>
          <p:cNvPr id="25" name="Shape 21"/>
          <p:cNvSpPr/>
          <p:nvPr/>
        </p:nvSpPr>
        <p:spPr>
          <a:xfrm>
            <a:off x="672084" y="3654820"/>
            <a:ext cx="219456" cy="21945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36548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046720" y="4297680"/>
            <a:ext cx="3035808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046720" y="4443984"/>
            <a:ext cx="292608" cy="29260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04672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449056" y="448970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L5 · BAJO EL EMPATE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046720" y="48280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3.94 → 3.9</a:t>
            </a:r>
            <a:endParaRPr lang="en-US" sz="1650" dirty="0"/>
          </a:p>
        </p:txBody>
      </p:sp>
      <p:sp>
        <p:nvSpPr>
          <p:cNvPr id="32" name="Text 28"/>
          <p:cNvSpPr/>
          <p:nvPr/>
        </p:nvSpPr>
        <p:spPr>
          <a:xfrm>
            <a:off x="8046720" y="523036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el valor inmediatamente inferior a 3.95.</a:t>
            </a:r>
            <a:endParaRPr lang="en-US" sz="12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verdes con propósito nombrado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nueva evidencia se suma sin borrar los dos comportamientos que ya estaban protegidos.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7479792" cy="3255264"/>
          </a:xfrm>
          <a:prstGeom prst="roundRect">
            <a:avLst>
              <a:gd name="adj" fmla="val 1124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72237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6967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suite ampliada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                                   [100%]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7824" y="332841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30768" y="2249424"/>
            <a:ext cx="3108960" cy="3255264"/>
          </a:xfrm>
          <a:prstGeom prst="roundRect">
            <a:avLst>
              <a:gd name="adj" fmla="val 2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41664" y="272491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796528" y="3401568"/>
            <a:ext cx="2395728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 txBox="1"/>
          <p:nvPr/>
        </p:nvSpPr>
        <p:spPr>
          <a:xfrm>
            <a:off x="8759952" y="369417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promedio normal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759952" y="40782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empate 3.95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759952" y="44622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una sola nota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759952" y="48463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valor 3.94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8368" y="5724144"/>
            <a:ext cx="10863072" cy="384048"/>
          </a:xfrm>
          <a:prstGeom prst="roundRect">
            <a:avLst>
              <a:gd name="adj" fmla="val 9524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5724144"/>
            <a:ext cx="10314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creció porque crecieron los riesgos observados, no porque repetimos el mismo ejemplo.</a:t>
            </a:r>
            <a:endParaRPr lang="en-US" sz="13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DESAFÍO CONTROLADO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1673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Predice antes de ejecutar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48256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sabotaje sirve para comprobar si entendemos qué observa cada barrera.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3090672"/>
            <a:ext cx="621792" cy="6217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090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45920" y="3374136"/>
            <a:ext cx="98755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72384" y="3090672"/>
            <a:ext cx="621792" cy="62179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72384" y="3090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95344" y="3374136"/>
            <a:ext cx="98755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21808" y="3090672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21808" y="3090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84064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44768" y="3374136"/>
            <a:ext cx="98755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71232" y="3090672"/>
            <a:ext cx="621792" cy="62179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71232" y="3090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333488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94192" y="3374136"/>
            <a:ext cx="98755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820656" y="3090672"/>
            <a:ext cx="621792" cy="62179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20656" y="3090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582912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" y="4864608"/>
            <a:ext cx="1086307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2688" y="4864608"/>
            <a:ext cx="10314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TOCAR EL CÓDIGO  ·  anota qué control debería reaccionar y qué señal esperas leer</a:t>
            </a:r>
            <a:endParaRPr lang="en-US" sz="14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ELEGIR BARRERA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sabotajes, cuatro primeras hipótesis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asociación muestra el control más directo; no una frontera absoluta.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76272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2" name="Image 1" descr="C:\Users\Diego Obando\dev\pro402-taller-de-testing-2026\clases\semana-01\02\ppt\source\assets\tools\uv-mar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0434" y="2322576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" y="30449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" y="3602736"/>
            <a:ext cx="248716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" y="3822192"/>
            <a:ext cx="475488" cy="47548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9536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517904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lockfile desalineado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14400" y="4498848"/>
            <a:ext cx="19751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 txBox="1"/>
          <p:nvPr/>
        </p:nvSpPr>
        <p:spPr>
          <a:xfrm>
            <a:off x="877824" y="4791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401568" y="2176272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1" name="Image 2" descr="C:\Users\Diego Obando\dev\pro402-taller-de-testing-2026\clases\semana-01\02\ppt\source\assets\tools\ruff-mar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1139" y="2322576"/>
            <a:ext cx="428026" cy="5230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493008" y="30449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401568" y="3602736"/>
            <a:ext cx="248716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02736" y="382219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602736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261104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sin uso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657600" y="4498848"/>
            <a:ext cx="19751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3"/>
          <p:cNvSpPr txBox="1"/>
          <p:nvPr/>
        </p:nvSpPr>
        <p:spPr>
          <a:xfrm>
            <a:off x="3621024" y="4791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144768" y="2176272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0" name="Image 3" descr="C:\Users\Diego Obando\dev\pro402-taller-de-testing-2026\clases\semana-01\02\ppt\source\assets\tools\pyrefly-mark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7227" y="2322576"/>
            <a:ext cx="662251" cy="52303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36208" y="30449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4768" y="3602736"/>
            <a:ext cx="248716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345936" y="3822192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345936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7004304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incompatible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6400800" y="4498848"/>
            <a:ext cx="19751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1"/>
          <p:cNvSpPr txBox="1"/>
          <p:nvPr/>
        </p:nvSpPr>
        <p:spPr>
          <a:xfrm>
            <a:off x="6364224" y="4791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 check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8887968" y="2176272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4" descr="C:\Users\Diego Obando\dev\pro402-taller-de-testing-2026\clases\semana-01\02\ppt\source\assets\tools\pytest-log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4654" y="2249424"/>
            <a:ext cx="653796" cy="65379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979408" y="30449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8887968" y="3602736"/>
            <a:ext cx="248716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089136" y="3822192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9089136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9747504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redondeo incorrecto</a:t>
            </a:r>
            <a:endParaRPr lang="en-US" sz="1500" dirty="0"/>
          </a:p>
        </p:txBody>
      </p:sp>
      <p:sp>
        <p:nvSpPr>
          <p:cNvPr id="45" name="Shape 38"/>
          <p:cNvSpPr/>
          <p:nvPr/>
        </p:nvSpPr>
        <p:spPr>
          <a:xfrm>
            <a:off x="9144000" y="4498848"/>
            <a:ext cx="19751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6" name="Text 39"/>
          <p:cNvSpPr txBox="1"/>
          <p:nvPr/>
        </p:nvSpPr>
        <p:spPr>
          <a:xfrm>
            <a:off x="9107424" y="479145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658368" y="5797296"/>
            <a:ext cx="1086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ejecutamos el control que mejor responde a nuestra hipótesis.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SABOTAJES A + B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 y estructura dejan señales distintas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pareja compara el cambio temporal, el control esperado y la restauración mínima.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340096" cy="3602736"/>
          </a:xfrm>
          <a:prstGeom prst="roundRect">
            <a:avLst>
              <a:gd name="adj" fmla="val 2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2523744"/>
            <a:ext cx="585216" cy="58521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55648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LOCKFILE DESALINEADO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325526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2066544" y="321868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una dependencia solo en pyproject.toml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87552" y="3694176"/>
            <a:ext cx="46451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987552" y="387705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2066544" y="384048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87552" y="4315968"/>
            <a:ext cx="46451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 txBox="1"/>
          <p:nvPr/>
        </p:nvSpPr>
        <p:spPr>
          <a:xfrm>
            <a:off x="987552" y="44988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2066544" y="446227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 desactualizado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87552" y="4937760"/>
            <a:ext cx="46451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987552" y="512064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RESTAURAR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2066544" y="508406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deshacer la línea agregada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99632" y="2249424"/>
            <a:ext cx="5340096" cy="3602736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10528" y="2523744"/>
            <a:ext cx="585216" cy="5852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0528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96912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SIN USO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528816" y="325526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7607808" y="321868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import math en notas.py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528816" y="3694176"/>
            <a:ext cx="46451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6528816" y="387705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920" dirty="0"/>
          </a:p>
        </p:txBody>
      </p:sp>
      <p:sp>
        <p:nvSpPr>
          <p:cNvPr id="34" name="Text 31"/>
          <p:cNvSpPr txBox="1"/>
          <p:nvPr/>
        </p:nvSpPr>
        <p:spPr>
          <a:xfrm>
            <a:off x="7607808" y="384048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6528816" y="4315968"/>
            <a:ext cx="46451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6528816" y="44988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920" dirty="0"/>
          </a:p>
        </p:txBody>
      </p:sp>
      <p:sp>
        <p:nvSpPr>
          <p:cNvPr id="37" name="Text 34"/>
          <p:cNvSpPr txBox="1"/>
          <p:nvPr/>
        </p:nvSpPr>
        <p:spPr>
          <a:xfrm>
            <a:off x="7607808" y="446227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F401 · import no utilizado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6528816" y="4937760"/>
            <a:ext cx="46451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9" name="Text 36"/>
          <p:cNvSpPr txBox="1"/>
          <p:nvPr/>
        </p:nvSpPr>
        <p:spPr>
          <a:xfrm>
            <a:off x="6528816" y="512064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RESTAURAR</a:t>
            </a:r>
            <a:endParaRPr lang="en-US" sz="920" dirty="0"/>
          </a:p>
        </p:txBody>
      </p:sp>
      <p:sp>
        <p:nvSpPr>
          <p:cNvPr id="40" name="Text 37"/>
          <p:cNvSpPr txBox="1"/>
          <p:nvPr/>
        </p:nvSpPr>
        <p:spPr>
          <a:xfrm>
            <a:off x="7607808" y="508406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el import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SABOTAJE 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puede fallar aunque pytest siga verde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la firma altera lo declarado; no necesariamente impide que Python ejecute el cuerpo.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6784848" cy="2651760"/>
          </a:xfrm>
          <a:prstGeom prst="roundRect">
            <a:avLst>
              <a:gd name="adj" fmla="val 13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95728"/>
            <a:ext cx="65288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68880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firma saboteada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52928"/>
            <a:ext cx="6364224" cy="19019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72400" y="2286000"/>
            <a:ext cx="3547872" cy="2651760"/>
          </a:xfrm>
          <a:prstGeom prst="roundRect">
            <a:avLst>
              <a:gd name="adj" fmla="val 24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10144" y="2523744"/>
            <a:ext cx="73152" cy="2560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25420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CONTRADICCIÓN DECLARADA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72084" y="2833931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283393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010144" y="3090672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10144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8412480" y="31363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· FIRMA TEMPORAL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010144" y="34747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8010144" y="3968496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siguen entregando float. Pyrefly confronta ambos contratos.</a:t>
            </a:r>
            <a:endParaRPr lang="en-US" sz="1320" dirty="0"/>
          </a:p>
        </p:txBody>
      </p:sp>
      <p:sp>
        <p:nvSpPr>
          <p:cNvPr id="25" name="Shape 21"/>
          <p:cNvSpPr/>
          <p:nvPr/>
        </p:nvSpPr>
        <p:spPr>
          <a:xfrm>
            <a:off x="658368" y="5212080"/>
            <a:ext cx="5248656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32688" y="5212080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  ·  incompatibilidades de tipos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291072" y="5212080"/>
            <a:ext cx="5248656" cy="658368"/>
          </a:xfrm>
          <a:prstGeom prst="roundRect">
            <a:avLst>
              <a:gd name="adj" fmla="val 694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0" y="52120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 ·  4 passed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SABOTAJE 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cambia en dos lugares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ROUND_DOWN debe aparecer tanto en la importación como en quantize(); así falla el comportamiento y no un nombre inexistente.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7424928" cy="3200400"/>
          </a:xfrm>
          <a:prstGeom prst="roundRect">
            <a:avLst>
              <a:gd name="adj" fmla="val 1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14016"/>
            <a:ext cx="7168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87168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regla temporal ROUND_DOWN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71216"/>
            <a:ext cx="7004304" cy="2450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94192" y="2304288"/>
            <a:ext cx="2926080" cy="3200400"/>
          </a:xfrm>
          <a:prstGeom prst="roundRect">
            <a:avLst>
              <a:gd name="adj" fmla="val 218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31936" y="2542032"/>
            <a:ext cx="73152" cy="256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51392" y="256032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COHERENTE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2084" y="2850491"/>
            <a:ext cx="219456" cy="2194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" y="285049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8631936" y="3108960"/>
            <a:ext cx="292608" cy="2926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31936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9034272" y="315468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· IMPORTACIÓN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631936" y="349300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ROUND_DOWN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631936" y="3877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Constante válida.</a:t>
            </a:r>
            <a:endParaRPr lang="en-US" sz="1180" dirty="0"/>
          </a:p>
        </p:txBody>
      </p:sp>
      <p:sp>
        <p:nvSpPr>
          <p:cNvPr id="25" name="Shape 21"/>
          <p:cNvSpPr/>
          <p:nvPr/>
        </p:nvSpPr>
        <p:spPr>
          <a:xfrm>
            <a:off x="672084" y="4169056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" y="4169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8631936" y="4151376"/>
            <a:ext cx="2450592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31936" y="4297680"/>
            <a:ext cx="292608" cy="2926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63193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9034272" y="43434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 · COMPORTAMIENTO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8631936" y="468172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rounding=...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8631936" y="50840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3.95 → 4.0 vuelve a quedar roja.</a:t>
            </a:r>
            <a:endParaRPr lang="en-US" sz="1180" dirty="0"/>
          </a:p>
        </p:txBody>
      </p:sp>
      <p:sp>
        <p:nvSpPr>
          <p:cNvPr id="33" name="Shape 29"/>
          <p:cNvSpPr/>
          <p:nvPr/>
        </p:nvSpPr>
        <p:spPr>
          <a:xfrm>
            <a:off x="658368" y="5687568"/>
            <a:ext cx="10863072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32688" y="5687568"/>
            <a:ext cx="10314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 ·  assert 3.9 == 4.0  ·  restaurar ROUND_HALF_UP después de interpretar la falla</a:t>
            </a:r>
            <a:endParaRPr lang="en-US" sz="126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Restaurar también produce evidencia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termina cuando el mismo control que detectó el sabotaje vuelve a quedar verde.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5065776" cy="3511296"/>
          </a:xfrm>
          <a:prstGeom prst="roundRect">
            <a:avLst>
              <a:gd name="adj" fmla="val 208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237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ASIGNADO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87552" y="2962656"/>
            <a:ext cx="402336" cy="402336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7552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64208" y="301752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242816" y="3017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87552" y="3566160"/>
            <a:ext cx="402336" cy="4023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7552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64208" y="362102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242816" y="36210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7552" y="4169664"/>
            <a:ext cx="402336" cy="4023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64208" y="42245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 check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242816" y="4224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87552" y="4773168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664208" y="48280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242816" y="48280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08192" y="2267712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0819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803136" y="228600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AUDITADA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803136" y="25786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decisión tiene una razón</a:t>
            </a:r>
            <a:endParaRPr lang="en-US" sz="1550" dirty="0"/>
          </a:p>
        </p:txBody>
      </p:sp>
      <p:sp>
        <p:nvSpPr>
          <p:cNvPr id="33" name="Shape 30"/>
          <p:cNvSpPr/>
          <p:nvPr/>
        </p:nvSpPr>
        <p:spPr>
          <a:xfrm>
            <a:off x="6108192" y="3108960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081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03136" y="31272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CASOS NUEVOS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03136" y="341985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cubren riesgos distintos</a:t>
            </a:r>
            <a:endParaRPr lang="en-US" sz="1550" dirty="0"/>
          </a:p>
        </p:txBody>
      </p:sp>
      <p:sp>
        <p:nvSpPr>
          <p:cNvPr id="37" name="Shape 34"/>
          <p:cNvSpPr/>
          <p:nvPr/>
        </p:nvSpPr>
        <p:spPr>
          <a:xfrm>
            <a:off x="6108192" y="3950208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0819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803136" y="39684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CONTRASTADA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803136" y="426110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 versus diagnóstico real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6108192" y="4791456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108192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803136" y="48097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RESTAURADO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803136" y="51023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control asignado vuelve a verde</a:t>
            </a:r>
            <a:endParaRPr lang="en-US" sz="15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PREGUNTAS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orienta; la respuesta debe conectar riesgo, regla y precisión del diagnóstico.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21284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que un caso sugerido por un agente sea útil y no solo diferente?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944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busca el riesgo nuevo que observa y la regla que justifica su expectativa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5643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deberíamos convertir inmediatamente [] → 0.0 en una prueba?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1879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descubrir una situación posible no significa conocer todavía la respuesta correcta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468172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4681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66344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varias herramientas reaccionan al mismo cambio, ¿cuál conviene ejecutar primero?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39496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→ vuelve a la hipótesis y elige el diagnóstico más directo para confirmarla</a:t>
            </a:r>
            <a:endParaRPr lang="en-US" sz="14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· BLOQUE 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3502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amplía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66544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posibilidades</a:t>
            </a:r>
            <a:endParaRPr lang="en-US" sz="39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127248"/>
            <a:ext cx="6565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conserva la autoridad sobre la especificación y exige una razón para cada prueba aceptada.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644384" y="1353312"/>
            <a:ext cx="3584448" cy="3236976"/>
          </a:xfrm>
          <a:prstGeom prst="roundRect">
            <a:avLst>
              <a:gd name="adj" fmla="val 226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10144" y="17556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16824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028432" y="2322576"/>
            <a:ext cx="281635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8010144" y="26700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25968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028432" y="3236976"/>
            <a:ext cx="281635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8010144" y="35844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436608" y="351129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58368" y="4956048"/>
            <a:ext cx="1086307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0976" y="4956048"/>
            <a:ext cx="10259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→ reunir las cuatro barreras y formular una conclusión proporcional a la evidencia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 · 10 MINUTOS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podemos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031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demostrar hoy?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182112"/>
            <a:ext cx="6419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una impresión personal a una conclusión que otra persona puede revisar.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589520" y="1371600"/>
            <a:ext cx="3639312" cy="3273552"/>
          </a:xfrm>
          <a:prstGeom prst="roundRect">
            <a:avLst>
              <a:gd name="adj" fmla="val 223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175564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0312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perfecto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955280" y="2670048"/>
            <a:ext cx="28712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7955280" y="29809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PERMITE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55280" y="3346704"/>
            <a:ext cx="256032" cy="2560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394192" y="336499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acotada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955280" y="3730752"/>
            <a:ext cx="256032" cy="2560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394192" y="374904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repetible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955280" y="4114800"/>
            <a:ext cx="256032" cy="2560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394192" y="413308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revisable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58368" y="5065776"/>
            <a:ext cx="10863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2688" y="5065776"/>
            <a:ext cx="10314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«FUNCIONA» → A «ESTO ES LO QUE LA EVIDENCIA PERMITE AFIRMAR»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CADENA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conclusión se construye por capas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eslabón aporta una evidencia distinta y limita lo que podemos afirmar.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98448" y="2395728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98448" y="2395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explícita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14016" y="2706624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66160" y="2395728"/>
            <a:ext cx="658368" cy="65836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66160" y="2395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80944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980944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681728" y="2706624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395728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33872" y="2395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248656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248656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+ Pyrefly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949440" y="2706624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01584" y="2395728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01584" y="2395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516368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516368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pruebas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217152" y="2706624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369296" y="2395728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69296" y="2395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784080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784080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proporcional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58368" y="4828032"/>
            <a:ext cx="10863072" cy="859536"/>
          </a:xfrm>
          <a:prstGeom prst="roundRect">
            <a:avLst>
              <a:gd name="adj" fmla="val 531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50976" y="482803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Juntas permiten una afirmación repetible; ninguna autoriza a prometer que no existen otros defectos.</a:t>
            </a:r>
            <a:endParaRPr lang="en-US" sz="15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EJECUTAR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última batería reúne las cuatro barreras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curso ejecuta el mismo estado restaurado y conserva la evidencia final.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7479792" cy="3675888"/>
          </a:xfrm>
          <a:prstGeom prst="roundRect">
            <a:avLst>
              <a:gd name="adj" fmla="val 99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72237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6967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ejecución final compartida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 is up to date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7824" y="3328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77824" y="3584448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7824" y="3840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88720" y="3840480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77824" y="4096512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77824" y="43525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88720" y="435254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77824" y="460857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   [100%]   4 passed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412480" y="2249424"/>
            <a:ext cx="3127248" cy="3675888"/>
          </a:xfrm>
          <a:prstGeom prst="roundRect">
            <a:avLst>
              <a:gd name="adj" fmla="val 23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41664" y="25786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DECIR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723376" y="29260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«todo verde»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8741664" y="3584448"/>
            <a:ext cx="2450592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8705088" y="3877056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0508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80" dirty="0"/>
          </a:p>
        </p:txBody>
      </p:sp>
      <p:sp>
        <p:nvSpPr>
          <p:cNvPr id="32" name="Text 29"/>
          <p:cNvSpPr txBox="1"/>
          <p:nvPr/>
        </p:nvSpPr>
        <p:spPr>
          <a:xfrm>
            <a:off x="9308592" y="39502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observó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8705088" y="4443984"/>
            <a:ext cx="384048" cy="38404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05088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80" dirty="0"/>
          </a:p>
        </p:txBody>
      </p:sp>
      <p:sp>
        <p:nvSpPr>
          <p:cNvPr id="35" name="Text 32"/>
          <p:cNvSpPr txBox="1"/>
          <p:nvPr/>
        </p:nvSpPr>
        <p:spPr>
          <a:xfrm>
            <a:off x="9308592" y="451713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podría detectar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705088" y="5010912"/>
            <a:ext cx="384048" cy="38404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05088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80" dirty="0"/>
          </a:p>
        </p:txBody>
      </p:sp>
      <p:sp>
        <p:nvSpPr>
          <p:cNvPr id="38" name="Text 35"/>
          <p:cNvSpPr txBox="1"/>
          <p:nvPr/>
        </p:nvSpPr>
        <p:spPr>
          <a:xfrm>
            <a:off x="9308592" y="508406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todavía no descarta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PROPORCIONAL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618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verdes no equivalen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202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software perfecto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58368" y="2962656"/>
            <a:ext cx="5120640" cy="2249424"/>
          </a:xfrm>
          <a:prstGeom prst="roundRect">
            <a:avLst>
              <a:gd name="adj" fmla="val 32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331012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PODEMOS AFIRMAR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749040"/>
            <a:ext cx="4443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está alineado y la implementación satisface cuatro ejemplos ejecutados.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53328" y="2962656"/>
            <a:ext cx="5175504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9088" y="331012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MEDIMOS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19088" y="3730752"/>
            <a:ext cx="199339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9088" y="3730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50224" y="3730752"/>
            <a:ext cx="199339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50224" y="3730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19088" y="4389120"/>
            <a:ext cx="199339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9088" y="4389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facilidad de uso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50224" y="4389120"/>
            <a:ext cx="1993392" cy="457200"/>
          </a:xfrm>
          <a:prstGeom prst="roundRect">
            <a:avLst>
              <a:gd name="adj" fmla="val 8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50224" y="4389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escenarios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5596128"/>
            <a:ext cx="1086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honestidad técnica también consiste en nombrar lo que la evidencia no cubre.</a:t>
            </a:r>
            <a:endParaRPr lang="en-US" sz="15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EVIDENCIA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artefactos deben quedar en el proyecto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mínima permite reconstruir, revisar y volver a ejecutar lo aprendido.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334670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12848"/>
            <a:ext cx="3346704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505456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2505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+ uv.lock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reconstruible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315968" y="2212848"/>
            <a:ext cx="334670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15968" y="2212848"/>
            <a:ext cx="3346704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2505456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53712" y="2505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248656" y="2468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de Pyrefly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analizable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973568" y="2212848"/>
            <a:ext cx="334670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73568" y="2212848"/>
            <a:ext cx="3346704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11312" y="250545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11312" y="2505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906256" y="2468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ROUND_HALF_UP explícito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975104" y="4133088"/>
            <a:ext cx="39867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75104" y="4133088"/>
            <a:ext cx="3986784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12848" y="4425696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212848" y="4425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2907792" y="438912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test_notas.py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2231136" y="5065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pruebas descriptivas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400800" y="4133088"/>
            <a:ext cx="39867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00800" y="4133088"/>
            <a:ext cx="3986784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38544" y="4425696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38544" y="4425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333488" y="438912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final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56832" y="5065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cuatro barreras en verde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DE SALIDA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Completa cuatro frases en una línea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49047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última respuesta debe limitar la conclusión y evitar promesas que la evidencia no sostiene.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176272"/>
            <a:ext cx="8174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aporta evidencia de que…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743200"/>
            <a:ext cx="97475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58368" y="305409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054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481328" y="3090672"/>
            <a:ext cx="8174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y Pyrefly no son equivalentes porque…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481328" y="3657600"/>
            <a:ext cx="97475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658368" y="3968496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481328" y="4005072"/>
            <a:ext cx="8174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roja fue útil cuando…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481328" y="4572000"/>
            <a:ext cx="97475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658368" y="4882896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882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481328" y="4919472"/>
            <a:ext cx="8174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puedo afirmar que el programa…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481328" y="5486400"/>
            <a:ext cx="9747504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8741664" y="2304288"/>
            <a:ext cx="2468880" cy="2487168"/>
          </a:xfrm>
          <a:prstGeom prst="roundRect">
            <a:avLst>
              <a:gd name="adj" fmla="val 25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52560" y="26517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ÚLTIMA FRASE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034272" y="31089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modestia.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015984" y="3639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precisión sobre el alcance real de la evidencia.</a:t>
            </a:r>
            <a:endParaRPr lang="en-US" sz="14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0" y="313312"/>
            <a:ext cx="1298448" cy="452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20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86384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comandos verdes a dimensiones de calidad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373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 ampliará la pregunta: ¿qué debe exhibir un producto para considerarlo de calidad?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4114800" cy="3236976"/>
          </a:xfrm>
          <a:prstGeom prst="roundRect">
            <a:avLst>
              <a:gd name="adj" fmla="val 22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6517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87552" y="3072384"/>
            <a:ext cx="3273552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7552" y="307238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87552" y="3712464"/>
            <a:ext cx="3273552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7552" y="371246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+ pyrefly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87552" y="4352544"/>
            <a:ext cx="3273552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7552" y="435254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· 4 casos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65776" y="3785616"/>
            <a:ext cx="96926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2322576"/>
            <a:ext cx="5285232" cy="3236976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0256" y="265176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MIRADA · ISO/IEC 25010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20256" y="3127248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0" y="327355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6729984" y="35295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¿hace lo correcto?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924544" y="3127248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70848" y="327355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35295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¿protege lo importante?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20256" y="4078224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66560" y="4224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</a:t>
            </a:r>
            <a:endParaRPr lang="en-US" sz="920" dirty="0"/>
          </a:p>
        </p:txBody>
      </p:sp>
      <p:sp>
        <p:nvSpPr>
          <p:cNvPr id="30" name="Text 27"/>
          <p:cNvSpPr txBox="1"/>
          <p:nvPr/>
        </p:nvSpPr>
        <p:spPr>
          <a:xfrm>
            <a:off x="6729984" y="4480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adecuadamente?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924544" y="4078224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70848" y="4224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USABILIDAD</a:t>
            </a:r>
            <a:endParaRPr lang="en-US" sz="920" dirty="0"/>
          </a:p>
        </p:txBody>
      </p:sp>
      <p:sp>
        <p:nvSpPr>
          <p:cNvPr id="33" name="Text 30"/>
          <p:cNvSpPr txBox="1"/>
          <p:nvPr/>
        </p:nvSpPr>
        <p:spPr>
          <a:xfrm>
            <a:off x="9034272" y="4480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usar bien?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13516"/>
            <a:ext cx="1298448" cy="4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190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CLASE 02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no consiste</a:t>
            </a:r>
            <a:endParaRPr lang="en-US" sz="3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7510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confiar más</a:t>
            </a:r>
            <a:endParaRPr lang="en-US" sz="3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44368"/>
            <a:ext cx="73517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 en formular una expectativa, producir evidencia y limitar cada conclusión a lo que esa evidencia realmente demuestra.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247888" y="1499616"/>
            <a:ext cx="603504" cy="6035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7888" y="14996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49056" y="2231136"/>
            <a:ext cx="21945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47888" y="2523744"/>
            <a:ext cx="603504" cy="60350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47888" y="25237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449056" y="3255264"/>
            <a:ext cx="21945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47888" y="3547872"/>
            <a:ext cx="603504" cy="60350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7888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3712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8368" y="5010912"/>
            <a:ext cx="108630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0976" y="5010912"/>
            <a:ext cx="10259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  →  ISO/IEC 25010: ampliar qué entendemos por calidad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primera evidencia: entorno reproducible y primer test</dc:title>
  <dc:subject>PRO402 · Clase 02</dc:subject>
  <dc:creator>Diego Obando</dc:creator>
  <cp:lastModifiedBy>Diego Obando</cp:lastModifiedBy>
  <cp:revision>1</cp:revision>
  <dcterms:created xsi:type="dcterms:W3CDTF">2026-08-09T23:15:11Z</dcterms:created>
  <dcterms:modified xsi:type="dcterms:W3CDTF">2026-08-09T23:15:11Z</dcterms:modified>
</cp:coreProperties>
</file>