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1999" y="492000"/>
            <a:ext cx="1481328" cy="515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060704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0972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 ·  UNIDAD 01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700784"/>
            <a:ext cx="6126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sabes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03504" y="2651760"/>
            <a:ext cx="6126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funciona?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58368" y="380390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Calidad, testing y el oficio de demostrar</a:t>
            </a:r>
            <a:endParaRPr lang="en-US" sz="15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código sirve.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58368" y="4846320"/>
            <a:ext cx="1280160" cy="27432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5084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de Testing y Calidad de Software  ·  PRO402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" y="5376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 10 de agosto de 2026  ·  08:30 a 10:50  ·  Diego Obando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94576" y="1499616"/>
            <a:ext cx="4700016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67728" y="1572768"/>
            <a:ext cx="4553712" cy="2395728"/>
          </a:xfrm>
          <a:prstGeom prst="roundRect">
            <a:avLst>
              <a:gd name="adj" fmla="val 152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95744" y="1682496"/>
            <a:ext cx="429768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05472" y="175564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7184" y="2139696"/>
            <a:ext cx="4133088" cy="16459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967728" y="4279392"/>
            <a:ext cx="292608" cy="27432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67728" y="444398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función reprueba a un estudiante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debía aprobar. Hoy vamos a ver por qué.</a:t>
            </a:r>
            <a:endParaRPr lang="en-US" sz="1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DE LAS PRÓXIMAS OCHO SEMANAS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5176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Terminaste de programar algo.</a:t>
            </a:r>
            <a:endParaRPr lang="en-US" sz="4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sabes que funciona?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58368" y="4754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«¿está listo?», ni «¿compila?», ni «¿se ve bien?». Cómo lo SABES: qué evidencia tienes.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ENCUADRE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terminar hoy vas a poder…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2860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243584" y="2432304"/>
            <a:ext cx="777240" cy="20117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71416" y="23042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«Me funcionó» y «está probado» no significan lo mismo.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2761488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299923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43584" y="3145536"/>
            <a:ext cx="777240" cy="20117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40280" y="2999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71416" y="30175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programa puede estar equivocado y no fallar nunca.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" y="3474720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712464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243584" y="3858768"/>
            <a:ext cx="777240" cy="20117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40280" y="37124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471416" y="37307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Dejar de opinar y comparar contra un estándar internacional.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8368" y="4187952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442569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243584" y="4572000"/>
            <a:ext cx="777240" cy="20117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40280" y="44256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DIMENSIONAR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471416" y="44439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casos reales: dinero, sistemas y vidas perdidas.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58368" y="4901184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513892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243584" y="5285232"/>
            <a:ext cx="777240" cy="20117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240280" y="5138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SITUARTE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471416" y="51572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vas a construir en ocho semanas y cómo se evalúa.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01 · RECORRIDO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camino de hoy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paradas, de una función rota al mapa de las ocho semanas.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328416"/>
            <a:ext cx="10607040" cy="20117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" y="3264408"/>
            <a:ext cx="201168" cy="201168"/>
          </a:xfrm>
          <a:prstGeom prst="ellipse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450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08:45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58368" y="36758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</a:t>
            </a:r>
            <a:endParaRPr lang="en-US" sz="1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funcione?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368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min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3310128" y="3264408"/>
            <a:ext cx="201168" cy="201168"/>
          </a:xfrm>
          <a:prstGeom prst="ellipse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450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09:10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383280" y="36758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medible</a:t>
            </a:r>
            <a:endParaRPr lang="en-US" sz="1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su costo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383280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035040" y="3264408"/>
            <a:ext cx="201168" cy="201168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8192" y="2450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09:50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108192" y="36758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mapa</a:t>
            </a:r>
            <a:endParaRPr lang="en-US" sz="1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módulo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108192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8759952" y="3264408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33104" y="2450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10:20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833104" y="367588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dónde</a:t>
            </a:r>
            <a:endParaRPr lang="en-US" sz="1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partimos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833104" y="4425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min</a:t>
            </a:r>
            <a:endParaRPr lang="en-US" sz="1140" dirty="0"/>
          </a:p>
        </p:txBody>
      </p:sp>
      <p:sp>
        <p:nvSpPr>
          <p:cNvPr id="29" name="Shape 26"/>
          <p:cNvSpPr/>
          <p:nvPr/>
        </p:nvSpPr>
        <p:spPr>
          <a:xfrm>
            <a:off x="658368" y="5175504"/>
            <a:ext cx="54864" cy="7863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2688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 09:40  ·  Cierre 10:40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32688" y="55412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no instalamos nada: eso es el martes. Hoy construimos el criterio.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536192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E23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0" dirty="0"/>
          </a:p>
        </p:txBody>
      </p:sp>
      <p:sp>
        <p:nvSpPr>
          <p:cNvPr id="7" name="Shape 4"/>
          <p:cNvSpPr/>
          <p:nvPr/>
        </p:nvSpPr>
        <p:spPr>
          <a:xfrm>
            <a:off x="658368" y="4041648"/>
            <a:ext cx="1828800" cy="54864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 ·  25 MINUTOS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35424" y="1682496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un programa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funcione?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35424" y="44439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Parecer correcto y ser correcto no son lo mismo.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ESTÁNDAR DE CALIDAD MÁS USADO DE LA INDUSTRIA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517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«Sí, lo probé</a:t>
            </a:r>
            <a:endParaRPr lang="en-US" sz="4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anduvo.»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58368" y="488289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es que sea mentira. El problema es qué describe: una experiencia, no una propiedad del programa.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DISTINCIÓN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experiencia no se puede auditar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propiedad sí: se comprueba, se repite y se hereda.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16752" y="2377440"/>
            <a:ext cx="12802" cy="320040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50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«A mí me funcionó»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658368" y="3529584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34381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Ocurrió una vez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" y="3986784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3895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 quién lo probó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" y="4443984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4352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queda registro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58368" y="4901184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48097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Caduca al primer cambio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10528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510528" y="2743200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«Funciona, y puedo</a:t>
            </a:r>
            <a:endParaRPr lang="en-US" sz="2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demostrarlo»</a:t>
            </a:r>
            <a:endParaRPr lang="en-US" sz="2300" dirty="0"/>
          </a:p>
        </p:txBody>
      </p:sp>
      <p:sp>
        <p:nvSpPr>
          <p:cNvPr id="25" name="Shape 22"/>
          <p:cNvSpPr/>
          <p:nvPr/>
        </p:nvSpPr>
        <p:spPr>
          <a:xfrm>
            <a:off x="6510528" y="3950208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21424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 cuantas veces haga falta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510528" y="4389120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21424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igual quién la corra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510528" y="4828032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21424" y="4736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escrita como código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510528" y="5266944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5175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Avisa cuando algo se rompe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58368" y="58521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el módulo cabe en pasar de la izquierda a la derecha.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CASO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función que todos habríamos aprobado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" y="1938528"/>
            <a:ext cx="6547104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011680"/>
            <a:ext cx="6400800" cy="2286000"/>
          </a:xfrm>
          <a:prstGeom prst="roundRect">
            <a:avLst>
              <a:gd name="adj" fmla="val 16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" y="2121408"/>
            <a:ext cx="61447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194560"/>
            <a:ext cx="592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578608"/>
            <a:ext cx="5980176" cy="15361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498080" y="2103120"/>
            <a:ext cx="45720" cy="47548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35824" y="2066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declarados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735824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decimales, devuelve un decimal.</a:t>
            </a:r>
            <a:endParaRPr lang="en-US" sz="1180" dirty="0"/>
          </a:p>
        </p:txBody>
      </p:sp>
      <p:sp>
        <p:nvSpPr>
          <p:cNvPr id="19" name="Shape 15"/>
          <p:cNvSpPr/>
          <p:nvPr/>
        </p:nvSpPr>
        <p:spPr>
          <a:xfrm>
            <a:off x="7498080" y="2871216"/>
            <a:ext cx="45720" cy="47548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35824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Documentada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735824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 qué hace en una línea.</a:t>
            </a:r>
            <a:endParaRPr lang="en-US" sz="1180" dirty="0"/>
          </a:p>
        </p:txBody>
      </p:sp>
      <p:sp>
        <p:nvSpPr>
          <p:cNvPr id="22" name="Shape 18"/>
          <p:cNvSpPr/>
          <p:nvPr/>
        </p:nvSpPr>
        <p:spPr>
          <a:xfrm>
            <a:off x="7498080" y="3639312"/>
            <a:ext cx="45720" cy="47548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35824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una sola cosa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735824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ramas, sin efectos colaterales.</a:t>
            </a:r>
            <a:endParaRPr lang="en-US" sz="1180" dirty="0"/>
          </a:p>
        </p:txBody>
      </p:sp>
      <p:sp>
        <p:nvSpPr>
          <p:cNvPr id="25" name="Shape 21"/>
          <p:cNvSpPr/>
          <p:nvPr/>
        </p:nvSpPr>
        <p:spPr>
          <a:xfrm>
            <a:off x="658368" y="4700016"/>
            <a:ext cx="54864" cy="84124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32688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además funciona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932688" y="51023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nota_final([6.0, 5.5, 6.5])   →   6.0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766560" y="5120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 la revisión visual de cualquier programador.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CASO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estudiantes con el mismo 3.95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escala chilena se aprueba con 4.0: ambos deberían aprobar.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2450592"/>
            <a:ext cx="12191695" cy="265176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41248" y="30540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7D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round(3.95, 1)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41248" y="3511296"/>
            <a:ext cx="777240" cy="274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3675888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4.0</a:t>
            </a:r>
            <a:endParaRPr lang="en-US" sz="6800" dirty="0"/>
          </a:p>
        </p:txBody>
      </p:sp>
      <p:sp>
        <p:nvSpPr>
          <p:cNvPr id="17" name="Text 14"/>
          <p:cNvSpPr/>
          <p:nvPr/>
        </p:nvSpPr>
        <p:spPr>
          <a:xfrm>
            <a:off x="2660904" y="40782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aprueba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858000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CALCULADO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58000" y="30540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7D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nota_final([3.8, 4.1, 3.95])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858000" y="3511296"/>
            <a:ext cx="777240" cy="27432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3675888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</a:t>
            </a:r>
            <a:endParaRPr lang="en-US" sz="6800" dirty="0"/>
          </a:p>
        </p:txBody>
      </p:sp>
      <p:sp>
        <p:nvSpPr>
          <p:cNvPr id="22" name="Text 19"/>
          <p:cNvSpPr/>
          <p:nvPr/>
        </p:nvSpPr>
        <p:spPr>
          <a:xfrm>
            <a:off x="8677656" y="40782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23B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reprueba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547208" y="3200400"/>
            <a:ext cx="1097280" cy="1097280"/>
          </a:xfrm>
          <a:prstGeom prst="ellipse">
            <a:avLst/>
          </a:prstGeom>
          <a:solidFill>
            <a:srgbClr val="0B2038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47208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547208" y="38039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8368" y="54315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diferencia no está en las notas: está en si el 3.95 fue escrito o calculado.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POR QUÉ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Ninguno de los dos es realmente 3.95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decimales no se guardan exactos: se guardan aproximados en binario.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395728"/>
            <a:ext cx="45720" cy="104241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432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3.95 escrito directamente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ARRIBA de 3.95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4443984" y="25786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3.95000000000000017763…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0" y="241401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4.0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658368" y="3675888"/>
            <a:ext cx="45720" cy="1042416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3712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de 3.8, 4.1 y 3.95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32688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ABAJO de 3.95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4443984" y="3858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62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3.94999999999999970000…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58400" y="369417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</a:t>
            </a:r>
            <a:endParaRPr lang="en-US" sz="3400" dirty="0"/>
          </a:p>
        </p:txBody>
      </p:sp>
      <p:sp>
        <p:nvSpPr>
          <p:cNvPr id="22" name="Shape 19"/>
          <p:cNvSpPr/>
          <p:nvPr/>
        </p:nvSpPr>
        <p:spPr>
          <a:xfrm>
            <a:off x="658368" y="5138928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53949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una persona los dos son 3.95. Para el computador caen a lados opuestos de la frontera.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SEGUNDA SORPRESA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el redondeo tampoco es el del colegio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" y="1938528"/>
            <a:ext cx="5724144" cy="2578608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011680"/>
            <a:ext cx="5577840" cy="2432304"/>
          </a:xfrm>
          <a:prstGeom prst="roundRect">
            <a:avLst>
              <a:gd name="adj" fmla="val 1504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" y="2121408"/>
            <a:ext cx="532180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194560"/>
            <a:ext cx="5065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7824" y="2578608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round(4.5)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7824" y="2834640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7824" y="3090672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round(5.5)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7824" y="3346704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77824" y="3602736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round(2.5)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77824" y="3858768"/>
            <a:ext cx="4828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03136" y="2066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REDONDEO BANCARIO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03136" y="2377440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mitades exactas van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número PAR más cercano.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6803136" y="3310128"/>
            <a:ext cx="4718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error de Python: es una convención legítima que reduce el sesgo acumulado en estadística y finanzas. Pero no es la que espera alguien calculando notas.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03136" y="4407408"/>
            <a:ext cx="45720" cy="841248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59168" y="4443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suposiciones en una sola línea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59168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los decimales se guardan exactos  ·  que redondear es «subir cuando hay 5»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56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ACABA DE PASAR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3054096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aun así reprueba</a:t>
            </a:r>
            <a:endParaRPr lang="en-US" sz="3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alguien que</a:t>
            </a:r>
            <a:endParaRPr lang="en-US" sz="3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debía aprobar.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" y="261518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errores de sintaxis.   ·   Sin fallos de lógica evidentes.   ·   Bien escrita y documentada.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VOCABULARIO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«Bug» no es una palabra: son tres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la distinción explica exactamente lo que acabamos de ver.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395728"/>
            <a:ext cx="3163824" cy="45720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596896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E50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58368" y="307238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equivocación humana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" y="343814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Asumir que round() redondea como en el colegio y que los decimales se guardan exactos.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13632" y="26151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BE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315968" y="2395728"/>
            <a:ext cx="3163824" cy="45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15968" y="2596896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DEFECTO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315968" y="307238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quedó en el código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315968" y="343814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return round(promedio, 1). Está ahí, escrita, esperando.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71232" y="26151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BE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973568" y="2395728"/>
            <a:ext cx="3163824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73568" y="2596896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973568" y="307238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ve al ejecutar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973568" y="343814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3.9 que aparece en pantalla y reprueba a una persona real.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8368" y="4937760"/>
            <a:ext cx="54864" cy="91440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499262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defecto solo se convierte en falla si el programa recibe la entrada que lo activa.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32688" y="5376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las notas [6.0, 5.5, 6.5] el defecto estaba igual de presente. Nadie lo vio.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CONSECUENCIA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326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no haya fallado no significa que no tenga defectos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615184"/>
            <a:ext cx="45720" cy="786384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651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96112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supone mal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2907792" y="2761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BBE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3273552" y="2615184"/>
            <a:ext cx="45720" cy="7863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1296" y="2651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Defecto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511296" y="3017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en el código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5522976" y="27614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BBE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760720" y="2340864"/>
            <a:ext cx="2377440" cy="1463040"/>
          </a:xfrm>
          <a:prstGeom prst="diamond">
            <a:avLst/>
          </a:prstGeom>
          <a:solidFill>
            <a:srgbClr val="FFFDFC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70448" y="2468880"/>
            <a:ext cx="21579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¿llega la entrada</a:t>
            </a:r>
            <a:endParaRPr lang="en-US" sz="10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lo activa?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84464" y="23957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741664" y="2340864"/>
            <a:ext cx="45720" cy="8229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97696" y="23774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FALLA visible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997696" y="27432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la sufre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8284464" y="34930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741664" y="3438144"/>
            <a:ext cx="45720" cy="82296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97696" y="347472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E50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Queda latente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997696" y="384048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nadie se entera</a:t>
            </a:r>
            <a:endParaRPr lang="en-US" sz="1140" dirty="0"/>
          </a:p>
        </p:txBody>
      </p:sp>
      <p:sp>
        <p:nvSpPr>
          <p:cNvPr id="29" name="Shape 26"/>
          <p:cNvSpPr/>
          <p:nvPr/>
        </p:nvSpPr>
        <p:spPr>
          <a:xfrm>
            <a:off x="658368" y="4937760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5212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 no demuestra que un programa esté correcto.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58368" y="56692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Demuestra que, para las entradas que probaste, no encontraste defectos. Es mucho menos, y es lo mejor que existe.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DIAGNÓSTICO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debilidades de probar a mano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que esté prohibido: es que no alcanza como evidencia.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ALCANZAS A PROBAR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8368" y="2724912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96696" y="2724912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35024" y="2724912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73352" y="2724912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2724912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50008" y="2724912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063240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6696" y="3063240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35024" y="3063240"/>
            <a:ext cx="246888" cy="24688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73352" y="3063240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11680" y="3063240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50008" y="3063240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3401568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96696" y="3401568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35024" y="3401568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73352" y="3401568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11680" y="3401568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350008" y="3401568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" y="3739896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96696" y="3739896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35024" y="3739896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673352" y="3739896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11680" y="3739896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50008" y="3739896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8368" y="4078224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96696" y="4078224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35024" y="4078224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673352" y="4078224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011680" y="4078224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50008" y="4078224"/>
            <a:ext cx="246888" cy="246888"/>
          </a:xfrm>
          <a:prstGeom prst="rect">
            <a:avLst/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8368" y="44988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casilla es una entrada posible.</a:t>
            </a:r>
            <a:endParaRPr lang="en-US" sz="11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a mano toca una, y casi siempre la misma.</a:t>
            </a:r>
            <a:endParaRPr lang="en-US" sz="1180" dirty="0"/>
          </a:p>
        </p:txBody>
      </p:sp>
      <p:sp>
        <p:nvSpPr>
          <p:cNvPr id="44" name="Shape 41"/>
          <p:cNvSpPr/>
          <p:nvPr/>
        </p:nvSpPr>
        <p:spPr>
          <a:xfrm>
            <a:off x="4169664" y="2322576"/>
            <a:ext cx="12802" cy="320040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0" y="239572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5157216" y="2542032"/>
            <a:ext cx="457200" cy="20117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33872" y="2395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SESGADA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7882128" y="2414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prueba un promedio que caiga justo en la frontera.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572000" y="2962656"/>
            <a:ext cx="694944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572000" y="323697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5157216" y="3383280"/>
            <a:ext cx="457200" cy="20117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33872" y="3236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REPETIBLE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7882128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mañana preguntan qué se probó, es un recuerdo.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572000" y="3803904"/>
            <a:ext cx="694944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72000" y="4078224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157216" y="4224528"/>
            <a:ext cx="457200" cy="20117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33872" y="4078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ESCALA</a:t>
            </a:r>
            <a:endParaRPr lang="en-US" sz="1250" dirty="0"/>
          </a:p>
        </p:txBody>
      </p:sp>
      <p:sp>
        <p:nvSpPr>
          <p:cNvPr id="58" name="Text 55"/>
          <p:cNvSpPr/>
          <p:nvPr/>
        </p:nvSpPr>
        <p:spPr>
          <a:xfrm>
            <a:off x="7882128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función se revisa a mano. Doscientas, no.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572000" y="4645152"/>
            <a:ext cx="694944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72000" y="491947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5157216" y="5065776"/>
            <a:ext cx="457200" cy="20117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833872" y="4919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DEGRADA</a:t>
            </a:r>
            <a:endParaRPr lang="en-US" sz="1250" dirty="0"/>
          </a:p>
        </p:txBody>
      </p:sp>
      <p:sp>
        <p:nvSpPr>
          <p:cNvPr id="63" name="Text 60"/>
          <p:cNvSpPr/>
          <p:nvPr/>
        </p:nvSpPr>
        <p:spPr>
          <a:xfrm>
            <a:off x="7882128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toca una línea y nadie repite todo desde cero.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4572000" y="57790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que vamos a escribir invierten las cuatro.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2026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326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Nada de esto es nuevo. Lo que cambió es la escala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66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HACE BIEN UN AGENTE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8368" y="2505456"/>
            <a:ext cx="118872" cy="11887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414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las convenciones del lenguaje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2889504"/>
            <a:ext cx="118872" cy="11887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798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las funciones estándar correctas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3273552"/>
            <a:ext cx="118872" cy="11887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 tipos y documentación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" y="3657600"/>
            <a:ext cx="118872" cy="11887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en minutos, no en horas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2011680"/>
            <a:ext cx="12802" cy="210312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20665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ESO COMPLICA LA REVISIÓN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0" y="241401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Justamente porque el resultado es plausible. El código que se ve mal se detecta solo; el que se ve impecable pasa.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323697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de esta clase es exactamente lo que produce un agente. Y round() era la elección correcta.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407408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470001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escribir código deja de ser el cuello de botella,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8368" y="5084064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cuello de botella pasa a ser verificarlo.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58368" y="5669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habilidad escasa ya no es producir: es demostrar que lo producido sirve.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 ·  BLOQUE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724912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programa puede estar</a:t>
            </a:r>
            <a:endParaRPr lang="en-US" sz="3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equivocado sin fallar nunca</a:t>
            </a:r>
            <a:endParaRPr lang="en-US" sz="3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delante de quien lo escribió.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658368" y="515721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parezca correcto, que esté bien escrito y que haya funcionado en las pruebas informales no es evidencia de que sea correcto.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PREGUNTAS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39112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1645920" y="2066544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programa nunca ha fallado, ¿podemos concluir que no tiene defectos?</a:t>
            </a:r>
            <a:endParaRPr lang="en-US" sz="1760" dirty="0"/>
          </a:p>
        </p:txBody>
      </p:sp>
      <p:sp>
        <p:nvSpPr>
          <p:cNvPr id="13" name="Shape 10"/>
          <p:cNvSpPr/>
          <p:nvPr/>
        </p:nvSpPr>
        <p:spPr>
          <a:xfrm>
            <a:off x="1645920" y="2724912"/>
            <a:ext cx="347472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21408" y="2633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71216" y="260604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la diferencia entre lo observado y todo lo que podría ocurrir.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3017520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118104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1645920" y="3145536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¿Cuál fue el error humano detrás del defecto de nota_final?</a:t>
            </a:r>
            <a:endParaRPr lang="en-US" sz="1760" dirty="0"/>
          </a:p>
        </p:txBody>
      </p:sp>
      <p:sp>
        <p:nvSpPr>
          <p:cNvPr id="19" name="Shape 16"/>
          <p:cNvSpPr/>
          <p:nvPr/>
        </p:nvSpPr>
        <p:spPr>
          <a:xfrm>
            <a:off x="1645920" y="3803904"/>
            <a:ext cx="347472" cy="228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21408" y="37124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871216" y="368503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una suposición humana, no un error de sintaxis.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58368" y="4096512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197096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1645920" y="4224528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entrada habría descubierto ese defecto antes de usarlo?</a:t>
            </a:r>
            <a:endParaRPr lang="en-US" sz="1760" dirty="0"/>
          </a:p>
        </p:txBody>
      </p:sp>
      <p:sp>
        <p:nvSpPr>
          <p:cNvPr id="25" name="Shape 22"/>
          <p:cNvSpPr/>
          <p:nvPr/>
        </p:nvSpPr>
        <p:spPr>
          <a:xfrm>
            <a:off x="1645920" y="4882896"/>
            <a:ext cx="347472" cy="228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21408" y="47914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71216" y="476402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la frontera de aprobación y cómo se obtuvo el 3.95.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58368" y="5614416"/>
            <a:ext cx="54864" cy="786384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650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 ·  BLOQUE 2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32688" y="5943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«funciona» ya no puede significar «me anduvo», necesitamos una definición de calidad que no dependa de la impresión de cada uno.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536192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0" dirty="0"/>
          </a:p>
        </p:txBody>
      </p:sp>
      <p:sp>
        <p:nvSpPr>
          <p:cNvPr id="7" name="Shape 4"/>
          <p:cNvSpPr/>
          <p:nvPr/>
        </p:nvSpPr>
        <p:spPr>
          <a:xfrm>
            <a:off x="658368" y="4041648"/>
            <a:ext cx="1828800" cy="548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 ·  30 MINUTOS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35424" y="1682496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medible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el costo de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medirla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35424" y="44439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deja de ser una opinión cuando existe un estándar.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APERTURA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aplicaciones que «funcionan»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hacen lo que prometen. Ninguna es de buena calidad.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212848"/>
            <a:ext cx="5138928" cy="1170432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212848"/>
            <a:ext cx="73152" cy="1170432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37744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627632" y="23774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 todo bien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27632" y="281635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4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2231136" y="277977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demora 15 segundos en abrir</a:t>
            </a:r>
            <a:endParaRPr lang="en-US" sz="1230" dirty="0"/>
          </a:p>
        </p:txBody>
      </p:sp>
      <p:sp>
        <p:nvSpPr>
          <p:cNvPr id="18" name="Shape 15"/>
          <p:cNvSpPr/>
          <p:nvPr/>
        </p:nvSpPr>
        <p:spPr>
          <a:xfrm>
            <a:off x="6199632" y="2212848"/>
            <a:ext cx="5138928" cy="1170432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9632" y="2212848"/>
            <a:ext cx="73152" cy="117043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55664" y="237744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7168896" y="23774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rapidísima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68896" y="281635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4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7772400" y="277977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datos de clientes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658368" y="3639312"/>
            <a:ext cx="5138928" cy="1170432"/>
          </a:xfrm>
          <a:prstGeom prst="rect">
            <a:avLst/>
          </a:prstGeom>
          <a:solidFill>
            <a:srgbClr val="F3E8C8"/>
          </a:solidFill>
          <a:ln w="12700">
            <a:solidFill>
              <a:srgbClr val="F3E8C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3639312"/>
            <a:ext cx="73152" cy="117043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380390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1627632" y="380390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rápida y segura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627632" y="424281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4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2231136" y="420624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mayor no puede usarla</a:t>
            </a:r>
            <a:endParaRPr lang="en-US" sz="1230" dirty="0"/>
          </a:p>
        </p:txBody>
      </p:sp>
      <p:sp>
        <p:nvSpPr>
          <p:cNvPr id="30" name="Shape 27"/>
          <p:cNvSpPr/>
          <p:nvPr/>
        </p:nvSpPr>
        <p:spPr>
          <a:xfrm>
            <a:off x="6199632" y="3639312"/>
            <a:ext cx="5138928" cy="1170432"/>
          </a:xfrm>
          <a:prstGeom prst="rect">
            <a:avLst/>
          </a:prstGeom>
          <a:solidFill>
            <a:srgbClr val="E0EFE6"/>
          </a:solidFill>
          <a:ln w="12700">
            <a:solidFill>
              <a:srgbClr val="E0EF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99632" y="3639312"/>
            <a:ext cx="73152" cy="117043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55664" y="380390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500" dirty="0"/>
          </a:p>
        </p:txBody>
      </p:sp>
      <p:sp>
        <p:nvSpPr>
          <p:cNvPr id="33" name="Text 30"/>
          <p:cNvSpPr/>
          <p:nvPr/>
        </p:nvSpPr>
        <p:spPr>
          <a:xfrm>
            <a:off x="7168896" y="380390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rápida, segura y usable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168896" y="424281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4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7772400" y="420624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se atreve a modificarla</a:t>
            </a:r>
            <a:endParaRPr lang="en-US" sz="1230" dirty="0"/>
          </a:p>
        </p:txBody>
      </p:sp>
      <p:sp>
        <p:nvSpPr>
          <p:cNvPr id="36" name="Shape 33"/>
          <p:cNvSpPr/>
          <p:nvPr/>
        </p:nvSpPr>
        <p:spPr>
          <a:xfrm>
            <a:off x="658368" y="5230368"/>
            <a:ext cx="914400" cy="4572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" y="54681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útil no es «¿este software es bueno?»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6583680" y="5413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sino «¿bueno respecto de qué?»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ESTÁNDAR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ISO/IEC 25010: nueve características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no dice si un software es bueno: descompone la calidad en dimensiones medibles.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267712"/>
            <a:ext cx="2148840" cy="3493008"/>
          </a:xfrm>
          <a:prstGeom prst="rect">
            <a:avLst/>
          </a:prstGeom>
          <a:solidFill>
            <a:srgbClr val="10263F"/>
          </a:solidFill>
          <a:ln w="12700">
            <a:solidFill>
              <a:srgbClr val="1026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48716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8200" dirty="0"/>
          </a:p>
        </p:txBody>
      </p:sp>
      <p:sp>
        <p:nvSpPr>
          <p:cNvPr id="14" name="Text 11"/>
          <p:cNvSpPr/>
          <p:nvPr/>
        </p:nvSpPr>
        <p:spPr>
          <a:xfrm>
            <a:off x="932688" y="4078224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 PUNTAJE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261872" y="5102352"/>
            <a:ext cx="932688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22402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794760" y="2377440"/>
            <a:ext cx="310896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33672" y="2249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4233672" y="25237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¿hace lo que debe, correcto y completo?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3246120" y="295351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794760" y="3090672"/>
            <a:ext cx="310896" cy="228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33672" y="29626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 de desempeño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4233672" y="32369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¿responde a tiempo y usa bien los recursos?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3246120" y="366674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794760" y="3803904"/>
            <a:ext cx="310896" cy="228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33672" y="3675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Compatibilidad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4233672" y="3950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¿convive e intercambia con otros sistemas?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3246120" y="437997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794760" y="4517136"/>
            <a:ext cx="310896" cy="2286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33672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280" dirty="0"/>
          </a:p>
        </p:txBody>
      </p:sp>
      <p:sp>
        <p:nvSpPr>
          <p:cNvPr id="31" name="Text 28"/>
          <p:cNvSpPr/>
          <p:nvPr/>
        </p:nvSpPr>
        <p:spPr>
          <a:xfrm>
            <a:off x="4233672" y="46634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¿las personas pueden usarlo sin frustrarse?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3246120" y="509320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794760" y="5230368"/>
            <a:ext cx="310896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33672" y="5102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1280" dirty="0"/>
          </a:p>
        </p:txBody>
      </p:sp>
      <p:sp>
        <p:nvSpPr>
          <p:cNvPr id="35" name="Text 32"/>
          <p:cNvSpPr/>
          <p:nvPr/>
        </p:nvSpPr>
        <p:spPr>
          <a:xfrm>
            <a:off x="4233672" y="53766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mantiene disponible y se recupera?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7562088" y="22402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110728" y="2377440"/>
            <a:ext cx="310896" cy="228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549640" y="2249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280" dirty="0"/>
          </a:p>
        </p:txBody>
      </p:sp>
      <p:sp>
        <p:nvSpPr>
          <p:cNvPr id="39" name="Text 36"/>
          <p:cNvSpPr/>
          <p:nvPr/>
        </p:nvSpPr>
        <p:spPr>
          <a:xfrm>
            <a:off x="8549640" y="25237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¿protege la información y controla accesos?</a:t>
            </a:r>
            <a:endParaRPr lang="en-US" sz="1080" dirty="0"/>
          </a:p>
        </p:txBody>
      </p:sp>
      <p:sp>
        <p:nvSpPr>
          <p:cNvPr id="40" name="Text 37"/>
          <p:cNvSpPr/>
          <p:nvPr/>
        </p:nvSpPr>
        <p:spPr>
          <a:xfrm>
            <a:off x="7562088" y="295351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110728" y="3090672"/>
            <a:ext cx="310896" cy="228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49640" y="29626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1280" dirty="0"/>
          </a:p>
        </p:txBody>
      </p:sp>
      <p:sp>
        <p:nvSpPr>
          <p:cNvPr id="43" name="Text 40"/>
          <p:cNvSpPr/>
          <p:nvPr/>
        </p:nvSpPr>
        <p:spPr>
          <a:xfrm>
            <a:off x="8549640" y="32369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puede modificar sin romperlo?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7562088" y="366674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8110728" y="3803904"/>
            <a:ext cx="310896" cy="2286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49640" y="3675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Flexibilidad</a:t>
            </a:r>
            <a:endParaRPr lang="en-US" sz="1280" dirty="0"/>
          </a:p>
        </p:txBody>
      </p:sp>
      <p:sp>
        <p:nvSpPr>
          <p:cNvPr id="47" name="Text 44"/>
          <p:cNvSpPr/>
          <p:nvPr/>
        </p:nvSpPr>
        <p:spPr>
          <a:xfrm>
            <a:off x="8549640" y="39502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adapta a nuevos entornos y necesidades?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7562088" y="437997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110728" y="4517136"/>
            <a:ext cx="310896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4964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Inocuidad</a:t>
            </a:r>
            <a:endParaRPr lang="en-US" sz="1280" dirty="0"/>
          </a:p>
        </p:txBody>
      </p:sp>
      <p:sp>
        <p:nvSpPr>
          <p:cNvPr id="51" name="Text 48"/>
          <p:cNvSpPr/>
          <p:nvPr/>
        </p:nvSpPr>
        <p:spPr>
          <a:xfrm>
            <a:off x="8549640" y="46634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¿evita provocar daño a personas o al entorno?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ADVERTENCIA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estándares también tienen versiones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Buscando por su cuenta van a encontrar listas de ocho. No están mal: están desactualizadas.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16752" y="2432304"/>
            <a:ext cx="12802" cy="265176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468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EDICIÓN ANTERIOR  ·  OCHO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58368" y="2944368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852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Usabilidad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8368" y="3401568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Portabilidad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3858768"/>
            <a:ext cx="118872" cy="118872"/>
          </a:xfrm>
          <a:prstGeom prst="rect">
            <a:avLst/>
          </a:prstGeom>
          <a:solidFill>
            <a:srgbClr val="3E5063"/>
          </a:solidFill>
          <a:ln w="12700">
            <a:solidFill>
              <a:srgbClr val="3E50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3767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sin inocuidad —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" y="4370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que más circula en apuntes y blogs.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6510528" y="2468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EDICIÓN VIGENTE  ·  NUEVE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10528" y="2944368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21424" y="2852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10528" y="3401568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21424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Flexibilidad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10528" y="3858768"/>
            <a:ext cx="118872" cy="11887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21424" y="3767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Inocuidad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10528" y="4315968"/>
            <a:ext cx="118872" cy="11887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21424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(las otras seis se mantienen)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8368" y="5285232"/>
            <a:ext cx="54864" cy="8229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534009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Citar «la ISO 25010» sin decir qué edición es una imprecisión.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32688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distinguirlo es parte de trabajar con estándares, y es la clase de detalle que se nota en una auditoría.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MODELO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no es un número: es un perfil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producto es alto en unas características y bajo en otras. Elegir cuáles es trabajo profesional.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9184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VIDEOJUEGO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63840" y="2377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MARCAPASOS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Desempeño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91840" y="2889504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2889504"/>
            <a:ext cx="2866644" cy="1828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0" y="2889504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2889504"/>
            <a:ext cx="1056132" cy="18288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91840" y="3547872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3547872"/>
            <a:ext cx="1508760" cy="1828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63840" y="3547872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63840" y="3547872"/>
            <a:ext cx="3017520" cy="18288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4169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Inocuidad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91840" y="4206240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1840" y="4206240"/>
            <a:ext cx="301752" cy="1828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63840" y="4206240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4206240"/>
            <a:ext cx="3017520" cy="18288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828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91840" y="4864608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91840" y="4864608"/>
            <a:ext cx="2715768" cy="1828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4864608"/>
            <a:ext cx="3017520" cy="182880"/>
          </a:xfrm>
          <a:prstGeom prst="rect">
            <a:avLst/>
          </a:prstGeom>
          <a:solidFill>
            <a:srgbClr val="FFFDFC"/>
          </a:solidFill>
          <a:ln w="12700">
            <a:solidFill>
              <a:srgbClr val="FFFDF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63840" y="4864608"/>
            <a:ext cx="452628" cy="18288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" y="5632704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58521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seguridad suele costar desempeño. Subir flexibilidad suele costar simplicidad.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E23B42">
              <a:alpha val="16000"/>
            </a:srgbClr>
          </a:solidFill>
          <a:ln w="12700">
            <a:solidFill>
              <a:srgbClr val="E23B42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CASOS DOCUMENTADOS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88336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nadie mide,</a:t>
            </a:r>
            <a:endParaRPr lang="en-US" sz="3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defecto se descubre</a:t>
            </a:r>
            <a:endParaRPr lang="en-US" sz="3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peor momento.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58368" y="5120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Ninguno de los tres es una anécdota: están investigados, y cada uno enseña algo distinto.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CASO 01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Therac-25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 de radioterapia · 1985 a 1987 · al menos seis accidentes graves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" y="2304288"/>
            <a:ext cx="4773168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C:\Users\Diego Obando\dev\pro402-taller-de-testing-2026\clases\semana-01\01\ppt\source\assets\caso-therac-interfaz.png">    </p:cNvPr>
          <p:cNvPicPr>
            <a:picLocks noChangeAspect="1"/>
          </p:cNvPicPr>
          <p:nvPr/>
        </p:nvPicPr>
        <p:blipFill>
          <a:blip r:embed="rId2"/>
          <a:srcRect l="0" r="0" t="38" b="38"/>
          <a:stretch/>
        </p:blipFill>
        <p:spPr>
          <a:xfrm>
            <a:off x="658368" y="2377440"/>
            <a:ext cx="4626864" cy="2779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" y="53035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de operador del Therac-25 · Wikimedia Commons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60720" y="2377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operador corregía muy rápido un dato en esta pantalla, una condición de carrera hacía que el equipo aplicara una dosis cientos de veces superior a la indicada.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3438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DEFECTO, DOS MÁQUINAS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760720" y="3785616"/>
            <a:ext cx="2706624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395020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anteriores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60720" y="426110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 mecánica</a:t>
            </a:r>
            <a:endParaRPr lang="en-US" sz="1140" dirty="0"/>
          </a:p>
        </p:txBody>
      </p:sp>
      <p:sp>
        <p:nvSpPr>
          <p:cNvPr id="20" name="Text 16"/>
          <p:cNvSpPr/>
          <p:nvPr/>
        </p:nvSpPr>
        <p:spPr>
          <a:xfrm>
            <a:off x="5760720" y="4572000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defecto existe, pero no puede manifestarse</a:t>
            </a:r>
            <a:endParaRPr lang="en-US" sz="1140" dirty="0"/>
          </a:p>
        </p:txBody>
      </p:sp>
      <p:sp>
        <p:nvSpPr>
          <p:cNvPr id="21" name="Shape 17"/>
          <p:cNvSpPr/>
          <p:nvPr/>
        </p:nvSpPr>
        <p:spPr>
          <a:xfrm>
            <a:off x="8741664" y="3785616"/>
            <a:ext cx="2706624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41664" y="395020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Therac-25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741664" y="426110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software</a:t>
            </a:r>
            <a:endParaRPr lang="en-US" sz="1140" dirty="0"/>
          </a:p>
        </p:txBody>
      </p:sp>
      <p:sp>
        <p:nvSpPr>
          <p:cNvPr id="24" name="Text 20"/>
          <p:cNvSpPr/>
          <p:nvPr/>
        </p:nvSpPr>
        <p:spPr>
          <a:xfrm>
            <a:off x="8741664" y="4572000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 lo detiene: el defecto se vuelve falla mortal</a:t>
            </a:r>
            <a:endParaRPr lang="en-US" sz="1140" dirty="0"/>
          </a:p>
        </p:txBody>
      </p:sp>
      <p:sp>
        <p:nvSpPr>
          <p:cNvPr id="25" name="Shape 21"/>
          <p:cNvSpPr/>
          <p:nvPr/>
        </p:nvSpPr>
        <p:spPr>
          <a:xfrm>
            <a:off x="5760720" y="5394960"/>
            <a:ext cx="45720" cy="5486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16752" y="5449824"/>
            <a:ext cx="5522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Quitar la protección no creó el defecto: solo lo dejó salir.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CASO 02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Ariane 5, vuelo 501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Cohete destruido 39 segundos después del despegue · 1996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11312" y="2304288"/>
            <a:ext cx="3401568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C:\Users\Diego Obando\dev\pro402-taller-de-testing-2026\clases\semana-01\01\ppt\source\assets\caso-ariane5.jpg">    </p:cNvPr>
          <p:cNvPicPr>
            <a:picLocks noChangeAspect="1"/>
          </p:cNvPicPr>
          <p:nvPr/>
        </p:nvPicPr>
        <p:blipFill>
          <a:blip r:embed="rId2"/>
          <a:srcRect l="2417" r="2417" t="0" b="0"/>
          <a:stretch/>
        </p:blipFill>
        <p:spPr>
          <a:xfrm>
            <a:off x="8284464" y="2377440"/>
            <a:ext cx="3255264" cy="2798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84464" y="532180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Ariane 5, fotografía posterior — no del vuelo 501 · NASA / B. Ingalls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58368" y="2926080"/>
            <a:ext cx="6035040" cy="2560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5216" y="2862072"/>
            <a:ext cx="164592" cy="164592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  ·  despegue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137453" y="2862072"/>
            <a:ext cx="164592" cy="164592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24605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 s  ·  desborde numérico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20256" y="2862072"/>
            <a:ext cx="164592" cy="164592"/>
          </a:xfrm>
          <a:prstGeom prst="ellipse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07408" y="31638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 s  ·  destrucción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8368" y="3767328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conversión de un número decimal de 64 bits a un entero de 16 bits se desbordó, porque el Ariane 5 volaba con una velocidad horizontal mayor que su antecesor.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" y="4700016"/>
            <a:ext cx="45720" cy="1207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32688" y="4736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NOTABLE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32688" y="501091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Ese código era correcto.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932688" y="53949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Funcionaba perfecto en el Ariane 4, de donde se reutilizó sin volver a probarlo en el contexto nuevo. El cálculo que provocó el desborde ni siquiera era necesario después del despegue.</a:t>
            </a:r>
            <a:endParaRPr lang="en-US" sz="11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CASO 03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Knight Capital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minutos, unos 440 millones de dólares · 1 de agosto de 2012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11312" y="2304288"/>
            <a:ext cx="3401568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C:\Users\Diego Obando\dev\pro402-taller-de-testing-2026\clases\semana-01\01\ppt\source\assets\caso-nyse.jpg">    </p:cNvPr>
          <p:cNvPicPr>
            <a:picLocks noChangeAspect="1"/>
          </p:cNvPicPr>
          <p:nvPr/>
        </p:nvPicPr>
        <p:blipFill>
          <a:blip r:embed="rId2"/>
          <a:srcRect l="0" r="0" t="15744" b="15744"/>
          <a:stretch/>
        </p:blipFill>
        <p:spPr>
          <a:xfrm>
            <a:off x="8284464" y="2377440"/>
            <a:ext cx="3255264" cy="2798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84464" y="532180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Piso de la Bolsa de Nueva York, imagen de contexto · C. M. Highsmith / LOC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58368" y="23774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Desplegaron código nuevo en sus servidores. La actualización llegó a siete de ocho.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58368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517904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517904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377440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377440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36976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36976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096512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096512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956048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56048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815584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FFFDF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815584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OK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675120" y="2871216"/>
            <a:ext cx="694944" cy="768096"/>
          </a:xfrm>
          <a:prstGeom prst="roundRect">
            <a:avLst>
              <a:gd name="adj" fmla="val 5263"/>
            </a:avLst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75120" y="31089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58368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siete con el código nuevo</a:t>
            </a:r>
            <a:endParaRPr lang="en-US" sz="1140" dirty="0"/>
          </a:p>
        </p:txBody>
      </p:sp>
      <p:sp>
        <p:nvSpPr>
          <p:cNvPr id="33" name="Text 29"/>
          <p:cNvSpPr/>
          <p:nvPr/>
        </p:nvSpPr>
        <p:spPr>
          <a:xfrm>
            <a:off x="5687568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uno quedó atrás</a:t>
            </a:r>
            <a:endParaRPr lang="en-US" sz="1140" dirty="0"/>
          </a:p>
        </p:txBody>
      </p:sp>
      <p:sp>
        <p:nvSpPr>
          <p:cNvPr id="34" name="Text 30"/>
          <p:cNvSpPr/>
          <p:nvPr/>
        </p:nvSpPr>
        <p:spPr>
          <a:xfrm>
            <a:off x="658368" y="424281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ese servidor quedó activo código antiguo que llevaba años sin usarse, y que un indicador reutilizado volvió a despertar.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58368" y="5029200"/>
            <a:ext cx="45720" cy="91440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32688" y="506577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hubo un cálculo mal hecho: hubo un proceso sin verificación automática.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32688" y="54132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comprobó que el despliegue quedara igual en todas las máquinas. Esa prueba tiene nombre: regresión, semana 7.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CONTRAPUNTO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Apollo 11: el sistema que falló bien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de julio de 1969 · descenso a la Luna · el computador se sobrecargó y el alunizaje continuó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5216" y="2304288"/>
            <a:ext cx="2980944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C:\Users\Diego Obando\dev\pro402-taller-de-testing-2026\clases\semana-01\01\ppt\source\assets\caso-apollo-hamilton.jpg">    </p:cNvPr>
          <p:cNvPicPr>
            <a:picLocks noChangeAspect="1"/>
          </p:cNvPicPr>
          <p:nvPr/>
        </p:nvPicPr>
        <p:blipFill>
          <a:blip r:embed="rId2"/>
          <a:srcRect l="0" r="0" t="10304" b="10304"/>
          <a:stretch/>
        </p:blipFill>
        <p:spPr>
          <a:xfrm>
            <a:off x="658368" y="2377440"/>
            <a:ext cx="2834640" cy="2798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" y="5321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Margaret Hamilton junto a los listados del software de vuelo · NASA / MIT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986784" y="2377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metros de la superficie, el computador de guiado empezó a lanzar alarmas de sobrecarga. Un radar dejado en la posición equivocada le estaba robando ciclos de procesador.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08976" y="2304288"/>
            <a:ext cx="3803904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82128" y="2377440"/>
            <a:ext cx="3657600" cy="1060704"/>
          </a:xfrm>
          <a:prstGeom prst="roundRect">
            <a:avLst>
              <a:gd name="adj" fmla="val 344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2542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ALARM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138160" y="27980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1202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9619488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overflow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986784" y="3675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HIZO EL SOFTWARE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986784" y="4041648"/>
            <a:ext cx="45720" cy="365760"/>
          </a:xfrm>
          <a:prstGeom prst="rect">
            <a:avLst/>
          </a:prstGeom>
          <a:solidFill>
            <a:srgbClr val="9DB2C9"/>
          </a:solidFill>
          <a:ln w="12700">
            <a:solidFill>
              <a:srgbClr val="9DB2C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42816" y="39867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de baja prioridad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13232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descartadas</a:t>
            </a:r>
            <a:endParaRPr lang="en-US" sz="1140" dirty="0"/>
          </a:p>
        </p:txBody>
      </p:sp>
      <p:sp>
        <p:nvSpPr>
          <p:cNvPr id="25" name="Shape 21"/>
          <p:cNvSpPr/>
          <p:nvPr/>
        </p:nvSpPr>
        <p:spPr>
          <a:xfrm>
            <a:off x="3986784" y="4608576"/>
            <a:ext cx="45720" cy="365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42816" y="45537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Reinicio del ejecutivo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13232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milisegundos</a:t>
            </a:r>
            <a:endParaRPr lang="en-US" sz="1140" dirty="0"/>
          </a:p>
        </p:txBody>
      </p:sp>
      <p:sp>
        <p:nvSpPr>
          <p:cNvPr id="28" name="Shape 24"/>
          <p:cNvSpPr/>
          <p:nvPr/>
        </p:nvSpPr>
        <p:spPr>
          <a:xfrm>
            <a:off x="3986784" y="5175504"/>
            <a:ext cx="45720" cy="36576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242816" y="5120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Guiado y navegación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13232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se detuvo</a:t>
            </a:r>
            <a:endParaRPr lang="en-US" sz="1140" dirty="0"/>
          </a:p>
        </p:txBody>
      </p:sp>
      <p:sp>
        <p:nvSpPr>
          <p:cNvPr id="31" name="Shape 27"/>
          <p:cNvSpPr/>
          <p:nvPr/>
        </p:nvSpPr>
        <p:spPr>
          <a:xfrm>
            <a:off x="3986784" y="5705856"/>
            <a:ext cx="45720" cy="566928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242816" y="5742432"/>
            <a:ext cx="7296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fue suerte: habían simulado esa sobrecarga y sabían que era sobrevivible.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SÍNTESIS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casos, cuatro lecciones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2377440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THERAC-25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defecto latente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329184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Estaba ahí antes; lo tapaba una traba mecánica. Quitar la protección lo dejó salir.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3401568" y="2377440"/>
            <a:ext cx="2377440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0156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ARIANE 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01568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contexto cambió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01568" y="329184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correcto en un cohete, catastrófico en otro. Reutilizar exige volver a verificar.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6144768" y="2377440"/>
            <a:ext cx="2377440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KNIGHT CAPITAL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44768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proceso sin red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44768" y="329184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 verificaba el despliegue ni detectaba el regreso de comportamiento viejo.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8887968" y="2377440"/>
            <a:ext cx="2377440" cy="4572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87968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APOLLO 11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87968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falla prevista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887968" y="329184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Sobrecarga anticipada, priorizada y ensayada. El sistema falló, y la misión siguió.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658368" y="4718304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49743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tres primeros comparten algo: el defecto se descubrió en el peor momento posible.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58368" y="54315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cuarto también tuvo un defecto. La diferencia es que alguien ya había pensado qué pasaría si ocurría.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COSTO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326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defecto cuesta distinto según cuándo aparece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4535424"/>
            <a:ext cx="420624" cy="8229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45354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se escribe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225296" y="502920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línea. Minutos.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3273552" y="3803904"/>
            <a:ext cx="420624" cy="155448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380390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las pruebas automatizadas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840480" y="429768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Volver sobre algo de hoy, con el contexto fresco.</a:t>
            </a:r>
            <a:endParaRPr lang="en-US" sz="1140" dirty="0"/>
          </a:p>
        </p:txBody>
      </p:sp>
      <p:sp>
        <p:nvSpPr>
          <p:cNvPr id="17" name="Shape 14"/>
          <p:cNvSpPr/>
          <p:nvPr/>
        </p:nvSpPr>
        <p:spPr>
          <a:xfrm>
            <a:off x="5888736" y="2980944"/>
            <a:ext cx="420624" cy="2377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55664" y="298094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revisión o integración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55664" y="347472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Coordinar con otras personas, rehacer partes aceptadas.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8503920" y="2066544"/>
            <a:ext cx="420624" cy="329184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70848" y="206654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publicar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070848" y="2560320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en caliente, redesplegar, reparar datos, responder a usuarios.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658368" y="5358384"/>
            <a:ext cx="10881360" cy="18288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58704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 más grande ocurre al cruzar hacia producción, donde aparecen costos que ya no son técnicos.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RIGOR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Cuidado con los multiplicadores exactos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 a leer que corregir en producción cuesta «cien veces más». Conviene mirar de dónde sale ese número.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615184"/>
            <a:ext cx="45720" cy="137160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SE SOSTIENE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32688" y="29443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cifras concretas provienen de estudios antiguos y su metodología ha sido cuestionada. Repetirlas como dato duro es citar mal.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2615184"/>
            <a:ext cx="45720" cy="137160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SÍ SE SOSTIENE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75120" y="29443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dirección: mientras más tarde se detecta un defecto, más caro sale. Eso basta para decidir cuándo probar.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" y="4279392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45354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 módulo de calidad, mirar la evidencia detrás de una cifra vale tanto como la cifra.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8368" y="49926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aceptan un número sin preguntar de dónde viene, están haciendo exactamente lo que este módulo enseña a no hacer.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PRINCIPIO QUE ORDENA TODO EL MÓDULO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517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probamos para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encontrar defectos.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Probamos para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encontrarlos temprano.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ALCANCE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toda la calidad se observa igual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característica exige su propio tipo de evidencia. Por eso el módulo no enseña un solo tipo de prueba.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432304"/>
            <a:ext cx="45720" cy="969264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OBSERVAN CON PRUEBAS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32688" y="2743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 · Fiabilidad · Eficiencia de desempeño · Seguridad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5120640" y="2615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 el sistema y se mide el resultado.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3584448"/>
            <a:ext cx="45720" cy="9692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EVALÚAN LEYENDO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32688" y="38953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 · Flexibilidad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5120640" y="3767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código, métricas y juicio experto. Sin ejecutar nada.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" y="4736592"/>
            <a:ext cx="45720" cy="96926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4736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 OBSERVAR PERSONAS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32688" y="50474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5120640" y="49194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real usando el producto. Ninguna prueba automática lo reemplaza.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" y="5797296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 ·  BLOQUE 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70048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no es una opinión</a:t>
            </a:r>
            <a:endParaRPr lang="en-US" sz="29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 un número único: es un</a:t>
            </a:r>
            <a:endParaRPr lang="en-US" sz="29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 de características</a:t>
            </a:r>
            <a:endParaRPr lang="en-US" sz="29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se negocian entre sí.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658368" y="5230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costo de ignorarlas crece a medida que el defecto avanza hacia producción.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PREGUNTAS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39112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1645920" y="2066544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Therac-25, ¿en qué momento apareció el defecto y en qué momento la falla?</a:t>
            </a:r>
            <a:endParaRPr lang="en-US" sz="1760" dirty="0"/>
          </a:p>
        </p:txBody>
      </p:sp>
      <p:sp>
        <p:nvSpPr>
          <p:cNvPr id="13" name="Shape 10"/>
          <p:cNvSpPr/>
          <p:nvPr/>
        </p:nvSpPr>
        <p:spPr>
          <a:xfrm>
            <a:off x="1645920" y="2724912"/>
            <a:ext cx="347472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21408" y="2633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71216" y="260604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lo que existía en el código de lo que sufrió el paciente.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3017520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118104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1645920" y="3145536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el código del Ariane 5 puede ser correcto y provocar igual una catástrofe?</a:t>
            </a:r>
            <a:endParaRPr lang="en-US" sz="1760" dirty="0"/>
          </a:p>
        </p:txBody>
      </p:sp>
      <p:sp>
        <p:nvSpPr>
          <p:cNvPr id="19" name="Shape 16"/>
          <p:cNvSpPr/>
          <p:nvPr/>
        </p:nvSpPr>
        <p:spPr>
          <a:xfrm>
            <a:off x="1645920" y="3803904"/>
            <a:ext cx="347472" cy="228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21408" y="37124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871216" y="368503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qué condición cambió entre Ariane 4 y Ariane 5.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58368" y="4096512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197096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1645920" y="4224528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parte del «cien veces más caro» es sólida, y cuál conviene no repetir?</a:t>
            </a:r>
            <a:endParaRPr lang="en-US" sz="1760" dirty="0"/>
          </a:p>
        </p:txBody>
      </p:sp>
      <p:sp>
        <p:nvSpPr>
          <p:cNvPr id="25" name="Shape 22"/>
          <p:cNvSpPr/>
          <p:nvPr/>
        </p:nvSpPr>
        <p:spPr>
          <a:xfrm>
            <a:off x="1645920" y="4882896"/>
            <a:ext cx="347472" cy="228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21408" y="47914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71216" y="476402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la tendencia confiable del número exacto que la exagera.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58368" y="5614416"/>
            <a:ext cx="54864" cy="786384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650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 ·  BLOQUE 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32688" y="5943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sabemos qué medir y por qué importa hacerlo temprano. Ahora: cómo se traduce eso en este módulo concreto.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536192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0" dirty="0"/>
          </a:p>
        </p:txBody>
      </p:sp>
      <p:sp>
        <p:nvSpPr>
          <p:cNvPr id="7" name="Shape 4"/>
          <p:cNvSpPr/>
          <p:nvPr/>
        </p:nvSpPr>
        <p:spPr>
          <a:xfrm>
            <a:off x="658368" y="4041648"/>
            <a:ext cx="1828800" cy="54864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 ·  30 MINUTOS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35424" y="1975104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mapa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módulo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535424" y="39502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vas a construir, con qué herramientas, cómo se evalúa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bajo qué reglas usamos agentes de IA.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FINAL PRIMERO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vas a tener el 30 de septiembre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Empecemos por el resultado, para que las ocho semanas tengan sentido desde hoy.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395728"/>
            <a:ext cx="7863840" cy="4572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395728"/>
            <a:ext cx="54864" cy="45720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de integración continua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138928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todo solo, ante cada cambio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658368" y="3054096"/>
            <a:ext cx="8430768" cy="4572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054096"/>
            <a:ext cx="54864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no funcionales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38928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desempeño y seguridad medidos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658368" y="3712464"/>
            <a:ext cx="8997696" cy="4572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712464"/>
            <a:ext cx="54864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9264" y="3767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pruebas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13892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prueba, por qué y con qué criterio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658368" y="4370832"/>
            <a:ext cx="9564624" cy="4572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370832"/>
            <a:ext cx="54864" cy="45720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264" y="44256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automatizada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138928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unitarias, integración y extremo a extremo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658368" y="5029200"/>
            <a:ext cx="10131552" cy="4572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5029200"/>
            <a:ext cx="54864" cy="45720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9264" y="5084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Tipado estricto y análisis estático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138928" y="5102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advertencias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658368" y="5797296"/>
            <a:ext cx="54864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9264" y="58521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repositorio propio donde no afirmas que funciona: lo demuestras.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SENTIDO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Eso no es material de curso: es portafolio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16752" y="2359152"/>
            <a:ext cx="12802" cy="265176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395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MUESTRA CASI TODO EL MUNDO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" y="27249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E50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aplicación que se ve bien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58368" y="32552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Pantallas, colores, funcionalidades. Impresiona al mirarla, pero no dice nada sobre si aguanta un cambio.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10528" y="2395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CASI NADIE PUEDE MOSTRAR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10528" y="27249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de que funciona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510528" y="32552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pipeline en verde, una suite que atrapa regresiones, un plan trazable. Se revisa en dos minutos y se nota de inmediato.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" y="5230368"/>
            <a:ext cx="45720" cy="89611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52852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la diferencia entre alguien que programa y alguien con quien se puede trabajar en equipo.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32688" y="570585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es visible de inmediato para cualquiera que revise técnicamente su trabajo.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ESTRUCTURA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unidades, dos preguntas distintas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5138928" cy="5486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01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" y="288950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funcione?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658368" y="39684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el criterio: qué es la calidad, cómo se verifica sin ejecutar el código y contra qué estándares se compara.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" y="4901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horas  ·  semanas 1 a 4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6400800" y="2377440"/>
            <a:ext cx="5138928" cy="54864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2578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02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0" y="288950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Demuéstralo.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6400800" y="39684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la evidencia: cómo se diseñan los casos, cómo se escriben las pruebas, cómo se automatiza su ejecución.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0" y="4901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horas  ·  semanas 4 a 8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58368" y="5541264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57790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aprendemos a mirar un sistema y juzgarlo. Después, a construir la evidencia de que funciona.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CALENDARIO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Ocho semanas, del criterio al pipeline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10 de agosto al 30 de septiembre.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212848"/>
            <a:ext cx="2578608" cy="1225296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212848"/>
            <a:ext cx="64008" cy="1225296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23591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554480" y="2359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10-12 ago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1554480" y="270662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significa que funcione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3401568" y="2212848"/>
            <a:ext cx="2578608" cy="1225296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01568" y="2212848"/>
            <a:ext cx="64008" cy="1225296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21024" y="23591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4297680" y="2359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17-19 ago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4297680" y="270662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y validación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144768" y="2212848"/>
            <a:ext cx="2578608" cy="1225296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2212848"/>
            <a:ext cx="64008" cy="1225296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64224" y="23591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7040880" y="2359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24-26 ago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7040880" y="270662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estáticas y estándares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8887968" y="2212848"/>
            <a:ext cx="2578608" cy="1225296"/>
          </a:xfrm>
          <a:prstGeom prst="rect">
            <a:avLst/>
          </a:prstGeom>
          <a:solidFill>
            <a:srgbClr val="F3E8C8"/>
          </a:solidFill>
          <a:ln w="12700">
            <a:solidFill>
              <a:srgbClr val="F3E8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87968" y="2212848"/>
            <a:ext cx="64008" cy="122529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07424" y="23591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784080" y="2359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31-2 sep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9784080" y="270662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· diseño de casos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658368" y="3785616"/>
            <a:ext cx="2578608" cy="1225296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" y="3785616"/>
            <a:ext cx="64008" cy="1225296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77824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1554480" y="393192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7-9 sep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1554480" y="427939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y TDD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3401568" y="3785616"/>
            <a:ext cx="2578608" cy="1225296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01568" y="3785616"/>
            <a:ext cx="64008" cy="1225296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21024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4297680" y="393192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14-16 sep</a:t>
            </a:r>
            <a:endParaRPr lang="en-US" sz="980" dirty="0"/>
          </a:p>
        </p:txBody>
      </p:sp>
      <p:sp>
        <p:nvSpPr>
          <p:cNvPr id="41" name="Text 38"/>
          <p:cNvSpPr/>
          <p:nvPr/>
        </p:nvSpPr>
        <p:spPr>
          <a:xfrm>
            <a:off x="4297680" y="427939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extremo a extremo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6144768" y="3785616"/>
            <a:ext cx="2578608" cy="1225296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44768" y="3785616"/>
            <a:ext cx="64008" cy="1225296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64224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3000" dirty="0"/>
          </a:p>
        </p:txBody>
      </p:sp>
      <p:sp>
        <p:nvSpPr>
          <p:cNvPr id="45" name="Text 42"/>
          <p:cNvSpPr/>
          <p:nvPr/>
        </p:nvSpPr>
        <p:spPr>
          <a:xfrm>
            <a:off x="7040880" y="393192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21-23 sep</a:t>
            </a:r>
            <a:endParaRPr lang="en-US" sz="980" dirty="0"/>
          </a:p>
        </p:txBody>
      </p:sp>
      <p:sp>
        <p:nvSpPr>
          <p:cNvPr id="46" name="Text 43"/>
          <p:cNvSpPr/>
          <p:nvPr/>
        </p:nvSpPr>
        <p:spPr>
          <a:xfrm>
            <a:off x="7040880" y="427939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y no funcionales</a:t>
            </a:r>
            <a:endParaRPr lang="en-US" sz="1120" dirty="0"/>
          </a:p>
        </p:txBody>
      </p:sp>
      <p:sp>
        <p:nvSpPr>
          <p:cNvPr id="47" name="Shape 44"/>
          <p:cNvSpPr/>
          <p:nvPr/>
        </p:nvSpPr>
        <p:spPr>
          <a:xfrm>
            <a:off x="8887968" y="3785616"/>
            <a:ext cx="2578608" cy="1225296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887968" y="3785616"/>
            <a:ext cx="64008" cy="1225296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07424" y="39319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000" dirty="0"/>
          </a:p>
        </p:txBody>
      </p:sp>
      <p:sp>
        <p:nvSpPr>
          <p:cNvPr id="50" name="Text 47"/>
          <p:cNvSpPr/>
          <p:nvPr/>
        </p:nvSpPr>
        <p:spPr>
          <a:xfrm>
            <a:off x="9784080" y="393192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28-30 sep</a:t>
            </a:r>
            <a:endParaRPr lang="en-US" sz="980" dirty="0"/>
          </a:p>
        </p:txBody>
      </p:sp>
      <p:sp>
        <p:nvSpPr>
          <p:cNvPr id="51" name="Text 48"/>
          <p:cNvSpPr/>
          <p:nvPr/>
        </p:nvSpPr>
        <p:spPr>
          <a:xfrm>
            <a:off x="9784080" y="427939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proyecto</a:t>
            </a:r>
            <a:endParaRPr lang="en-US" sz="1120" dirty="0"/>
          </a:p>
        </p:txBody>
      </p:sp>
      <p:sp>
        <p:nvSpPr>
          <p:cNvPr id="52" name="Shape 49"/>
          <p:cNvSpPr/>
          <p:nvPr/>
        </p:nvSpPr>
        <p:spPr>
          <a:xfrm>
            <a:off x="10369296" y="3200400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369296" y="3264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 · 1 SEP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7626096" y="4773168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626096" y="48371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 · 21 SEP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10369296" y="4773168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369296" y="48371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· 30 SEP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658368" y="5468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743200" y="5605272"/>
            <a:ext cx="6400800" cy="36576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582912" y="546811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spc="18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ESE ORDEN Y NO OTRO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15184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puede escribir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muchas pruebas sin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saber si prueban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 que importa.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58368" y="524865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criterio va primero: mirar un sistema y juzgarlo, antes de construir la evidencia.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EVALUACIÓN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proyecto, tres entregas que se acumulan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tres trabajos distintos: es el mismo repositorio, cada vez más confiable.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sep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722376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2376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sep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941832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41832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sep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658368" y="29626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Tipado estricto y análisis estático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843016" y="3008376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37576" y="3008376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32136" y="3008376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364992"/>
            <a:ext cx="10881360" cy="9144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474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Primeras pruebas y auditoría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843016" y="3520440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37576" y="3520440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32136" y="3520440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877056"/>
            <a:ext cx="10881360" cy="9144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3986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pruebas trazable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861304" y="4050792"/>
            <a:ext cx="164592" cy="164592"/>
          </a:xfrm>
          <a:prstGeom prst="ellipse">
            <a:avLst/>
          </a:prstGeom>
          <a:solidFill>
            <a:srgbClr val="F8F3E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37576" y="4032504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232136" y="4032504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389120"/>
            <a:ext cx="10881360" cy="9144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4498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Suite: unitarias, integración, E2E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861304" y="4562856"/>
            <a:ext cx="164592" cy="164592"/>
          </a:xfrm>
          <a:prstGeom prst="ellipse">
            <a:avLst/>
          </a:prstGeom>
          <a:solidFill>
            <a:srgbClr val="F8F3E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37576" y="4544568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32136" y="4544568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8368" y="4901184"/>
            <a:ext cx="10881360" cy="9144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" y="5010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continua en verde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861304" y="5074920"/>
            <a:ext cx="164592" cy="164592"/>
          </a:xfrm>
          <a:prstGeom prst="ellipse">
            <a:avLst/>
          </a:prstGeom>
          <a:solidFill>
            <a:srgbClr val="F8F3E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55864" y="5074920"/>
            <a:ext cx="164592" cy="164592"/>
          </a:xfrm>
          <a:prstGeom prst="ellipse">
            <a:avLst/>
          </a:prstGeom>
          <a:solidFill>
            <a:srgbClr val="F8F3E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232136" y="5056632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8368" y="5413248"/>
            <a:ext cx="10881360" cy="9144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8368" y="55229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 y no funcionales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861304" y="5586984"/>
            <a:ext cx="164592" cy="164592"/>
          </a:xfrm>
          <a:prstGeom prst="ellipse">
            <a:avLst/>
          </a:prstGeom>
          <a:solidFill>
            <a:srgbClr val="F8F3E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55864" y="5586984"/>
            <a:ext cx="164592" cy="164592"/>
          </a:xfrm>
          <a:prstGeom prst="ellipse">
            <a:avLst/>
          </a:prstGeom>
          <a:solidFill>
            <a:srgbClr val="F8F3EC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232136" y="5568696"/>
            <a:ext cx="201168" cy="20116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58704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testing solo se entiende cuando el sistema crece: ver una prueba avisarte de que rompiste algo tres semanas después es lo que enseña para qué sirve.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CALIFICA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706624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evalúa la aplicación: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evalúa la verificación</a:t>
            </a:r>
            <a:endParaRPr lang="en-US" sz="3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construida sobre ella.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58368" y="51755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con tres reglas de negocio bien interrogadas vale más que uno con veinte funcionalidades sin evidencia de ninguna.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HERRAMIENTAS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empieza antes de ejecutar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barreras reducen incertidumbre antes de correr una sola prueba.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249424"/>
            <a:ext cx="3236976" cy="2633472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43230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77824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77824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77824" y="3858768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30" b="1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instalación en cualquier máquina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877824" y="44622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Flexibilidad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4315968" y="2249424"/>
            <a:ext cx="3236976" cy="2633472"/>
          </a:xfrm>
          <a:prstGeom prst="rect">
            <a:avLst/>
          </a:prstGeom>
          <a:solidFill>
            <a:srgbClr val="F3E8C8"/>
          </a:solidFill>
          <a:ln w="12700">
            <a:solidFill>
              <a:srgbClr val="F3E8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35424" y="243230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535424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535424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35424" y="3858768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30" b="1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detectados mientras escribes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4535424" y="44622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7973568" y="2249424"/>
            <a:ext cx="3236976" cy="2633472"/>
          </a:xfrm>
          <a:prstGeom prst="rect">
            <a:avLst/>
          </a:prstGeom>
          <a:solidFill>
            <a:srgbClr val="E0EFE6"/>
          </a:solidFill>
          <a:ln w="12700">
            <a:solidFill>
              <a:srgbClr val="E0EF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93024" y="243230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8193024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pyrefly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8193024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193024" y="3858768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30" b="1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incompatibles antes de ejecutar</a:t>
            </a:r>
            <a:endParaRPr lang="en-US" sz="1230" dirty="0"/>
          </a:p>
        </p:txBody>
      </p:sp>
      <p:sp>
        <p:nvSpPr>
          <p:cNvPr id="29" name="Text 26"/>
          <p:cNvSpPr/>
          <p:nvPr/>
        </p:nvSpPr>
        <p:spPr>
          <a:xfrm>
            <a:off x="8193024" y="44622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658368" y="5321808"/>
            <a:ext cx="914400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55595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pytest abre la siguiente puerta: comprobar comportamiento.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HERRAMIENTAS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una función a un usuario real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herramienta amplía el alcance de la pregunta.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78992" y="3822192"/>
            <a:ext cx="9966960" cy="32004"/>
          </a:xfrm>
          <a:prstGeom prst="rect">
            <a:avLst/>
          </a:prstGeom>
          <a:solidFill>
            <a:srgbClr val="223F5C"/>
          </a:solidFill>
          <a:ln w="12700">
            <a:solidFill>
              <a:srgbClr val="223F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63624" y="3511296"/>
            <a:ext cx="621792" cy="621792"/>
          </a:xfrm>
          <a:prstGeom prst="ellipse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63624" y="367588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2960" y="2907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Y API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95528" y="433425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¿esta regla responde bien?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352544" y="3511296"/>
            <a:ext cx="621792" cy="62179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52544" y="367588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1188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11880" y="2907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584448" y="433425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cliente decide bien?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141464" y="3511296"/>
            <a:ext cx="621792" cy="621792"/>
          </a:xfrm>
          <a:prstGeom prst="ellipse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41464" y="367588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0080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400800" y="2907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23B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73368" y="433425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¿una persona completa el flujo?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9930384" y="3511296"/>
            <a:ext cx="621792" cy="62179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30384" y="367588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18972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189720" y="2907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REPETICIÓN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62288" y="433425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¿sigue funcionando tras cada cambio?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9857232" y="3310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20" b="1" spc="15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1335024" y="53583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suite crece desde una decisión aislada hasta el sistema completo ejecutándose solo.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STACK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son dos cursos paralelos: es un sistema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86000"/>
            <a:ext cx="4572000" cy="347472"/>
          </a:xfrm>
          <a:prstGeom prst="rect">
            <a:avLst/>
          </a:prstGeom>
          <a:solidFill>
            <a:srgbClr val="10263F"/>
          </a:solidFill>
          <a:ln w="12700">
            <a:solidFill>
              <a:srgbClr val="1026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2395728"/>
            <a:ext cx="91440" cy="91440"/>
          </a:xfrm>
          <a:prstGeom prst="ellipse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395728"/>
            <a:ext cx="91440" cy="9144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98448" y="2395728"/>
            <a:ext cx="91440" cy="91440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 ·  TYPESCRIPT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69264" y="3200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969264" y="3767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Vitest verifica decisiones del cliente.</a:t>
            </a:r>
            <a:endParaRPr lang="en-US" sz="12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recorre el flujo como una persona.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969264" y="4846320"/>
            <a:ext cx="1005840" cy="4572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325526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 →  JSON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23560" y="3730752"/>
            <a:ext cx="932688" cy="658368"/>
          </a:xfrm>
          <a:prstGeom prst="chevron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67728" y="2286000"/>
            <a:ext cx="4553712" cy="3017520"/>
          </a:xfrm>
          <a:prstGeom prst="roundRect">
            <a:avLst>
              <a:gd name="adj" fmla="val 121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78624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 ·  PYTHON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278624" y="3200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7278624" y="3767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+ ruff + pyrefly sostienen el entorno.</a:t>
            </a:r>
            <a:endParaRPr lang="en-US" sz="12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C7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cubre lógica e integración.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7278624" y="4846320"/>
            <a:ext cx="1005840" cy="4572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" y="56692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sistema real, dos sintaxis de prueba y un solo criterio.</a:t>
            </a:r>
            <a:endParaRPr lang="en-US" sz="1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35B7C6">
              <a:alpha val="16000"/>
            </a:srgbClr>
          </a:solidFill>
          <a:ln w="12700">
            <a:solidFill>
              <a:srgbClr val="35B7C6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DEL JUEGO CON AGENTES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706624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Acá el producto</a:t>
            </a:r>
            <a:endParaRPr lang="en-US" sz="3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el código:</a:t>
            </a:r>
            <a:endParaRPr lang="en-US" sz="3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la verificación.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58368" y="50292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módulo de programación, delegar al agente al menos deja algo funcionando. Si delegas la verificación sin entenderla, no te queda nada: lo único que estabas construyendo era tu criterio.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REGLAS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permite y se espera que uses agentes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ninguna ventaja pedagógica en prohibir la herramienta con la que van a trabajar el resto de su vida profesional.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340864"/>
            <a:ext cx="3236976" cy="2907792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340864"/>
            <a:ext cx="73152" cy="2907792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5420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96112" y="3310128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Puedes delegar</a:t>
            </a:r>
            <a:endParaRPr lang="en-US" sz="2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escritura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96112" y="431596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debes justificar cada prueba y explicar qué perderías si la borraras.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15968" y="2340864"/>
            <a:ext cx="3236976" cy="2907792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15968" y="2340864"/>
            <a:ext cx="73152" cy="290779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53712" y="25420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553712" y="3310128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</a:t>
            </a:r>
            <a:endParaRPr lang="en-US" sz="2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revisión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53712" y="431596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hizo el agente, qué corregiste y qué decidiste tú.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73568" y="2340864"/>
            <a:ext cx="3236976" cy="2907792"/>
          </a:xfrm>
          <a:prstGeom prst="rect">
            <a:avLst/>
          </a:prstGeom>
          <a:solidFill>
            <a:srgbClr val="E0EFE6"/>
          </a:solidFill>
          <a:ln w="12700">
            <a:solidFill>
              <a:srgbClr val="E0EF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73568" y="2340864"/>
            <a:ext cx="73152" cy="290779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11312" y="25420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8211312" y="3310128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Respondes por</a:t>
            </a:r>
            <a:endParaRPr lang="en-US" sz="2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entregas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211312" y="431596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lo entiendes y falla, el problema es tuyo, no del modelo.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8368" y="55961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que no sabes justificar es ruido, aunque esté en verde.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ADELANTO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una técnica que invierte la relación habitual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3: revisión adversarial entre modelos.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615184"/>
            <a:ext cx="3200400" cy="54864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7980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8368" y="3291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escribe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3694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el código, plausible y rápido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3950208" y="329184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BE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315968" y="2615184"/>
            <a:ext cx="3200400" cy="54864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15968" y="27980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315968" y="3291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Otro agente audita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315968" y="3694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fallas en el trabajo del primero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607808" y="329184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BE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973568" y="2615184"/>
            <a:ext cx="3200400" cy="54864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73568" y="27980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973568" y="3291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 arbitras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73568" y="3694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decides quién tiene razón y por qué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658368" y="4791456"/>
            <a:ext cx="45720" cy="93268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" y="48280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una técnica real de verificación, no un ejercicio de clase.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32688" y="524865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entrena exactamente la habilidad que este módulo persigue: leer código ajeno con desconfianza productiva.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E0BC5A">
              <a:alpha val="16000"/>
            </a:srgbClr>
          </a:solidFill>
          <a:ln w="12700">
            <a:solidFill>
              <a:srgbClr val="E0BC5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 ·  BLOQUE 3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633472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Ocho semanas construyen</a:t>
            </a:r>
            <a:endParaRPr lang="en-US" sz="3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sola cosa: la capacidad</a:t>
            </a:r>
            <a:endParaRPr lang="en-US" sz="3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demostrar que un</a:t>
            </a:r>
            <a:endParaRPr lang="en-US" sz="3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funciona.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8368" y="524865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agentes son parte del trabajo. El criterio para juzgar su resultado no se delega.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PREGUNTAS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39112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1645920" y="2066544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el módulo termina con un proyecto con pruebas y no con una prueba escrita?</a:t>
            </a:r>
            <a:endParaRPr lang="en-US" sz="1760" dirty="0"/>
          </a:p>
        </p:txBody>
      </p:sp>
      <p:sp>
        <p:nvSpPr>
          <p:cNvPr id="13" name="Shape 10"/>
          <p:cNvSpPr/>
          <p:nvPr/>
        </p:nvSpPr>
        <p:spPr>
          <a:xfrm>
            <a:off x="1645920" y="2724912"/>
            <a:ext cx="347472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21408" y="2633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71216" y="260604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qué evidencia solo aparece cuando el mismo sistema cambia durante semanas.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3017520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118104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1645920" y="3145536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se permite usar agentes, ¿qué es exactamente lo que se está evaluando?</a:t>
            </a:r>
            <a:endParaRPr lang="en-US" sz="1760" dirty="0"/>
          </a:p>
        </p:txBody>
      </p:sp>
      <p:sp>
        <p:nvSpPr>
          <p:cNvPr id="19" name="Shape 16"/>
          <p:cNvSpPr/>
          <p:nvPr/>
        </p:nvSpPr>
        <p:spPr>
          <a:xfrm>
            <a:off x="1645920" y="3803904"/>
            <a:ext cx="347472" cy="228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21408" y="37124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871216" y="368503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mires cuánto código produce el agente; mira qué decisiones debes defender tú.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58368" y="4096512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197096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1645920" y="4224528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que una prueba sea ruido aunque esté en verde?</a:t>
            </a:r>
            <a:endParaRPr lang="en-US" sz="1760" dirty="0"/>
          </a:p>
        </p:txBody>
      </p:sp>
      <p:sp>
        <p:nvSpPr>
          <p:cNvPr id="25" name="Shape 22"/>
          <p:cNvSpPr/>
          <p:nvPr/>
        </p:nvSpPr>
        <p:spPr>
          <a:xfrm>
            <a:off x="1645920" y="4882896"/>
            <a:ext cx="347472" cy="228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21408" y="47914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71216" y="476402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Pregúntate qué defecto detecta y qué información perderías al borrarla.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58368" y="5614416"/>
            <a:ext cx="54864" cy="786384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650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 ·  BLOQUE 4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32688" y="5943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empezar a construir ese criterio, hace falta saber desde dónde parte cada uno.</a:t>
            </a:r>
            <a:endParaRPr lang="en-US" sz="11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536192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0" dirty="0"/>
          </a:p>
        </p:txBody>
      </p:sp>
      <p:sp>
        <p:nvSpPr>
          <p:cNvPr id="7" name="Shape 4"/>
          <p:cNvSpPr/>
          <p:nvPr/>
        </p:nvSpPr>
        <p:spPr>
          <a:xfrm>
            <a:off x="658368" y="4041648"/>
            <a:ext cx="1828800" cy="54864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 ·  20 MINUTOS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35424" y="1682496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Línea base: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dónde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partimos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35424" y="44439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cambiar algo, hay que registrar cómo está ahora.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CONCEPTO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antes de cambiar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registro previo, cualquier afirmación sobre una mejora es una opinión.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200400"/>
            <a:ext cx="10881360" cy="2560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108960"/>
            <a:ext cx="219456" cy="219456"/>
          </a:xfrm>
          <a:prstGeom prst="ellipse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58368" y="29260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de agosto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llegas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11338560" y="3108960"/>
            <a:ext cx="219456" cy="219456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0768" y="26151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ÚLTIMA SEMANA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30768" y="29260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de septiembre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30768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terminas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11480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tramo que sí puedes demostrar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58368" y="4261104"/>
            <a:ext cx="45720" cy="137160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429768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Esto no es una metáfora del módulo: es el mismo procedimiento.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32688" y="47183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Evaluación 1 van a registrar el estado de calidad inicial de su proyecto antes de tocarlo, exactamente por la misma razón: para poder afirmar después que algo mejoró.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32688" y="53400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«Ahora está más rápido» no significa nada si nadie midió cuánto demoraba antes.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INSTRUCCIÓN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«no sé» es la respuesta más valiosa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cuestionario no lleva nota, y eso cambia por completo la estrategia óptima.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16752" y="2432304"/>
            <a:ext cx="12802" cy="2468880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UNA PRUEBA CALIFICADA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27797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E50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Conviene arriesgar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8368" y="3291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respuesta al azar puede sumar y nunca resta. Adivinar es racional.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10528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DIAGNÓSTICO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10528" y="27797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Adivinar te perjudica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510528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aciertas por azar, el instrumento registra un conocimiento que no existe. Y la consecuencia recae sobre ti: se pasa rápido por algo que necesitabas.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" y="5120640"/>
            <a:ext cx="10881360" cy="12802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53766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Adivinar produce el equivalente a una prueba que queda en verde con el sistema malo.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8368" y="57972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medición dice que todo está bien, la realidad dice otra cosa, y por confiar en ella se decide mal. Un resultado así es peor que no haber medido, porque además da confianza.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INSTRUMENTO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partes, cuatro cosas distintas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432304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243584" y="2578608"/>
            <a:ext cx="640080" cy="20117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24323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974336" y="24505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Lenguajes, Git, terminal, experiencia previa con pruebas y uso de agentes. No hay respuestas correctas.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2944368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21868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43584" y="3364992"/>
            <a:ext cx="640080" cy="20117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3218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VERDADERO O FALSO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974336" y="32369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Diez afirmaciones sobre calidad y pruebas. Varias parecen evidentes y no lo son.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" y="3730752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005072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243584" y="4151376"/>
            <a:ext cx="640080" cy="20117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03120" y="4005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BREVE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974336" y="4023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situaciones prácticas. Interesa el razonamiento, no la terminología.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8368" y="4517136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4791456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243584" y="4937760"/>
            <a:ext cx="640080" cy="20117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03120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974336" y="480974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proyecto y con qué equipo va a trabajar cada uno.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58368" y="5596128"/>
            <a:ext cx="45720" cy="585216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56692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afirmaciones que dividan a la sala son las más interesantes.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32688" y="592531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desacuerdo repartido no significa que la mitad esté equivocada: significa que ahí hay una idea que parece obvia desde dos lados opuestos. Esas son las que producen defectos.</a:t>
            </a:r>
            <a:endParaRPr lang="en-US" sz="11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89720" y="2991917"/>
            <a:ext cx="658368" cy="1316736"/>
          </a:xfrm>
          <a:prstGeom prst="rect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71933" y="2596896"/>
            <a:ext cx="658368" cy="1711757"/>
          </a:xfrm>
          <a:prstGeom prst="rect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71933" y="2188708"/>
            <a:ext cx="658368" cy="408188"/>
          </a:xfrm>
          <a:prstGeom prst="triangle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146" y="2991917"/>
            <a:ext cx="658368" cy="1316736"/>
          </a:xfrm>
          <a:prstGeom prst="rect">
            <a:avLst/>
          </a:prstGeom>
          <a:solidFill>
            <a:srgbClr val="3FAE6A">
              <a:alpha val="16000"/>
            </a:srgbClr>
          </a:solidFill>
          <a:ln w="12700">
            <a:solidFill>
              <a:srgbClr val="3FAE6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  ·  BLOQUE 4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1188720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7432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medición solo sirve</a:t>
            </a:r>
            <a:endParaRPr lang="en-US" sz="3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los datos son honestos.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58368" y="453542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resultado falseado no es un dato incompleto: es un dato que engaña. Y sobre un dato que engaña se toman decisiones peores que sin dato alguno.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1F7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PREGUNTAS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39112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1645920" y="2066544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una línea base y qué permite demostrar al final del módulo?</a:t>
            </a:r>
            <a:endParaRPr lang="en-US" sz="1760" dirty="0"/>
          </a:p>
        </p:txBody>
      </p:sp>
      <p:sp>
        <p:nvSpPr>
          <p:cNvPr id="13" name="Shape 10"/>
          <p:cNvSpPr/>
          <p:nvPr/>
        </p:nvSpPr>
        <p:spPr>
          <a:xfrm>
            <a:off x="1645920" y="2724912"/>
            <a:ext cx="347472" cy="2286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21408" y="2633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C01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871216" y="260604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 punto inicial, una mejora solo puede parecerlo.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3017520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118104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1645920" y="3145536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«no sé» puede ser mejor dato que una respuesta correcta por azar?</a:t>
            </a:r>
            <a:endParaRPr lang="en-US" sz="1760" dirty="0"/>
          </a:p>
        </p:txBody>
      </p:sp>
      <p:sp>
        <p:nvSpPr>
          <p:cNvPr id="19" name="Shape 16"/>
          <p:cNvSpPr/>
          <p:nvPr/>
        </p:nvSpPr>
        <p:spPr>
          <a:xfrm>
            <a:off x="1645920" y="3803904"/>
            <a:ext cx="347472" cy="2286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21408" y="37124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871216" y="368503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qué decisiones tomaríamos confiando en un dato falso.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58368" y="4096512"/>
            <a:ext cx="10881360" cy="10973"/>
          </a:xfrm>
          <a:prstGeom prst="rect">
            <a:avLst/>
          </a:prstGeom>
          <a:solidFill>
            <a:srgbClr val="CBBEAE"/>
          </a:solidFill>
          <a:ln w="12700">
            <a:solidFill>
              <a:srgbClr val="CBB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197096"/>
            <a:ext cx="786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1645920" y="4224528"/>
            <a:ext cx="9802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6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relación tiene este diagnóstico con la Evaluación 1 del proyecto?</a:t>
            </a:r>
            <a:endParaRPr lang="en-US" sz="1760" dirty="0"/>
          </a:p>
        </p:txBody>
      </p:sp>
      <p:sp>
        <p:nvSpPr>
          <p:cNvPr id="25" name="Shape 22"/>
          <p:cNvSpPr/>
          <p:nvPr/>
        </p:nvSpPr>
        <p:spPr>
          <a:xfrm>
            <a:off x="1645920" y="4882896"/>
            <a:ext cx="347472" cy="228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21408" y="47914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871216" y="476402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i="1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ambos casos se registra el estado antes de intervenir.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58368" y="5596128"/>
            <a:ext cx="914400" cy="4572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581558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antes de cambiar es lo que permite demostrar después que algo mejoró.</a:t>
            </a:r>
            <a:endParaRPr lang="en-US" sz="1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quedó instalado hoy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2395728" cy="2487168"/>
          </a:xfrm>
          <a:prstGeom prst="rect">
            <a:avLst/>
          </a:prstGeom>
          <a:solidFill>
            <a:srgbClr val="F6DFDF"/>
          </a:solidFill>
          <a:ln w="12700">
            <a:solidFill>
              <a:srgbClr val="F6DF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86000"/>
            <a:ext cx="2395728" cy="73152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2578608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59536" y="331012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8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9536" y="38221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16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probar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01568" y="2286000"/>
            <a:ext cx="2395728" cy="2487168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01568" y="2286000"/>
            <a:ext cx="2395728" cy="73152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2736" y="2578608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602736" y="331012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8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602736" y="38221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 perfil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44768" y="2286000"/>
            <a:ext cx="2395728" cy="2487168"/>
          </a:xfrm>
          <a:prstGeom prst="rect">
            <a:avLst/>
          </a:prstGeom>
          <a:solidFill>
            <a:srgbClr val="F3E8C8"/>
          </a:solidFill>
          <a:ln w="12700">
            <a:solidFill>
              <a:srgbClr val="F3E8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44768" y="2286000"/>
            <a:ext cx="2395728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45936" y="2578608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45936" y="331012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8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45936" y="38221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construye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887968" y="2286000"/>
            <a:ext cx="2395728" cy="2487168"/>
          </a:xfrm>
          <a:prstGeom prst="rect">
            <a:avLst/>
          </a:prstGeom>
          <a:solidFill>
            <a:srgbClr val="E0EFE6"/>
          </a:solidFill>
          <a:ln w="12700">
            <a:solidFill>
              <a:srgbClr val="E0EF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87968" y="2286000"/>
            <a:ext cx="2395728" cy="73152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89136" y="2578608"/>
            <a:ext cx="19751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9089136" y="331012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8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089136" y="382219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permite comparar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8368" y="5230368"/>
            <a:ext cx="987552" cy="4572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546811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Escribir código dejó de ser lo difícil. Lo escaso es mirar el resultado y decidir, con fundamento, si sirve.</a:t>
            </a:r>
            <a:endParaRPr lang="en-US" sz="2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7739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2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OCHO SEMANAS, ESTA FRASE VA A CAMBIAR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" y="2194560"/>
            <a:ext cx="118872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615184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DB2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«Lo probé y anduvo.»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76656" y="2962656"/>
            <a:ext cx="4864608" cy="32004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621024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«Funciona,</a:t>
            </a:r>
            <a:endParaRPr lang="en-US" sz="4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acá está la evidencia.»</a:t>
            </a:r>
            <a:endParaRPr lang="en-US" sz="4200" dirty="0"/>
          </a:p>
        </p:txBody>
      </p:sp>
      <p:sp>
        <p:nvSpPr>
          <p:cNvPr id="11" name="Shape 8"/>
          <p:cNvSpPr/>
          <p:nvPr/>
        </p:nvSpPr>
        <p:spPr>
          <a:xfrm>
            <a:off x="658368" y="5431536"/>
            <a:ext cx="1188720" cy="4572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5669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B7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es toda la diferencia, y es todo el módulo.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30352"/>
            <a:ext cx="146304" cy="109728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spc="150" kern="0" dirty="0">
                <a:solidFill>
                  <a:srgbClr val="0E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MARTES 11</a:t>
            </a:r>
            <a:endParaRPr lang="en-US" sz="920" dirty="0"/>
          </a:p>
        </p:txBody>
      </p:sp>
      <p:pic>
        <p:nvPicPr>
          <p:cNvPr id="7" name="Image 0" descr="C:\Users\Diego Obando\dev\pro402-taller-de-testing-2026\clases\semana-01\01\ppt\source\assets\logo-aiep-h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031" y="417687"/>
            <a:ext cx="1225296" cy="4264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896112"/>
            <a:ext cx="9601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la próxima sesión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A4E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Montamos el entorno de trabajo y escribimos la primera prueba automatizada.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3E50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2322576"/>
            <a:ext cx="3218688" cy="2084832"/>
          </a:xfrm>
          <a:prstGeom prst="rect">
            <a:avLst/>
          </a:prstGeom>
          <a:solidFill>
            <a:srgbClr val="DDEFF0"/>
          </a:solidFill>
          <a:ln w="12700">
            <a:solidFill>
              <a:srgbClr val="DDE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5420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6E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77824" y="3255264"/>
            <a:ext cx="841248" cy="45720"/>
          </a:xfrm>
          <a:prstGeom prst="rect">
            <a:avLst/>
          </a:prstGeom>
          <a:solidFill>
            <a:srgbClr val="0E6E7A"/>
          </a:solidFill>
          <a:ln w="12700">
            <a:solidFill>
              <a:srgbClr val="0E6E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34747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COMPUTADOR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7824" y="387705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trabajas en el tuyo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4315968" y="2322576"/>
            <a:ext cx="3218688" cy="2084832"/>
          </a:xfrm>
          <a:prstGeom prst="rect">
            <a:avLst/>
          </a:prstGeom>
          <a:solidFill>
            <a:srgbClr val="F3E8C8"/>
          </a:solidFill>
          <a:ln w="12700">
            <a:solidFill>
              <a:srgbClr val="F3E8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35424" y="25420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4535424" y="3255264"/>
            <a:ext cx="841248" cy="45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35424" y="34747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35424" y="387705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creada y a mano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73568" y="2322576"/>
            <a:ext cx="3218688" cy="2084832"/>
          </a:xfrm>
          <a:prstGeom prst="rect">
            <a:avLst/>
          </a:prstGeom>
          <a:solidFill>
            <a:srgbClr val="E0EFE6"/>
          </a:solidFill>
          <a:ln w="12700">
            <a:solidFill>
              <a:srgbClr val="E0EF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93024" y="25420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7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8193024" y="3255264"/>
            <a:ext cx="841248" cy="45720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93024" y="347472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0" kern="0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193024" y="387705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respondido, si alcanzaste</a:t>
            </a:r>
            <a:endParaRPr lang="en-US" sz="1180" dirty="0"/>
          </a:p>
        </p:txBody>
      </p:sp>
      <p:sp>
        <p:nvSpPr>
          <p:cNvPr id="27" name="Shape 24"/>
          <p:cNvSpPr/>
          <p:nvPr/>
        </p:nvSpPr>
        <p:spPr>
          <a:xfrm>
            <a:off x="658368" y="4846320"/>
            <a:ext cx="45720" cy="987552"/>
          </a:xfrm>
          <a:prstGeom prst="rect">
            <a:avLst/>
          </a:prstGeom>
          <a:solidFill>
            <a:srgbClr val="C0161D"/>
          </a:solidFill>
          <a:ln w="12700">
            <a:solidFill>
              <a:srgbClr val="C0161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2688" y="4882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6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Nada más.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3310128" y="4901184"/>
            <a:ext cx="8211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20" dirty="0">
                <a:solidFill>
                  <a:srgbClr val="162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instalar herramientas ni llegar con un proyecto pensado. Las herramientas las montamos juntos en clases —dejar el entorno funcionando y reproducible es parte del contenido— y el proyecto lo van a construir más adelante, cuando ya tengan con qué juzgarlo.</a:t>
            </a:r>
            <a:endParaRPr lang="en-US" sz="12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9144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0"/>
            <a:ext cx="365760" cy="91440"/>
          </a:xfrm>
          <a:prstGeom prst="rect">
            <a:avLst/>
          </a:prstGeom>
          <a:solidFill>
            <a:srgbClr val="35B7C6"/>
          </a:solidFill>
          <a:ln w="12700">
            <a:solidFill>
              <a:srgbClr val="35B7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0"/>
            <a:ext cx="256032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1\ppt\source\assets\logo-aiep-hd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1999" y="492000"/>
            <a:ext cx="1481328" cy="515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286000"/>
            <a:ext cx="7680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sabes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03504" y="3236976"/>
            <a:ext cx="7680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5B7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funciona?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658368" y="4498848"/>
            <a:ext cx="1280160" cy="45720"/>
          </a:xfrm>
          <a:prstGeom prst="rect">
            <a:avLst/>
          </a:prstGeom>
          <a:solidFill>
            <a:srgbClr val="E23B42"/>
          </a:solidFill>
          <a:ln w="12700">
            <a:solidFill>
              <a:srgbClr val="E23B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736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BE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 vemos el martes.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5230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·  Taller de Testing y Calidad de Software  ·  Diego Obando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9235440" y="2772461"/>
            <a:ext cx="658368" cy="131673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17653" y="2377440"/>
            <a:ext cx="658368" cy="1711757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17653" y="1969252"/>
            <a:ext cx="658368" cy="408188"/>
          </a:xfrm>
          <a:prstGeom prst="triangl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99866" y="2772461"/>
            <a:ext cx="658368" cy="131673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6272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0" kern="0" dirty="0">
                <a:solidFill>
                  <a:srgbClr val="9D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 ×  AIEP OSORNO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10367" y="6217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¿Cómo sabes que funciona?</dc:title>
  <dc:subject>PRO402 - Clase 01</dc:subject>
  <dc:creator>Diego Obando</dc:creator>
  <cp:lastModifiedBy>Diego Obando</cp:lastModifiedBy>
  <cp:revision>1</cp:revision>
  <dcterms:created xsi:type="dcterms:W3CDTF">2026-08-09T16:56:14Z</dcterms:created>
  <dcterms:modified xsi:type="dcterms:W3CDTF">2026-08-09T16:56:14Z</dcterms:modified>
</cp:coreProperties>
</file>