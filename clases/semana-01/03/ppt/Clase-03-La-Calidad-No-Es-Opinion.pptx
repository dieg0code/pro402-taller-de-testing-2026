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</p:sldIdLst>
  <p:notesMasterIdLst>
    <p:notesMasterId r:id="rId1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notesMaster" Target="notesMasters/notesMaster1.xml"/><Relationship Id="rId112" Type="http://schemas.openxmlformats.org/officeDocument/2006/relationships/presProps" Target="presProps.xml"/><Relationship Id="rId113" Type="http://schemas.openxmlformats.org/officeDocument/2006/relationships/viewProps" Target="viewProps.xml"/><Relationship Id="rId114" Type="http://schemas.openxmlformats.org/officeDocument/2006/relationships/theme" Target="theme/theme1.xml"/><Relationship Id="rId1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image" Target="../media/image-8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image" Target="../media/image-10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0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65836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SEMANA 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53312"/>
            <a:ext cx="7132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</a:t>
            </a:r>
            <a:endParaRPr lang="en-US" sz="4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157984"/>
            <a:ext cx="7132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opinión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2186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25010 aplicada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58368" y="37856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Miércoles 12 de agosto de 2026 · Laboratorio PC · Diego Obando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101584" y="1316736"/>
            <a:ext cx="3383280" cy="4315968"/>
          </a:xfrm>
          <a:prstGeom prst="roundRect">
            <a:avLst>
              <a:gd name="adj" fmla="val 2162"/>
            </a:avLst>
          </a:prstGeom>
          <a:solidFill>
            <a:srgbClr val="102A43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49056" y="170078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ACTUAL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485632" y="2139696"/>
            <a:ext cx="2615184" cy="402336"/>
          </a:xfrm>
          <a:prstGeom prst="roundRect">
            <a:avLst>
              <a:gd name="adj" fmla="val 1363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0" y="213969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    ✓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485632" y="2670048"/>
            <a:ext cx="2615184" cy="402336"/>
          </a:xfrm>
          <a:prstGeom prst="roundRect">
            <a:avLst>
              <a:gd name="adj" fmla="val 1363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0" y="267004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lint     ✓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485632" y="3200400"/>
            <a:ext cx="2615184" cy="402336"/>
          </a:xfrm>
          <a:prstGeom prst="roundRect">
            <a:avLst>
              <a:gd name="adj" fmla="val 1363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95360" y="3200400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    ✓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485632" y="3730752"/>
            <a:ext cx="2615184" cy="402336"/>
          </a:xfrm>
          <a:prstGeom prst="roundRect">
            <a:avLst>
              <a:gd name="adj" fmla="val 1363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595360" y="3730752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   ✓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485632" y="4425696"/>
            <a:ext cx="2615184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8449056" y="4645152"/>
            <a:ext cx="2688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passed</a:t>
            </a:r>
            <a:endParaRPr lang="en-US" sz="2300" dirty="0"/>
          </a:p>
        </p:txBody>
      </p:sp>
      <p:sp>
        <p:nvSpPr>
          <p:cNvPr id="25" name="Text 22"/>
          <p:cNvSpPr txBox="1"/>
          <p:nvPr/>
        </p:nvSpPr>
        <p:spPr>
          <a:xfrm>
            <a:off x="8412480" y="5138928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falta por demostrar?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Clase 02 terminó con cuatro controles en verde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debemos leer qué demuestra exactamente cada resultado.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7022592" cy="3511296"/>
          </a:xfrm>
          <a:prstGeom prst="roundRect">
            <a:avLst>
              <a:gd name="adj" fmla="val 104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676656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32304"/>
            <a:ext cx="6510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ejecución final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60" dirty="0"/>
          </a:p>
        </p:txBody>
      </p:sp>
      <p:sp>
        <p:nvSpPr>
          <p:cNvPr id="15" name="Text 12"/>
          <p:cNvSpPr/>
          <p:nvPr/>
        </p:nvSpPr>
        <p:spPr>
          <a:xfrm>
            <a:off x="1188720" y="2816352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160" dirty="0"/>
          </a:p>
        </p:txBody>
      </p:sp>
      <p:sp>
        <p:nvSpPr>
          <p:cNvPr id="16" name="Text 13"/>
          <p:cNvSpPr/>
          <p:nvPr/>
        </p:nvSpPr>
        <p:spPr>
          <a:xfrm>
            <a:off x="877824" y="3072384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 is up to date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877824" y="33284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60" dirty="0"/>
          </a:p>
        </p:txBody>
      </p:sp>
      <p:sp>
        <p:nvSpPr>
          <p:cNvPr id="18" name="Text 15"/>
          <p:cNvSpPr/>
          <p:nvPr/>
        </p:nvSpPr>
        <p:spPr>
          <a:xfrm>
            <a:off x="1188720" y="3328416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160" dirty="0"/>
          </a:p>
        </p:txBody>
      </p:sp>
      <p:sp>
        <p:nvSpPr>
          <p:cNvPr id="19" name="Text 16"/>
          <p:cNvSpPr/>
          <p:nvPr/>
        </p:nvSpPr>
        <p:spPr>
          <a:xfrm>
            <a:off x="877824" y="3584448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160" dirty="0"/>
          </a:p>
        </p:txBody>
      </p:sp>
      <p:sp>
        <p:nvSpPr>
          <p:cNvPr id="20" name="Text 17"/>
          <p:cNvSpPr/>
          <p:nvPr/>
        </p:nvSpPr>
        <p:spPr>
          <a:xfrm>
            <a:off x="877824" y="38404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60" dirty="0"/>
          </a:p>
        </p:txBody>
      </p:sp>
      <p:sp>
        <p:nvSpPr>
          <p:cNvPr id="21" name="Text 18"/>
          <p:cNvSpPr/>
          <p:nvPr/>
        </p:nvSpPr>
        <p:spPr>
          <a:xfrm>
            <a:off x="1188720" y="3840480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1160" dirty="0"/>
          </a:p>
        </p:txBody>
      </p:sp>
      <p:sp>
        <p:nvSpPr>
          <p:cNvPr id="22" name="Text 19"/>
          <p:cNvSpPr/>
          <p:nvPr/>
        </p:nvSpPr>
        <p:spPr>
          <a:xfrm>
            <a:off x="877824" y="4096512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errors</a:t>
            </a:r>
            <a:endParaRPr lang="en-US" sz="1160" dirty="0"/>
          </a:p>
        </p:txBody>
      </p:sp>
      <p:sp>
        <p:nvSpPr>
          <p:cNvPr id="23" name="Text 20"/>
          <p:cNvSpPr/>
          <p:nvPr/>
        </p:nvSpPr>
        <p:spPr>
          <a:xfrm>
            <a:off x="877824" y="435254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160" dirty="0"/>
          </a:p>
        </p:txBody>
      </p:sp>
      <p:sp>
        <p:nvSpPr>
          <p:cNvPr id="24" name="Text 21"/>
          <p:cNvSpPr/>
          <p:nvPr/>
        </p:nvSpPr>
        <p:spPr>
          <a:xfrm>
            <a:off x="1188720" y="4352544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160" dirty="0"/>
          </a:p>
        </p:txBody>
      </p:sp>
      <p:sp>
        <p:nvSpPr>
          <p:cNvPr id="25" name="Text 22"/>
          <p:cNvSpPr/>
          <p:nvPr/>
        </p:nvSpPr>
        <p:spPr>
          <a:xfrm>
            <a:off x="877824" y="4608576"/>
            <a:ext cx="6272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....   [100%]   4 passed</a:t>
            </a:r>
            <a:endParaRPr lang="en-US" sz="1160" dirty="0"/>
          </a:p>
        </p:txBody>
      </p:sp>
      <p:sp>
        <p:nvSpPr>
          <p:cNvPr id="26" name="Shape 23"/>
          <p:cNvSpPr/>
          <p:nvPr/>
        </p:nvSpPr>
        <p:spPr>
          <a:xfrm>
            <a:off x="8010144" y="2249424"/>
            <a:ext cx="3529584" cy="3511296"/>
          </a:xfrm>
          <a:prstGeom prst="roundRect">
            <a:avLst>
              <a:gd name="adj" fmla="val 208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57616" y="2651760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339328" y="2999232"/>
            <a:ext cx="2871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3FAE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6500" dirty="0"/>
          </a:p>
        </p:txBody>
      </p:sp>
      <p:sp>
        <p:nvSpPr>
          <p:cNvPr id="29" name="Text 26"/>
          <p:cNvSpPr txBox="1"/>
          <p:nvPr/>
        </p:nvSpPr>
        <p:spPr>
          <a:xfrm>
            <a:off x="8412480" y="411480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repetibles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613648" y="4736592"/>
            <a:ext cx="2304288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31" name="Text 28"/>
          <p:cNvSpPr txBox="1"/>
          <p:nvPr/>
        </p:nvSpPr>
        <p:spPr>
          <a:xfrm>
            <a:off x="8449056" y="499262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base real, no una certificación total.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CAMBIÓ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98448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 está verde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93392"/>
            <a:ext cx="9784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el producto aún puede ser inadecuado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58368" y="3200400"/>
            <a:ext cx="133502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" y="32004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231136" y="3200400"/>
            <a:ext cx="133502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340864" y="32004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803904" y="3200400"/>
            <a:ext cx="133502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13632" y="32004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376672" y="3200400"/>
            <a:ext cx="133502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3200400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CASOS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39712" y="3191256"/>
            <a:ext cx="91440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01584" y="2834640"/>
            <a:ext cx="131673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01584" y="2834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637776" y="2834640"/>
            <a:ext cx="131673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37776" y="2834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101584" y="3621024"/>
            <a:ext cx="131673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01584" y="3621024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9637776" y="3621024"/>
            <a:ext cx="1316736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37776" y="3621024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1389888" y="4828032"/>
            <a:ext cx="9418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verde responde preguntas concretas. La calidad empieza por descubrir las preguntas que faltan.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CENTRAL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tendría que ocurrir para que este producto fuera inadecuado?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controles anteriores no desaparecen; se vuelven el punto de partida.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52852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9536" y="2468880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43230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vacía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3145536" y="2432304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respuesta corresponde?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17920" y="2304288"/>
            <a:ext cx="52852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19088" y="2468880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9088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7114032" y="2432304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completo</a:t>
            </a:r>
            <a:endParaRPr lang="en-US" sz="1550" dirty="0"/>
          </a:p>
        </p:txBody>
      </p:sp>
      <p:sp>
        <p:nvSpPr>
          <p:cNvPr id="20" name="Text 17"/>
          <p:cNvSpPr txBox="1"/>
          <p:nvPr/>
        </p:nvSpPr>
        <p:spPr>
          <a:xfrm>
            <a:off x="8705088" y="2432304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¿responde a tiempo?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58368" y="3328416"/>
            <a:ext cx="52852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9536" y="3493008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9536" y="3493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6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345643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Calificaciones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3145536" y="345643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puede verlas?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217920" y="3328416"/>
            <a:ext cx="52852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19088" y="3493008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19088" y="3493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60" dirty="0"/>
          </a:p>
        </p:txBody>
      </p:sp>
      <p:sp>
        <p:nvSpPr>
          <p:cNvPr id="29" name="Text 26"/>
          <p:cNvSpPr txBox="1"/>
          <p:nvPr/>
        </p:nvSpPr>
        <p:spPr>
          <a:xfrm>
            <a:off x="7114032" y="345643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de entrada</a:t>
            </a:r>
            <a:endParaRPr lang="en-US" sz="1550" dirty="0"/>
          </a:p>
        </p:txBody>
      </p:sp>
      <p:sp>
        <p:nvSpPr>
          <p:cNvPr id="30" name="Text 27"/>
          <p:cNvSpPr txBox="1"/>
          <p:nvPr/>
        </p:nvSpPr>
        <p:spPr>
          <a:xfrm>
            <a:off x="8705088" y="3456432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puede corregir?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658368" y="4352544"/>
            <a:ext cx="52852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59536" y="4517136"/>
            <a:ext cx="475488" cy="47548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59536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60" dirty="0"/>
          </a:p>
        </p:txBody>
      </p:sp>
      <p:sp>
        <p:nvSpPr>
          <p:cNvPr id="34" name="Text 31"/>
          <p:cNvSpPr txBox="1"/>
          <p:nvPr/>
        </p:nvSpPr>
        <p:spPr>
          <a:xfrm>
            <a:off x="1554480" y="44805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de regla</a:t>
            </a:r>
            <a:endParaRPr lang="en-US" sz="1550" dirty="0"/>
          </a:p>
        </p:txBody>
      </p:sp>
      <p:sp>
        <p:nvSpPr>
          <p:cNvPr id="35" name="Text 32"/>
          <p:cNvSpPr txBox="1"/>
          <p:nvPr/>
        </p:nvSpPr>
        <p:spPr>
          <a:xfrm>
            <a:off x="3145536" y="448056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¿aparece una regresión?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6217920" y="4352544"/>
            <a:ext cx="52852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19088" y="4517136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19088" y="4517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60" dirty="0"/>
          </a:p>
        </p:txBody>
      </p:sp>
      <p:sp>
        <p:nvSpPr>
          <p:cNvPr id="39" name="Text 36"/>
          <p:cNvSpPr txBox="1"/>
          <p:nvPr/>
        </p:nvSpPr>
        <p:spPr>
          <a:xfrm>
            <a:off x="7114032" y="4480560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académica</a:t>
            </a:r>
            <a:endParaRPr lang="en-US" sz="1550" dirty="0"/>
          </a:p>
        </p:txBody>
      </p:sp>
      <p:sp>
        <p:nvSpPr>
          <p:cNvPr id="40" name="Text 37"/>
          <p:cNvSpPr txBox="1"/>
          <p:nvPr/>
        </p:nvSpPr>
        <p:spPr>
          <a:xfrm>
            <a:off x="8705088" y="448056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daño causaría un error?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2084832" y="5559552"/>
            <a:ext cx="8028432" cy="512064"/>
          </a:xfrm>
          <a:prstGeom prst="roundRect">
            <a:avLst>
              <a:gd name="adj" fmla="val 89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322576" y="5559552"/>
            <a:ext cx="7552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se evalúa contra necesidades y riesgos, no contra una sensación general.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Hoy ampliaremos la mirada desde los controles hacia el producto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movimientos organizan el aprendizaje de la sesión.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31136"/>
            <a:ext cx="3273552" cy="3328416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31136"/>
            <a:ext cx="3273552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596896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267919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DELIMITAR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3346704"/>
            <a:ext cx="27249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corrección funcional, evidencia disponible y calidad suficiente para un propósito.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32688" y="4498848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932688" y="4754880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qué respaldan realmente uv, Ruff, Pyrefly y pytest.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352544" y="2231136"/>
            <a:ext cx="3273552" cy="3328416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52544" y="2231136"/>
            <a:ext cx="327355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08576" y="2596896"/>
            <a:ext cx="512064" cy="5120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608576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340096" y="267919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MAPEAR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626864" y="3346704"/>
            <a:ext cx="27249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las nueve características de ISO/IEC 25010 y relacionarlas con riesgos.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4626864" y="4498848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4626864" y="4754880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la característica principal y la evidencia posible.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046720" y="2231136"/>
            <a:ext cx="3273552" cy="3328416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46720" y="2231136"/>
            <a:ext cx="3273552" cy="1097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02752" y="2596896"/>
            <a:ext cx="512064" cy="51206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02752" y="2596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034272" y="2679192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2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ESPECIFICAR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8321040" y="3346704"/>
            <a:ext cx="27249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necesidades vagas en criterios observables y verificables.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8321040" y="4498848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 txBox="1"/>
          <p:nvPr/>
        </p:nvSpPr>
        <p:spPr>
          <a:xfrm>
            <a:off x="8321040" y="4754880"/>
            <a:ext cx="2724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Auditar propuestas de un agente sin delegar la fuente de verdad.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LA CLASE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los resultados verdes a criterios verificables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recorrido completo conserva una misma cadena: contexto, riesgo, criterio y evidencia.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67712"/>
            <a:ext cx="2505456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67712"/>
            <a:ext cx="91440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468880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481328" y="2468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08:30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2139696" y="24871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877824" y="2907792"/>
            <a:ext cx="206654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877824" y="303580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falta por demostrar?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419856" y="2267712"/>
            <a:ext cx="2505456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19856" y="2267712"/>
            <a:ext cx="91440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39312" y="2468880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39312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242816" y="2468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08:40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901184" y="24871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3639312" y="2907792"/>
            <a:ext cx="206654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3639312" y="303580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de la evidencia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181344" y="2267712"/>
            <a:ext cx="2505456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81344" y="2267712"/>
            <a:ext cx="91440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0" y="2468880"/>
            <a:ext cx="420624" cy="42062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40080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004304" y="2468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09:10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7662672" y="24871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400800" y="2907792"/>
            <a:ext cx="206654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 txBox="1"/>
          <p:nvPr/>
        </p:nvSpPr>
        <p:spPr>
          <a:xfrm>
            <a:off x="6400800" y="303580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nueve características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942832" y="2267712"/>
            <a:ext cx="2505456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42832" y="2267712"/>
            <a:ext cx="91440" cy="122529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162288" y="2468880"/>
            <a:ext cx="420624" cy="42062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62288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9765792" y="246888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09:35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10424160" y="24871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</a:t>
            </a:r>
            <a:endParaRPr lang="en-US" sz="1040" dirty="0"/>
          </a:p>
        </p:txBody>
      </p:sp>
      <p:sp>
        <p:nvSpPr>
          <p:cNvPr id="41" name="Shape 38"/>
          <p:cNvSpPr/>
          <p:nvPr/>
        </p:nvSpPr>
        <p:spPr>
          <a:xfrm>
            <a:off x="9162288" y="2907792"/>
            <a:ext cx="206654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2" name="Text 39"/>
          <p:cNvSpPr txBox="1"/>
          <p:nvPr/>
        </p:nvSpPr>
        <p:spPr>
          <a:xfrm>
            <a:off x="9162288" y="303580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descanso técnico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2048256" y="3913632"/>
            <a:ext cx="2505456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048256" y="3913632"/>
            <a:ext cx="91440" cy="12252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267712" y="4114800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267712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2871216" y="4114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09:45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3529584" y="41330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940" dirty="0"/>
          </a:p>
        </p:txBody>
      </p:sp>
      <p:sp>
        <p:nvSpPr>
          <p:cNvPr id="49" name="Shape 46"/>
          <p:cNvSpPr/>
          <p:nvPr/>
        </p:nvSpPr>
        <p:spPr>
          <a:xfrm>
            <a:off x="2267712" y="4553712"/>
            <a:ext cx="206654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50" name="Text 47"/>
          <p:cNvSpPr txBox="1"/>
          <p:nvPr/>
        </p:nvSpPr>
        <p:spPr>
          <a:xfrm>
            <a:off x="2267712" y="468172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del producto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4809744" y="3913632"/>
            <a:ext cx="2505456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809744" y="3913632"/>
            <a:ext cx="91440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029200" y="4114800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02920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5632704" y="4114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10:15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6291072" y="41330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940" dirty="0"/>
          </a:p>
        </p:txBody>
      </p:sp>
      <p:sp>
        <p:nvSpPr>
          <p:cNvPr id="57" name="Shape 54"/>
          <p:cNvSpPr/>
          <p:nvPr/>
        </p:nvSpPr>
        <p:spPr>
          <a:xfrm>
            <a:off x="5029200" y="4553712"/>
            <a:ext cx="206654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58" name="Text 55"/>
          <p:cNvSpPr txBox="1"/>
          <p:nvPr/>
        </p:nvSpPr>
        <p:spPr>
          <a:xfrm>
            <a:off x="5029200" y="468172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 verificables</a:t>
            </a:r>
            <a:endParaRPr lang="en-US" sz="1150" dirty="0"/>
          </a:p>
        </p:txBody>
      </p:sp>
      <p:sp>
        <p:nvSpPr>
          <p:cNvPr id="59" name="Shape 56"/>
          <p:cNvSpPr/>
          <p:nvPr/>
        </p:nvSpPr>
        <p:spPr>
          <a:xfrm>
            <a:off x="7571232" y="3913632"/>
            <a:ext cx="2505456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571232" y="3913632"/>
            <a:ext cx="91440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790688" y="4114800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7790688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8394192" y="4114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10:40</a:t>
            </a:r>
            <a:endParaRPr lang="en-US" sz="1100" dirty="0"/>
          </a:p>
        </p:txBody>
      </p:sp>
      <p:sp>
        <p:nvSpPr>
          <p:cNvPr id="64" name="Text 61"/>
          <p:cNvSpPr txBox="1"/>
          <p:nvPr/>
        </p:nvSpPr>
        <p:spPr>
          <a:xfrm>
            <a:off x="9052560" y="41330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7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40" dirty="0"/>
          </a:p>
        </p:txBody>
      </p:sp>
      <p:sp>
        <p:nvSpPr>
          <p:cNvPr id="65" name="Shape 62"/>
          <p:cNvSpPr/>
          <p:nvPr/>
        </p:nvSpPr>
        <p:spPr>
          <a:xfrm>
            <a:off x="7790688" y="4553712"/>
            <a:ext cx="206654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66" name="Text 63"/>
          <p:cNvSpPr txBox="1"/>
          <p:nvPr/>
        </p:nvSpPr>
        <p:spPr>
          <a:xfrm>
            <a:off x="7790688" y="4681728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proporcional</a:t>
            </a:r>
            <a:endParaRPr lang="en-US" sz="1150" dirty="0"/>
          </a:p>
        </p:txBody>
      </p:sp>
      <p:sp>
        <p:nvSpPr>
          <p:cNvPr id="67" name="Shape 64"/>
          <p:cNvSpPr/>
          <p:nvPr/>
        </p:nvSpPr>
        <p:spPr>
          <a:xfrm>
            <a:off x="2048256" y="5522976"/>
            <a:ext cx="8138160" cy="512064"/>
          </a:xfrm>
          <a:prstGeom prst="roundRect">
            <a:avLst>
              <a:gd name="adj" fmla="val 89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2267712" y="5522976"/>
            <a:ext cx="76992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08:30 → 10:50  ·  140 minutos  ·  cuatro bloques y una conclusión defendible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30 MINUTOS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89888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 está en verde,</a:t>
            </a:r>
            <a:endParaRPr lang="en-US" sz="3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84832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pero la pregunta cambió</a:t>
            </a:r>
            <a:endParaRPr lang="en-US" sz="3900" dirty="0"/>
          </a:p>
        </p:txBody>
      </p:sp>
      <p:sp>
        <p:nvSpPr>
          <p:cNvPr id="11" name="Shape 8"/>
          <p:cNvSpPr/>
          <p:nvPr/>
        </p:nvSpPr>
        <p:spPr>
          <a:xfrm>
            <a:off x="950976" y="3749040"/>
            <a:ext cx="3108960" cy="1243584"/>
          </a:xfrm>
          <a:prstGeom prst="roundRect">
            <a:avLst>
              <a:gd name="adj" fmla="val 514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70432" y="4005072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70432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792224" y="3995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792224" y="43891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una salida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206240" y="4169664"/>
            <a:ext cx="3108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45152" y="3493008"/>
            <a:ext cx="3108960" cy="1243584"/>
          </a:xfrm>
          <a:prstGeom prst="roundRect">
            <a:avLst>
              <a:gd name="adj" fmla="val 514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64608" y="3749040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6460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37398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CUMPLIR CASOS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0" y="41330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coincide con ejemplos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900416" y="3913632"/>
            <a:ext cx="3108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39328" y="3236976"/>
            <a:ext cx="3108960" cy="1243584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58784" y="3493008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558784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180576" y="34838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 ADECUADO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180576" y="38770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al propósito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920240" y="5541264"/>
            <a:ext cx="8339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Objetivo: distinguir resultado técnico, evidencia y afirmación de calidad.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· EVIDENCIA ANTERIOR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Volvamos al punto exacto donde terminamos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batería final produjo resultados que otra persona puede repetir.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7479792" cy="3621024"/>
          </a:xfrm>
          <a:prstGeom prst="roundRect">
            <a:avLst>
              <a:gd name="adj" fmla="val 101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359152"/>
            <a:ext cx="7223760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32304"/>
            <a:ext cx="6967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proyecto nota_final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8163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88720" y="2816352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77824" y="3072384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Lockfile is up to date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77824" y="332841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88720" y="3328416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7824" y="3584448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77824" y="38404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88720" y="3840480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7824" y="4096512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errors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77824" y="435254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88720" y="4352544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77824" y="4608576"/>
            <a:ext cx="6729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....   [100%]   4 passed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430768" y="2249424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30768" y="2249424"/>
            <a:ext cx="109728" cy="84124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59952" y="239572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REPETIBLE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759952" y="2706624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 persona puede ejecutar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430768" y="3310128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30768" y="3310128"/>
            <a:ext cx="109728" cy="84124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759952" y="3456432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TRAZABLE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8759952" y="3767328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comandos y resultados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8430768" y="4370832"/>
            <a:ext cx="31089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430768" y="4370832"/>
            <a:ext cx="109728" cy="8412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759952" y="4517136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ACOTADA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8759952" y="4828032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salida tiene alcance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430768" y="5431536"/>
            <a:ext cx="3108960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558784" y="5431536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real ≠ evidencia total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· LECTURA PRECISA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controles verdes respaldan cuatro afirmaciones acotadas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aporta evidencia solo dentro de lo que realmente observó.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22576"/>
            <a:ext cx="475488" cy="47548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389888" y="23225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730752" y="2249424"/>
            <a:ext cx="7808976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30752" y="2249424"/>
            <a:ext cx="91440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78224" y="224942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Dependencias declaradas y lockfile alineados.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58368" y="3145536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389888" y="314553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3730752" y="3072384"/>
            <a:ext cx="7808976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730752" y="3072384"/>
            <a:ext cx="91440" cy="6217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78224" y="307238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encontró infracciones a las reglas habilitadas.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658368" y="3968496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968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389888" y="396849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3730752" y="3895344"/>
            <a:ext cx="7808976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730752" y="3895344"/>
            <a:ext cx="91440" cy="6217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78224" y="389534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encontró contradicciones en el análisis realizado.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658368" y="4791456"/>
            <a:ext cx="475488" cy="47548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8368" y="4791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389888" y="479145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3730752" y="4718304"/>
            <a:ext cx="7808976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30752" y="4718304"/>
            <a:ext cx="91440" cy="62179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078224" y="471830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ejemplos ejecutados entregaron el resultado esperado.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1499616" y="5650992"/>
            <a:ext cx="9162288" cy="438912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737360" y="5650992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Precisión profesional: afirmar exactamente lo que la evidencia permite sostener.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DE LA EVIDENCIA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43584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Ningún resultado contiene estas palabras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96112" y="2340864"/>
            <a:ext cx="2816352" cy="658368"/>
          </a:xfrm>
          <a:prstGeom prst="roundRect">
            <a:avLst>
              <a:gd name="adj" fmla="val 833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" y="2340864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PERFECTO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97280" y="2670048"/>
            <a:ext cx="241401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3950208" y="2340864"/>
            <a:ext cx="2157984" cy="658368"/>
          </a:xfrm>
          <a:prstGeom prst="roundRect">
            <a:avLst>
              <a:gd name="adj" fmla="val 833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50208" y="2340864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151376" y="2670048"/>
            <a:ext cx="1755648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6345936" y="2340864"/>
            <a:ext cx="2212848" cy="658368"/>
          </a:xfrm>
          <a:prstGeom prst="roundRect">
            <a:avLst>
              <a:gd name="adj" fmla="val 833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45936" y="234086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RÁPIDO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547104" y="2670048"/>
            <a:ext cx="181051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8796528" y="2340864"/>
            <a:ext cx="2505456" cy="658368"/>
          </a:xfrm>
          <a:prstGeom prst="roundRect">
            <a:avLst>
              <a:gd name="adj" fmla="val 833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796528" y="2340864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FÁCIL DE USAR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997696" y="2670048"/>
            <a:ext cx="2103120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2212848" y="3438144"/>
            <a:ext cx="3675888" cy="658368"/>
          </a:xfrm>
          <a:prstGeom prst="roundRect">
            <a:avLst>
              <a:gd name="adj" fmla="val 833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212848" y="3438144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CORRECTO SIEMPRE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2414016" y="3767328"/>
            <a:ext cx="327355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6236208" y="3438144"/>
            <a:ext cx="3968496" cy="658368"/>
          </a:xfrm>
          <a:prstGeom prst="roundRect">
            <a:avLst>
              <a:gd name="adj" fmla="val 833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36208" y="3438144"/>
            <a:ext cx="39684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LISTO PARA PRODUCCIÓN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437376" y="3767328"/>
            <a:ext cx="3566160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 txBox="1"/>
          <p:nvPr/>
        </p:nvSpPr>
        <p:spPr>
          <a:xfrm>
            <a:off x="1298448" y="4882896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cualquiera de estas conclusiones sería afirmar más de lo observado.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 · PREGUNTA DISPARADORA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todos los controles están en verde…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tendría que ocurrir para que el producto aun así fuera inadecuado?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712464" cy="3529584"/>
          </a:xfrm>
          <a:prstGeom prst="roundRect">
            <a:avLst>
              <a:gd name="adj" fmla="val 20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2578608"/>
            <a:ext cx="3456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passed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" y="3291840"/>
            <a:ext cx="3456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4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DEMOSTRADO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42416" y="3675888"/>
            <a:ext cx="2944368" cy="0"/>
          </a:xfrm>
          <a:prstGeom prst="line">
            <a:avLst/>
          </a:prstGeom>
          <a:noFill/>
          <a:ln w="12700">
            <a:solidFill>
              <a:srgbClr val="284B75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1042416" y="38404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3145536" y="384048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42416" y="42062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 check .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145536" y="420624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estilo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42416" y="45720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pyrefly check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145536" y="457200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42416" y="49377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-q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3145536" y="4937760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casos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32688" y="5358384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ejemplos producen el resultado esperado.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535424" y="3803904"/>
            <a:ext cx="56692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358384" y="2249424"/>
            <a:ext cx="6181344" cy="3529584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05856" y="2505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podría volverlo inadecuado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705856" y="2962656"/>
            <a:ext cx="73152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0" y="2962656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inválida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028432" y="29626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lista vacía todavía no tiene regla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705856" y="3438144"/>
            <a:ext cx="552297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5705856" y="3511296"/>
            <a:ext cx="73152" cy="4023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43600" y="3511296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demora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8028432" y="351129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curso completo puede tardar demasiado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705856" y="3986784"/>
            <a:ext cx="552297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5" name="Shape 32"/>
          <p:cNvSpPr/>
          <p:nvPr/>
        </p:nvSpPr>
        <p:spPr>
          <a:xfrm>
            <a:off x="5705856" y="4059936"/>
            <a:ext cx="73152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0" y="4059936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indebido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8028432" y="40599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calificaciones son datos personales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5705856" y="4535424"/>
            <a:ext cx="552297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9" name="Shape 36"/>
          <p:cNvSpPr/>
          <p:nvPr/>
        </p:nvSpPr>
        <p:spPr>
          <a:xfrm>
            <a:off x="5705856" y="4608576"/>
            <a:ext cx="73152" cy="40233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943600" y="4608576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riesgoso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8028432" y="460857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la regla puede romper otro caso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5705856" y="5084064"/>
            <a:ext cx="5522976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3" name="Shape 40"/>
          <p:cNvSpPr/>
          <p:nvPr/>
        </p:nvSpPr>
        <p:spPr>
          <a:xfrm>
            <a:off x="5705856" y="5157216"/>
            <a:ext cx="73152" cy="4023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943600" y="5157216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daño real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8028432" y="515721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nota equivocada afecta una decisión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658368" y="5888736"/>
            <a:ext cx="10881360" cy="438912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77824" y="5888736"/>
            <a:ext cx="10442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de estas preguntas se responde volviendo a ejecutar los mismos cuatro controles.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TRES NIVELES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palabra «funciona» mezcla afirmaciones diferentes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nivel promete más que el anterior, y solo dos tienen respaldo hoy.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8136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91440" cy="95097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96112" y="2487168"/>
            <a:ext cx="475488" cy="47548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2487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41401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EJECUTA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270662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Inicia, procesa una entrada y produce alguna salida.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82128" y="2468880"/>
            <a:ext cx="3346704" cy="256032"/>
          </a:xfrm>
          <a:prstGeom prst="roundRect">
            <a:avLst>
              <a:gd name="adj" fmla="val 10714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82128" y="2468880"/>
            <a:ext cx="1115568" cy="256032"/>
          </a:xfrm>
          <a:prstGeom prst="roundRect">
            <a:avLst>
              <a:gd name="adj" fmla="val 10714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82128" y="279806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RESPALDADO</a:t>
            </a:r>
            <a:endParaRPr lang="en-US" sz="940" dirty="0"/>
          </a:p>
        </p:txBody>
      </p:sp>
      <p:sp>
        <p:nvSpPr>
          <p:cNvPr id="20" name="Text 17"/>
          <p:cNvSpPr txBox="1"/>
          <p:nvPr/>
        </p:nvSpPr>
        <p:spPr>
          <a:xfrm>
            <a:off x="7882128" y="2980944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programa corrió sin detenerse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58368" y="3346704"/>
            <a:ext cx="1088136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346704"/>
            <a:ext cx="91440" cy="9509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6112" y="3584448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6112" y="3584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351129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CUMPLE UN CASO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554480" y="38039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obtenido coincide con una expectativa observada.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882128" y="3566160"/>
            <a:ext cx="3346704" cy="256032"/>
          </a:xfrm>
          <a:prstGeom prst="roundRect">
            <a:avLst>
              <a:gd name="adj" fmla="val 10714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82128" y="3566160"/>
            <a:ext cx="2231136" cy="256032"/>
          </a:xfrm>
          <a:prstGeom prst="roundRect">
            <a:avLst>
              <a:gd name="adj" fmla="val 10714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82128" y="389534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9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RESPALDADO</a:t>
            </a:r>
            <a:endParaRPr lang="en-US" sz="940" dirty="0"/>
          </a:p>
        </p:txBody>
      </p:sp>
      <p:sp>
        <p:nvSpPr>
          <p:cNvPr id="30" name="Text 27"/>
          <p:cNvSpPr txBox="1"/>
          <p:nvPr/>
        </p:nvSpPr>
        <p:spPr>
          <a:xfrm>
            <a:off x="7882128" y="4078224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ejemplos en test_notas.py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58368" y="4443984"/>
            <a:ext cx="1088136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443984"/>
            <a:ext cx="91440" cy="9509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96112" y="4681728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96112" y="4681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1554480" y="460857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POSEE CALIDAD SUFICIENTE</a:t>
            </a:r>
            <a:endParaRPr lang="en-US" sz="1040" dirty="0"/>
          </a:p>
        </p:txBody>
      </p:sp>
      <p:sp>
        <p:nvSpPr>
          <p:cNvPr id="36" name="Text 33"/>
          <p:cNvSpPr txBox="1"/>
          <p:nvPr/>
        </p:nvSpPr>
        <p:spPr>
          <a:xfrm>
            <a:off x="1554480" y="49011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a necesidades relevantes dentro de un contexto y un riesgo concretos.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7882128" y="4663440"/>
            <a:ext cx="3346704" cy="256032"/>
          </a:xfrm>
          <a:prstGeom prst="roundRect">
            <a:avLst>
              <a:gd name="adj" fmla="val 10714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882128" y="4992624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EVIDENCIA</a:t>
            </a:r>
            <a:endParaRPr lang="en-US" sz="940" dirty="0"/>
          </a:p>
        </p:txBody>
      </p:sp>
      <p:sp>
        <p:nvSpPr>
          <p:cNvPr id="39" name="Text 36"/>
          <p:cNvSpPr txBox="1"/>
          <p:nvPr/>
        </p:nvSpPr>
        <p:spPr>
          <a:xfrm>
            <a:off x="7882128" y="5175504"/>
            <a:ext cx="3346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hay criterio ni medición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58368" y="5632704"/>
            <a:ext cx="10881360" cy="493776"/>
          </a:xfrm>
          <a:prstGeom prst="roundRect">
            <a:avLst>
              <a:gd name="adj" fmla="val 740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77824" y="5632704"/>
            <a:ext cx="10442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niveles se acumulan, pero no son equivalentes: hoy solo podemos sostener los dos primeros.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ABRIR EL ALCANCE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ejemplos no responden estas seis preguntas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pregunta apunta a una propiedad distinta del producto.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303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1207008" cy="822960"/>
          </a:xfrm>
          <a:prstGeom prst="roundRect">
            <a:avLst>
              <a:gd name="adj" fmla="val 555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8368" y="2249424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VACÍO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2139696" y="2377440"/>
            <a:ext cx="3529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ocurre con una lista vacía?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236208" y="2249424"/>
            <a:ext cx="5303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2249424"/>
            <a:ext cx="1207008" cy="822960"/>
          </a:xfrm>
          <a:prstGeom prst="roundRect">
            <a:avLst>
              <a:gd name="adj" fmla="val 555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36208" y="2249424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7717536" y="2377440"/>
            <a:ext cx="3529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¿Procesa un curso completo a tiempo?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658368" y="3291840"/>
            <a:ext cx="5303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291840"/>
            <a:ext cx="1207008" cy="822960"/>
          </a:xfrm>
          <a:prstGeom prst="roundRect">
            <a:avLst>
              <a:gd name="adj" fmla="val 555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184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2139696" y="3419856"/>
            <a:ext cx="3529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¿Protege las calificaciones?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6236208" y="3291840"/>
            <a:ext cx="5303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36208" y="3291840"/>
            <a:ext cx="1207008" cy="822960"/>
          </a:xfrm>
          <a:prstGeom prst="roundRect">
            <a:avLst>
              <a:gd name="adj" fmla="val 555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36208" y="329184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717536" y="3419856"/>
            <a:ext cx="3529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¿Permite reconocer y corregir un error?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658368" y="4334256"/>
            <a:ext cx="5303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" y="4334256"/>
            <a:ext cx="1207008" cy="822960"/>
          </a:xfrm>
          <a:prstGeom prst="roundRect">
            <a:avLst>
              <a:gd name="adj" fmla="val 555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" y="4334256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2139696" y="4462272"/>
            <a:ext cx="3529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regla puede modificarse sin una regresión?</a:t>
            </a:r>
            <a:endParaRPr lang="en-US" sz="1550" dirty="0"/>
          </a:p>
        </p:txBody>
      </p:sp>
      <p:sp>
        <p:nvSpPr>
          <p:cNvPr id="31" name="Shape 28"/>
          <p:cNvSpPr/>
          <p:nvPr/>
        </p:nvSpPr>
        <p:spPr>
          <a:xfrm>
            <a:off x="6236208" y="4334256"/>
            <a:ext cx="53035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36208" y="4334256"/>
            <a:ext cx="1207008" cy="822960"/>
          </a:xfrm>
          <a:prstGeom prst="roundRect">
            <a:avLst>
              <a:gd name="adj" fmla="val 555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36208" y="4334256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7717536" y="4462272"/>
            <a:ext cx="3529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decisión podría afectar un resultado equivocado?</a:t>
            </a:r>
            <a:endParaRPr lang="en-US" sz="1550" dirty="0"/>
          </a:p>
        </p:txBody>
      </p:sp>
      <p:sp>
        <p:nvSpPr>
          <p:cNvPr id="35" name="Shape 32"/>
          <p:cNvSpPr/>
          <p:nvPr/>
        </p:nvSpPr>
        <p:spPr>
          <a:xfrm>
            <a:off x="1993392" y="5559552"/>
            <a:ext cx="8211312" cy="493776"/>
          </a:xfrm>
          <a:prstGeom prst="roundRect">
            <a:avLst>
              <a:gd name="adj" fmla="val 740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212848" y="55595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preguntas nuevas no invalidan las pruebas existentes: revelan sus límites.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 · CONCLUSIÓN ACOTADA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evidencia crece sin convertirse en una promesa total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control observó algo concreto; el resto del producto sigue sin mirarse.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602736" cy="457200"/>
          </a:xfrm>
          <a:prstGeom prst="roundRect">
            <a:avLst>
              <a:gd name="adj" fmla="val 8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249424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OBSERVADO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61104" y="2249424"/>
            <a:ext cx="7278624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61104" y="2249424"/>
            <a:ext cx="7278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30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SIN OBSERVAR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" y="2962656"/>
            <a:ext cx="5138928" cy="2633472"/>
          </a:xfrm>
          <a:prstGeom prst="roundRect">
            <a:avLst>
              <a:gd name="adj" fmla="val 277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" y="2962656"/>
            <a:ext cx="5138928" cy="822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" y="3182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1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DEMOSTRADO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69264" y="356616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2889504" y="35661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alineado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69264" y="402336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 check 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2889504" y="40233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infracciones habilitadas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69264" y="448056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pyrefly check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2889504" y="44805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contradicciones de tipos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69264" y="4937760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-q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2889504" y="493776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ejemplos ejecutados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0" y="2962656"/>
            <a:ext cx="5138928" cy="2633472"/>
          </a:xfrm>
          <a:prstGeom prst="roundRect">
            <a:avLst>
              <a:gd name="adj" fmla="val 277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0" y="2962656"/>
            <a:ext cx="5138928" cy="82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11696" y="3182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PENDIENTE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9473184" y="318211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spc="60" kern="0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vive en →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711696" y="3666744"/>
            <a:ext cx="128016" cy="1280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986016" y="35478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 no representadas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9418320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 funcional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711696" y="4069080"/>
            <a:ext cx="128016" cy="1280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986016" y="3950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desempeño bajo carga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9418320" y="3950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eficiencia de desempeño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711696" y="4471416"/>
            <a:ext cx="128016" cy="1280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986016" y="43525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 con personas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9418320" y="4352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de interacción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711696" y="4873752"/>
            <a:ext cx="128016" cy="1280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986016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protección de datos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941832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711696" y="5276088"/>
            <a:ext cx="128016" cy="1280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986016" y="515721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cambios futuros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9418320" y="5157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1865376" y="5815584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conclusión profesional conserva ambos lados.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PRODUCTO EN CONTEXTO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misma función puede ser suficiente o completamente inadecuada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implementación; distinta calidad exigible según el propósito y las consecuencias.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2103120" cy="420624"/>
          </a:xfrm>
          <a:prstGeom prst="roundRect">
            <a:avLst>
              <a:gd name="adj" fmla="val 108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2860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nota_final()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77977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único constante es el código.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8368" y="3493008"/>
            <a:ext cx="341985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3493008"/>
            <a:ext cx="3419856" cy="10058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200400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11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EXIGENCIA MÍNIMA</a:t>
            </a:r>
            <a:endParaRPr lang="en-US" sz="960" dirty="0"/>
          </a:p>
        </p:txBody>
      </p:sp>
      <p:sp>
        <p:nvSpPr>
          <p:cNvPr id="17" name="Text 14"/>
          <p:cNvSpPr txBox="1"/>
          <p:nvPr/>
        </p:nvSpPr>
        <p:spPr>
          <a:xfrm>
            <a:off x="896112" y="376732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spc="55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 PERSONAL</a:t>
            </a:r>
            <a:endParaRPr lang="en-US" sz="1120" dirty="0"/>
          </a:p>
        </p:txBody>
      </p:sp>
      <p:sp>
        <p:nvSpPr>
          <p:cNvPr id="18" name="Text 15"/>
          <p:cNvSpPr txBox="1"/>
          <p:nvPr/>
        </p:nvSpPr>
        <p:spPr>
          <a:xfrm>
            <a:off x="896112" y="405993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notas escritas a mano.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96112" y="4608576"/>
            <a:ext cx="294436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896112" y="4736592"/>
            <a:ext cx="2944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Basta con que el cálculo sea correcto.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389120" y="2980944"/>
            <a:ext cx="3419856" cy="2615184"/>
          </a:xfrm>
          <a:prstGeom prst="roundRect">
            <a:avLst>
              <a:gd name="adj" fmla="val 209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89120" y="2980944"/>
            <a:ext cx="3419856" cy="10058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89120" y="2688336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EXIGENCIA MEDIA</a:t>
            </a:r>
            <a:endParaRPr lang="en-US" sz="960" dirty="0"/>
          </a:p>
        </p:txBody>
      </p:sp>
      <p:sp>
        <p:nvSpPr>
          <p:cNvPr id="24" name="Text 21"/>
          <p:cNvSpPr txBox="1"/>
          <p:nvPr/>
        </p:nvSpPr>
        <p:spPr>
          <a:xfrm>
            <a:off x="4626864" y="3255264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spc="55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 DOCENTE</a:t>
            </a:r>
            <a:endParaRPr lang="en-US" sz="1120" dirty="0"/>
          </a:p>
        </p:txBody>
      </p:sp>
      <p:sp>
        <p:nvSpPr>
          <p:cNvPr id="25" name="Text 22"/>
          <p:cNvSpPr txBox="1"/>
          <p:nvPr/>
        </p:nvSpPr>
        <p:spPr>
          <a:xfrm>
            <a:off x="4626864" y="354787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curso completo, usado por otra persona.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626864" y="4096512"/>
            <a:ext cx="294436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4626864" y="4224528"/>
            <a:ext cx="29443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manejar errores sin entregar resultados engañosos.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8119872" y="2468880"/>
            <a:ext cx="3419856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19872" y="2468880"/>
            <a:ext cx="3419856" cy="1005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19872" y="2176272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EXIGENCIA ALTA</a:t>
            </a:r>
            <a:endParaRPr lang="en-US" sz="960" dirty="0"/>
          </a:p>
        </p:txBody>
      </p:sp>
      <p:sp>
        <p:nvSpPr>
          <p:cNvPr id="31" name="Text 28"/>
          <p:cNvSpPr txBox="1"/>
          <p:nvPr/>
        </p:nvSpPr>
        <p:spPr>
          <a:xfrm>
            <a:off x="8357616" y="274320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55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INSTITUCIONAL</a:t>
            </a:r>
            <a:endParaRPr lang="en-US" sz="1040" dirty="0"/>
          </a:p>
        </p:txBody>
      </p:sp>
      <p:sp>
        <p:nvSpPr>
          <p:cNvPr id="32" name="Text 29"/>
          <p:cNvSpPr txBox="1"/>
          <p:nvPr/>
        </p:nvSpPr>
        <p:spPr>
          <a:xfrm>
            <a:off x="8357616" y="303580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Cientos de estudiantes y decisiones académicas.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357616" y="3584448"/>
            <a:ext cx="294436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 txBox="1"/>
          <p:nvPr/>
        </p:nvSpPr>
        <p:spPr>
          <a:xfrm>
            <a:off x="8357616" y="3712464"/>
            <a:ext cx="294436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accesos, trazabilidad, integración y respuesta bajo carga.</a:t>
            </a:r>
            <a:endParaRPr lang="en-US" sz="1450" dirty="0"/>
          </a:p>
        </p:txBody>
      </p:sp>
      <p:sp>
        <p:nvSpPr>
          <p:cNvPr id="35" name="Shape 32"/>
          <p:cNvSpPr/>
          <p:nvPr/>
        </p:nvSpPr>
        <p:spPr>
          <a:xfrm>
            <a:off x="658368" y="5632704"/>
            <a:ext cx="10881360" cy="0"/>
          </a:xfrm>
          <a:prstGeom prst="line">
            <a:avLst/>
          </a:prstGeom>
          <a:noFill/>
          <a:ln w="12700">
            <a:solidFill>
              <a:srgbClr val="243B53"/>
            </a:solidFill>
            <a:prstDash val="solid"/>
            <a:headEnd type="none"/>
            <a:tailEnd type="none"/>
          </a:ln>
        </p:spPr>
      </p:sp>
      <p:sp>
        <p:nvSpPr>
          <p:cNvPr id="36" name="Text 33"/>
          <p:cNvSpPr txBox="1"/>
          <p:nvPr/>
        </p:nvSpPr>
        <p:spPr>
          <a:xfrm>
            <a:off x="658368" y="577900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personas, más consecuencias  →  más calidad exigible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AFIRMAR CALIDAD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afirmación profesional necesita cuatro elementos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cuatro son tramos de una misma frase; si falta uno, la conclusión queda abierta.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487168" cy="603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249424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883664" y="2852928"/>
            <a:ext cx="36576" cy="2194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314553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propiedad importa?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3145536" y="2249424"/>
            <a:ext cx="2834640" cy="603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45536" y="224942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44568" y="2852928"/>
            <a:ext cx="36576" cy="2194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45536" y="31455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¿para quién y dónde?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980176" y="2249424"/>
            <a:ext cx="2798064" cy="60350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80176" y="2249424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360920" y="2852928"/>
            <a:ext cx="36576" cy="21945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80176" y="314553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cumplirse?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778240" y="2249424"/>
            <a:ext cx="2761488" cy="603504"/>
          </a:xfrm>
          <a:prstGeom prst="rect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78240" y="2249424"/>
            <a:ext cx="27614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0140696" y="2852928"/>
            <a:ext cx="36576" cy="219456"/>
          </a:xfrm>
          <a:prstGeom prst="rect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78240" y="3145536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comprobará?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658368" y="3712464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5840" y="3950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AFIRMACIÓN, YA ARMADA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005840" y="4343400"/>
            <a:ext cx="73152" cy="1828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243584" y="4297680"/>
            <a:ext cx="9948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eficiencia de desempeño de la consulta de una calificación,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005840" y="4636008"/>
            <a:ext cx="73152" cy="1828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243584" y="4590288"/>
            <a:ext cx="9948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la plataforma que usa el equipo docente,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005840" y="4928616"/>
            <a:ext cx="73152" cy="18288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243584" y="4882896"/>
            <a:ext cx="9948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responder bajo el umbral acordado,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1005840" y="5221224"/>
            <a:ext cx="73152" cy="182880"/>
          </a:xfrm>
          <a:prstGeom prst="rect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243584" y="5175504"/>
            <a:ext cx="9948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verificado con mediciones repetidas y registradas.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280160" y="5815584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los cuatro tramos, otra persona puede pedirte la medición.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 · DEL ADJETIVO AL CRITERIO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«El sistema es rápido» expresa una impresión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afirmación verificable declara operación, carga, umbral y medición.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4114800" cy="3145536"/>
          </a:xfrm>
          <a:prstGeom prst="roundRect">
            <a:avLst>
              <a:gd name="adj" fmla="val 23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05840" y="26700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VAGO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23697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«El sistema es rápido»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060704" y="422452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sabemos qué operación, bajo qué condiciones ni con qué medición.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102352" y="3602736"/>
            <a:ext cx="80467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2304288"/>
            <a:ext cx="534009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65392" y="26700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VERIFICABLE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312724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6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940" dirty="0"/>
          </a:p>
        </p:txBody>
      </p:sp>
      <p:sp>
        <p:nvSpPr>
          <p:cNvPr id="19" name="Text 16"/>
          <p:cNvSpPr txBox="1"/>
          <p:nvPr/>
        </p:nvSpPr>
        <p:spPr>
          <a:xfrm>
            <a:off x="7991856" y="310896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una calificación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565392" y="3438144"/>
            <a:ext cx="45537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 txBox="1"/>
          <p:nvPr/>
        </p:nvSpPr>
        <p:spPr>
          <a:xfrm>
            <a:off x="6565392" y="3639312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6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940" dirty="0"/>
          </a:p>
        </p:txBody>
      </p:sp>
      <p:sp>
        <p:nvSpPr>
          <p:cNvPr id="22" name="Text 19"/>
          <p:cNvSpPr txBox="1"/>
          <p:nvPr/>
        </p:nvSpPr>
        <p:spPr>
          <a:xfrm>
            <a:off x="7991856" y="3621024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de solicitudes definida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565392" y="3950208"/>
            <a:ext cx="45537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6565392" y="415137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6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UMBRAL</a:t>
            </a:r>
            <a:endParaRPr lang="en-US" sz="940" dirty="0"/>
          </a:p>
        </p:txBody>
      </p:sp>
      <p:sp>
        <p:nvSpPr>
          <p:cNvPr id="25" name="Text 22"/>
          <p:cNvSpPr txBox="1"/>
          <p:nvPr/>
        </p:nvSpPr>
        <p:spPr>
          <a:xfrm>
            <a:off x="7991856" y="413308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máximo acordado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565392" y="4462272"/>
            <a:ext cx="45537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6565392" y="466344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65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40" dirty="0"/>
          </a:p>
        </p:txBody>
      </p:sp>
      <p:sp>
        <p:nvSpPr>
          <p:cNvPr id="28" name="Text 25"/>
          <p:cNvSpPr txBox="1"/>
          <p:nvPr/>
        </p:nvSpPr>
        <p:spPr>
          <a:xfrm>
            <a:off x="7991856" y="4645152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repetida y registrada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1883664" y="5760720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ayudará a descubrir qué propiedades vale la pena convertir en criterios.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 · ISO/IEC 25010:2023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Nueve características amplían las preguntas sobre el producto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entrega vocabulario compartido; no entrega una certificación automática.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194560"/>
            <a:ext cx="3273552" cy="3566160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94560"/>
            <a:ext cx="3273552" cy="475488"/>
          </a:xfrm>
          <a:prstGeom prst="roundRect">
            <a:avLst>
              <a:gd name="adj" fmla="val 13462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194560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Y RESPUESTA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932688" y="2926080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2688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16" name="Text 13"/>
          <p:cNvSpPr txBox="1"/>
          <p:nvPr/>
        </p:nvSpPr>
        <p:spPr>
          <a:xfrm>
            <a:off x="1572768" y="29077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 funcional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32688" y="3547872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932688" y="3767328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20" name="Text 17"/>
          <p:cNvSpPr txBox="1"/>
          <p:nvPr/>
        </p:nvSpPr>
        <p:spPr>
          <a:xfrm>
            <a:off x="1572768" y="374904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Eficiencia de desempeño</a:t>
            </a:r>
            <a:endParaRPr lang="en-US" sz="1320" dirty="0"/>
          </a:p>
        </p:txBody>
      </p:sp>
      <p:sp>
        <p:nvSpPr>
          <p:cNvPr id="21" name="Shape 18"/>
          <p:cNvSpPr/>
          <p:nvPr/>
        </p:nvSpPr>
        <p:spPr>
          <a:xfrm>
            <a:off x="932688" y="4389120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932688" y="4608576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1572768" y="45902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Compatibilidad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352544" y="2194560"/>
            <a:ext cx="3273552" cy="3566160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52544" y="2194560"/>
            <a:ext cx="3273552" cy="475488"/>
          </a:xfrm>
          <a:prstGeom prst="roundRect">
            <a:avLst>
              <a:gd name="adj" fmla="val 13462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17136" y="2194560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spc="55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USO, FALLOS Y AMENAZAS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4626864" y="2926080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26864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30" name="Text 27"/>
          <p:cNvSpPr txBox="1"/>
          <p:nvPr/>
        </p:nvSpPr>
        <p:spPr>
          <a:xfrm>
            <a:off x="5266944" y="29077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de interacción</a:t>
            </a:r>
            <a:endParaRPr lang="en-US" sz="1320" dirty="0"/>
          </a:p>
        </p:txBody>
      </p:sp>
      <p:sp>
        <p:nvSpPr>
          <p:cNvPr id="31" name="Shape 28"/>
          <p:cNvSpPr/>
          <p:nvPr/>
        </p:nvSpPr>
        <p:spPr>
          <a:xfrm>
            <a:off x="4626864" y="3547872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4626864" y="3767328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26864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34" name="Text 31"/>
          <p:cNvSpPr txBox="1"/>
          <p:nvPr/>
        </p:nvSpPr>
        <p:spPr>
          <a:xfrm>
            <a:off x="5266944" y="374904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Fiabilidad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4626864" y="4389120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4626864" y="4608576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626864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38" name="Text 35"/>
          <p:cNvSpPr txBox="1"/>
          <p:nvPr/>
        </p:nvSpPr>
        <p:spPr>
          <a:xfrm>
            <a:off x="5266944" y="45902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8046720" y="2194560"/>
            <a:ext cx="3273552" cy="3566160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46720" y="2194560"/>
            <a:ext cx="3273552" cy="475488"/>
          </a:xfrm>
          <a:prstGeom prst="roundRect">
            <a:avLst>
              <a:gd name="adj" fmla="val 13462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11312" y="2194560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Y CONSECUENCIAS</a:t>
            </a:r>
            <a:endParaRPr lang="en-US" sz="920" dirty="0"/>
          </a:p>
        </p:txBody>
      </p:sp>
      <p:sp>
        <p:nvSpPr>
          <p:cNvPr id="42" name="Shape 39"/>
          <p:cNvSpPr/>
          <p:nvPr/>
        </p:nvSpPr>
        <p:spPr>
          <a:xfrm>
            <a:off x="8321040" y="2926080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32104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80" dirty="0"/>
          </a:p>
        </p:txBody>
      </p:sp>
      <p:sp>
        <p:nvSpPr>
          <p:cNvPr id="44" name="Text 41"/>
          <p:cNvSpPr txBox="1"/>
          <p:nvPr/>
        </p:nvSpPr>
        <p:spPr>
          <a:xfrm>
            <a:off x="8961120" y="2907792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321040" y="3547872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6" name="Shape 43"/>
          <p:cNvSpPr/>
          <p:nvPr/>
        </p:nvSpPr>
        <p:spPr>
          <a:xfrm>
            <a:off x="8321040" y="3767328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32104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80" dirty="0"/>
          </a:p>
        </p:txBody>
      </p:sp>
      <p:sp>
        <p:nvSpPr>
          <p:cNvPr id="48" name="Text 45"/>
          <p:cNvSpPr txBox="1"/>
          <p:nvPr/>
        </p:nvSpPr>
        <p:spPr>
          <a:xfrm>
            <a:off x="8961120" y="3749040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Flexibilidad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8321040" y="4389120"/>
            <a:ext cx="27249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50" name="Shape 47"/>
          <p:cNvSpPr/>
          <p:nvPr/>
        </p:nvSpPr>
        <p:spPr>
          <a:xfrm>
            <a:off x="8321040" y="4608576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32104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80" dirty="0"/>
          </a:p>
        </p:txBody>
      </p:sp>
      <p:sp>
        <p:nvSpPr>
          <p:cNvPr id="52" name="Text 49"/>
          <p:cNvSpPr txBox="1"/>
          <p:nvPr/>
        </p:nvSpPr>
        <p:spPr>
          <a:xfrm>
            <a:off x="8961120" y="4590288"/>
            <a:ext cx="19933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operacional</a:t>
            </a:r>
            <a:endParaRPr lang="en-US" sz="13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 · CÓMO USAR EL MODELO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ISO/IEC 25010 organiza preguntas, no entrega respuestas automáticas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lecturas equivocadas del estándar y la corrección que evita cada una.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2311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EQUIVOCADA</a:t>
            </a:r>
            <a:endParaRPr lang="en-US" sz="960" dirty="0"/>
          </a:p>
        </p:txBody>
      </p:sp>
      <p:sp>
        <p:nvSpPr>
          <p:cNvPr id="12" name="Text 9"/>
          <p:cNvSpPr txBox="1"/>
          <p:nvPr/>
        </p:nvSpPr>
        <p:spPr>
          <a:xfrm>
            <a:off x="6455664" y="22311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QUE LA CORRIGE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658368" y="2779776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1371600" y="2523744"/>
            <a:ext cx="4443984" cy="1005840"/>
          </a:xfrm>
          <a:prstGeom prst="roundRect">
            <a:avLst>
              <a:gd name="adj" fmla="val 5455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609344" y="2523744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«Marcamos las nueve y quedamos cubiertos.»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998464" y="2816352"/>
            <a:ext cx="3108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55664" y="2523744"/>
            <a:ext cx="5084064" cy="1005840"/>
          </a:xfrm>
          <a:prstGeom prst="roundRect">
            <a:avLst>
              <a:gd name="adj" fmla="val 545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55664" y="2523744"/>
            <a:ext cx="82296" cy="1005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29984" y="2523744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 checklist: una característica puede necesitar varias evidencias y conservar riesgos abiertos.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8368" y="3931920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3931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1371600" y="3675888"/>
            <a:ext cx="4443984" cy="1005840"/>
          </a:xfrm>
          <a:prstGeom prst="roundRect">
            <a:avLst>
              <a:gd name="adj" fmla="val 5455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609344" y="3675888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«Las nueve características valen lo mismo.»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998464" y="3968496"/>
            <a:ext cx="3108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55664" y="3675888"/>
            <a:ext cx="5084064" cy="1005840"/>
          </a:xfrm>
          <a:prstGeom prst="roundRect">
            <a:avLst>
              <a:gd name="adj" fmla="val 545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55664" y="3675888"/>
            <a:ext cx="82296" cy="10058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29984" y="3675888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prioridad depende del contexto: usuarios, consecuencias y propósito deciden qué exige más atención.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8368" y="5084064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8368" y="50840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1371600" y="4828032"/>
            <a:ext cx="4443984" cy="1005840"/>
          </a:xfrm>
          <a:prstGeom prst="roundRect">
            <a:avLst>
              <a:gd name="adj" fmla="val 5455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609344" y="4828032"/>
            <a:ext cx="3968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«pytest en verde equivale a adecuación funcional.»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5998464" y="5120640"/>
            <a:ext cx="3108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55664" y="4828032"/>
            <a:ext cx="5084064" cy="1005840"/>
          </a:xfrm>
          <a:prstGeom prst="roundRect">
            <a:avLst>
              <a:gd name="adj" fmla="val 545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55664" y="4828032"/>
            <a:ext cx="82296" cy="10058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729984" y="4828032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herramienta aporta una señal parcial dentro de una característica, nunca la característica completa.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371600" y="5943600"/>
            <a:ext cx="10168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no dice si el producto es bueno: dice qué preguntas deberías poder responder.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 · EJERCICIO INDIVIDUAL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Semáforo de evidencia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 cada afirmación según el respaldo disponible al terminar la Clase 02.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517904" cy="3346704"/>
          </a:xfrm>
          <a:prstGeom prst="roundRect">
            <a:avLst>
              <a:gd name="adj" fmla="val 843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0120" y="2322576"/>
            <a:ext cx="914400" cy="9144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232257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87168" y="2322576"/>
            <a:ext cx="9052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87168" y="2322576"/>
            <a:ext cx="91440" cy="9144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79776" y="25054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443984" y="2487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respaldo directo.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2779776" y="2852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spc="5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justifica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4443984" y="28346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Puedes citar el archivo, el comando y el resultado exacto.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60120" y="3456432"/>
            <a:ext cx="914400" cy="9144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0120" y="345643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487168" y="3456432"/>
            <a:ext cx="9052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87168" y="3456432"/>
            <a:ext cx="91440" cy="9144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779776" y="363931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AMARILLO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443984" y="362102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evidencia relacionada, pero parcial.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2779776" y="39867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spc="5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justifica</a:t>
            </a:r>
            <a:endParaRPr lang="en-US" sz="960" dirty="0"/>
          </a:p>
        </p:txBody>
      </p:sp>
      <p:sp>
        <p:nvSpPr>
          <p:cNvPr id="27" name="Text 24"/>
          <p:cNvSpPr txBox="1"/>
          <p:nvPr/>
        </p:nvSpPr>
        <p:spPr>
          <a:xfrm>
            <a:off x="4443984" y="39684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señal toca la propiedad, pero no la cubre completa.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960120" y="4590288"/>
            <a:ext cx="914400" cy="9144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60120" y="459028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487168" y="4590288"/>
            <a:ext cx="90525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87168" y="4590288"/>
            <a:ext cx="91440" cy="9144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779776" y="4773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2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443984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controles no respaldan la afirmación.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2779776" y="5120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spc="5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justifica</a:t>
            </a:r>
            <a:endParaRPr lang="en-US" sz="960" dirty="0"/>
          </a:p>
        </p:txBody>
      </p:sp>
      <p:sp>
        <p:nvSpPr>
          <p:cNvPr id="35" name="Text 32"/>
          <p:cNvSpPr txBox="1"/>
          <p:nvPr/>
        </p:nvSpPr>
        <p:spPr>
          <a:xfrm>
            <a:off x="4443984" y="5102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Ningún comando ejecutado observa esa propiedad.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58368" y="5815584"/>
            <a:ext cx="10881360" cy="475488"/>
          </a:xfrm>
          <a:prstGeom prst="roundRect">
            <a:avLst>
              <a:gd name="adj" fmla="val 961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77824" y="5815584"/>
            <a:ext cx="10442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clasifiques por intuición: cita el archivo, comando o resultado que respalda tu decisión.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SEMÁFORO · PARTE 1 DE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 las primeras tres afirmaciones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Verde, amarillo o rojo: marca V, A o R y escribe la evidencia que respalda tu elección.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813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2523744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5237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377440"/>
            <a:ext cx="6089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dependencias declaradas y el lockfile están alineados.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92608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96896" y="3090672"/>
            <a:ext cx="50292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7882128" y="2523744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82128" y="25237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8942832" y="2523744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42832" y="25237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10003536" y="2523744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03536" y="25237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58368" y="3419856"/>
            <a:ext cx="108813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6112" y="3694176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6112" y="3694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60" dirty="0"/>
          </a:p>
        </p:txBody>
      </p:sp>
      <p:sp>
        <p:nvSpPr>
          <p:cNvPr id="26" name="Text 23"/>
          <p:cNvSpPr txBox="1"/>
          <p:nvPr/>
        </p:nvSpPr>
        <p:spPr>
          <a:xfrm>
            <a:off x="1554480" y="3547872"/>
            <a:ext cx="6089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supera los cuatro ejemplos escritos en test_notas.py.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1554480" y="409651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596896" y="4261104"/>
            <a:ext cx="50292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7882128" y="3694176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82128" y="369417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8942832" y="3694176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42832" y="369417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10003536" y="3694176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003536" y="369417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658368" y="4590288"/>
            <a:ext cx="108813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6112" y="4864608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96112" y="48646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60" dirty="0"/>
          </a:p>
        </p:txBody>
      </p:sp>
      <p:sp>
        <p:nvSpPr>
          <p:cNvPr id="38" name="Text 35"/>
          <p:cNvSpPr txBox="1"/>
          <p:nvPr/>
        </p:nvSpPr>
        <p:spPr>
          <a:xfrm>
            <a:off x="1554480" y="4718304"/>
            <a:ext cx="6089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calcula correctamente cualquier combinación posible de notas.</a:t>
            </a:r>
            <a:endParaRPr lang="en-US" sz="1550" dirty="0"/>
          </a:p>
        </p:txBody>
      </p:sp>
      <p:sp>
        <p:nvSpPr>
          <p:cNvPr id="39" name="Text 36"/>
          <p:cNvSpPr txBox="1"/>
          <p:nvPr/>
        </p:nvSpPr>
        <p:spPr>
          <a:xfrm>
            <a:off x="1554480" y="5266944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596896" y="5431536"/>
            <a:ext cx="50292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1" name="Shape 38"/>
          <p:cNvSpPr/>
          <p:nvPr/>
        </p:nvSpPr>
        <p:spPr>
          <a:xfrm>
            <a:off x="7882128" y="4864608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882128" y="48646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8942832" y="4864608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942832" y="48646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10003536" y="4864608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003536" y="48646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1280160" y="5907024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un estado y prepara una evidencia que pueda contradecirte.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SEMÁFORO · PARTE 2 DE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 las tres afirmaciones restantes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una señal parcial de una conclusión ajena a los controles; marca V, A o R y cita tu evidencia.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813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96112" y="2523744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5237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6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377440"/>
            <a:ext cx="6089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contrato analizado declara que la función recibe una lista de números.</a:t>
            </a:r>
            <a:endParaRPr lang="en-US" sz="155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92608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596896" y="3090672"/>
            <a:ext cx="50292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7882128" y="2523744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82128" y="25237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8942832" y="2523744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42832" y="25237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10003536" y="2523744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03536" y="25237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58368" y="3419856"/>
            <a:ext cx="108813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6112" y="3694176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6112" y="3694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60" dirty="0"/>
          </a:p>
        </p:txBody>
      </p:sp>
      <p:sp>
        <p:nvSpPr>
          <p:cNvPr id="26" name="Text 23"/>
          <p:cNvSpPr txBox="1"/>
          <p:nvPr/>
        </p:nvSpPr>
        <p:spPr>
          <a:xfrm>
            <a:off x="1554480" y="3547872"/>
            <a:ext cx="6089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producto protege adecuadamente las calificaciones.</a:t>
            </a:r>
            <a:endParaRPr lang="en-US" sz="1550" dirty="0"/>
          </a:p>
        </p:txBody>
      </p:sp>
      <p:sp>
        <p:nvSpPr>
          <p:cNvPr id="27" name="Text 24"/>
          <p:cNvSpPr txBox="1"/>
          <p:nvPr/>
        </p:nvSpPr>
        <p:spPr>
          <a:xfrm>
            <a:off x="1554480" y="4096512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596896" y="4261104"/>
            <a:ext cx="50292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Shape 26"/>
          <p:cNvSpPr/>
          <p:nvPr/>
        </p:nvSpPr>
        <p:spPr>
          <a:xfrm>
            <a:off x="7882128" y="3694176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82128" y="369417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8942832" y="3694176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42832" y="369417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10003536" y="3694176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003536" y="369417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658368" y="4590288"/>
            <a:ext cx="10881360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96112" y="4864608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96112" y="48646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60" dirty="0"/>
          </a:p>
        </p:txBody>
      </p:sp>
      <p:sp>
        <p:nvSpPr>
          <p:cNvPr id="38" name="Text 35"/>
          <p:cNvSpPr txBox="1"/>
          <p:nvPr/>
        </p:nvSpPr>
        <p:spPr>
          <a:xfrm>
            <a:off x="1554480" y="4718304"/>
            <a:ext cx="6089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será fácil de modificar por cualquier integrante del equipo.</a:t>
            </a:r>
            <a:endParaRPr lang="en-US" sz="1550" dirty="0"/>
          </a:p>
        </p:txBody>
      </p:sp>
      <p:sp>
        <p:nvSpPr>
          <p:cNvPr id="39" name="Text 36"/>
          <p:cNvSpPr txBox="1"/>
          <p:nvPr/>
        </p:nvSpPr>
        <p:spPr>
          <a:xfrm>
            <a:off x="1554480" y="5266944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2596896" y="5431536"/>
            <a:ext cx="5029200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41" name="Shape 38"/>
          <p:cNvSpPr/>
          <p:nvPr/>
        </p:nvSpPr>
        <p:spPr>
          <a:xfrm>
            <a:off x="7882128" y="4864608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882128" y="48646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</a:t>
            </a:r>
            <a:endParaRPr lang="en-US" sz="1700" dirty="0"/>
          </a:p>
        </p:txBody>
      </p:sp>
      <p:sp>
        <p:nvSpPr>
          <p:cNvPr id="43" name="Shape 40"/>
          <p:cNvSpPr/>
          <p:nvPr/>
        </p:nvSpPr>
        <p:spPr>
          <a:xfrm>
            <a:off x="8942832" y="4864608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942832" y="48646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</a:t>
            </a:r>
            <a:endParaRPr lang="en-US" sz="1700" dirty="0"/>
          </a:p>
        </p:txBody>
      </p:sp>
      <p:sp>
        <p:nvSpPr>
          <p:cNvPr id="45" name="Shape 42"/>
          <p:cNvSpPr/>
          <p:nvPr/>
        </p:nvSpPr>
        <p:spPr>
          <a:xfrm>
            <a:off x="10003536" y="4864608"/>
            <a:ext cx="91440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003536" y="486460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1280160" y="5907024"/>
            <a:ext cx="9637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herramienta relacionada con la propiedad no demuestra la propiedad completa.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SEMÁFORO · CONTRASTE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respuesta correcta conserva el alcance de la evidencia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clasificación vale por su razonamiento, no solo por el color elegido.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8096" y="2377440"/>
            <a:ext cx="1594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68096" y="2615184"/>
            <a:ext cx="1594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471928" y="2377440"/>
            <a:ext cx="18288" cy="4937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81656" y="2377440"/>
            <a:ext cx="1594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581656" y="2615184"/>
            <a:ext cx="1594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85488" y="2377440"/>
            <a:ext cx="18288" cy="4937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95216" y="2377440"/>
            <a:ext cx="1594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395216" y="2615184"/>
            <a:ext cx="1594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099048" y="2377440"/>
            <a:ext cx="18288" cy="4937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08776" y="2377440"/>
            <a:ext cx="1594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208776" y="2615184"/>
            <a:ext cx="1594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AMARILLO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12608" y="2377440"/>
            <a:ext cx="18288" cy="4937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22336" y="2377440"/>
            <a:ext cx="1594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022336" y="2615184"/>
            <a:ext cx="1594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9726168" y="2377440"/>
            <a:ext cx="18288" cy="493776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835896" y="2377440"/>
            <a:ext cx="1594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9835896" y="2615184"/>
            <a:ext cx="1594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AMARILLO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58368" y="3346704"/>
            <a:ext cx="5120640" cy="2377440"/>
          </a:xfrm>
          <a:prstGeom prst="roundRect">
            <a:avLst>
              <a:gd name="adj" fmla="val 2692"/>
            </a:avLst>
          </a:prstGeom>
          <a:solidFill>
            <a:srgbClr val="102A43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69264" y="362102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NO SE PUEDE AFIRMAR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69264" y="3931920"/>
            <a:ext cx="44988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«Todo quedó verde, por lo tanto el producto cumple los estándares de calidad y está listo para utilizarse».</a:t>
            </a:r>
            <a:endParaRPr lang="en-US" sz="1550" dirty="0"/>
          </a:p>
        </p:txBody>
      </p:sp>
      <p:sp>
        <p:nvSpPr>
          <p:cNvPr id="32" name="Shape 29"/>
          <p:cNvSpPr/>
          <p:nvPr/>
        </p:nvSpPr>
        <p:spPr>
          <a:xfrm>
            <a:off x="969264" y="4992624"/>
            <a:ext cx="449884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3" name="Text 30"/>
          <p:cNvSpPr txBox="1"/>
          <p:nvPr/>
        </p:nvSpPr>
        <p:spPr>
          <a:xfrm>
            <a:off x="969264" y="5120640"/>
            <a:ext cx="4498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respaldo: «cumple los estándares» y «listo para utilizarse»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5998464" y="4315968"/>
            <a:ext cx="3108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55664" y="3346704"/>
            <a:ext cx="5084064" cy="2377440"/>
          </a:xfrm>
          <a:prstGeom prst="roundRect">
            <a:avLst>
              <a:gd name="adj" fmla="val 269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55664" y="3346704"/>
            <a:ext cx="5084064" cy="822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766560" y="36393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PROPORCIONAL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766560" y="3931920"/>
            <a:ext cx="44622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está alineado y la función supera los cuatro casos ejecutados.</a:t>
            </a:r>
            <a:endParaRPr lang="en-US" sz="1550" dirty="0"/>
          </a:p>
        </p:txBody>
      </p:sp>
      <p:sp>
        <p:nvSpPr>
          <p:cNvPr id="39" name="Shape 36"/>
          <p:cNvSpPr/>
          <p:nvPr/>
        </p:nvSpPr>
        <p:spPr>
          <a:xfrm>
            <a:off x="6766560" y="4992624"/>
            <a:ext cx="4462272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40" name="Text 37"/>
          <p:cNvSpPr txBox="1"/>
          <p:nvPr/>
        </p:nvSpPr>
        <p:spPr>
          <a:xfrm>
            <a:off x="6766560" y="5120640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otras propiedades de calidad todavía requieren criterios y evidencia</a:t>
            </a:r>
            <a:endParaRPr lang="en-US" sz="1250" dirty="0"/>
          </a:p>
        </p:txBody>
      </p:sp>
      <p:sp>
        <p:nvSpPr>
          <p:cNvPr id="41" name="Text 38"/>
          <p:cNvSpPr txBox="1"/>
          <p:nvPr/>
        </p:nvSpPr>
        <p:spPr>
          <a:xfrm>
            <a:off x="1280160" y="5961888"/>
            <a:ext cx="9637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corrige no es el color elegido, sino la parte de la frase que ninguna evidencia sostiene.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PUNTO DE CONTROL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avanzar, comprueba cuatro capacidades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memorizar nombres: es conservar el alcance de cada afirmación.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04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426464" y="2249424"/>
            <a:ext cx="1011326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73936" y="2249424"/>
            <a:ext cx="9363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ejecución, cumplimiento de casos y calidad del producto.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3127248"/>
            <a:ext cx="530352" cy="5303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426464" y="3072384"/>
            <a:ext cx="1011326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73936" y="3072384"/>
            <a:ext cx="9363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 una pregunta que los cuatro controles no responden.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8368" y="3950208"/>
            <a:ext cx="530352" cy="53035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950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426464" y="3895344"/>
            <a:ext cx="1011326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773936" y="3895344"/>
            <a:ext cx="9363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 una afirmación y justificarla mediante evidencia.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" y="4773168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773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426464" y="4718304"/>
            <a:ext cx="1011326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773936" y="4718304"/>
            <a:ext cx="9363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por qué ISO/IEC 25010 funciona como mapa, no como certificación.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938528" y="5724144"/>
            <a:ext cx="8321040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176272" y="5724144"/>
            <a:ext cx="7845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puedes mostrar la evidencia y limitar la conclusión, el bloque está completo.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PREGUNTAS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con alcance, contexto, criterio y evidencia; la pista solo desbloquea el razonamiento.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40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2494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4 passed no permite afirmar que nota_final() es correcta para cualquier entrada?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81328" y="2889504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81328" y="2889504"/>
            <a:ext cx="73152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00784" y="28895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2523744" y="28895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los valores realmente ejecutados con todas las entradas que todavía no tienen un caso representado.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3675888"/>
            <a:ext cx="530352" cy="5303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675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" y="358444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información falta cuando alguien afirma simplemente que un producto «es de calidad»?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481328" y="4224528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81328" y="4224528"/>
            <a:ext cx="73152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00784" y="4224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422452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la propiedad, el contexto, el criterio y la evidencia que deberían acompañar esa afirmación.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58368" y="5010912"/>
            <a:ext cx="530352" cy="53035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481328" y="4919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una herramienta en verde no equivale a una característica ISO/IEC 25010 cumplida?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481328" y="5559552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81328" y="5559552"/>
            <a:ext cx="73152" cy="4572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700784" y="5559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2523744" y="55595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 el alcance del comando y compáralo con todo lo que habría que evaluar dentro de la característica.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BLOQUE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3502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evidencia es valiosa</a:t>
            </a:r>
            <a:endParaRPr lang="en-US" sz="3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93392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su alcance permanece visible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658368" y="3236976"/>
            <a:ext cx="2468880" cy="1316736"/>
          </a:xfrm>
          <a:prstGeom prst="roundRect">
            <a:avLst>
              <a:gd name="adj" fmla="val 416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352958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" y="39136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passed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182112" y="367588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19856" y="3236976"/>
            <a:ext cx="2468880" cy="1316736"/>
          </a:xfrm>
          <a:prstGeom prst="roundRect">
            <a:avLst>
              <a:gd name="adj" fmla="val 416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39312" y="352958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639312" y="39136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cuatro casos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943600" y="367588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81344" y="3236976"/>
            <a:ext cx="2468880" cy="1316736"/>
          </a:xfrm>
          <a:prstGeom prst="roundRect">
            <a:avLst>
              <a:gd name="adj" fmla="val 416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352958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39136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real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705088" y="367588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42832" y="3236976"/>
            <a:ext cx="2468880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62288" y="352958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62288" y="39136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falta?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389888" y="5248656"/>
            <a:ext cx="94183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45920" y="5248656"/>
            <a:ext cx="89062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Siguiente: convertir las nueve características en preguntas observables sobre el producto.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6766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25 MINUTOS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4358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Nueve características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0195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hacer mejores preguntas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658368" y="3236976"/>
            <a:ext cx="2468880" cy="1261872"/>
          </a:xfrm>
          <a:prstGeom prst="roundRect">
            <a:avLst>
              <a:gd name="adj" fmla="val 434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3236976"/>
            <a:ext cx="2468880" cy="731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35478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NOMBRAR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" y="389534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propiedad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182112" y="367588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19856" y="3236976"/>
            <a:ext cx="2468880" cy="1261872"/>
          </a:xfrm>
          <a:prstGeom prst="roundRect">
            <a:avLst>
              <a:gd name="adj" fmla="val 434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19856" y="3236976"/>
            <a:ext cx="2468880" cy="731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21024" y="35478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ATERRIZAR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621024" y="389534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riesgo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43600" y="367588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81344" y="3236976"/>
            <a:ext cx="2468880" cy="1261872"/>
          </a:xfrm>
          <a:prstGeom prst="roundRect">
            <a:avLst>
              <a:gd name="adj" fmla="val 434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81344" y="3236976"/>
            <a:ext cx="2468880" cy="7315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35478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89534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705088" y="367588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942832" y="3236976"/>
            <a:ext cx="2468880" cy="1261872"/>
          </a:xfrm>
          <a:prstGeom prst="roundRect">
            <a:avLst>
              <a:gd name="adj" fmla="val 434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942832" y="3236976"/>
            <a:ext cx="2468880" cy="73152"/>
          </a:xfrm>
          <a:prstGeom prst="rect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144000" y="3547872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RESPALDAR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144000" y="389534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1170432" y="5230368"/>
            <a:ext cx="98572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organiza la conversación; el contexto decide qué importa y cómo comprobarlo.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CADENA DE ANÁLISIS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nombre abstracto a una cadena verificable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paso restringe la interpretación y acerca la preocupación a una evidencia concreta.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87168"/>
            <a:ext cx="1938528" cy="201168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487168"/>
            <a:ext cx="1938528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77824" y="2798064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341985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" y="376732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¿Para quién y para qué?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633472" y="3310128"/>
            <a:ext cx="18288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71216" y="2779776"/>
            <a:ext cx="1938528" cy="201168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71216" y="2779776"/>
            <a:ext cx="1938528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090672" y="3090672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09067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3090672" y="371246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090672" y="405993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ocurre si falla?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46320" y="3602736"/>
            <a:ext cx="18288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84064" y="2487168"/>
            <a:ext cx="1938528" cy="201168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84064" y="2487168"/>
            <a:ext cx="1938528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303520" y="2798064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0352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303520" y="341985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CARACTERÍSTICA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303520" y="376732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propiedad se afecta?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059168" y="3310128"/>
            <a:ext cx="18288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296912" y="2779776"/>
            <a:ext cx="1938528" cy="201168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296912" y="2779776"/>
            <a:ext cx="1938528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16368" y="3090672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516368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7516368" y="3712464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7516368" y="405993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debería observarse?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9272016" y="3602736"/>
            <a:ext cx="18288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509760" y="2487168"/>
            <a:ext cx="1938528" cy="2011680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509760" y="2487168"/>
            <a:ext cx="1938528" cy="91440"/>
          </a:xfrm>
          <a:prstGeom prst="rect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29216" y="2798064"/>
            <a:ext cx="457200" cy="457200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729216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9729216" y="3419856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9729216" y="376732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lo comprobaremos?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1298448" y="5230368"/>
            <a:ext cx="9601200" cy="621792"/>
          </a:xfrm>
          <a:prstGeom prst="roundRect">
            <a:avLst>
              <a:gd name="adj" fmla="val 73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591056" y="5230368"/>
            <a:ext cx="90159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característica aislada es vocabulario. Con riesgo, criterio y evidencia se convierte en una decisión técnica.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EJEMPLO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«La aplicación debe ser rápida» todavía no es un criterio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palabra expresa una expectativa; la cadena revela qué falta para poder medirla.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408176" y="2286000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889504" y="2286000"/>
            <a:ext cx="8650224" cy="566928"/>
          </a:xfrm>
          <a:prstGeom prst="roundRect">
            <a:avLst>
              <a:gd name="adj" fmla="val 645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45536" y="22860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 una calificación durante una atención presencial.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3054096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" y="3054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08176" y="2999232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889504" y="2999232"/>
            <a:ext cx="8650224" cy="566928"/>
          </a:xfrm>
          <a:prstGeom prst="roundRect">
            <a:avLst>
              <a:gd name="adj" fmla="val 645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45536" y="299923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demora interrumpe la tarea y obliga a esperar o repetirla.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658368" y="3767328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408176" y="3712464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889504" y="3712464"/>
            <a:ext cx="8650224" cy="566928"/>
          </a:xfrm>
          <a:prstGeom prst="roundRect">
            <a:avLst>
              <a:gd name="adj" fmla="val 645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145536" y="37124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Eficiencia de desempeño.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658368" y="4480560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408176" y="4425696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889504" y="4425696"/>
            <a:ext cx="8650224" cy="566928"/>
          </a:xfrm>
          <a:prstGeom prst="roundRect">
            <a:avLst>
              <a:gd name="adj" fmla="val 645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145536" y="442569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Operación, carga y tiempo aceptable acordados.</a:t>
            </a:r>
            <a:endParaRPr lang="en-US" sz="1450" dirty="0"/>
          </a:p>
        </p:txBody>
      </p:sp>
      <p:sp>
        <p:nvSpPr>
          <p:cNvPr id="31" name="Shape 28"/>
          <p:cNvSpPr/>
          <p:nvPr/>
        </p:nvSpPr>
        <p:spPr>
          <a:xfrm>
            <a:off x="658368" y="5193792"/>
            <a:ext cx="457200" cy="457200"/>
          </a:xfrm>
          <a:prstGeom prst="ellipse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58368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408176" y="5138928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889504" y="5138928"/>
            <a:ext cx="8650224" cy="566928"/>
          </a:xfrm>
          <a:prstGeom prst="roundRect">
            <a:avLst>
              <a:gd name="adj" fmla="val 645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145536" y="513892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repetida bajo condiciones controladas.</a:t>
            </a:r>
            <a:endParaRPr lang="en-US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1115568" y="59436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«Rápida» deja de ser una opinión cuando sabemos qué operación, bajo qué carga y dentro de qué tiempo.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CRITERIO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recuerda la pregunta; el contexto entrega el valor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25010 no decide cuántos segundos, usuarios o errores son aceptables para tu producto.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32180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109728" cy="107899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87552" y="24323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32304" y="2414016"/>
            <a:ext cx="3273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 real, expectativa y consecuencias de la espera.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217920" y="2249424"/>
            <a:ext cx="532180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249424"/>
            <a:ext cx="109728" cy="107899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47104" y="243230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991856" y="2414016"/>
            <a:ext cx="3273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Normas, políticas y condiciones explícitas del producto.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58368" y="3547872"/>
            <a:ext cx="532180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3547872"/>
            <a:ext cx="109728" cy="1078992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87552" y="373075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ACUERDOS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432304" y="3712464"/>
            <a:ext cx="3273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Compromisos técnicos, contratos y niveles de servicio.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217920" y="3547872"/>
            <a:ext cx="532180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0" y="3547872"/>
            <a:ext cx="109728" cy="1078992"/>
          </a:xfrm>
          <a:prstGeom prst="rect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47104" y="3730752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991856" y="3712464"/>
            <a:ext cx="32735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Daño, costo o interrupción que produciría el incumplimiento.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847088" y="5084064"/>
            <a:ext cx="8503920" cy="768096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157984" y="5084064"/>
            <a:ext cx="1591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CONTEXTO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3803904" y="5084064"/>
            <a:ext cx="62544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estándar aporta vocabulario, pero no un veredicto ni un umbral inventado.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 · CARACTERÍSTICA 1 DE 9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Adecuación funcional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pregunta no es si la función ejecuta, sino si entrega exactamente lo que la tarea exige.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81360" cy="676656"/>
          </a:xfrm>
          <a:prstGeom prst="roundRect">
            <a:avLst>
              <a:gd name="adj" fmla="val 675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2249424"/>
            <a:ext cx="1036929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¿ENTREGA LAS FUNCIONES CORRECTAS, COMPLETAS Y APROPIADAS?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9536" y="3310128"/>
            <a:ext cx="24871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9536" y="3310128"/>
            <a:ext cx="2487168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0704" y="360273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5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VÁLIDA</a:t>
            </a:r>
            <a:endParaRPr lang="en-US" sz="940" dirty="0"/>
          </a:p>
        </p:txBody>
      </p:sp>
      <p:sp>
        <p:nvSpPr>
          <p:cNvPr id="16" name="Text 13"/>
          <p:cNvSpPr txBox="1"/>
          <p:nvPr/>
        </p:nvSpPr>
        <p:spPr>
          <a:xfrm>
            <a:off x="1060704" y="396849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3.95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3456432" y="3730752"/>
            <a:ext cx="27432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77056" y="3310128"/>
            <a:ext cx="24871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77056" y="3310128"/>
            <a:ext cx="2487168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78224" y="360273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ACORDADA</a:t>
            </a:r>
            <a:endParaRPr lang="en-US" sz="940" dirty="0"/>
          </a:p>
        </p:txBody>
      </p:sp>
      <p:sp>
        <p:nvSpPr>
          <p:cNvPr id="21" name="Text 18"/>
          <p:cNvSpPr txBox="1"/>
          <p:nvPr/>
        </p:nvSpPr>
        <p:spPr>
          <a:xfrm>
            <a:off x="4078224" y="396849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ROUND_HALF_UP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73952" y="3730752"/>
            <a:ext cx="27432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94576" y="3310128"/>
            <a:ext cx="2487168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94576" y="3310128"/>
            <a:ext cx="2487168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095744" y="360273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ESPERADA</a:t>
            </a:r>
            <a:endParaRPr lang="en-US" sz="940" dirty="0"/>
          </a:p>
        </p:txBody>
      </p:sp>
      <p:sp>
        <p:nvSpPr>
          <p:cNvPr id="26" name="Text 23"/>
          <p:cNvSpPr txBox="1"/>
          <p:nvPr/>
        </p:nvSpPr>
        <p:spPr>
          <a:xfrm>
            <a:off x="7095744" y="396849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9893808" y="3310128"/>
            <a:ext cx="1645920" cy="1298448"/>
          </a:xfrm>
          <a:prstGeom prst="roundRect">
            <a:avLst>
              <a:gd name="adj" fmla="val 4930"/>
            </a:avLst>
          </a:prstGeom>
          <a:solidFill>
            <a:srgbClr val="F2E7D9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76688" y="35661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940" dirty="0"/>
          </a:p>
        </p:txBody>
      </p:sp>
      <p:sp>
        <p:nvSpPr>
          <p:cNvPr id="29" name="Text 26"/>
          <p:cNvSpPr txBox="1"/>
          <p:nvPr/>
        </p:nvSpPr>
        <p:spPr>
          <a:xfrm>
            <a:off x="10076688" y="391363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10040112" y="431596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respeta la regla</a:t>
            </a:r>
            <a:endParaRPr lang="en-US" sz="960" dirty="0"/>
          </a:p>
        </p:txBody>
      </p:sp>
      <p:sp>
        <p:nvSpPr>
          <p:cNvPr id="31" name="Text 28"/>
          <p:cNvSpPr txBox="1"/>
          <p:nvPr/>
        </p:nvSpPr>
        <p:spPr>
          <a:xfrm>
            <a:off x="658368" y="4974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QUE PUEDE SOSTENER LA DECISIÓN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658368" y="5340096"/>
            <a:ext cx="246888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" y="534009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1220" dirty="0"/>
          </a:p>
        </p:txBody>
      </p:sp>
      <p:sp>
        <p:nvSpPr>
          <p:cNvPr id="34" name="Shape 31"/>
          <p:cNvSpPr/>
          <p:nvPr/>
        </p:nvSpPr>
        <p:spPr>
          <a:xfrm>
            <a:off x="3419856" y="5340096"/>
            <a:ext cx="246888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566160" y="534009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Aceptación</a:t>
            </a:r>
            <a:endParaRPr lang="en-US" sz="1220" dirty="0"/>
          </a:p>
        </p:txBody>
      </p:sp>
      <p:sp>
        <p:nvSpPr>
          <p:cNvPr id="36" name="Shape 33"/>
          <p:cNvSpPr/>
          <p:nvPr/>
        </p:nvSpPr>
        <p:spPr>
          <a:xfrm>
            <a:off x="6181344" y="5340096"/>
            <a:ext cx="2468880" cy="512064"/>
          </a:xfrm>
          <a:prstGeom prst="roundRect">
            <a:avLst>
              <a:gd name="adj" fmla="val 71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27648" y="534009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Tabla de decisión</a:t>
            </a:r>
            <a:endParaRPr lang="en-US" sz="1220" dirty="0"/>
          </a:p>
        </p:txBody>
      </p:sp>
      <p:sp>
        <p:nvSpPr>
          <p:cNvPr id="38" name="Shape 35"/>
          <p:cNvSpPr/>
          <p:nvPr/>
        </p:nvSpPr>
        <p:spPr>
          <a:xfrm>
            <a:off x="8942832" y="5340096"/>
            <a:ext cx="246888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089136" y="5340096"/>
            <a:ext cx="2176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</a:t>
            </a:r>
            <a:endParaRPr lang="en-US" sz="1220" dirty="0"/>
          </a:p>
        </p:txBody>
      </p:sp>
      <p:sp>
        <p:nvSpPr>
          <p:cNvPr id="40" name="Text 37"/>
          <p:cNvSpPr txBox="1"/>
          <p:nvPr/>
        </p:nvSpPr>
        <p:spPr>
          <a:xfrm>
            <a:off x="1188720" y="6016752"/>
            <a:ext cx="9802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función ejecute no demuestra que resuelva correctamente la necesidad.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CARACTERÍSTICA 2 DE 9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Eficiencia de desempeño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impresión de rapidez se convierte en evidencia cuando declaramos operación, carga, tiempo y recursos.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6839712" cy="3493008"/>
          </a:xfrm>
          <a:prstGeom prst="roundRect">
            <a:avLst>
              <a:gd name="adj" fmla="val 183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2542032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BANCO DE MEDICIÓN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950976" y="292608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6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2395728" y="2926080"/>
            <a:ext cx="4517136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33472" y="292608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cargar resultados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950976" y="356616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6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2395728" y="3566160"/>
            <a:ext cx="4517136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633472" y="356616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50.000 registros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950976" y="420624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65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2395728" y="4206240"/>
            <a:ext cx="4517136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33472" y="42062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¿umbral acordado?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950976" y="4846320"/>
            <a:ext cx="1335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65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</a:t>
            </a:r>
            <a:endParaRPr lang="en-US" sz="920" dirty="0"/>
          </a:p>
        </p:txBody>
      </p:sp>
      <p:sp>
        <p:nvSpPr>
          <p:cNvPr id="23" name="Shape 20"/>
          <p:cNvSpPr/>
          <p:nvPr/>
        </p:nvSpPr>
        <p:spPr>
          <a:xfrm>
            <a:off x="2395728" y="4846320"/>
            <a:ext cx="4517136" cy="4572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33472" y="484632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· memoria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50976" y="5614416"/>
            <a:ext cx="5961888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950976" y="5742432"/>
            <a:ext cx="5961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bajo las mismas condiciones permite comparar; una ejecución aislada no.</a:t>
            </a:r>
            <a:endParaRPr lang="en-US" sz="1280" dirty="0"/>
          </a:p>
        </p:txBody>
      </p:sp>
      <p:sp>
        <p:nvSpPr>
          <p:cNvPr id="27" name="Text 24"/>
          <p:cNvSpPr txBox="1"/>
          <p:nvPr/>
        </p:nvSpPr>
        <p:spPr>
          <a:xfrm>
            <a:off x="7882128" y="254203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DEL RIESGO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7882128" y="2907792"/>
            <a:ext cx="3657600" cy="950976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56448" y="3108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 de registros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156448" y="34381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pueden volver inviable la tarea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454896" y="4041648"/>
            <a:ext cx="51206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82128" y="4626864"/>
            <a:ext cx="3657600" cy="987552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74736" y="4828032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</a:t>
            </a:r>
            <a:endParaRPr lang="en-US" sz="940" dirty="0"/>
          </a:p>
        </p:txBody>
      </p:sp>
      <p:sp>
        <p:nvSpPr>
          <p:cNvPr id="34" name="Text 31"/>
          <p:cNvSpPr txBox="1"/>
          <p:nvPr/>
        </p:nvSpPr>
        <p:spPr>
          <a:xfrm>
            <a:off x="9198864" y="4773168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«En mi computador fue rápido»</a:t>
            </a:r>
            <a:endParaRPr lang="en-US" sz="1320" dirty="0"/>
          </a:p>
        </p:txBody>
      </p:sp>
      <p:sp>
        <p:nvSpPr>
          <p:cNvPr id="35" name="Text 32"/>
          <p:cNvSpPr txBox="1"/>
          <p:nvPr/>
        </p:nvSpPr>
        <p:spPr>
          <a:xfrm>
            <a:off x="7882128" y="5888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benchmark · carga · perfiles · medición repetida</a:t>
            </a:r>
            <a:endParaRPr lang="en-US" sz="11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CARACTERÍSTICA 3 DE 9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Compatibilidad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dato puede ser correcto dentro de un producto y aun así perder significado al cruzar hacia otro.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414016"/>
            <a:ext cx="2871216" cy="2304288"/>
          </a:xfrm>
          <a:prstGeom prst="roundRect">
            <a:avLst>
              <a:gd name="adj" fmla="val 2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272491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" y="31821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 correctamente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78992" y="3986784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88720" y="39867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correctos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529584" y="3566160"/>
            <a:ext cx="10607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4608576" y="2633472"/>
            <a:ext cx="2962656" cy="1865376"/>
          </a:xfrm>
          <a:prstGeom prst="roundRect">
            <a:avLst>
              <a:gd name="adj" fmla="val 3431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64608" y="292608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7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DE INTERCAMBIO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882896" y="3383280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 · campos · significado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974336" y="3895344"/>
            <a:ext cx="2231136" cy="384048"/>
          </a:xfrm>
          <a:prstGeom prst="roundRect">
            <a:avLst>
              <a:gd name="adj" fmla="val 952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84064" y="3895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¿ambos lo interpretan igual?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7589520" y="3566160"/>
            <a:ext cx="106070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8668512" y="2414016"/>
            <a:ext cx="2871216" cy="2304288"/>
          </a:xfrm>
          <a:prstGeom prst="roundRect">
            <a:avLst>
              <a:gd name="adj" fmla="val 2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42832" y="272491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B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942832" y="31821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puede leerlo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9089136" y="3986784"/>
            <a:ext cx="202996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98864" y="3986784"/>
            <a:ext cx="1810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intercambio fallido</a:t>
            </a:r>
            <a:endParaRPr lang="en-US" sz="1120" dirty="0"/>
          </a:p>
        </p:txBody>
      </p:sp>
      <p:sp>
        <p:nvSpPr>
          <p:cNvPr id="28" name="Text 25"/>
          <p:cNvSpPr txBox="1"/>
          <p:nvPr/>
        </p:nvSpPr>
        <p:spPr>
          <a:xfrm>
            <a:off x="658368" y="5047488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DEBE CONSERVARSE AL CRUZAR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658368" y="5394960"/>
            <a:ext cx="340156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58368" y="5394960"/>
            <a:ext cx="91440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32688" y="550468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2139696" y="539496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legible</a:t>
            </a:r>
            <a:endParaRPr lang="en-US" sz="1230" dirty="0"/>
          </a:p>
        </p:txBody>
      </p:sp>
      <p:sp>
        <p:nvSpPr>
          <p:cNvPr id="33" name="Shape 30"/>
          <p:cNvSpPr/>
          <p:nvPr/>
        </p:nvSpPr>
        <p:spPr>
          <a:xfrm>
            <a:off x="4352544" y="5394960"/>
            <a:ext cx="340156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52544" y="5394960"/>
            <a:ext cx="91440" cy="5669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626864" y="550468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5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SIGNIFICADO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833872" y="539496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equivalentes</a:t>
            </a:r>
            <a:endParaRPr lang="en-US" sz="1230" dirty="0"/>
          </a:p>
        </p:txBody>
      </p:sp>
      <p:sp>
        <p:nvSpPr>
          <p:cNvPr id="37" name="Shape 34"/>
          <p:cNvSpPr/>
          <p:nvPr/>
        </p:nvSpPr>
        <p:spPr>
          <a:xfrm>
            <a:off x="8046720" y="5394960"/>
            <a:ext cx="340156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046720" y="5394960"/>
            <a:ext cx="91440" cy="5669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321040" y="550468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COEXISTENCIA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9528048" y="5394960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interferencias</a:t>
            </a:r>
            <a:endParaRPr lang="en-US" sz="1230" dirty="0"/>
          </a:p>
        </p:txBody>
      </p:sp>
      <p:sp>
        <p:nvSpPr>
          <p:cNvPr id="41" name="Text 38"/>
          <p:cNvSpPr txBox="1"/>
          <p:nvPr/>
        </p:nvSpPr>
        <p:spPr>
          <a:xfrm>
            <a:off x="1353312" y="6126480"/>
            <a:ext cx="9491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integración · contratos · entorno compartido · comparación antes/después</a:t>
            </a:r>
            <a:endParaRPr lang="en-US" sz="11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· VALOR Y RESPUESTA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parecidas observan problemas distintos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flujo puede fallar por el resultado, por el tiempo o por el intercambio.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401568" cy="3310128"/>
          </a:xfrm>
          <a:prstGeom prst="roundRect">
            <a:avLst>
              <a:gd name="adj" fmla="val 193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3401568" cy="91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57860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3054096"/>
            <a:ext cx="2779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resultado respeta la regla?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42416" y="3913632"/>
            <a:ext cx="263347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969264" y="4169664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3.95 → 4.0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" y="4773168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comportamiento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352544" y="2249424"/>
            <a:ext cx="3401568" cy="3310128"/>
          </a:xfrm>
          <a:prstGeom prst="roundRect">
            <a:avLst>
              <a:gd name="adj" fmla="val 193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52544" y="2249424"/>
            <a:ext cx="3401568" cy="914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08576" y="257860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DESEMPEÑO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3054096"/>
            <a:ext cx="2779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¿Llega a tiempo bajo carga?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736592" y="3913632"/>
            <a:ext cx="2633472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4663440" y="4169664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50.000 registros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63440" y="4773168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controlado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046720" y="2249424"/>
            <a:ext cx="3401568" cy="3310128"/>
          </a:xfrm>
          <a:prstGeom prst="roundRect">
            <a:avLst>
              <a:gd name="adj" fmla="val 193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46720" y="2249424"/>
            <a:ext cx="3401568" cy="9144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02752" y="2578608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COMPATIBILIDAD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357616" y="3054096"/>
            <a:ext cx="27797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¿Otro sistema lo interpreta?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430768" y="3913632"/>
            <a:ext cx="2633472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8357616" y="4169664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compartido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8357616" y="4773168"/>
            <a:ext cx="2779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integración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1225296" y="5943600"/>
            <a:ext cx="9729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 bien significa elegir la primera necesidad incumplida, no la palabra que suena más cercana.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CARACTERÍSTICA 4 DE 9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Capacidad de interacción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aparece en lo que la persona comprende y puede hacer después de un error.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286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MISMA ENTRADA INVÁLIDA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658368" y="2633472"/>
            <a:ext cx="4901184" cy="2670048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2633472"/>
            <a:ext cx="4901184" cy="457200"/>
          </a:xfrm>
          <a:prstGeom prst="roundRect">
            <a:avLst>
              <a:gd name="adj" fmla="val 16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26334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Calculadora de nota final</a:t>
            </a:r>
            <a:endParaRPr lang="en-US" sz="132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33467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87552" y="3639312"/>
            <a:ext cx="4261104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7552" y="4389120"/>
            <a:ext cx="4261104" cy="603504"/>
          </a:xfrm>
          <a:prstGeom prst="roundRect">
            <a:avLst>
              <a:gd name="adj" fmla="val 606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225296" y="4389120"/>
            <a:ext cx="3785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ValueError: division by zero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87552" y="5431536"/>
            <a:ext cx="4261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debe corregir la persona?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5797296" y="3730752"/>
            <a:ext cx="40233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19088" y="2633472"/>
            <a:ext cx="5120640" cy="2670048"/>
          </a:xfrm>
          <a:prstGeom prst="roundRect">
            <a:avLst>
              <a:gd name="adj" fmla="val 274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11696" y="2907792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 COMPRENSIBLE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711696" y="3383280"/>
            <a:ext cx="4535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Ingresa al menos una nota válida.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6711696" y="4114800"/>
            <a:ext cx="4370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 información anterior se conserva. Revisa el campo destacado y vuelve a intentarlo.</a:t>
            </a:r>
            <a:endParaRPr lang="en-US" sz="1320" dirty="0"/>
          </a:p>
        </p:txBody>
      </p:sp>
      <p:sp>
        <p:nvSpPr>
          <p:cNvPr id="25" name="Shape 22"/>
          <p:cNvSpPr/>
          <p:nvPr/>
        </p:nvSpPr>
        <p:spPr>
          <a:xfrm>
            <a:off x="6711696" y="4736592"/>
            <a:ext cx="1993392" cy="438912"/>
          </a:xfrm>
          <a:prstGeom prst="roundRect">
            <a:avLst>
              <a:gd name="adj" fmla="val 125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21424" y="4736592"/>
            <a:ext cx="1773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ENTRADA</a:t>
            </a:r>
            <a:endParaRPr lang="en-US" sz="1080" dirty="0"/>
          </a:p>
        </p:txBody>
      </p:sp>
      <p:sp>
        <p:nvSpPr>
          <p:cNvPr id="27" name="Text 24"/>
          <p:cNvSpPr txBox="1"/>
          <p:nvPr/>
        </p:nvSpPr>
        <p:spPr>
          <a:xfrm>
            <a:off x="8869680" y="482803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· estado · acción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58368" y="568756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6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</a:t>
            </a:r>
            <a:endParaRPr lang="en-US" sz="920" dirty="0"/>
          </a:p>
        </p:txBody>
      </p:sp>
      <p:sp>
        <p:nvSpPr>
          <p:cNvPr id="29" name="Text 26"/>
          <p:cNvSpPr txBox="1"/>
          <p:nvPr/>
        </p:nvSpPr>
        <p:spPr>
          <a:xfrm>
            <a:off x="1956816" y="5632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 claro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4352544" y="568756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65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RECUPERAR</a:t>
            </a:r>
            <a:endParaRPr lang="en-US" sz="920" dirty="0"/>
          </a:p>
        </p:txBody>
      </p:sp>
      <p:sp>
        <p:nvSpPr>
          <p:cNvPr id="31" name="Text 28"/>
          <p:cNvSpPr txBox="1"/>
          <p:nvPr/>
        </p:nvSpPr>
        <p:spPr>
          <a:xfrm>
            <a:off x="5650992" y="5632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acción perceptible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8046720" y="5687568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6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ACCEDER</a:t>
            </a:r>
            <a:endParaRPr lang="en-US" sz="920" dirty="0"/>
          </a:p>
        </p:txBody>
      </p:sp>
      <p:sp>
        <p:nvSpPr>
          <p:cNvPr id="33" name="Text 30"/>
          <p:cNvSpPr txBox="1"/>
          <p:nvPr/>
        </p:nvSpPr>
        <p:spPr>
          <a:xfrm>
            <a:off x="9345168" y="5632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 inclusiva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1005840" y="6108192"/>
            <a:ext cx="10186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pruebas con usuarios · recorridos de tareas · accesibilidad · inspección de mensajes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CARACTERÍSTICA 5 DE 9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Fiabilidad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funcionar en el caso normal: el producto debe contener el fallo y recuperar un estado válido.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2860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9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ANTE UNA CONDICIÓN ADVERSA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1133856" y="3767328"/>
            <a:ext cx="993038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914400" y="3419856"/>
            <a:ext cx="694944" cy="69494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4198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" y="4297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VÁLIDO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68172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operación normal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3529584" y="3419856"/>
            <a:ext cx="694944" cy="69494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529584" y="34198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054096" y="4297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FALLO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072384" y="468172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vacía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25312" y="3419856"/>
            <a:ext cx="694944" cy="69494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25312" y="34198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449824" y="4297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CONTENCIÓN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5468112" y="468172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rechazo controlado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613648" y="3419856"/>
            <a:ext cx="694944" cy="69494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13648" y="341985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138160" y="42976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8156448" y="468172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consistente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944368" y="2670048"/>
            <a:ext cx="2249424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145536" y="267004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debe detener todo el proceso</a:t>
            </a:r>
            <a:endParaRPr lang="en-US" sz="1130" dirty="0"/>
          </a:p>
        </p:txBody>
      </p:sp>
      <p:sp>
        <p:nvSpPr>
          <p:cNvPr id="31" name="Shape 28"/>
          <p:cNvSpPr/>
          <p:nvPr/>
        </p:nvSpPr>
        <p:spPr>
          <a:xfrm>
            <a:off x="8211312" y="2670048"/>
            <a:ext cx="3328416" cy="530352"/>
          </a:xfrm>
          <a:prstGeom prst="roundRect">
            <a:avLst>
              <a:gd name="adj" fmla="val 6897"/>
            </a:avLst>
          </a:prstGeom>
          <a:solidFill>
            <a:srgbClr val="102A43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30768" y="2670048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debe conservar o recuperar coherencia</a:t>
            </a:r>
            <a:endParaRPr lang="en-US" sz="1130" dirty="0"/>
          </a:p>
        </p:txBody>
      </p:sp>
      <p:sp>
        <p:nvSpPr>
          <p:cNvPr id="33" name="Shape 30"/>
          <p:cNvSpPr/>
          <p:nvPr/>
        </p:nvSpPr>
        <p:spPr>
          <a:xfrm>
            <a:off x="658368" y="5413248"/>
            <a:ext cx="1975104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68096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excepciones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2871216" y="5413248"/>
            <a:ext cx="1975104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980944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inyección de fallos</a:t>
            </a:r>
            <a:endParaRPr lang="en-US" sz="1080" dirty="0"/>
          </a:p>
        </p:txBody>
      </p:sp>
      <p:sp>
        <p:nvSpPr>
          <p:cNvPr id="37" name="Shape 34"/>
          <p:cNvSpPr/>
          <p:nvPr/>
        </p:nvSpPr>
        <p:spPr>
          <a:xfrm>
            <a:off x="5084064" y="5413248"/>
            <a:ext cx="1975104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193792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reinicios</a:t>
            </a:r>
            <a:endParaRPr lang="en-US" sz="1080" dirty="0"/>
          </a:p>
        </p:txBody>
      </p:sp>
      <p:sp>
        <p:nvSpPr>
          <p:cNvPr id="39" name="Shape 36"/>
          <p:cNvSpPr/>
          <p:nvPr/>
        </p:nvSpPr>
        <p:spPr>
          <a:xfrm>
            <a:off x="7296912" y="5413248"/>
            <a:ext cx="1975104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406640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9509760" y="5413248"/>
            <a:ext cx="1975104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619488" y="541324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recuperación</a:t>
            </a:r>
            <a:endParaRPr lang="en-US" sz="1080" dirty="0"/>
          </a:p>
        </p:txBody>
      </p:sp>
      <p:sp>
        <p:nvSpPr>
          <p:cNvPr id="43" name="Text 40"/>
          <p:cNvSpPr txBox="1"/>
          <p:nvPr/>
        </p:nvSpPr>
        <p:spPr>
          <a:xfrm>
            <a:off x="1078992" y="6071616"/>
            <a:ext cx="10040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resultado correcto en un caso no demuestra estabilidad frente a fallos, carga o recuperación.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CARACTERÍSTICA 6 DE 9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puede ser correcta y seguir siendo insegura si la ejecuta una identidad sin autorización.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816352" cy="3328416"/>
          </a:xfrm>
          <a:prstGeom prst="roundRect">
            <a:avLst>
              <a:gd name="adj" fmla="val 22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615184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¿QUIÉN?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572768" y="3163824"/>
            <a:ext cx="987552" cy="9875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72768" y="316382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" y="440740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identidad autenticada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" y="482803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implica permiso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730752" y="3529584"/>
            <a:ext cx="36576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97680" y="2487168"/>
            <a:ext cx="2907792" cy="2852928"/>
          </a:xfrm>
          <a:prstGeom prst="roundRect">
            <a:avLst>
              <a:gd name="adj" fmla="val 224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53712" y="276148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6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 AUTORIZACIÓN</a:t>
            </a:r>
            <a:endParaRPr lang="en-US" sz="960" dirty="0"/>
          </a:p>
        </p:txBody>
      </p:sp>
      <p:sp>
        <p:nvSpPr>
          <p:cNvPr id="20" name="Text 17"/>
          <p:cNvSpPr txBox="1"/>
          <p:nvPr/>
        </p:nvSpPr>
        <p:spPr>
          <a:xfrm>
            <a:off x="4590288" y="321868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curso propio</a:t>
            </a:r>
            <a:endParaRPr lang="en-US" sz="1070" dirty="0"/>
          </a:p>
        </p:txBody>
      </p:sp>
      <p:sp>
        <p:nvSpPr>
          <p:cNvPr id="21" name="Shape 18"/>
          <p:cNvSpPr/>
          <p:nvPr/>
        </p:nvSpPr>
        <p:spPr>
          <a:xfrm>
            <a:off x="5961888" y="3218688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71616" y="32186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PERMITIR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4590288" y="378561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 otro curso</a:t>
            </a:r>
            <a:endParaRPr lang="en-US" sz="1070" dirty="0"/>
          </a:p>
        </p:txBody>
      </p:sp>
      <p:sp>
        <p:nvSpPr>
          <p:cNvPr id="24" name="Shape 21"/>
          <p:cNvSpPr/>
          <p:nvPr/>
        </p:nvSpPr>
        <p:spPr>
          <a:xfrm>
            <a:off x="5961888" y="3785616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71616" y="37856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DENEGAR</a:t>
            </a:r>
            <a:endParaRPr lang="en-US" sz="850" dirty="0"/>
          </a:p>
        </p:txBody>
      </p:sp>
      <p:sp>
        <p:nvSpPr>
          <p:cNvPr id="26" name="Text 23"/>
          <p:cNvSpPr txBox="1"/>
          <p:nvPr/>
        </p:nvSpPr>
        <p:spPr>
          <a:xfrm>
            <a:off x="4590288" y="4352544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nota</a:t>
            </a:r>
            <a:endParaRPr lang="en-US" sz="1070" dirty="0"/>
          </a:p>
        </p:txBody>
      </p:sp>
      <p:sp>
        <p:nvSpPr>
          <p:cNvPr id="27" name="Shape 24"/>
          <p:cNvSpPr/>
          <p:nvPr/>
        </p:nvSpPr>
        <p:spPr>
          <a:xfrm>
            <a:off x="5961888" y="4352544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071616" y="435254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SEGÚN ROL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0" y="4882896"/>
            <a:ext cx="2359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criterio: operación limitada a identidades autorizadas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7461504" y="3529584"/>
            <a:ext cx="36576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28432" y="2249424"/>
            <a:ext cx="3511296" cy="3328416"/>
          </a:xfrm>
          <a:prstGeom prst="roundRect">
            <a:avLst>
              <a:gd name="adj" fmla="val 192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02752" y="261518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7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QUEDA REGISTRADO?</a:t>
            </a:r>
            <a:endParaRPr lang="en-US" sz="980" dirty="0"/>
          </a:p>
        </p:txBody>
      </p:sp>
      <p:sp>
        <p:nvSpPr>
          <p:cNvPr id="33" name="Text 30"/>
          <p:cNvSpPr txBox="1"/>
          <p:nvPr/>
        </p:nvSpPr>
        <p:spPr>
          <a:xfrm>
            <a:off x="8302752" y="3163824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14:02</a:t>
            </a:r>
            <a:endParaRPr lang="en-US" sz="980" dirty="0"/>
          </a:p>
        </p:txBody>
      </p:sp>
      <p:sp>
        <p:nvSpPr>
          <p:cNvPr id="34" name="Text 31"/>
          <p:cNvSpPr txBox="1"/>
          <p:nvPr/>
        </p:nvSpPr>
        <p:spPr>
          <a:xfrm>
            <a:off x="8979408" y="316382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</a:t>
            </a:r>
            <a:endParaRPr lang="en-US" sz="1080" dirty="0"/>
          </a:p>
        </p:txBody>
      </p:sp>
      <p:sp>
        <p:nvSpPr>
          <p:cNvPr id="35" name="Text 32"/>
          <p:cNvSpPr txBox="1"/>
          <p:nvPr/>
        </p:nvSpPr>
        <p:spPr>
          <a:xfrm>
            <a:off x="10222992" y="3163824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A</a:t>
            </a:r>
            <a:endParaRPr lang="en-US" sz="980" dirty="0"/>
          </a:p>
        </p:txBody>
      </p:sp>
      <p:sp>
        <p:nvSpPr>
          <p:cNvPr id="36" name="Shape 33"/>
          <p:cNvSpPr/>
          <p:nvPr/>
        </p:nvSpPr>
        <p:spPr>
          <a:xfrm>
            <a:off x="8302752" y="3602736"/>
            <a:ext cx="28895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8302752" y="3767328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14:05</a:t>
            </a:r>
            <a:endParaRPr lang="en-US" sz="980" dirty="0"/>
          </a:p>
        </p:txBody>
      </p:sp>
      <p:sp>
        <p:nvSpPr>
          <p:cNvPr id="38" name="Text 35"/>
          <p:cNvSpPr txBox="1"/>
          <p:nvPr/>
        </p:nvSpPr>
        <p:spPr>
          <a:xfrm>
            <a:off x="8979408" y="3767328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intento denegado</a:t>
            </a:r>
            <a:endParaRPr lang="en-US" sz="1080" dirty="0"/>
          </a:p>
        </p:txBody>
      </p:sp>
      <p:sp>
        <p:nvSpPr>
          <p:cNvPr id="39" name="Text 36"/>
          <p:cNvSpPr txBox="1"/>
          <p:nvPr/>
        </p:nvSpPr>
        <p:spPr>
          <a:xfrm>
            <a:off x="10222992" y="3767328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B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8302752" y="4206240"/>
            <a:ext cx="28895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1" name="Text 38"/>
          <p:cNvSpPr txBox="1"/>
          <p:nvPr/>
        </p:nvSpPr>
        <p:spPr>
          <a:xfrm>
            <a:off x="8302752" y="4370832"/>
            <a:ext cx="585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14:08</a:t>
            </a:r>
            <a:endParaRPr lang="en-US" sz="980" dirty="0"/>
          </a:p>
        </p:txBody>
      </p:sp>
      <p:sp>
        <p:nvSpPr>
          <p:cNvPr id="42" name="Text 39"/>
          <p:cNvSpPr txBox="1"/>
          <p:nvPr/>
        </p:nvSpPr>
        <p:spPr>
          <a:xfrm>
            <a:off x="8979408" y="4370832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autorizado</a:t>
            </a:r>
            <a:endParaRPr lang="en-US" sz="1080" dirty="0"/>
          </a:p>
        </p:txBody>
      </p:sp>
      <p:sp>
        <p:nvSpPr>
          <p:cNvPr id="43" name="Text 40"/>
          <p:cNvSpPr txBox="1"/>
          <p:nvPr/>
        </p:nvSpPr>
        <p:spPr>
          <a:xfrm>
            <a:off x="10222992" y="4370832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4.0</a:t>
            </a:r>
            <a:endParaRPr lang="en-US" sz="980" dirty="0"/>
          </a:p>
        </p:txBody>
      </p:sp>
      <p:sp>
        <p:nvSpPr>
          <p:cNvPr id="44" name="Text 41"/>
          <p:cNvSpPr txBox="1"/>
          <p:nvPr/>
        </p:nvSpPr>
        <p:spPr>
          <a:xfrm>
            <a:off x="8302752" y="510235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atribución e investigación</a:t>
            </a:r>
            <a:endParaRPr lang="en-US" sz="1120" dirty="0"/>
          </a:p>
        </p:txBody>
      </p:sp>
      <p:sp>
        <p:nvSpPr>
          <p:cNvPr id="45" name="Text 42"/>
          <p:cNvSpPr txBox="1"/>
          <p:nvPr/>
        </p:nvSpPr>
        <p:spPr>
          <a:xfrm>
            <a:off x="1115568" y="592531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autorización · configuración · amenazas · integridad · confidencialidad · registros</a:t>
            </a:r>
            <a:endParaRPr lang="en-US" sz="12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CARACTERÍSTICA 7 DE 9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operacional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propiedad se observa en cómo el sistema previene daño y conduce una condición peligrosa hacia un estado seguro.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340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 PELIGROSA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658368" y="2706624"/>
            <a:ext cx="2944368" cy="2395728"/>
          </a:xfrm>
          <a:prstGeom prst="roundRect">
            <a:avLst>
              <a:gd name="adj" fmla="val 2672"/>
            </a:avLst>
          </a:prstGeom>
          <a:solidFill>
            <a:srgbClr val="284B75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3145536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Protección abierta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1773936" y="3639312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69264" y="4096512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 de movimiento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78992" y="459028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88720" y="4590288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DE DAÑO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85616" y="3602736"/>
            <a:ext cx="42062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25696" y="2468880"/>
            <a:ext cx="2980944" cy="2852928"/>
          </a:xfrm>
          <a:prstGeom prst="roundRect">
            <a:avLst>
              <a:gd name="adj" fmla="val 2244"/>
            </a:avLst>
          </a:prstGeom>
          <a:solidFill>
            <a:srgbClr val="FFFFFF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18304" y="276148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BARRERA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3218688"/>
            <a:ext cx="213969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4718304" y="351129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INTERBLOQUEO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718304" y="402336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 la operación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718304" y="44622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advierte antes de continuar</a:t>
            </a:r>
            <a:endParaRPr lang="en-US" sz="1180" dirty="0"/>
          </a:p>
        </p:txBody>
      </p:sp>
      <p:sp>
        <p:nvSpPr>
          <p:cNvPr id="25" name="Shape 22"/>
          <p:cNvSpPr/>
          <p:nvPr/>
        </p:nvSpPr>
        <p:spPr>
          <a:xfrm>
            <a:off x="7626096" y="3602736"/>
            <a:ext cx="420624" cy="420624"/>
          </a:xfrm>
          <a:prstGeom prst="chevron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66176" y="2706624"/>
            <a:ext cx="3273552" cy="2395728"/>
          </a:xfrm>
          <a:prstGeom prst="roundRect">
            <a:avLst>
              <a:gd name="adj" fmla="val 2672"/>
            </a:avLst>
          </a:prstGeom>
          <a:solidFill>
            <a:srgbClr val="284B75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558784" y="3108960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SEGURO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558784" y="3621024"/>
            <a:ext cx="2688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Movimiento detenido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8558784" y="4224528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puede corregir la condición sin exposición al peligro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486400"/>
            <a:ext cx="1975104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8096" y="548640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peligros</a:t>
            </a:r>
            <a:endParaRPr lang="en-US" sz="1030" dirty="0"/>
          </a:p>
        </p:txBody>
      </p:sp>
      <p:sp>
        <p:nvSpPr>
          <p:cNvPr id="32" name="Shape 29"/>
          <p:cNvSpPr/>
          <p:nvPr/>
        </p:nvSpPr>
        <p:spPr>
          <a:xfrm>
            <a:off x="2871216" y="5486400"/>
            <a:ext cx="1975104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980944" y="548640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</a:t>
            </a:r>
            <a:endParaRPr lang="en-US" sz="1030" dirty="0"/>
          </a:p>
        </p:txBody>
      </p:sp>
      <p:sp>
        <p:nvSpPr>
          <p:cNvPr id="34" name="Shape 31"/>
          <p:cNvSpPr/>
          <p:nvPr/>
        </p:nvSpPr>
        <p:spPr>
          <a:xfrm>
            <a:off x="5084064" y="5486400"/>
            <a:ext cx="1975104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193792" y="548640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fallos simulados</a:t>
            </a:r>
            <a:endParaRPr lang="en-US" sz="1030" dirty="0"/>
          </a:p>
        </p:txBody>
      </p:sp>
      <p:sp>
        <p:nvSpPr>
          <p:cNvPr id="36" name="Shape 33"/>
          <p:cNvSpPr/>
          <p:nvPr/>
        </p:nvSpPr>
        <p:spPr>
          <a:xfrm>
            <a:off x="7296912" y="5486400"/>
            <a:ext cx="1975104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406640" y="548640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interbloqueos</a:t>
            </a:r>
            <a:endParaRPr lang="en-US" sz="1030" dirty="0"/>
          </a:p>
        </p:txBody>
      </p:sp>
      <p:sp>
        <p:nvSpPr>
          <p:cNvPr id="38" name="Shape 35"/>
          <p:cNvSpPr/>
          <p:nvPr/>
        </p:nvSpPr>
        <p:spPr>
          <a:xfrm>
            <a:off x="9509760" y="5486400"/>
            <a:ext cx="1975104" cy="420624"/>
          </a:xfrm>
          <a:prstGeom prst="roundRect">
            <a:avLst>
              <a:gd name="adj" fmla="val 8696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619488" y="548640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parada segura</a:t>
            </a:r>
            <a:endParaRPr lang="en-US" sz="1030" dirty="0"/>
          </a:p>
        </p:txBody>
      </p:sp>
      <p:sp>
        <p:nvSpPr>
          <p:cNvPr id="40" name="Text 37"/>
          <p:cNvSpPr txBox="1"/>
          <p:nvPr/>
        </p:nvSpPr>
        <p:spPr>
          <a:xfrm>
            <a:off x="950976" y="6089904"/>
            <a:ext cx="10296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prioridad depende del daño posible: una calculadora y un sistema médico no exponen el mismo riesgo.</a:t>
            </a:r>
            <a:endParaRPr lang="en-US" sz="126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 · CONTRASTE ESENCIAL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y seguridad operacional no protegen lo mismo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Ambas reducen riesgo, pero parten de amenazas y consecuencias diferentes.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5266944" cy="3456432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5266944" cy="530352"/>
          </a:xfrm>
          <a:prstGeom prst="roundRect">
            <a:avLst>
              <a:gd name="adj" fmla="val 12069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24942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69264" y="303580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¿Quién puede acceder, modificar o ejecutar?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133856" y="3767328"/>
            <a:ext cx="4315968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969264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2029968" y="391363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Información, identidades y operaciones autorizadas.</a:t>
            </a:r>
            <a:endParaRPr lang="en-US" sz="1320" dirty="0"/>
          </a:p>
        </p:txBody>
      </p:sp>
      <p:sp>
        <p:nvSpPr>
          <p:cNvPr id="18" name="Text 15"/>
          <p:cNvSpPr txBox="1"/>
          <p:nvPr/>
        </p:nvSpPr>
        <p:spPr>
          <a:xfrm>
            <a:off x="969264" y="4553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2029968" y="4480560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cuenta sin permisos ve notas de otro curso.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969264" y="5175504"/>
            <a:ext cx="4645152" cy="402336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78992" y="5175504"/>
            <a:ext cx="4425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Autorización · amenazas · registros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72784" y="2249424"/>
            <a:ext cx="5266944" cy="3456432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2249424"/>
            <a:ext cx="5266944" cy="530352"/>
          </a:xfrm>
          <a:prstGeom prst="roundRect">
            <a:avLst>
              <a:gd name="adj" fmla="val 12069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2249424"/>
            <a:ext cx="4828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OPERACIONAL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3035808"/>
            <a:ext cx="4645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daño físico o material podría provocar el sistema?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6748272" y="3767328"/>
            <a:ext cx="4315968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6583680" y="39684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644384" y="3913632"/>
            <a:ext cx="3584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Personas, entorno y activos frente a estados peligrosos.</a:t>
            </a:r>
            <a:endParaRPr lang="en-US" sz="132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4553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7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644384" y="4480560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máquina se mueve con la protección abierta.</a:t>
            </a:r>
            <a:endParaRPr lang="en-US" sz="1320" dirty="0"/>
          </a:p>
        </p:txBody>
      </p:sp>
      <p:sp>
        <p:nvSpPr>
          <p:cNvPr id="31" name="Shape 28"/>
          <p:cNvSpPr/>
          <p:nvPr/>
        </p:nvSpPr>
        <p:spPr>
          <a:xfrm>
            <a:off x="6583680" y="5175504"/>
            <a:ext cx="4645152" cy="402336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93408" y="5175504"/>
            <a:ext cx="44256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Peligros · límites · estado seguro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78992" y="5943600"/>
            <a:ext cx="10040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de desempate: ¿el problema nace de una acción no autorizada o de un estado capaz de causar daño?</a:t>
            </a:r>
            <a:endParaRPr lang="en-US" sz="14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CARACTERÍSTICA 8 DE 9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Mantenibilidad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diseño se vuelve mantenible cuando un cambio puede localizarse, comprenderse y volver a verificarse.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304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9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DISPERSO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658368" y="2651760"/>
            <a:ext cx="4645152" cy="294436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907792"/>
            <a:ext cx="4078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el redondeo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87552" y="3493008"/>
            <a:ext cx="1773936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15568" y="349300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calculo.py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3127248" y="3493008"/>
            <a:ext cx="1773936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55264" y="3493008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reporte.py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987552" y="4389120"/>
            <a:ext cx="1773936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15568" y="438912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exportar.py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3127248" y="4389120"/>
            <a:ext cx="1773936" cy="566928"/>
          </a:xfrm>
          <a:prstGeom prst="roundRect">
            <a:avLst>
              <a:gd name="adj" fmla="val 6452"/>
            </a:avLst>
          </a:prstGeom>
          <a:solidFill>
            <a:srgbClr val="F2E7D9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55264" y="4389120"/>
            <a:ext cx="151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resumen.py</a:t>
            </a:r>
            <a:endParaRPr lang="en-US" sz="1120" dirty="0"/>
          </a:p>
        </p:txBody>
      </p:sp>
      <p:sp>
        <p:nvSpPr>
          <p:cNvPr id="22" name="Text 19"/>
          <p:cNvSpPr txBox="1"/>
          <p:nvPr/>
        </p:nvSpPr>
        <p:spPr>
          <a:xfrm>
            <a:off x="1024128" y="5175504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puntos de edición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2944368" y="5175504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sin pruebas de regresión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504688" y="3840480"/>
            <a:ext cx="38404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63056" y="2304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b="1" spc="95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LOCALIZADO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6163056" y="2651760"/>
            <a:ext cx="5376672" cy="2944368"/>
          </a:xfrm>
          <a:prstGeom prst="roundRect">
            <a:avLst>
              <a:gd name="adj" fmla="val 217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10528" y="3145536"/>
            <a:ext cx="1993392" cy="1755648"/>
          </a:xfrm>
          <a:prstGeom prst="roundRect">
            <a:avLst>
              <a:gd name="adj" fmla="val 3125"/>
            </a:avLst>
          </a:prstGeom>
          <a:solidFill>
            <a:srgbClr val="284B75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748272" y="349300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ÚNICA</a:t>
            </a:r>
            <a:endParaRPr lang="en-US" sz="960" dirty="0"/>
          </a:p>
        </p:txBody>
      </p:sp>
      <p:sp>
        <p:nvSpPr>
          <p:cNvPr id="29" name="Text 26"/>
          <p:cNvSpPr txBox="1"/>
          <p:nvPr/>
        </p:nvSpPr>
        <p:spPr>
          <a:xfrm>
            <a:off x="6748272" y="389534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redondeo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711696" y="435254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lugar identificable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8705088" y="3822192"/>
            <a:ext cx="310896" cy="420624"/>
          </a:xfrm>
          <a:prstGeom prst="chevron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217152" y="3145536"/>
            <a:ext cx="1975104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454896" y="3493008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REGRESIÓN</a:t>
            </a:r>
            <a:endParaRPr lang="en-US" sz="960" dirty="0"/>
          </a:p>
        </p:txBody>
      </p:sp>
      <p:sp>
        <p:nvSpPr>
          <p:cNvPr id="34" name="Text 31"/>
          <p:cNvSpPr txBox="1"/>
          <p:nvPr/>
        </p:nvSpPr>
        <p:spPr>
          <a:xfrm>
            <a:off x="9454896" y="3840480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9454896" y="4151376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verificar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9454896" y="4462272"/>
            <a:ext cx="1499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confiar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565392" y="5157216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criterio: modificar sin alterar responsabilidades no relacionadas</a:t>
            </a:r>
            <a:endParaRPr lang="en-US" sz="1080" dirty="0"/>
          </a:p>
        </p:txBody>
      </p:sp>
      <p:sp>
        <p:nvSpPr>
          <p:cNvPr id="38" name="Text 35"/>
          <p:cNvSpPr txBox="1"/>
          <p:nvPr/>
        </p:nvSpPr>
        <p:spPr>
          <a:xfrm>
            <a:off x="658368" y="590702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20" dirty="0"/>
          </a:p>
        </p:txBody>
      </p:sp>
      <p:sp>
        <p:nvSpPr>
          <p:cNvPr id="39" name="Text 36"/>
          <p:cNvSpPr txBox="1"/>
          <p:nvPr/>
        </p:nvSpPr>
        <p:spPr>
          <a:xfrm>
            <a:off x="1700784" y="5852160"/>
            <a:ext cx="7534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código · análisis estático · estructura · regresión · esfuerzo de cambio</a:t>
            </a:r>
            <a:endParaRPr lang="en-US" sz="1230" dirty="0"/>
          </a:p>
        </p:txBody>
      </p:sp>
      <p:sp>
        <p:nvSpPr>
          <p:cNvPr id="40" name="Text 37"/>
          <p:cNvSpPr txBox="1"/>
          <p:nvPr/>
        </p:nvSpPr>
        <p:spPr>
          <a:xfrm>
            <a:off x="9308592" y="581558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+ Pyrefly + pytest = señales parciales</a:t>
            </a:r>
            <a:endParaRPr lang="en-US" sz="10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CARACTERÍSTICA 9 DE 9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Flexibilidad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Adaptarse no significa anticipar cualquier futuro: significa absorber cambios razonables sin reconstrucción innecesaria.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407408" y="2487168"/>
            <a:ext cx="3401568" cy="2523744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81728" y="2761488"/>
            <a:ext cx="2852928" cy="1975104"/>
          </a:xfrm>
          <a:prstGeom prst="roundRect">
            <a:avLst>
              <a:gd name="adj" fmla="val 370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56048" y="316382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NÚCLEO ESTABLE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956048" y="356616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responsabilidad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956048" y="4315968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4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cambios ajenos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658368" y="2487168"/>
            <a:ext cx="3054096" cy="1024128"/>
          </a:xfrm>
          <a:prstGeom prst="roundRect">
            <a:avLst>
              <a:gd name="adj" fmla="val 535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2487168"/>
            <a:ext cx="91440" cy="10241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265176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5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</a:t>
            </a:r>
            <a:endParaRPr lang="en-US" sz="880" dirty="0"/>
          </a:p>
        </p:txBody>
      </p:sp>
      <p:sp>
        <p:nvSpPr>
          <p:cNvPr id="19" name="Text 16"/>
          <p:cNvSpPr txBox="1"/>
          <p:nvPr/>
        </p:nvSpPr>
        <p:spPr>
          <a:xfrm>
            <a:off x="2432304" y="2596896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volumen esperado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3877056" y="2798064"/>
            <a:ext cx="31089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4187952"/>
            <a:ext cx="3054096" cy="1024128"/>
          </a:xfrm>
          <a:prstGeom prst="roundRect">
            <a:avLst>
              <a:gd name="adj" fmla="val 535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4187952"/>
            <a:ext cx="91440" cy="10241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50976" y="435254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55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2432304" y="429768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 plataforma declarada</a:t>
            </a:r>
            <a:endParaRPr lang="en-US" sz="1120" dirty="0"/>
          </a:p>
        </p:txBody>
      </p:sp>
      <p:sp>
        <p:nvSpPr>
          <p:cNvPr id="25" name="Shape 22"/>
          <p:cNvSpPr/>
          <p:nvPr/>
        </p:nvSpPr>
        <p:spPr>
          <a:xfrm>
            <a:off x="3877056" y="4498848"/>
            <a:ext cx="310896" cy="420624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85632" y="2487168"/>
            <a:ext cx="3054096" cy="1024128"/>
          </a:xfrm>
          <a:prstGeom prst="roundRect">
            <a:avLst>
              <a:gd name="adj" fmla="val 535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85632" y="2487168"/>
            <a:ext cx="91440" cy="1024128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78240" y="265176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55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</a:t>
            </a:r>
            <a:endParaRPr lang="en-US" sz="880" dirty="0"/>
          </a:p>
        </p:txBody>
      </p:sp>
      <p:sp>
        <p:nvSpPr>
          <p:cNvPr id="29" name="Text 26"/>
          <p:cNvSpPr txBox="1"/>
          <p:nvPr/>
        </p:nvSpPr>
        <p:spPr>
          <a:xfrm>
            <a:off x="10259568" y="2596896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parámetros externos</a:t>
            </a:r>
            <a:endParaRPr lang="en-US" sz="1120" dirty="0"/>
          </a:p>
        </p:txBody>
      </p:sp>
      <p:sp>
        <p:nvSpPr>
          <p:cNvPr id="30" name="Shape 27"/>
          <p:cNvSpPr/>
          <p:nvPr/>
        </p:nvSpPr>
        <p:spPr>
          <a:xfrm rot="10800000">
            <a:off x="8028432" y="2798064"/>
            <a:ext cx="310896" cy="420624"/>
          </a:xfrm>
          <a:prstGeom prst="chevron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485632" y="4187952"/>
            <a:ext cx="3054096" cy="1024128"/>
          </a:xfrm>
          <a:prstGeom prst="roundRect">
            <a:avLst>
              <a:gd name="adj" fmla="val 535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485632" y="4187952"/>
            <a:ext cx="91440" cy="1024128"/>
          </a:xfrm>
          <a:prstGeom prst="rect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778240" y="435254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55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SUSTITUCIÓN</a:t>
            </a:r>
            <a:endParaRPr lang="en-US" sz="880" dirty="0"/>
          </a:p>
        </p:txBody>
      </p:sp>
      <p:sp>
        <p:nvSpPr>
          <p:cNvPr id="34" name="Text 31"/>
          <p:cNvSpPr txBox="1"/>
          <p:nvPr/>
        </p:nvSpPr>
        <p:spPr>
          <a:xfrm>
            <a:off x="10259568" y="4297680"/>
            <a:ext cx="1024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un componente</a:t>
            </a:r>
            <a:endParaRPr lang="en-US" sz="1120" dirty="0"/>
          </a:p>
        </p:txBody>
      </p:sp>
      <p:sp>
        <p:nvSpPr>
          <p:cNvPr id="35" name="Shape 32"/>
          <p:cNvSpPr/>
          <p:nvPr/>
        </p:nvSpPr>
        <p:spPr>
          <a:xfrm rot="10800000">
            <a:off x="8028432" y="4498848"/>
            <a:ext cx="310896" cy="420624"/>
          </a:xfrm>
          <a:prstGeom prst="chevron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58368" y="561441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INVESTIGA?</a:t>
            </a:r>
            <a:endParaRPr lang="en-US" sz="970" dirty="0"/>
          </a:p>
        </p:txBody>
      </p:sp>
      <p:sp>
        <p:nvSpPr>
          <p:cNvPr id="37" name="Shape 34"/>
          <p:cNvSpPr/>
          <p:nvPr/>
        </p:nvSpPr>
        <p:spPr>
          <a:xfrm>
            <a:off x="658368" y="5925312"/>
            <a:ext cx="1975104" cy="384048"/>
          </a:xfrm>
          <a:prstGeom prst="roundRect">
            <a:avLst>
              <a:gd name="adj" fmla="val 9524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49808" y="59253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de entornos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871216" y="5925312"/>
            <a:ext cx="1975104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962656" y="59253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instalación reproducible</a:t>
            </a:r>
            <a:endParaRPr lang="en-US" sz="880" dirty="0"/>
          </a:p>
        </p:txBody>
      </p:sp>
      <p:sp>
        <p:nvSpPr>
          <p:cNvPr id="41" name="Shape 38"/>
          <p:cNvSpPr/>
          <p:nvPr/>
        </p:nvSpPr>
        <p:spPr>
          <a:xfrm>
            <a:off x="5084064" y="5925312"/>
            <a:ext cx="1975104" cy="384048"/>
          </a:xfrm>
          <a:prstGeom prst="roundRect">
            <a:avLst>
              <a:gd name="adj" fmla="val 9524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175504" y="59253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de escala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296912" y="5925312"/>
            <a:ext cx="1975104" cy="384048"/>
          </a:xfrm>
          <a:prstGeom prst="roundRect">
            <a:avLst>
              <a:gd name="adj" fmla="val 9524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388352" y="59253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configuración externa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9509760" y="5925312"/>
            <a:ext cx="1975104" cy="384048"/>
          </a:xfrm>
          <a:prstGeom prst="roundRect">
            <a:avLst>
              <a:gd name="adj" fmla="val 9524"/>
            </a:avLst>
          </a:prstGeom>
          <a:solidFill>
            <a:srgbClr val="102A43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601200" y="592531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migración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 · MAPA COMPLETO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Nueve preguntas, nueve ángulos sobre el mismo producto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mapa evita convertir una única señal verde en una conclusión total.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401568" cy="3529584"/>
          </a:xfrm>
          <a:prstGeom prst="roundRect">
            <a:avLst>
              <a:gd name="adj" fmla="val 18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3401568" cy="512064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224942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Y RESPUESTA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914400" y="3017520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00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40" dirty="0"/>
          </a:p>
        </p:txBody>
      </p:sp>
      <p:sp>
        <p:nvSpPr>
          <p:cNvPr id="16" name="Text 13"/>
          <p:cNvSpPr txBox="1"/>
          <p:nvPr/>
        </p:nvSpPr>
        <p:spPr>
          <a:xfrm>
            <a:off x="1517904" y="29992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¿Hace lo correcto?</a:t>
            </a:r>
            <a:endParaRPr lang="en-US" sz="1330" dirty="0"/>
          </a:p>
        </p:txBody>
      </p:sp>
      <p:sp>
        <p:nvSpPr>
          <p:cNvPr id="17" name="Shape 14"/>
          <p:cNvSpPr/>
          <p:nvPr/>
        </p:nvSpPr>
        <p:spPr>
          <a:xfrm>
            <a:off x="914400" y="3639312"/>
            <a:ext cx="28895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914400" y="3858768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4400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40" dirty="0"/>
          </a:p>
        </p:txBody>
      </p:sp>
      <p:sp>
        <p:nvSpPr>
          <p:cNvPr id="20" name="Text 17"/>
          <p:cNvSpPr txBox="1"/>
          <p:nvPr/>
        </p:nvSpPr>
        <p:spPr>
          <a:xfrm>
            <a:off x="1517904" y="3840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¿Responde a tiempo?</a:t>
            </a:r>
            <a:endParaRPr lang="en-US" sz="1330" dirty="0"/>
          </a:p>
        </p:txBody>
      </p:sp>
      <p:sp>
        <p:nvSpPr>
          <p:cNvPr id="21" name="Shape 18"/>
          <p:cNvSpPr/>
          <p:nvPr/>
        </p:nvSpPr>
        <p:spPr>
          <a:xfrm>
            <a:off x="914400" y="4480560"/>
            <a:ext cx="28895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914400" y="4700016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4700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1517904" y="46817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¿Intercambia bien?</a:t>
            </a:r>
            <a:endParaRPr lang="en-US" sz="1330" dirty="0"/>
          </a:p>
        </p:txBody>
      </p:sp>
      <p:sp>
        <p:nvSpPr>
          <p:cNvPr id="25" name="Shape 22"/>
          <p:cNvSpPr/>
          <p:nvPr/>
        </p:nvSpPr>
        <p:spPr>
          <a:xfrm>
            <a:off x="4352544" y="2249424"/>
            <a:ext cx="3401568" cy="3529584"/>
          </a:xfrm>
          <a:prstGeom prst="roundRect">
            <a:avLst>
              <a:gd name="adj" fmla="val 18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52544" y="2249424"/>
            <a:ext cx="3401568" cy="512064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17136" y="224942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55" kern="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USO, FALLOS Y AMENAZAS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608576" y="3017520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608576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5212080" y="29992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puede operar y corregir?</a:t>
            </a:r>
            <a:endParaRPr lang="en-US" sz="1330" dirty="0"/>
          </a:p>
        </p:txBody>
      </p:sp>
      <p:sp>
        <p:nvSpPr>
          <p:cNvPr id="31" name="Shape 28"/>
          <p:cNvSpPr/>
          <p:nvPr/>
        </p:nvSpPr>
        <p:spPr>
          <a:xfrm>
            <a:off x="4608576" y="3639312"/>
            <a:ext cx="28895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4608576" y="3858768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608576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40" dirty="0"/>
          </a:p>
        </p:txBody>
      </p:sp>
      <p:sp>
        <p:nvSpPr>
          <p:cNvPr id="34" name="Text 31"/>
          <p:cNvSpPr txBox="1"/>
          <p:nvPr/>
        </p:nvSpPr>
        <p:spPr>
          <a:xfrm>
            <a:off x="5212080" y="3840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¿Resiste y se recupera?</a:t>
            </a:r>
            <a:endParaRPr lang="en-US" sz="1330" dirty="0"/>
          </a:p>
        </p:txBody>
      </p:sp>
      <p:sp>
        <p:nvSpPr>
          <p:cNvPr id="35" name="Shape 32"/>
          <p:cNvSpPr/>
          <p:nvPr/>
        </p:nvSpPr>
        <p:spPr>
          <a:xfrm>
            <a:off x="4608576" y="4480560"/>
            <a:ext cx="28895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4608576" y="4700016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608576" y="4700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40" dirty="0"/>
          </a:p>
        </p:txBody>
      </p:sp>
      <p:sp>
        <p:nvSpPr>
          <p:cNvPr id="38" name="Text 35"/>
          <p:cNvSpPr txBox="1"/>
          <p:nvPr/>
        </p:nvSpPr>
        <p:spPr>
          <a:xfrm>
            <a:off x="5212080" y="46817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¿Impide acciones no autorizadas?</a:t>
            </a:r>
            <a:endParaRPr lang="en-US" sz="1220" dirty="0"/>
          </a:p>
        </p:txBody>
      </p:sp>
      <p:sp>
        <p:nvSpPr>
          <p:cNvPr id="39" name="Shape 36"/>
          <p:cNvSpPr/>
          <p:nvPr/>
        </p:nvSpPr>
        <p:spPr>
          <a:xfrm>
            <a:off x="8046720" y="2249424"/>
            <a:ext cx="3401568" cy="3529584"/>
          </a:xfrm>
          <a:prstGeom prst="roundRect">
            <a:avLst>
              <a:gd name="adj" fmla="val 18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46720" y="2249424"/>
            <a:ext cx="3401568" cy="512064"/>
          </a:xfrm>
          <a:prstGeom prst="roundRect">
            <a:avLst>
              <a:gd name="adj" fmla="val 125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11312" y="2249424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spc="5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 Y CONSECUENCIAS</a:t>
            </a:r>
            <a:endParaRPr lang="en-US" sz="1020" dirty="0"/>
          </a:p>
        </p:txBody>
      </p:sp>
      <p:sp>
        <p:nvSpPr>
          <p:cNvPr id="42" name="Shape 39"/>
          <p:cNvSpPr/>
          <p:nvPr/>
        </p:nvSpPr>
        <p:spPr>
          <a:xfrm>
            <a:off x="8302752" y="3017520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302752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40" dirty="0"/>
          </a:p>
        </p:txBody>
      </p:sp>
      <p:sp>
        <p:nvSpPr>
          <p:cNvPr id="44" name="Text 41"/>
          <p:cNvSpPr txBox="1"/>
          <p:nvPr/>
        </p:nvSpPr>
        <p:spPr>
          <a:xfrm>
            <a:off x="8906256" y="2999232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¿Evita estados peligrosos?</a:t>
            </a:r>
            <a:endParaRPr lang="en-US" sz="1330" dirty="0"/>
          </a:p>
        </p:txBody>
      </p:sp>
      <p:sp>
        <p:nvSpPr>
          <p:cNvPr id="45" name="Shape 42"/>
          <p:cNvSpPr/>
          <p:nvPr/>
        </p:nvSpPr>
        <p:spPr>
          <a:xfrm>
            <a:off x="8302752" y="3639312"/>
            <a:ext cx="28895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46" name="Shape 43"/>
          <p:cNvSpPr/>
          <p:nvPr/>
        </p:nvSpPr>
        <p:spPr>
          <a:xfrm>
            <a:off x="8302752" y="3858768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302752" y="38587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40" dirty="0"/>
          </a:p>
        </p:txBody>
      </p:sp>
      <p:sp>
        <p:nvSpPr>
          <p:cNvPr id="48" name="Text 45"/>
          <p:cNvSpPr txBox="1"/>
          <p:nvPr/>
        </p:nvSpPr>
        <p:spPr>
          <a:xfrm>
            <a:off x="8906256" y="384048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puede modificar con control?</a:t>
            </a:r>
            <a:endParaRPr lang="en-US" sz="1220" dirty="0"/>
          </a:p>
        </p:txBody>
      </p:sp>
      <p:sp>
        <p:nvSpPr>
          <p:cNvPr id="49" name="Shape 46"/>
          <p:cNvSpPr/>
          <p:nvPr/>
        </p:nvSpPr>
        <p:spPr>
          <a:xfrm>
            <a:off x="8302752" y="4480560"/>
            <a:ext cx="2889504" cy="0"/>
          </a:xfrm>
          <a:prstGeom prst="line">
            <a:avLst/>
          </a:prstGeom>
          <a:noFill/>
          <a:ln w="12700">
            <a:solidFill>
              <a:srgbClr val="96A3B2"/>
            </a:solidFill>
            <a:prstDash val="solid"/>
            <a:headEnd type="none"/>
            <a:tailEnd type="none"/>
          </a:ln>
        </p:spPr>
      </p:sp>
      <p:sp>
        <p:nvSpPr>
          <p:cNvPr id="50" name="Shape 47"/>
          <p:cNvSpPr/>
          <p:nvPr/>
        </p:nvSpPr>
        <p:spPr>
          <a:xfrm>
            <a:off x="8302752" y="4700016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302752" y="4700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40" dirty="0"/>
          </a:p>
        </p:txBody>
      </p:sp>
      <p:sp>
        <p:nvSpPr>
          <p:cNvPr id="52" name="Text 49"/>
          <p:cNvSpPr txBox="1"/>
          <p:nvPr/>
        </p:nvSpPr>
        <p:spPr>
          <a:xfrm>
            <a:off x="8906256" y="4681728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adapta al cambio esperado?</a:t>
            </a:r>
            <a:endParaRPr lang="en-US" sz="1220" dirty="0"/>
          </a:p>
        </p:txBody>
      </p:sp>
      <p:sp>
        <p:nvSpPr>
          <p:cNvPr id="53" name="Text 50"/>
          <p:cNvSpPr txBox="1"/>
          <p:nvPr/>
        </p:nvSpPr>
        <p:spPr>
          <a:xfrm>
            <a:off x="1335024" y="598017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marcan casillas: se formulan preguntas relevantes para el contexto del producto.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CLASIFICACIÓN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situación puede afectar varias características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principal explica la primera necesidad incumplida; las secundarias explican consecuencias justificables.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2944368" cy="3273552"/>
          </a:xfrm>
          <a:prstGeom prst="roundRect">
            <a:avLst>
              <a:gd name="adj" fmla="val 217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87121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OBSERVADO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situación, no una etiqueta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22192" y="3584448"/>
            <a:ext cx="38404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43984" y="2414016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43984" y="24140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93792" y="2249424"/>
            <a:ext cx="634593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0" y="2377440"/>
            <a:ext cx="3529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necesidad incumple primero?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9034272" y="237744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spc="5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CARACTERÍSTICA PRINCIPAL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4443984" y="3474720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443984" y="34747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193792" y="3310128"/>
            <a:ext cx="634593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0" y="3438144"/>
            <a:ext cx="3529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otras consecuencias produce?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9034272" y="3438144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spc="5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CARACTERÍSTICAS RELACIONADAS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4443984" y="4535424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443984" y="45354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193792" y="4370832"/>
            <a:ext cx="634593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0" y="4498848"/>
            <a:ext cx="3529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observación permitiría investigarlo?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9034272" y="4498848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spc="5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POSIBLE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4443984" y="5596128"/>
            <a:ext cx="7095744" cy="420624"/>
          </a:xfrm>
          <a:prstGeom prst="roundRect">
            <a:avLst>
              <a:gd name="adj" fmla="val 869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00016" y="559612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Clasificar no es buscar una palabra idéntica: es comprender la necesidad y el impacto.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EJEMPLO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Ocho segundos pueden revelar más de una preocupación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clasificación depende de la primera necesidad incumplida y de las consecuencias observadas.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035808" cy="3218688"/>
          </a:xfrm>
          <a:prstGeom prst="roundRect">
            <a:avLst>
              <a:gd name="adj" fmla="val 210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2688336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s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657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mostrar una calificación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42416" y="4480560"/>
            <a:ext cx="226771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987552" y="47183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bajo una carga definida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913632" y="3584448"/>
            <a:ext cx="34747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17136" y="2249424"/>
            <a:ext cx="7022592" cy="877824"/>
          </a:xfrm>
          <a:prstGeom prst="roundRect">
            <a:avLst>
              <a:gd name="adj" fmla="val 520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17136" y="2249424"/>
            <a:ext cx="91440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237744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940" dirty="0"/>
          </a:p>
        </p:txBody>
      </p:sp>
      <p:sp>
        <p:nvSpPr>
          <p:cNvPr id="20" name="Text 17"/>
          <p:cNvSpPr txBox="1"/>
          <p:nvPr/>
        </p:nvSpPr>
        <p:spPr>
          <a:xfrm>
            <a:off x="6181344" y="2359152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Eficiencia de desempeño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613648" y="234086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demora incumple primero el tiempo esperado bajo carga.</a:t>
            </a:r>
            <a:endParaRPr lang="en-US" sz="1170" dirty="0"/>
          </a:p>
        </p:txBody>
      </p:sp>
      <p:sp>
        <p:nvSpPr>
          <p:cNvPr id="22" name="Shape 19"/>
          <p:cNvSpPr/>
          <p:nvPr/>
        </p:nvSpPr>
        <p:spPr>
          <a:xfrm>
            <a:off x="4517136" y="3291840"/>
            <a:ext cx="7022592" cy="877824"/>
          </a:xfrm>
          <a:prstGeom prst="roundRect">
            <a:avLst>
              <a:gd name="adj" fmla="val 520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17136" y="3291840"/>
            <a:ext cx="91440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3419856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SECUNDARIA</a:t>
            </a:r>
            <a:endParaRPr lang="en-US" sz="940" dirty="0"/>
          </a:p>
        </p:txBody>
      </p:sp>
      <p:sp>
        <p:nvSpPr>
          <p:cNvPr id="25" name="Text 22"/>
          <p:cNvSpPr txBox="1"/>
          <p:nvPr/>
        </p:nvSpPr>
        <p:spPr>
          <a:xfrm>
            <a:off x="6181344" y="3401568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de interacción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613648" y="338328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no hay feedback, las personas pueden repetir la operación creyendo que falló.</a:t>
            </a:r>
            <a:endParaRPr lang="en-US" sz="1170" dirty="0"/>
          </a:p>
        </p:txBody>
      </p:sp>
      <p:sp>
        <p:nvSpPr>
          <p:cNvPr id="27" name="Shape 24"/>
          <p:cNvSpPr/>
          <p:nvPr/>
        </p:nvSpPr>
        <p:spPr>
          <a:xfrm>
            <a:off x="4517136" y="4334256"/>
            <a:ext cx="7022592" cy="877824"/>
          </a:xfrm>
          <a:prstGeom prst="roundRect">
            <a:avLst>
              <a:gd name="adj" fmla="val 520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17136" y="4334256"/>
            <a:ext cx="91440" cy="877824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46320" y="4462272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40" dirty="0"/>
          </a:p>
        </p:txBody>
      </p:sp>
      <p:sp>
        <p:nvSpPr>
          <p:cNvPr id="30" name="Text 27"/>
          <p:cNvSpPr txBox="1"/>
          <p:nvPr/>
        </p:nvSpPr>
        <p:spPr>
          <a:xfrm>
            <a:off x="6181344" y="4443984"/>
            <a:ext cx="2304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Medición + observación de la tarea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8613648" y="442569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7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Cronometrar condiciones y revisar qué hace la persona durante la espera.</a:t>
            </a:r>
            <a:endParaRPr lang="en-US" sz="1170" dirty="0"/>
          </a:p>
        </p:txBody>
      </p:sp>
      <p:sp>
        <p:nvSpPr>
          <p:cNvPr id="32" name="Text 29"/>
          <p:cNvSpPr txBox="1"/>
          <p:nvPr/>
        </p:nvSpPr>
        <p:spPr>
          <a:xfrm>
            <a:off x="1170432" y="5943600"/>
            <a:ext cx="9857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secundaria requiere una consecuencia observable; no se agrega solo porque también podría estar relacionada.</a:t>
            </a:r>
            <a:endParaRPr lang="en-US" sz="14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EJERCICIO INDIVIDUAL · PARTE 1 DE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 las primeras tres situaciones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cada caso: elige una característica principal, una secundaria solo si puedes justificarla y una evidencia posible.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496312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4963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1572768" y="2359152"/>
            <a:ext cx="5596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promedio 3.95 se informa como 3.9, aunque la regla exige 4.0.</a:t>
            </a:r>
            <a:endParaRPr lang="en-US" sz="1430" dirty="0"/>
          </a:p>
        </p:txBody>
      </p:sp>
      <p:sp>
        <p:nvSpPr>
          <p:cNvPr id="15" name="Text 12"/>
          <p:cNvSpPr txBox="1"/>
          <p:nvPr/>
        </p:nvSpPr>
        <p:spPr>
          <a:xfrm>
            <a:off x="7388352" y="23957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7388352" y="2962656"/>
            <a:ext cx="113385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8686800" y="23957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70" b="1" spc="25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SECUNDARIA</a:t>
            </a:r>
            <a:endParaRPr lang="en-US" sz="770" dirty="0"/>
          </a:p>
        </p:txBody>
      </p:sp>
      <p:sp>
        <p:nvSpPr>
          <p:cNvPr id="18" name="Shape 15"/>
          <p:cNvSpPr/>
          <p:nvPr/>
        </p:nvSpPr>
        <p:spPr>
          <a:xfrm>
            <a:off x="8686800" y="2962656"/>
            <a:ext cx="113385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9985248" y="23957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9985248" y="2962656"/>
            <a:ext cx="1133856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658368" y="3383280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4400" y="3630168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36301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1572768" y="3493008"/>
            <a:ext cx="5596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Cargar 50.000 registros demora demasiado para terminar dentro del horario.</a:t>
            </a:r>
            <a:endParaRPr lang="en-US" sz="1430" dirty="0"/>
          </a:p>
        </p:txBody>
      </p:sp>
      <p:sp>
        <p:nvSpPr>
          <p:cNvPr id="25" name="Text 22"/>
          <p:cNvSpPr txBox="1"/>
          <p:nvPr/>
        </p:nvSpPr>
        <p:spPr>
          <a:xfrm>
            <a:off x="7388352" y="352958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7388352" y="4096512"/>
            <a:ext cx="113385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8686800" y="352958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70" b="1" spc="25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SECUNDARIA</a:t>
            </a:r>
            <a:endParaRPr lang="en-US" sz="770" dirty="0"/>
          </a:p>
        </p:txBody>
      </p:sp>
      <p:sp>
        <p:nvSpPr>
          <p:cNvPr id="28" name="Shape 25"/>
          <p:cNvSpPr/>
          <p:nvPr/>
        </p:nvSpPr>
        <p:spPr>
          <a:xfrm>
            <a:off x="8686800" y="4096512"/>
            <a:ext cx="113385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 txBox="1"/>
          <p:nvPr/>
        </p:nvSpPr>
        <p:spPr>
          <a:xfrm>
            <a:off x="9985248" y="352958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9985248" y="4096512"/>
            <a:ext cx="1133856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658368" y="4517136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14400" y="4764024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4764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40" dirty="0"/>
          </a:p>
        </p:txBody>
      </p:sp>
      <p:sp>
        <p:nvSpPr>
          <p:cNvPr id="34" name="Text 31"/>
          <p:cNvSpPr txBox="1"/>
          <p:nvPr/>
        </p:nvSpPr>
        <p:spPr>
          <a:xfrm>
            <a:off x="1572768" y="4626864"/>
            <a:ext cx="5596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tiene datos correctos, pero la plataforma receptora no puede leerlo.</a:t>
            </a:r>
            <a:endParaRPr lang="en-US" sz="1430" dirty="0"/>
          </a:p>
        </p:txBody>
      </p:sp>
      <p:sp>
        <p:nvSpPr>
          <p:cNvPr id="35" name="Text 32"/>
          <p:cNvSpPr txBox="1"/>
          <p:nvPr/>
        </p:nvSpPr>
        <p:spPr>
          <a:xfrm>
            <a:off x="7388352" y="46634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7388352" y="5230368"/>
            <a:ext cx="113385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8686800" y="46634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70" b="1" spc="25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SECUNDARIA</a:t>
            </a:r>
            <a:endParaRPr lang="en-US" sz="770" dirty="0"/>
          </a:p>
        </p:txBody>
      </p:sp>
      <p:sp>
        <p:nvSpPr>
          <p:cNvPr id="38" name="Shape 35"/>
          <p:cNvSpPr/>
          <p:nvPr/>
        </p:nvSpPr>
        <p:spPr>
          <a:xfrm>
            <a:off x="8686800" y="5230368"/>
            <a:ext cx="113385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39" name="Text 36"/>
          <p:cNvSpPr txBox="1"/>
          <p:nvPr/>
        </p:nvSpPr>
        <p:spPr>
          <a:xfrm>
            <a:off x="9985248" y="46634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9985248" y="5230368"/>
            <a:ext cx="1133856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41" name="Shape 38"/>
          <p:cNvSpPr/>
          <p:nvPr/>
        </p:nvSpPr>
        <p:spPr>
          <a:xfrm>
            <a:off x="1353312" y="5833872"/>
            <a:ext cx="9491472" cy="384048"/>
          </a:xfrm>
          <a:prstGeom prst="roundRect">
            <a:avLst>
              <a:gd name="adj" fmla="val 95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591056" y="5833872"/>
            <a:ext cx="9015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Empieza por la necesidad incumplida; luego decide si existe una consecuencia secundaria real.</a:t>
            </a:r>
            <a:endParaRPr lang="en-US" sz="12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EJERCICIO INDIVIDUAL · PARTE 2 DE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 las tres situaciones restantes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cada caso: elige una característica principal, una secundaria solo si puedes justificarla y una evidencia posible.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496312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4963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1572768" y="2359152"/>
            <a:ext cx="5596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entrada vacía cierra la aplicación y muestra solo un mensaje técnico.</a:t>
            </a:r>
            <a:endParaRPr lang="en-US" sz="1430" dirty="0"/>
          </a:p>
        </p:txBody>
      </p:sp>
      <p:sp>
        <p:nvSpPr>
          <p:cNvPr id="15" name="Text 12"/>
          <p:cNvSpPr txBox="1"/>
          <p:nvPr/>
        </p:nvSpPr>
        <p:spPr>
          <a:xfrm>
            <a:off x="7388352" y="23957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840" dirty="0"/>
          </a:p>
        </p:txBody>
      </p:sp>
      <p:sp>
        <p:nvSpPr>
          <p:cNvPr id="16" name="Shape 13"/>
          <p:cNvSpPr/>
          <p:nvPr/>
        </p:nvSpPr>
        <p:spPr>
          <a:xfrm>
            <a:off x="7388352" y="2962656"/>
            <a:ext cx="113385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8686800" y="23957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70" b="1" spc="25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SECUNDARIA</a:t>
            </a:r>
            <a:endParaRPr lang="en-US" sz="770" dirty="0"/>
          </a:p>
        </p:txBody>
      </p:sp>
      <p:sp>
        <p:nvSpPr>
          <p:cNvPr id="18" name="Shape 15"/>
          <p:cNvSpPr/>
          <p:nvPr/>
        </p:nvSpPr>
        <p:spPr>
          <a:xfrm>
            <a:off x="8686800" y="2962656"/>
            <a:ext cx="113385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9985248" y="239572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9985248" y="2962656"/>
            <a:ext cx="1133856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658368" y="3383280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14400" y="3630168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400" y="36301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1572768" y="3493008"/>
            <a:ext cx="5596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cuenta sin permisos consulta las calificaciones de otro curso.</a:t>
            </a:r>
            <a:endParaRPr lang="en-US" sz="1430" dirty="0"/>
          </a:p>
        </p:txBody>
      </p:sp>
      <p:sp>
        <p:nvSpPr>
          <p:cNvPr id="25" name="Text 22"/>
          <p:cNvSpPr txBox="1"/>
          <p:nvPr/>
        </p:nvSpPr>
        <p:spPr>
          <a:xfrm>
            <a:off x="7388352" y="352958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7388352" y="4096512"/>
            <a:ext cx="113385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8686800" y="352958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70" b="1" spc="25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SECUNDARIA</a:t>
            </a:r>
            <a:endParaRPr lang="en-US" sz="770" dirty="0"/>
          </a:p>
        </p:txBody>
      </p:sp>
      <p:sp>
        <p:nvSpPr>
          <p:cNvPr id="28" name="Shape 25"/>
          <p:cNvSpPr/>
          <p:nvPr/>
        </p:nvSpPr>
        <p:spPr>
          <a:xfrm>
            <a:off x="8686800" y="4096512"/>
            <a:ext cx="113385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 txBox="1"/>
          <p:nvPr/>
        </p:nvSpPr>
        <p:spPr>
          <a:xfrm>
            <a:off x="9985248" y="352958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40" dirty="0"/>
          </a:p>
        </p:txBody>
      </p:sp>
      <p:sp>
        <p:nvSpPr>
          <p:cNvPr id="30" name="Shape 27"/>
          <p:cNvSpPr/>
          <p:nvPr/>
        </p:nvSpPr>
        <p:spPr>
          <a:xfrm>
            <a:off x="9985248" y="4096512"/>
            <a:ext cx="1133856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658368" y="4517136"/>
            <a:ext cx="1088136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14400" y="4764024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14400" y="47640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40" dirty="0"/>
          </a:p>
        </p:txBody>
      </p:sp>
      <p:sp>
        <p:nvSpPr>
          <p:cNvPr id="34" name="Text 31"/>
          <p:cNvSpPr txBox="1"/>
          <p:nvPr/>
        </p:nvSpPr>
        <p:spPr>
          <a:xfrm>
            <a:off x="1572768" y="4626864"/>
            <a:ext cx="5596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el redondeo exige editar cuatro archivos sin pruebas de regresión en tres.</a:t>
            </a:r>
            <a:endParaRPr lang="en-US" sz="1430" dirty="0"/>
          </a:p>
        </p:txBody>
      </p:sp>
      <p:sp>
        <p:nvSpPr>
          <p:cNvPr id="35" name="Text 32"/>
          <p:cNvSpPr txBox="1"/>
          <p:nvPr/>
        </p:nvSpPr>
        <p:spPr>
          <a:xfrm>
            <a:off x="7388352" y="46634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7388352" y="5230368"/>
            <a:ext cx="113385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8686800" y="46634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70" b="1" spc="25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SECUNDARIA</a:t>
            </a:r>
            <a:endParaRPr lang="en-US" sz="770" dirty="0"/>
          </a:p>
        </p:txBody>
      </p:sp>
      <p:sp>
        <p:nvSpPr>
          <p:cNvPr id="38" name="Shape 35"/>
          <p:cNvSpPr/>
          <p:nvPr/>
        </p:nvSpPr>
        <p:spPr>
          <a:xfrm>
            <a:off x="8686800" y="5230368"/>
            <a:ext cx="1133856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39" name="Text 36"/>
          <p:cNvSpPr txBox="1"/>
          <p:nvPr/>
        </p:nvSpPr>
        <p:spPr>
          <a:xfrm>
            <a:off x="9985248" y="4663440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spc="25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9985248" y="5230368"/>
            <a:ext cx="1133856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41" name="Shape 38"/>
          <p:cNvSpPr/>
          <p:nvPr/>
        </p:nvSpPr>
        <p:spPr>
          <a:xfrm>
            <a:off x="1353312" y="5833872"/>
            <a:ext cx="9491472" cy="384048"/>
          </a:xfrm>
          <a:prstGeom prst="roundRect">
            <a:avLst>
              <a:gd name="adj" fmla="val 95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1591056" y="5833872"/>
            <a:ext cx="9015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propuesta debe investigar el problema; no basta con repetir el nombre de la característica.</a:t>
            </a:r>
            <a:endParaRPr lang="en-US" sz="12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 · CONTRASTE CON AGENTE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clasificación útil deja visible el razonamiento y lo que falta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proponer una lectura inicial; la evidencia y el contexto siguen siendo responsabilidad del análisis.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6565392" cy="3419856"/>
          </a:xfrm>
          <a:prstGeom prst="roundRect">
            <a:avLst>
              <a:gd name="adj" fmla="val 1872"/>
            </a:avLst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542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DE ANÁLISIS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" y="2962656"/>
            <a:ext cx="594360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situación, propone una característica principal de ISO/IEC 25010:2023 y, solo si se justifica, una secundaria. Explica qué necesidad o riesgo sustenta la clasificación. No inventes requisitos ni umbrales; si falta contexto, indícalo.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07808" y="2359152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07808" y="23591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47888" y="2249424"/>
            <a:ext cx="3291840" cy="621792"/>
          </a:xfrm>
          <a:prstGeom prst="roundRect">
            <a:avLst>
              <a:gd name="adj" fmla="val 58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85632" y="2249424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¿Explica la primera necesidad incumplida?</a:t>
            </a:r>
            <a:endParaRPr lang="en-US" sz="1260" dirty="0"/>
          </a:p>
        </p:txBody>
      </p:sp>
      <p:sp>
        <p:nvSpPr>
          <p:cNvPr id="18" name="Shape 15"/>
          <p:cNvSpPr/>
          <p:nvPr/>
        </p:nvSpPr>
        <p:spPr>
          <a:xfrm>
            <a:off x="7607808" y="3127248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07808" y="3127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247888" y="3017520"/>
            <a:ext cx="3291840" cy="621792"/>
          </a:xfrm>
          <a:prstGeom prst="roundRect">
            <a:avLst>
              <a:gd name="adj" fmla="val 58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85632" y="3017520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¿Separa consecuencias de la causa principal?</a:t>
            </a:r>
            <a:endParaRPr lang="en-US" sz="1260" dirty="0"/>
          </a:p>
        </p:txBody>
      </p:sp>
      <p:sp>
        <p:nvSpPr>
          <p:cNvPr id="22" name="Shape 19"/>
          <p:cNvSpPr/>
          <p:nvPr/>
        </p:nvSpPr>
        <p:spPr>
          <a:xfrm>
            <a:off x="7607808" y="3895344"/>
            <a:ext cx="438912" cy="43891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07808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247888" y="3785616"/>
            <a:ext cx="3291840" cy="621792"/>
          </a:xfrm>
          <a:prstGeom prst="roundRect">
            <a:avLst>
              <a:gd name="adj" fmla="val 58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85632" y="3785616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¿Declara el contexto que todavía falta?</a:t>
            </a:r>
            <a:endParaRPr lang="en-US" sz="1260" dirty="0"/>
          </a:p>
        </p:txBody>
      </p:sp>
      <p:sp>
        <p:nvSpPr>
          <p:cNvPr id="26" name="Shape 23"/>
          <p:cNvSpPr/>
          <p:nvPr/>
        </p:nvSpPr>
        <p:spPr>
          <a:xfrm>
            <a:off x="7607808" y="4663440"/>
            <a:ext cx="438912" cy="438912"/>
          </a:xfrm>
          <a:prstGeom prst="ellipse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07808" y="4663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247888" y="4553712"/>
            <a:ext cx="3291840" cy="621792"/>
          </a:xfrm>
          <a:prstGeom prst="roundRect">
            <a:avLst>
              <a:gd name="adj" fmla="val 58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85632" y="4553712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¿Evita inventar requisitos o umbrales?</a:t>
            </a:r>
            <a:endParaRPr lang="en-US" sz="1260" dirty="0"/>
          </a:p>
        </p:txBody>
      </p:sp>
      <p:sp>
        <p:nvSpPr>
          <p:cNvPr id="30" name="Text 27"/>
          <p:cNvSpPr txBox="1"/>
          <p:nvPr/>
        </p:nvSpPr>
        <p:spPr>
          <a:xfrm>
            <a:off x="1152144" y="5980176"/>
            <a:ext cx="9893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característica válida sin una justificación válida sigue siendo una respuesta débil.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PUNTO DE CONTROL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avanzar, comprueba cuatro capacidades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mapa está aprendido cuando puedes convertir sus nombres en decisiones observables.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04288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04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426464" y="2249424"/>
            <a:ext cx="1011326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773936" y="2249424"/>
            <a:ext cx="9363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 una pregunta concreta para cada una de las nueve características.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58368" y="3127248"/>
            <a:ext cx="530352" cy="5303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1272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426464" y="3072384"/>
            <a:ext cx="1011326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773936" y="3072384"/>
            <a:ext cx="9363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la secuencia riesgo, característica, criterio y evidencia.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58368" y="3950208"/>
            <a:ext cx="530352" cy="53035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8368" y="395020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426464" y="3895344"/>
            <a:ext cx="1011326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773936" y="3895344"/>
            <a:ext cx="9363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Distinguir seguridad de la información y seguridad operacional.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58368" y="4773168"/>
            <a:ext cx="530352" cy="530352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773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426464" y="4718304"/>
            <a:ext cx="10113264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773936" y="4718304"/>
            <a:ext cx="9363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Elegir una característica principal sin negar efectos secundarios justificados.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700784" y="5724144"/>
            <a:ext cx="8796528" cy="438912"/>
          </a:xfrm>
          <a:prstGeom prst="roundRect">
            <a:avLst>
              <a:gd name="adj" fmla="val 83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975104" y="5724144"/>
            <a:ext cx="8247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puedes justificar la clasificación y proponer evidencia, el mapa ya está funcionando.</a:t>
            </a:r>
            <a:endParaRPr lang="en-US" sz="142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PREGUNTAS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llevarse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 desde el riesgo y el alcance; la pista orienta sin entregar la conclusión.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40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2494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una prueba funcional no demuestra automáticamente fiabilidad o seguridad?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81328" y="2889504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81328" y="2889504"/>
            <a:ext cx="73152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00784" y="28895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2523744" y="28895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el resultado observado con las condiciones adversas y los accesos que todavía no se ejecutaron.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58368" y="3675888"/>
            <a:ext cx="530352" cy="5303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675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" y="358444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distinguimos la característica principal cuando un problema parece pertenecer a varias?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481328" y="4224528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81328" y="4224528"/>
            <a:ext cx="73152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00784" y="4224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422452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Comienza por la necesidad que se incumple primero y luego separa sus consecuencias.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58368" y="5010912"/>
            <a:ext cx="530352" cy="53035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481328" y="4919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no todas las características deben tener la misma prioridad en todos los productos?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481328" y="5559552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81328" y="5559552"/>
            <a:ext cx="73152" cy="4572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700784" y="5559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2523744" y="55595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Contrasta el daño posible en una calculadora de práctica con un sistema médico o industrial.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BLOQUE 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16736"/>
            <a:ext cx="8046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estándar organiza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93392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contexto vuelve relevante la pregunta</a:t>
            </a:r>
            <a:endParaRPr lang="en-US" sz="3400" dirty="0"/>
          </a:p>
        </p:txBody>
      </p:sp>
      <p:sp>
        <p:nvSpPr>
          <p:cNvPr id="11" name="Shape 8"/>
          <p:cNvSpPr/>
          <p:nvPr/>
        </p:nvSpPr>
        <p:spPr>
          <a:xfrm>
            <a:off x="658368" y="3236976"/>
            <a:ext cx="2468880" cy="1316736"/>
          </a:xfrm>
          <a:prstGeom prst="roundRect">
            <a:avLst>
              <a:gd name="adj" fmla="val 416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352958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" y="39136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fallar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182112" y="367588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19856" y="3236976"/>
            <a:ext cx="2468880" cy="1316736"/>
          </a:xfrm>
          <a:prstGeom prst="roundRect">
            <a:avLst>
              <a:gd name="adj" fmla="val 416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39312" y="352958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3639312" y="39136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observar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943600" y="367588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81344" y="3236976"/>
            <a:ext cx="2468880" cy="1316736"/>
          </a:xfrm>
          <a:prstGeom prst="roundRect">
            <a:avLst>
              <a:gd name="adj" fmla="val 4167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0" y="352958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39136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espera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705088" y="3675888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942832" y="3236976"/>
            <a:ext cx="2468880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62288" y="352958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162288" y="39136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sostenerlo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243584" y="5230368"/>
            <a:ext cx="971092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517904" y="5230368"/>
            <a:ext cx="9162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la pausa: auditar el producto real sin inventar evidencia ni requisitos.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30 MINUTOS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53312"/>
            <a:ext cx="6583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Auditar sin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11680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inventar evidencia</a:t>
            </a:r>
            <a:endParaRPr lang="en-US" sz="4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999232"/>
            <a:ext cx="6720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llenar nueve casillas: es sostener cada afirmación con un alcance, un criterio y evidencia que otra persona pueda revisar.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882128" y="1298448"/>
            <a:ext cx="3419856" cy="3547872"/>
          </a:xfrm>
          <a:prstGeom prst="roundRect">
            <a:avLst>
              <a:gd name="adj" fmla="val 213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47888" y="166420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CONCLUSIÓN VÁLIDA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302752" y="2176272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02752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8942832" y="217627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 el límite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8302752" y="2935224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02752" y="29352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942832" y="293522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 lo observado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8302752" y="3694176"/>
            <a:ext cx="420624" cy="42062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02752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942832" y="3694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 lo pendiente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658368" y="5230368"/>
            <a:ext cx="10643616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7552" y="5230368"/>
            <a:ext cx="99852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real → evidencia real → conclusión proporcional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MÉTODO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Seis movimientos convierten observaciones en hallazgos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paso limita el siguiente: si la base es débil, la conclusión también lo será.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310128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49424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2468880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32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591056" y="276148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producto y contexto</a:t>
            </a:r>
            <a:endParaRPr lang="en-US" sz="1520" dirty="0"/>
          </a:p>
        </p:txBody>
      </p:sp>
      <p:sp>
        <p:nvSpPr>
          <p:cNvPr id="17" name="Shape 14"/>
          <p:cNvSpPr/>
          <p:nvPr/>
        </p:nvSpPr>
        <p:spPr>
          <a:xfrm>
            <a:off x="4059936" y="2642616"/>
            <a:ext cx="201168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89120" y="2249424"/>
            <a:ext cx="3310128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89120" y="2249424"/>
            <a:ext cx="109728" cy="12252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81728" y="2468880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681728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321808" y="2432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21808" y="276148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existe y se ejecuta</a:t>
            </a:r>
            <a:endParaRPr lang="en-US" sz="1520" dirty="0"/>
          </a:p>
        </p:txBody>
      </p:sp>
      <p:sp>
        <p:nvSpPr>
          <p:cNvPr id="24" name="Shape 21"/>
          <p:cNvSpPr/>
          <p:nvPr/>
        </p:nvSpPr>
        <p:spPr>
          <a:xfrm>
            <a:off x="7790688" y="2642616"/>
            <a:ext cx="201168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119872" y="2249424"/>
            <a:ext cx="3310128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19872" y="2249424"/>
            <a:ext cx="109728" cy="1225296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12480" y="2468880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124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052560" y="24323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052560" y="276148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cuánto demuestra</a:t>
            </a:r>
            <a:endParaRPr lang="en-US" sz="1520" dirty="0"/>
          </a:p>
        </p:txBody>
      </p:sp>
      <p:sp>
        <p:nvSpPr>
          <p:cNvPr id="31" name="Shape 28"/>
          <p:cNvSpPr/>
          <p:nvPr/>
        </p:nvSpPr>
        <p:spPr>
          <a:xfrm>
            <a:off x="658368" y="3840480"/>
            <a:ext cx="3310128" cy="1225296"/>
          </a:xfrm>
          <a:prstGeom prst="roundRect">
            <a:avLst>
              <a:gd name="adj" fmla="val 4478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3840480"/>
            <a:ext cx="109728" cy="1225296"/>
          </a:xfrm>
          <a:prstGeom prst="rect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50976" y="4059936"/>
            <a:ext cx="457200" cy="457200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50976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1591056" y="4023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591056" y="435254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afirmarse</a:t>
            </a:r>
            <a:endParaRPr lang="en-US" sz="1520" dirty="0"/>
          </a:p>
        </p:txBody>
      </p:sp>
      <p:sp>
        <p:nvSpPr>
          <p:cNvPr id="37" name="Shape 34"/>
          <p:cNvSpPr/>
          <p:nvPr/>
        </p:nvSpPr>
        <p:spPr>
          <a:xfrm>
            <a:off x="4059936" y="4233672"/>
            <a:ext cx="201168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389120" y="3840480"/>
            <a:ext cx="3310128" cy="1225296"/>
          </a:xfrm>
          <a:prstGeom prst="roundRect">
            <a:avLst>
              <a:gd name="adj" fmla="val 4478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389120" y="3840480"/>
            <a:ext cx="109728" cy="12252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681728" y="4059936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681728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321808" y="4023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321808" y="435254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razonamiento falla</a:t>
            </a:r>
            <a:endParaRPr lang="en-US" sz="1520" dirty="0"/>
          </a:p>
        </p:txBody>
      </p:sp>
      <p:sp>
        <p:nvSpPr>
          <p:cNvPr id="44" name="Shape 41"/>
          <p:cNvSpPr/>
          <p:nvPr/>
        </p:nvSpPr>
        <p:spPr>
          <a:xfrm>
            <a:off x="7790688" y="4233672"/>
            <a:ext cx="201168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119872" y="3840480"/>
            <a:ext cx="3310128" cy="1225296"/>
          </a:xfrm>
          <a:prstGeom prst="roundRect">
            <a:avLst>
              <a:gd name="adj" fmla="val 4478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119872" y="3840480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412480" y="4059936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41248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9052560" y="40233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9052560" y="435254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queda abierto</a:t>
            </a:r>
            <a:endParaRPr lang="en-US" sz="1520" dirty="0"/>
          </a:p>
        </p:txBody>
      </p:sp>
      <p:sp>
        <p:nvSpPr>
          <p:cNvPr id="51" name="Shape 48"/>
          <p:cNvSpPr/>
          <p:nvPr/>
        </p:nvSpPr>
        <p:spPr>
          <a:xfrm>
            <a:off x="11009376" y="3474720"/>
            <a:ext cx="0" cy="347472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triangle"/>
          </a:ln>
        </p:spPr>
      </p:sp>
      <p:sp>
        <p:nvSpPr>
          <p:cNvPr id="52" name="Text 49"/>
          <p:cNvSpPr txBox="1"/>
          <p:nvPr/>
        </p:nvSpPr>
        <p:spPr>
          <a:xfrm>
            <a:off x="1901952" y="565099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avanza, pero también puede volver atrás cuando descubre una decisión faltante.</a:t>
            </a:r>
            <a:endParaRPr lang="en-US" sz="152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DELIMITAR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alcance separa el producto real del producto imaginado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 bien comienza por declarar qué existe hoy y qué todavía no forma parte de la solución.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59536" y="2395728"/>
            <a:ext cx="6510528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70432" y="267004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3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DENTRO DEL MARCO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170432" y="3127248"/>
            <a:ext cx="4297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Calculadora local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nota final</a:t>
            </a:r>
            <a:endParaRPr lang="en-US" sz="2900" dirty="0"/>
          </a:p>
        </p:txBody>
      </p:sp>
      <p:sp>
        <p:nvSpPr>
          <p:cNvPr id="14" name="Text 11"/>
          <p:cNvSpPr txBox="1"/>
          <p:nvPr/>
        </p:nvSpPr>
        <p:spPr>
          <a:xfrm>
            <a:off x="1170432" y="4352544"/>
            <a:ext cx="5449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· uv · función nota_final · pruebas y análisis estático</a:t>
            </a:r>
            <a:endParaRPr lang="en-US" sz="1520" dirty="0"/>
          </a:p>
        </p:txBody>
      </p:sp>
      <p:sp>
        <p:nvSpPr>
          <p:cNvPr id="15" name="Shape 12"/>
          <p:cNvSpPr/>
          <p:nvPr/>
        </p:nvSpPr>
        <p:spPr>
          <a:xfrm>
            <a:off x="5358384" y="2944368"/>
            <a:ext cx="1554480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68112" y="2944368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OBSERVABLE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00416" y="2542032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2542032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visual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626096" y="254203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900416" y="3273552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0" y="3273552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626096" y="327355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900416" y="4005072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0" y="4005072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7626096" y="400507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900416" y="4736592"/>
            <a:ext cx="3291840" cy="548640"/>
          </a:xfrm>
          <a:prstGeom prst="roundRect">
            <a:avLst>
              <a:gd name="adj" fmla="val 8333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0" y="4736592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integraciones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626096" y="4736592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7900416" y="55595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FUERA DEL ALCANCE ACTUAL</a:t>
            </a:r>
            <a:endParaRPr lang="en-US" sz="102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DELIMITAR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ficha breve evita que la auditoría cambie de producto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seis decisiones fijan el objeto observado antes de emitir cualquier juicio.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712464" cy="3584448"/>
          </a:xfrm>
          <a:prstGeom prst="roundRect">
            <a:avLst>
              <a:gd name="adj" fmla="val 178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87552" y="25786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87552" y="3035808"/>
            <a:ext cx="29077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Calculadora local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nota final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424281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 actual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87552" y="4590288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 o docente que ejecuta Python</a:t>
            </a:r>
            <a:endParaRPr lang="en-US" sz="152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235915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16752" y="2596896"/>
            <a:ext cx="47548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6711696" y="230428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list[float]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54880" y="2852928"/>
            <a:ext cx="63825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4754880" y="304495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16752" y="3282696"/>
            <a:ext cx="475488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 txBox="1"/>
          <p:nvPr/>
        </p:nvSpPr>
        <p:spPr>
          <a:xfrm>
            <a:off x="6711696" y="299008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 con un decimal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754880" y="3538728"/>
            <a:ext cx="63825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4754880" y="373075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016752" y="3968496"/>
            <a:ext cx="475488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6711696" y="367588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+ ROUND_HALF_UP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754880" y="4224528"/>
            <a:ext cx="63825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 txBox="1"/>
          <p:nvPr/>
        </p:nvSpPr>
        <p:spPr>
          <a:xfrm>
            <a:off x="4754880" y="441655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016752" y="4654296"/>
            <a:ext cx="475488" cy="0"/>
          </a:xfrm>
          <a:prstGeom prst="line">
            <a:avLst/>
          </a:prstGeom>
          <a:noFill/>
          <a:ln w="12700">
            <a:solidFill>
              <a:srgbClr val="1F8A9B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6711696" y="436168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administrado con uv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754880" y="4910328"/>
            <a:ext cx="6382512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2" name="Text 29"/>
          <p:cNvSpPr txBox="1"/>
          <p:nvPr/>
        </p:nvSpPr>
        <p:spPr>
          <a:xfrm>
            <a:off x="4754880" y="510235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016752" y="5340096"/>
            <a:ext cx="475488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34" name="Text 31"/>
          <p:cNvSpPr txBox="1"/>
          <p:nvPr/>
        </p:nvSpPr>
        <p:spPr>
          <a:xfrm>
            <a:off x="6711696" y="5047488"/>
            <a:ext cx="4425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· Pyrefly · pytest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DELIMITAR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decidido no significa irrelevante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conserva las preguntas abiertas sin fingir respuestas para completar el estándar.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6565392" cy="3419856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" y="263347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5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POR DEFINIR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69264" y="3072384"/>
            <a:ext cx="274320" cy="2743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69264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426464" y="3054096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ocurre con una lista vacía?</a:t>
            </a:r>
            <a:endParaRPr lang="en-US" sz="1430" dirty="0"/>
          </a:p>
        </p:txBody>
      </p:sp>
      <p:sp>
        <p:nvSpPr>
          <p:cNvPr id="16" name="Shape 13"/>
          <p:cNvSpPr/>
          <p:nvPr/>
        </p:nvSpPr>
        <p:spPr>
          <a:xfrm>
            <a:off x="969264" y="3547872"/>
            <a:ext cx="274320" cy="2743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9264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426464" y="3529584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rangos de notas son válidos?</a:t>
            </a:r>
            <a:endParaRPr lang="en-US" sz="1430" dirty="0"/>
          </a:p>
        </p:txBody>
      </p:sp>
      <p:sp>
        <p:nvSpPr>
          <p:cNvPr id="19" name="Shape 16"/>
          <p:cNvSpPr/>
          <p:nvPr/>
        </p:nvSpPr>
        <p:spPr>
          <a:xfrm>
            <a:off x="969264" y="4023360"/>
            <a:ext cx="274320" cy="2743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69264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426464" y="4005072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¿Cuánto volumen y tiempo se toleran?</a:t>
            </a:r>
            <a:endParaRPr lang="en-US" sz="1430" dirty="0"/>
          </a:p>
        </p:txBody>
      </p:sp>
      <p:sp>
        <p:nvSpPr>
          <p:cNvPr id="22" name="Shape 19"/>
          <p:cNvSpPr/>
          <p:nvPr/>
        </p:nvSpPr>
        <p:spPr>
          <a:xfrm>
            <a:off x="969264" y="4498848"/>
            <a:ext cx="274320" cy="27432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69264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426464" y="4480560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¿Con qué sistemas o formatos se integrará?</a:t>
            </a:r>
            <a:endParaRPr lang="en-US" sz="1430" dirty="0"/>
          </a:p>
        </p:txBody>
      </p:sp>
      <p:sp>
        <p:nvSpPr>
          <p:cNvPr id="25" name="Shape 22"/>
          <p:cNvSpPr/>
          <p:nvPr/>
        </p:nvSpPr>
        <p:spPr>
          <a:xfrm>
            <a:off x="969264" y="4974336"/>
            <a:ext cx="274320" cy="27432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69264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426464" y="4956048"/>
            <a:ext cx="5358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¿Habrá interfaz, identidades o persistencia?</a:t>
            </a:r>
            <a:endParaRPr lang="en-US" sz="1430" dirty="0"/>
          </a:p>
        </p:txBody>
      </p:sp>
      <p:sp>
        <p:nvSpPr>
          <p:cNvPr id="28" name="Shape 25"/>
          <p:cNvSpPr/>
          <p:nvPr/>
        </p:nvSpPr>
        <p:spPr>
          <a:xfrm>
            <a:off x="7626096" y="2340864"/>
            <a:ext cx="3913632" cy="1389888"/>
          </a:xfrm>
          <a:prstGeom prst="roundRect">
            <a:avLst>
              <a:gd name="adj" fmla="val 46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73568" y="263347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1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CORRECTO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7973568" y="2999232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la decisión faltante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7626096" y="3968496"/>
            <a:ext cx="3913632" cy="1792224"/>
          </a:xfrm>
          <a:prstGeom prst="roundRect">
            <a:avLst>
              <a:gd name="adj" fmla="val 357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73568" y="429768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INCORRECTO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7973568" y="4681728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 una regla para marcar la característica como cumplida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 · REGISTRAR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alcance queda escrito antes de abrir el juicio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archivo breve convierte acuerdos implícitos en una referencia revisable.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1248" y="2340864"/>
            <a:ext cx="7187184" cy="3474720"/>
          </a:xfrm>
          <a:prstGeom prst="roundRect">
            <a:avLst>
              <a:gd name="adj" fmla="val 157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2340864"/>
            <a:ext cx="7187184" cy="438912"/>
          </a:xfrm>
          <a:prstGeom prst="roundRect">
            <a:avLst>
              <a:gd name="adj" fmla="val 12500"/>
            </a:avLst>
          </a:prstGeom>
          <a:solidFill>
            <a:srgbClr val="244462"/>
          </a:solidFill>
          <a:ln w="12700">
            <a:solidFill>
              <a:srgbClr val="24446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97280" y="2340864"/>
            <a:ext cx="2980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auditoria-calidad.md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999232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Auditoría inicial de calidad</a:t>
            </a:r>
            <a:endParaRPr lang="en-US" sz="122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355848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63C6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Alcance</a:t>
            </a:r>
            <a:endParaRPr lang="en-US" sz="122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3712464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Producto: calculadora local de nota final.</a:t>
            </a:r>
            <a:endParaRPr lang="en-US" sz="122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4069080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Contexto: ejecución local en Python mediante uv.</a:t>
            </a:r>
            <a:endParaRPr lang="en-US" sz="122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4425696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Regla: promedio con un decimal y ROUND_HALF_UP.</a:t>
            </a:r>
            <a:endParaRPr lang="en-US" sz="1220" dirty="0"/>
          </a:p>
        </p:txBody>
      </p:sp>
      <p:sp>
        <p:nvSpPr>
          <p:cNvPr id="19" name="Text 16"/>
          <p:cNvSpPr txBox="1"/>
          <p:nvPr/>
        </p:nvSpPr>
        <p:spPr>
          <a:xfrm>
            <a:off x="1188720" y="4782312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Fuera de alcance: interfaz, persistencia,</a:t>
            </a:r>
            <a:endParaRPr lang="en-US" sz="122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5138928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autenticación e integración externa.</a:t>
            </a:r>
            <a:endParaRPr lang="en-US" sz="1220" dirty="0"/>
          </a:p>
        </p:txBody>
      </p:sp>
      <p:sp>
        <p:nvSpPr>
          <p:cNvPr id="21" name="Text 18"/>
          <p:cNvSpPr txBox="1"/>
          <p:nvPr/>
        </p:nvSpPr>
        <p:spPr>
          <a:xfrm>
            <a:off x="8540496" y="256032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RESUELVE?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540496" y="3072384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40496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9180576" y="3054096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estable el objeto evaluado</a:t>
            </a:r>
            <a:endParaRPr lang="en-US" sz="1430" dirty="0"/>
          </a:p>
        </p:txBody>
      </p:sp>
      <p:sp>
        <p:nvSpPr>
          <p:cNvPr id="25" name="Shape 22"/>
          <p:cNvSpPr/>
          <p:nvPr/>
        </p:nvSpPr>
        <p:spPr>
          <a:xfrm>
            <a:off x="8540496" y="3913632"/>
            <a:ext cx="420624" cy="42062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540496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9180576" y="3895344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visibles los límites</a:t>
            </a:r>
            <a:endParaRPr lang="en-US" sz="1430" dirty="0"/>
          </a:p>
        </p:txBody>
      </p:sp>
      <p:sp>
        <p:nvSpPr>
          <p:cNvPr id="28" name="Shape 25"/>
          <p:cNvSpPr/>
          <p:nvPr/>
        </p:nvSpPr>
        <p:spPr>
          <a:xfrm>
            <a:off x="8540496" y="4754880"/>
            <a:ext cx="420624" cy="42062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540496" y="4754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9180576" y="4736592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 conclusiones sobre funciones inexistentes</a:t>
            </a:r>
            <a:endParaRPr lang="en-US" sz="143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INVENTARIAR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Primero se observa; después se interpreta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ambos momentos reduce el sesgo de buscar solo aquello que confirma una opinión previa.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77824" y="2414016"/>
            <a:ext cx="4023360" cy="3127248"/>
          </a:xfrm>
          <a:prstGeom prst="roundRect">
            <a:avLst>
              <a:gd name="adj" fmla="val 233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25296" y="2761488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25296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956816" y="281635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25296" y="3438144"/>
            <a:ext cx="3310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Archivos, configuración, código, pruebas y salidas de comandos.</a:t>
            </a:r>
            <a:endParaRPr lang="en-US" sz="2300" dirty="0"/>
          </a:p>
        </p:txBody>
      </p:sp>
      <p:sp>
        <p:nvSpPr>
          <p:cNvPr id="16" name="Text 13"/>
          <p:cNvSpPr txBox="1"/>
          <p:nvPr/>
        </p:nvSpPr>
        <p:spPr>
          <a:xfrm>
            <a:off x="1225296" y="48828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Hechos reproducibles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230368" y="3675888"/>
            <a:ext cx="40233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43600" y="2414016"/>
            <a:ext cx="5358384" cy="3127248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27648" y="2761488"/>
            <a:ext cx="512064" cy="5120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27648" y="27614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059168" y="2816352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2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327648" y="3438144"/>
            <a:ext cx="44074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Riesgo, criterio, estado de evidencia y conclusión permitida.</a:t>
            </a:r>
            <a:endParaRPr lang="en-US" sz="2300" dirty="0"/>
          </a:p>
        </p:txBody>
      </p:sp>
      <p:sp>
        <p:nvSpPr>
          <p:cNvPr id="23" name="Text 20"/>
          <p:cNvSpPr txBox="1"/>
          <p:nvPr/>
        </p:nvSpPr>
        <p:spPr>
          <a:xfrm>
            <a:off x="6327648" y="488289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Razonamiento proporcional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INVENTARIAR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lecturas muestran de qué producto estamos hablando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archivos revelan entorno, regla implementada y casos de comportamiento existentes.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6967728" cy="3456432"/>
          </a:xfrm>
          <a:prstGeom prst="roundRect">
            <a:avLst>
              <a:gd name="adj" fmla="val 105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505456"/>
            <a:ext cx="6711696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578608"/>
            <a:ext cx="6455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inspección del proyecto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77824" y="2962656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188720" y="296265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Get-ChildItem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877824" y="321868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notas.py   test_notas.py   pyproject.toml   uv.lock</a:t>
            </a:r>
            <a:endParaRPr lang="en-US" sz="1320" dirty="0"/>
          </a:p>
        </p:txBody>
      </p:sp>
      <p:sp>
        <p:nvSpPr>
          <p:cNvPr id="17" name="Text 14"/>
          <p:cNvSpPr/>
          <p:nvPr/>
        </p:nvSpPr>
        <p:spPr>
          <a:xfrm>
            <a:off x="877824" y="347472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20" dirty="0"/>
          </a:p>
        </p:txBody>
      </p:sp>
      <p:sp>
        <p:nvSpPr>
          <p:cNvPr id="18" name="Text 15"/>
          <p:cNvSpPr/>
          <p:nvPr/>
        </p:nvSpPr>
        <p:spPr>
          <a:xfrm>
            <a:off x="1188720" y="3474720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 .\pyproject.toml</a:t>
            </a:r>
            <a:endParaRPr lang="en-US" sz="1320" dirty="0"/>
          </a:p>
        </p:txBody>
      </p:sp>
      <p:sp>
        <p:nvSpPr>
          <p:cNvPr id="19" name="Text 16"/>
          <p:cNvSpPr/>
          <p:nvPr/>
        </p:nvSpPr>
        <p:spPr>
          <a:xfrm>
            <a:off x="877824" y="373075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1188720" y="373075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 .\notas.py</a:t>
            </a:r>
            <a:endParaRPr lang="en-US" sz="1320" dirty="0"/>
          </a:p>
        </p:txBody>
      </p:sp>
      <p:sp>
        <p:nvSpPr>
          <p:cNvPr id="21" name="Text 18"/>
          <p:cNvSpPr/>
          <p:nvPr/>
        </p:nvSpPr>
        <p:spPr>
          <a:xfrm>
            <a:off x="877824" y="398678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320" dirty="0"/>
          </a:p>
        </p:txBody>
      </p:sp>
      <p:sp>
        <p:nvSpPr>
          <p:cNvPr id="22" name="Text 19"/>
          <p:cNvSpPr/>
          <p:nvPr/>
        </p:nvSpPr>
        <p:spPr>
          <a:xfrm>
            <a:off x="1188720" y="398678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 .\test_notas.py</a:t>
            </a:r>
            <a:endParaRPr lang="en-US" sz="1320" dirty="0"/>
          </a:p>
        </p:txBody>
      </p:sp>
      <p:sp>
        <p:nvSpPr>
          <p:cNvPr id="23" name="Shape 20"/>
          <p:cNvSpPr/>
          <p:nvPr/>
        </p:nvSpPr>
        <p:spPr>
          <a:xfrm>
            <a:off x="8028432" y="2542032"/>
            <a:ext cx="351129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21040" y="267004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2907792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 + uv.lock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8028432" y="3529584"/>
            <a:ext cx="3511296" cy="749808"/>
          </a:xfrm>
          <a:prstGeom prst="roundRect">
            <a:avLst>
              <a:gd name="adj" fmla="val 73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21040" y="3657600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3895344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notas.py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8028432" y="4517136"/>
            <a:ext cx="3511296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21040" y="4645152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321040" y="4882896"/>
            <a:ext cx="2816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test_notas.py</a:t>
            </a:r>
            <a:endParaRPr lang="en-US" sz="1220" dirty="0"/>
          </a:p>
        </p:txBody>
      </p:sp>
      <p:sp>
        <p:nvSpPr>
          <p:cNvPr id="32" name="Shape 29"/>
          <p:cNvSpPr/>
          <p:nvPr/>
        </p:nvSpPr>
        <p:spPr>
          <a:xfrm>
            <a:off x="8028432" y="5486400"/>
            <a:ext cx="3511296" cy="365760"/>
          </a:xfrm>
          <a:prstGeom prst="roundRect">
            <a:avLst>
              <a:gd name="adj" fmla="val 10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66176" y="5486400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no es todavía aprobar.</a:t>
            </a:r>
            <a:endParaRPr lang="en-US" sz="134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INVENTARIAR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evidencia ejecutable se vuelve a producir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salida actual y repetible vale más que el recuerdo de que el proyecto funcionó alguna vez.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13232" y="2359152"/>
            <a:ext cx="7406640" cy="3584448"/>
          </a:xfrm>
          <a:prstGeom prst="roundRect">
            <a:avLst>
              <a:gd name="adj" fmla="val 1020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2468880"/>
            <a:ext cx="7150608" cy="310896"/>
          </a:xfrm>
          <a:prstGeom prst="roundRect">
            <a:avLst>
              <a:gd name="adj" fmla="val 8824"/>
            </a:avLst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542032"/>
            <a:ext cx="6894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· controles actuales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32688" y="2926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70" dirty="0"/>
          </a:p>
        </p:txBody>
      </p:sp>
      <p:sp>
        <p:nvSpPr>
          <p:cNvPr id="15" name="Text 12"/>
          <p:cNvSpPr/>
          <p:nvPr/>
        </p:nvSpPr>
        <p:spPr>
          <a:xfrm>
            <a:off x="1243584" y="2926080"/>
            <a:ext cx="6656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lock --check</a:t>
            </a:r>
            <a:endParaRPr lang="en-US" sz="1270" dirty="0"/>
          </a:p>
        </p:txBody>
      </p:sp>
      <p:sp>
        <p:nvSpPr>
          <p:cNvPr id="16" name="Text 13"/>
          <p:cNvSpPr/>
          <p:nvPr/>
        </p:nvSpPr>
        <p:spPr>
          <a:xfrm>
            <a:off x="932688" y="3182112"/>
            <a:ext cx="6656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 lockfile is current</a:t>
            </a:r>
            <a:endParaRPr lang="en-US" sz="1270" dirty="0"/>
          </a:p>
        </p:txBody>
      </p:sp>
      <p:sp>
        <p:nvSpPr>
          <p:cNvPr id="17" name="Text 14"/>
          <p:cNvSpPr/>
          <p:nvPr/>
        </p:nvSpPr>
        <p:spPr>
          <a:xfrm>
            <a:off x="932688" y="3438144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70" dirty="0"/>
          </a:p>
        </p:txBody>
      </p:sp>
      <p:sp>
        <p:nvSpPr>
          <p:cNvPr id="18" name="Text 15"/>
          <p:cNvSpPr/>
          <p:nvPr/>
        </p:nvSpPr>
        <p:spPr>
          <a:xfrm>
            <a:off x="1243584" y="3438144"/>
            <a:ext cx="6656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270" dirty="0"/>
          </a:p>
        </p:txBody>
      </p:sp>
      <p:sp>
        <p:nvSpPr>
          <p:cNvPr id="19" name="Text 16"/>
          <p:cNvSpPr/>
          <p:nvPr/>
        </p:nvSpPr>
        <p:spPr>
          <a:xfrm>
            <a:off x="932688" y="3694176"/>
            <a:ext cx="6656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</a:t>
            </a:r>
            <a:endParaRPr lang="en-US" sz="1270" dirty="0"/>
          </a:p>
        </p:txBody>
      </p:sp>
      <p:sp>
        <p:nvSpPr>
          <p:cNvPr id="20" name="Text 17"/>
          <p:cNvSpPr/>
          <p:nvPr/>
        </p:nvSpPr>
        <p:spPr>
          <a:xfrm>
            <a:off x="932688" y="39502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70" dirty="0"/>
          </a:p>
        </p:txBody>
      </p:sp>
      <p:sp>
        <p:nvSpPr>
          <p:cNvPr id="21" name="Text 18"/>
          <p:cNvSpPr/>
          <p:nvPr/>
        </p:nvSpPr>
        <p:spPr>
          <a:xfrm>
            <a:off x="1243584" y="3950208"/>
            <a:ext cx="6656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pyrefly check</a:t>
            </a:r>
            <a:endParaRPr lang="en-US" sz="1270" dirty="0"/>
          </a:p>
        </p:txBody>
      </p:sp>
      <p:sp>
        <p:nvSpPr>
          <p:cNvPr id="22" name="Text 19"/>
          <p:cNvSpPr/>
          <p:nvPr/>
        </p:nvSpPr>
        <p:spPr>
          <a:xfrm>
            <a:off x="932688" y="4206240"/>
            <a:ext cx="6656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errors</a:t>
            </a:r>
            <a:endParaRPr lang="en-US" sz="1270" dirty="0"/>
          </a:p>
        </p:txBody>
      </p:sp>
      <p:sp>
        <p:nvSpPr>
          <p:cNvPr id="23" name="Text 20"/>
          <p:cNvSpPr/>
          <p:nvPr/>
        </p:nvSpPr>
        <p:spPr>
          <a:xfrm>
            <a:off x="932688" y="4462272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70" dirty="0"/>
          </a:p>
        </p:txBody>
      </p:sp>
      <p:sp>
        <p:nvSpPr>
          <p:cNvPr id="24" name="Text 21"/>
          <p:cNvSpPr/>
          <p:nvPr/>
        </p:nvSpPr>
        <p:spPr>
          <a:xfrm>
            <a:off x="1243584" y="4462272"/>
            <a:ext cx="6656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270" dirty="0"/>
          </a:p>
        </p:txBody>
      </p:sp>
      <p:sp>
        <p:nvSpPr>
          <p:cNvPr id="25" name="Text 22"/>
          <p:cNvSpPr/>
          <p:nvPr/>
        </p:nvSpPr>
        <p:spPr>
          <a:xfrm>
            <a:off x="932688" y="4718304"/>
            <a:ext cx="6656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passed</a:t>
            </a:r>
            <a:endParaRPr lang="en-US" sz="1270" dirty="0"/>
          </a:p>
        </p:txBody>
      </p:sp>
      <p:sp>
        <p:nvSpPr>
          <p:cNvPr id="26" name="Text 23"/>
          <p:cNvSpPr txBox="1"/>
          <p:nvPr/>
        </p:nvSpPr>
        <p:spPr>
          <a:xfrm>
            <a:off x="8577072" y="252374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SEÑALES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577072" y="2962656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86800" y="2962656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</a:t>
            </a:r>
            <a:endParaRPr lang="en-US" sz="920" dirty="0"/>
          </a:p>
        </p:txBody>
      </p:sp>
      <p:sp>
        <p:nvSpPr>
          <p:cNvPr id="29" name="Text 26"/>
          <p:cNvSpPr txBox="1"/>
          <p:nvPr/>
        </p:nvSpPr>
        <p:spPr>
          <a:xfrm>
            <a:off x="9710928" y="2962656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coherente</a:t>
            </a:r>
            <a:endParaRPr lang="en-US" sz="1320" dirty="0"/>
          </a:p>
        </p:txBody>
      </p:sp>
      <p:sp>
        <p:nvSpPr>
          <p:cNvPr id="30" name="Shape 27"/>
          <p:cNvSpPr/>
          <p:nvPr/>
        </p:nvSpPr>
        <p:spPr>
          <a:xfrm>
            <a:off x="8577072" y="3621024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0" y="3621024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920" dirty="0"/>
          </a:p>
        </p:txBody>
      </p:sp>
      <p:sp>
        <p:nvSpPr>
          <p:cNvPr id="32" name="Text 29"/>
          <p:cNvSpPr txBox="1"/>
          <p:nvPr/>
        </p:nvSpPr>
        <p:spPr>
          <a:xfrm>
            <a:off x="9710928" y="3621024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habilitadas</a:t>
            </a:r>
            <a:endParaRPr lang="en-US" sz="1320" dirty="0"/>
          </a:p>
        </p:txBody>
      </p:sp>
      <p:sp>
        <p:nvSpPr>
          <p:cNvPr id="33" name="Shape 30"/>
          <p:cNvSpPr/>
          <p:nvPr/>
        </p:nvSpPr>
        <p:spPr>
          <a:xfrm>
            <a:off x="8577072" y="4279392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686800" y="4279392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</a:t>
            </a:r>
            <a:endParaRPr lang="en-US" sz="920" dirty="0"/>
          </a:p>
        </p:txBody>
      </p:sp>
      <p:sp>
        <p:nvSpPr>
          <p:cNvPr id="35" name="Text 32"/>
          <p:cNvSpPr txBox="1"/>
          <p:nvPr/>
        </p:nvSpPr>
        <p:spPr>
          <a:xfrm>
            <a:off x="9710928" y="4279392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contradicciones</a:t>
            </a:r>
            <a:endParaRPr lang="en-US" sz="1320" dirty="0"/>
          </a:p>
        </p:txBody>
      </p:sp>
      <p:sp>
        <p:nvSpPr>
          <p:cNvPr id="36" name="Shape 33"/>
          <p:cNvSpPr/>
          <p:nvPr/>
        </p:nvSpPr>
        <p:spPr>
          <a:xfrm>
            <a:off x="8577072" y="4937760"/>
            <a:ext cx="914400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686800" y="4937760"/>
            <a:ext cx="694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</a:t>
            </a:r>
            <a:endParaRPr lang="en-US" sz="920" dirty="0"/>
          </a:p>
        </p:txBody>
      </p:sp>
      <p:sp>
        <p:nvSpPr>
          <p:cNvPr id="38" name="Text 35"/>
          <p:cNvSpPr txBox="1"/>
          <p:nvPr/>
        </p:nvSpPr>
        <p:spPr>
          <a:xfrm>
            <a:off x="9710928" y="4937760"/>
            <a:ext cx="1591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casos ejecutados</a:t>
            </a:r>
            <a:endParaRPr lang="en-US" sz="1320" dirty="0"/>
          </a:p>
        </p:txBody>
      </p:sp>
      <p:sp>
        <p:nvSpPr>
          <p:cNvPr id="39" name="Text 36"/>
          <p:cNvSpPr txBox="1"/>
          <p:nvPr/>
        </p:nvSpPr>
        <p:spPr>
          <a:xfrm>
            <a:off x="8577072" y="5541264"/>
            <a:ext cx="2724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salidas prueban algo concreto; todavía no prueban la calidad completa.</a:t>
            </a:r>
            <a:endParaRPr lang="en-US" sz="132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INVENTARIAR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Siete identificadores convierten señales en evidencia citable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ID apunta a un archivo o una ejecución que puede localizarse y repetirse.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52120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395728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32688" y="23957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609344" y="23957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</a:t>
            </a:r>
            <a:endParaRPr lang="en-US" sz="920" dirty="0"/>
          </a:p>
        </p:txBody>
      </p:sp>
      <p:sp>
        <p:nvSpPr>
          <p:cNvPr id="15" name="Text 12"/>
          <p:cNvSpPr txBox="1"/>
          <p:nvPr/>
        </p:nvSpPr>
        <p:spPr>
          <a:xfrm>
            <a:off x="2670048" y="2395728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pyproject.toml + uv.lock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658368" y="3099816"/>
            <a:ext cx="52120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3209544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" y="320954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609344" y="32095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</a:t>
            </a:r>
            <a:endParaRPr lang="en-US" sz="920" dirty="0"/>
          </a:p>
        </p:txBody>
      </p:sp>
      <p:sp>
        <p:nvSpPr>
          <p:cNvPr id="20" name="Text 17"/>
          <p:cNvSpPr txBox="1"/>
          <p:nvPr/>
        </p:nvSpPr>
        <p:spPr>
          <a:xfrm>
            <a:off x="2670048" y="320954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notas.py</a:t>
            </a:r>
            <a:endParaRPr lang="en-US" sz="1340" dirty="0"/>
          </a:p>
        </p:txBody>
      </p:sp>
      <p:sp>
        <p:nvSpPr>
          <p:cNvPr id="21" name="Shape 18"/>
          <p:cNvSpPr/>
          <p:nvPr/>
        </p:nvSpPr>
        <p:spPr>
          <a:xfrm>
            <a:off x="658368" y="3913632"/>
            <a:ext cx="5212080" cy="621792"/>
          </a:xfrm>
          <a:prstGeom prst="roundRect">
            <a:avLst>
              <a:gd name="adj" fmla="val 73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4023360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32688" y="40233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609344" y="40233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</a:t>
            </a:r>
            <a:endParaRPr lang="en-US" sz="920" dirty="0"/>
          </a:p>
        </p:txBody>
      </p:sp>
      <p:sp>
        <p:nvSpPr>
          <p:cNvPr id="25" name="Text 22"/>
          <p:cNvSpPr txBox="1"/>
          <p:nvPr/>
        </p:nvSpPr>
        <p:spPr>
          <a:xfrm>
            <a:off x="2670048" y="4023360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test_notas.py · 4 ejemplos</a:t>
            </a:r>
            <a:endParaRPr lang="en-US" sz="1340" dirty="0"/>
          </a:p>
        </p:txBody>
      </p:sp>
      <p:sp>
        <p:nvSpPr>
          <p:cNvPr id="26" name="Shape 23"/>
          <p:cNvSpPr/>
          <p:nvPr/>
        </p:nvSpPr>
        <p:spPr>
          <a:xfrm>
            <a:off x="658368" y="4727448"/>
            <a:ext cx="52120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837176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2688" y="483717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609344" y="48371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8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</a:t>
            </a:r>
            <a:endParaRPr lang="en-US" sz="920" dirty="0"/>
          </a:p>
        </p:txBody>
      </p:sp>
      <p:sp>
        <p:nvSpPr>
          <p:cNvPr id="30" name="Text 27"/>
          <p:cNvSpPr txBox="1"/>
          <p:nvPr/>
        </p:nvSpPr>
        <p:spPr>
          <a:xfrm>
            <a:off x="2670048" y="4837176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lock --check · correcto</a:t>
            </a:r>
            <a:endParaRPr lang="en-US" sz="1340" dirty="0"/>
          </a:p>
        </p:txBody>
      </p:sp>
      <p:sp>
        <p:nvSpPr>
          <p:cNvPr id="31" name="Shape 28"/>
          <p:cNvSpPr/>
          <p:nvPr/>
        </p:nvSpPr>
        <p:spPr>
          <a:xfrm>
            <a:off x="6199632" y="2286000"/>
            <a:ext cx="5340096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64224" y="2395728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73952" y="239572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7150608" y="239572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ESTILO</a:t>
            </a:r>
            <a:endParaRPr lang="en-US" sz="920" dirty="0"/>
          </a:p>
        </p:txBody>
      </p:sp>
      <p:sp>
        <p:nvSpPr>
          <p:cNvPr id="35" name="Text 32"/>
          <p:cNvSpPr txBox="1"/>
          <p:nvPr/>
        </p:nvSpPr>
        <p:spPr>
          <a:xfrm>
            <a:off x="8211312" y="23957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· sin infracciones habilitadas</a:t>
            </a:r>
            <a:endParaRPr lang="en-US" sz="1340" dirty="0"/>
          </a:p>
        </p:txBody>
      </p:sp>
      <p:sp>
        <p:nvSpPr>
          <p:cNvPr id="36" name="Shape 33"/>
          <p:cNvSpPr/>
          <p:nvPr/>
        </p:nvSpPr>
        <p:spPr>
          <a:xfrm>
            <a:off x="6199632" y="3099816"/>
            <a:ext cx="5340096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64224" y="3209544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73952" y="320954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E6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7150608" y="32095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</a:t>
            </a:r>
            <a:endParaRPr lang="en-US" sz="920" dirty="0"/>
          </a:p>
        </p:txBody>
      </p:sp>
      <p:sp>
        <p:nvSpPr>
          <p:cNvPr id="40" name="Text 37"/>
          <p:cNvSpPr txBox="1"/>
          <p:nvPr/>
        </p:nvSpPr>
        <p:spPr>
          <a:xfrm>
            <a:off x="8211312" y="32095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 · sin contradicciones</a:t>
            </a:r>
            <a:endParaRPr lang="en-US" sz="1340" dirty="0"/>
          </a:p>
        </p:txBody>
      </p:sp>
      <p:sp>
        <p:nvSpPr>
          <p:cNvPr id="41" name="Shape 38"/>
          <p:cNvSpPr/>
          <p:nvPr/>
        </p:nvSpPr>
        <p:spPr>
          <a:xfrm>
            <a:off x="6199632" y="3913632"/>
            <a:ext cx="5340096" cy="621792"/>
          </a:xfrm>
          <a:prstGeom prst="roundRect">
            <a:avLst>
              <a:gd name="adj" fmla="val 735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64224" y="4023360"/>
            <a:ext cx="566928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4023360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E7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7150608" y="40233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</a:t>
            </a:r>
            <a:endParaRPr lang="en-US" sz="920" dirty="0"/>
          </a:p>
        </p:txBody>
      </p:sp>
      <p:sp>
        <p:nvSpPr>
          <p:cNvPr id="45" name="Text 42"/>
          <p:cNvSpPr txBox="1"/>
          <p:nvPr/>
        </p:nvSpPr>
        <p:spPr>
          <a:xfrm>
            <a:off x="8211312" y="40233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4 passed</a:t>
            </a:r>
            <a:endParaRPr lang="en-US" sz="1340" dirty="0"/>
          </a:p>
        </p:txBody>
      </p:sp>
      <p:sp>
        <p:nvSpPr>
          <p:cNvPr id="46" name="Shape 43"/>
          <p:cNvSpPr/>
          <p:nvPr/>
        </p:nvSpPr>
        <p:spPr>
          <a:xfrm>
            <a:off x="6199632" y="4882896"/>
            <a:ext cx="5340096" cy="658368"/>
          </a:xfrm>
          <a:prstGeom prst="roundRect">
            <a:avLst>
              <a:gd name="adj" fmla="val 694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510528" y="4882896"/>
            <a:ext cx="4718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IDs describen procedencia; el estado dirá cuánto demuestra cada evidencia.</a:t>
            </a:r>
            <a:endParaRPr lang="en-US" sz="1420" dirty="0"/>
          </a:p>
        </p:txBody>
      </p:sp>
      <p:sp>
        <p:nvSpPr>
          <p:cNvPr id="48" name="Text 45"/>
          <p:cNvSpPr txBox="1"/>
          <p:nvPr/>
        </p:nvSpPr>
        <p:spPr>
          <a:xfrm>
            <a:off x="1353312" y="5742432"/>
            <a:ext cx="9491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= evidencia disponible, no veredicto final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 · TRAZAR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hallazgo debe poder seguirse hasta su origen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está entre una impresión vaga y una cadena que otra persona puede verificar.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432304"/>
            <a:ext cx="3108960" cy="2560320"/>
          </a:xfrm>
          <a:prstGeom prst="roundRect">
            <a:avLst>
              <a:gd name="adj" fmla="val 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274320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AFIRMACIÓN VAGA</a:t>
            </a:r>
            <a:endParaRPr lang="en-US" sz="1020" dirty="0"/>
          </a:p>
        </p:txBody>
      </p:sp>
      <p:sp>
        <p:nvSpPr>
          <p:cNvPr id="13" name="Text 10"/>
          <p:cNvSpPr txBox="1"/>
          <p:nvPr/>
        </p:nvSpPr>
        <p:spPr>
          <a:xfrm>
            <a:off x="1170432" y="3310128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“Hay pruebas y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 bien”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170432" y="4407408"/>
            <a:ext cx="237744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1170432" y="5193792"/>
            <a:ext cx="23957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permite revisar qué casos ni qué ejecución.</a:t>
            </a:r>
            <a:endParaRPr lang="en-US" sz="1330" dirty="0"/>
          </a:p>
        </p:txBody>
      </p:sp>
      <p:sp>
        <p:nvSpPr>
          <p:cNvPr id="16" name="Shape 13"/>
          <p:cNvSpPr/>
          <p:nvPr/>
        </p:nvSpPr>
        <p:spPr>
          <a:xfrm>
            <a:off x="4261104" y="3493008"/>
            <a:ext cx="42062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92624" y="2432304"/>
            <a:ext cx="6419088" cy="3273552"/>
          </a:xfrm>
          <a:prstGeom prst="roundRect">
            <a:avLst>
              <a:gd name="adj" fmla="val 195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358384" y="2743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11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CADENA REVISABLE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358384" y="3273552"/>
            <a:ext cx="1664208" cy="1298448"/>
          </a:xfrm>
          <a:prstGeom prst="roundRect">
            <a:avLst>
              <a:gd name="adj" fmla="val 42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41264" y="351129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522976" y="385876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casos descritos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077456" y="3694176"/>
            <a:ext cx="146304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78624" y="3273552"/>
            <a:ext cx="1664208" cy="1298448"/>
          </a:xfrm>
          <a:prstGeom prst="roundRect">
            <a:avLst>
              <a:gd name="adj" fmla="val 422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61504" y="351129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7443216" y="385876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casos ejecutados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997696" y="3694176"/>
            <a:ext cx="146304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198864" y="3273552"/>
            <a:ext cx="1664208" cy="1298448"/>
          </a:xfrm>
          <a:prstGeom prst="roundRect">
            <a:avLst>
              <a:gd name="adj" fmla="val 422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381744" y="3511296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6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9363456" y="385876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limitado a esos casos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577840" y="5065776"/>
            <a:ext cx="5230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 + salida + límite de la conclusión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CALIFICAR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estados describen cuánto sabemos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notas de aprobación: indican la relación entre criterio, evidencia y decisión pendiente.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768096" y="241401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CRITERIO ESTÁ DEFINIDO?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64992" y="2395728"/>
            <a:ext cx="34747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41648" y="2249424"/>
            <a:ext cx="2194560" cy="694944"/>
          </a:xfrm>
          <a:prstGeom prst="roundRect">
            <a:avLst>
              <a:gd name="adj" fmla="val 789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15968" y="2249424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28032" y="2249424"/>
            <a:ext cx="1133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DEFINIR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041648" y="3200400"/>
            <a:ext cx="219456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15968" y="3200400"/>
            <a:ext cx="457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28032" y="3200400"/>
            <a:ext cx="1133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 evidencia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272784" y="3547872"/>
            <a:ext cx="987552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479792" y="2231136"/>
            <a:ext cx="3968496" cy="841248"/>
          </a:xfrm>
          <a:prstGeom prst="roundRect">
            <a:avLst>
              <a:gd name="adj" fmla="val 65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99248" y="2432304"/>
            <a:ext cx="1097280" cy="438912"/>
          </a:xfrm>
          <a:prstGeom prst="roundRect">
            <a:avLst>
              <a:gd name="adj" fmla="val 125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08976" y="2432304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DIRECTA</a:t>
            </a:r>
            <a:endParaRPr lang="en-US" sz="940" dirty="0"/>
          </a:p>
        </p:txBody>
      </p:sp>
      <p:sp>
        <p:nvSpPr>
          <p:cNvPr id="23" name="Text 20"/>
          <p:cNvSpPr txBox="1"/>
          <p:nvPr/>
        </p:nvSpPr>
        <p:spPr>
          <a:xfrm>
            <a:off x="9034272" y="224028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 el criterio formulado</a:t>
            </a:r>
            <a:endParaRPr lang="en-US" sz="1320" dirty="0"/>
          </a:p>
        </p:txBody>
      </p:sp>
      <p:sp>
        <p:nvSpPr>
          <p:cNvPr id="24" name="Shape 21"/>
          <p:cNvSpPr/>
          <p:nvPr/>
        </p:nvSpPr>
        <p:spPr>
          <a:xfrm>
            <a:off x="7479792" y="3310128"/>
            <a:ext cx="396849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99248" y="3511296"/>
            <a:ext cx="1097280" cy="438912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08976" y="351129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PARCIAL</a:t>
            </a:r>
            <a:endParaRPr lang="en-US" sz="940" dirty="0"/>
          </a:p>
        </p:txBody>
      </p:sp>
      <p:sp>
        <p:nvSpPr>
          <p:cNvPr id="27" name="Text 24"/>
          <p:cNvSpPr txBox="1"/>
          <p:nvPr/>
        </p:nvSpPr>
        <p:spPr>
          <a:xfrm>
            <a:off x="9034272" y="3319272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relaciona, pero no cubre todo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7479792" y="4389120"/>
            <a:ext cx="396849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99248" y="4590288"/>
            <a:ext cx="1097280" cy="438912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08976" y="4590288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AUSENTE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9034272" y="4398264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encontró evidencia pertinente</a:t>
            </a:r>
            <a:endParaRPr lang="en-US" sz="1320" dirty="0"/>
          </a:p>
        </p:txBody>
      </p:sp>
      <p:sp>
        <p:nvSpPr>
          <p:cNvPr id="32" name="Shape 29"/>
          <p:cNvSpPr/>
          <p:nvPr/>
        </p:nvSpPr>
        <p:spPr>
          <a:xfrm>
            <a:off x="1298448" y="5084064"/>
            <a:ext cx="5065776" cy="658368"/>
          </a:xfrm>
          <a:prstGeom prst="roundRect">
            <a:avLst>
              <a:gd name="adj" fmla="val 6944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591056" y="508406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califica la evidencia, no la característica completa.</a:t>
            </a:r>
            <a:endParaRPr lang="en-US" sz="14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INTERPRETAR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Evidencia directa no equivale a característica aprobada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puede ser fuerte y, al mismo tiempo, tener un alcance deliberadamente estrecho.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14400" y="2322576"/>
            <a:ext cx="3858768" cy="3236976"/>
          </a:xfrm>
          <a:prstGeom prst="ellipse">
            <a:avLst/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44752" y="272491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 FUNCIONAL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444752" y="3273552"/>
            <a:ext cx="27980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muchos criterios,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rangos y casos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2011680" y="4224528"/>
            <a:ext cx="1664208" cy="841248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11680" y="4224528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criterio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observado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120640" y="3639312"/>
            <a:ext cx="4389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88736" y="2395728"/>
            <a:ext cx="5303520" cy="1225296"/>
          </a:xfrm>
          <a:prstGeom prst="roundRect">
            <a:avLst>
              <a:gd name="adj" fmla="val 52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99632" y="2743200"/>
            <a:ext cx="1170432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09360" y="2743200"/>
            <a:ext cx="950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644384" y="2395728"/>
            <a:ext cx="312724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ese criterio específico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5888736" y="3913632"/>
            <a:ext cx="530352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36208" y="422452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DEMUESTRA TODAVÍA</a:t>
            </a:r>
            <a:endParaRPr lang="en-US" sz="102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4608576"/>
            <a:ext cx="4480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todos los rangos · entradas inválidas · combinaciones posibles</a:t>
            </a:r>
            <a:endParaRPr lang="en-US" sz="15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EJEMPLO GUIADO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Adecuación: una cadena completa para un caso límite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se justifica mostrando riesgo, criterio, evidencia y límite de la conclusión.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68096" y="2395728"/>
            <a:ext cx="329184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42416" y="2670048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102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" y="3127248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3,9 se redondea distinto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 esperado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169664" y="2999232"/>
            <a:ext cx="2011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35424" y="2395728"/>
            <a:ext cx="329184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9744" y="2670048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1020" dirty="0"/>
          </a:p>
        </p:txBody>
      </p:sp>
      <p:sp>
        <p:nvSpPr>
          <p:cNvPr id="17" name="Text 14"/>
          <p:cNvSpPr txBox="1"/>
          <p:nvPr/>
        </p:nvSpPr>
        <p:spPr>
          <a:xfrm>
            <a:off x="4791456" y="3127248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[3.8, 4.1, 3.95]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producir 4.0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936992" y="2999232"/>
            <a:ext cx="2011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02752" y="2395728"/>
            <a:ext cx="3291840" cy="1664208"/>
          </a:xfrm>
          <a:prstGeom prst="roundRect">
            <a:avLst>
              <a:gd name="adj" fmla="val 384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77072" y="2670048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10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020" dirty="0"/>
          </a:p>
        </p:txBody>
      </p:sp>
      <p:sp>
        <p:nvSpPr>
          <p:cNvPr id="21" name="Text 18"/>
          <p:cNvSpPr txBox="1"/>
          <p:nvPr/>
        </p:nvSpPr>
        <p:spPr>
          <a:xfrm>
            <a:off x="8558784" y="3127248"/>
            <a:ext cx="2779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 describe el caso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E7 confirma su ejecución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24128" y="4425696"/>
            <a:ext cx="4645152" cy="1133856"/>
          </a:xfrm>
          <a:prstGeom prst="roundRect">
            <a:avLst>
              <a:gd name="adj" fmla="val 56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353312" y="4773168"/>
            <a:ext cx="1133856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463040" y="47731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2743200" y="4645152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 permitida</a:t>
            </a:r>
            <a:endParaRPr lang="en-US" sz="1020" dirty="0"/>
          </a:p>
        </p:txBody>
      </p:sp>
      <p:sp>
        <p:nvSpPr>
          <p:cNvPr id="26" name="Text 23"/>
          <p:cNvSpPr txBox="1"/>
          <p:nvPr/>
        </p:nvSpPr>
        <p:spPr>
          <a:xfrm>
            <a:off x="2743200" y="4992624"/>
            <a:ext cx="2450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caso satisface la regla conocida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5925312" y="4425696"/>
            <a:ext cx="5248656" cy="1133856"/>
          </a:xfrm>
          <a:prstGeom prst="roundRect">
            <a:avLst>
              <a:gd name="adj" fmla="val 56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72784" y="4681728"/>
            <a:ext cx="2340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VACÍOS QUE PERMANECEN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272784" y="5029200"/>
            <a:ext cx="4462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otros rangos · entradas inválidas · más combinaciones</a:t>
            </a:r>
            <a:endParaRPr lang="en-US" sz="14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3.3 · EJEMPLO GUIADO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Mantenibilidad: varias señales aún no prueban el cambio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ayuda a razonar, pero falta observar una modificación real y su impacto.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2432304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 DISPONIBLES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41248" y="2889504"/>
            <a:ext cx="65836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88950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</a:t>
            </a:r>
            <a:endParaRPr lang="en-US" sz="980" dirty="0"/>
          </a:p>
        </p:txBody>
      </p:sp>
      <p:sp>
        <p:nvSpPr>
          <p:cNvPr id="14" name="Text 11"/>
          <p:cNvSpPr txBox="1"/>
          <p:nvPr/>
        </p:nvSpPr>
        <p:spPr>
          <a:xfrm>
            <a:off x="1719072" y="2889504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localizada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841248" y="3511296"/>
            <a:ext cx="658368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0976" y="351129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</a:t>
            </a:r>
            <a:endParaRPr lang="en-US" sz="980" dirty="0"/>
          </a:p>
        </p:txBody>
      </p:sp>
      <p:sp>
        <p:nvSpPr>
          <p:cNvPr id="17" name="Text 14"/>
          <p:cNvSpPr txBox="1"/>
          <p:nvPr/>
        </p:nvSpPr>
        <p:spPr>
          <a:xfrm>
            <a:off x="1719072" y="3511296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descriptivas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841248" y="4133088"/>
            <a:ext cx="658368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50976" y="413308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E5</a:t>
            </a:r>
            <a:endParaRPr lang="en-US" sz="980" dirty="0"/>
          </a:p>
        </p:txBody>
      </p:sp>
      <p:sp>
        <p:nvSpPr>
          <p:cNvPr id="20" name="Text 17"/>
          <p:cNvSpPr txBox="1"/>
          <p:nvPr/>
        </p:nvSpPr>
        <p:spPr>
          <a:xfrm>
            <a:off x="1719072" y="413308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revisada</a:t>
            </a:r>
            <a:endParaRPr lang="en-US" sz="1420" dirty="0"/>
          </a:p>
        </p:txBody>
      </p:sp>
      <p:sp>
        <p:nvSpPr>
          <p:cNvPr id="21" name="Shape 18"/>
          <p:cNvSpPr/>
          <p:nvPr/>
        </p:nvSpPr>
        <p:spPr>
          <a:xfrm>
            <a:off x="841248" y="4754880"/>
            <a:ext cx="658368" cy="402336"/>
          </a:xfrm>
          <a:prstGeom prst="roundRect">
            <a:avLst>
              <a:gd name="adj" fmla="val 13636"/>
            </a:avLst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50976" y="475488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E6</a:t>
            </a:r>
            <a:endParaRPr lang="en-US" sz="980" dirty="0"/>
          </a:p>
        </p:txBody>
      </p:sp>
      <p:sp>
        <p:nvSpPr>
          <p:cNvPr id="23" name="Text 20"/>
          <p:cNvSpPr txBox="1"/>
          <p:nvPr/>
        </p:nvSpPr>
        <p:spPr>
          <a:xfrm>
            <a:off x="1719072" y="475488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tipos coherentes</a:t>
            </a:r>
            <a:endParaRPr lang="en-US" sz="1420" dirty="0"/>
          </a:p>
        </p:txBody>
      </p:sp>
      <p:sp>
        <p:nvSpPr>
          <p:cNvPr id="24" name="Shape 21"/>
          <p:cNvSpPr/>
          <p:nvPr/>
        </p:nvSpPr>
        <p:spPr>
          <a:xfrm rot="1500000">
            <a:off x="4407408" y="2816352"/>
            <a:ext cx="2249424" cy="2249424"/>
          </a:xfrm>
          <a:prstGeom prst="arc">
            <a:avLst/>
          </a:prstGeom>
          <a:solidFill>
            <a:srgbClr val="F2E7D9">
              <a:alpha val="0"/>
            </a:srgbClr>
          </a:solidFill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 txBox="1"/>
          <p:nvPr/>
        </p:nvSpPr>
        <p:spPr>
          <a:xfrm>
            <a:off x="4681728" y="3474720"/>
            <a:ext cx="1700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INCOMPLETA</a:t>
            </a:r>
            <a:endParaRPr lang="en-US" sz="1330" dirty="0"/>
          </a:p>
        </p:txBody>
      </p:sp>
      <p:sp>
        <p:nvSpPr>
          <p:cNvPr id="26" name="Shape 23"/>
          <p:cNvSpPr/>
          <p:nvPr/>
        </p:nvSpPr>
        <p:spPr>
          <a:xfrm>
            <a:off x="7059168" y="2414016"/>
            <a:ext cx="4297680" cy="1298448"/>
          </a:xfrm>
          <a:prstGeom prst="roundRect">
            <a:avLst>
              <a:gd name="adj" fmla="val 49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70064" y="2834640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79792" y="2834640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PARCIAL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759952" y="2414016"/>
            <a:ext cx="215798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facilita el cambio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7059168" y="4005072"/>
            <a:ext cx="429768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06640" y="4315968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OBSERVAR</a:t>
            </a:r>
            <a:endParaRPr lang="en-US" sz="1020" dirty="0"/>
          </a:p>
        </p:txBody>
      </p:sp>
      <p:sp>
        <p:nvSpPr>
          <p:cNvPr id="32" name="Text 29"/>
          <p:cNvSpPr txBox="1"/>
          <p:nvPr/>
        </p:nvSpPr>
        <p:spPr>
          <a:xfrm>
            <a:off x="7406640" y="4718304"/>
            <a:ext cx="34930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cambio controlado en la regla y el impacto que produce</a:t>
            </a:r>
            <a:endParaRPr lang="en-US" sz="153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AUDITAR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características bastan para razonar con profundidad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selección cubre valor, confianza y cambio; el trabajo es individual y queda documentado.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49808" y="2359152"/>
            <a:ext cx="3419856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0704" y="2688336"/>
            <a:ext cx="493776" cy="49377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0704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773936" y="27797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Y RESPUESTA</a:t>
            </a:r>
            <a:endParaRPr lang="en-US" sz="1030" dirty="0"/>
          </a:p>
        </p:txBody>
      </p:sp>
      <p:sp>
        <p:nvSpPr>
          <p:cNvPr id="15" name="Text 12"/>
          <p:cNvSpPr txBox="1"/>
          <p:nvPr/>
        </p:nvSpPr>
        <p:spPr>
          <a:xfrm>
            <a:off x="1060704" y="3383280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¿Entrega el resultado esperado?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335024" y="4425696"/>
            <a:ext cx="2249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133856" y="470001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 · eficiencia · compatibilidad · interacción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4553712" y="2359152"/>
            <a:ext cx="3419856" cy="3273552"/>
          </a:xfrm>
          <a:prstGeom prst="roundRect">
            <a:avLst>
              <a:gd name="adj" fmla="val 223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64608" y="2688336"/>
            <a:ext cx="493776" cy="49377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64608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5577840" y="27797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Y CONFIANZA</a:t>
            </a:r>
            <a:endParaRPr lang="en-US" sz="1030" dirty="0"/>
          </a:p>
        </p:txBody>
      </p:sp>
      <p:sp>
        <p:nvSpPr>
          <p:cNvPr id="22" name="Text 19"/>
          <p:cNvSpPr txBox="1"/>
          <p:nvPr/>
        </p:nvSpPr>
        <p:spPr>
          <a:xfrm>
            <a:off x="4864608" y="3383280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¿Se sostiene y protege su contexto?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138928" y="4425696"/>
            <a:ext cx="2249424" cy="0"/>
          </a:xfrm>
          <a:prstGeom prst="line">
            <a:avLst/>
          </a:prstGeom>
          <a:noFill/>
          <a:ln w="12700">
            <a:solidFill>
              <a:srgbClr val="E6EEF7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4937760" y="470001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Fiabilidad · seguridad · seguridad operacional</a:t>
            </a:r>
            <a:endParaRPr lang="en-US" sz="1280" dirty="0"/>
          </a:p>
        </p:txBody>
      </p:sp>
      <p:sp>
        <p:nvSpPr>
          <p:cNvPr id="25" name="Shape 22"/>
          <p:cNvSpPr/>
          <p:nvPr/>
        </p:nvSpPr>
        <p:spPr>
          <a:xfrm>
            <a:off x="8357616" y="2359152"/>
            <a:ext cx="3419856" cy="3273552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68512" y="2688336"/>
            <a:ext cx="493776" cy="49377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68512" y="26883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9381744" y="277977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</a:t>
            </a:r>
            <a:endParaRPr lang="en-US" sz="1030" dirty="0"/>
          </a:p>
        </p:txBody>
      </p:sp>
      <p:sp>
        <p:nvSpPr>
          <p:cNvPr id="29" name="Text 26"/>
          <p:cNvSpPr txBox="1"/>
          <p:nvPr/>
        </p:nvSpPr>
        <p:spPr>
          <a:xfrm>
            <a:off x="8668512" y="3383280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¿Puede evolucionar sin perder control?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8942832" y="4425696"/>
            <a:ext cx="224942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1" name="Text 28"/>
          <p:cNvSpPr txBox="1"/>
          <p:nvPr/>
        </p:nvSpPr>
        <p:spPr>
          <a:xfrm>
            <a:off x="8741664" y="470001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 · flexibilidad</a:t>
            </a:r>
            <a:endParaRPr lang="en-US" sz="1280" dirty="0"/>
          </a:p>
        </p:txBody>
      </p:sp>
      <p:sp>
        <p:nvSpPr>
          <p:cNvPr id="32" name="Text 29"/>
          <p:cNvSpPr txBox="1"/>
          <p:nvPr/>
        </p:nvSpPr>
        <p:spPr>
          <a:xfrm>
            <a:off x="1847088" y="579729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Elige una de cada familia y construye un hallazgo trazable.</a:t>
            </a:r>
            <a:endParaRPr lang="en-US" sz="15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DOCUMENTAR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hallazgo conserva el razonamiento completo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plantilla impide saltar desde una señal aislada hasta una conclusión demasiado amplia.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14400" y="2286000"/>
            <a:ext cx="7370064" cy="3602736"/>
          </a:xfrm>
          <a:prstGeom prst="roundRect">
            <a:avLst>
              <a:gd name="adj" fmla="val 152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286000"/>
            <a:ext cx="7370064" cy="530352"/>
          </a:xfrm>
          <a:prstGeom prst="roundRect">
            <a:avLst>
              <a:gd name="adj" fmla="val 103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25296" y="2286000"/>
            <a:ext cx="38587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Característica: [nombre]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25296" y="296265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7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930" dirty="0"/>
          </a:p>
        </p:txBody>
      </p:sp>
      <p:sp>
        <p:nvSpPr>
          <p:cNvPr id="15" name="Text 12"/>
          <p:cNvSpPr txBox="1"/>
          <p:nvPr/>
        </p:nvSpPr>
        <p:spPr>
          <a:xfrm>
            <a:off x="2542032" y="292608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podría fallar?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1225296" y="3273552"/>
            <a:ext cx="651052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225296" y="3401568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7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30" dirty="0"/>
          </a:p>
        </p:txBody>
      </p:sp>
      <p:sp>
        <p:nvSpPr>
          <p:cNvPr id="18" name="Text 15"/>
          <p:cNvSpPr txBox="1"/>
          <p:nvPr/>
        </p:nvSpPr>
        <p:spPr>
          <a:xfrm>
            <a:off x="2542032" y="3364992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conocida o decisión faltante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225296" y="3712464"/>
            <a:ext cx="651052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 txBox="1"/>
          <p:nvPr/>
        </p:nvSpPr>
        <p:spPr>
          <a:xfrm>
            <a:off x="1225296" y="384048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7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30" dirty="0"/>
          </a:p>
        </p:txBody>
      </p:sp>
      <p:sp>
        <p:nvSpPr>
          <p:cNvPr id="21" name="Text 18"/>
          <p:cNvSpPr txBox="1"/>
          <p:nvPr/>
        </p:nvSpPr>
        <p:spPr>
          <a:xfrm>
            <a:off x="2542032" y="380390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E1–E7 pertinentes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225296" y="4151376"/>
            <a:ext cx="651052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1225296" y="4279392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7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930" dirty="0"/>
          </a:p>
        </p:txBody>
      </p:sp>
      <p:sp>
        <p:nvSpPr>
          <p:cNvPr id="24" name="Text 21"/>
          <p:cNvSpPr txBox="1"/>
          <p:nvPr/>
        </p:nvSpPr>
        <p:spPr>
          <a:xfrm>
            <a:off x="2542032" y="424281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DIRECTA · PARCIAL · AUSENTE · POR DEFINIR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225296" y="4590288"/>
            <a:ext cx="651052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 txBox="1"/>
          <p:nvPr/>
        </p:nvSpPr>
        <p:spPr>
          <a:xfrm>
            <a:off x="1225296" y="4718304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7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</a:t>
            </a:r>
            <a:endParaRPr lang="en-US" sz="930" dirty="0"/>
          </a:p>
        </p:txBody>
      </p:sp>
      <p:sp>
        <p:nvSpPr>
          <p:cNvPr id="27" name="Text 24"/>
          <p:cNvSpPr txBox="1"/>
          <p:nvPr/>
        </p:nvSpPr>
        <p:spPr>
          <a:xfrm>
            <a:off x="2542032" y="468172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evidencia permitiría avanzar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1225296" y="5029200"/>
            <a:ext cx="651052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 txBox="1"/>
          <p:nvPr/>
        </p:nvSpPr>
        <p:spPr>
          <a:xfrm>
            <a:off x="1225296" y="5157216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0" b="1" spc="7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930" dirty="0"/>
          </a:p>
        </p:txBody>
      </p:sp>
      <p:sp>
        <p:nvSpPr>
          <p:cNvPr id="30" name="Text 27"/>
          <p:cNvSpPr txBox="1"/>
          <p:nvPr/>
        </p:nvSpPr>
        <p:spPr>
          <a:xfrm>
            <a:off x="2542032" y="512064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permite afirmar ahora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8906256" y="2615184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06256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601200" y="2615184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</a:t>
            </a:r>
            <a:endParaRPr lang="en-US" sz="1550" dirty="0"/>
          </a:p>
        </p:txBody>
      </p:sp>
      <p:sp>
        <p:nvSpPr>
          <p:cNvPr id="34" name="Shape 31"/>
          <p:cNvSpPr/>
          <p:nvPr/>
        </p:nvSpPr>
        <p:spPr>
          <a:xfrm>
            <a:off x="8906256" y="3602736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906256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601200" y="3602736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</a:t>
            </a:r>
            <a:endParaRPr lang="en-US" sz="1550" dirty="0"/>
          </a:p>
        </p:txBody>
      </p:sp>
      <p:sp>
        <p:nvSpPr>
          <p:cNvPr id="37" name="Shape 34"/>
          <p:cNvSpPr/>
          <p:nvPr/>
        </p:nvSpPr>
        <p:spPr>
          <a:xfrm>
            <a:off x="8906256" y="4590288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906256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9601200" y="4590288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</a:t>
            </a:r>
            <a:endParaRPr lang="en-US" sz="1550" dirty="0"/>
          </a:p>
        </p:txBody>
      </p:sp>
      <p:sp>
        <p:nvSpPr>
          <p:cNvPr id="40" name="Shape 37"/>
          <p:cNvSpPr/>
          <p:nvPr/>
        </p:nvSpPr>
        <p:spPr>
          <a:xfrm>
            <a:off x="8686800" y="5486400"/>
            <a:ext cx="2633472" cy="402336"/>
          </a:xfrm>
          <a:prstGeom prst="roundRect">
            <a:avLst>
              <a:gd name="adj" fmla="val 909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924544" y="548640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saltos lógicos</a:t>
            </a:r>
            <a:endParaRPr lang="en-US" sz="132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CONTRASTAR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línea base muestra evidencia desigual, no nueve veredictos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los tres hallazgos, este mapa permite reconocer dónde hay señales y dónde falta contexto.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249424"/>
            <a:ext cx="338328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241401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2505456" y="2359152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15184" y="23591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DIRECTA</a:t>
            </a:r>
            <a:endParaRPr lang="en-US" sz="780" dirty="0"/>
          </a:p>
        </p:txBody>
      </p:sp>
      <p:sp>
        <p:nvSpPr>
          <p:cNvPr id="15" name="Text 12"/>
          <p:cNvSpPr txBox="1"/>
          <p:nvPr/>
        </p:nvSpPr>
        <p:spPr>
          <a:xfrm>
            <a:off x="877824" y="27614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casos; faltan entradas inválidas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425696" y="2249424"/>
            <a:ext cx="338328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45152" y="241401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Eficiencia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6272784" y="2359152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82512" y="23591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AUSENTE</a:t>
            </a:r>
            <a:endParaRPr lang="en-US" sz="780" dirty="0"/>
          </a:p>
        </p:txBody>
      </p:sp>
      <p:sp>
        <p:nvSpPr>
          <p:cNvPr id="20" name="Text 17"/>
          <p:cNvSpPr txBox="1"/>
          <p:nvPr/>
        </p:nvSpPr>
        <p:spPr>
          <a:xfrm>
            <a:off x="4645152" y="27614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volumen ni tiempo definidos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8193024" y="2249424"/>
            <a:ext cx="3383280" cy="950976"/>
          </a:xfrm>
          <a:prstGeom prst="roundRect">
            <a:avLst>
              <a:gd name="adj" fmla="val 480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412480" y="2414016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Compatibilidad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10040112" y="2359152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149840" y="235915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DEFINIR</a:t>
            </a:r>
            <a:endParaRPr lang="en-US" sz="780" dirty="0"/>
          </a:p>
        </p:txBody>
      </p:sp>
      <p:sp>
        <p:nvSpPr>
          <p:cNvPr id="25" name="Text 22"/>
          <p:cNvSpPr txBox="1"/>
          <p:nvPr/>
        </p:nvSpPr>
        <p:spPr>
          <a:xfrm>
            <a:off x="8412480" y="27614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sistemas o formatos declarados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58368" y="3419856"/>
            <a:ext cx="338328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7824" y="35844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Interacción</a:t>
            </a:r>
            <a:endParaRPr lang="en-US" sz="1180" dirty="0"/>
          </a:p>
        </p:txBody>
      </p:sp>
      <p:sp>
        <p:nvSpPr>
          <p:cNvPr id="28" name="Shape 25"/>
          <p:cNvSpPr/>
          <p:nvPr/>
        </p:nvSpPr>
        <p:spPr>
          <a:xfrm>
            <a:off x="2505456" y="3529584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615184" y="35295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AUSENTE</a:t>
            </a:r>
            <a:endParaRPr lang="en-US" sz="780" dirty="0"/>
          </a:p>
        </p:txBody>
      </p:sp>
      <p:sp>
        <p:nvSpPr>
          <p:cNvPr id="30" name="Text 27"/>
          <p:cNvSpPr txBox="1"/>
          <p:nvPr/>
        </p:nvSpPr>
        <p:spPr>
          <a:xfrm>
            <a:off x="877824" y="393192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función no es interfaz de usuario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4425696" y="3419856"/>
            <a:ext cx="338328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645152" y="35844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Fiabilidad</a:t>
            </a:r>
            <a:endParaRPr lang="en-US" sz="1180" dirty="0"/>
          </a:p>
        </p:txBody>
      </p:sp>
      <p:sp>
        <p:nvSpPr>
          <p:cNvPr id="33" name="Shape 30"/>
          <p:cNvSpPr/>
          <p:nvPr/>
        </p:nvSpPr>
        <p:spPr>
          <a:xfrm>
            <a:off x="6272784" y="3529584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82512" y="35295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PARCIAL</a:t>
            </a:r>
            <a:endParaRPr lang="en-US" sz="780" dirty="0"/>
          </a:p>
        </p:txBody>
      </p:sp>
      <p:sp>
        <p:nvSpPr>
          <p:cNvPr id="35" name="Text 32"/>
          <p:cNvSpPr txBox="1"/>
          <p:nvPr/>
        </p:nvSpPr>
        <p:spPr>
          <a:xfrm>
            <a:off x="4645152" y="393192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válidos; faltan fallos y recuperación</a:t>
            </a:r>
            <a:endParaRPr lang="en-US" sz="1080" dirty="0"/>
          </a:p>
        </p:txBody>
      </p:sp>
      <p:sp>
        <p:nvSpPr>
          <p:cNvPr id="36" name="Shape 33"/>
          <p:cNvSpPr/>
          <p:nvPr/>
        </p:nvSpPr>
        <p:spPr>
          <a:xfrm>
            <a:off x="8193024" y="3419856"/>
            <a:ext cx="3383280" cy="950976"/>
          </a:xfrm>
          <a:prstGeom prst="roundRect">
            <a:avLst>
              <a:gd name="adj" fmla="val 480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412480" y="358444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</a:t>
            </a:r>
            <a:endParaRPr lang="en-US" sz="1180" dirty="0"/>
          </a:p>
        </p:txBody>
      </p:sp>
      <p:sp>
        <p:nvSpPr>
          <p:cNvPr id="38" name="Shape 35"/>
          <p:cNvSpPr/>
          <p:nvPr/>
        </p:nvSpPr>
        <p:spPr>
          <a:xfrm>
            <a:off x="10040112" y="3529584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149840" y="35295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DEFINIR</a:t>
            </a:r>
            <a:endParaRPr lang="en-US" sz="780" dirty="0"/>
          </a:p>
        </p:txBody>
      </p:sp>
      <p:sp>
        <p:nvSpPr>
          <p:cNvPr id="40" name="Text 37"/>
          <p:cNvSpPr txBox="1"/>
          <p:nvPr/>
        </p:nvSpPr>
        <p:spPr>
          <a:xfrm>
            <a:off x="8412480" y="393192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identidades, permisos o persistencia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658368" y="4590288"/>
            <a:ext cx="338328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77824" y="47548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</a:t>
            </a:r>
            <a:endParaRPr lang="en-US" sz="1180" dirty="0"/>
          </a:p>
        </p:txBody>
      </p:sp>
      <p:sp>
        <p:nvSpPr>
          <p:cNvPr id="43" name="Shape 40"/>
          <p:cNvSpPr/>
          <p:nvPr/>
        </p:nvSpPr>
        <p:spPr>
          <a:xfrm>
            <a:off x="2505456" y="4700016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2615184" y="470001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PARCIAL</a:t>
            </a:r>
            <a:endParaRPr lang="en-US" sz="780" dirty="0"/>
          </a:p>
        </p:txBody>
      </p:sp>
      <p:sp>
        <p:nvSpPr>
          <p:cNvPr id="45" name="Text 42"/>
          <p:cNvSpPr txBox="1"/>
          <p:nvPr/>
        </p:nvSpPr>
        <p:spPr>
          <a:xfrm>
            <a:off x="877824" y="51023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estructura y controles; falta cambio real</a:t>
            </a:r>
            <a:endParaRPr lang="en-US" sz="1080" dirty="0"/>
          </a:p>
        </p:txBody>
      </p:sp>
      <p:sp>
        <p:nvSpPr>
          <p:cNvPr id="46" name="Shape 43"/>
          <p:cNvSpPr/>
          <p:nvPr/>
        </p:nvSpPr>
        <p:spPr>
          <a:xfrm>
            <a:off x="4425696" y="4590288"/>
            <a:ext cx="3383280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645152" y="47548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Flexibilidad</a:t>
            </a:r>
            <a:endParaRPr lang="en-US" sz="1180" dirty="0"/>
          </a:p>
        </p:txBody>
      </p:sp>
      <p:sp>
        <p:nvSpPr>
          <p:cNvPr id="48" name="Shape 45"/>
          <p:cNvSpPr/>
          <p:nvPr/>
        </p:nvSpPr>
        <p:spPr>
          <a:xfrm>
            <a:off x="6272784" y="4700016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382512" y="470001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PARCIAL</a:t>
            </a:r>
            <a:endParaRPr lang="en-US" sz="780" dirty="0"/>
          </a:p>
        </p:txBody>
      </p:sp>
      <p:sp>
        <p:nvSpPr>
          <p:cNvPr id="50" name="Text 47"/>
          <p:cNvSpPr txBox="1"/>
          <p:nvPr/>
        </p:nvSpPr>
        <p:spPr>
          <a:xfrm>
            <a:off x="4645152" y="51023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reconstruible; falta escala</a:t>
            </a:r>
            <a:endParaRPr lang="en-US" sz="1080" dirty="0"/>
          </a:p>
        </p:txBody>
      </p:sp>
      <p:sp>
        <p:nvSpPr>
          <p:cNvPr id="51" name="Shape 48"/>
          <p:cNvSpPr/>
          <p:nvPr/>
        </p:nvSpPr>
        <p:spPr>
          <a:xfrm>
            <a:off x="8193024" y="4590288"/>
            <a:ext cx="3383280" cy="950976"/>
          </a:xfrm>
          <a:prstGeom prst="roundRect">
            <a:avLst>
              <a:gd name="adj" fmla="val 480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412480" y="47548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Seg. operacional</a:t>
            </a:r>
            <a:endParaRPr lang="en-US" sz="1180" dirty="0"/>
          </a:p>
        </p:txBody>
      </p:sp>
      <p:sp>
        <p:nvSpPr>
          <p:cNvPr id="53" name="Shape 50"/>
          <p:cNvSpPr/>
          <p:nvPr/>
        </p:nvSpPr>
        <p:spPr>
          <a:xfrm>
            <a:off x="10040112" y="4700016"/>
            <a:ext cx="1298448" cy="310896"/>
          </a:xfrm>
          <a:prstGeom prst="roundRect">
            <a:avLst>
              <a:gd name="adj" fmla="val 176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149840" y="470001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DEFINIR</a:t>
            </a:r>
            <a:endParaRPr lang="en-US" sz="780" dirty="0"/>
          </a:p>
        </p:txBody>
      </p:sp>
      <p:sp>
        <p:nvSpPr>
          <p:cNvPr id="55" name="Text 52"/>
          <p:cNvSpPr txBox="1"/>
          <p:nvPr/>
        </p:nvSpPr>
        <p:spPr>
          <a:xfrm>
            <a:off x="8412480" y="51023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contexto de daño y uso</a:t>
            </a:r>
            <a:endParaRPr lang="en-US" sz="1080" dirty="0"/>
          </a:p>
        </p:txBody>
      </p:sp>
      <p:sp>
        <p:nvSpPr>
          <p:cNvPr id="56" name="Text 53"/>
          <p:cNvSpPr txBox="1"/>
          <p:nvPr/>
        </p:nvSpPr>
        <p:spPr>
          <a:xfrm>
            <a:off x="1901952" y="5907024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estados se asignan a la evidencia disponible para criterios concretos.</a:t>
            </a:r>
            <a:endParaRPr lang="en-US" sz="144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 · INTERPRETAR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“Por definir” señala la fuente de verdad que falta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elimina el riesgo: indica que todavía no conocemos el criterio correcto para evaluarlo.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1248" y="2395728"/>
            <a:ext cx="2852928" cy="2596896"/>
          </a:xfrm>
          <a:prstGeom prst="roundRect">
            <a:avLst>
              <a:gd name="adj" fmla="val 246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33856" y="272491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INCORRECTA</a:t>
            </a:r>
            <a:endParaRPr lang="en-US" sz="1020" dirty="0"/>
          </a:p>
        </p:txBody>
      </p:sp>
      <p:sp>
        <p:nvSpPr>
          <p:cNvPr id="13" name="Text 10"/>
          <p:cNvSpPr txBox="1"/>
          <p:nvPr/>
        </p:nvSpPr>
        <p:spPr>
          <a:xfrm>
            <a:off x="1261872" y="331012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“No hay que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pensarlo”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243584" y="4334256"/>
            <a:ext cx="204825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4041648" y="3383280"/>
            <a:ext cx="40233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91456" y="2395728"/>
            <a:ext cx="6510528" cy="3383280"/>
          </a:xfrm>
          <a:prstGeom prst="roundRect">
            <a:avLst>
              <a:gd name="adj" fmla="val 189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75504" y="272491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ÚTIL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5193792" y="3236976"/>
            <a:ext cx="310896" cy="3108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93792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5724144" y="3218688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la decisión faltante</a:t>
            </a:r>
            <a:endParaRPr lang="en-US" sz="1430" dirty="0"/>
          </a:p>
        </p:txBody>
      </p:sp>
      <p:sp>
        <p:nvSpPr>
          <p:cNvPr id="21" name="Shape 18"/>
          <p:cNvSpPr/>
          <p:nvPr/>
        </p:nvSpPr>
        <p:spPr>
          <a:xfrm>
            <a:off x="5193792" y="3767328"/>
            <a:ext cx="310896" cy="31089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93792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724144" y="3749040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a la fuente adecuada</a:t>
            </a:r>
            <a:endParaRPr lang="en-US" sz="1430" dirty="0"/>
          </a:p>
        </p:txBody>
      </p:sp>
      <p:sp>
        <p:nvSpPr>
          <p:cNvPr id="24" name="Shape 21"/>
          <p:cNvSpPr/>
          <p:nvPr/>
        </p:nvSpPr>
        <p:spPr>
          <a:xfrm>
            <a:off x="5193792" y="4297680"/>
            <a:ext cx="310896" cy="31089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93792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724144" y="4279392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 un criterio comprobable</a:t>
            </a:r>
            <a:endParaRPr lang="en-US" sz="1430" dirty="0"/>
          </a:p>
        </p:txBody>
      </p:sp>
      <p:sp>
        <p:nvSpPr>
          <p:cNvPr id="27" name="Shape 24"/>
          <p:cNvSpPr/>
          <p:nvPr/>
        </p:nvSpPr>
        <p:spPr>
          <a:xfrm>
            <a:off x="5193792" y="4828032"/>
            <a:ext cx="310896" cy="310896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93792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724144" y="4809744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Recién entonces buscar evidencia</a:t>
            </a:r>
            <a:endParaRPr lang="en-US" sz="1430" dirty="0"/>
          </a:p>
        </p:txBody>
      </p:sp>
      <p:sp>
        <p:nvSpPr>
          <p:cNvPr id="30" name="Text 27"/>
          <p:cNvSpPr txBox="1"/>
          <p:nvPr/>
        </p:nvSpPr>
        <p:spPr>
          <a:xfrm>
            <a:off x="5285232" y="5266944"/>
            <a:ext cx="5376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· Sin usuarios, datos persistidos ni permisos declarados, la seguridad necesita contexto antes de un veredicto.</a:t>
            </a:r>
            <a:endParaRPr lang="en-US" sz="114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 · REVISAR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busca saltos lógicos; no completa la auditoría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 después del análisis humano y recibe alcance, inventario y tres hallazgos ya redactados.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31520" y="2322576"/>
            <a:ext cx="6565392" cy="3602736"/>
          </a:xfrm>
          <a:prstGeom prst="roundRect">
            <a:avLst>
              <a:gd name="adj" fmla="val 177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322576"/>
            <a:ext cx="6565392" cy="438912"/>
          </a:xfrm>
          <a:prstGeom prst="roundRect">
            <a:avLst>
              <a:gd name="adj" fmla="val 14583"/>
            </a:avLst>
          </a:prstGeom>
          <a:solidFill>
            <a:srgbClr val="244462"/>
          </a:solidFill>
          <a:ln w="12700">
            <a:solidFill>
              <a:srgbClr val="24446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24128" y="2322576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· auditor adversarial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2944368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Revisa estos hallazgos como auditor adversarial.</a:t>
            </a:r>
            <a:endParaRPr lang="en-US" sz="1120" dirty="0"/>
          </a:p>
        </p:txBody>
      </p:sp>
      <p:sp>
        <p:nvSpPr>
          <p:cNvPr id="15" name="Text 12"/>
          <p:cNvSpPr txBox="1"/>
          <p:nvPr/>
        </p:nvSpPr>
        <p:spPr>
          <a:xfrm>
            <a:off x="1078992" y="3273552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 cada uno identifica:</a:t>
            </a:r>
            <a:endParaRPr lang="en-US" sz="1120" dirty="0"/>
          </a:p>
        </p:txBody>
      </p:sp>
      <p:sp>
        <p:nvSpPr>
          <p:cNvPr id="16" name="Text 13"/>
          <p:cNvSpPr txBox="1"/>
          <p:nvPr/>
        </p:nvSpPr>
        <p:spPr>
          <a:xfrm>
            <a:off x="1078992" y="3602736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una conclusión más amplia que la evidencia;</a:t>
            </a:r>
            <a:endParaRPr lang="en-US" sz="1120" dirty="0"/>
          </a:p>
        </p:txBody>
      </p:sp>
      <p:sp>
        <p:nvSpPr>
          <p:cNvPr id="17" name="Text 14"/>
          <p:cNvSpPr txBox="1"/>
          <p:nvPr/>
        </p:nvSpPr>
        <p:spPr>
          <a:xfrm>
            <a:off x="1078992" y="3931920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b) una característica mal asociada; o</a:t>
            </a:r>
            <a:endParaRPr lang="en-US" sz="112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4261104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c) una decisión inventada por falta de contexto.</a:t>
            </a:r>
            <a:endParaRPr lang="en-US" sz="112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4590288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propongas funciones ni marques características</a:t>
            </a:r>
            <a:endParaRPr lang="en-US" sz="1120" dirty="0"/>
          </a:p>
        </p:txBody>
      </p:sp>
      <p:sp>
        <p:nvSpPr>
          <p:cNvPr id="20" name="Text 17"/>
          <p:cNvSpPr txBox="1"/>
          <p:nvPr/>
        </p:nvSpPr>
        <p:spPr>
          <a:xfrm>
            <a:off x="1078992" y="4919472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aprobadas. Si el razonamiento es proporcional,</a:t>
            </a:r>
            <a:endParaRPr lang="en-US" sz="1120" dirty="0"/>
          </a:p>
        </p:txBody>
      </p:sp>
      <p:sp>
        <p:nvSpPr>
          <p:cNvPr id="21" name="Text 18"/>
          <p:cNvSpPr txBox="1"/>
          <p:nvPr/>
        </p:nvSpPr>
        <p:spPr>
          <a:xfrm>
            <a:off x="1078992" y="5248656"/>
            <a:ext cx="5870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 «sin observación» y explica por qué.</a:t>
            </a:r>
            <a:endParaRPr lang="en-US" sz="112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487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RESULTADOS POSIBLES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7699248" y="2980944"/>
            <a:ext cx="3694176" cy="694944"/>
          </a:xfrm>
          <a:prstGeom prst="roundRect">
            <a:avLst>
              <a:gd name="adj" fmla="val 789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36992" y="3127248"/>
            <a:ext cx="1316736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0" y="31272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ACEPTADA</a:t>
            </a:r>
            <a:endParaRPr lang="en-US" sz="860" dirty="0"/>
          </a:p>
        </p:txBody>
      </p:sp>
      <p:sp>
        <p:nvSpPr>
          <p:cNvPr id="26" name="Text 23"/>
          <p:cNvSpPr txBox="1"/>
          <p:nvPr/>
        </p:nvSpPr>
        <p:spPr>
          <a:xfrm>
            <a:off x="9473184" y="2980944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corrige el hallazgo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699248" y="3877056"/>
            <a:ext cx="369417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936992" y="4023360"/>
            <a:ext cx="1316736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46720" y="40233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RECHAZADA</a:t>
            </a:r>
            <a:endParaRPr lang="en-US" sz="860" dirty="0"/>
          </a:p>
        </p:txBody>
      </p:sp>
      <p:sp>
        <p:nvSpPr>
          <p:cNvPr id="30" name="Text 27"/>
          <p:cNvSpPr txBox="1"/>
          <p:nvPr/>
        </p:nvSpPr>
        <p:spPr>
          <a:xfrm>
            <a:off x="9473184" y="3877056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corresponde al alcance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699248" y="4773168"/>
            <a:ext cx="3694176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936992" y="4919472"/>
            <a:ext cx="1316736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0" y="491947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OBSERVACIÓN</a:t>
            </a:r>
            <a:endParaRPr lang="en-US" sz="860" dirty="0"/>
          </a:p>
        </p:txBody>
      </p:sp>
      <p:sp>
        <p:nvSpPr>
          <p:cNvPr id="34" name="Text 31"/>
          <p:cNvSpPr txBox="1"/>
          <p:nvPr/>
        </p:nvSpPr>
        <p:spPr>
          <a:xfrm>
            <a:off x="9473184" y="4773168"/>
            <a:ext cx="16093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razonamiento proporcional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7845552" y="566928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final vuelve a archivos, comandos, alcance y reglas conocidas.</a:t>
            </a:r>
            <a:endParaRPr lang="en-US" sz="128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· CONCLUIR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conclusión sólida también declara lo que no sabe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frases obligan a mantener la afirmación dentro del alcance observado.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359152"/>
            <a:ext cx="5138928" cy="3200400"/>
          </a:xfrm>
          <a:prstGeom prst="roundRect">
            <a:avLst>
              <a:gd name="adj" fmla="val 228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70432" y="2706624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1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PODEMOS AFIRMAR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170432" y="3218688"/>
            <a:ext cx="43525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proyecto es reproducible en el entorno declarado y nota_final satisface cuatro casos, incluidos dos límites de redondeo.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170432" y="4992624"/>
            <a:ext cx="3072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 · E3 · E4 · E7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54496" y="2359152"/>
            <a:ext cx="5138928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0256" y="2706624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PODEMOS AFIRMAR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638544" y="3182112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3182112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cubre todas las entradas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638544" y="3657600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365760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cumple objetivos de rendimiento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638544" y="413308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133088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ofrece una interacción adecuada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638544" y="4608576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608576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protege datos o resiste fallos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638544" y="5102352"/>
            <a:ext cx="4352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segunda mitad no debilita la auditoría: la hace confiable.</a:t>
            </a:r>
            <a:endParaRPr lang="en-US" sz="13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3.6 · MANTENER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conclusión es una fotografía, no una sentencia eterna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aparecen requisitos, pruebas o mediciones nuevas, la auditoría se actualiza.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1225296" y="3840480"/>
            <a:ext cx="9656064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969264" y="3584448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" y="250545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7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</a:t>
            </a:r>
            <a:endParaRPr lang="en-US" sz="960" dirty="0"/>
          </a:p>
        </p:txBody>
      </p:sp>
      <p:sp>
        <p:nvSpPr>
          <p:cNvPr id="15" name="Text 12"/>
          <p:cNvSpPr txBox="1"/>
          <p:nvPr/>
        </p:nvSpPr>
        <p:spPr>
          <a:xfrm>
            <a:off x="201168" y="2816352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pruebas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conocida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041648" y="3584448"/>
            <a:ext cx="512064" cy="5120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41648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456432" y="422452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7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EVIDENCIA</a:t>
            </a:r>
            <a:endParaRPr lang="en-US" sz="960" dirty="0"/>
          </a:p>
        </p:txBody>
      </p:sp>
      <p:sp>
        <p:nvSpPr>
          <p:cNvPr id="19" name="Text 16"/>
          <p:cNvSpPr txBox="1"/>
          <p:nvPr/>
        </p:nvSpPr>
        <p:spPr>
          <a:xfrm>
            <a:off x="3273552" y="4590288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rangos válidos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lista vacía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114032" y="3584448"/>
            <a:ext cx="512064" cy="51206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114032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528816" y="250545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7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NUEVA MEDICIÓN</a:t>
            </a:r>
            <a:endParaRPr lang="en-US" sz="960" dirty="0"/>
          </a:p>
        </p:txBody>
      </p:sp>
      <p:sp>
        <p:nvSpPr>
          <p:cNvPr id="23" name="Text 20"/>
          <p:cNvSpPr txBox="1"/>
          <p:nvPr/>
        </p:nvSpPr>
        <p:spPr>
          <a:xfrm>
            <a:off x="6345936" y="2816352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volumen 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objetivo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204704" y="3584448"/>
            <a:ext cx="512064" cy="512064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04704" y="3584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9619488" y="422452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60" b="1" spc="7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960" dirty="0"/>
          </a:p>
        </p:txBody>
      </p:sp>
      <p:sp>
        <p:nvSpPr>
          <p:cNvPr id="27" name="Text 24"/>
          <p:cNvSpPr txBox="1"/>
          <p:nvPr/>
        </p:nvSpPr>
        <p:spPr>
          <a:xfrm>
            <a:off x="9436608" y="4590288"/>
            <a:ext cx="2048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actualizada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883664" y="5522976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212848" y="5522976"/>
            <a:ext cx="7754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PROVISIONAL = válida con la evidencia actual y abierta a revisión</a:t>
            </a:r>
            <a:endParaRPr lang="en-US" sz="14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PUNTO DE CONTROL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auditoría inicial queda lista cuando resiste estas cinco preguntas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marca debe poder localizarse en auditoria-calidad.md y en la evidencia citada.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86384" y="2286000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340864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8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020" dirty="0"/>
          </a:p>
        </p:txBody>
      </p:sp>
      <p:sp>
        <p:nvSpPr>
          <p:cNvPr id="14" name="Shape 11"/>
          <p:cNvSpPr/>
          <p:nvPr/>
        </p:nvSpPr>
        <p:spPr>
          <a:xfrm>
            <a:off x="3090672" y="2249424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01568" y="2249424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Producto, contexto, regla y límites explícitos</a:t>
            </a:r>
            <a:endParaRPr lang="en-US" sz="1470" dirty="0"/>
          </a:p>
        </p:txBody>
      </p:sp>
      <p:sp>
        <p:nvSpPr>
          <p:cNvPr id="16" name="Shape 13"/>
          <p:cNvSpPr/>
          <p:nvPr/>
        </p:nvSpPr>
        <p:spPr>
          <a:xfrm>
            <a:off x="786384" y="2962656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481328" y="301752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8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3090672" y="2926080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01568" y="2926080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Siete evidencias con IDs trazables</a:t>
            </a:r>
            <a:endParaRPr lang="en-US" sz="1470" dirty="0"/>
          </a:p>
        </p:txBody>
      </p:sp>
      <p:sp>
        <p:nvSpPr>
          <p:cNvPr id="21" name="Shape 18"/>
          <p:cNvSpPr/>
          <p:nvPr/>
        </p:nvSpPr>
        <p:spPr>
          <a:xfrm>
            <a:off x="786384" y="3639312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81328" y="3694176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8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</a:t>
            </a:r>
            <a:endParaRPr lang="en-US" sz="1020" dirty="0"/>
          </a:p>
        </p:txBody>
      </p:sp>
      <p:sp>
        <p:nvSpPr>
          <p:cNvPr id="24" name="Shape 21"/>
          <p:cNvSpPr/>
          <p:nvPr/>
        </p:nvSpPr>
        <p:spPr>
          <a:xfrm>
            <a:off x="3090672" y="3602736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01568" y="3602736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características con estado justificado</a:t>
            </a:r>
            <a:endParaRPr lang="en-US" sz="1470" dirty="0"/>
          </a:p>
        </p:txBody>
      </p:sp>
      <p:sp>
        <p:nvSpPr>
          <p:cNvPr id="26" name="Shape 23"/>
          <p:cNvSpPr/>
          <p:nvPr/>
        </p:nvSpPr>
        <p:spPr>
          <a:xfrm>
            <a:off x="786384" y="4315968"/>
            <a:ext cx="457200" cy="457200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6384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81328" y="4370832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8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3090672" y="4279392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01568" y="4279392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observación aceptada y otra rechazada con razón</a:t>
            </a:r>
            <a:endParaRPr lang="en-US" sz="1470" dirty="0"/>
          </a:p>
        </p:txBody>
      </p:sp>
      <p:sp>
        <p:nvSpPr>
          <p:cNvPr id="31" name="Shape 28"/>
          <p:cNvSpPr/>
          <p:nvPr/>
        </p:nvSpPr>
        <p:spPr>
          <a:xfrm>
            <a:off x="786384" y="4992624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6384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481328" y="5047488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8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3090672" y="4956048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01568" y="4956048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lo demostrado de lo todavía abierto</a:t>
            </a:r>
            <a:endParaRPr lang="en-US" sz="1470" dirty="0"/>
          </a:p>
        </p:txBody>
      </p:sp>
      <p:sp>
        <p:nvSpPr>
          <p:cNvPr id="36" name="Shape 33"/>
          <p:cNvSpPr/>
          <p:nvPr/>
        </p:nvSpPr>
        <p:spPr>
          <a:xfrm>
            <a:off x="2029968" y="5742432"/>
            <a:ext cx="8138160" cy="420624"/>
          </a:xfrm>
          <a:prstGeom prst="roundRect">
            <a:avLst>
              <a:gd name="adj" fmla="val 869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340864" y="5742432"/>
            <a:ext cx="7516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respuesta depende de una suposición no declarada, el hallazgo todavía no está listo.</a:t>
            </a:r>
            <a:endParaRPr lang="en-US" sz="138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PREGUNTAS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defender la auditoría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pista orienta el razonamiento sin reemplazar la respuesta.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58368" y="2340864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8368" y="2340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249424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POR DEFINIR es distinto de AUSENTE?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481328" y="2889504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81328" y="2889504"/>
            <a:ext cx="73152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700784" y="288950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2523744" y="2889504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no encontrar una prueba para un criterio conocido con todavía no saber cuál es el criterio correcto.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658368" y="3675888"/>
            <a:ext cx="530352" cy="5303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36758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481328" y="3584448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una evidencia puede ser DIRECTA sin aprobar toda la característica?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481328" y="4224528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481328" y="4224528"/>
            <a:ext cx="73152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00784" y="42245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2523744" y="422452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la afirmación a un criterio específico y revisa si el artefacto realmente lo observa.</a:t>
            </a:r>
            <a:endParaRPr lang="en-US" sz="1320" dirty="0"/>
          </a:p>
        </p:txBody>
      </p:sp>
      <p:sp>
        <p:nvSpPr>
          <p:cNvPr id="25" name="Shape 22"/>
          <p:cNvSpPr/>
          <p:nvPr/>
        </p:nvSpPr>
        <p:spPr>
          <a:xfrm>
            <a:off x="658368" y="5010912"/>
            <a:ext cx="530352" cy="53035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5010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481328" y="4919472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aporta un agente usado como auditor adversarial?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1481328" y="5559552"/>
            <a:ext cx="10058400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81328" y="5559552"/>
            <a:ext cx="73152" cy="4572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700784" y="55595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2523744" y="5559552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contradicciones, asociaciones débiles y conclusiones más amplias que los archivos o comandos citados.</a:t>
            </a:r>
            <a:endParaRPr lang="en-US" sz="132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BLOQUE 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98448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Auditar es conectar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38528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ampliar la evidencia</a:t>
            </a:r>
            <a:endParaRPr lang="en-US" sz="3600" dirty="0"/>
          </a:p>
        </p:txBody>
      </p:sp>
      <p:sp>
        <p:nvSpPr>
          <p:cNvPr id="11" name="Shape 8"/>
          <p:cNvSpPr/>
          <p:nvPr/>
        </p:nvSpPr>
        <p:spPr>
          <a:xfrm>
            <a:off x="658368" y="3127248"/>
            <a:ext cx="1993392" cy="1225296"/>
          </a:xfrm>
          <a:prstGeom prst="roundRect">
            <a:avLst>
              <a:gd name="adj" fmla="val 447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4015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7673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2706624" y="3529584"/>
            <a:ext cx="12801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35224" y="3127248"/>
            <a:ext cx="1993392" cy="1225296"/>
          </a:xfrm>
          <a:prstGeom prst="roundRect">
            <a:avLst>
              <a:gd name="adj" fmla="val 447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99816" y="34015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3099816" y="37673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enfoca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983480" y="3529584"/>
            <a:ext cx="12801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3127248"/>
            <a:ext cx="1993392" cy="1225296"/>
          </a:xfrm>
          <a:prstGeom prst="roundRect">
            <a:avLst>
              <a:gd name="adj" fmla="val 447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76672" y="34015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40" dirty="0"/>
          </a:p>
        </p:txBody>
      </p:sp>
      <p:sp>
        <p:nvSpPr>
          <p:cNvPr id="21" name="Text 18"/>
          <p:cNvSpPr txBox="1"/>
          <p:nvPr/>
        </p:nvSpPr>
        <p:spPr>
          <a:xfrm>
            <a:off x="5376672" y="37673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sostiene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7260336" y="3529584"/>
            <a:ext cx="12801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88936" y="3127248"/>
            <a:ext cx="1993392" cy="1225296"/>
          </a:xfrm>
          <a:prstGeom prst="roundRect">
            <a:avLst>
              <a:gd name="adj" fmla="val 447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53528" y="34015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940" dirty="0"/>
          </a:p>
        </p:txBody>
      </p:sp>
      <p:sp>
        <p:nvSpPr>
          <p:cNvPr id="25" name="Text 22"/>
          <p:cNvSpPr txBox="1"/>
          <p:nvPr/>
        </p:nvSpPr>
        <p:spPr>
          <a:xfrm>
            <a:off x="7653528" y="37673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tensiona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9537192" y="3529584"/>
            <a:ext cx="12801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65792" y="3127248"/>
            <a:ext cx="199339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930384" y="34015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940" dirty="0"/>
          </a:p>
        </p:txBody>
      </p:sp>
      <p:sp>
        <p:nvSpPr>
          <p:cNvPr id="29" name="Text 26"/>
          <p:cNvSpPr txBox="1"/>
          <p:nvPr/>
        </p:nvSpPr>
        <p:spPr>
          <a:xfrm>
            <a:off x="9930384" y="376732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1298448" y="5138928"/>
            <a:ext cx="96012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627632" y="5138928"/>
            <a:ext cx="8942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Siguiente: transformar los vacíos relevantes en criterios verificables, sin pedirle al agente que invente reglas ni umbrales.</a:t>
            </a:r>
            <a:endParaRPr lang="en-US" sz="152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25 MINUTOS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35024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un vacío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11680"/>
            <a:ext cx="9326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un criterio verificable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3054096"/>
            <a:ext cx="67116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9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mostró qué falta. Ahora una fuente autorizada debe definir qué se espera antes de diseñar la evidencia.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7918704" y="1389888"/>
            <a:ext cx="3054096" cy="713232"/>
          </a:xfrm>
          <a:prstGeom prst="roundRect">
            <a:avLst>
              <a:gd name="adj" fmla="val 769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56448" y="1536192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VACÍO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9162288" y="1389888"/>
            <a:ext cx="1481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abierta</a:t>
            </a:r>
            <a:endParaRPr lang="en-US" sz="1280" dirty="0"/>
          </a:p>
        </p:txBody>
      </p:sp>
      <p:sp>
        <p:nvSpPr>
          <p:cNvPr id="15" name="Shape 12"/>
          <p:cNvSpPr/>
          <p:nvPr/>
        </p:nvSpPr>
        <p:spPr>
          <a:xfrm>
            <a:off x="8193024" y="2377440"/>
            <a:ext cx="2779776" cy="713232"/>
          </a:xfrm>
          <a:prstGeom prst="roundRect">
            <a:avLst>
              <a:gd name="adj" fmla="val 769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0768" y="252374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9436608" y="23774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autorizada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8467344" y="3364992"/>
            <a:ext cx="2505456" cy="713232"/>
          </a:xfrm>
          <a:prstGeom prst="roundRect">
            <a:avLst>
              <a:gd name="adj" fmla="val 769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05088" y="3511296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40" dirty="0"/>
          </a:p>
        </p:txBody>
      </p:sp>
      <p:sp>
        <p:nvSpPr>
          <p:cNvPr id="20" name="Text 17"/>
          <p:cNvSpPr txBox="1"/>
          <p:nvPr/>
        </p:nvSpPr>
        <p:spPr>
          <a:xfrm>
            <a:off x="9710928" y="3364992"/>
            <a:ext cx="1261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 observable</a:t>
            </a:r>
            <a:endParaRPr lang="en-US" sz="1280" dirty="0"/>
          </a:p>
        </p:txBody>
      </p:sp>
      <p:sp>
        <p:nvSpPr>
          <p:cNvPr id="21" name="Shape 18"/>
          <p:cNvSpPr/>
          <p:nvPr/>
        </p:nvSpPr>
        <p:spPr>
          <a:xfrm>
            <a:off x="8741664" y="4352544"/>
            <a:ext cx="2231136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79408" y="449884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b="1" spc="8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40" dirty="0"/>
          </a:p>
        </p:txBody>
      </p:sp>
      <p:sp>
        <p:nvSpPr>
          <p:cNvPr id="23" name="Text 20"/>
          <p:cNvSpPr txBox="1"/>
          <p:nvPr/>
        </p:nvSpPr>
        <p:spPr>
          <a:xfrm>
            <a:off x="9985248" y="4352544"/>
            <a:ext cx="1152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comprobación planificada</a:t>
            </a:r>
            <a:endParaRPr lang="en-US" sz="1280" dirty="0"/>
          </a:p>
        </p:txBody>
      </p:sp>
      <p:sp>
        <p:nvSpPr>
          <p:cNvPr id="24" name="Shape 21"/>
          <p:cNvSpPr/>
          <p:nvPr/>
        </p:nvSpPr>
        <p:spPr>
          <a:xfrm>
            <a:off x="658368" y="5303520"/>
            <a:ext cx="10661904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87552" y="5303520"/>
            <a:ext cx="99852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no es adivinar: es dirigir evidencia hacia riesgos autorizados por el contexto.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AUTORIZAR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Detectar un vacío no autoriza a elegir la respuesta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equipo técnico descubre la pregunta; la necesidad del producto define el comportamiento correcto.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59536" y="2414016"/>
            <a:ext cx="3803904" cy="3127248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25296" y="2743200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 TÉCNICO</a:t>
            </a:r>
            <a:endParaRPr lang="en-US" sz="1030" dirty="0"/>
          </a:p>
        </p:txBody>
      </p:sp>
      <p:sp>
        <p:nvSpPr>
          <p:cNvPr id="13" name="Text 10"/>
          <p:cNvSpPr txBox="1"/>
          <p:nvPr/>
        </p:nvSpPr>
        <p:spPr>
          <a:xfrm>
            <a:off x="1225296" y="3273552"/>
            <a:ext cx="27614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[] no está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cubierto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1225296" y="4681728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actual no describe ese comportamiento.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4992624" y="3566160"/>
            <a:ext cx="42062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42432" y="2487168"/>
            <a:ext cx="5413248" cy="749808"/>
          </a:xfrm>
          <a:prstGeom prst="roundRect">
            <a:avLst>
              <a:gd name="adj" fmla="val 73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98464" y="2651760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08192" y="26517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248716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¿valor por defecto?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742432" y="3438144"/>
            <a:ext cx="5413248" cy="749808"/>
          </a:xfrm>
          <a:prstGeom prst="roundRect">
            <a:avLst>
              <a:gd name="adj" fmla="val 731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98464" y="3602736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108192" y="36027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498080" y="343814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¿ausencia de resultado?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742432" y="4389120"/>
            <a:ext cx="5413248" cy="749808"/>
          </a:xfrm>
          <a:prstGeom prst="roundRect">
            <a:avLst>
              <a:gd name="adj" fmla="val 731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98464" y="4553712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108192" y="455371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498080" y="43891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¿entrada inválida?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742432" y="5413248"/>
            <a:ext cx="5413248" cy="420624"/>
          </a:xfrm>
          <a:prstGeom prst="roundRect">
            <a:avLst>
              <a:gd name="adj" fmla="val 869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16752" y="5413248"/>
            <a:ext cx="4864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una fuente de verdad, las tres opciones son suposiciones.</a:t>
            </a:r>
            <a:endParaRPr lang="en-US" sz="134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FUENTE DE VERDAD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brief autoriza las reglas de esta iteración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Estas decisiones convierten preguntas abiertas en expectativas que sí podemos especificar.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23591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2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DEL PRODUCTO · ITERACIÓN 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59536" y="2834640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85292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889504" y="2798064"/>
            <a:ext cx="8065008" cy="512064"/>
          </a:xfrm>
          <a:prstGeom prst="roundRect">
            <a:avLst>
              <a:gd name="adj" fmla="val 892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82112" y="2798064"/>
            <a:ext cx="7461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 local del promedio de un curso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59536" y="3566160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9536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5844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889504" y="3529584"/>
            <a:ext cx="8065008" cy="512064"/>
          </a:xfrm>
          <a:prstGeom prst="roundRect">
            <a:avLst>
              <a:gd name="adj" fmla="val 892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182112" y="3529584"/>
            <a:ext cx="7461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 1 y 60 notas · rango 1.0 a 7.0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59536" y="4297680"/>
            <a:ext cx="438912" cy="43891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9536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431596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889504" y="4261104"/>
            <a:ext cx="8065008" cy="512064"/>
          </a:xfrm>
          <a:prstGeom prst="roundRect">
            <a:avLst>
              <a:gd name="adj" fmla="val 892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182112" y="4261104"/>
            <a:ext cx="7461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decimal · ROUND_HALF_UP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59536" y="5029200"/>
            <a:ext cx="438912" cy="438912"/>
          </a:xfrm>
          <a:prstGeom prst="ellipse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9536" y="5029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1554480" y="50474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889504" y="4992624"/>
            <a:ext cx="8065008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182112" y="4992624"/>
            <a:ext cx="7461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vacía o nota fuera de rango → ValueError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426464" y="5833872"/>
            <a:ext cx="9345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brief no describe una idea deseable: fija el comportamiento que esta versión debe respetar.</a:t>
            </a:r>
            <a:endParaRPr lang="en-US" sz="146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FUENTE DE VERDAD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brief también limita responsabilidades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queda fuera no se convierte en requisito por entusiasmo técnico ni por sugerencia del agente.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322576"/>
            <a:ext cx="3493008" cy="3310128"/>
          </a:xfrm>
          <a:prstGeom prst="roundRect">
            <a:avLst>
              <a:gd name="adj" fmla="val 193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15568" y="2651760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1556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810512" y="2761488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CONTROLADO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33649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error indica qué condición no se cumplió.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" y="464515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basta con fallar: el comportamiento debe ser comprensible.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553712" y="2322576"/>
            <a:ext cx="3127248" cy="3310128"/>
          </a:xfrm>
          <a:prstGeom prst="roundRect">
            <a:avLst>
              <a:gd name="adj" fmla="val 20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64608" y="2651760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6460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559552" y="276148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0" b="1" spc="6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FUERA DE ESTA ITERACIÓN</a:t>
            </a:r>
            <a:endParaRPr lang="en-US" sz="970" dirty="0"/>
          </a:p>
        </p:txBody>
      </p:sp>
      <p:sp>
        <p:nvSpPr>
          <p:cNvPr id="21" name="Text 18"/>
          <p:cNvSpPr txBox="1"/>
          <p:nvPr/>
        </p:nvSpPr>
        <p:spPr>
          <a:xfrm>
            <a:off x="4919472" y="33101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285232" y="33101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endParaRPr lang="en-US" sz="1380" dirty="0"/>
          </a:p>
        </p:txBody>
      </p:sp>
      <p:sp>
        <p:nvSpPr>
          <p:cNvPr id="23" name="Text 20"/>
          <p:cNvSpPr txBox="1"/>
          <p:nvPr/>
        </p:nvSpPr>
        <p:spPr>
          <a:xfrm>
            <a:off x="4919472" y="37673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285232" y="37673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y red</a:t>
            </a:r>
            <a:endParaRPr lang="en-US" sz="1380" dirty="0"/>
          </a:p>
        </p:txBody>
      </p:sp>
      <p:sp>
        <p:nvSpPr>
          <p:cNvPr id="25" name="Text 22"/>
          <p:cNvSpPr txBox="1"/>
          <p:nvPr/>
        </p:nvSpPr>
        <p:spPr>
          <a:xfrm>
            <a:off x="4919472" y="42245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285232" y="42245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 y permisos</a:t>
            </a:r>
            <a:endParaRPr lang="en-US" sz="1380" dirty="0"/>
          </a:p>
        </p:txBody>
      </p:sp>
      <p:sp>
        <p:nvSpPr>
          <p:cNvPr id="27" name="Text 24"/>
          <p:cNvSpPr txBox="1"/>
          <p:nvPr/>
        </p:nvSpPr>
        <p:spPr>
          <a:xfrm>
            <a:off x="4919472" y="46817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285232" y="4681728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</a:t>
            </a:r>
            <a:endParaRPr lang="en-US" sz="1380" dirty="0"/>
          </a:p>
        </p:txBody>
      </p:sp>
      <p:sp>
        <p:nvSpPr>
          <p:cNvPr id="29" name="Shape 26"/>
          <p:cNvSpPr/>
          <p:nvPr/>
        </p:nvSpPr>
        <p:spPr>
          <a:xfrm>
            <a:off x="7936992" y="2322576"/>
            <a:ext cx="3456432" cy="3310128"/>
          </a:xfrm>
          <a:prstGeom prst="roundRect">
            <a:avLst>
              <a:gd name="adj" fmla="val 193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247888" y="2651760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4788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8942832" y="276148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 DE CAMBIO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47888" y="3364992"/>
            <a:ext cx="27797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 cambio conserva Ruff, Pyrefly y pytest en verde.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8247888" y="46085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regla modificada queda expresada por una prueba descriptiva.</a:t>
            </a:r>
            <a:endParaRPr lang="en-US" sz="13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ACTUALIZAR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brief mueve algunos temas; otros permanecen fuera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decisión autorizada cambia el alcance sin convertir cada característica en prioridad inmediata.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432304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DEL BRIEF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822960" y="2871216"/>
            <a:ext cx="2980944" cy="2432304"/>
          </a:xfrm>
          <a:prstGeom prst="roundRect">
            <a:avLst>
              <a:gd name="adj" fmla="val 263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70432" y="3236976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80160" y="323697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DEFINIR</a:t>
            </a:r>
            <a:endParaRPr lang="en-US" sz="94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3877056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vacía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rango válido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de error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151376" y="3767328"/>
            <a:ext cx="43891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01184" y="2414016"/>
            <a:ext cx="3310128" cy="2907792"/>
          </a:xfrm>
          <a:prstGeom prst="roundRect">
            <a:avLst>
              <a:gd name="adj" fmla="val 220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85232" y="2761488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3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 ESPECIFICABLE</a:t>
            </a:r>
            <a:endParaRPr lang="en-US" sz="1030" dirty="0"/>
          </a:p>
        </p:txBody>
      </p:sp>
      <p:sp>
        <p:nvSpPr>
          <p:cNvPr id="19" name="Text 16"/>
          <p:cNvSpPr txBox="1"/>
          <p:nvPr/>
        </p:nvSpPr>
        <p:spPr>
          <a:xfrm>
            <a:off x="5285232" y="3438144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1–60 notas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1.0–7.0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ValueError + mensaje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705856" y="4773168"/>
            <a:ext cx="170078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15584" y="477316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POSIBLE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8540496" y="3767328"/>
            <a:ext cx="365760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98864" y="2871216"/>
            <a:ext cx="2249424" cy="2432304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509760" y="323697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FUERA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9491472" y="3785616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436608" y="480974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disfrazar como requisito actual</a:t>
            </a:r>
            <a:endParaRPr lang="en-US" sz="108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PRIORIZAR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filtran los riesgos de esta iteración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prioridad se justifica con contexto, consecuencia y vacío de evidencia; no con una puntuación inventada.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86384" y="2395728"/>
            <a:ext cx="3346704" cy="2706624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97280" y="2706624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97280" y="27066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810512" y="28346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" y="349300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¿El brief confirma que esta propiedad forma parte de la iteración?</a:t>
            </a:r>
            <a:endParaRPr lang="en-US" sz="1950" dirty="0"/>
          </a:p>
        </p:txBody>
      </p:sp>
      <p:sp>
        <p:nvSpPr>
          <p:cNvPr id="16" name="Shape 13"/>
          <p:cNvSpPr/>
          <p:nvPr/>
        </p:nvSpPr>
        <p:spPr>
          <a:xfrm>
            <a:off x="4572000" y="2560320"/>
            <a:ext cx="3346704" cy="2706624"/>
          </a:xfrm>
          <a:prstGeom prst="roundRect">
            <a:avLst>
              <a:gd name="adj" fmla="val 270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82896" y="2871216"/>
            <a:ext cx="512064" cy="5120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82896" y="2871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596128" y="2999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IMPACTO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919472" y="3657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consecuencia tendría incumplirla para el cálculo o quien lo utiliza?</a:t>
            </a:r>
            <a:endParaRPr lang="en-US" sz="1950" dirty="0"/>
          </a:p>
        </p:txBody>
      </p:sp>
      <p:sp>
        <p:nvSpPr>
          <p:cNvPr id="21" name="Shape 18"/>
          <p:cNvSpPr/>
          <p:nvPr/>
        </p:nvSpPr>
        <p:spPr>
          <a:xfrm>
            <a:off x="8357616" y="2724912"/>
            <a:ext cx="3346704" cy="2706624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68512" y="3035808"/>
            <a:ext cx="512064" cy="51206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68512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381744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VACÍO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705088" y="3822192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¿La evidencia actual puede detectarla o todavía falta una señal relevante?</a:t>
            </a:r>
            <a:endParaRPr lang="en-US" sz="1950" dirty="0"/>
          </a:p>
        </p:txBody>
      </p:sp>
      <p:sp>
        <p:nvSpPr>
          <p:cNvPr id="26" name="Shape 23"/>
          <p:cNvSpPr/>
          <p:nvPr/>
        </p:nvSpPr>
        <p:spPr>
          <a:xfrm>
            <a:off x="1847088" y="5614416"/>
            <a:ext cx="8485632" cy="457200"/>
          </a:xfrm>
          <a:prstGeom prst="roundRect">
            <a:avLst>
              <a:gd name="adj" fmla="val 8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76272" y="5614416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Priorizar = dirigir primero la evidencia hacia los riesgos actuales.</a:t>
            </a:r>
            <a:endParaRPr lang="en-US" sz="146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 · PRIORIZAR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prioridades emergen del brief, no del gusto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una responde a una regla explícita y a un riesgo que la evidencia debe confrontar.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49808" y="2414016"/>
            <a:ext cx="3364992" cy="2651760"/>
          </a:xfrm>
          <a:prstGeom prst="roundRect">
            <a:avLst>
              <a:gd name="adj" fmla="val 275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8992" y="2724912"/>
            <a:ext cx="1517904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88720" y="272491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3438144"/>
            <a:ext cx="2706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Valores válidos y cálculo correcto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078992" y="457200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2–3</a:t>
            </a:r>
            <a:endParaRPr lang="en-US" sz="1120" dirty="0"/>
          </a:p>
        </p:txBody>
      </p:sp>
      <p:sp>
        <p:nvSpPr>
          <p:cNvPr id="16" name="Shape 13"/>
          <p:cNvSpPr/>
          <p:nvPr/>
        </p:nvSpPr>
        <p:spPr>
          <a:xfrm>
            <a:off x="4535424" y="2706624"/>
            <a:ext cx="336499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64608" y="3017520"/>
            <a:ext cx="1517904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74336" y="301752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FIABILIDAD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4864608" y="3730752"/>
            <a:ext cx="2706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controlados y comprensibles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4864608" y="4864608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4–5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8321040" y="2414016"/>
            <a:ext cx="3364992" cy="2651760"/>
          </a:xfrm>
          <a:prstGeom prst="roundRect">
            <a:avLst>
              <a:gd name="adj" fmla="val 275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50224" y="2724912"/>
            <a:ext cx="151790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59952" y="272491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650224" y="3438144"/>
            <a:ext cx="27066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Cambios con controles y prueba descriptiva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650224" y="4572000"/>
            <a:ext cx="2706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 7</a:t>
            </a:r>
            <a:endParaRPr lang="en-US" sz="1120" dirty="0"/>
          </a:p>
        </p:txBody>
      </p:sp>
      <p:sp>
        <p:nvSpPr>
          <p:cNvPr id="26" name="Text 23"/>
          <p:cNvSpPr txBox="1"/>
          <p:nvPr/>
        </p:nvSpPr>
        <p:spPr>
          <a:xfrm>
            <a:off x="1261872" y="5632704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y compatibilidad no desaparecen: esta iteración simplemente no entrega contexto para priorizarlas.</a:t>
            </a:r>
            <a:endParaRPr lang="en-US" sz="141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REDACTAR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criterio verificable conserva cinco piezas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pieza falta, otra persona tendrá que adivinar qué observar o por qué importa.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76656" y="3767328"/>
            <a:ext cx="1993392" cy="1371600"/>
          </a:xfrm>
          <a:prstGeom prst="roundRect">
            <a:avLst>
              <a:gd name="adj" fmla="val 4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9536" y="402336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442569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QR-01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724912" y="4114800"/>
            <a:ext cx="14630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80944" y="3602736"/>
            <a:ext cx="1993392" cy="1536192"/>
          </a:xfrm>
          <a:prstGeom prst="roundRect">
            <a:avLst>
              <a:gd name="adj" fmla="val 3571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63824" y="385876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3145536" y="4261104"/>
            <a:ext cx="1664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Fiabilidad · brief 2, 4 y 5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5029200" y="4114800"/>
            <a:ext cx="14630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85232" y="3438144"/>
            <a:ext cx="1993392" cy="1700784"/>
          </a:xfrm>
          <a:prstGeom prst="roundRect">
            <a:avLst>
              <a:gd name="adj" fmla="val 3226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68112" y="369417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</a:t>
            </a:r>
            <a:endParaRPr lang="en-US" sz="940" dirty="0"/>
          </a:p>
        </p:txBody>
      </p:sp>
      <p:sp>
        <p:nvSpPr>
          <p:cNvPr id="21" name="Text 18"/>
          <p:cNvSpPr txBox="1"/>
          <p:nvPr/>
        </p:nvSpPr>
        <p:spPr>
          <a:xfrm>
            <a:off x="5449824" y="4096512"/>
            <a:ext cx="1664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Dada una lista vacía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7333488" y="4114800"/>
            <a:ext cx="14630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89520" y="3273552"/>
            <a:ext cx="1993392" cy="1865376"/>
          </a:xfrm>
          <a:prstGeom prst="roundRect">
            <a:avLst>
              <a:gd name="adj" fmla="val 2941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0" y="3529584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940" dirty="0"/>
          </a:p>
        </p:txBody>
      </p:sp>
      <p:sp>
        <p:nvSpPr>
          <p:cNvPr id="25" name="Text 22"/>
          <p:cNvSpPr txBox="1"/>
          <p:nvPr/>
        </p:nvSpPr>
        <p:spPr>
          <a:xfrm>
            <a:off x="7754112" y="3931920"/>
            <a:ext cx="1664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ValueError + mensaje explicativo</a:t>
            </a:r>
            <a:endParaRPr lang="en-US" sz="1340" dirty="0"/>
          </a:p>
        </p:txBody>
      </p:sp>
      <p:sp>
        <p:nvSpPr>
          <p:cNvPr id="26" name="Shape 23"/>
          <p:cNvSpPr/>
          <p:nvPr/>
        </p:nvSpPr>
        <p:spPr>
          <a:xfrm>
            <a:off x="9637776" y="4114800"/>
            <a:ext cx="14630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893808" y="3108960"/>
            <a:ext cx="1993392" cy="2029968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076688" y="336499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40" dirty="0"/>
          </a:p>
        </p:txBody>
      </p:sp>
      <p:sp>
        <p:nvSpPr>
          <p:cNvPr id="29" name="Text 26"/>
          <p:cNvSpPr txBox="1"/>
          <p:nvPr/>
        </p:nvSpPr>
        <p:spPr>
          <a:xfrm>
            <a:off x="10058400" y="3767328"/>
            <a:ext cx="166420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automatizada con pytest</a:t>
            </a:r>
            <a:endParaRPr lang="en-US" sz="1340" dirty="0"/>
          </a:p>
        </p:txBody>
      </p:sp>
      <p:sp>
        <p:nvSpPr>
          <p:cNvPr id="30" name="Shape 27"/>
          <p:cNvSpPr/>
          <p:nvPr/>
        </p:nvSpPr>
        <p:spPr>
          <a:xfrm>
            <a:off x="1847088" y="5504688"/>
            <a:ext cx="8485632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139696" y="5504688"/>
            <a:ext cx="7900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Identificador + característica y fuente + condición + comportamiento + evidencia</a:t>
            </a:r>
            <a:endParaRPr lang="en-US" sz="142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COMPARAR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recomendación suena bien; un criterio puede fallar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verificabilidad aparece cuando la frase permite distinguir un resultado aceptable de uno rechazado.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2414016"/>
            <a:ext cx="3730752" cy="2926080"/>
          </a:xfrm>
          <a:prstGeom prst="roundRect">
            <a:avLst>
              <a:gd name="adj" fmla="val 218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70432" y="27432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VAGO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383280"/>
            <a:ext cx="29443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“La función debe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5260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 confiable”</a:t>
            </a:r>
            <a:endParaRPr lang="en-US" sz="2500" dirty="0"/>
          </a:p>
        </p:txBody>
      </p:sp>
      <p:sp>
        <p:nvSpPr>
          <p:cNvPr id="14" name="Shape 11"/>
          <p:cNvSpPr/>
          <p:nvPr/>
        </p:nvSpPr>
        <p:spPr>
          <a:xfrm>
            <a:off x="1335024" y="4645152"/>
            <a:ext cx="265176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1298448" y="4956048"/>
            <a:ext cx="2724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dice cuándo, qué debe ocurrir ni cómo observarlo.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882896" y="3657600"/>
            <a:ext cx="420624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14416" y="2249424"/>
            <a:ext cx="5742432" cy="3438144"/>
          </a:xfrm>
          <a:prstGeom prst="roundRect">
            <a:avLst>
              <a:gd name="adj" fmla="val 18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98464" y="261518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VERIFICABLE · QR-01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998464" y="312724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Dada una lista vacía,</a:t>
            </a:r>
            <a:endParaRPr lang="en-US" sz="1520" dirty="0"/>
          </a:p>
        </p:txBody>
      </p:sp>
      <p:sp>
        <p:nvSpPr>
          <p:cNvPr id="20" name="Text 17"/>
          <p:cNvSpPr txBox="1"/>
          <p:nvPr/>
        </p:nvSpPr>
        <p:spPr>
          <a:xfrm>
            <a:off x="5998464" y="3511296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 ejecutar nota_final([]),</a:t>
            </a:r>
            <a:endParaRPr lang="en-US" sz="1520" dirty="0"/>
          </a:p>
        </p:txBody>
      </p:sp>
      <p:sp>
        <p:nvSpPr>
          <p:cNvPr id="21" name="Text 18"/>
          <p:cNvSpPr txBox="1"/>
          <p:nvPr/>
        </p:nvSpPr>
        <p:spPr>
          <a:xfrm>
            <a:off x="5998464" y="3895344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debe producir ValueError</a:t>
            </a:r>
            <a:endParaRPr lang="en-US" sz="1520" dirty="0"/>
          </a:p>
        </p:txBody>
      </p:sp>
      <p:sp>
        <p:nvSpPr>
          <p:cNvPr id="22" name="Text 19"/>
          <p:cNvSpPr txBox="1"/>
          <p:nvPr/>
        </p:nvSpPr>
        <p:spPr>
          <a:xfrm>
            <a:off x="5998464" y="4279392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un mensaje que indique</a:t>
            </a:r>
            <a:endParaRPr lang="en-US" sz="1520" dirty="0"/>
          </a:p>
        </p:txBody>
      </p:sp>
      <p:sp>
        <p:nvSpPr>
          <p:cNvPr id="23" name="Text 20"/>
          <p:cNvSpPr txBox="1"/>
          <p:nvPr/>
        </p:nvSpPr>
        <p:spPr>
          <a:xfrm>
            <a:off x="5998464" y="4663440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se requiere al menos una nota.</a:t>
            </a:r>
            <a:endParaRPr lang="en-US" sz="1520" dirty="0"/>
          </a:p>
        </p:txBody>
      </p:sp>
      <p:sp>
        <p:nvSpPr>
          <p:cNvPr id="24" name="Text 21"/>
          <p:cNvSpPr txBox="1"/>
          <p:nvPr/>
        </p:nvSpPr>
        <p:spPr>
          <a:xfrm>
            <a:off x="5998464" y="523036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· prueba automatizada con pytest</a:t>
            </a:r>
            <a:endParaRPr lang="en-US" sz="118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CRITERIO MODELO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QR-01 convierte una regla en una expectativa ejecutable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conclusión futura podrá citar tanto la fuente como la prueba que confronta el comportamiento.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1248" y="2395728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2395728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QR-01</a:t>
            </a:r>
            <a:endParaRPr lang="en-US" sz="1120" dirty="0"/>
          </a:p>
        </p:txBody>
      </p:sp>
      <p:sp>
        <p:nvSpPr>
          <p:cNvPr id="13" name="Text 10"/>
          <p:cNvSpPr txBox="1"/>
          <p:nvPr/>
        </p:nvSpPr>
        <p:spPr>
          <a:xfrm>
            <a:off x="2231136" y="24871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FIABILIDAD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059936" y="245059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 · reglas 2, 4 y 5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841248" y="2944368"/>
            <a:ext cx="6784848" cy="2542032"/>
          </a:xfrm>
          <a:prstGeom prst="roundRect">
            <a:avLst>
              <a:gd name="adj" fmla="val 251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07008" y="3291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</a:t>
            </a:r>
            <a:endParaRPr lang="en-US" sz="960" dirty="0"/>
          </a:p>
        </p:txBody>
      </p:sp>
      <p:sp>
        <p:nvSpPr>
          <p:cNvPr id="17" name="Text 14"/>
          <p:cNvSpPr txBox="1"/>
          <p:nvPr/>
        </p:nvSpPr>
        <p:spPr>
          <a:xfrm>
            <a:off x="1207008" y="3675888"/>
            <a:ext cx="5961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Dada una lista vacía, al ejecutar nota_final([])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1207008" y="4315968"/>
            <a:ext cx="5961888" cy="0"/>
          </a:xfrm>
          <a:prstGeom prst="line">
            <a:avLst/>
          </a:prstGeom>
          <a:noFill/>
          <a:ln w="12700">
            <a:solidFill>
              <a:srgbClr val="E6EEF7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1207008" y="4590288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 ESPERADO</a:t>
            </a:r>
            <a:endParaRPr lang="en-US" sz="960" dirty="0"/>
          </a:p>
        </p:txBody>
      </p:sp>
      <p:sp>
        <p:nvSpPr>
          <p:cNvPr id="20" name="Text 17"/>
          <p:cNvSpPr txBox="1"/>
          <p:nvPr/>
        </p:nvSpPr>
        <p:spPr>
          <a:xfrm>
            <a:off x="1207008" y="49377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ValueError + mensaje: se requiere al menos una nota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7936992" y="2944368"/>
            <a:ext cx="3401568" cy="2542032"/>
          </a:xfrm>
          <a:prstGeom prst="roundRect">
            <a:avLst>
              <a:gd name="adj" fmla="val 25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84464" y="3291840"/>
            <a:ext cx="2706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PLANIFICADA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8284464" y="3822192"/>
            <a:ext cx="27066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8302752" y="4498848"/>
            <a:ext cx="26700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1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debe fallar si no aparece la excepción o si el mensaje no explica la condición.</a:t>
            </a:r>
            <a:endParaRPr lang="en-US" sz="131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SEPARAR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criterio fija la expectativa, no la implementación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Distintas soluciones técnicas pueden confrontarse con la misma prueba si respetan el mismo comportamiento.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395728"/>
            <a:ext cx="3072384" cy="3054096"/>
          </a:xfrm>
          <a:prstGeom prst="roundRect">
            <a:avLst>
              <a:gd name="adj" fmla="val 239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52144" y="2743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 ESTABLE</a:t>
            </a:r>
            <a:endParaRPr lang="en-US" sz="1020" dirty="0"/>
          </a:p>
        </p:txBody>
      </p:sp>
      <p:sp>
        <p:nvSpPr>
          <p:cNvPr id="13" name="Text 10"/>
          <p:cNvSpPr txBox="1"/>
          <p:nvPr/>
        </p:nvSpPr>
        <p:spPr>
          <a:xfrm>
            <a:off x="1170432" y="3456432"/>
            <a:ext cx="23408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Entrada inválida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 ValueError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736592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observa el contrato visible.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206240" y="3566160"/>
            <a:ext cx="38404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01184" y="2487168"/>
            <a:ext cx="6053328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93792" y="2633472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93792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0" y="248716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 al inicio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345168" y="2651760"/>
            <a:ext cx="1207008" cy="420624"/>
          </a:xfrm>
          <a:prstGeom prst="roundRect">
            <a:avLst>
              <a:gd name="adj" fmla="val 130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454896" y="2651760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POSIBLE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230368" y="3438144"/>
            <a:ext cx="5724144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22976" y="3584448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22976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272784" y="343814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 auxiliar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345168" y="3602736"/>
            <a:ext cx="1207008" cy="420624"/>
          </a:xfrm>
          <a:prstGeom prst="roundRect">
            <a:avLst>
              <a:gd name="adj" fmla="val 130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454896" y="3602736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POSIBLE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5559552" y="438912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52160" y="4535424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852160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601968" y="438912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 validador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345168" y="4553712"/>
            <a:ext cx="1207008" cy="420624"/>
          </a:xfrm>
          <a:prstGeom prst="roundRect">
            <a:avLst>
              <a:gd name="adj" fmla="val 130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454896" y="4553712"/>
            <a:ext cx="987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POSIBLE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5230368" y="5468112"/>
            <a:ext cx="5724144" cy="420624"/>
          </a:xfrm>
          <a:prstGeom prst="roundRect">
            <a:avLst>
              <a:gd name="adj" fmla="val 869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22976" y="5468112"/>
            <a:ext cx="51389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especificación permite evaluar las tres sin imponer una de antemano.</a:t>
            </a:r>
            <a:endParaRPr lang="en-US" sz="132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CRITERIO DE REFERENCIA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QF-01 organiza el espacio válido del cálculo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criterio amplio puede requerir varias pruebas si cada una aporta a una afirmación explícita.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1248" y="2395728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2395728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QF-01</a:t>
            </a:r>
            <a:endParaRPr lang="en-US" sz="1120" dirty="0"/>
          </a:p>
        </p:txBody>
      </p:sp>
      <p:sp>
        <p:nvSpPr>
          <p:cNvPr id="13" name="Text 10"/>
          <p:cNvSpPr txBox="1"/>
          <p:nvPr/>
        </p:nvSpPr>
        <p:spPr>
          <a:xfrm>
            <a:off x="2249424" y="2487168"/>
            <a:ext cx="3968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ADECUACIÓN FUNCIONAL · BRIEF 2 Y 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243584" y="3895344"/>
            <a:ext cx="5961888" cy="0"/>
          </a:xfrm>
          <a:prstGeom prst="line">
            <a:avLst/>
          </a:prstGeom>
          <a:noFill/>
          <a:ln w="12700">
            <a:solidFill>
              <a:srgbClr val="E6EEF7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1261872" y="3639312"/>
            <a:ext cx="512064" cy="5120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61872" y="3639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76656" y="435254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mínimo de notas</a:t>
            </a:r>
            <a:endParaRPr lang="en-US" sz="1240" dirty="0"/>
          </a:p>
        </p:txBody>
      </p:sp>
      <p:sp>
        <p:nvSpPr>
          <p:cNvPr id="18" name="Shape 15"/>
          <p:cNvSpPr/>
          <p:nvPr/>
        </p:nvSpPr>
        <p:spPr>
          <a:xfrm>
            <a:off x="3840480" y="3639312"/>
            <a:ext cx="512064" cy="512064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840480" y="3639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255264" y="435254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partición media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6419088" y="3639312"/>
            <a:ext cx="512064" cy="512064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19088" y="3639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833872" y="435254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máximo de notas</a:t>
            </a:r>
            <a:endParaRPr lang="en-US" sz="1240" dirty="0"/>
          </a:p>
        </p:txBody>
      </p:sp>
      <p:sp>
        <p:nvSpPr>
          <p:cNvPr id="24" name="Text 21"/>
          <p:cNvSpPr txBox="1"/>
          <p:nvPr/>
        </p:nvSpPr>
        <p:spPr>
          <a:xfrm>
            <a:off x="2194560" y="5010912"/>
            <a:ext cx="4041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 dentro de 1.0–7.0</a:t>
            </a:r>
            <a:endParaRPr lang="en-US" sz="1460" dirty="0"/>
          </a:p>
        </p:txBody>
      </p:sp>
      <p:sp>
        <p:nvSpPr>
          <p:cNvPr id="25" name="Shape 22"/>
          <p:cNvSpPr/>
          <p:nvPr/>
        </p:nvSpPr>
        <p:spPr>
          <a:xfrm>
            <a:off x="8449056" y="2688336"/>
            <a:ext cx="2907792" cy="2871216"/>
          </a:xfrm>
          <a:prstGeom prst="roundRect">
            <a:avLst>
              <a:gd name="adj" fmla="val 22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741664" y="3054096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741664" y="3566160"/>
            <a:ext cx="2322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promedio con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decimal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8906256" y="4956048"/>
            <a:ext cx="1993392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15984" y="4956048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ROUND_HALF_UP</a:t>
            </a:r>
            <a:endParaRPr lang="en-US" sz="93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CRITERIO DE REFERENCIA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QR-02 convierte los límites inválidos en casos observables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explicita tanto la excepción como la información que necesita quien utiliza la función.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1248" y="2414016"/>
            <a:ext cx="2834640" cy="2980944"/>
          </a:xfrm>
          <a:prstGeom prst="roundRect">
            <a:avLst>
              <a:gd name="adj" fmla="val 225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276148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INFERIOR</a:t>
            </a:r>
            <a:endParaRPr lang="en-US" sz="102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401568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1426464" y="4297680"/>
            <a:ext cx="166420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536192" y="429768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FUERA DE RANGO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968496" y="3621024"/>
            <a:ext cx="38404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63440" y="2249424"/>
            <a:ext cx="2926080" cy="3310128"/>
          </a:xfrm>
          <a:prstGeom prst="roundRect">
            <a:avLst>
              <a:gd name="adj" fmla="val 218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10912" y="2633472"/>
            <a:ext cx="2231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QR-02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010912" y="3328416"/>
            <a:ext cx="2231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5010912" y="4151376"/>
            <a:ext cx="22311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mensaje identifica el rango permitido: 1.0 a 7.0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882128" y="3621024"/>
            <a:ext cx="38404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77072" y="2414016"/>
            <a:ext cx="2834640" cy="2980944"/>
          </a:xfrm>
          <a:prstGeom prst="roundRect">
            <a:avLst>
              <a:gd name="adj" fmla="val 225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24544" y="276148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2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 SUPERIOR</a:t>
            </a:r>
            <a:endParaRPr lang="en-US" sz="1020" dirty="0"/>
          </a:p>
        </p:txBody>
      </p:sp>
      <p:sp>
        <p:nvSpPr>
          <p:cNvPr id="24" name="Text 21"/>
          <p:cNvSpPr txBox="1"/>
          <p:nvPr/>
        </p:nvSpPr>
        <p:spPr>
          <a:xfrm>
            <a:off x="8924544" y="3401568"/>
            <a:ext cx="21396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</a:t>
            </a:r>
            <a:endParaRPr lang="en-US" sz="3400" dirty="0"/>
          </a:p>
        </p:txBody>
      </p:sp>
      <p:sp>
        <p:nvSpPr>
          <p:cNvPr id="25" name="Shape 22"/>
          <p:cNvSpPr/>
          <p:nvPr/>
        </p:nvSpPr>
        <p:spPr>
          <a:xfrm>
            <a:off x="9162288" y="4297680"/>
            <a:ext cx="166420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72016" y="429768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FUERA DE RANGO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2029968" y="5742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· dos pruebas automatizadas, una por cada frontera</a:t>
            </a:r>
            <a:endParaRPr lang="en-US" sz="14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CRITERIO DE REFERENCIA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QM-01 define qué evidencia acompaña cada cambio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mantenibilidad no se declara por tener archivos ordenados: se observa en un cambio controlado.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1248" y="2395728"/>
            <a:ext cx="111556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50976" y="2395728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QM-01</a:t>
            </a:r>
            <a:endParaRPr lang="en-US" sz="1120" dirty="0"/>
          </a:p>
        </p:txBody>
      </p:sp>
      <p:sp>
        <p:nvSpPr>
          <p:cNvPr id="13" name="Text 10"/>
          <p:cNvSpPr txBox="1"/>
          <p:nvPr/>
        </p:nvSpPr>
        <p:spPr>
          <a:xfrm>
            <a:off x="2249424" y="2487168"/>
            <a:ext cx="3054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MANTENIBILIDAD · BRIEF 7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41248" y="2999232"/>
            <a:ext cx="2962656" cy="2432304"/>
          </a:xfrm>
          <a:prstGeom prst="roundRect">
            <a:avLst>
              <a:gd name="adj" fmla="val 263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88720" y="334670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3986784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 de cálculo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modificada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078224" y="3858768"/>
            <a:ext cx="36576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0" y="2999232"/>
            <a:ext cx="28712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74336" y="310896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84064" y="310896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327648" y="299923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754880" y="3822192"/>
            <a:ext cx="28712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74336" y="393192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84064" y="393192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PYREFLY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327648" y="382219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754880" y="4645152"/>
            <a:ext cx="287121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974336" y="475488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84064" y="475488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6327648" y="4645152"/>
            <a:ext cx="969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936992" y="3858768"/>
            <a:ext cx="365760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613648" y="2999232"/>
            <a:ext cx="2743200" cy="243230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42832" y="336499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 DEL CAMBIO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942832" y="3913632"/>
            <a:ext cx="2084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8942832" y="4572000"/>
            <a:ext cx="2084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prueba descriptiva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 · PLANIFICAR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criterio amplio puede necesitar varias evidencias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cobertura se construye con casos que observan fronteras y particiones distintas del mismo riesgo.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1248" y="2414016"/>
            <a:ext cx="3127248" cy="2926080"/>
          </a:xfrm>
          <a:prstGeom prst="roundRect">
            <a:avLst>
              <a:gd name="adj" fmla="val 218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88720" y="276148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QF-01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3401568"/>
            <a:ext cx="24323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1–60 notas válidas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 promedio correcto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700016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afirmación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4590288" y="2340864"/>
            <a:ext cx="671169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9744" y="2441448"/>
            <a:ext cx="658368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19472" y="244144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</a:t>
            </a:r>
            <a:endParaRPr lang="en-US" sz="960" dirty="0"/>
          </a:p>
        </p:txBody>
      </p:sp>
      <p:sp>
        <p:nvSpPr>
          <p:cNvPr id="18" name="Text 15"/>
          <p:cNvSpPr txBox="1"/>
          <p:nvPr/>
        </p:nvSpPr>
        <p:spPr>
          <a:xfrm>
            <a:off x="5705856" y="2340864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mínima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2340864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nota</a:t>
            </a:r>
            <a:endParaRPr lang="en-US" sz="1240" dirty="0"/>
          </a:p>
        </p:txBody>
      </p:sp>
      <p:sp>
        <p:nvSpPr>
          <p:cNvPr id="20" name="Shape 17"/>
          <p:cNvSpPr/>
          <p:nvPr/>
        </p:nvSpPr>
        <p:spPr>
          <a:xfrm>
            <a:off x="4901184" y="3127248"/>
            <a:ext cx="640080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20640" y="3227832"/>
            <a:ext cx="658368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30368" y="322783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</a:t>
            </a:r>
            <a:endParaRPr lang="en-US" sz="960" dirty="0"/>
          </a:p>
        </p:txBody>
      </p:sp>
      <p:sp>
        <p:nvSpPr>
          <p:cNvPr id="23" name="Text 20"/>
          <p:cNvSpPr txBox="1"/>
          <p:nvPr/>
        </p:nvSpPr>
        <p:spPr>
          <a:xfrm>
            <a:off x="6016752" y="3127248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partición media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3127248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varias notas</a:t>
            </a:r>
            <a:endParaRPr lang="en-US" sz="1240" dirty="0"/>
          </a:p>
        </p:txBody>
      </p:sp>
      <p:sp>
        <p:nvSpPr>
          <p:cNvPr id="25" name="Shape 22"/>
          <p:cNvSpPr/>
          <p:nvPr/>
        </p:nvSpPr>
        <p:spPr>
          <a:xfrm>
            <a:off x="5212080" y="3913632"/>
            <a:ext cx="6089904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31536" y="4014216"/>
            <a:ext cx="658368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541264" y="401421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</a:t>
            </a:r>
            <a:endParaRPr lang="en-US" sz="96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3913632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cantidad máxima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3913632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notas</a:t>
            </a:r>
            <a:endParaRPr lang="en-US" sz="1240" dirty="0"/>
          </a:p>
        </p:txBody>
      </p:sp>
      <p:sp>
        <p:nvSpPr>
          <p:cNvPr id="30" name="Shape 27"/>
          <p:cNvSpPr/>
          <p:nvPr/>
        </p:nvSpPr>
        <p:spPr>
          <a:xfrm>
            <a:off x="5522976" y="4700016"/>
            <a:ext cx="5779008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42432" y="4800600"/>
            <a:ext cx="658368" cy="402336"/>
          </a:xfrm>
          <a:prstGeom prst="roundRect">
            <a:avLst>
              <a:gd name="adj" fmla="val 13636"/>
            </a:avLst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852160" y="480060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</a:t>
            </a:r>
            <a:endParaRPr lang="en-US" sz="960" dirty="0"/>
          </a:p>
        </p:txBody>
      </p:sp>
      <p:sp>
        <p:nvSpPr>
          <p:cNvPr id="33" name="Text 30"/>
          <p:cNvSpPr txBox="1"/>
          <p:nvPr/>
        </p:nvSpPr>
        <p:spPr>
          <a:xfrm>
            <a:off x="6638544" y="4700016"/>
            <a:ext cx="20482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redondeo límite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8229600" y="4700016"/>
            <a:ext cx="2487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40" b="1" dirty="0">
                <a:solidFill>
                  <a:srgbClr val="1F8A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ROUND_HALF_UP</a:t>
            </a:r>
            <a:endParaRPr lang="en-US" sz="1240" dirty="0"/>
          </a:p>
        </p:txBody>
      </p:sp>
      <p:sp>
        <p:nvSpPr>
          <p:cNvPr id="35" name="Text 32"/>
          <p:cNvSpPr txBox="1"/>
          <p:nvPr/>
        </p:nvSpPr>
        <p:spPr>
          <a:xfrm>
            <a:off x="5120640" y="5687568"/>
            <a:ext cx="5614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suite permite localizar qué parte del criterio dejó de sostenerse.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PEDIR ALTERNATIVAS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propone candidatos dentro de un contrato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el brief, tres riesgos priorizados y un formato; no recibe permiso para ampliar el producto.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68096" y="2304288"/>
            <a:ext cx="7388352" cy="3566160"/>
          </a:xfrm>
          <a:prstGeom prst="roundRect">
            <a:avLst>
              <a:gd name="adj" fmla="val 179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" y="2304288"/>
            <a:ext cx="7388352" cy="438912"/>
          </a:xfrm>
          <a:prstGeom prst="roundRect">
            <a:avLst>
              <a:gd name="adj" fmla="val 14583"/>
            </a:avLst>
          </a:prstGeom>
          <a:solidFill>
            <a:srgbClr val="244462"/>
          </a:solidFill>
          <a:ln w="12700">
            <a:solidFill>
              <a:srgbClr val="24446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60704" y="2304288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· criterios candidatos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133856" y="299923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partir exclusivamente del brief, propón dos criterios</a:t>
            </a:r>
            <a:endParaRPr lang="en-US" sz="1170" dirty="0"/>
          </a:p>
        </p:txBody>
      </p:sp>
      <p:sp>
        <p:nvSpPr>
          <p:cNvPr id="15" name="Text 12"/>
          <p:cNvSpPr txBox="1"/>
          <p:nvPr/>
        </p:nvSpPr>
        <p:spPr>
          <a:xfrm>
            <a:off x="1133856" y="336499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candidatos para cada riesgo priorizado.</a:t>
            </a:r>
            <a:endParaRPr lang="en-US" sz="1170" dirty="0"/>
          </a:p>
        </p:txBody>
      </p:sp>
      <p:sp>
        <p:nvSpPr>
          <p:cNvPr id="16" name="Text 13"/>
          <p:cNvSpPr txBox="1"/>
          <p:nvPr/>
        </p:nvSpPr>
        <p:spPr>
          <a:xfrm>
            <a:off x="1133856" y="373075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Incluye: ID, característica ISO/IEC 25010:2023,</a:t>
            </a:r>
            <a:endParaRPr lang="en-US" sz="117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" y="409651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reglas de origen, condición, resultado y evidencia.</a:t>
            </a:r>
            <a:endParaRPr lang="en-US" sz="117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" y="446227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inventes umbrales, interfaces ni responsabilidades</a:t>
            </a:r>
            <a:endParaRPr lang="en-US" sz="117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" y="482803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fuera de alcance. Si no puede derivarse del brief,</a:t>
            </a:r>
            <a:endParaRPr lang="en-US" sz="117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" y="5193792"/>
            <a:ext cx="6601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 «requiere decisión».</a:t>
            </a:r>
            <a:endParaRPr lang="en-US" sz="1170" dirty="0"/>
          </a:p>
        </p:txBody>
      </p:sp>
      <p:sp>
        <p:nvSpPr>
          <p:cNvPr id="21" name="Text 18"/>
          <p:cNvSpPr txBox="1"/>
          <p:nvPr/>
        </p:nvSpPr>
        <p:spPr>
          <a:xfrm>
            <a:off x="8650224" y="252374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ENTRADAS CONTROLADAS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851392" y="3072384"/>
            <a:ext cx="1883664" cy="457200"/>
          </a:xfrm>
          <a:prstGeom prst="roundRect">
            <a:avLst>
              <a:gd name="adj" fmla="val 12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0" y="3072384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8851392" y="3749040"/>
            <a:ext cx="1883664" cy="457200"/>
          </a:xfrm>
          <a:prstGeom prst="roundRect">
            <a:avLst>
              <a:gd name="adj" fmla="val 12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61120" y="37490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RIESGOS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851392" y="4425696"/>
            <a:ext cx="1883664" cy="457200"/>
          </a:xfrm>
          <a:prstGeom prst="roundRect">
            <a:avLst>
              <a:gd name="adj" fmla="val 12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961120" y="442569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650224" y="523036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9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650224" y="550468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alternativas auditables</a:t>
            </a:r>
            <a:endParaRPr lang="en-US" sz="14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DELIMITAR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amplía alternativas, no la autoridad del brief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 utilidad está en explorar formulaciones; la decisión sigue anclada a reglas explícitas.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395728"/>
            <a:ext cx="4956048" cy="3218688"/>
          </a:xfrm>
          <a:prstGeom prst="roundRect">
            <a:avLst>
              <a:gd name="adj" fmla="val 227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70432" y="274320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 PUEDE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170432" y="3236976"/>
            <a:ext cx="310896" cy="31089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70432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682496" y="321868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dos formulaciones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170432" y="3730752"/>
            <a:ext cx="310896" cy="31089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704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1682496" y="3712464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una condición omitida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1170432" y="4224528"/>
            <a:ext cx="310896" cy="31089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70432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1682496" y="42062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evidencia coherente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1170432" y="4718304"/>
            <a:ext cx="310896" cy="31089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70432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682496" y="47000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 «requiere decisión»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6089904" y="2395728"/>
            <a:ext cx="5285232" cy="321868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55664" y="27432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PUEDE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455664" y="3236976"/>
            <a:ext cx="310896" cy="3108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55664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6967728" y="3218688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que [] devuelve 0.0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6455664" y="3730752"/>
            <a:ext cx="310896" cy="3108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55664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967728" y="371246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ampliar el rango permitido</a:t>
            </a:r>
            <a:endParaRPr lang="en-US" sz="1450" dirty="0"/>
          </a:p>
        </p:txBody>
      </p:sp>
      <p:sp>
        <p:nvSpPr>
          <p:cNvPr id="33" name="Shape 30"/>
          <p:cNvSpPr/>
          <p:nvPr/>
        </p:nvSpPr>
        <p:spPr>
          <a:xfrm>
            <a:off x="6455664" y="4224528"/>
            <a:ext cx="310896" cy="3108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55664" y="4224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967728" y="4206240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autenticación</a:t>
            </a:r>
            <a:endParaRPr lang="en-US" sz="1450" dirty="0"/>
          </a:p>
        </p:txBody>
      </p:sp>
      <p:sp>
        <p:nvSpPr>
          <p:cNvPr id="36" name="Shape 33"/>
          <p:cNvSpPr/>
          <p:nvPr/>
        </p:nvSpPr>
        <p:spPr>
          <a:xfrm>
            <a:off x="6455664" y="4718304"/>
            <a:ext cx="310896" cy="3108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55664" y="4718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967728" y="4700016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 una característica aprobada</a:t>
            </a:r>
            <a:endParaRPr lang="en-US" sz="1450" dirty="0"/>
          </a:p>
        </p:txBody>
      </p:sp>
      <p:sp>
        <p:nvSpPr>
          <p:cNvPr id="39" name="Text 36"/>
          <p:cNvSpPr txBox="1"/>
          <p:nvPr/>
        </p:nvSpPr>
        <p:spPr>
          <a:xfrm>
            <a:off x="2798064" y="5852160"/>
            <a:ext cx="6601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opciones no equivalen a más requisitos.</a:t>
            </a:r>
            <a:endParaRPr lang="en-US" sz="152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4.3 · EVALUAR ALTERNATIVAS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Seis frases no sirven si cubren el mismo riesgo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respuesta extensa puede repetir la misma idea con otras palabras y producir una falsa sensación de cobertura.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2432304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REPETICIÓN SUPERFICIAL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41248" y="2962656"/>
            <a:ext cx="3877056" cy="640080"/>
          </a:xfrm>
          <a:prstGeom prst="roundRect">
            <a:avLst>
              <a:gd name="adj" fmla="val 714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70432" y="2962656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calcular bien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52144" y="3474720"/>
            <a:ext cx="3877056" cy="640080"/>
          </a:xfrm>
          <a:prstGeom prst="roundRect">
            <a:avLst>
              <a:gd name="adj" fmla="val 714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81328" y="3474720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promedio correcto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463040" y="3986784"/>
            <a:ext cx="3877056" cy="640080"/>
          </a:xfrm>
          <a:prstGeom prst="roundRect">
            <a:avLst>
              <a:gd name="adj" fmla="val 7143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92224" y="3986784"/>
            <a:ext cx="3218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exacto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408176" y="5065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riesgo con 3 sinónimos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248656" y="3803904"/>
            <a:ext cx="38404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0" y="2432304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 ÚTIL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5943600" y="3035808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53328" y="30358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CÁLCULO</a:t>
            </a:r>
            <a:endParaRPr lang="en-US" sz="920" dirty="0"/>
          </a:p>
        </p:txBody>
      </p:sp>
      <p:sp>
        <p:nvSpPr>
          <p:cNvPr id="23" name="Text 20"/>
          <p:cNvSpPr txBox="1"/>
          <p:nvPr/>
        </p:nvSpPr>
        <p:spPr>
          <a:xfrm>
            <a:off x="7479792" y="294436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particiones y redondeo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943600" y="3822192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53328" y="382219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FALLO</a:t>
            </a:r>
            <a:endParaRPr lang="en-US" sz="920" dirty="0"/>
          </a:p>
        </p:txBody>
      </p:sp>
      <p:sp>
        <p:nvSpPr>
          <p:cNvPr id="26" name="Text 23"/>
          <p:cNvSpPr txBox="1"/>
          <p:nvPr/>
        </p:nvSpPr>
        <p:spPr>
          <a:xfrm>
            <a:off x="7479792" y="373075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vacío y fuera de rango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943600" y="4608576"/>
            <a:ext cx="1225296" cy="420624"/>
          </a:xfrm>
          <a:prstGeom prst="roundRect">
            <a:avLst>
              <a:gd name="adj" fmla="val 13043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053328" y="460857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CAMBIO</a:t>
            </a:r>
            <a:endParaRPr lang="en-US" sz="920" dirty="0"/>
          </a:p>
        </p:txBody>
      </p:sp>
      <p:sp>
        <p:nvSpPr>
          <p:cNvPr id="29" name="Text 26"/>
          <p:cNvSpPr txBox="1"/>
          <p:nvPr/>
        </p:nvSpPr>
        <p:spPr>
          <a:xfrm>
            <a:off x="7479792" y="451713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+ prueba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943600" y="5431536"/>
            <a:ext cx="497433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54496" y="5431536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riesgos diferentes → 3 criterios útiles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AUDITAR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propuesta recibe una decisión, no un “me gusta”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decisión expresa qué relación mantiene el candidato con el brief, la evidencia y el alcance.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828032" y="2944368"/>
            <a:ext cx="2542032" cy="1572768"/>
          </a:xfrm>
          <a:prstGeom prst="roundRect">
            <a:avLst>
              <a:gd name="adj" fmla="val 465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93792" y="3273552"/>
            <a:ext cx="18105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CANDIDATO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768096" y="2359152"/>
            <a:ext cx="301752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42416" y="2542032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52144" y="25420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</a:t>
            </a:r>
            <a:endParaRPr lang="en-US" sz="880" dirty="0"/>
          </a:p>
        </p:txBody>
      </p:sp>
      <p:sp>
        <p:nvSpPr>
          <p:cNvPr id="16" name="Text 13"/>
          <p:cNvSpPr txBox="1"/>
          <p:nvPr/>
        </p:nvSpPr>
        <p:spPr>
          <a:xfrm>
            <a:off x="1042416" y="3017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deriva y se observa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68096" y="4242816"/>
            <a:ext cx="301752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2416" y="4425696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152144" y="4425696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</a:t>
            </a:r>
            <a:endParaRPr lang="en-US" sz="880" dirty="0"/>
          </a:p>
        </p:txBody>
      </p:sp>
      <p:sp>
        <p:nvSpPr>
          <p:cNvPr id="20" name="Text 17"/>
          <p:cNvSpPr txBox="1"/>
          <p:nvPr/>
        </p:nvSpPr>
        <p:spPr>
          <a:xfrm>
            <a:off x="1042416" y="4901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válido; falta precisión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8394192" y="2359152"/>
            <a:ext cx="3017520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68512" y="2542032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78240" y="254203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POSTERGAR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8668512" y="30175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legítima; otra iteración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8394192" y="4242816"/>
            <a:ext cx="3017520" cy="1133856"/>
          </a:xfrm>
          <a:prstGeom prst="roundRect">
            <a:avLst>
              <a:gd name="adj" fmla="val 483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668512" y="4425696"/>
            <a:ext cx="1078992" cy="384048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78240" y="4425696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</a:t>
            </a:r>
            <a:endParaRPr lang="en-US" sz="880" dirty="0"/>
          </a:p>
        </p:txBody>
      </p:sp>
      <p:sp>
        <p:nvSpPr>
          <p:cNvPr id="28" name="Text 25"/>
          <p:cNvSpPr txBox="1"/>
          <p:nvPr/>
        </p:nvSpPr>
        <p:spPr>
          <a:xfrm>
            <a:off x="8668512" y="490118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inventa, contradice o repite</a:t>
            </a:r>
            <a:endParaRPr lang="en-US" sz="1220" dirty="0"/>
          </a:p>
        </p:txBody>
      </p:sp>
      <p:sp>
        <p:nvSpPr>
          <p:cNvPr id="29" name="Shape 26"/>
          <p:cNvSpPr/>
          <p:nvPr/>
        </p:nvSpPr>
        <p:spPr>
          <a:xfrm>
            <a:off x="4352544" y="2907792"/>
            <a:ext cx="256032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52544" y="4315968"/>
            <a:ext cx="256032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589520" y="2907792"/>
            <a:ext cx="256032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589520" y="4315968"/>
            <a:ext cx="256032" cy="420624"/>
          </a:xfrm>
          <a:prstGeom prst="chevron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CALIBRAR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decisión cambia según el defecto del candidato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toda propuesta imperfecta merece rechazo: algunas se corrigen y otras esperan una decisión futura.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322576"/>
            <a:ext cx="10588752" cy="658368"/>
          </a:xfrm>
          <a:prstGeom prst="roundRect">
            <a:avLst>
              <a:gd name="adj" fmla="val 694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" y="2450592"/>
            <a:ext cx="1243584" cy="402336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33856" y="245059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</a:t>
            </a:r>
            <a:endParaRPr lang="en-US" sz="88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2322576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“El promedio debe calcularse correctamente”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7845552" y="2322576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faltan entradas, redondeo y evidencia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804672" y="3172968"/>
            <a:ext cx="10588752" cy="658368"/>
          </a:xfrm>
          <a:prstGeom prst="roundRect">
            <a:avLst>
              <a:gd name="adj" fmla="val 694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4128" y="3300984"/>
            <a:ext cx="1243584" cy="402336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33856" y="3300984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RECHAZAR</a:t>
            </a:r>
            <a:endParaRPr lang="en-US" sz="880" dirty="0"/>
          </a:p>
        </p:txBody>
      </p:sp>
      <p:sp>
        <p:nvSpPr>
          <p:cNvPr id="19" name="Text 16"/>
          <p:cNvSpPr txBox="1"/>
          <p:nvPr/>
        </p:nvSpPr>
        <p:spPr>
          <a:xfrm>
            <a:off x="2560320" y="317296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“La lista vacía devuelve 0.0”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7845552" y="3172968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contradice la regla 4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804672" y="4023360"/>
            <a:ext cx="10588752" cy="658368"/>
          </a:xfrm>
          <a:prstGeom prst="roundRect">
            <a:avLst>
              <a:gd name="adj" fmla="val 694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24128" y="4151376"/>
            <a:ext cx="1243584" cy="402336"/>
          </a:xfrm>
          <a:prstGeom prst="roundRect">
            <a:avLst>
              <a:gd name="adj" fmla="val 13636"/>
            </a:avLst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133856" y="415137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POSTERGAR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2560320" y="402336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“Solo un docente autenticado puede calcular”</a:t>
            </a:r>
            <a:endParaRPr lang="en-US" sz="1450" dirty="0"/>
          </a:p>
        </p:txBody>
      </p:sp>
      <p:sp>
        <p:nvSpPr>
          <p:cNvPr id="25" name="Text 22"/>
          <p:cNvSpPr txBox="1"/>
          <p:nvPr/>
        </p:nvSpPr>
        <p:spPr>
          <a:xfrm>
            <a:off x="7845552" y="402336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 fuera de iteración</a:t>
            </a:r>
            <a:endParaRPr lang="en-US" sz="1220" dirty="0"/>
          </a:p>
        </p:txBody>
      </p:sp>
      <p:sp>
        <p:nvSpPr>
          <p:cNvPr id="26" name="Shape 23"/>
          <p:cNvSpPr/>
          <p:nvPr/>
        </p:nvSpPr>
        <p:spPr>
          <a:xfrm>
            <a:off x="804672" y="4873752"/>
            <a:ext cx="10588752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24128" y="5001768"/>
            <a:ext cx="1243584" cy="402336"/>
          </a:xfrm>
          <a:prstGeom prst="roundRect">
            <a:avLst>
              <a:gd name="adj" fmla="val 1363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33856" y="5001768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</a:t>
            </a:r>
            <a:endParaRPr lang="en-US" sz="880" dirty="0"/>
          </a:p>
        </p:txBody>
      </p:sp>
      <p:sp>
        <p:nvSpPr>
          <p:cNvPr id="29" name="Text 26"/>
          <p:cNvSpPr txBox="1"/>
          <p:nvPr/>
        </p:nvSpPr>
        <p:spPr>
          <a:xfrm>
            <a:off x="2560320" y="4873752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“7.1 produce ValueError e informa el rango”</a:t>
            </a:r>
            <a:endParaRPr lang="en-US" sz="1450" dirty="0"/>
          </a:p>
        </p:txBody>
      </p:sp>
      <p:sp>
        <p:nvSpPr>
          <p:cNvPr id="30" name="Text 27"/>
          <p:cNvSpPr txBox="1"/>
          <p:nvPr/>
        </p:nvSpPr>
        <p:spPr>
          <a:xfrm>
            <a:off x="7845552" y="4873752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2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deriva de las reglas 2, 4 y 5</a:t>
            </a:r>
            <a:endParaRPr lang="en-US" sz="1220" dirty="0"/>
          </a:p>
        </p:txBody>
      </p:sp>
      <p:sp>
        <p:nvSpPr>
          <p:cNvPr id="31" name="Text 28"/>
          <p:cNvSpPr txBox="1"/>
          <p:nvPr/>
        </p:nvSpPr>
        <p:spPr>
          <a:xfrm>
            <a:off x="2542032" y="5907024"/>
            <a:ext cx="7114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etiqueta importa menos que la justificación trazable.</a:t>
            </a:r>
            <a:endParaRPr lang="en-US" sz="145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CONTROLAR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puertas protegen la ficha de criterios débiles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candidato aceptado debe cruzar las cinco; una sola puerta cerrada lo devuelve a revisión.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76656" y="2523744"/>
            <a:ext cx="1975104" cy="2578608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2798064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71600" y="2798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35661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940" dirty="0"/>
          </a:p>
        </p:txBody>
      </p:sp>
      <p:sp>
        <p:nvSpPr>
          <p:cNvPr id="15" name="Text 12"/>
          <p:cNvSpPr txBox="1"/>
          <p:nvPr/>
        </p:nvSpPr>
        <p:spPr>
          <a:xfrm>
            <a:off x="896112" y="404164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 de origen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2962656" y="2871216"/>
            <a:ext cx="1975104" cy="2578608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0" y="3145536"/>
            <a:ext cx="530352" cy="5303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57600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163824" y="39136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</a:t>
            </a:r>
            <a:endParaRPr lang="en-US" sz="940" dirty="0"/>
          </a:p>
        </p:txBody>
      </p:sp>
      <p:sp>
        <p:nvSpPr>
          <p:cNvPr id="20" name="Text 17"/>
          <p:cNvSpPr txBox="1"/>
          <p:nvPr/>
        </p:nvSpPr>
        <p:spPr>
          <a:xfrm>
            <a:off x="3182112" y="43891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aprobado ≠ rechazado</a:t>
            </a:r>
            <a:endParaRPr lang="en-US" sz="1440" dirty="0"/>
          </a:p>
        </p:txBody>
      </p:sp>
      <p:sp>
        <p:nvSpPr>
          <p:cNvPr id="21" name="Shape 18"/>
          <p:cNvSpPr/>
          <p:nvPr/>
        </p:nvSpPr>
        <p:spPr>
          <a:xfrm>
            <a:off x="5248656" y="2523744"/>
            <a:ext cx="1975104" cy="2578608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43600" y="2798064"/>
            <a:ext cx="530352" cy="53035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0" y="2798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49824" y="35661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CONDICIONES</a:t>
            </a:r>
            <a:endParaRPr lang="en-US" sz="940" dirty="0"/>
          </a:p>
        </p:txBody>
      </p:sp>
      <p:sp>
        <p:nvSpPr>
          <p:cNvPr id="25" name="Text 22"/>
          <p:cNvSpPr txBox="1"/>
          <p:nvPr/>
        </p:nvSpPr>
        <p:spPr>
          <a:xfrm>
            <a:off x="5468112" y="404164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 y contexto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7534656" y="2871216"/>
            <a:ext cx="1975104" cy="2578608"/>
          </a:xfrm>
          <a:prstGeom prst="roundRect">
            <a:avLst>
              <a:gd name="adj" fmla="val 32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0" y="3145536"/>
            <a:ext cx="530352" cy="530352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0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735824" y="3913632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40" dirty="0"/>
          </a:p>
        </p:txBody>
      </p:sp>
      <p:sp>
        <p:nvSpPr>
          <p:cNvPr id="30" name="Text 27"/>
          <p:cNvSpPr txBox="1"/>
          <p:nvPr/>
        </p:nvSpPr>
        <p:spPr>
          <a:xfrm>
            <a:off x="7754112" y="438912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 la propiedad</a:t>
            </a:r>
            <a:endParaRPr lang="en-US" sz="1440" dirty="0"/>
          </a:p>
        </p:txBody>
      </p:sp>
      <p:sp>
        <p:nvSpPr>
          <p:cNvPr id="31" name="Shape 28"/>
          <p:cNvSpPr/>
          <p:nvPr/>
        </p:nvSpPr>
        <p:spPr>
          <a:xfrm>
            <a:off x="9820656" y="2523744"/>
            <a:ext cx="1975104" cy="2578608"/>
          </a:xfrm>
          <a:prstGeom prst="roundRect">
            <a:avLst>
              <a:gd name="adj" fmla="val 324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515600" y="2798064"/>
            <a:ext cx="530352" cy="53035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515600" y="2798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0021824" y="35661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40" dirty="0"/>
          </a:p>
        </p:txBody>
      </p:sp>
      <p:sp>
        <p:nvSpPr>
          <p:cNvPr id="35" name="Text 32"/>
          <p:cNvSpPr txBox="1"/>
          <p:nvPr/>
        </p:nvSpPr>
        <p:spPr>
          <a:xfrm>
            <a:off x="10040112" y="404164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decisiones nuevas</a:t>
            </a:r>
            <a:endParaRPr lang="en-US" sz="1440" dirty="0"/>
          </a:p>
        </p:txBody>
      </p:sp>
      <p:sp>
        <p:nvSpPr>
          <p:cNvPr id="36" name="Text 33"/>
          <p:cNvSpPr txBox="1"/>
          <p:nvPr/>
        </p:nvSpPr>
        <p:spPr>
          <a:xfrm>
            <a:off x="9802368" y="568756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</a:t>
            </a:r>
            <a:endParaRPr lang="en-US" sz="1320" dirty="0"/>
          </a:p>
        </p:txBody>
      </p:sp>
      <p:sp>
        <p:nvSpPr>
          <p:cNvPr id="37" name="Shape 34"/>
          <p:cNvSpPr/>
          <p:nvPr/>
        </p:nvSpPr>
        <p:spPr>
          <a:xfrm>
            <a:off x="1078992" y="5669280"/>
            <a:ext cx="8522208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4.4 · CASO ACEPTADO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7.1 atraviesa las cinco puertas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candidato no es perfecto por sonar técnico: es aceptable porque cada parte puede rastrearse y observarse.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2395728"/>
            <a:ext cx="3822192" cy="3182112"/>
          </a:xfrm>
          <a:prstGeom prst="roundRect">
            <a:avLst>
              <a:gd name="adj" fmla="val 20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70432" y="27614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70432" y="329184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1170432" y="4224528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48828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mensaje con rango 1.0–7.0</a:t>
            </a:r>
            <a:endParaRPr lang="en-US" sz="1340" dirty="0"/>
          </a:p>
        </p:txBody>
      </p:sp>
      <p:sp>
        <p:nvSpPr>
          <p:cNvPr id="16" name="Shape 13"/>
          <p:cNvSpPr/>
          <p:nvPr/>
        </p:nvSpPr>
        <p:spPr>
          <a:xfrm>
            <a:off x="5175504" y="2487168"/>
            <a:ext cx="402336" cy="4023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75504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797296" y="248716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</a:t>
            </a:r>
            <a:endParaRPr lang="en-US" sz="920" dirty="0"/>
          </a:p>
        </p:txBody>
      </p:sp>
      <p:sp>
        <p:nvSpPr>
          <p:cNvPr id="19" name="Text 16"/>
          <p:cNvSpPr txBox="1"/>
          <p:nvPr/>
        </p:nvSpPr>
        <p:spPr>
          <a:xfrm>
            <a:off x="7260336" y="2414016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2, 4 y 5</a:t>
            </a:r>
            <a:endParaRPr lang="en-US" sz="1420" dirty="0"/>
          </a:p>
        </p:txBody>
      </p:sp>
      <p:sp>
        <p:nvSpPr>
          <p:cNvPr id="20" name="Shape 17"/>
          <p:cNvSpPr/>
          <p:nvPr/>
        </p:nvSpPr>
        <p:spPr>
          <a:xfrm>
            <a:off x="5175504" y="3127248"/>
            <a:ext cx="402336" cy="40233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175504" y="31272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797296" y="312724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</a:t>
            </a:r>
            <a:endParaRPr lang="en-US" sz="920" dirty="0"/>
          </a:p>
        </p:txBody>
      </p:sp>
      <p:sp>
        <p:nvSpPr>
          <p:cNvPr id="23" name="Text 20"/>
          <p:cNvSpPr txBox="1"/>
          <p:nvPr/>
        </p:nvSpPr>
        <p:spPr>
          <a:xfrm>
            <a:off x="7260336" y="3054096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excepción + mensaje</a:t>
            </a:r>
            <a:endParaRPr lang="en-US" sz="1420" dirty="0"/>
          </a:p>
        </p:txBody>
      </p:sp>
      <p:sp>
        <p:nvSpPr>
          <p:cNvPr id="24" name="Shape 21"/>
          <p:cNvSpPr/>
          <p:nvPr/>
        </p:nvSpPr>
        <p:spPr>
          <a:xfrm>
            <a:off x="5175504" y="3767328"/>
            <a:ext cx="402336" cy="402336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175504" y="3767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797296" y="376732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</a:t>
            </a:r>
            <a:endParaRPr lang="en-US" sz="920" dirty="0"/>
          </a:p>
        </p:txBody>
      </p:sp>
      <p:sp>
        <p:nvSpPr>
          <p:cNvPr id="27" name="Text 24"/>
          <p:cNvSpPr txBox="1"/>
          <p:nvPr/>
        </p:nvSpPr>
        <p:spPr>
          <a:xfrm>
            <a:off x="7260336" y="3694176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sobre el máximo</a:t>
            </a:r>
            <a:endParaRPr lang="en-US" sz="1420" dirty="0"/>
          </a:p>
        </p:txBody>
      </p:sp>
      <p:sp>
        <p:nvSpPr>
          <p:cNvPr id="28" name="Shape 25"/>
          <p:cNvSpPr/>
          <p:nvPr/>
        </p:nvSpPr>
        <p:spPr>
          <a:xfrm>
            <a:off x="5175504" y="4407408"/>
            <a:ext cx="402336" cy="402336"/>
          </a:xfrm>
          <a:prstGeom prst="ellipse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75504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797296" y="440740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20" dirty="0"/>
          </a:p>
        </p:txBody>
      </p:sp>
      <p:sp>
        <p:nvSpPr>
          <p:cNvPr id="31" name="Text 28"/>
          <p:cNvSpPr txBox="1"/>
          <p:nvPr/>
        </p:nvSpPr>
        <p:spPr>
          <a:xfrm>
            <a:off x="7260336" y="4334256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</a:t>
            </a:r>
            <a:endParaRPr lang="en-US" sz="1420" dirty="0"/>
          </a:p>
        </p:txBody>
      </p:sp>
      <p:sp>
        <p:nvSpPr>
          <p:cNvPr id="32" name="Shape 29"/>
          <p:cNvSpPr/>
          <p:nvPr/>
        </p:nvSpPr>
        <p:spPr>
          <a:xfrm>
            <a:off x="5175504" y="5047488"/>
            <a:ext cx="402336" cy="40233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75504" y="5047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797296" y="5047488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20" dirty="0"/>
          </a:p>
        </p:txBody>
      </p:sp>
      <p:sp>
        <p:nvSpPr>
          <p:cNvPr id="35" name="Text 32"/>
          <p:cNvSpPr txBox="1"/>
          <p:nvPr/>
        </p:nvSpPr>
        <p:spPr>
          <a:xfrm>
            <a:off x="7260336" y="4974336"/>
            <a:ext cx="3236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funciones nuevas</a:t>
            </a:r>
            <a:endParaRPr lang="en-US" sz="1420" dirty="0"/>
          </a:p>
        </p:txBody>
      </p:sp>
      <p:sp>
        <p:nvSpPr>
          <p:cNvPr id="36" name="Shape 33"/>
          <p:cNvSpPr/>
          <p:nvPr/>
        </p:nvSpPr>
        <p:spPr>
          <a:xfrm>
            <a:off x="6144768" y="5687568"/>
            <a:ext cx="3986784" cy="438912"/>
          </a:xfrm>
          <a:prstGeom prst="roundRect">
            <a:avLst>
              <a:gd name="adj" fmla="val 10417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437376" y="5687568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ACEPTADO · listo para la ficha</a:t>
            </a:r>
            <a:endParaRPr lang="en-US" sz="138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· REGISTRAR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ficha final reúne decisiones y evidencia planificada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criterios aceptados quedan junto a la trazabilidad y al juicio sobre las propuestas del agente.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86384" y="2286000"/>
            <a:ext cx="7022592" cy="3621024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86384" y="2286000"/>
            <a:ext cx="7022592" cy="4572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78992" y="2286000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auditoria-calidad.md · ficha priorizada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2926080"/>
            <a:ext cx="6254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[ID] · [Característica]</a:t>
            </a:r>
            <a:endParaRPr lang="en-US" sz="118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330098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880" dirty="0"/>
          </a:p>
        </p:txBody>
      </p:sp>
      <p:sp>
        <p:nvSpPr>
          <p:cNvPr id="16" name="Text 13"/>
          <p:cNvSpPr txBox="1"/>
          <p:nvPr/>
        </p:nvSpPr>
        <p:spPr>
          <a:xfrm>
            <a:off x="2578608" y="3273552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reglas del brief</a:t>
            </a:r>
            <a:endParaRPr lang="en-US" sz="126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" y="367588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880" dirty="0"/>
          </a:p>
        </p:txBody>
      </p:sp>
      <p:sp>
        <p:nvSpPr>
          <p:cNvPr id="18" name="Text 15"/>
          <p:cNvSpPr txBox="1"/>
          <p:nvPr/>
        </p:nvSpPr>
        <p:spPr>
          <a:xfrm>
            <a:off x="2578608" y="3648456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consecuencia que se quiere reducir</a:t>
            </a:r>
            <a:endParaRPr lang="en-US" sz="126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" y="405079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</a:t>
            </a:r>
            <a:endParaRPr lang="en-US" sz="880" dirty="0"/>
          </a:p>
        </p:txBody>
      </p:sp>
      <p:sp>
        <p:nvSpPr>
          <p:cNvPr id="20" name="Text 17"/>
          <p:cNvSpPr txBox="1"/>
          <p:nvPr/>
        </p:nvSpPr>
        <p:spPr>
          <a:xfrm>
            <a:off x="2578608" y="4023360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entrada, contexto o estado</a:t>
            </a:r>
            <a:endParaRPr lang="en-US" sz="1260" dirty="0"/>
          </a:p>
        </p:txBody>
      </p:sp>
      <p:sp>
        <p:nvSpPr>
          <p:cNvPr id="21" name="Text 18"/>
          <p:cNvSpPr txBox="1"/>
          <p:nvPr/>
        </p:nvSpPr>
        <p:spPr>
          <a:xfrm>
            <a:off x="1115568" y="442569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COMPORTAMIENTO</a:t>
            </a:r>
            <a:endParaRPr lang="en-US" sz="880" dirty="0"/>
          </a:p>
        </p:txBody>
      </p:sp>
      <p:sp>
        <p:nvSpPr>
          <p:cNvPr id="22" name="Text 19"/>
          <p:cNvSpPr txBox="1"/>
          <p:nvPr/>
        </p:nvSpPr>
        <p:spPr>
          <a:xfrm>
            <a:off x="2578608" y="439826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1260" dirty="0"/>
          </a:p>
        </p:txBody>
      </p:sp>
      <p:sp>
        <p:nvSpPr>
          <p:cNvPr id="23" name="Text 20"/>
          <p:cNvSpPr txBox="1"/>
          <p:nvPr/>
        </p:nvSpPr>
        <p:spPr>
          <a:xfrm>
            <a:off x="1115568" y="48006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80" dirty="0"/>
          </a:p>
        </p:txBody>
      </p:sp>
      <p:sp>
        <p:nvSpPr>
          <p:cNvPr id="24" name="Text 21"/>
          <p:cNvSpPr txBox="1"/>
          <p:nvPr/>
        </p:nvSpPr>
        <p:spPr>
          <a:xfrm>
            <a:off x="2578608" y="4773168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o revisión planificada</a:t>
            </a:r>
            <a:endParaRPr lang="en-US" sz="1260" dirty="0"/>
          </a:p>
        </p:txBody>
      </p:sp>
      <p:sp>
        <p:nvSpPr>
          <p:cNvPr id="25" name="Text 22"/>
          <p:cNvSpPr txBox="1"/>
          <p:nvPr/>
        </p:nvSpPr>
        <p:spPr>
          <a:xfrm>
            <a:off x="1115568" y="517550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b="1" spc="6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</a:t>
            </a:r>
            <a:endParaRPr lang="en-US" sz="880" dirty="0"/>
          </a:p>
        </p:txBody>
      </p:sp>
      <p:sp>
        <p:nvSpPr>
          <p:cNvPr id="26" name="Text 23"/>
          <p:cNvSpPr txBox="1"/>
          <p:nvPr/>
        </p:nvSpPr>
        <p:spPr>
          <a:xfrm>
            <a:off x="2578608" y="5148072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ACEPTADO | REQUIERE DECISIÓN</a:t>
            </a:r>
            <a:endParaRPr lang="en-US" sz="1260" dirty="0"/>
          </a:p>
        </p:txBody>
      </p:sp>
      <p:sp>
        <p:nvSpPr>
          <p:cNvPr id="27" name="Text 24"/>
          <p:cNvSpPr txBox="1"/>
          <p:nvPr/>
        </p:nvSpPr>
        <p:spPr>
          <a:xfrm>
            <a:off x="8339328" y="248716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SOBRE EL AGENTE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613648" y="3072384"/>
            <a:ext cx="2066544" cy="438912"/>
          </a:xfrm>
          <a:prstGeom prst="roundRect">
            <a:avLst>
              <a:gd name="adj" fmla="val 125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723376" y="3072384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ACEPTADA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8613648" y="3730752"/>
            <a:ext cx="2066544" cy="438912"/>
          </a:xfrm>
          <a:prstGeom prst="roundRect">
            <a:avLst>
              <a:gd name="adj" fmla="val 1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23376" y="3730752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MODIFICADA</a:t>
            </a:r>
            <a:endParaRPr lang="en-US" sz="920" dirty="0"/>
          </a:p>
        </p:txBody>
      </p:sp>
      <p:sp>
        <p:nvSpPr>
          <p:cNvPr id="32" name="Shape 29"/>
          <p:cNvSpPr/>
          <p:nvPr/>
        </p:nvSpPr>
        <p:spPr>
          <a:xfrm>
            <a:off x="8613648" y="4389120"/>
            <a:ext cx="2066544" cy="438912"/>
          </a:xfrm>
          <a:prstGeom prst="roundRect">
            <a:avLst>
              <a:gd name="adj" fmla="val 12500"/>
            </a:avLst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723376" y="4389120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POSTERGADA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8613648" y="5047488"/>
            <a:ext cx="2066544" cy="438912"/>
          </a:xfrm>
          <a:prstGeom prst="roundRect">
            <a:avLst>
              <a:gd name="adj" fmla="val 125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23376" y="5047488"/>
            <a:ext cx="184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RECHAZADA</a:t>
            </a:r>
            <a:endParaRPr lang="en-US" sz="920" dirty="0"/>
          </a:p>
        </p:txBody>
      </p:sp>
      <p:sp>
        <p:nvSpPr>
          <p:cNvPr id="36" name="Shape 33"/>
          <p:cNvSpPr/>
          <p:nvPr/>
        </p:nvSpPr>
        <p:spPr>
          <a:xfrm>
            <a:off x="8284464" y="5650992"/>
            <a:ext cx="2724912" cy="347472"/>
          </a:xfrm>
          <a:prstGeom prst="roundRect">
            <a:avLst>
              <a:gd name="adj" fmla="val 105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540496" y="5650992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criterios aceptados</a:t>
            </a:r>
            <a:endParaRPr lang="en-US" sz="122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4.5 · AUTORREVISAR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preguntas intentan romper el criterio antes de cerrarlo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una respuesta depende de una suposición, el criterio vuelve a edición.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1248" y="2414016"/>
            <a:ext cx="5047488" cy="1335024"/>
          </a:xfrm>
          <a:prstGeom prst="roundRect">
            <a:avLst>
              <a:gd name="adj" fmla="val 479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15568" y="2651760"/>
            <a:ext cx="1225296" cy="384048"/>
          </a:xfrm>
          <a:prstGeom prst="roundRect">
            <a:avLst>
              <a:gd name="adj" fmla="val 1428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225296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860" dirty="0"/>
          </a:p>
        </p:txBody>
      </p:sp>
      <p:sp>
        <p:nvSpPr>
          <p:cNvPr id="14" name="Text 11"/>
          <p:cNvSpPr txBox="1"/>
          <p:nvPr/>
        </p:nvSpPr>
        <p:spPr>
          <a:xfrm>
            <a:off x="2596896" y="261518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¿Puedo localizar la regla que lo origina?</a:t>
            </a:r>
            <a:endParaRPr lang="en-US" sz="1520" dirty="0"/>
          </a:p>
        </p:txBody>
      </p:sp>
      <p:sp>
        <p:nvSpPr>
          <p:cNvPr id="15" name="Shape 12"/>
          <p:cNvSpPr/>
          <p:nvPr/>
        </p:nvSpPr>
        <p:spPr>
          <a:xfrm>
            <a:off x="6309360" y="2414016"/>
            <a:ext cx="5047488" cy="1335024"/>
          </a:xfrm>
          <a:prstGeom prst="roundRect">
            <a:avLst>
              <a:gd name="adj" fmla="val 479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83680" y="2651760"/>
            <a:ext cx="1225296" cy="384048"/>
          </a:xfrm>
          <a:prstGeom prst="roundRect">
            <a:avLst>
              <a:gd name="adj" fmla="val 1428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93408" y="2651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OBSERVACIÓN</a:t>
            </a:r>
            <a:endParaRPr lang="en-US" sz="860" dirty="0"/>
          </a:p>
        </p:txBody>
      </p:sp>
      <p:sp>
        <p:nvSpPr>
          <p:cNvPr id="18" name="Text 15"/>
          <p:cNvSpPr txBox="1"/>
          <p:nvPr/>
        </p:nvSpPr>
        <p:spPr>
          <a:xfrm>
            <a:off x="8065008" y="2615184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¿Sé exactamente qué tendría que mirar?</a:t>
            </a:r>
            <a:endParaRPr lang="en-US" sz="1520" dirty="0"/>
          </a:p>
        </p:txBody>
      </p:sp>
      <p:sp>
        <p:nvSpPr>
          <p:cNvPr id="19" name="Shape 16"/>
          <p:cNvSpPr/>
          <p:nvPr/>
        </p:nvSpPr>
        <p:spPr>
          <a:xfrm>
            <a:off x="841248" y="4169664"/>
            <a:ext cx="5047488" cy="1335024"/>
          </a:xfrm>
          <a:prstGeom prst="roundRect">
            <a:avLst>
              <a:gd name="adj" fmla="val 4795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15568" y="4407408"/>
            <a:ext cx="1225296" cy="384048"/>
          </a:xfrm>
          <a:prstGeom prst="roundRect">
            <a:avLst>
              <a:gd name="adj" fmla="val 14286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25296" y="44074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FALSACIÓN</a:t>
            </a:r>
            <a:endParaRPr lang="en-US" sz="860" dirty="0"/>
          </a:p>
        </p:txBody>
      </p:sp>
      <p:sp>
        <p:nvSpPr>
          <p:cNvPr id="22" name="Text 19"/>
          <p:cNvSpPr txBox="1"/>
          <p:nvPr/>
        </p:nvSpPr>
        <p:spPr>
          <a:xfrm>
            <a:off x="2596896" y="4370832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evidencia podría contradecir la afirmación?</a:t>
            </a:r>
            <a:endParaRPr lang="en-US" sz="1520" dirty="0"/>
          </a:p>
        </p:txBody>
      </p:sp>
      <p:sp>
        <p:nvSpPr>
          <p:cNvPr id="23" name="Shape 20"/>
          <p:cNvSpPr/>
          <p:nvPr/>
        </p:nvSpPr>
        <p:spPr>
          <a:xfrm>
            <a:off x="6309360" y="4169664"/>
            <a:ext cx="5047488" cy="1335024"/>
          </a:xfrm>
          <a:prstGeom prst="roundRect">
            <a:avLst>
              <a:gd name="adj" fmla="val 47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0" y="4407408"/>
            <a:ext cx="1225296" cy="384048"/>
          </a:xfrm>
          <a:prstGeom prst="roundRect">
            <a:avLst>
              <a:gd name="adj" fmla="val 14286"/>
            </a:avLst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93408" y="44074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AUTORIDAD</a:t>
            </a:r>
            <a:endParaRPr lang="en-US" sz="860" dirty="0"/>
          </a:p>
        </p:txBody>
      </p:sp>
      <p:sp>
        <p:nvSpPr>
          <p:cNvPr id="26" name="Text 23"/>
          <p:cNvSpPr txBox="1"/>
          <p:nvPr/>
        </p:nvSpPr>
        <p:spPr>
          <a:xfrm>
            <a:off x="8065008" y="4370832"/>
            <a:ext cx="2871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¿Aparece una decisión que el brief nunca entregó?</a:t>
            </a:r>
            <a:endParaRPr lang="en-US" sz="1520" dirty="0"/>
          </a:p>
        </p:txBody>
      </p:sp>
      <p:sp>
        <p:nvSpPr>
          <p:cNvPr id="27" name="Shape 24"/>
          <p:cNvSpPr/>
          <p:nvPr/>
        </p:nvSpPr>
        <p:spPr>
          <a:xfrm>
            <a:off x="5431536" y="3401568"/>
            <a:ext cx="1298448" cy="129844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31536" y="3401568"/>
            <a:ext cx="12984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3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PUNTO DE CONTROL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ficha queda lista cuando puede defender cinco decisiones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marca debe estar visible en auditoria-calidad.md y poder explicarse sin recurrir a intención implícita.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86384" y="2286000"/>
            <a:ext cx="457200" cy="457200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481328" y="2340864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090672" y="2249424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01568" y="2249424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prioridades justificadas por contexto, impacto y vacío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786384" y="2962656"/>
            <a:ext cx="457200" cy="457200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6384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481328" y="301752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090672" y="2926080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01568" y="2926080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expectativas aceptadas y trazables al brief</a:t>
            </a:r>
            <a:endParaRPr lang="en-US" sz="1440" dirty="0"/>
          </a:p>
        </p:txBody>
      </p:sp>
      <p:sp>
        <p:nvSpPr>
          <p:cNvPr id="21" name="Shape 18"/>
          <p:cNvSpPr/>
          <p:nvPr/>
        </p:nvSpPr>
        <p:spPr>
          <a:xfrm>
            <a:off x="786384" y="3639312"/>
            <a:ext cx="457200" cy="457200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81328" y="3694176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090672" y="3602736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01568" y="3602736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comprobación planificada para cada criterio</a:t>
            </a:r>
            <a:endParaRPr lang="en-US" sz="1440" dirty="0"/>
          </a:p>
        </p:txBody>
      </p:sp>
      <p:sp>
        <p:nvSpPr>
          <p:cNvPr id="26" name="Shape 23"/>
          <p:cNvSpPr/>
          <p:nvPr/>
        </p:nvSpPr>
        <p:spPr>
          <a:xfrm>
            <a:off x="786384" y="4315968"/>
            <a:ext cx="457200" cy="457200"/>
          </a:xfrm>
          <a:prstGeom prst="ellipse">
            <a:avLst/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86384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481328" y="437083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1F8A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090672" y="4279392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401568" y="4279392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Decisiones justificadas sobre sus propuestas</a:t>
            </a:r>
            <a:endParaRPr lang="en-US" sz="1440" dirty="0"/>
          </a:p>
        </p:txBody>
      </p:sp>
      <p:sp>
        <p:nvSpPr>
          <p:cNvPr id="31" name="Shape 28"/>
          <p:cNvSpPr/>
          <p:nvPr/>
        </p:nvSpPr>
        <p:spPr>
          <a:xfrm>
            <a:off x="786384" y="4992624"/>
            <a:ext cx="457200" cy="45720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6384" y="4992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481328" y="5047488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090672" y="4956048"/>
            <a:ext cx="8174736" cy="530352"/>
          </a:xfrm>
          <a:prstGeom prst="roundRect">
            <a:avLst>
              <a:gd name="adj" fmla="val 862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01568" y="4956048"/>
            <a:ext cx="7534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segunda lectura incorporada antes del cierre</a:t>
            </a:r>
            <a:endParaRPr lang="en-US" sz="1440" dirty="0"/>
          </a:p>
        </p:txBody>
      </p:sp>
      <p:sp>
        <p:nvSpPr>
          <p:cNvPr id="36" name="Shape 33"/>
          <p:cNvSpPr/>
          <p:nvPr/>
        </p:nvSpPr>
        <p:spPr>
          <a:xfrm>
            <a:off x="2011680" y="5742432"/>
            <a:ext cx="8174736" cy="420624"/>
          </a:xfrm>
          <a:prstGeom prst="roundRect">
            <a:avLst>
              <a:gd name="adj" fmla="val 869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322576" y="5742432"/>
            <a:ext cx="7552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meta no es una ficha perfecta: es una ficha más verificable que la opinión inicial.</a:t>
            </a:r>
            <a:endParaRPr lang="en-US" sz="136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PREGUNTAS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para defender un criterio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pista orienta el análisis sin entregar la respuesta.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49808" y="2322576"/>
            <a:ext cx="530352" cy="53035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23225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2249424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detectar un riesgo no autoriza a decidir el comportamiento correcto?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554480" y="2871216"/>
            <a:ext cx="9637776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554480" y="2871216"/>
            <a:ext cx="73152" cy="4572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810512" y="2871216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20" dirty="0"/>
          </a:p>
        </p:txBody>
      </p:sp>
      <p:sp>
        <p:nvSpPr>
          <p:cNvPr id="17" name="Text 14"/>
          <p:cNvSpPr txBox="1"/>
          <p:nvPr/>
        </p:nvSpPr>
        <p:spPr>
          <a:xfrm>
            <a:off x="2688336" y="2871216"/>
            <a:ext cx="8156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 el hallazgo técnico de la fuente que define la necesidad o regla del producto.</a:t>
            </a:r>
            <a:endParaRPr lang="en-US" sz="1280" dirty="0"/>
          </a:p>
        </p:txBody>
      </p:sp>
      <p:sp>
        <p:nvSpPr>
          <p:cNvPr id="18" name="Shape 15"/>
          <p:cNvSpPr/>
          <p:nvPr/>
        </p:nvSpPr>
        <p:spPr>
          <a:xfrm>
            <a:off x="749808" y="3621024"/>
            <a:ext cx="530352" cy="53035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9808" y="3621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3547872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diferencia un criterio verificable de una recomendación general?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1554480" y="4169664"/>
            <a:ext cx="9637776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554480" y="4169664"/>
            <a:ext cx="73152" cy="4572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810512" y="4169664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9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20" dirty="0"/>
          </a:p>
        </p:txBody>
      </p:sp>
      <p:sp>
        <p:nvSpPr>
          <p:cNvPr id="24" name="Text 21"/>
          <p:cNvSpPr txBox="1"/>
          <p:nvPr/>
        </p:nvSpPr>
        <p:spPr>
          <a:xfrm>
            <a:off x="2688336" y="4169664"/>
            <a:ext cx="8156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condición, resultado, fuente y una evidencia capaz de aprobarlo o contradecirlo.</a:t>
            </a:r>
            <a:endParaRPr lang="en-US" sz="1280" dirty="0"/>
          </a:p>
        </p:txBody>
      </p:sp>
      <p:sp>
        <p:nvSpPr>
          <p:cNvPr id="25" name="Shape 22"/>
          <p:cNvSpPr/>
          <p:nvPr/>
        </p:nvSpPr>
        <p:spPr>
          <a:xfrm>
            <a:off x="749808" y="4919472"/>
            <a:ext cx="530352" cy="53035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49808" y="4919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1554480" y="4846320"/>
            <a:ext cx="9784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¿Cuándo conviene postergar una propuesta en vez de rechazarla?</a:t>
            </a:r>
            <a:endParaRPr lang="en-US" sz="1750" dirty="0"/>
          </a:p>
        </p:txBody>
      </p:sp>
      <p:sp>
        <p:nvSpPr>
          <p:cNvPr id="28" name="Shape 25"/>
          <p:cNvSpPr/>
          <p:nvPr/>
        </p:nvSpPr>
        <p:spPr>
          <a:xfrm>
            <a:off x="1554480" y="5468112"/>
            <a:ext cx="9637776" cy="457200"/>
          </a:xfrm>
          <a:prstGeom prst="roundRect">
            <a:avLst>
              <a:gd name="adj" fmla="val 800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554480" y="5468112"/>
            <a:ext cx="73152" cy="45720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810512" y="5468112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920" dirty="0"/>
          </a:p>
        </p:txBody>
      </p:sp>
      <p:sp>
        <p:nvSpPr>
          <p:cNvPr id="31" name="Text 28"/>
          <p:cNvSpPr txBox="1"/>
          <p:nvPr/>
        </p:nvSpPr>
        <p:spPr>
          <a:xfrm>
            <a:off x="2688336" y="5468112"/>
            <a:ext cx="8156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8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Distingue una idea incompatible de una pregunta válida que aún necesita decisión autorizada.</a:t>
            </a:r>
            <a:endParaRPr lang="en-US" sz="128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BLOQUE 4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29844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necesidad autoriza</a:t>
            </a:r>
            <a:endParaRPr lang="en-US" sz="3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93852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evidencia confronta</a:t>
            </a:r>
            <a:endParaRPr lang="en-US" sz="370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993392" cy="1225296"/>
          </a:xfrm>
          <a:prstGeom prst="roundRect">
            <a:avLst>
              <a:gd name="adj" fmla="val 447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5478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</a:t>
            </a:r>
            <a:endParaRPr lang="en-US" sz="94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2706624" y="3639312"/>
            <a:ext cx="12801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35224" y="3273552"/>
            <a:ext cx="1993392" cy="1225296"/>
          </a:xfrm>
          <a:prstGeom prst="roundRect">
            <a:avLst>
              <a:gd name="adj" fmla="val 447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99816" y="35478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3099816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prioridad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4983480" y="3639312"/>
            <a:ext cx="12801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212080" y="3035808"/>
            <a:ext cx="1993392" cy="1499616"/>
          </a:xfrm>
          <a:prstGeom prst="roundRect">
            <a:avLst>
              <a:gd name="adj" fmla="val 365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76672" y="3383280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40" dirty="0"/>
          </a:p>
        </p:txBody>
      </p:sp>
      <p:sp>
        <p:nvSpPr>
          <p:cNvPr id="21" name="Text 18"/>
          <p:cNvSpPr txBox="1"/>
          <p:nvPr/>
        </p:nvSpPr>
        <p:spPr>
          <a:xfrm>
            <a:off x="5376672" y="38221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7260336" y="3639312"/>
            <a:ext cx="12801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88936" y="3273552"/>
            <a:ext cx="1993392" cy="1225296"/>
          </a:xfrm>
          <a:prstGeom prst="roundRect">
            <a:avLst>
              <a:gd name="adj" fmla="val 4478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653528" y="35478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40" dirty="0"/>
          </a:p>
        </p:txBody>
      </p:sp>
      <p:sp>
        <p:nvSpPr>
          <p:cNvPr id="25" name="Text 22"/>
          <p:cNvSpPr txBox="1"/>
          <p:nvPr/>
        </p:nvSpPr>
        <p:spPr>
          <a:xfrm>
            <a:off x="7653528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9537192" y="3639312"/>
            <a:ext cx="128016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765792" y="3273552"/>
            <a:ext cx="199339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930384" y="3547872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940" dirty="0"/>
          </a:p>
        </p:txBody>
      </p:sp>
      <p:sp>
        <p:nvSpPr>
          <p:cNvPr id="29" name="Text 26"/>
          <p:cNvSpPr txBox="1"/>
          <p:nvPr/>
        </p:nvSpPr>
        <p:spPr>
          <a:xfrm>
            <a:off x="9930384" y="391363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juicio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1335024" y="5212080"/>
            <a:ext cx="9528048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664208" y="5212080"/>
            <a:ext cx="8869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 tenemos modelo, auditoría y criterios. Falta reunir qué podemos demostrar y preparar la diferencia entre verificar y validar.</a:t>
            </a:r>
            <a:endParaRPr lang="en-US" sz="15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498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DE LA CLASE · 10 MINUTOS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53312"/>
            <a:ext cx="6583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“funciona”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29968"/>
            <a:ext cx="100766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“esto podemos demostrar”</a:t>
            </a:r>
            <a:endParaRPr lang="en-US" sz="3900" dirty="0"/>
          </a:p>
        </p:txBody>
      </p:sp>
      <p:sp>
        <p:nvSpPr>
          <p:cNvPr id="11" name="Shape 8"/>
          <p:cNvSpPr/>
          <p:nvPr/>
        </p:nvSpPr>
        <p:spPr>
          <a:xfrm>
            <a:off x="822960" y="3401568"/>
            <a:ext cx="4206240" cy="1316736"/>
          </a:xfrm>
          <a:prstGeom prst="roundRect">
            <a:avLst>
              <a:gd name="adj" fmla="val 4861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33856" y="367588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2231136" y="3401568"/>
            <a:ext cx="2468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pruebas en verde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559552" y="3401568"/>
            <a:ext cx="5760720" cy="1316736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70448" y="3675888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9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967728" y="3401568"/>
            <a:ext cx="40233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+ riesgos + criterios + evidencia</a:t>
            </a:r>
            <a:endParaRPr lang="en-US" sz="1850" dirty="0"/>
          </a:p>
        </p:txBody>
      </p:sp>
      <p:sp>
        <p:nvSpPr>
          <p:cNvPr id="17" name="Shape 14"/>
          <p:cNvSpPr/>
          <p:nvPr/>
        </p:nvSpPr>
        <p:spPr>
          <a:xfrm>
            <a:off x="1554480" y="5376672"/>
            <a:ext cx="9089136" cy="512064"/>
          </a:xfrm>
          <a:prstGeom prst="roundRect">
            <a:avLst>
              <a:gd name="adj" fmla="val 8929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865376" y="5376672"/>
            <a:ext cx="8467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25010 no reemplazó los controles: les dio contexto.</a:t>
            </a:r>
            <a:endParaRPr lang="en-US" sz="152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RECORRIDO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sesión amplió progresivamente lo que podíamos afirmar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capa agregó contexto sin borrar la evidencia técnica que ya existía.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68096" y="2377440"/>
            <a:ext cx="332841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128" y="2560320"/>
            <a:ext cx="1133856" cy="365760"/>
          </a:xfrm>
          <a:prstGeom prst="roundRect">
            <a:avLst>
              <a:gd name="adj" fmla="val 1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33856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840" dirty="0"/>
          </a:p>
        </p:txBody>
      </p:sp>
      <p:sp>
        <p:nvSpPr>
          <p:cNvPr id="14" name="Text 11"/>
          <p:cNvSpPr txBox="1"/>
          <p:nvPr/>
        </p:nvSpPr>
        <p:spPr>
          <a:xfrm>
            <a:off x="2377440" y="2377440"/>
            <a:ext cx="14081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passed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4187952" y="2743200"/>
            <a:ext cx="2011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3712" y="2377440"/>
            <a:ext cx="332841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09744" y="2560320"/>
            <a:ext cx="1133856" cy="365760"/>
          </a:xfrm>
          <a:prstGeom prst="roundRect">
            <a:avLst>
              <a:gd name="adj" fmla="val 1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19472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840" dirty="0"/>
          </a:p>
        </p:txBody>
      </p:sp>
      <p:sp>
        <p:nvSpPr>
          <p:cNvPr id="19" name="Text 16"/>
          <p:cNvSpPr txBox="1"/>
          <p:nvPr/>
        </p:nvSpPr>
        <p:spPr>
          <a:xfrm>
            <a:off x="6163056" y="2377440"/>
            <a:ext cx="14081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observan</a:t>
            </a:r>
            <a:endParaRPr lang="en-US" sz="1420" dirty="0"/>
          </a:p>
        </p:txBody>
      </p:sp>
      <p:sp>
        <p:nvSpPr>
          <p:cNvPr id="20" name="Shape 17"/>
          <p:cNvSpPr/>
          <p:nvPr/>
        </p:nvSpPr>
        <p:spPr>
          <a:xfrm>
            <a:off x="7973568" y="2743200"/>
            <a:ext cx="2011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39328" y="2377440"/>
            <a:ext cx="332841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95360" y="2560320"/>
            <a:ext cx="1133856" cy="365760"/>
          </a:xfrm>
          <a:prstGeom prst="roundRect">
            <a:avLst>
              <a:gd name="adj" fmla="val 15000"/>
            </a:avLst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05088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9948672" y="2377440"/>
            <a:ext cx="14081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preguntas</a:t>
            </a:r>
            <a:endParaRPr lang="en-US" sz="1420" dirty="0"/>
          </a:p>
        </p:txBody>
      </p:sp>
      <p:sp>
        <p:nvSpPr>
          <p:cNvPr id="25" name="Shape 22"/>
          <p:cNvSpPr/>
          <p:nvPr/>
        </p:nvSpPr>
        <p:spPr>
          <a:xfrm>
            <a:off x="8339328" y="4133088"/>
            <a:ext cx="332841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95360" y="4315968"/>
            <a:ext cx="1133856" cy="365760"/>
          </a:xfrm>
          <a:prstGeom prst="roundRect">
            <a:avLst>
              <a:gd name="adj" fmla="val 15000"/>
            </a:avLst>
          </a:prstGeom>
          <a:solidFill>
            <a:srgbClr val="1F8A9B"/>
          </a:solidFill>
          <a:ln w="12700">
            <a:solidFill>
              <a:srgbClr val="1F8A9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05088" y="4315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</a:t>
            </a:r>
            <a:endParaRPr lang="en-US" sz="840" dirty="0"/>
          </a:p>
        </p:txBody>
      </p:sp>
      <p:sp>
        <p:nvSpPr>
          <p:cNvPr id="28" name="Text 25"/>
          <p:cNvSpPr txBox="1"/>
          <p:nvPr/>
        </p:nvSpPr>
        <p:spPr>
          <a:xfrm>
            <a:off x="9948672" y="4133088"/>
            <a:ext cx="14081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y vacíos</a:t>
            </a:r>
            <a:endParaRPr lang="en-US" sz="1420" dirty="0"/>
          </a:p>
        </p:txBody>
      </p:sp>
      <p:sp>
        <p:nvSpPr>
          <p:cNvPr id="29" name="Shape 26"/>
          <p:cNvSpPr/>
          <p:nvPr/>
        </p:nvSpPr>
        <p:spPr>
          <a:xfrm>
            <a:off x="8028432" y="4498848"/>
            <a:ext cx="2011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553712" y="4133088"/>
            <a:ext cx="3328416" cy="1170432"/>
          </a:xfrm>
          <a:prstGeom prst="roundRect">
            <a:avLst>
              <a:gd name="adj" fmla="val 468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09744" y="4315968"/>
            <a:ext cx="1133856" cy="365760"/>
          </a:xfrm>
          <a:prstGeom prst="roundRect">
            <a:avLst>
              <a:gd name="adj" fmla="val 1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19472" y="4315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</a:t>
            </a:r>
            <a:endParaRPr lang="en-US" sz="840" dirty="0"/>
          </a:p>
        </p:txBody>
      </p:sp>
      <p:sp>
        <p:nvSpPr>
          <p:cNvPr id="33" name="Text 30"/>
          <p:cNvSpPr txBox="1"/>
          <p:nvPr/>
        </p:nvSpPr>
        <p:spPr>
          <a:xfrm>
            <a:off x="6163056" y="4133088"/>
            <a:ext cx="14081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expectativas trazables</a:t>
            </a:r>
            <a:endParaRPr lang="en-US" sz="1420" dirty="0"/>
          </a:p>
        </p:txBody>
      </p:sp>
      <p:sp>
        <p:nvSpPr>
          <p:cNvPr id="34" name="Shape 31"/>
          <p:cNvSpPr/>
          <p:nvPr/>
        </p:nvSpPr>
        <p:spPr>
          <a:xfrm>
            <a:off x="4242816" y="4498848"/>
            <a:ext cx="201168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68096" y="4133088"/>
            <a:ext cx="332841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24128" y="4315968"/>
            <a:ext cx="1133856" cy="365760"/>
          </a:xfrm>
          <a:prstGeom prst="roundRect">
            <a:avLst>
              <a:gd name="adj" fmla="val 1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133856" y="43159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840" dirty="0"/>
          </a:p>
        </p:txBody>
      </p:sp>
      <p:sp>
        <p:nvSpPr>
          <p:cNvPr id="38" name="Text 35"/>
          <p:cNvSpPr txBox="1"/>
          <p:nvPr/>
        </p:nvSpPr>
        <p:spPr>
          <a:xfrm>
            <a:off x="2377440" y="4133088"/>
            <a:ext cx="14081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afirmación proporcional</a:t>
            </a:r>
            <a:endParaRPr lang="en-US" sz="1420" dirty="0"/>
          </a:p>
        </p:txBody>
      </p:sp>
      <p:sp>
        <p:nvSpPr>
          <p:cNvPr id="39" name="Shape 36"/>
          <p:cNvSpPr/>
          <p:nvPr/>
        </p:nvSpPr>
        <p:spPr>
          <a:xfrm>
            <a:off x="11119104" y="3566160"/>
            <a:ext cx="0" cy="402336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1682496" y="5742432"/>
            <a:ext cx="8833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calidad dejó de ser un adjetivo y se convirtió en una cadena revisable.</a:t>
            </a:r>
            <a:endParaRPr lang="en-US" sz="148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EVIDENCIA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archivo final conserva seis capas de razonamiento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auditoria-calidad.md no certifica el producto: documenta qué observamos, decidimos y necesitamos comprobar.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322576"/>
            <a:ext cx="5193792" cy="804672"/>
          </a:xfrm>
          <a:prstGeom prst="roundRect">
            <a:avLst>
              <a:gd name="adj" fmla="val 56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42416" y="2505456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40" dirty="0"/>
          </a:p>
        </p:txBody>
      </p:sp>
      <p:sp>
        <p:nvSpPr>
          <p:cNvPr id="14" name="Text 11"/>
          <p:cNvSpPr txBox="1"/>
          <p:nvPr/>
        </p:nvSpPr>
        <p:spPr>
          <a:xfrm>
            <a:off x="1719072" y="24871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3108960" y="232257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y fuera de alcance</a:t>
            </a:r>
            <a:endParaRPr lang="en-US" sz="1360" dirty="0"/>
          </a:p>
        </p:txBody>
      </p:sp>
      <p:sp>
        <p:nvSpPr>
          <p:cNvPr id="16" name="Shape 13"/>
          <p:cNvSpPr/>
          <p:nvPr/>
        </p:nvSpPr>
        <p:spPr>
          <a:xfrm>
            <a:off x="6181344" y="2322576"/>
            <a:ext cx="5193792" cy="804672"/>
          </a:xfrm>
          <a:prstGeom prst="roundRect">
            <a:avLst>
              <a:gd name="adj" fmla="val 56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19088" y="2505456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9088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40" dirty="0"/>
          </a:p>
        </p:txBody>
      </p:sp>
      <p:sp>
        <p:nvSpPr>
          <p:cNvPr id="19" name="Text 16"/>
          <p:cNvSpPr txBox="1"/>
          <p:nvPr/>
        </p:nvSpPr>
        <p:spPr>
          <a:xfrm>
            <a:off x="7095744" y="248716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8485632" y="2322576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E1–E7</a:t>
            </a:r>
            <a:endParaRPr lang="en-US" sz="1360" dirty="0"/>
          </a:p>
        </p:txBody>
      </p:sp>
      <p:sp>
        <p:nvSpPr>
          <p:cNvPr id="21" name="Shape 18"/>
          <p:cNvSpPr/>
          <p:nvPr/>
        </p:nvSpPr>
        <p:spPr>
          <a:xfrm>
            <a:off x="804672" y="3346704"/>
            <a:ext cx="5193792" cy="804672"/>
          </a:xfrm>
          <a:prstGeom prst="roundRect">
            <a:avLst>
              <a:gd name="adj" fmla="val 56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42416" y="3529584"/>
            <a:ext cx="438912" cy="438912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42416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1719072" y="35112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HALLAZGOS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3108960" y="3346704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características</a:t>
            </a:r>
            <a:endParaRPr lang="en-US" sz="1360" dirty="0"/>
          </a:p>
        </p:txBody>
      </p:sp>
      <p:sp>
        <p:nvSpPr>
          <p:cNvPr id="26" name="Shape 23"/>
          <p:cNvSpPr/>
          <p:nvPr/>
        </p:nvSpPr>
        <p:spPr>
          <a:xfrm>
            <a:off x="6181344" y="3346704"/>
            <a:ext cx="5193792" cy="804672"/>
          </a:xfrm>
          <a:prstGeom prst="roundRect">
            <a:avLst>
              <a:gd name="adj" fmla="val 56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19088" y="3529584"/>
            <a:ext cx="438912" cy="438912"/>
          </a:xfrm>
          <a:prstGeom prst="ellipse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19088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40" dirty="0"/>
          </a:p>
        </p:txBody>
      </p:sp>
      <p:sp>
        <p:nvSpPr>
          <p:cNvPr id="29" name="Text 26"/>
          <p:cNvSpPr txBox="1"/>
          <p:nvPr/>
        </p:nvSpPr>
        <p:spPr>
          <a:xfrm>
            <a:off x="7095744" y="351129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8485632" y="3346704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aceptado y rechazado</a:t>
            </a:r>
            <a:endParaRPr lang="en-US" sz="1360" dirty="0"/>
          </a:p>
        </p:txBody>
      </p:sp>
      <p:sp>
        <p:nvSpPr>
          <p:cNvPr id="31" name="Shape 28"/>
          <p:cNvSpPr/>
          <p:nvPr/>
        </p:nvSpPr>
        <p:spPr>
          <a:xfrm>
            <a:off x="804672" y="4370832"/>
            <a:ext cx="5193792" cy="804672"/>
          </a:xfrm>
          <a:prstGeom prst="roundRect">
            <a:avLst>
              <a:gd name="adj" fmla="val 5682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42416" y="4553712"/>
            <a:ext cx="438912" cy="43891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42416" y="4553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40" dirty="0"/>
          </a:p>
        </p:txBody>
      </p:sp>
      <p:sp>
        <p:nvSpPr>
          <p:cNvPr id="34" name="Text 31"/>
          <p:cNvSpPr txBox="1"/>
          <p:nvPr/>
        </p:nvSpPr>
        <p:spPr>
          <a:xfrm>
            <a:off x="1719072" y="453542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3108960" y="43708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prioridades trazables</a:t>
            </a:r>
            <a:endParaRPr lang="en-US" sz="1360" dirty="0"/>
          </a:p>
        </p:txBody>
      </p:sp>
      <p:sp>
        <p:nvSpPr>
          <p:cNvPr id="36" name="Shape 33"/>
          <p:cNvSpPr/>
          <p:nvPr/>
        </p:nvSpPr>
        <p:spPr>
          <a:xfrm>
            <a:off x="6181344" y="4370832"/>
            <a:ext cx="519379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19088" y="4553712"/>
            <a:ext cx="438912" cy="4389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19088" y="4553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40" dirty="0"/>
          </a:p>
        </p:txBody>
      </p:sp>
      <p:sp>
        <p:nvSpPr>
          <p:cNvPr id="39" name="Text 36"/>
          <p:cNvSpPr txBox="1"/>
          <p:nvPr/>
        </p:nvSpPr>
        <p:spPr>
          <a:xfrm>
            <a:off x="7095744" y="453542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8485632" y="4370832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demostrado y pendiente</a:t>
            </a:r>
            <a:endParaRPr lang="en-US" sz="1360" dirty="0"/>
          </a:p>
        </p:txBody>
      </p:sp>
      <p:sp>
        <p:nvSpPr>
          <p:cNvPr id="41" name="Shape 38"/>
          <p:cNvSpPr/>
          <p:nvPr/>
        </p:nvSpPr>
        <p:spPr>
          <a:xfrm>
            <a:off x="1865376" y="5632704"/>
            <a:ext cx="8449056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2176272" y="5632704"/>
            <a:ext cx="7827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ARTEFACTO DE SALIDA · auditoria-calidad.md</a:t>
            </a:r>
            <a:endParaRPr lang="en-US" sz="13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CONCLUSIÓN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evidencia permite una afirmación precisa y limitada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conclusión integra resultados actuales y criterios futuros sin confundirlos.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359152"/>
            <a:ext cx="6419088" cy="3383280"/>
          </a:xfrm>
          <a:prstGeom prst="roundRect">
            <a:avLst>
              <a:gd name="adj" fmla="val 21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70432" y="2724912"/>
            <a:ext cx="2542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spc="10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PODEMOS AFIRMAR HOY</a:t>
            </a:r>
            <a:endParaRPr lang="en-US" sz="1040" dirty="0"/>
          </a:p>
        </p:txBody>
      </p:sp>
      <p:sp>
        <p:nvSpPr>
          <p:cNvPr id="13" name="Text 10"/>
          <p:cNvSpPr txBox="1"/>
          <p:nvPr/>
        </p:nvSpPr>
        <p:spPr>
          <a:xfrm>
            <a:off x="1170432" y="3182112"/>
            <a:ext cx="5687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proyecto se reconstruye en el entorno declarado y nota_final() satisface cuatro ejemplos ejecutados.</a:t>
            </a:r>
            <a:endParaRPr lang="en-US" sz="2050" dirty="0"/>
          </a:p>
        </p:txBody>
      </p:sp>
      <p:sp>
        <p:nvSpPr>
          <p:cNvPr id="14" name="Text 11"/>
          <p:cNvSpPr txBox="1"/>
          <p:nvPr/>
        </p:nvSpPr>
        <p:spPr>
          <a:xfrm>
            <a:off x="1170432" y="4480560"/>
            <a:ext cx="5687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halló evidencia funcional, señales parciales y vacíos explícitos.</a:t>
            </a:r>
            <a:endParaRPr lang="en-US" sz="1420" dirty="0"/>
          </a:p>
        </p:txBody>
      </p:sp>
      <p:sp>
        <p:nvSpPr>
          <p:cNvPr id="15" name="Text 12"/>
          <p:cNvSpPr txBox="1"/>
          <p:nvPr/>
        </p:nvSpPr>
        <p:spPr>
          <a:xfrm>
            <a:off x="1170432" y="5175504"/>
            <a:ext cx="5687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nuevos criterios todavía deben implementarse y verificarse.</a:t>
            </a:r>
            <a:endParaRPr lang="en-US" sz="122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2615184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b="1" spc="9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PODEMOS AFIRMAR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7790688" y="3182112"/>
            <a:ext cx="347472" cy="34747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0688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339328" y="31638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9 características están aprobadas</a:t>
            </a:r>
            <a:endParaRPr lang="en-US" sz="1380" dirty="0"/>
          </a:p>
        </p:txBody>
      </p:sp>
      <p:sp>
        <p:nvSpPr>
          <p:cNvPr id="20" name="Shape 17"/>
          <p:cNvSpPr/>
          <p:nvPr/>
        </p:nvSpPr>
        <p:spPr>
          <a:xfrm>
            <a:off x="7790688" y="3767328"/>
            <a:ext cx="347472" cy="34747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90688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8339328" y="37490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cubre cualquier entrada o contexto</a:t>
            </a:r>
            <a:endParaRPr lang="en-US" sz="1380" dirty="0"/>
          </a:p>
        </p:txBody>
      </p:sp>
      <p:sp>
        <p:nvSpPr>
          <p:cNvPr id="23" name="Shape 20"/>
          <p:cNvSpPr/>
          <p:nvPr/>
        </p:nvSpPr>
        <p:spPr>
          <a:xfrm>
            <a:off x="7790688" y="4352544"/>
            <a:ext cx="347472" cy="34747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4352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8339328" y="433425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herramienta verde certifica calidad</a:t>
            </a:r>
            <a:endParaRPr lang="en-US" sz="1380" dirty="0"/>
          </a:p>
        </p:txBody>
      </p:sp>
      <p:sp>
        <p:nvSpPr>
          <p:cNvPr id="26" name="Shape 23"/>
          <p:cNvSpPr/>
          <p:nvPr/>
        </p:nvSpPr>
        <p:spPr>
          <a:xfrm>
            <a:off x="7790688" y="4937760"/>
            <a:ext cx="347472" cy="347472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90688" y="4937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339328" y="49194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tiene razón sin trazabilidad</a:t>
            </a:r>
            <a:endParaRPr lang="en-US" sz="138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TICKET DE SALIDA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Completa cuatro frases en una línea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el vocabulario de la clase: alcance, contexto, riesgo, criterio y evidencia.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41248" y="2368296"/>
            <a:ext cx="475488" cy="475488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1572768" y="2322576"/>
            <a:ext cx="6272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en verde demuestra…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991856" y="2596896"/>
            <a:ext cx="3072384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841248" y="3172968"/>
            <a:ext cx="475488" cy="47548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1572768" y="3127248"/>
            <a:ext cx="6272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característica de ISO/IEC 25010 me ayuda a preguntar…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991856" y="3401568"/>
            <a:ext cx="3072384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841248" y="3977640"/>
            <a:ext cx="475488" cy="475488"/>
          </a:xfrm>
          <a:prstGeom prst="ellipse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41248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572768" y="3931920"/>
            <a:ext cx="6272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Marcamos un hallazgo como POR DEFINIR cuando…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7991856" y="4206240"/>
            <a:ext cx="3072384" cy="0"/>
          </a:xfrm>
          <a:prstGeom prst="line">
            <a:avLst/>
          </a:prstGeom>
          <a:noFill/>
          <a:ln w="12700">
            <a:solidFill>
              <a:srgbClr val="3FAE6A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841248" y="4782312"/>
            <a:ext cx="475488" cy="475488"/>
          </a:xfrm>
          <a:prstGeom prst="ellipse">
            <a:avLst/>
          </a:prstGeom>
          <a:solidFill>
            <a:srgbClr val="63C6D8"/>
          </a:solidFill>
          <a:ln w="12700">
            <a:solidFill>
              <a:srgbClr val="63C6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41248" y="4782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1572768" y="4736592"/>
            <a:ext cx="6272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criterio se vuelve verificable cuando…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7991856" y="5010912"/>
            <a:ext cx="3072384" cy="0"/>
          </a:xfrm>
          <a:prstGeom prst="line">
            <a:avLst/>
          </a:prstGeom>
          <a:noFill/>
          <a:ln w="12700">
            <a:solidFill>
              <a:srgbClr val="63C6D8"/>
            </a:solidFill>
            <a:prstDash val="solid"/>
            <a:headEnd type="none"/>
            <a:tailEnd type="none"/>
          </a:ln>
        </p:spPr>
      </p:sp>
      <p:sp>
        <p:nvSpPr>
          <p:cNvPr id="27" name="Shape 24"/>
          <p:cNvSpPr/>
          <p:nvPr/>
        </p:nvSpPr>
        <p:spPr>
          <a:xfrm>
            <a:off x="1993392" y="5687568"/>
            <a:ext cx="8211312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304288" y="568756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frase breve debe conservar el límite de lo que realmente sabemos.</a:t>
            </a:r>
            <a:endParaRPr lang="en-US" sz="13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CLASE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886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Verificar y validar responden preguntas diferentes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73936"/>
            <a:ext cx="9052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criterios creados hoy serán el puente entre la implementación y la necesidad real.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04672" y="2414016"/>
            <a:ext cx="4114800" cy="3017520"/>
          </a:xfrm>
          <a:prstGeom prst="roundRect">
            <a:avLst>
              <a:gd name="adj" fmla="val 24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70432" y="276148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207008" y="3474720"/>
            <a:ext cx="3310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¿Construimos de acuerdo con los criterios especificados?</a:t>
            </a:r>
            <a:endParaRPr lang="en-US" sz="2300" dirty="0"/>
          </a:p>
        </p:txBody>
      </p:sp>
      <p:sp>
        <p:nvSpPr>
          <p:cNvPr id="14" name="Text 11"/>
          <p:cNvSpPr txBox="1"/>
          <p:nvPr/>
        </p:nvSpPr>
        <p:spPr>
          <a:xfrm>
            <a:off x="1207008" y="488289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↔ especificación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248656" y="3090672"/>
            <a:ext cx="1700784" cy="1664208"/>
          </a:xfrm>
          <a:prstGeom prst="roundRect">
            <a:avLst>
              <a:gd name="adj" fmla="val 439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68112" y="3456432"/>
            <a:ext cx="12618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HOY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974336" y="3694176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59168" y="3694176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33488" y="2414016"/>
            <a:ext cx="4078224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99248" y="2761488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1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VALIDACIÓN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699248" y="3474720"/>
            <a:ext cx="33467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¿Los criterios y el producto responden a la necesidad real?</a:t>
            </a:r>
            <a:endParaRPr lang="en-US" sz="23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4882896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 ↔ producto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847088" y="576072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Cumplir una especificación incorrecta también puede producir un resultado inaceptable.</a:t>
            </a:r>
            <a:endParaRPr lang="en-US" sz="14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76809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7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MENSAJE FINAL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3898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calidad no aparece</a:t>
            </a:r>
            <a:endParaRPr lang="en-US" sz="39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84832"/>
            <a:ext cx="9509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reunimos más adjetivos</a:t>
            </a:r>
            <a:endParaRPr lang="en-US" sz="3700" dirty="0"/>
          </a:p>
        </p:txBody>
      </p:sp>
      <p:sp>
        <p:nvSpPr>
          <p:cNvPr id="11" name="Shape 8"/>
          <p:cNvSpPr/>
          <p:nvPr/>
        </p:nvSpPr>
        <p:spPr>
          <a:xfrm>
            <a:off x="804672" y="3310128"/>
            <a:ext cx="2468880" cy="1298448"/>
          </a:xfrm>
          <a:prstGeom prst="roundRect">
            <a:avLst>
              <a:gd name="adj" fmla="val 493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24128" y="362102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8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NECESIDAD</a:t>
            </a:r>
            <a:endParaRPr lang="en-US" sz="980" dirty="0"/>
          </a:p>
        </p:txBody>
      </p:sp>
      <p:sp>
        <p:nvSpPr>
          <p:cNvPr id="13" name="Text 10"/>
          <p:cNvSpPr txBox="1"/>
          <p:nvPr/>
        </p:nvSpPr>
        <p:spPr>
          <a:xfrm>
            <a:off x="1024128" y="4005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</a:t>
            </a:r>
            <a:endParaRPr lang="en-US" sz="1480" dirty="0"/>
          </a:p>
        </p:txBody>
      </p:sp>
      <p:sp>
        <p:nvSpPr>
          <p:cNvPr id="14" name="Shape 11"/>
          <p:cNvSpPr/>
          <p:nvPr/>
        </p:nvSpPr>
        <p:spPr>
          <a:xfrm>
            <a:off x="3328416" y="3730752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02736" y="3310128"/>
            <a:ext cx="2468880" cy="1298448"/>
          </a:xfrm>
          <a:prstGeom prst="roundRect">
            <a:avLst>
              <a:gd name="adj" fmla="val 493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22192" y="362102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980" dirty="0"/>
          </a:p>
        </p:txBody>
      </p:sp>
      <p:sp>
        <p:nvSpPr>
          <p:cNvPr id="17" name="Text 14"/>
          <p:cNvSpPr txBox="1"/>
          <p:nvPr/>
        </p:nvSpPr>
        <p:spPr>
          <a:xfrm>
            <a:off x="3822192" y="4005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explicita</a:t>
            </a:r>
            <a:endParaRPr lang="en-US" sz="1480" dirty="0"/>
          </a:p>
        </p:txBody>
      </p:sp>
      <p:sp>
        <p:nvSpPr>
          <p:cNvPr id="18" name="Shape 15"/>
          <p:cNvSpPr/>
          <p:nvPr/>
        </p:nvSpPr>
        <p:spPr>
          <a:xfrm>
            <a:off x="6126480" y="3730752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0" y="3310128"/>
            <a:ext cx="2468880" cy="1298448"/>
          </a:xfrm>
          <a:prstGeom prst="roundRect">
            <a:avLst>
              <a:gd name="adj" fmla="val 4930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20256" y="362102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80" kern="0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980" dirty="0"/>
          </a:p>
        </p:txBody>
      </p:sp>
      <p:sp>
        <p:nvSpPr>
          <p:cNvPr id="21" name="Text 18"/>
          <p:cNvSpPr txBox="1"/>
          <p:nvPr/>
        </p:nvSpPr>
        <p:spPr>
          <a:xfrm>
            <a:off x="6620256" y="4005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</a:t>
            </a:r>
            <a:endParaRPr lang="en-US" sz="1480" dirty="0"/>
          </a:p>
        </p:txBody>
      </p:sp>
      <p:sp>
        <p:nvSpPr>
          <p:cNvPr id="22" name="Shape 19"/>
          <p:cNvSpPr/>
          <p:nvPr/>
        </p:nvSpPr>
        <p:spPr>
          <a:xfrm>
            <a:off x="8924544" y="3730752"/>
            <a:ext cx="164592" cy="420624"/>
          </a:xfrm>
          <a:prstGeom prst="chevron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198864" y="3310128"/>
            <a:ext cx="246888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418320" y="3621024"/>
            <a:ext cx="2029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b="1" spc="80" kern="0" dirty="0">
                <a:solidFill>
                  <a:srgbClr val="63C6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CONCLUSIÓN</a:t>
            </a:r>
            <a:endParaRPr lang="en-US" sz="980" dirty="0"/>
          </a:p>
        </p:txBody>
      </p:sp>
      <p:sp>
        <p:nvSpPr>
          <p:cNvPr id="25" name="Text 22"/>
          <p:cNvSpPr txBox="1"/>
          <p:nvPr/>
        </p:nvSpPr>
        <p:spPr>
          <a:xfrm>
            <a:off x="9418320" y="4005072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respeta el límite</a:t>
            </a:r>
            <a:endParaRPr lang="en-US" sz="1480" dirty="0"/>
          </a:p>
        </p:txBody>
      </p:sp>
      <p:sp>
        <p:nvSpPr>
          <p:cNvPr id="26" name="Shape 23"/>
          <p:cNvSpPr/>
          <p:nvPr/>
        </p:nvSpPr>
        <p:spPr>
          <a:xfrm>
            <a:off x="1316736" y="5266944"/>
            <a:ext cx="9546336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627632" y="5266944"/>
            <a:ext cx="89245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profesional no es afirmar más. Es demostrar exactamente lo que la evidencia permite.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1" descr="C:\Users\Diego Obando\dev\pro402-taller-de-testing-2026\clases\semana-01\03\ppt\source\assets\logo-aiep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109</Slides>
  <Notes>109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calidad no es opinión: ISO/IEC 25010 aplicada</dc:title>
  <dc:subject>PRO402 · Clase 03</dc:subject>
  <dc:creator>Diego Obando</dc:creator>
  <cp:lastModifiedBy>Diego Obando</cp:lastModifiedBy>
  <cp:revision>1</cp:revision>
  <dcterms:created xsi:type="dcterms:W3CDTF">2026-08-10T04:08:51Z</dcterms:created>
  <dcterms:modified xsi:type="dcterms:W3CDTF">2026-08-10T04:08:51Z</dcterms:modified>
</cp:coreProperties>
</file>